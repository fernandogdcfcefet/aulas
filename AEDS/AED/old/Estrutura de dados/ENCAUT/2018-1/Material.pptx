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79" r:id="rId4"/>
    <p:sldMasterId id="2147483685" r:id="rId5"/>
    <p:sldMasterId id="2147483691" r:id="rId6"/>
    <p:sldMasterId id="2147483703" r:id="rId7"/>
  </p:sldMasterIdLst>
  <p:sldIdLst>
    <p:sldId id="256" r:id="rId8"/>
    <p:sldId id="308" r:id="rId9"/>
    <p:sldId id="309" r:id="rId10"/>
    <p:sldId id="310" r:id="rId11"/>
    <p:sldId id="311" r:id="rId12"/>
    <p:sldId id="312" r:id="rId13"/>
    <p:sldId id="439" r:id="rId14"/>
    <p:sldId id="313" r:id="rId15"/>
    <p:sldId id="314" r:id="rId16"/>
    <p:sldId id="339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566" r:id="rId56"/>
    <p:sldId id="567" r:id="rId57"/>
    <p:sldId id="568" r:id="rId58"/>
    <p:sldId id="569" r:id="rId59"/>
    <p:sldId id="570" r:id="rId60"/>
    <p:sldId id="571" r:id="rId61"/>
    <p:sldId id="572" r:id="rId62"/>
    <p:sldId id="573" r:id="rId63"/>
    <p:sldId id="574" r:id="rId64"/>
    <p:sldId id="575" r:id="rId65"/>
    <p:sldId id="576" r:id="rId66"/>
    <p:sldId id="577" r:id="rId67"/>
    <p:sldId id="578" r:id="rId68"/>
    <p:sldId id="579" r:id="rId69"/>
    <p:sldId id="580" r:id="rId70"/>
    <p:sldId id="581" r:id="rId71"/>
    <p:sldId id="582" r:id="rId72"/>
    <p:sldId id="583" r:id="rId73"/>
    <p:sldId id="584" r:id="rId74"/>
    <p:sldId id="585" r:id="rId75"/>
    <p:sldId id="586" r:id="rId76"/>
    <p:sldId id="587" r:id="rId77"/>
    <p:sldId id="588" r:id="rId78"/>
    <p:sldId id="589" r:id="rId79"/>
    <p:sldId id="590" r:id="rId80"/>
    <p:sldId id="591" r:id="rId81"/>
    <p:sldId id="592" r:id="rId82"/>
    <p:sldId id="593" r:id="rId83"/>
    <p:sldId id="594" r:id="rId84"/>
    <p:sldId id="595" r:id="rId85"/>
    <p:sldId id="596" r:id="rId86"/>
    <p:sldId id="597" r:id="rId87"/>
    <p:sldId id="598" r:id="rId88"/>
    <p:sldId id="599" r:id="rId89"/>
    <p:sldId id="625" r:id="rId90"/>
    <p:sldId id="600" r:id="rId91"/>
    <p:sldId id="601" r:id="rId92"/>
    <p:sldId id="602" r:id="rId93"/>
    <p:sldId id="603" r:id="rId94"/>
    <p:sldId id="604" r:id="rId95"/>
    <p:sldId id="605" r:id="rId96"/>
    <p:sldId id="606" r:id="rId97"/>
    <p:sldId id="607" r:id="rId98"/>
    <p:sldId id="608" r:id="rId99"/>
    <p:sldId id="609" r:id="rId100"/>
    <p:sldId id="610" r:id="rId101"/>
    <p:sldId id="611" r:id="rId102"/>
    <p:sldId id="612" r:id="rId103"/>
    <p:sldId id="613" r:id="rId104"/>
    <p:sldId id="614" r:id="rId105"/>
    <p:sldId id="615" r:id="rId106"/>
    <p:sldId id="616" r:id="rId107"/>
    <p:sldId id="617" r:id="rId108"/>
    <p:sldId id="618" r:id="rId109"/>
    <p:sldId id="619" r:id="rId110"/>
    <p:sldId id="620" r:id="rId111"/>
    <p:sldId id="621" r:id="rId112"/>
    <p:sldId id="622" r:id="rId113"/>
    <p:sldId id="623" r:id="rId114"/>
    <p:sldId id="624" r:id="rId115"/>
    <p:sldId id="626" r:id="rId116"/>
    <p:sldId id="627" r:id="rId117"/>
    <p:sldId id="628" r:id="rId118"/>
    <p:sldId id="629" r:id="rId119"/>
    <p:sldId id="630" r:id="rId120"/>
    <p:sldId id="631" r:id="rId121"/>
    <p:sldId id="632" r:id="rId122"/>
    <p:sldId id="633" r:id="rId123"/>
    <p:sldId id="634" r:id="rId124"/>
    <p:sldId id="635" r:id="rId125"/>
    <p:sldId id="636" r:id="rId126"/>
    <p:sldId id="637" r:id="rId127"/>
    <p:sldId id="638" r:id="rId128"/>
    <p:sldId id="639" r:id="rId129"/>
    <p:sldId id="640" r:id="rId130"/>
    <p:sldId id="641" r:id="rId131"/>
    <p:sldId id="642" r:id="rId132"/>
    <p:sldId id="643" r:id="rId133"/>
    <p:sldId id="644" r:id="rId134"/>
    <p:sldId id="645" r:id="rId135"/>
    <p:sldId id="654" r:id="rId136"/>
    <p:sldId id="655" r:id="rId137"/>
    <p:sldId id="656" r:id="rId138"/>
    <p:sldId id="657" r:id="rId139"/>
    <p:sldId id="658" r:id="rId140"/>
    <p:sldId id="659" r:id="rId141"/>
    <p:sldId id="660" r:id="rId142"/>
    <p:sldId id="661" r:id="rId143"/>
    <p:sldId id="662" r:id="rId144"/>
    <p:sldId id="663" r:id="rId145"/>
    <p:sldId id="648" r:id="rId146"/>
    <p:sldId id="649" r:id="rId147"/>
    <p:sldId id="650" r:id="rId148"/>
    <p:sldId id="651" r:id="rId149"/>
    <p:sldId id="652" r:id="rId150"/>
    <p:sldId id="653" r:id="rId151"/>
    <p:sldId id="646" r:id="rId152"/>
    <p:sldId id="647" r:id="rId153"/>
    <p:sldId id="518" r:id="rId154"/>
    <p:sldId id="519" r:id="rId155"/>
    <p:sldId id="520" r:id="rId156"/>
    <p:sldId id="521" r:id="rId157"/>
    <p:sldId id="522" r:id="rId158"/>
    <p:sldId id="523" r:id="rId159"/>
    <p:sldId id="524" r:id="rId160"/>
    <p:sldId id="525" r:id="rId161"/>
    <p:sldId id="526" r:id="rId162"/>
    <p:sldId id="527" r:id="rId163"/>
    <p:sldId id="528" r:id="rId164"/>
    <p:sldId id="529" r:id="rId165"/>
    <p:sldId id="530" r:id="rId166"/>
    <p:sldId id="531" r:id="rId167"/>
    <p:sldId id="532" r:id="rId168"/>
    <p:sldId id="533" r:id="rId169"/>
    <p:sldId id="534" r:id="rId170"/>
    <p:sldId id="535" r:id="rId171"/>
    <p:sldId id="536" r:id="rId172"/>
    <p:sldId id="537" r:id="rId173"/>
    <p:sldId id="538" r:id="rId174"/>
    <p:sldId id="539" r:id="rId175"/>
    <p:sldId id="540" r:id="rId176"/>
    <p:sldId id="541" r:id="rId177"/>
    <p:sldId id="542" r:id="rId178"/>
    <p:sldId id="543" r:id="rId179"/>
    <p:sldId id="544" r:id="rId180"/>
    <p:sldId id="545" r:id="rId181"/>
    <p:sldId id="546" r:id="rId182"/>
    <p:sldId id="547" r:id="rId183"/>
    <p:sldId id="548" r:id="rId184"/>
    <p:sldId id="549" r:id="rId185"/>
    <p:sldId id="550" r:id="rId186"/>
    <p:sldId id="551" r:id="rId187"/>
    <p:sldId id="552" r:id="rId188"/>
    <p:sldId id="553" r:id="rId189"/>
    <p:sldId id="554" r:id="rId190"/>
    <p:sldId id="555" r:id="rId191"/>
    <p:sldId id="556" r:id="rId192"/>
    <p:sldId id="557" r:id="rId193"/>
    <p:sldId id="558" r:id="rId194"/>
    <p:sldId id="559" r:id="rId195"/>
    <p:sldId id="560" r:id="rId196"/>
    <p:sldId id="561" r:id="rId197"/>
    <p:sldId id="562" r:id="rId198"/>
    <p:sldId id="563" r:id="rId199"/>
    <p:sldId id="564" r:id="rId200"/>
    <p:sldId id="565" r:id="rId201"/>
    <p:sldId id="440" r:id="rId202"/>
    <p:sldId id="441" r:id="rId203"/>
    <p:sldId id="442" r:id="rId204"/>
    <p:sldId id="257" r:id="rId205"/>
    <p:sldId id="258" r:id="rId206"/>
    <p:sldId id="259" r:id="rId207"/>
    <p:sldId id="260" r:id="rId208"/>
    <p:sldId id="261" r:id="rId209"/>
    <p:sldId id="262" r:id="rId210"/>
    <p:sldId id="263" r:id="rId211"/>
    <p:sldId id="264" r:id="rId212"/>
    <p:sldId id="265" r:id="rId213"/>
    <p:sldId id="266" r:id="rId214"/>
    <p:sldId id="267" r:id="rId215"/>
    <p:sldId id="268" r:id="rId216"/>
    <p:sldId id="269" r:id="rId217"/>
    <p:sldId id="270" r:id="rId218"/>
    <p:sldId id="271" r:id="rId219"/>
    <p:sldId id="282" r:id="rId220"/>
    <p:sldId id="283" r:id="rId221"/>
    <p:sldId id="284" r:id="rId222"/>
    <p:sldId id="285" r:id="rId223"/>
    <p:sldId id="286" r:id="rId224"/>
    <p:sldId id="287" r:id="rId225"/>
    <p:sldId id="288" r:id="rId226"/>
    <p:sldId id="289" r:id="rId227"/>
    <p:sldId id="290" r:id="rId228"/>
    <p:sldId id="291" r:id="rId229"/>
    <p:sldId id="297" r:id="rId230"/>
    <p:sldId id="298" r:id="rId231"/>
    <p:sldId id="299" r:id="rId232"/>
    <p:sldId id="300" r:id="rId233"/>
    <p:sldId id="301" r:id="rId234"/>
    <p:sldId id="302" r:id="rId235"/>
    <p:sldId id="303" r:id="rId236"/>
    <p:sldId id="443" r:id="rId237"/>
    <p:sldId id="304" r:id="rId238"/>
    <p:sldId id="305" r:id="rId239"/>
    <p:sldId id="306" r:id="rId240"/>
    <p:sldId id="307" r:id="rId241"/>
    <p:sldId id="444" r:id="rId242"/>
    <p:sldId id="445" r:id="rId243"/>
    <p:sldId id="446" r:id="rId244"/>
    <p:sldId id="451" r:id="rId245"/>
    <p:sldId id="452" r:id="rId246"/>
    <p:sldId id="454" r:id="rId247"/>
    <p:sldId id="455" r:id="rId248"/>
    <p:sldId id="456" r:id="rId249"/>
    <p:sldId id="457" r:id="rId250"/>
    <p:sldId id="458" r:id="rId251"/>
    <p:sldId id="459" r:id="rId252"/>
    <p:sldId id="460" r:id="rId253"/>
    <p:sldId id="461" r:id="rId254"/>
    <p:sldId id="462" r:id="rId255"/>
    <p:sldId id="463" r:id="rId256"/>
    <p:sldId id="464" r:id="rId257"/>
    <p:sldId id="465" r:id="rId258"/>
    <p:sldId id="466" r:id="rId259"/>
    <p:sldId id="467" r:id="rId260"/>
    <p:sldId id="468" r:id="rId261"/>
    <p:sldId id="517" r:id="rId262"/>
    <p:sldId id="469" r:id="rId263"/>
    <p:sldId id="470" r:id="rId264"/>
    <p:sldId id="471" r:id="rId265"/>
    <p:sldId id="472" r:id="rId266"/>
    <p:sldId id="473" r:id="rId267"/>
    <p:sldId id="474" r:id="rId268"/>
    <p:sldId id="475" r:id="rId269"/>
    <p:sldId id="476" r:id="rId270"/>
    <p:sldId id="477" r:id="rId271"/>
    <p:sldId id="478" r:id="rId272"/>
    <p:sldId id="479" r:id="rId273"/>
    <p:sldId id="480" r:id="rId274"/>
    <p:sldId id="481" r:id="rId275"/>
    <p:sldId id="482" r:id="rId276"/>
    <p:sldId id="483" r:id="rId277"/>
    <p:sldId id="484" r:id="rId278"/>
    <p:sldId id="485" r:id="rId279"/>
    <p:sldId id="486" r:id="rId280"/>
    <p:sldId id="487" r:id="rId281"/>
    <p:sldId id="488" r:id="rId282"/>
    <p:sldId id="489" r:id="rId283"/>
    <p:sldId id="490" r:id="rId284"/>
    <p:sldId id="491" r:id="rId285"/>
    <p:sldId id="492" r:id="rId286"/>
    <p:sldId id="493" r:id="rId287"/>
    <p:sldId id="494" r:id="rId288"/>
    <p:sldId id="495" r:id="rId289"/>
    <p:sldId id="496" r:id="rId290"/>
    <p:sldId id="497" r:id="rId291"/>
    <p:sldId id="498" r:id="rId292"/>
    <p:sldId id="499" r:id="rId293"/>
    <p:sldId id="500" r:id="rId294"/>
    <p:sldId id="501" r:id="rId295"/>
    <p:sldId id="502" r:id="rId296"/>
    <p:sldId id="503" r:id="rId297"/>
    <p:sldId id="504" r:id="rId298"/>
    <p:sldId id="505" r:id="rId299"/>
    <p:sldId id="506" r:id="rId300"/>
    <p:sldId id="507" r:id="rId301"/>
    <p:sldId id="508" r:id="rId302"/>
    <p:sldId id="509" r:id="rId303"/>
    <p:sldId id="510" r:id="rId304"/>
    <p:sldId id="511" r:id="rId305"/>
    <p:sldId id="512" r:id="rId306"/>
    <p:sldId id="513" r:id="rId307"/>
    <p:sldId id="514" r:id="rId308"/>
    <p:sldId id="515" r:id="rId309"/>
    <p:sldId id="516" r:id="rId310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044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0.xml"/><Relationship Id="rId299" Type="http://schemas.openxmlformats.org/officeDocument/2006/relationships/slide" Target="slides/slide292.xml"/><Relationship Id="rId303" Type="http://schemas.openxmlformats.org/officeDocument/2006/relationships/slide" Target="slides/slide296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63" Type="http://schemas.openxmlformats.org/officeDocument/2006/relationships/slide" Target="slides/slide56.xml"/><Relationship Id="rId84" Type="http://schemas.openxmlformats.org/officeDocument/2006/relationships/slide" Target="slides/slide77.xml"/><Relationship Id="rId138" Type="http://schemas.openxmlformats.org/officeDocument/2006/relationships/slide" Target="slides/slide131.xml"/><Relationship Id="rId159" Type="http://schemas.openxmlformats.org/officeDocument/2006/relationships/slide" Target="slides/slide152.xml"/><Relationship Id="rId170" Type="http://schemas.openxmlformats.org/officeDocument/2006/relationships/slide" Target="slides/slide163.xml"/><Relationship Id="rId191" Type="http://schemas.openxmlformats.org/officeDocument/2006/relationships/slide" Target="slides/slide184.xml"/><Relationship Id="rId205" Type="http://schemas.openxmlformats.org/officeDocument/2006/relationships/slide" Target="slides/slide198.xml"/><Relationship Id="rId226" Type="http://schemas.openxmlformats.org/officeDocument/2006/relationships/slide" Target="slides/slide219.xml"/><Relationship Id="rId247" Type="http://schemas.openxmlformats.org/officeDocument/2006/relationships/slide" Target="slides/slide240.xml"/><Relationship Id="rId107" Type="http://schemas.openxmlformats.org/officeDocument/2006/relationships/slide" Target="slides/slide100.xml"/><Relationship Id="rId268" Type="http://schemas.openxmlformats.org/officeDocument/2006/relationships/slide" Target="slides/slide261.xml"/><Relationship Id="rId289" Type="http://schemas.openxmlformats.org/officeDocument/2006/relationships/slide" Target="slides/slide282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53" Type="http://schemas.openxmlformats.org/officeDocument/2006/relationships/slide" Target="slides/slide46.xml"/><Relationship Id="rId74" Type="http://schemas.openxmlformats.org/officeDocument/2006/relationships/slide" Target="slides/slide67.xml"/><Relationship Id="rId128" Type="http://schemas.openxmlformats.org/officeDocument/2006/relationships/slide" Target="slides/slide121.xml"/><Relationship Id="rId149" Type="http://schemas.openxmlformats.org/officeDocument/2006/relationships/slide" Target="slides/slide142.xml"/><Relationship Id="rId31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8.xml"/><Relationship Id="rId160" Type="http://schemas.openxmlformats.org/officeDocument/2006/relationships/slide" Target="slides/slide153.xml"/><Relationship Id="rId181" Type="http://schemas.openxmlformats.org/officeDocument/2006/relationships/slide" Target="slides/slide174.xml"/><Relationship Id="rId216" Type="http://schemas.openxmlformats.org/officeDocument/2006/relationships/slide" Target="slides/slide209.xml"/><Relationship Id="rId237" Type="http://schemas.openxmlformats.org/officeDocument/2006/relationships/slide" Target="slides/slide230.xml"/><Relationship Id="rId258" Type="http://schemas.openxmlformats.org/officeDocument/2006/relationships/slide" Target="slides/slide251.xml"/><Relationship Id="rId279" Type="http://schemas.openxmlformats.org/officeDocument/2006/relationships/slide" Target="slides/slide272.xml"/><Relationship Id="rId22" Type="http://schemas.openxmlformats.org/officeDocument/2006/relationships/slide" Target="slides/slide15.xml"/><Relationship Id="rId43" Type="http://schemas.openxmlformats.org/officeDocument/2006/relationships/slide" Target="slides/slide36.xml"/><Relationship Id="rId64" Type="http://schemas.openxmlformats.org/officeDocument/2006/relationships/slide" Target="slides/slide57.xml"/><Relationship Id="rId118" Type="http://schemas.openxmlformats.org/officeDocument/2006/relationships/slide" Target="slides/slide111.xml"/><Relationship Id="rId139" Type="http://schemas.openxmlformats.org/officeDocument/2006/relationships/slide" Target="slides/slide132.xml"/><Relationship Id="rId290" Type="http://schemas.openxmlformats.org/officeDocument/2006/relationships/slide" Target="slides/slide283.xml"/><Relationship Id="rId304" Type="http://schemas.openxmlformats.org/officeDocument/2006/relationships/slide" Target="slides/slide297.xml"/><Relationship Id="rId85" Type="http://schemas.openxmlformats.org/officeDocument/2006/relationships/slide" Target="slides/slide78.xml"/><Relationship Id="rId150" Type="http://schemas.openxmlformats.org/officeDocument/2006/relationships/slide" Target="slides/slide143.xml"/><Relationship Id="rId171" Type="http://schemas.openxmlformats.org/officeDocument/2006/relationships/slide" Target="slides/slide164.xml"/><Relationship Id="rId192" Type="http://schemas.openxmlformats.org/officeDocument/2006/relationships/slide" Target="slides/slide185.xml"/><Relationship Id="rId206" Type="http://schemas.openxmlformats.org/officeDocument/2006/relationships/slide" Target="slides/slide199.xml"/><Relationship Id="rId227" Type="http://schemas.openxmlformats.org/officeDocument/2006/relationships/slide" Target="slides/slide220.xml"/><Relationship Id="rId248" Type="http://schemas.openxmlformats.org/officeDocument/2006/relationships/slide" Target="slides/slide241.xml"/><Relationship Id="rId269" Type="http://schemas.openxmlformats.org/officeDocument/2006/relationships/slide" Target="slides/slide262.xml"/><Relationship Id="rId12" Type="http://schemas.openxmlformats.org/officeDocument/2006/relationships/slide" Target="slides/slide5.xml"/><Relationship Id="rId33" Type="http://schemas.openxmlformats.org/officeDocument/2006/relationships/slide" Target="slides/slide26.xml"/><Relationship Id="rId108" Type="http://schemas.openxmlformats.org/officeDocument/2006/relationships/slide" Target="slides/slide101.xml"/><Relationship Id="rId129" Type="http://schemas.openxmlformats.org/officeDocument/2006/relationships/slide" Target="slides/slide122.xml"/><Relationship Id="rId280" Type="http://schemas.openxmlformats.org/officeDocument/2006/relationships/slide" Target="slides/slide273.xml"/><Relationship Id="rId54" Type="http://schemas.openxmlformats.org/officeDocument/2006/relationships/slide" Target="slides/slide47.xml"/><Relationship Id="rId75" Type="http://schemas.openxmlformats.org/officeDocument/2006/relationships/slide" Target="slides/slide68.xml"/><Relationship Id="rId96" Type="http://schemas.openxmlformats.org/officeDocument/2006/relationships/slide" Target="slides/slide89.xml"/><Relationship Id="rId140" Type="http://schemas.openxmlformats.org/officeDocument/2006/relationships/slide" Target="slides/slide133.xml"/><Relationship Id="rId161" Type="http://schemas.openxmlformats.org/officeDocument/2006/relationships/slide" Target="slides/slide154.xml"/><Relationship Id="rId182" Type="http://schemas.openxmlformats.org/officeDocument/2006/relationships/slide" Target="slides/slide175.xml"/><Relationship Id="rId217" Type="http://schemas.openxmlformats.org/officeDocument/2006/relationships/slide" Target="slides/slide210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1.xml"/><Relationship Id="rId259" Type="http://schemas.openxmlformats.org/officeDocument/2006/relationships/slide" Target="slides/slide252.xml"/><Relationship Id="rId23" Type="http://schemas.openxmlformats.org/officeDocument/2006/relationships/slide" Target="slides/slide16.xml"/><Relationship Id="rId119" Type="http://schemas.openxmlformats.org/officeDocument/2006/relationships/slide" Target="slides/slide112.xml"/><Relationship Id="rId270" Type="http://schemas.openxmlformats.org/officeDocument/2006/relationships/slide" Target="slides/slide263.xml"/><Relationship Id="rId291" Type="http://schemas.openxmlformats.org/officeDocument/2006/relationships/slide" Target="slides/slide284.xml"/><Relationship Id="rId305" Type="http://schemas.openxmlformats.org/officeDocument/2006/relationships/slide" Target="slides/slide298.xml"/><Relationship Id="rId44" Type="http://schemas.openxmlformats.org/officeDocument/2006/relationships/slide" Target="slides/slide37.xml"/><Relationship Id="rId65" Type="http://schemas.openxmlformats.org/officeDocument/2006/relationships/slide" Target="slides/slide58.xml"/><Relationship Id="rId86" Type="http://schemas.openxmlformats.org/officeDocument/2006/relationships/slide" Target="slides/slide79.xml"/><Relationship Id="rId130" Type="http://schemas.openxmlformats.org/officeDocument/2006/relationships/slide" Target="slides/slide123.xml"/><Relationship Id="rId151" Type="http://schemas.openxmlformats.org/officeDocument/2006/relationships/slide" Target="slides/slide144.xml"/><Relationship Id="rId172" Type="http://schemas.openxmlformats.org/officeDocument/2006/relationships/slide" Target="slides/slide165.xml"/><Relationship Id="rId193" Type="http://schemas.openxmlformats.org/officeDocument/2006/relationships/slide" Target="slides/slide186.xml"/><Relationship Id="rId207" Type="http://schemas.openxmlformats.org/officeDocument/2006/relationships/slide" Target="slides/slide200.xml"/><Relationship Id="rId228" Type="http://schemas.openxmlformats.org/officeDocument/2006/relationships/slide" Target="slides/slide221.xml"/><Relationship Id="rId249" Type="http://schemas.openxmlformats.org/officeDocument/2006/relationships/slide" Target="slides/slide242.xml"/><Relationship Id="rId13" Type="http://schemas.openxmlformats.org/officeDocument/2006/relationships/slide" Target="slides/slide6.xml"/><Relationship Id="rId109" Type="http://schemas.openxmlformats.org/officeDocument/2006/relationships/slide" Target="slides/slide102.xml"/><Relationship Id="rId260" Type="http://schemas.openxmlformats.org/officeDocument/2006/relationships/slide" Target="slides/slide253.xml"/><Relationship Id="rId281" Type="http://schemas.openxmlformats.org/officeDocument/2006/relationships/slide" Target="slides/slide274.xml"/><Relationship Id="rId34" Type="http://schemas.openxmlformats.org/officeDocument/2006/relationships/slide" Target="slides/slide27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20" Type="http://schemas.openxmlformats.org/officeDocument/2006/relationships/slide" Target="slides/slide113.xml"/><Relationship Id="rId141" Type="http://schemas.openxmlformats.org/officeDocument/2006/relationships/slide" Target="slides/slide134.xml"/><Relationship Id="rId7" Type="http://schemas.openxmlformats.org/officeDocument/2006/relationships/slideMaster" Target="slideMasters/slideMaster7.xml"/><Relationship Id="rId162" Type="http://schemas.openxmlformats.org/officeDocument/2006/relationships/slide" Target="slides/slide155.xml"/><Relationship Id="rId183" Type="http://schemas.openxmlformats.org/officeDocument/2006/relationships/slide" Target="slides/slide176.xml"/><Relationship Id="rId218" Type="http://schemas.openxmlformats.org/officeDocument/2006/relationships/slide" Target="slides/slide211.xml"/><Relationship Id="rId239" Type="http://schemas.openxmlformats.org/officeDocument/2006/relationships/slide" Target="slides/slide232.xml"/><Relationship Id="rId250" Type="http://schemas.openxmlformats.org/officeDocument/2006/relationships/slide" Target="slides/slide243.xml"/><Relationship Id="rId271" Type="http://schemas.openxmlformats.org/officeDocument/2006/relationships/slide" Target="slides/slide264.xml"/><Relationship Id="rId292" Type="http://schemas.openxmlformats.org/officeDocument/2006/relationships/slide" Target="slides/slide285.xml"/><Relationship Id="rId306" Type="http://schemas.openxmlformats.org/officeDocument/2006/relationships/slide" Target="slides/slide299.xml"/><Relationship Id="rId24" Type="http://schemas.openxmlformats.org/officeDocument/2006/relationships/slide" Target="slides/slide17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31" Type="http://schemas.openxmlformats.org/officeDocument/2006/relationships/slide" Target="slides/slide124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52" Type="http://schemas.openxmlformats.org/officeDocument/2006/relationships/slide" Target="slides/slide145.xml"/><Relationship Id="rId173" Type="http://schemas.openxmlformats.org/officeDocument/2006/relationships/slide" Target="slides/slide166.xml"/><Relationship Id="rId194" Type="http://schemas.openxmlformats.org/officeDocument/2006/relationships/slide" Target="slides/slide187.xml"/><Relationship Id="rId199" Type="http://schemas.openxmlformats.org/officeDocument/2006/relationships/slide" Target="slides/slide192.xml"/><Relationship Id="rId203" Type="http://schemas.openxmlformats.org/officeDocument/2006/relationships/slide" Target="slides/slide196.xml"/><Relationship Id="rId208" Type="http://schemas.openxmlformats.org/officeDocument/2006/relationships/slide" Target="slides/slide201.xml"/><Relationship Id="rId229" Type="http://schemas.openxmlformats.org/officeDocument/2006/relationships/slide" Target="slides/slide222.xml"/><Relationship Id="rId19" Type="http://schemas.openxmlformats.org/officeDocument/2006/relationships/slide" Target="slides/slide12.xml"/><Relationship Id="rId224" Type="http://schemas.openxmlformats.org/officeDocument/2006/relationships/slide" Target="slides/slide217.xml"/><Relationship Id="rId240" Type="http://schemas.openxmlformats.org/officeDocument/2006/relationships/slide" Target="slides/slide233.xml"/><Relationship Id="rId245" Type="http://schemas.openxmlformats.org/officeDocument/2006/relationships/slide" Target="slides/slide238.xml"/><Relationship Id="rId261" Type="http://schemas.openxmlformats.org/officeDocument/2006/relationships/slide" Target="slides/slide254.xml"/><Relationship Id="rId266" Type="http://schemas.openxmlformats.org/officeDocument/2006/relationships/slide" Target="slides/slide259.xml"/><Relationship Id="rId287" Type="http://schemas.openxmlformats.org/officeDocument/2006/relationships/slide" Target="slides/slide280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126" Type="http://schemas.openxmlformats.org/officeDocument/2006/relationships/slide" Target="slides/slide119.xml"/><Relationship Id="rId147" Type="http://schemas.openxmlformats.org/officeDocument/2006/relationships/slide" Target="slides/slide140.xml"/><Relationship Id="rId168" Type="http://schemas.openxmlformats.org/officeDocument/2006/relationships/slide" Target="slides/slide161.xml"/><Relationship Id="rId282" Type="http://schemas.openxmlformats.org/officeDocument/2006/relationships/slide" Target="slides/slide275.xml"/><Relationship Id="rId312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121" Type="http://schemas.openxmlformats.org/officeDocument/2006/relationships/slide" Target="slides/slide114.xml"/><Relationship Id="rId142" Type="http://schemas.openxmlformats.org/officeDocument/2006/relationships/slide" Target="slides/slide135.xml"/><Relationship Id="rId163" Type="http://schemas.openxmlformats.org/officeDocument/2006/relationships/slide" Target="slides/slide156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219" Type="http://schemas.openxmlformats.org/officeDocument/2006/relationships/slide" Target="slides/slide212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7.xml"/><Relationship Id="rId230" Type="http://schemas.openxmlformats.org/officeDocument/2006/relationships/slide" Target="slides/slide223.xml"/><Relationship Id="rId235" Type="http://schemas.openxmlformats.org/officeDocument/2006/relationships/slide" Target="slides/slide228.xml"/><Relationship Id="rId251" Type="http://schemas.openxmlformats.org/officeDocument/2006/relationships/slide" Target="slides/slide244.xml"/><Relationship Id="rId256" Type="http://schemas.openxmlformats.org/officeDocument/2006/relationships/slide" Target="slides/slide249.xml"/><Relationship Id="rId277" Type="http://schemas.openxmlformats.org/officeDocument/2006/relationships/slide" Target="slides/slide270.xml"/><Relationship Id="rId298" Type="http://schemas.openxmlformats.org/officeDocument/2006/relationships/slide" Target="slides/slide291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slide" Target="slides/slide109.xml"/><Relationship Id="rId137" Type="http://schemas.openxmlformats.org/officeDocument/2006/relationships/slide" Target="slides/slide130.xml"/><Relationship Id="rId158" Type="http://schemas.openxmlformats.org/officeDocument/2006/relationships/slide" Target="slides/slide151.xml"/><Relationship Id="rId272" Type="http://schemas.openxmlformats.org/officeDocument/2006/relationships/slide" Target="slides/slide265.xml"/><Relationship Id="rId293" Type="http://schemas.openxmlformats.org/officeDocument/2006/relationships/slide" Target="slides/slide286.xml"/><Relationship Id="rId302" Type="http://schemas.openxmlformats.org/officeDocument/2006/relationships/slide" Target="slides/slide295.xml"/><Relationship Id="rId307" Type="http://schemas.openxmlformats.org/officeDocument/2006/relationships/slide" Target="slides/slide30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32" Type="http://schemas.openxmlformats.org/officeDocument/2006/relationships/slide" Target="slides/slide125.xml"/><Relationship Id="rId153" Type="http://schemas.openxmlformats.org/officeDocument/2006/relationships/slide" Target="slides/slide146.xml"/><Relationship Id="rId174" Type="http://schemas.openxmlformats.org/officeDocument/2006/relationships/slide" Target="slides/slide167.xml"/><Relationship Id="rId179" Type="http://schemas.openxmlformats.org/officeDocument/2006/relationships/slide" Target="slides/slide172.xml"/><Relationship Id="rId195" Type="http://schemas.openxmlformats.org/officeDocument/2006/relationships/slide" Target="slides/slide188.xml"/><Relationship Id="rId209" Type="http://schemas.openxmlformats.org/officeDocument/2006/relationships/slide" Target="slides/slide202.xml"/><Relationship Id="rId190" Type="http://schemas.openxmlformats.org/officeDocument/2006/relationships/slide" Target="slides/slide183.xml"/><Relationship Id="rId204" Type="http://schemas.openxmlformats.org/officeDocument/2006/relationships/slide" Target="slides/slide197.xml"/><Relationship Id="rId220" Type="http://schemas.openxmlformats.org/officeDocument/2006/relationships/slide" Target="slides/slide213.xml"/><Relationship Id="rId225" Type="http://schemas.openxmlformats.org/officeDocument/2006/relationships/slide" Target="slides/slide218.xml"/><Relationship Id="rId241" Type="http://schemas.openxmlformats.org/officeDocument/2006/relationships/slide" Target="slides/slide234.xml"/><Relationship Id="rId246" Type="http://schemas.openxmlformats.org/officeDocument/2006/relationships/slide" Target="slides/slide239.xml"/><Relationship Id="rId267" Type="http://schemas.openxmlformats.org/officeDocument/2006/relationships/slide" Target="slides/slide260.xml"/><Relationship Id="rId288" Type="http://schemas.openxmlformats.org/officeDocument/2006/relationships/slide" Target="slides/slide281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Relationship Id="rId127" Type="http://schemas.openxmlformats.org/officeDocument/2006/relationships/slide" Target="slides/slide120.xml"/><Relationship Id="rId262" Type="http://schemas.openxmlformats.org/officeDocument/2006/relationships/slide" Target="slides/slide255.xml"/><Relationship Id="rId283" Type="http://schemas.openxmlformats.org/officeDocument/2006/relationships/slide" Target="slides/slide276.xml"/><Relationship Id="rId313" Type="http://schemas.openxmlformats.org/officeDocument/2006/relationships/theme" Target="theme/theme1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52" Type="http://schemas.openxmlformats.org/officeDocument/2006/relationships/slide" Target="slides/slide45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122" Type="http://schemas.openxmlformats.org/officeDocument/2006/relationships/slide" Target="slides/slide115.xml"/><Relationship Id="rId143" Type="http://schemas.openxmlformats.org/officeDocument/2006/relationships/slide" Target="slides/slide136.xml"/><Relationship Id="rId148" Type="http://schemas.openxmlformats.org/officeDocument/2006/relationships/slide" Target="slides/slide141.xml"/><Relationship Id="rId164" Type="http://schemas.openxmlformats.org/officeDocument/2006/relationships/slide" Target="slides/slide157.xml"/><Relationship Id="rId169" Type="http://schemas.openxmlformats.org/officeDocument/2006/relationships/slide" Target="slides/slide162.xml"/><Relationship Id="rId185" Type="http://schemas.openxmlformats.org/officeDocument/2006/relationships/slide" Target="slides/slide1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80" Type="http://schemas.openxmlformats.org/officeDocument/2006/relationships/slide" Target="slides/slide173.xml"/><Relationship Id="rId210" Type="http://schemas.openxmlformats.org/officeDocument/2006/relationships/slide" Target="slides/slide203.xml"/><Relationship Id="rId215" Type="http://schemas.openxmlformats.org/officeDocument/2006/relationships/slide" Target="slides/slide208.xml"/><Relationship Id="rId236" Type="http://schemas.openxmlformats.org/officeDocument/2006/relationships/slide" Target="slides/slide229.xml"/><Relationship Id="rId257" Type="http://schemas.openxmlformats.org/officeDocument/2006/relationships/slide" Target="slides/slide250.xml"/><Relationship Id="rId278" Type="http://schemas.openxmlformats.org/officeDocument/2006/relationships/slide" Target="slides/slide271.xml"/><Relationship Id="rId26" Type="http://schemas.openxmlformats.org/officeDocument/2006/relationships/slide" Target="slides/slide19.xml"/><Relationship Id="rId231" Type="http://schemas.openxmlformats.org/officeDocument/2006/relationships/slide" Target="slides/slide224.xml"/><Relationship Id="rId252" Type="http://schemas.openxmlformats.org/officeDocument/2006/relationships/slide" Target="slides/slide245.xml"/><Relationship Id="rId273" Type="http://schemas.openxmlformats.org/officeDocument/2006/relationships/slide" Target="slides/slide266.xml"/><Relationship Id="rId294" Type="http://schemas.openxmlformats.org/officeDocument/2006/relationships/slide" Target="slides/slide287.xml"/><Relationship Id="rId308" Type="http://schemas.openxmlformats.org/officeDocument/2006/relationships/slide" Target="slides/slide301.xml"/><Relationship Id="rId47" Type="http://schemas.openxmlformats.org/officeDocument/2006/relationships/slide" Target="slides/slide40.xml"/><Relationship Id="rId68" Type="http://schemas.openxmlformats.org/officeDocument/2006/relationships/slide" Target="slides/slide61.xml"/><Relationship Id="rId89" Type="http://schemas.openxmlformats.org/officeDocument/2006/relationships/slide" Target="slides/slide82.xml"/><Relationship Id="rId112" Type="http://schemas.openxmlformats.org/officeDocument/2006/relationships/slide" Target="slides/slide105.xml"/><Relationship Id="rId133" Type="http://schemas.openxmlformats.org/officeDocument/2006/relationships/slide" Target="slides/slide126.xml"/><Relationship Id="rId154" Type="http://schemas.openxmlformats.org/officeDocument/2006/relationships/slide" Target="slides/slide147.xml"/><Relationship Id="rId175" Type="http://schemas.openxmlformats.org/officeDocument/2006/relationships/slide" Target="slides/slide168.xml"/><Relationship Id="rId196" Type="http://schemas.openxmlformats.org/officeDocument/2006/relationships/slide" Target="slides/slide189.xml"/><Relationship Id="rId200" Type="http://schemas.openxmlformats.org/officeDocument/2006/relationships/slide" Target="slides/slide193.xml"/><Relationship Id="rId16" Type="http://schemas.openxmlformats.org/officeDocument/2006/relationships/slide" Target="slides/slide9.xml"/><Relationship Id="rId221" Type="http://schemas.openxmlformats.org/officeDocument/2006/relationships/slide" Target="slides/slide214.xml"/><Relationship Id="rId242" Type="http://schemas.openxmlformats.org/officeDocument/2006/relationships/slide" Target="slides/slide235.xml"/><Relationship Id="rId263" Type="http://schemas.openxmlformats.org/officeDocument/2006/relationships/slide" Target="slides/slide256.xml"/><Relationship Id="rId284" Type="http://schemas.openxmlformats.org/officeDocument/2006/relationships/slide" Target="slides/slide277.xml"/><Relationship Id="rId37" Type="http://schemas.openxmlformats.org/officeDocument/2006/relationships/slide" Target="slides/slide30.xml"/><Relationship Id="rId58" Type="http://schemas.openxmlformats.org/officeDocument/2006/relationships/slide" Target="slides/slide51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123" Type="http://schemas.openxmlformats.org/officeDocument/2006/relationships/slide" Target="slides/slide116.xml"/><Relationship Id="rId144" Type="http://schemas.openxmlformats.org/officeDocument/2006/relationships/slide" Target="slides/slide137.xml"/><Relationship Id="rId90" Type="http://schemas.openxmlformats.org/officeDocument/2006/relationships/slide" Target="slides/slide83.xml"/><Relationship Id="rId165" Type="http://schemas.openxmlformats.org/officeDocument/2006/relationships/slide" Target="slides/slide158.xml"/><Relationship Id="rId186" Type="http://schemas.openxmlformats.org/officeDocument/2006/relationships/slide" Target="slides/slide179.xml"/><Relationship Id="rId211" Type="http://schemas.openxmlformats.org/officeDocument/2006/relationships/slide" Target="slides/slide204.xml"/><Relationship Id="rId232" Type="http://schemas.openxmlformats.org/officeDocument/2006/relationships/slide" Target="slides/slide225.xml"/><Relationship Id="rId253" Type="http://schemas.openxmlformats.org/officeDocument/2006/relationships/slide" Target="slides/slide246.xml"/><Relationship Id="rId274" Type="http://schemas.openxmlformats.org/officeDocument/2006/relationships/slide" Target="slides/slide267.xml"/><Relationship Id="rId295" Type="http://schemas.openxmlformats.org/officeDocument/2006/relationships/slide" Target="slides/slide288.xml"/><Relationship Id="rId309" Type="http://schemas.openxmlformats.org/officeDocument/2006/relationships/slide" Target="slides/slide302.xml"/><Relationship Id="rId27" Type="http://schemas.openxmlformats.org/officeDocument/2006/relationships/slide" Target="slides/slide20.xml"/><Relationship Id="rId48" Type="http://schemas.openxmlformats.org/officeDocument/2006/relationships/slide" Target="slides/slide41.xml"/><Relationship Id="rId69" Type="http://schemas.openxmlformats.org/officeDocument/2006/relationships/slide" Target="slides/slide62.xml"/><Relationship Id="rId113" Type="http://schemas.openxmlformats.org/officeDocument/2006/relationships/slide" Target="slides/slide106.xml"/><Relationship Id="rId134" Type="http://schemas.openxmlformats.org/officeDocument/2006/relationships/slide" Target="slides/slide127.xml"/><Relationship Id="rId80" Type="http://schemas.openxmlformats.org/officeDocument/2006/relationships/slide" Target="slides/slide73.xml"/><Relationship Id="rId155" Type="http://schemas.openxmlformats.org/officeDocument/2006/relationships/slide" Target="slides/slide148.xml"/><Relationship Id="rId176" Type="http://schemas.openxmlformats.org/officeDocument/2006/relationships/slide" Target="slides/slide169.xml"/><Relationship Id="rId197" Type="http://schemas.openxmlformats.org/officeDocument/2006/relationships/slide" Target="slides/slide190.xml"/><Relationship Id="rId201" Type="http://schemas.openxmlformats.org/officeDocument/2006/relationships/slide" Target="slides/slide194.xml"/><Relationship Id="rId222" Type="http://schemas.openxmlformats.org/officeDocument/2006/relationships/slide" Target="slides/slide215.xml"/><Relationship Id="rId243" Type="http://schemas.openxmlformats.org/officeDocument/2006/relationships/slide" Target="slides/slide236.xml"/><Relationship Id="rId264" Type="http://schemas.openxmlformats.org/officeDocument/2006/relationships/slide" Target="slides/slide257.xml"/><Relationship Id="rId285" Type="http://schemas.openxmlformats.org/officeDocument/2006/relationships/slide" Target="slides/slide278.xml"/><Relationship Id="rId17" Type="http://schemas.openxmlformats.org/officeDocument/2006/relationships/slide" Target="slides/slide10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24" Type="http://schemas.openxmlformats.org/officeDocument/2006/relationships/slide" Target="slides/slide117.xml"/><Relationship Id="rId310" Type="http://schemas.openxmlformats.org/officeDocument/2006/relationships/slide" Target="slides/slide303.xml"/><Relationship Id="rId70" Type="http://schemas.openxmlformats.org/officeDocument/2006/relationships/slide" Target="slides/slide63.xml"/><Relationship Id="rId91" Type="http://schemas.openxmlformats.org/officeDocument/2006/relationships/slide" Target="slides/slide84.xml"/><Relationship Id="rId145" Type="http://schemas.openxmlformats.org/officeDocument/2006/relationships/slide" Target="slides/slide138.xml"/><Relationship Id="rId166" Type="http://schemas.openxmlformats.org/officeDocument/2006/relationships/slide" Target="slides/slide159.xml"/><Relationship Id="rId187" Type="http://schemas.openxmlformats.org/officeDocument/2006/relationships/slide" Target="slides/slide18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5.xml"/><Relationship Id="rId233" Type="http://schemas.openxmlformats.org/officeDocument/2006/relationships/slide" Target="slides/slide226.xml"/><Relationship Id="rId254" Type="http://schemas.openxmlformats.org/officeDocument/2006/relationships/slide" Target="slides/slide247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slide" Target="slides/slide107.xml"/><Relationship Id="rId275" Type="http://schemas.openxmlformats.org/officeDocument/2006/relationships/slide" Target="slides/slide268.xml"/><Relationship Id="rId296" Type="http://schemas.openxmlformats.org/officeDocument/2006/relationships/slide" Target="slides/slide289.xml"/><Relationship Id="rId300" Type="http://schemas.openxmlformats.org/officeDocument/2006/relationships/slide" Target="slides/slide293.xml"/><Relationship Id="rId60" Type="http://schemas.openxmlformats.org/officeDocument/2006/relationships/slide" Target="slides/slide53.xml"/><Relationship Id="rId81" Type="http://schemas.openxmlformats.org/officeDocument/2006/relationships/slide" Target="slides/slide74.xml"/><Relationship Id="rId135" Type="http://schemas.openxmlformats.org/officeDocument/2006/relationships/slide" Target="slides/slide128.xml"/><Relationship Id="rId156" Type="http://schemas.openxmlformats.org/officeDocument/2006/relationships/slide" Target="slides/slide149.xml"/><Relationship Id="rId177" Type="http://schemas.openxmlformats.org/officeDocument/2006/relationships/slide" Target="slides/slide170.xml"/><Relationship Id="rId198" Type="http://schemas.openxmlformats.org/officeDocument/2006/relationships/slide" Target="slides/slide191.xml"/><Relationship Id="rId202" Type="http://schemas.openxmlformats.org/officeDocument/2006/relationships/slide" Target="slides/slide195.xml"/><Relationship Id="rId223" Type="http://schemas.openxmlformats.org/officeDocument/2006/relationships/slide" Target="slides/slide216.xml"/><Relationship Id="rId244" Type="http://schemas.openxmlformats.org/officeDocument/2006/relationships/slide" Target="slides/slide237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265" Type="http://schemas.openxmlformats.org/officeDocument/2006/relationships/slide" Target="slides/slide258.xml"/><Relationship Id="rId286" Type="http://schemas.openxmlformats.org/officeDocument/2006/relationships/slide" Target="slides/slide279.xml"/><Relationship Id="rId50" Type="http://schemas.openxmlformats.org/officeDocument/2006/relationships/slide" Target="slides/slide43.xml"/><Relationship Id="rId104" Type="http://schemas.openxmlformats.org/officeDocument/2006/relationships/slide" Target="slides/slide97.xml"/><Relationship Id="rId125" Type="http://schemas.openxmlformats.org/officeDocument/2006/relationships/slide" Target="slides/slide118.xml"/><Relationship Id="rId146" Type="http://schemas.openxmlformats.org/officeDocument/2006/relationships/slide" Target="slides/slide139.xml"/><Relationship Id="rId167" Type="http://schemas.openxmlformats.org/officeDocument/2006/relationships/slide" Target="slides/slide160.xml"/><Relationship Id="rId188" Type="http://schemas.openxmlformats.org/officeDocument/2006/relationships/slide" Target="slides/slide181.xml"/><Relationship Id="rId311" Type="http://schemas.openxmlformats.org/officeDocument/2006/relationships/presProps" Target="presProps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13" Type="http://schemas.openxmlformats.org/officeDocument/2006/relationships/slide" Target="slides/slide206.xml"/><Relationship Id="rId234" Type="http://schemas.openxmlformats.org/officeDocument/2006/relationships/slide" Target="slides/slide22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55" Type="http://schemas.openxmlformats.org/officeDocument/2006/relationships/slide" Target="slides/slide248.xml"/><Relationship Id="rId276" Type="http://schemas.openxmlformats.org/officeDocument/2006/relationships/slide" Target="slides/slide269.xml"/><Relationship Id="rId297" Type="http://schemas.openxmlformats.org/officeDocument/2006/relationships/slide" Target="slides/slide290.xml"/><Relationship Id="rId40" Type="http://schemas.openxmlformats.org/officeDocument/2006/relationships/slide" Target="slides/slide33.xml"/><Relationship Id="rId115" Type="http://schemas.openxmlformats.org/officeDocument/2006/relationships/slide" Target="slides/slide108.xml"/><Relationship Id="rId136" Type="http://schemas.openxmlformats.org/officeDocument/2006/relationships/slide" Target="slides/slide129.xml"/><Relationship Id="rId157" Type="http://schemas.openxmlformats.org/officeDocument/2006/relationships/slide" Target="slides/slide150.xml"/><Relationship Id="rId178" Type="http://schemas.openxmlformats.org/officeDocument/2006/relationships/slide" Target="slides/slide171.xml"/><Relationship Id="rId301" Type="http://schemas.openxmlformats.org/officeDocument/2006/relationships/slide" Target="slides/slide29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C0329E4D-311F-49AC-882D-B648C5504FF0}" type="datetimeFigureOut">
              <a:rPr lang="pt-BR" smtClean="0"/>
              <a:t>08/06/2018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0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12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978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2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054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84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80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6/8/2018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2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61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6/8/2018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2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1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1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1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4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9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2.png"/><Relationship Id="rId4" Type="http://schemas.openxmlformats.org/officeDocument/2006/relationships/image" Target="../media/image62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2.png"/><Relationship Id="rId4" Type="http://schemas.openxmlformats.org/officeDocument/2006/relationships/image" Target="../media/image65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6.png"/><Relationship Id="rId4" Type="http://schemas.openxmlformats.org/officeDocument/2006/relationships/image" Target="../media/image68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52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1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3.png"/><Relationship Id="rId4" Type="http://schemas.openxmlformats.org/officeDocument/2006/relationships/image" Target="../media/image83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5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8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8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7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7.png"/><Relationship Id="rId4" Type="http://schemas.openxmlformats.org/officeDocument/2006/relationships/image" Target="../media/image58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5.png"/><Relationship Id="rId4" Type="http://schemas.openxmlformats.org/officeDocument/2006/relationships/image" Target="../media/image87.png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samuelbasilio@leopoldina.cefetmg.br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– 12:20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Quarta 17:00 </a:t>
            </a:r>
            <a:r>
              <a:rPr lang="pt-BR" dirty="0">
                <a:latin typeface="Calibri"/>
                <a:cs typeface="Calibri"/>
              </a:rPr>
              <a:t>– </a:t>
            </a:r>
            <a:r>
              <a:rPr lang="pt-BR" dirty="0" smtClean="0">
                <a:latin typeface="Calibri"/>
                <a:cs typeface="Calibri"/>
              </a:rPr>
              <a:t>18:40;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57279" y="791857"/>
            <a:ext cx="7630926" cy="13040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101725"/>
              </a:lnSpc>
              <a:spcBef>
                <a:spcPts val="2948"/>
              </a:spcBef>
            </a:pPr>
            <a:endParaRPr lang="pt-BR" spc="5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681" y="1983414"/>
            <a:ext cx="7787567" cy="3490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29154">
              <a:lnSpc>
                <a:spcPts val="1935"/>
              </a:lnSpc>
              <a:spcBef>
                <a:spcPts val="96"/>
              </a:spcBef>
            </a:pPr>
            <a:r>
              <a:rPr lang="pt-BR" sz="2700" i="1" dirty="0"/>
              <a:t>A disciplina deverá possibilitar ao estudante:</a:t>
            </a:r>
          </a:p>
          <a:p>
            <a:pPr marL="12698" marR="29154">
              <a:lnSpc>
                <a:spcPts val="1935"/>
              </a:lnSpc>
              <a:spcBef>
                <a:spcPts val="96"/>
              </a:spcBef>
            </a:pPr>
            <a:endParaRPr lang="pt-BR" sz="2700" dirty="0">
              <a:latin typeface="Calibri"/>
              <a:cs typeface="Calibri"/>
            </a:endParaRP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Familiaridade com as principais estruturas de dados e suas abstrações.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criar estruturas de dados com alocação estática e dinâmica de memória.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utilizar os conceitos relativos ao projeto e implementação de aplicações utilizando as estruturas de dados clássicas: listas, filas, pilhas e árvores.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Domínio dos conceitos relativos ao projeto, implementação e uso de algoritmos de pesquisa e ordenação.</a:t>
            </a: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err="1"/>
              <a:t>Objetivos</a:t>
            </a:r>
            <a:r>
              <a:rPr dirty="0"/>
              <a:t> </a:t>
            </a:r>
            <a:r>
              <a:rPr dirty="0" err="1" smtClean="0"/>
              <a:t>Gerais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6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listas, pilhas, filas e árvores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pesquisa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ordenação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7924831" cy="4814278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/>
              <a:t>1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</a:t>
            </a:r>
            <a:r>
              <a:rPr lang="pt-BR" sz="2300" dirty="0" smtClean="0"/>
              <a:t>4</a:t>
            </a:r>
            <a:endParaRPr lang="pt-BR" sz="2300" dirty="0"/>
          </a:p>
          <a:p>
            <a:pPr lvl="1"/>
            <a:r>
              <a:rPr lang="pt-BR" sz="2300" dirty="0"/>
              <a:t>3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58693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47013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594714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909944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302806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813677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6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660"/>
              </a:lnSpc>
              <a:tabLst>
                <a:tab pos="373380" algn="l"/>
                <a:tab pos="1671955" algn="l"/>
                <a:tab pos="2237105" algn="l"/>
                <a:tab pos="3402965" algn="l"/>
                <a:tab pos="3858895" algn="l"/>
                <a:tab pos="4219575" algn="l"/>
                <a:tab pos="5516245" algn="l"/>
                <a:tab pos="6085205" algn="l"/>
                <a:tab pos="7250430" algn="l"/>
                <a:tab pos="7799070" algn="l"/>
                <a:tab pos="8702040" algn="l"/>
                <a:tab pos="906208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1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olu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col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59"/>
              </a:spcBef>
              <a:tabLst>
                <a:tab pos="690245" algn="l"/>
                <a:tab pos="1068705" algn="l"/>
                <a:tab pos="2270760" algn="l"/>
                <a:tab pos="3136265" algn="l"/>
                <a:tab pos="3515995" algn="l"/>
                <a:tab pos="5648960" algn="l"/>
                <a:tab pos="6382385" algn="l"/>
                <a:tab pos="7506970" algn="l"/>
                <a:tab pos="807212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5767" y="2663744"/>
            <a:ext cx="3025775" cy="406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466215" algn="l"/>
                <a:tab pos="2826385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003" y="2703373"/>
            <a:ext cx="6005830" cy="118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ois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4386526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6355761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39</a:t>
            </a:fld>
            <a:endParaRPr dirty="0">
              <a:solidFill>
                <a:prstClr val="black"/>
              </a:solidFill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935722"/>
            <a:ext cx="9124292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Até </a:t>
            </a:r>
            <a:r>
              <a:rPr sz="3400" spc="-6" dirty="0">
                <a:latin typeface="Arial"/>
                <a:cs typeface="Arial"/>
              </a:rPr>
              <a:t>agora vimos as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de dados  homogêneas: </a:t>
            </a:r>
            <a:r>
              <a:rPr sz="3400" b="1" spc="-17" dirty="0">
                <a:latin typeface="Arial"/>
                <a:cs typeface="Arial"/>
              </a:rPr>
              <a:t>vetores</a:t>
            </a:r>
            <a:r>
              <a:rPr sz="3400" spc="-17" dirty="0">
                <a:latin typeface="Arial"/>
                <a:cs typeface="Arial"/>
              </a:rPr>
              <a:t>, </a:t>
            </a:r>
            <a:r>
              <a:rPr sz="3400" b="1" spc="-6" dirty="0">
                <a:latin typeface="Arial"/>
                <a:cs typeface="Arial"/>
              </a:rPr>
              <a:t>matrizes </a:t>
            </a:r>
            <a:r>
              <a:rPr sz="3400" spc="-6" dirty="0">
                <a:latin typeface="Arial"/>
                <a:cs typeface="Arial"/>
              </a:rPr>
              <a:t>e</a:t>
            </a:r>
            <a:r>
              <a:rPr sz="3400" spc="103" dirty="0">
                <a:latin typeface="Arial"/>
                <a:cs typeface="Arial"/>
              </a:rPr>
              <a:t> </a:t>
            </a:r>
            <a:r>
              <a:rPr sz="3400" b="1" i="1" spc="-6" dirty="0">
                <a:latin typeface="Arial"/>
                <a:cs typeface="Arial"/>
              </a:rPr>
              <a:t>strings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193349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Nestas estruturas </a:t>
            </a:r>
            <a:r>
              <a:rPr sz="3400" spc="-6" dirty="0">
                <a:latin typeface="Arial"/>
                <a:cs typeface="Arial"/>
              </a:rPr>
              <a:t>todos os elementos da  </a:t>
            </a:r>
            <a:r>
              <a:rPr sz="3400" dirty="0">
                <a:latin typeface="Arial"/>
                <a:cs typeface="Arial"/>
              </a:rPr>
              <a:t>estrutura são de </a:t>
            </a:r>
            <a:r>
              <a:rPr sz="3400" spc="-6" dirty="0">
                <a:latin typeface="Arial"/>
                <a:cs typeface="Arial"/>
              </a:rPr>
              <a:t>tipos </a:t>
            </a:r>
            <a:r>
              <a:rPr sz="3400" dirty="0">
                <a:latin typeface="Arial"/>
                <a:cs typeface="Arial"/>
              </a:rPr>
              <a:t>de </a:t>
            </a:r>
            <a:r>
              <a:rPr sz="3400" spc="-6" dirty="0">
                <a:latin typeface="Arial"/>
                <a:cs typeface="Arial"/>
              </a:rPr>
              <a:t>dados</a:t>
            </a:r>
            <a:r>
              <a:rPr sz="3400" spc="-4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primitivos:  </a:t>
            </a:r>
            <a:r>
              <a:rPr sz="3400" b="1" dirty="0">
                <a:latin typeface="Arial"/>
                <a:cs typeface="Arial"/>
              </a:rPr>
              <a:t>inteiro, </a:t>
            </a:r>
            <a:r>
              <a:rPr sz="3400" b="1" spc="-6" dirty="0">
                <a:latin typeface="Arial"/>
                <a:cs typeface="Arial"/>
              </a:rPr>
              <a:t>real,</a:t>
            </a:r>
            <a:r>
              <a:rPr sz="3400" b="1" spc="-34" dirty="0">
                <a:latin typeface="Arial"/>
                <a:cs typeface="Arial"/>
              </a:rPr>
              <a:t> </a:t>
            </a:r>
            <a:r>
              <a:rPr sz="3400" b="1" spc="-11" dirty="0">
                <a:latin typeface="Arial"/>
                <a:cs typeface="Arial"/>
              </a:rPr>
              <a:t>caractere</a:t>
            </a:r>
            <a:r>
              <a:rPr sz="3400" spc="-11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49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178055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86058"/>
            <a:ext cx="9426529" cy="53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</a:t>
            </a:r>
            <a:r>
              <a:rPr sz="3400" dirty="0">
                <a:latin typeface="Arial"/>
                <a:cs typeface="Arial"/>
              </a:rPr>
              <a:t>em </a:t>
            </a:r>
            <a:r>
              <a:rPr sz="3400" spc="-6" dirty="0">
                <a:latin typeface="Arial"/>
                <a:cs typeface="Arial"/>
              </a:rPr>
              <a:t>muitos </a:t>
            </a:r>
            <a:r>
              <a:rPr sz="3400" dirty="0">
                <a:latin typeface="Arial"/>
                <a:cs typeface="Arial"/>
              </a:rPr>
              <a:t>casos, </a:t>
            </a:r>
            <a:r>
              <a:rPr sz="3400" spc="-6" dirty="0">
                <a:latin typeface="Arial"/>
                <a:cs typeface="Arial"/>
              </a:rPr>
              <a:t>necessitamos  armazenar conjuntos de informações  relacionadas, formados por diversos tipos de  </a:t>
            </a:r>
            <a:r>
              <a:rPr sz="3400" spc="-11" dirty="0">
                <a:latin typeface="Arial"/>
                <a:cs typeface="Arial"/>
              </a:rPr>
              <a:t>dados</a:t>
            </a:r>
            <a:r>
              <a:rPr sz="3400" spc="-3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11" dirty="0">
                <a:latin typeface="Arial"/>
                <a:cs typeface="Arial"/>
              </a:rPr>
              <a:t>Endereço;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pessoais de um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cliente;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de </a:t>
            </a:r>
            <a:r>
              <a:rPr sz="3400" dirty="0">
                <a:latin typeface="Arial"/>
                <a:cs typeface="Arial"/>
              </a:rPr>
              <a:t>um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produto.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32659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59890"/>
            <a:ext cx="9306971" cy="5248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784259" indent="-521391">
              <a:lnSpc>
                <a:spcPct val="900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Quando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determinada estrutura </a:t>
            </a:r>
            <a:r>
              <a:rPr sz="3400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dirty="0">
                <a:latin typeface="Arial"/>
                <a:cs typeface="Arial"/>
              </a:rPr>
              <a:t>for </a:t>
            </a:r>
            <a:r>
              <a:rPr sz="3400" spc="-6" dirty="0">
                <a:latin typeface="Arial"/>
                <a:cs typeface="Arial"/>
              </a:rPr>
              <a:t>composta </a:t>
            </a:r>
            <a:r>
              <a:rPr sz="3400" spc="-11" dirty="0">
                <a:latin typeface="Arial"/>
                <a:cs typeface="Arial"/>
              </a:rPr>
              <a:t>por </a:t>
            </a:r>
            <a:r>
              <a:rPr sz="3400" b="1" spc="-11" dirty="0">
                <a:latin typeface="Arial"/>
                <a:cs typeface="Arial"/>
              </a:rPr>
              <a:t>diversos </a:t>
            </a:r>
            <a:r>
              <a:rPr sz="3400" b="1" dirty="0">
                <a:latin typeface="Arial"/>
                <a:cs typeface="Arial"/>
              </a:rPr>
              <a:t>tipos  </a:t>
            </a:r>
            <a:r>
              <a:rPr sz="3400" b="1" spc="-6" dirty="0">
                <a:latin typeface="Arial"/>
                <a:cs typeface="Arial"/>
              </a:rPr>
              <a:t>diferentes, </a:t>
            </a:r>
            <a:r>
              <a:rPr sz="3400" spc="-6" dirty="0">
                <a:latin typeface="Arial"/>
                <a:cs typeface="Arial"/>
              </a:rPr>
              <a:t>primitivos </a:t>
            </a:r>
            <a:r>
              <a:rPr sz="3400" dirty="0">
                <a:latin typeface="Arial"/>
                <a:cs typeface="Arial"/>
              </a:rPr>
              <a:t>ou </a:t>
            </a:r>
            <a:r>
              <a:rPr sz="3400" spc="-11" dirty="0">
                <a:latin typeface="Arial"/>
                <a:cs typeface="Arial"/>
              </a:rPr>
              <a:t>não, </a:t>
            </a:r>
            <a:r>
              <a:rPr sz="3400" spc="-6" dirty="0">
                <a:latin typeface="Arial"/>
                <a:cs typeface="Arial"/>
              </a:rPr>
              <a:t>temos </a:t>
            </a:r>
            <a:r>
              <a:rPr sz="3400" dirty="0">
                <a:latin typeface="Arial"/>
                <a:cs typeface="Arial"/>
              </a:rPr>
              <a:t>um  </a:t>
            </a:r>
            <a:r>
              <a:rPr sz="3400" spc="-6" dirty="0">
                <a:latin typeface="Arial"/>
                <a:cs typeface="Arial"/>
              </a:rPr>
              <a:t>conjunto heterogêneo de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535874" marR="5793" indent="-521391">
              <a:lnSpc>
                <a:spcPts val="3695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Essas </a:t>
            </a:r>
            <a:r>
              <a:rPr sz="3400" spc="-6" dirty="0">
                <a:latin typeface="Arial"/>
                <a:cs typeface="Arial"/>
              </a:rPr>
              <a:t>variáveis são chamadas de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b="1" u="heavy" spc="-17" dirty="0">
                <a:latin typeface="Arial"/>
                <a:cs typeface="Arial"/>
              </a:rPr>
              <a:t>variáveis  </a:t>
            </a:r>
            <a:r>
              <a:rPr sz="3400" b="1" u="heavy" dirty="0">
                <a:latin typeface="Arial"/>
                <a:cs typeface="Arial"/>
              </a:rPr>
              <a:t>compostas</a:t>
            </a:r>
            <a:r>
              <a:rPr sz="3400" b="1" u="heavy" spc="-86" dirty="0">
                <a:latin typeface="Arial"/>
                <a:cs typeface="Arial"/>
              </a:rPr>
              <a:t> </a:t>
            </a:r>
            <a:r>
              <a:rPr sz="3400" b="1" u="heavy" spc="-6" dirty="0">
                <a:latin typeface="Arial"/>
                <a:cs typeface="Arial"/>
              </a:rPr>
              <a:t>heterogêneas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spcBef>
                <a:spcPts val="6"/>
              </a:spcBef>
              <a:buClr>
                <a:srgbClr val="852B34"/>
              </a:buClr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535874" indent="-521391">
              <a:lnSpc>
                <a:spcPts val="39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Estas </a:t>
            </a:r>
            <a:r>
              <a:rPr sz="3400" spc="-6" dirty="0">
                <a:latin typeface="Arial"/>
                <a:cs typeface="Arial"/>
              </a:rPr>
              <a:t>variáveis compostas são</a:t>
            </a:r>
            <a:r>
              <a:rPr sz="3400" spc="23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chamadas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00"/>
              </a:lnSpc>
            </a:pPr>
            <a:r>
              <a:rPr sz="3400" spc="-6" dirty="0">
                <a:latin typeface="Arial"/>
                <a:cs typeface="Arial"/>
              </a:rPr>
              <a:t>de </a:t>
            </a:r>
            <a:r>
              <a:rPr sz="3400" b="1" spc="-6" dirty="0">
                <a:solidFill>
                  <a:srgbClr val="FF0000"/>
                </a:solidFill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(ou </a:t>
            </a:r>
            <a:r>
              <a:rPr sz="3400" b="1" i="1" spc="-6" dirty="0">
                <a:solidFill>
                  <a:srgbClr val="FF0000"/>
                </a:solidFill>
                <a:latin typeface="Arial"/>
                <a:cs typeface="Arial"/>
              </a:rPr>
              <a:t>structs </a:t>
            </a:r>
            <a:r>
              <a:rPr sz="3400" dirty="0">
                <a:latin typeface="Arial"/>
                <a:cs typeface="Arial"/>
              </a:rPr>
              <a:t>na </a:t>
            </a:r>
            <a:r>
              <a:rPr sz="3400" spc="-6" dirty="0">
                <a:latin typeface="Arial"/>
                <a:cs typeface="Arial"/>
              </a:rPr>
              <a:t>linguagem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C).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Variáveis</a:t>
            </a:r>
            <a:r>
              <a:rPr spc="-103" dirty="0"/>
              <a:t> </a:t>
            </a:r>
            <a:r>
              <a:rPr dirty="0"/>
              <a:t>compostas</a:t>
            </a:r>
          </a:p>
        </p:txBody>
      </p:sp>
    </p:spTree>
    <p:extLst>
      <p:ext uri="{BB962C8B-B14F-4D97-AF65-F5344CB8AC3E}">
        <p14:creationId xmlns:p14="http://schemas.microsoft.com/office/powerpoint/2010/main" val="2685532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10072" y="4329594"/>
          <a:ext cx="3356539" cy="27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6539"/>
              </a:tblGrid>
              <a:tr h="713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65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713669">
                <a:tc>
                  <a:txBody>
                    <a:bodyPr/>
                    <a:lstStyle/>
                    <a:p>
                      <a:pPr marL="1022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sobrenome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71688"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salário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6329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cargo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755593" y="4335191"/>
            <a:ext cx="549522" cy="2854678"/>
          </a:xfrm>
          <a:custGeom>
            <a:avLst/>
            <a:gdLst/>
            <a:ahLst/>
            <a:cxnLst/>
            <a:rect l="l" t="t" r="r" b="b"/>
            <a:pathLst>
              <a:path w="469900" h="2590800">
                <a:moveTo>
                  <a:pt x="469900" y="2590800"/>
                </a:moveTo>
                <a:lnTo>
                  <a:pt x="416017" y="2586699"/>
                </a:lnTo>
                <a:lnTo>
                  <a:pt x="366559" y="2575020"/>
                </a:lnTo>
                <a:lnTo>
                  <a:pt x="322936" y="2556692"/>
                </a:lnTo>
                <a:lnTo>
                  <a:pt x="286554" y="2532649"/>
                </a:lnTo>
                <a:lnTo>
                  <a:pt x="258824" y="2503822"/>
                </a:lnTo>
                <a:lnTo>
                  <a:pt x="234950" y="2435542"/>
                </a:lnTo>
                <a:lnTo>
                  <a:pt x="234950" y="1450593"/>
                </a:lnTo>
                <a:lnTo>
                  <a:pt x="228746" y="1415005"/>
                </a:lnTo>
                <a:lnTo>
                  <a:pt x="183345" y="1353522"/>
                </a:lnTo>
                <a:lnTo>
                  <a:pt x="146963" y="1329490"/>
                </a:lnTo>
                <a:lnTo>
                  <a:pt x="103340" y="1311171"/>
                </a:lnTo>
                <a:lnTo>
                  <a:pt x="53882" y="1299498"/>
                </a:lnTo>
                <a:lnTo>
                  <a:pt x="0" y="1295400"/>
                </a:lnTo>
                <a:lnTo>
                  <a:pt x="53882" y="1291301"/>
                </a:lnTo>
                <a:lnTo>
                  <a:pt x="103340" y="1279628"/>
                </a:lnTo>
                <a:lnTo>
                  <a:pt x="146963" y="1261309"/>
                </a:lnTo>
                <a:lnTo>
                  <a:pt x="183345" y="1237277"/>
                </a:lnTo>
                <a:lnTo>
                  <a:pt x="211075" y="1208462"/>
                </a:lnTo>
                <a:lnTo>
                  <a:pt x="234950" y="1140206"/>
                </a:lnTo>
                <a:lnTo>
                  <a:pt x="234950" y="155194"/>
                </a:lnTo>
                <a:lnTo>
                  <a:pt x="241153" y="119605"/>
                </a:lnTo>
                <a:lnTo>
                  <a:pt x="286554" y="58122"/>
                </a:lnTo>
                <a:lnTo>
                  <a:pt x="322936" y="34090"/>
                </a:lnTo>
                <a:lnTo>
                  <a:pt x="366559" y="15771"/>
                </a:lnTo>
                <a:lnTo>
                  <a:pt x="416017" y="4098"/>
                </a:lnTo>
                <a:lnTo>
                  <a:pt x="4699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266" y="1281105"/>
            <a:ext cx="9283207" cy="4875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Uma estrutura </a:t>
            </a:r>
            <a:r>
              <a:rPr sz="3400" spc="-6" dirty="0">
                <a:latin typeface="Arial"/>
                <a:cs typeface="Arial"/>
              </a:rPr>
              <a:t>pode </a:t>
            </a:r>
            <a:r>
              <a:rPr sz="3400" dirty="0">
                <a:latin typeface="Arial"/>
                <a:cs typeface="Arial"/>
              </a:rPr>
              <a:t>ser </a:t>
            </a:r>
            <a:r>
              <a:rPr sz="3400" spc="-6" dirty="0">
                <a:latin typeface="Arial"/>
                <a:cs typeface="Arial"/>
              </a:rPr>
              <a:t>definida </a:t>
            </a:r>
            <a:r>
              <a:rPr sz="3400" dirty="0">
                <a:latin typeface="Arial"/>
                <a:cs typeface="Arial"/>
              </a:rPr>
              <a:t>como uma  </a:t>
            </a:r>
            <a:r>
              <a:rPr sz="3400" spc="-6" dirty="0">
                <a:latin typeface="Arial"/>
                <a:cs typeface="Arial"/>
              </a:rPr>
              <a:t>coleção de uma ou mais variáveis  relacionadas (campos), </a:t>
            </a:r>
            <a:r>
              <a:rPr sz="3400" b="1" dirty="0">
                <a:latin typeface="Arial"/>
                <a:cs typeface="Arial"/>
              </a:rPr>
              <a:t>onde </a:t>
            </a:r>
            <a:r>
              <a:rPr sz="3400" b="1" spc="-6" dirty="0">
                <a:latin typeface="Arial"/>
                <a:cs typeface="Arial"/>
              </a:rPr>
              <a:t>cada </a:t>
            </a:r>
            <a:r>
              <a:rPr sz="3400" b="1" spc="-23" dirty="0">
                <a:latin typeface="Arial"/>
                <a:cs typeface="Arial"/>
              </a:rPr>
              <a:t>variável  </a:t>
            </a:r>
            <a:r>
              <a:rPr sz="3400" b="1" dirty="0">
                <a:latin typeface="Arial"/>
                <a:cs typeface="Arial"/>
              </a:rPr>
              <a:t>pode </a:t>
            </a:r>
            <a:r>
              <a:rPr sz="3400" b="1" spc="-6" dirty="0">
                <a:latin typeface="Arial"/>
                <a:cs typeface="Arial"/>
              </a:rPr>
              <a:t>ser </a:t>
            </a:r>
            <a:r>
              <a:rPr sz="3400" b="1" dirty="0">
                <a:latin typeface="Arial"/>
                <a:cs typeface="Arial"/>
              </a:rPr>
              <a:t>de um tipo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distinto</a:t>
            </a:r>
            <a:r>
              <a:rPr sz="3400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  <a:p>
            <a:pPr marL="963849">
              <a:spcBef>
                <a:spcPts val="1983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empregado</a:t>
            </a:r>
            <a:endParaRPr sz="3600">
              <a:latin typeface="Arial"/>
              <a:cs typeface="Arial"/>
            </a:endParaRPr>
          </a:p>
          <a:p>
            <a:pPr marL="963849">
              <a:spcBef>
                <a:spcPts val="912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(4</a:t>
            </a:r>
            <a:r>
              <a:rPr sz="3600" spc="-91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campos)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Definição de</a:t>
            </a:r>
            <a:r>
              <a:rPr spc="-108" dirty="0"/>
              <a:t> </a:t>
            </a:r>
            <a:r>
              <a:rPr dirty="0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59967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692" y="2947035"/>
            <a:ext cx="6695257" cy="2723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1200">
              <a:latin typeface="Times New Roman"/>
              <a:cs typeface="Times New Roman"/>
            </a:endParaRPr>
          </a:p>
          <a:p>
            <a:pPr marR="918951" algn="r"/>
            <a:r>
              <a:rPr sz="110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38760"/>
            <a:ext cx="8630465" cy="102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lnSpc>
                <a:spcPts val="3991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Sintaxe para definir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estrutura </a:t>
            </a:r>
            <a:r>
              <a:rPr sz="3400" dirty="0">
                <a:latin typeface="Arial"/>
                <a:cs typeface="Arial"/>
              </a:rPr>
              <a:t>com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n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91"/>
              </a:lnSpc>
            </a:pPr>
            <a:r>
              <a:rPr sz="3400" spc="-6" dirty="0">
                <a:latin typeface="Arial"/>
                <a:cs typeface="Arial"/>
              </a:rPr>
              <a:t>campos em</a:t>
            </a:r>
            <a:r>
              <a:rPr sz="3400" spc="-63" dirty="0">
                <a:latin typeface="Arial"/>
                <a:cs typeface="Arial"/>
              </a:rPr>
              <a:t> </a:t>
            </a:r>
            <a:r>
              <a:rPr sz="3400" spc="-17" dirty="0">
                <a:latin typeface="Arial"/>
                <a:cs typeface="Arial"/>
              </a:rPr>
              <a:t>C</a:t>
            </a:r>
            <a:r>
              <a:rPr sz="3400" spc="-17" dirty="0">
                <a:latin typeface="Courier New"/>
                <a:cs typeface="Courier New"/>
              </a:rPr>
              <a:t>: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40" dirty="0"/>
              <a:t> </a:t>
            </a:r>
            <a:r>
              <a:rPr spc="-6" dirty="0"/>
              <a:t>Definição</a:t>
            </a:r>
          </a:p>
        </p:txBody>
      </p:sp>
      <p:sp>
        <p:nvSpPr>
          <p:cNvPr id="5" name="object 5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0862" y="2963826"/>
            <a:ext cx="4039729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NomeDaEstrutura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221" y="2963827"/>
            <a:ext cx="1901049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tipo1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tipo2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7901" y="3971780"/>
            <a:ext cx="4041956" cy="1049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identificador1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spc="-6" dirty="0">
                <a:latin typeface="Courier New"/>
                <a:cs typeface="Courier New"/>
              </a:rPr>
              <a:t>identificador2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9221" y="4979594"/>
            <a:ext cx="6179894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tipoN</a:t>
            </a:r>
            <a:r>
              <a:rPr sz="3400" spc="-91" dirty="0">
                <a:latin typeface="Courier New"/>
                <a:cs typeface="Courier New"/>
              </a:rPr>
              <a:t> </a:t>
            </a:r>
            <a:r>
              <a:rPr sz="3400" spc="-6" dirty="0">
                <a:latin typeface="Courier New"/>
                <a:cs typeface="Courier New"/>
              </a:rPr>
              <a:t>identificadorN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>
              <a:spcBef>
                <a:spcPts val="91"/>
              </a:spcBef>
            </a:pP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3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9656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33" y="1200643"/>
            <a:ext cx="9196324" cy="2854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70000"/>
              <a:buChar char="•"/>
              <a:tabLst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dessa forma, </a:t>
            </a:r>
            <a:r>
              <a:rPr sz="3400" dirty="0">
                <a:latin typeface="Arial"/>
                <a:cs typeface="Arial"/>
              </a:rPr>
              <a:t>é </a:t>
            </a:r>
            <a:r>
              <a:rPr sz="3400" spc="-6" dirty="0">
                <a:latin typeface="Arial"/>
                <a:cs typeface="Arial"/>
              </a:rPr>
              <a:t>necessário </a:t>
            </a:r>
            <a:r>
              <a:rPr sz="3400" spc="-11" dirty="0">
                <a:latin typeface="Arial"/>
                <a:cs typeface="Arial"/>
              </a:rPr>
              <a:t>usar  </a:t>
            </a:r>
            <a:r>
              <a:rPr sz="3400" spc="-6" dirty="0">
                <a:latin typeface="Arial"/>
                <a:cs typeface="Arial"/>
              </a:rPr>
              <a:t>a palavra-chave </a:t>
            </a:r>
            <a:r>
              <a:rPr sz="34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3400" b="1" spc="-113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3400" spc="-6" dirty="0">
                <a:latin typeface="Arial"/>
                <a:cs typeface="Arial"/>
              </a:rPr>
              <a:t>toda vez que uma  variável </a:t>
            </a:r>
            <a:r>
              <a:rPr sz="3400" dirty="0">
                <a:latin typeface="Arial"/>
                <a:cs typeface="Arial"/>
              </a:rPr>
              <a:t>é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declarada:</a:t>
            </a:r>
            <a:endParaRPr sz="3400">
              <a:latin typeface="Arial"/>
              <a:cs typeface="Arial"/>
            </a:endParaRPr>
          </a:p>
          <a:p>
            <a:pPr marL="569184">
              <a:spcBef>
                <a:spcPts val="1175"/>
              </a:spcBef>
            </a:pPr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2700" b="1" spc="-11" dirty="0">
                <a:latin typeface="Courier New"/>
                <a:cs typeface="Courier New"/>
              </a:rPr>
              <a:t>&lt;nomeEstrutura&gt; var1, </a:t>
            </a:r>
            <a:r>
              <a:rPr sz="2700" b="1" spc="-6" dirty="0">
                <a:latin typeface="Courier New"/>
                <a:cs typeface="Courier New"/>
              </a:rPr>
              <a:t>...,</a:t>
            </a:r>
            <a:r>
              <a:rPr sz="2700" b="1" spc="-23" dirty="0">
                <a:latin typeface="Courier New"/>
                <a:cs typeface="Courier New"/>
              </a:rPr>
              <a:t> </a:t>
            </a:r>
            <a:r>
              <a:rPr sz="2700" b="1" spc="-6" dirty="0">
                <a:latin typeface="Courier New"/>
                <a:cs typeface="Courier New"/>
              </a:rPr>
              <a:t>varN;</a:t>
            </a:r>
            <a:endParaRPr sz="2700">
              <a:latin typeface="Courier New"/>
              <a:cs typeface="Courier New"/>
            </a:endParaRPr>
          </a:p>
          <a:p>
            <a:pPr marL="535874" indent="-521391">
              <a:spcBef>
                <a:spcPts val="1471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87" y="4241436"/>
            <a:ext cx="463529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Declaracao de</a:t>
            </a:r>
            <a:r>
              <a:rPr sz="23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54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538587" y="4577281"/>
            <a:ext cx="106934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596" y="4577281"/>
            <a:ext cx="303128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fulano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a2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a3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518" y="4203652"/>
            <a:ext cx="4247656" cy="292457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209">
              <a:spcBef>
                <a:spcPts val="125"/>
              </a:spcBef>
            </a:pPr>
            <a:r>
              <a:rPr sz="2100" spc="-6" dirty="0">
                <a:solidFill>
                  <a:srgbClr val="7E7E7E"/>
                </a:solidFill>
                <a:latin typeface="Courier New"/>
                <a:cs typeface="Courier New"/>
              </a:rPr>
              <a:t>//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Definicao da</a:t>
            </a:r>
            <a:r>
              <a:rPr sz="2100" spc="-6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412768" marR="137082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4059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200643"/>
            <a:ext cx="8983199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Note que para variáveis </a:t>
            </a:r>
            <a:r>
              <a:rPr sz="3400" dirty="0">
                <a:latin typeface="Arial"/>
                <a:cs typeface="Arial"/>
              </a:rPr>
              <a:t>do </a:t>
            </a:r>
            <a:r>
              <a:rPr sz="3400" spc="-6" dirty="0">
                <a:latin typeface="Arial"/>
                <a:cs typeface="Arial"/>
              </a:rPr>
              <a:t>tipo estrutura </a:t>
            </a:r>
            <a:r>
              <a:rPr sz="3400" dirty="0">
                <a:latin typeface="Arial"/>
                <a:cs typeface="Arial"/>
              </a:rPr>
              <a:t>a  </a:t>
            </a:r>
            <a:r>
              <a:rPr sz="3400" spc="-6" dirty="0">
                <a:latin typeface="Arial"/>
                <a:cs typeface="Arial"/>
              </a:rPr>
              <a:t>palavra chave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3400" spc="-6" dirty="0">
                <a:latin typeface="Arial"/>
                <a:cs typeface="Arial"/>
              </a:rPr>
              <a:t>deve vir antes do  nome </a:t>
            </a:r>
            <a:r>
              <a:rPr sz="3400" dirty="0">
                <a:latin typeface="Arial"/>
                <a:cs typeface="Arial"/>
              </a:rPr>
              <a:t>da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estrutura.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5288570"/>
            <a:ext cx="7783904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Existe uma outra </a:t>
            </a:r>
            <a:r>
              <a:rPr sz="3400" spc="-11" dirty="0">
                <a:latin typeface="Arial"/>
                <a:cs typeface="Arial"/>
              </a:rPr>
              <a:t>possibilidade, </a:t>
            </a:r>
            <a:r>
              <a:rPr sz="3400" spc="-6" dirty="0">
                <a:latin typeface="Arial"/>
                <a:cs typeface="Arial"/>
              </a:rPr>
              <a:t>mais  simples, para </a:t>
            </a:r>
            <a:r>
              <a:rPr sz="3400" spc="-11" dirty="0">
                <a:latin typeface="Arial"/>
                <a:cs typeface="Arial"/>
              </a:rPr>
              <a:t>declarar </a:t>
            </a:r>
            <a:r>
              <a:rPr sz="3400" spc="-6" dirty="0">
                <a:latin typeface="Arial"/>
                <a:cs typeface="Arial"/>
              </a:rPr>
              <a:t>variáveis de  estruturas.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8345" y="3302470"/>
            <a:ext cx="4167456" cy="145812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037">
              <a:spcBef>
                <a:spcPts val="160"/>
              </a:spcBef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Tipos</a:t>
            </a:r>
            <a:r>
              <a:rPr sz="2300" spc="-10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primitivos</a:t>
            </a:r>
            <a:endParaRPr sz="2300">
              <a:latin typeface="Courier New"/>
              <a:cs typeface="Courier New"/>
            </a:endParaRPr>
          </a:p>
          <a:p>
            <a:pPr marL="97037" marR="151130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valor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dirty="0">
                <a:latin typeface="Courier New"/>
                <a:cs typeface="Courier New"/>
              </a:rPr>
              <a:t>z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letra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13534" y="3296873"/>
          <a:ext cx="4547663" cy="1458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973"/>
                <a:gridCol w="2187690"/>
              </a:tblGrid>
              <a:tr h="731861"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// Variaveis</a:t>
                      </a:r>
                      <a:r>
                        <a:rPr sz="2200" spc="-8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estruturas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fulano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46">
                <a:tc>
                  <a:txBody>
                    <a:bodyPr/>
                    <a:lstStyle/>
                    <a:p>
                      <a:pPr marL="78740">
                        <a:lnSpc>
                          <a:spcPts val="2045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2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27940">
                      <a:solidFill>
                        <a:srgbClr val="FF0000"/>
                      </a:solidFill>
                      <a:prstDash val="solid"/>
                    </a:lnR>
                    <a:lnB w="27940">
                      <a:solidFill>
                        <a:srgbClr val="FF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155"/>
                        </a:lnSpc>
                      </a:pPr>
                      <a:r>
                        <a:rPr sz="2200" spc="-5" dirty="0">
                          <a:latin typeface="Courier New"/>
                          <a:cs typeface="Courier New"/>
                        </a:rPr>
                        <a:t>a1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200" spc="-8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96015">
                <a:tc gridSpan="2"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4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163277" y="2188306"/>
            <a:ext cx="557689" cy="1591063"/>
          </a:xfrm>
          <a:custGeom>
            <a:avLst/>
            <a:gdLst/>
            <a:ahLst/>
            <a:cxnLst/>
            <a:rect l="l" t="t" r="r" b="b"/>
            <a:pathLst>
              <a:path w="476885" h="1443989">
                <a:moveTo>
                  <a:pt x="371602" y="1335786"/>
                </a:moveTo>
                <a:lnTo>
                  <a:pt x="362839" y="1336039"/>
                </a:lnTo>
                <a:lnTo>
                  <a:pt x="352298" y="1347343"/>
                </a:lnTo>
                <a:lnTo>
                  <a:pt x="352552" y="1356233"/>
                </a:lnTo>
                <a:lnTo>
                  <a:pt x="358267" y="1361439"/>
                </a:lnTo>
                <a:lnTo>
                  <a:pt x="446786" y="1443989"/>
                </a:lnTo>
                <a:lnTo>
                  <a:pt x="452175" y="1421511"/>
                </a:lnTo>
                <a:lnTo>
                  <a:pt x="425323" y="1421511"/>
                </a:lnTo>
                <a:lnTo>
                  <a:pt x="410360" y="1371790"/>
                </a:lnTo>
                <a:lnTo>
                  <a:pt x="377317" y="1340993"/>
                </a:lnTo>
                <a:lnTo>
                  <a:pt x="371602" y="1335786"/>
                </a:lnTo>
                <a:close/>
              </a:path>
              <a:path w="476885" h="1443989">
                <a:moveTo>
                  <a:pt x="410360" y="1371790"/>
                </a:moveTo>
                <a:lnTo>
                  <a:pt x="425323" y="1421511"/>
                </a:lnTo>
                <a:lnTo>
                  <a:pt x="449607" y="1414145"/>
                </a:lnTo>
                <a:lnTo>
                  <a:pt x="425196" y="1414145"/>
                </a:lnTo>
                <a:lnTo>
                  <a:pt x="430782" y="1390824"/>
                </a:lnTo>
                <a:lnTo>
                  <a:pt x="410360" y="1371790"/>
                </a:lnTo>
                <a:close/>
              </a:path>
              <a:path w="476885" h="1443989">
                <a:moveTo>
                  <a:pt x="457200" y="1307719"/>
                </a:moveTo>
                <a:lnTo>
                  <a:pt x="449580" y="1312290"/>
                </a:lnTo>
                <a:lnTo>
                  <a:pt x="437229" y="1363915"/>
                </a:lnTo>
                <a:lnTo>
                  <a:pt x="452120" y="1413383"/>
                </a:lnTo>
                <a:lnTo>
                  <a:pt x="425323" y="1421511"/>
                </a:lnTo>
                <a:lnTo>
                  <a:pt x="452175" y="1421511"/>
                </a:lnTo>
                <a:lnTo>
                  <a:pt x="474980" y="1326388"/>
                </a:lnTo>
                <a:lnTo>
                  <a:pt x="476758" y="1318895"/>
                </a:lnTo>
                <a:lnTo>
                  <a:pt x="472186" y="1311275"/>
                </a:lnTo>
                <a:lnTo>
                  <a:pt x="457200" y="1307719"/>
                </a:lnTo>
                <a:close/>
              </a:path>
              <a:path w="476885" h="1443989">
                <a:moveTo>
                  <a:pt x="430782" y="1390824"/>
                </a:moveTo>
                <a:lnTo>
                  <a:pt x="425196" y="1414145"/>
                </a:lnTo>
                <a:lnTo>
                  <a:pt x="448310" y="1407160"/>
                </a:lnTo>
                <a:lnTo>
                  <a:pt x="430782" y="1390824"/>
                </a:lnTo>
                <a:close/>
              </a:path>
              <a:path w="476885" h="1443989">
                <a:moveTo>
                  <a:pt x="437229" y="1363915"/>
                </a:moveTo>
                <a:lnTo>
                  <a:pt x="430782" y="1390824"/>
                </a:lnTo>
                <a:lnTo>
                  <a:pt x="448310" y="1407160"/>
                </a:lnTo>
                <a:lnTo>
                  <a:pt x="425196" y="1414145"/>
                </a:lnTo>
                <a:lnTo>
                  <a:pt x="449607" y="1414145"/>
                </a:lnTo>
                <a:lnTo>
                  <a:pt x="452120" y="1413383"/>
                </a:lnTo>
                <a:lnTo>
                  <a:pt x="437229" y="1363915"/>
                </a:lnTo>
                <a:close/>
              </a:path>
              <a:path w="476885" h="1443989">
                <a:moveTo>
                  <a:pt x="26670" y="0"/>
                </a:moveTo>
                <a:lnTo>
                  <a:pt x="0" y="8127"/>
                </a:lnTo>
                <a:lnTo>
                  <a:pt x="410360" y="1371790"/>
                </a:lnTo>
                <a:lnTo>
                  <a:pt x="430782" y="1390824"/>
                </a:lnTo>
                <a:lnTo>
                  <a:pt x="437229" y="1363915"/>
                </a:lnTo>
                <a:lnTo>
                  <a:pt x="26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4599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78" y="3105442"/>
            <a:ext cx="68630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993300"/>
                </a:solidFill>
                <a:latin typeface="Courier New"/>
                <a:cs typeface="Courier New"/>
              </a:rPr>
              <a:t>&lt;nomeAntigo&gt;</a:t>
            </a:r>
            <a:r>
              <a:rPr sz="2700" b="1" spc="-34" dirty="0">
                <a:solidFill>
                  <a:srgbClr val="993300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FF0000"/>
                </a:solidFill>
                <a:latin typeface="Courier New"/>
                <a:cs typeface="Courier New"/>
              </a:rPr>
              <a:t>&lt;nomeNovo&gt;;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96441"/>
            <a:ext cx="9191126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O </a:t>
            </a:r>
            <a:r>
              <a:rPr sz="3400" spc="-11" dirty="0">
                <a:latin typeface="Arial"/>
                <a:cs typeface="Arial"/>
              </a:rPr>
              <a:t>comando </a:t>
            </a:r>
            <a:r>
              <a:rPr sz="3400" b="1" spc="-6" dirty="0"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 </a:t>
            </a:r>
            <a:r>
              <a:rPr sz="3400" spc="-11" dirty="0">
                <a:latin typeface="Arial"/>
                <a:cs typeface="Arial"/>
              </a:rPr>
              <a:t>pode </a:t>
            </a:r>
            <a:r>
              <a:rPr sz="3400" spc="-6" dirty="0">
                <a:latin typeface="Arial"/>
                <a:cs typeface="Arial"/>
              </a:rPr>
              <a:t>ser </a:t>
            </a:r>
            <a:r>
              <a:rPr sz="3400" spc="-11" dirty="0">
                <a:latin typeface="Arial"/>
                <a:cs typeface="Arial"/>
              </a:rPr>
              <a:t>usado </a:t>
            </a:r>
            <a:r>
              <a:rPr sz="3400" spc="-6" dirty="0">
                <a:latin typeface="Arial"/>
                <a:cs typeface="Arial"/>
              </a:rPr>
              <a:t>para  </a:t>
            </a:r>
            <a:r>
              <a:rPr sz="3400" spc="-11" dirty="0">
                <a:latin typeface="Arial"/>
                <a:cs typeface="Arial"/>
              </a:rPr>
              <a:t>dar </a:t>
            </a:r>
            <a:r>
              <a:rPr sz="3400" spc="-6" dirty="0">
                <a:latin typeface="Arial"/>
                <a:cs typeface="Arial"/>
              </a:rPr>
              <a:t>um novo nome para </a:t>
            </a:r>
            <a:r>
              <a:rPr sz="3400" spc="-11" dirty="0">
                <a:latin typeface="Arial"/>
                <a:cs typeface="Arial"/>
              </a:rPr>
              <a:t>algum </a:t>
            </a:r>
            <a:r>
              <a:rPr sz="3400" spc="-6" dirty="0">
                <a:latin typeface="Arial"/>
                <a:cs typeface="Arial"/>
              </a:rPr>
              <a:t>tipo </a:t>
            </a:r>
            <a:r>
              <a:rPr sz="3400" spc="-17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66" y="3062482"/>
            <a:ext cx="147925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Us</a:t>
            </a:r>
            <a:r>
              <a:rPr sz="3400" spc="-23" dirty="0">
                <a:latin typeface="Arial"/>
                <a:cs typeface="Arial"/>
              </a:rPr>
              <a:t>o</a:t>
            </a:r>
            <a:r>
              <a:rPr sz="3400" dirty="0">
                <a:latin typeface="Arial"/>
                <a:cs typeface="Arial"/>
              </a:rPr>
              <a:t>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66" y="3678475"/>
            <a:ext cx="263770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66" y="5526459"/>
            <a:ext cx="471623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Declarando</a:t>
            </a:r>
            <a:r>
              <a:rPr sz="3400" spc="-9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variáveis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Comando</a:t>
            </a:r>
            <a:r>
              <a:rPr spc="-125" dirty="0"/>
              <a:t> </a:t>
            </a:r>
            <a:r>
              <a:rPr spc="-6" dirty="0">
                <a:latin typeface="Courier New"/>
                <a:cs typeface="Courier New"/>
              </a:rPr>
              <a:t>typedef</a:t>
            </a:r>
          </a:p>
        </p:txBody>
      </p:sp>
      <p:sp>
        <p:nvSpPr>
          <p:cNvPr id="8" name="object 8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3319" y="4572102"/>
            <a:ext cx="2139423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Inteiro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56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3457235" y="4572102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2957" y="4908227"/>
            <a:ext cx="89185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Rea</a:t>
            </a:r>
            <a:r>
              <a:rPr sz="2300" dirty="0">
                <a:latin typeface="Courier New"/>
                <a:cs typeface="Courier New"/>
              </a:rPr>
              <a:t>l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99" y="6397837"/>
            <a:ext cx="3995173" cy="66241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7761">
              <a:spcBef>
                <a:spcPts val="125"/>
              </a:spcBef>
              <a:tabLst>
                <a:tab pos="1346202" algn="l"/>
              </a:tabLst>
            </a:pPr>
            <a:r>
              <a:rPr sz="2100" spc="-11" dirty="0">
                <a:latin typeface="Courier New"/>
                <a:cs typeface="Courier New"/>
              </a:rPr>
              <a:t>Inteiro	</a:t>
            </a:r>
            <a:r>
              <a:rPr sz="2100" spc="-6" dirty="0">
                <a:latin typeface="Courier New"/>
                <a:cs typeface="Courier New"/>
              </a:rPr>
              <a:t>n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100" spc="-6" dirty="0">
                <a:latin typeface="Courier New"/>
                <a:cs typeface="Courier New"/>
              </a:rPr>
              <a:t>Real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x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24683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158551"/>
            <a:ext cx="9043349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Assim, com o </a:t>
            </a:r>
            <a:r>
              <a:rPr sz="3400" spc="-6" dirty="0">
                <a:latin typeface="Arial"/>
                <a:cs typeface="Arial"/>
              </a:rPr>
              <a:t>comando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pode-se  definir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e declarar variáveis da  seguinte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forma: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107" y="4256828"/>
          <a:ext cx="9719111" cy="322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2671"/>
                <a:gridCol w="1102013"/>
                <a:gridCol w="5474427"/>
              </a:tblGrid>
              <a:tr h="1502904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Definicao da</a:t>
                      </a:r>
                      <a:r>
                        <a:rPr sz="2000" spc="-5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estrutura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est_Aluno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ts val="206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matricula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7371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cidade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sexo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400" spc="-1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ef </a:t>
                      </a:r>
                      <a:r>
                        <a:rPr sz="2400" b="1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est_Aluno</a:t>
                      </a:r>
                      <a:r>
                        <a:rPr sz="24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claracao </a:t>
                      </a:r>
                      <a:r>
                        <a:rPr sz="2400" spc="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24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variaveis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9429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ts val="108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Aluno a1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400" spc="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85592" y="2996711"/>
            <a:ext cx="130845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spc="-6" dirty="0">
                <a:latin typeface="Courier New"/>
                <a:cs typeface="Courier New"/>
              </a:rPr>
              <a:t>l</a:t>
            </a:r>
            <a:r>
              <a:rPr sz="2700" spc="-23" dirty="0">
                <a:latin typeface="Courier New"/>
                <a:cs typeface="Courier New"/>
              </a:rPr>
              <a:t>u</a:t>
            </a:r>
            <a:r>
              <a:rPr sz="2700" spc="-6" dirty="0">
                <a:latin typeface="Courier New"/>
                <a:cs typeface="Courier New"/>
              </a:rPr>
              <a:t>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7476" y="3007206"/>
            <a:ext cx="1027755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266" y="2996711"/>
            <a:ext cx="7250719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2734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est_Aluno</a:t>
            </a:r>
            <a:endParaRPr sz="2700" dirty="0">
              <a:latin typeface="Courier New"/>
              <a:cs typeface="Courier New"/>
            </a:endParaRPr>
          </a:p>
          <a:p>
            <a:pPr marL="535874" indent="-521391">
              <a:spcBef>
                <a:spcPts val="331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</a:t>
            </a:r>
            <a:endParaRPr sz="3400" dirty="0">
              <a:latin typeface="Arial"/>
              <a:cs typeface="Arial"/>
            </a:endParaRPr>
          </a:p>
          <a:p>
            <a:pPr marR="469976" algn="r">
              <a:spcBef>
                <a:spcPts val="336"/>
              </a:spcBef>
            </a:pPr>
            <a:r>
              <a:rPr sz="2100" dirty="0">
                <a:latin typeface="Arial"/>
                <a:cs typeface="Arial"/>
              </a:rPr>
              <a:t>Nome</a:t>
            </a:r>
            <a:r>
              <a:rPr sz="2100" spc="-97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antigo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2878" y="3985635"/>
            <a:ext cx="1396083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latin typeface="Arial"/>
                <a:cs typeface="Arial"/>
              </a:rPr>
              <a:t>Nome</a:t>
            </a:r>
            <a:r>
              <a:rPr sz="2100" spc="-108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novo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8617" y="3530147"/>
            <a:ext cx="677249" cy="455488"/>
          </a:xfrm>
          <a:custGeom>
            <a:avLst/>
            <a:gdLst/>
            <a:ahLst/>
            <a:cxnLst/>
            <a:rect l="l" t="t" r="r" b="b"/>
            <a:pathLst>
              <a:path w="579120" h="413385">
                <a:moveTo>
                  <a:pt x="545985" y="23224"/>
                </a:moveTo>
                <a:lnTo>
                  <a:pt x="525981" y="24958"/>
                </a:lnTo>
                <a:lnTo>
                  <a:pt x="0" y="396493"/>
                </a:lnTo>
                <a:lnTo>
                  <a:pt x="11683" y="413130"/>
                </a:lnTo>
                <a:lnTo>
                  <a:pt x="537588" y="41649"/>
                </a:lnTo>
                <a:lnTo>
                  <a:pt x="545985" y="23224"/>
                </a:lnTo>
                <a:close/>
              </a:path>
              <a:path w="579120" h="413385">
                <a:moveTo>
                  <a:pt x="577488" y="3301"/>
                </a:moveTo>
                <a:lnTo>
                  <a:pt x="556640" y="3301"/>
                </a:lnTo>
                <a:lnTo>
                  <a:pt x="568325" y="19938"/>
                </a:lnTo>
                <a:lnTo>
                  <a:pt x="537588" y="41649"/>
                </a:lnTo>
                <a:lnTo>
                  <a:pt x="516636" y="87629"/>
                </a:lnTo>
                <a:lnTo>
                  <a:pt x="514350" y="92709"/>
                </a:lnTo>
                <a:lnTo>
                  <a:pt x="516636" y="98805"/>
                </a:lnTo>
                <a:lnTo>
                  <a:pt x="521715" y="101091"/>
                </a:lnTo>
                <a:lnTo>
                  <a:pt x="526795" y="103504"/>
                </a:lnTo>
                <a:lnTo>
                  <a:pt x="532764" y="101218"/>
                </a:lnTo>
                <a:lnTo>
                  <a:pt x="535177" y="96138"/>
                </a:lnTo>
                <a:lnTo>
                  <a:pt x="577488" y="3301"/>
                </a:lnTo>
                <a:close/>
              </a:path>
              <a:path w="579120" h="413385">
                <a:moveTo>
                  <a:pt x="559495" y="7365"/>
                </a:moveTo>
                <a:lnTo>
                  <a:pt x="553212" y="7365"/>
                </a:lnTo>
                <a:lnTo>
                  <a:pt x="563371" y="21716"/>
                </a:lnTo>
                <a:lnTo>
                  <a:pt x="545985" y="23224"/>
                </a:lnTo>
                <a:lnTo>
                  <a:pt x="537588" y="41649"/>
                </a:lnTo>
                <a:lnTo>
                  <a:pt x="568325" y="19938"/>
                </a:lnTo>
                <a:lnTo>
                  <a:pt x="559495" y="7365"/>
                </a:lnTo>
                <a:close/>
              </a:path>
              <a:path w="579120" h="413385">
                <a:moveTo>
                  <a:pt x="578992" y="0"/>
                </a:moveTo>
                <a:lnTo>
                  <a:pt x="468121" y="9651"/>
                </a:lnTo>
                <a:lnTo>
                  <a:pt x="464057" y="14604"/>
                </a:lnTo>
                <a:lnTo>
                  <a:pt x="464438" y="20192"/>
                </a:lnTo>
                <a:lnTo>
                  <a:pt x="464946" y="25780"/>
                </a:lnTo>
                <a:lnTo>
                  <a:pt x="469900" y="29844"/>
                </a:lnTo>
                <a:lnTo>
                  <a:pt x="525981" y="24958"/>
                </a:lnTo>
                <a:lnTo>
                  <a:pt x="556640" y="3301"/>
                </a:lnTo>
                <a:lnTo>
                  <a:pt x="577488" y="3301"/>
                </a:lnTo>
                <a:lnTo>
                  <a:pt x="578992" y="0"/>
                </a:lnTo>
                <a:close/>
              </a:path>
              <a:path w="579120" h="413385">
                <a:moveTo>
                  <a:pt x="556640" y="3301"/>
                </a:moveTo>
                <a:lnTo>
                  <a:pt x="525981" y="24958"/>
                </a:lnTo>
                <a:lnTo>
                  <a:pt x="545985" y="23224"/>
                </a:lnTo>
                <a:lnTo>
                  <a:pt x="553212" y="7365"/>
                </a:lnTo>
                <a:lnTo>
                  <a:pt x="559495" y="7365"/>
                </a:lnTo>
                <a:lnTo>
                  <a:pt x="556640" y="3301"/>
                </a:lnTo>
                <a:close/>
              </a:path>
              <a:path w="579120" h="413385">
                <a:moveTo>
                  <a:pt x="553212" y="7365"/>
                </a:moveTo>
                <a:lnTo>
                  <a:pt x="545985" y="23224"/>
                </a:lnTo>
                <a:lnTo>
                  <a:pt x="563371" y="21716"/>
                </a:lnTo>
                <a:lnTo>
                  <a:pt x="553212" y="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467" y="3518476"/>
            <a:ext cx="681704" cy="488374"/>
          </a:xfrm>
          <a:custGeom>
            <a:avLst/>
            <a:gdLst/>
            <a:ahLst/>
            <a:cxnLst/>
            <a:rect l="l" t="t" r="r" b="b"/>
            <a:pathLst>
              <a:path w="582929" h="443229">
                <a:moveTo>
                  <a:pt x="32108" y="24274"/>
                </a:moveTo>
                <a:lnTo>
                  <a:pt x="39872" y="42815"/>
                </a:lnTo>
                <a:lnTo>
                  <a:pt x="570102" y="443102"/>
                </a:lnTo>
                <a:lnTo>
                  <a:pt x="582421" y="426847"/>
                </a:lnTo>
                <a:lnTo>
                  <a:pt x="52162" y="26658"/>
                </a:lnTo>
                <a:lnTo>
                  <a:pt x="32108" y="24274"/>
                </a:lnTo>
                <a:close/>
              </a:path>
              <a:path w="582929" h="443229">
                <a:moveTo>
                  <a:pt x="0" y="0"/>
                </a:moveTo>
                <a:lnTo>
                  <a:pt x="40766" y="97409"/>
                </a:lnTo>
                <a:lnTo>
                  <a:pt x="42925" y="102615"/>
                </a:lnTo>
                <a:lnTo>
                  <a:pt x="48894" y="105029"/>
                </a:lnTo>
                <a:lnTo>
                  <a:pt x="53975" y="102870"/>
                </a:lnTo>
                <a:lnTo>
                  <a:pt x="59181" y="100711"/>
                </a:lnTo>
                <a:lnTo>
                  <a:pt x="61594" y="94742"/>
                </a:lnTo>
                <a:lnTo>
                  <a:pt x="59435" y="89535"/>
                </a:lnTo>
                <a:lnTo>
                  <a:pt x="39872" y="42815"/>
                </a:lnTo>
                <a:lnTo>
                  <a:pt x="9905" y="20193"/>
                </a:lnTo>
                <a:lnTo>
                  <a:pt x="22225" y="4063"/>
                </a:lnTo>
                <a:lnTo>
                  <a:pt x="34253" y="4063"/>
                </a:lnTo>
                <a:lnTo>
                  <a:pt x="0" y="0"/>
                </a:lnTo>
                <a:close/>
              </a:path>
              <a:path w="582929" h="443229">
                <a:moveTo>
                  <a:pt x="22225" y="4063"/>
                </a:moveTo>
                <a:lnTo>
                  <a:pt x="9905" y="20193"/>
                </a:lnTo>
                <a:lnTo>
                  <a:pt x="39872" y="42815"/>
                </a:lnTo>
                <a:lnTo>
                  <a:pt x="32108" y="24274"/>
                </a:lnTo>
                <a:lnTo>
                  <a:pt x="14858" y="22225"/>
                </a:lnTo>
                <a:lnTo>
                  <a:pt x="25400" y="8255"/>
                </a:lnTo>
                <a:lnTo>
                  <a:pt x="27778" y="8255"/>
                </a:lnTo>
                <a:lnTo>
                  <a:pt x="22225" y="4063"/>
                </a:lnTo>
                <a:close/>
              </a:path>
              <a:path w="582929" h="443229">
                <a:moveTo>
                  <a:pt x="34253" y="4063"/>
                </a:moveTo>
                <a:lnTo>
                  <a:pt x="22225" y="4063"/>
                </a:lnTo>
                <a:lnTo>
                  <a:pt x="52162" y="26658"/>
                </a:lnTo>
                <a:lnTo>
                  <a:pt x="108076" y="33274"/>
                </a:lnTo>
                <a:lnTo>
                  <a:pt x="113029" y="29337"/>
                </a:lnTo>
                <a:lnTo>
                  <a:pt x="113791" y="23749"/>
                </a:lnTo>
                <a:lnTo>
                  <a:pt x="114426" y="18161"/>
                </a:lnTo>
                <a:lnTo>
                  <a:pt x="110489" y="13081"/>
                </a:lnTo>
                <a:lnTo>
                  <a:pt x="34253" y="4063"/>
                </a:lnTo>
                <a:close/>
              </a:path>
              <a:path w="582929" h="443229">
                <a:moveTo>
                  <a:pt x="27778" y="8255"/>
                </a:moveTo>
                <a:lnTo>
                  <a:pt x="25400" y="8255"/>
                </a:lnTo>
                <a:lnTo>
                  <a:pt x="32108" y="24274"/>
                </a:lnTo>
                <a:lnTo>
                  <a:pt x="52162" y="26658"/>
                </a:lnTo>
                <a:lnTo>
                  <a:pt x="27778" y="8255"/>
                </a:lnTo>
                <a:close/>
              </a:path>
              <a:path w="582929" h="443229">
                <a:moveTo>
                  <a:pt x="25400" y="8255"/>
                </a:moveTo>
                <a:lnTo>
                  <a:pt x="14858" y="22225"/>
                </a:lnTo>
                <a:lnTo>
                  <a:pt x="32108" y="24274"/>
                </a:lnTo>
                <a:lnTo>
                  <a:pt x="25400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57</a:t>
            </a:fld>
            <a:endParaRPr dirty="0"/>
          </a:p>
        </p:txBody>
      </p:sp>
      <p:sp>
        <p:nvSpPr>
          <p:cNvPr id="12" name="object 6"/>
          <p:cNvSpPr/>
          <p:nvPr/>
        </p:nvSpPr>
        <p:spPr>
          <a:xfrm>
            <a:off x="5660669" y="3053386"/>
            <a:ext cx="1972031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850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266" y="1042237"/>
            <a:ext cx="9400538" cy="120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 </a:t>
            </a:r>
            <a:r>
              <a:rPr sz="3400" spc="-6" dirty="0">
                <a:latin typeface="Arial"/>
                <a:cs typeface="Arial"/>
              </a:rPr>
              <a:t>seguinte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também pode </a:t>
            </a:r>
            <a:r>
              <a:rPr sz="3400" dirty="0">
                <a:latin typeface="Arial"/>
                <a:cs typeface="Arial"/>
              </a:rPr>
              <a:t>ser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utilizada:</a:t>
            </a:r>
            <a:endParaRPr sz="3400">
              <a:latin typeface="Arial"/>
              <a:cs typeface="Arial"/>
            </a:endParaRPr>
          </a:p>
          <a:p>
            <a:pPr marL="1588070">
              <a:spcBef>
                <a:spcPts val="2121"/>
              </a:spcBef>
            </a:pP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 Definicao </a:t>
            </a:r>
            <a:r>
              <a:rPr sz="2700" spc="-17" dirty="0">
                <a:solidFill>
                  <a:srgbClr val="7E7E7E"/>
                </a:solidFill>
                <a:latin typeface="Courier New"/>
                <a:cs typeface="Courier New"/>
              </a:rPr>
              <a:t>da</a:t>
            </a:r>
            <a:r>
              <a:rPr sz="27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950321" y="2209857"/>
            <a:ext cx="13106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931" y="2209857"/>
            <a:ext cx="1526780" cy="1245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453" y="3016302"/>
            <a:ext cx="216318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8931" y="3419317"/>
            <a:ext cx="387413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596">
              <a:tabLst>
                <a:tab pos="126582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700" spc="-11" dirty="0">
                <a:latin typeface="Courier New"/>
                <a:cs typeface="Courier New"/>
              </a:rPr>
              <a:t>matricula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idade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cidade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sexo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931" y="5838445"/>
            <a:ext cx="280776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2700" spc="-6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solidFill>
                  <a:srgbClr val="7E7E7E"/>
                </a:solidFill>
                <a:latin typeface="Courier New"/>
                <a:cs typeface="Courier New"/>
              </a:rPr>
              <a:t>Declaracao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930" y="6249855"/>
            <a:ext cx="280850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Aluno a1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885" y="5838445"/>
            <a:ext cx="2596862" cy="850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de</a:t>
            </a:r>
            <a:r>
              <a:rPr sz="2700" spc="-10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700">
              <a:latin typeface="Courier New"/>
              <a:cs typeface="Courier New"/>
            </a:endParaRPr>
          </a:p>
          <a:p>
            <a:pPr marL="14483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a3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18" y="6846678"/>
            <a:ext cx="7966583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dirty="0">
                <a:latin typeface="Arial"/>
                <a:cs typeface="Arial"/>
              </a:rPr>
              <a:t>Esta </a:t>
            </a:r>
            <a:r>
              <a:rPr sz="3400" spc="-6" dirty="0">
                <a:latin typeface="Arial"/>
                <a:cs typeface="Arial"/>
              </a:rPr>
              <a:t>será a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adotada na</a:t>
            </a:r>
            <a:r>
              <a:rPr sz="3400" spc="-8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disciplina.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0239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971"/>
            <a:r>
              <a:rPr dirty="0"/>
              <a:t>Definição e</a:t>
            </a:r>
            <a:r>
              <a:rPr spc="-80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6366" y="1542086"/>
            <a:ext cx="2600575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 marR="144831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matricula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idade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cidade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sexo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66" y="5036266"/>
            <a:ext cx="274241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45545" algn="ctr"/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latin typeface="Courier New"/>
                <a:cs typeface="Courier New"/>
              </a:rPr>
              <a:t>Aluno a1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a3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processamento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6366" y="6920494"/>
            <a:ext cx="1730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38" y="1529911"/>
            <a:ext cx="5216003" cy="616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</a:t>
            </a:r>
            <a:endParaRPr sz="3200">
              <a:latin typeface="Arial"/>
              <a:cs typeface="Arial"/>
            </a:endParaRPr>
          </a:p>
          <a:p>
            <a:pPr marL="465631" marR="5793"/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deve  ficar </a:t>
            </a:r>
            <a:r>
              <a:rPr sz="3200" b="1" spc="-6" dirty="0">
                <a:latin typeface="Arial"/>
                <a:cs typeface="Arial"/>
              </a:rPr>
              <a:t>fora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programa  principal (</a:t>
            </a:r>
            <a:r>
              <a:rPr sz="3200" b="1" dirty="0">
                <a:latin typeface="Courier New"/>
                <a:cs typeface="Courier New"/>
              </a:rPr>
              <a:t>main</a:t>
            </a:r>
            <a:r>
              <a:rPr sz="3200" dirty="0">
                <a:latin typeface="Arial"/>
                <a:cs typeface="Arial"/>
              </a:rPr>
              <a:t>) </a:t>
            </a:r>
            <a:r>
              <a:rPr sz="3200" spc="-6" dirty="0">
                <a:latin typeface="Arial"/>
                <a:cs typeface="Arial"/>
              </a:rPr>
              <a:t>e de  </a:t>
            </a:r>
            <a:r>
              <a:rPr sz="3200" dirty="0">
                <a:latin typeface="Arial"/>
                <a:cs typeface="Arial"/>
              </a:rPr>
              <a:t>qualquer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35874" indent="-521391">
              <a:spcBef>
                <a:spcPts val="1983"/>
              </a:spcBef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0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</a:t>
            </a:r>
            <a:endParaRPr sz="3200">
              <a:latin typeface="Arial"/>
              <a:cs typeface="Arial"/>
            </a:endParaRPr>
          </a:p>
          <a:p>
            <a:pPr marL="465631" marR="6517"/>
            <a:r>
              <a:rPr sz="3200" dirty="0">
                <a:latin typeface="Arial"/>
                <a:cs typeface="Arial"/>
              </a:rPr>
              <a:t>de uma </a:t>
            </a:r>
            <a:r>
              <a:rPr sz="3200" spc="6" dirty="0">
                <a:latin typeface="Arial"/>
                <a:cs typeface="Arial"/>
              </a:rPr>
              <a:t>variável </a:t>
            </a:r>
            <a:r>
              <a:rPr sz="3200" dirty="0">
                <a:latin typeface="Arial"/>
                <a:cs typeface="Arial"/>
              </a:rPr>
              <a:t>do tipo  estrutura deve ficar  </a:t>
            </a:r>
            <a:r>
              <a:rPr sz="3200" b="1" dirty="0">
                <a:latin typeface="Arial"/>
                <a:cs typeface="Arial"/>
              </a:rPr>
              <a:t>dentro </a:t>
            </a:r>
            <a:r>
              <a:rPr sz="3200" dirty="0">
                <a:latin typeface="Arial"/>
                <a:cs typeface="Arial"/>
              </a:rPr>
              <a:t>de alguma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  </a:t>
            </a:r>
            <a:r>
              <a:rPr sz="3200" spc="-6" dirty="0">
                <a:latin typeface="Arial"/>
                <a:cs typeface="Arial"/>
              </a:rPr>
              <a:t>(seja ela a </a:t>
            </a:r>
            <a:r>
              <a:rPr sz="3200" dirty="0">
                <a:latin typeface="Arial"/>
                <a:cs typeface="Arial"/>
              </a:rPr>
              <a:t>main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outra  qualquer).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5699" y="4809153"/>
            <a:ext cx="2510721" cy="943863"/>
          </a:xfrm>
          <a:custGeom>
            <a:avLst/>
            <a:gdLst/>
            <a:ahLst/>
            <a:cxnLst/>
            <a:rect l="l" t="t" r="r" b="b"/>
            <a:pathLst>
              <a:path w="2146935" h="856614">
                <a:moveTo>
                  <a:pt x="2067278" y="819989"/>
                </a:moveTo>
                <a:lnTo>
                  <a:pt x="2014982" y="828548"/>
                </a:lnTo>
                <a:lnTo>
                  <a:pt x="2009902" y="835660"/>
                </a:lnTo>
                <a:lnTo>
                  <a:pt x="2011045" y="843280"/>
                </a:lnTo>
                <a:lnTo>
                  <a:pt x="2012314" y="850900"/>
                </a:lnTo>
                <a:lnTo>
                  <a:pt x="2019553" y="856107"/>
                </a:lnTo>
                <a:lnTo>
                  <a:pt x="2127047" y="838581"/>
                </a:lnTo>
                <a:lnTo>
                  <a:pt x="2115692" y="838581"/>
                </a:lnTo>
                <a:lnTo>
                  <a:pt x="2067278" y="819989"/>
                </a:lnTo>
                <a:close/>
              </a:path>
              <a:path w="2146935" h="856614">
                <a:moveTo>
                  <a:pt x="2094690" y="815518"/>
                </a:moveTo>
                <a:lnTo>
                  <a:pt x="2067278" y="819989"/>
                </a:lnTo>
                <a:lnTo>
                  <a:pt x="2115692" y="838581"/>
                </a:lnTo>
                <a:lnTo>
                  <a:pt x="2117348" y="834263"/>
                </a:lnTo>
                <a:lnTo>
                  <a:pt x="2109724" y="834263"/>
                </a:lnTo>
                <a:lnTo>
                  <a:pt x="2094690" y="815518"/>
                </a:lnTo>
                <a:close/>
              </a:path>
              <a:path w="2146935" h="856614">
                <a:moveTo>
                  <a:pt x="2057273" y="734060"/>
                </a:moveTo>
                <a:lnTo>
                  <a:pt x="2051177" y="738886"/>
                </a:lnTo>
                <a:lnTo>
                  <a:pt x="2045208" y="743712"/>
                </a:lnTo>
                <a:lnTo>
                  <a:pt x="2044191" y="752475"/>
                </a:lnTo>
                <a:lnTo>
                  <a:pt x="2049017" y="758571"/>
                </a:lnTo>
                <a:lnTo>
                  <a:pt x="2077288" y="793820"/>
                </a:lnTo>
                <a:lnTo>
                  <a:pt x="2125726" y="812419"/>
                </a:lnTo>
                <a:lnTo>
                  <a:pt x="2115692" y="838581"/>
                </a:lnTo>
                <a:lnTo>
                  <a:pt x="2127047" y="838581"/>
                </a:lnTo>
                <a:lnTo>
                  <a:pt x="2146554" y="835406"/>
                </a:lnTo>
                <a:lnTo>
                  <a:pt x="2066036" y="735076"/>
                </a:lnTo>
                <a:lnTo>
                  <a:pt x="2057273" y="734060"/>
                </a:lnTo>
                <a:close/>
              </a:path>
              <a:path w="2146935" h="856614">
                <a:moveTo>
                  <a:pt x="2118360" y="811657"/>
                </a:moveTo>
                <a:lnTo>
                  <a:pt x="2094690" y="815518"/>
                </a:lnTo>
                <a:lnTo>
                  <a:pt x="2109724" y="834263"/>
                </a:lnTo>
                <a:lnTo>
                  <a:pt x="2118360" y="811657"/>
                </a:lnTo>
                <a:close/>
              </a:path>
              <a:path w="2146935" h="856614">
                <a:moveTo>
                  <a:pt x="2123741" y="811657"/>
                </a:moveTo>
                <a:lnTo>
                  <a:pt x="2118360" y="811657"/>
                </a:lnTo>
                <a:lnTo>
                  <a:pt x="2109724" y="834263"/>
                </a:lnTo>
                <a:lnTo>
                  <a:pt x="2117348" y="834263"/>
                </a:lnTo>
                <a:lnTo>
                  <a:pt x="2125726" y="812419"/>
                </a:lnTo>
                <a:lnTo>
                  <a:pt x="2123741" y="811657"/>
                </a:lnTo>
                <a:close/>
              </a:path>
              <a:path w="2146935" h="856614">
                <a:moveTo>
                  <a:pt x="9906" y="0"/>
                </a:moveTo>
                <a:lnTo>
                  <a:pt x="0" y="26162"/>
                </a:lnTo>
                <a:lnTo>
                  <a:pt x="2067278" y="819989"/>
                </a:lnTo>
                <a:lnTo>
                  <a:pt x="2094690" y="815518"/>
                </a:lnTo>
                <a:lnTo>
                  <a:pt x="2077288" y="793820"/>
                </a:lnTo>
                <a:lnTo>
                  <a:pt x="9906" y="0"/>
                </a:lnTo>
                <a:close/>
              </a:path>
              <a:path w="2146935" h="856614">
                <a:moveTo>
                  <a:pt x="2077288" y="793820"/>
                </a:moveTo>
                <a:lnTo>
                  <a:pt x="2094690" y="815518"/>
                </a:lnTo>
                <a:lnTo>
                  <a:pt x="2118360" y="811657"/>
                </a:lnTo>
                <a:lnTo>
                  <a:pt x="2123741" y="811657"/>
                </a:lnTo>
                <a:lnTo>
                  <a:pt x="2077288" y="7938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890" y="1791451"/>
            <a:ext cx="2613942" cy="538051"/>
          </a:xfrm>
          <a:custGeom>
            <a:avLst/>
            <a:gdLst/>
            <a:ahLst/>
            <a:cxnLst/>
            <a:rect l="l" t="t" r="r" b="b"/>
            <a:pathLst>
              <a:path w="2235200" h="488314">
                <a:moveTo>
                  <a:pt x="2154036" y="444194"/>
                </a:moveTo>
                <a:lnTo>
                  <a:pt x="2111375" y="459105"/>
                </a:lnTo>
                <a:lnTo>
                  <a:pt x="2104009" y="461772"/>
                </a:lnTo>
                <a:lnTo>
                  <a:pt x="2100199" y="469646"/>
                </a:lnTo>
                <a:lnTo>
                  <a:pt x="2102739" y="477012"/>
                </a:lnTo>
                <a:lnTo>
                  <a:pt x="2105279" y="484250"/>
                </a:lnTo>
                <a:lnTo>
                  <a:pt x="2113279" y="488061"/>
                </a:lnTo>
                <a:lnTo>
                  <a:pt x="2210409" y="454025"/>
                </a:lnTo>
                <a:lnTo>
                  <a:pt x="2204847" y="454025"/>
                </a:lnTo>
                <a:lnTo>
                  <a:pt x="2154036" y="444194"/>
                </a:lnTo>
                <a:close/>
              </a:path>
              <a:path w="2235200" h="488314">
                <a:moveTo>
                  <a:pt x="2180380" y="434986"/>
                </a:moveTo>
                <a:lnTo>
                  <a:pt x="2154036" y="444194"/>
                </a:lnTo>
                <a:lnTo>
                  <a:pt x="2204847" y="454025"/>
                </a:lnTo>
                <a:lnTo>
                  <a:pt x="2205489" y="450723"/>
                </a:lnTo>
                <a:lnTo>
                  <a:pt x="2198369" y="450723"/>
                </a:lnTo>
                <a:lnTo>
                  <a:pt x="2180380" y="434986"/>
                </a:lnTo>
                <a:close/>
              </a:path>
              <a:path w="2235200" h="488314">
                <a:moveTo>
                  <a:pt x="2137917" y="360680"/>
                </a:moveTo>
                <a:lnTo>
                  <a:pt x="2129154" y="361315"/>
                </a:lnTo>
                <a:lnTo>
                  <a:pt x="2118994" y="372999"/>
                </a:lnTo>
                <a:lnTo>
                  <a:pt x="2119503" y="381762"/>
                </a:lnTo>
                <a:lnTo>
                  <a:pt x="2159598" y="416806"/>
                </a:lnTo>
                <a:lnTo>
                  <a:pt x="2210180" y="426593"/>
                </a:lnTo>
                <a:lnTo>
                  <a:pt x="2204847" y="454025"/>
                </a:lnTo>
                <a:lnTo>
                  <a:pt x="2210409" y="454025"/>
                </a:lnTo>
                <a:lnTo>
                  <a:pt x="2234691" y="445516"/>
                </a:lnTo>
                <a:lnTo>
                  <a:pt x="2143760" y="365887"/>
                </a:lnTo>
                <a:lnTo>
                  <a:pt x="2137917" y="360680"/>
                </a:lnTo>
                <a:close/>
              </a:path>
              <a:path w="2235200" h="488314">
                <a:moveTo>
                  <a:pt x="2202941" y="427100"/>
                </a:moveTo>
                <a:lnTo>
                  <a:pt x="2180380" y="434986"/>
                </a:lnTo>
                <a:lnTo>
                  <a:pt x="2198369" y="450723"/>
                </a:lnTo>
                <a:lnTo>
                  <a:pt x="2202941" y="427100"/>
                </a:lnTo>
                <a:close/>
              </a:path>
              <a:path w="2235200" h="488314">
                <a:moveTo>
                  <a:pt x="2210082" y="427100"/>
                </a:moveTo>
                <a:lnTo>
                  <a:pt x="2202941" y="427100"/>
                </a:lnTo>
                <a:lnTo>
                  <a:pt x="2198369" y="450723"/>
                </a:lnTo>
                <a:lnTo>
                  <a:pt x="2205489" y="450723"/>
                </a:lnTo>
                <a:lnTo>
                  <a:pt x="2210082" y="427100"/>
                </a:lnTo>
                <a:close/>
              </a:path>
              <a:path w="2235200" h="488314">
                <a:moveTo>
                  <a:pt x="5333" y="0"/>
                </a:moveTo>
                <a:lnTo>
                  <a:pt x="0" y="27432"/>
                </a:lnTo>
                <a:lnTo>
                  <a:pt x="2154036" y="444194"/>
                </a:lnTo>
                <a:lnTo>
                  <a:pt x="2180380" y="434986"/>
                </a:lnTo>
                <a:lnTo>
                  <a:pt x="2159598" y="416806"/>
                </a:lnTo>
                <a:lnTo>
                  <a:pt x="5333" y="0"/>
                </a:lnTo>
                <a:close/>
              </a:path>
              <a:path w="2235200" h="488314">
                <a:moveTo>
                  <a:pt x="2159598" y="416806"/>
                </a:moveTo>
                <a:lnTo>
                  <a:pt x="2180380" y="434986"/>
                </a:lnTo>
                <a:lnTo>
                  <a:pt x="2202941" y="427100"/>
                </a:lnTo>
                <a:lnTo>
                  <a:pt x="2210082" y="427100"/>
                </a:lnTo>
                <a:lnTo>
                  <a:pt x="2210180" y="426593"/>
                </a:lnTo>
                <a:lnTo>
                  <a:pt x="2159598" y="4168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258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321" y="1200643"/>
            <a:ext cx="6298710" cy="3777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marR="5793" indent="-588013"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Cada </a:t>
            </a:r>
            <a:r>
              <a:rPr sz="3400" dirty="0">
                <a:latin typeface="Arial"/>
                <a:cs typeface="Arial"/>
              </a:rPr>
              <a:t>campo de uma  </a:t>
            </a:r>
            <a:r>
              <a:rPr sz="3400" spc="-6" dirty="0">
                <a:latin typeface="Arial"/>
                <a:cs typeface="Arial"/>
              </a:rPr>
              <a:t>estrutura pode armazenar  </a:t>
            </a:r>
            <a:r>
              <a:rPr sz="3400" dirty="0">
                <a:latin typeface="Arial"/>
                <a:cs typeface="Arial"/>
              </a:rPr>
              <a:t>um </a:t>
            </a:r>
            <a:r>
              <a:rPr sz="3400" spc="-6" dirty="0">
                <a:latin typeface="Arial"/>
                <a:cs typeface="Arial"/>
              </a:rPr>
              <a:t>valor (como </a:t>
            </a:r>
            <a:r>
              <a:rPr sz="3400" dirty="0">
                <a:latin typeface="Arial"/>
                <a:cs typeface="Arial"/>
              </a:rPr>
              <a:t>uma  </a:t>
            </a:r>
            <a:r>
              <a:rPr sz="3400" spc="-6" dirty="0">
                <a:latin typeface="Arial"/>
                <a:cs typeface="Arial"/>
              </a:rPr>
              <a:t>variável). Seu valor pode ser  acessado, modificado,  impresso,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etc.</a:t>
            </a:r>
            <a:endParaRPr sz="3400">
              <a:latin typeface="Arial"/>
              <a:cs typeface="Arial"/>
            </a:endParaRPr>
          </a:p>
          <a:p>
            <a:pPr marL="602496" indent="-588013">
              <a:spcBef>
                <a:spcPts val="912"/>
              </a:spcBef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Campos são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acessados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17052" y="2350911"/>
            <a:ext cx="3282280" cy="2544022"/>
          </a:xfrm>
          <a:custGeom>
            <a:avLst/>
            <a:gdLst/>
            <a:ahLst/>
            <a:cxnLst/>
            <a:rect l="l" t="t" r="r" b="b"/>
            <a:pathLst>
              <a:path w="2806700" h="2308860">
                <a:moveTo>
                  <a:pt x="0" y="2308860"/>
                </a:moveTo>
                <a:lnTo>
                  <a:pt x="2806700" y="2308860"/>
                </a:lnTo>
                <a:lnTo>
                  <a:pt x="2806700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182" y="4894932"/>
          <a:ext cx="9941148" cy="2519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869"/>
                <a:gridCol w="348662"/>
                <a:gridCol w="2933617"/>
              </a:tblGrid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210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usando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operador</a:t>
                      </a:r>
                      <a:r>
                        <a:rPr sz="3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de</a:t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acesso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ponto </a:t>
                      </a:r>
                      <a:r>
                        <a:rPr sz="33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(.)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33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4151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dirty="0">
                          <a:latin typeface="Arial"/>
                          <a:cs typeface="Arial"/>
                        </a:rPr>
                        <a:t>nome da 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variável</a:t>
                      </a:r>
                      <a:r>
                        <a:rPr sz="33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" dirty="0">
                          <a:latin typeface="Arial"/>
                          <a:cs typeface="Arial"/>
                        </a:rPr>
                        <a:t>declarada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como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estrutura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 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nome</a:t>
                      </a:r>
                      <a:r>
                        <a:rPr sz="33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do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spc="-5" dirty="0">
                          <a:latin typeface="Arial"/>
                          <a:cs typeface="Arial"/>
                        </a:rPr>
                        <a:t>campo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.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7052" y="2350910"/>
            <a:ext cx="3411248" cy="2598114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15207" rIns="0" bIns="0" rtlCol="0">
            <a:spAutoFit/>
          </a:bodyPr>
          <a:lstStyle/>
          <a:p>
            <a:pPr marL="99209">
              <a:spcBef>
                <a:spcPts val="120"/>
              </a:spcBef>
            </a:pP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 dirty="0">
              <a:latin typeface="Courier New"/>
              <a:cs typeface="Courier New"/>
            </a:endParaRPr>
          </a:p>
          <a:p>
            <a:pPr marL="412044" marR="430147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412044">
              <a:lnSpc>
                <a:spcPts val="2463"/>
              </a:lnSpc>
            </a:pP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 dirty="0">
              <a:latin typeface="Courier New"/>
              <a:cs typeface="Courier New"/>
            </a:endParaRPr>
          </a:p>
          <a:p>
            <a:pPr marL="41204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74277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749" y="1063227"/>
            <a:ext cx="9632227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</a:t>
            </a:r>
            <a:r>
              <a:rPr sz="3000" spc="-11" dirty="0">
                <a:latin typeface="Arial"/>
                <a:cs typeface="Arial"/>
              </a:rPr>
              <a:t>programa </a:t>
            </a:r>
            <a:r>
              <a:rPr sz="3000" spc="-6" dirty="0">
                <a:latin typeface="Arial"/>
                <a:cs typeface="Arial"/>
              </a:rPr>
              <a:t>são criadas duas variáveis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535874" marR="5793" indent="-521391">
              <a:lnSpc>
                <a:spcPts val="3330"/>
              </a:lnSpc>
              <a:spcBef>
                <a:spcPts val="758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Cada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variável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b="1" spc="-941" dirty="0"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(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b="1" spc="-96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e</a:t>
            </a:r>
            <a:r>
              <a:rPr sz="3000" spc="6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a2</a:t>
            </a:r>
            <a:r>
              <a:rPr sz="3000" spc="-6" dirty="0">
                <a:latin typeface="Arial"/>
                <a:cs typeface="Arial"/>
              </a:rPr>
              <a:t>)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tem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1" dirty="0">
                <a:latin typeface="Arial"/>
                <a:cs typeface="Arial"/>
              </a:rPr>
              <a:t>nome,</a:t>
            </a:r>
            <a:r>
              <a:rPr sz="3000" spc="29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matricula,  idade, cidade e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sexo.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5749" y="2440469"/>
            <a:ext cx="4096909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uso </a:t>
            </a:r>
            <a:r>
              <a:rPr sz="3000" dirty="0">
                <a:latin typeface="Arial"/>
                <a:cs typeface="Arial"/>
              </a:rPr>
              <a:t>de</a:t>
            </a:r>
            <a:r>
              <a:rPr sz="3000" spc="-63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C00000"/>
                </a:solidFill>
                <a:latin typeface="Courier New"/>
                <a:cs typeface="Courier New"/>
              </a:rPr>
              <a:t>a1.idade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8061" y="2440469"/>
            <a:ext cx="53140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permite acessar </a:t>
            </a:r>
            <a:r>
              <a:rPr sz="3000" dirty="0">
                <a:latin typeface="Arial"/>
                <a:cs typeface="Arial"/>
              </a:rPr>
              <a:t>ou </a:t>
            </a:r>
            <a:r>
              <a:rPr sz="3000" spc="-6" dirty="0">
                <a:latin typeface="Arial"/>
                <a:cs typeface="Arial"/>
              </a:rPr>
              <a:t>modificar</a:t>
            </a:r>
            <a:r>
              <a:rPr sz="3000" spc="3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420" y="2832568"/>
            <a:ext cx="5114267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campo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idade</a:t>
            </a:r>
            <a:r>
              <a:rPr sz="3000" b="1" spc="-929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da variável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4399" y="3845418"/>
            <a:ext cx="5994245" cy="299634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>
              <a:lnSpc>
                <a:spcPts val="2167"/>
              </a:lnSpc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>
              <a:lnSpc>
                <a:spcPts val="2440"/>
              </a:lnSpc>
            </a:pPr>
            <a:r>
              <a:rPr spc="-6" dirty="0">
                <a:latin typeface="Courier New"/>
                <a:cs typeface="Courier New"/>
              </a:rPr>
              <a:t>Aluno </a:t>
            </a:r>
            <a:r>
              <a:rPr sz="2100" b="1" dirty="0">
                <a:latin typeface="Courier New"/>
                <a:cs typeface="Courier New"/>
              </a:rPr>
              <a:t>a1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b="1"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b="1" spc="-6" dirty="0">
                <a:latin typeface="Courier New"/>
                <a:cs typeface="Courier New"/>
              </a:rPr>
              <a:t>a1</a:t>
            </a:r>
            <a:r>
              <a:rPr sz="21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z="2100" b="1" spc="-11" dirty="0">
                <a:latin typeface="Courier New"/>
                <a:cs typeface="Courier New"/>
              </a:rPr>
              <a:t>a1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idade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pc="-2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"Matricula %d"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100" b="1" spc="-11" dirty="0">
                <a:latin typeface="Courier New"/>
                <a:cs typeface="Courier New"/>
              </a:rPr>
              <a:t>a2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matricula</a:t>
            </a:r>
            <a:r>
              <a:rPr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>
              <a:spcBef>
                <a:spcPts val="46"/>
              </a:spcBef>
            </a:pP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BDBDE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67" y="4175665"/>
            <a:ext cx="4099137" cy="200107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4759" rIns="0" bIns="0" rtlCol="0">
            <a:spAutoFit/>
          </a:bodyPr>
          <a:lstStyle/>
          <a:p>
            <a:pPr marL="97761">
              <a:spcBef>
                <a:spcPts val="274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 marR="1813282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1600" spc="-6" dirty="0">
                <a:latin typeface="Courier New"/>
                <a:cs typeface="Courier New"/>
              </a:rPr>
              <a:t>nome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11" dirty="0">
                <a:latin typeface="Courier New"/>
                <a:cs typeface="Courier New"/>
              </a:rPr>
              <a:t>matricula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idade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cidade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sexo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7761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81783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041398"/>
            <a:ext cx="3860019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Neste </a:t>
            </a:r>
            <a:r>
              <a:rPr sz="3200" dirty="0">
                <a:latin typeface="Arial"/>
                <a:cs typeface="Arial"/>
              </a:rPr>
              <a:t>exemplo,  serão </a:t>
            </a:r>
            <a:r>
              <a:rPr sz="3200" spc="-6" dirty="0">
                <a:latin typeface="Arial"/>
                <a:cs typeface="Arial"/>
              </a:rPr>
              <a:t>lidos  </a:t>
            </a:r>
            <a:r>
              <a:rPr sz="3200" dirty="0">
                <a:latin typeface="Arial"/>
                <a:cs typeface="Arial"/>
              </a:rPr>
              <a:t>matrícula </a:t>
            </a:r>
            <a:r>
              <a:rPr sz="3200" spc="-6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nome 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funcionário.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349250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6287" y="953938"/>
            <a:ext cx="5200408" cy="637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300" spc="-86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Funcionario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endParaRPr sz="2300">
              <a:latin typeface="Times New Roman"/>
              <a:cs typeface="Times New Roman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 marR="700257"/>
            <a:r>
              <a:rPr sz="2300" spc="-6" dirty="0">
                <a:latin typeface="Courier New"/>
                <a:cs typeface="Courier New"/>
              </a:rPr>
              <a:t>Funcionario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 marR="5793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"Informacoes lidas:"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"%d\n"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766287" y="7006905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12369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204405"/>
            <a:ext cx="9835700" cy="6311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084" marR="310662" indent="-683601">
              <a:lnSpc>
                <a:spcPct val="94900"/>
              </a:lnSpc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para representar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de  um cartão de </a:t>
            </a:r>
            <a:r>
              <a:rPr sz="2700" dirty="0">
                <a:latin typeface="Arial"/>
                <a:cs typeface="Arial"/>
              </a:rPr>
              <a:t>crédito. </a:t>
            </a:r>
            <a:r>
              <a:rPr sz="2700" spc="-6" dirty="0">
                <a:latin typeface="Arial"/>
                <a:cs typeface="Arial"/>
              </a:rPr>
              <a:t>Você </a:t>
            </a:r>
            <a:r>
              <a:rPr sz="2700" dirty="0">
                <a:latin typeface="Arial"/>
                <a:cs typeface="Arial"/>
              </a:rPr>
              <a:t>precisa apenas criar </a:t>
            </a:r>
            <a:r>
              <a:rPr sz="2700" spc="-6" dirty="0">
                <a:latin typeface="Arial"/>
                <a:cs typeface="Arial"/>
              </a:rPr>
              <a:t>a 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com </a:t>
            </a:r>
            <a:r>
              <a:rPr sz="2700" dirty="0">
                <a:latin typeface="Arial"/>
                <a:cs typeface="Arial"/>
              </a:rPr>
              <a:t>os dados </a:t>
            </a:r>
            <a:r>
              <a:rPr sz="2700" spc="-6" dirty="0">
                <a:latin typeface="Arial"/>
                <a:cs typeface="Arial"/>
              </a:rPr>
              <a:t>e tipos </a:t>
            </a:r>
            <a:r>
              <a:rPr sz="2700" dirty="0">
                <a:latin typeface="Arial"/>
                <a:cs typeface="Arial"/>
              </a:rPr>
              <a:t>apropriados. Não </a:t>
            </a:r>
            <a:r>
              <a:rPr sz="2700" spc="-6" dirty="0">
                <a:latin typeface="Arial"/>
                <a:cs typeface="Arial"/>
              </a:rPr>
              <a:t>é  </a:t>
            </a:r>
            <a:r>
              <a:rPr sz="2700" dirty="0">
                <a:latin typeface="Arial"/>
                <a:cs typeface="Arial"/>
              </a:rPr>
              <a:t>necessário criar um programa para</a:t>
            </a:r>
            <a:r>
              <a:rPr sz="2700" spc="-5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utilizá-la.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733"/>
              </a:spcBef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chamada </a:t>
            </a:r>
            <a:r>
              <a:rPr sz="2700" spc="-6" dirty="0">
                <a:latin typeface="Courier New"/>
                <a:cs typeface="Courier New"/>
              </a:rPr>
              <a:t>medidas</a:t>
            </a:r>
            <a:r>
              <a:rPr sz="2700" spc="-981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para representar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o peso a altura de uma</a:t>
            </a:r>
            <a:r>
              <a:rPr sz="2700" spc="-1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pessoa.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869"/>
              </a:spcBef>
              <a:buClr>
                <a:srgbClr val="C5000A"/>
              </a:buClr>
              <a:buAutoNum type="arabicParenR" startAt="3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Considerando </a:t>
            </a:r>
            <a:r>
              <a:rPr sz="2700" spc="-6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do exercício (2) e a </a:t>
            </a:r>
            <a:r>
              <a:rPr sz="2700" dirty="0">
                <a:latin typeface="Arial"/>
                <a:cs typeface="Arial"/>
              </a:rPr>
              <a:t>declaração:</a:t>
            </a:r>
            <a:endParaRPr sz="2700">
              <a:latin typeface="Arial"/>
              <a:cs typeface="Arial"/>
            </a:endParaRPr>
          </a:p>
          <a:p>
            <a:pPr marL="2309326">
              <a:spcBef>
                <a:spcPts val="319"/>
              </a:spcBef>
            </a:pPr>
            <a:r>
              <a:rPr sz="2700" spc="-11" dirty="0">
                <a:latin typeface="Courier New"/>
                <a:cs typeface="Courier New"/>
              </a:rPr>
              <a:t>medidas </a:t>
            </a:r>
            <a:r>
              <a:rPr sz="2700" spc="-6" dirty="0">
                <a:latin typeface="Courier New"/>
                <a:cs typeface="Courier New"/>
              </a:rPr>
              <a:t>joao,</a:t>
            </a:r>
            <a:r>
              <a:rPr sz="2700" spc="-86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maria;</a:t>
            </a:r>
            <a:endParaRPr sz="2700">
              <a:latin typeface="Courier New"/>
              <a:cs typeface="Courier New"/>
            </a:endParaRPr>
          </a:p>
          <a:p>
            <a:pPr marL="399009">
              <a:lnSpc>
                <a:spcPts val="3205"/>
              </a:lnSpc>
              <a:spcBef>
                <a:spcPts val="570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</a:t>
            </a:r>
            <a:r>
              <a:rPr sz="2700" dirty="0">
                <a:latin typeface="Arial"/>
                <a:cs typeface="Arial"/>
              </a:rPr>
              <a:t>instruções para atribuir: </a:t>
            </a:r>
            <a:r>
              <a:rPr sz="2700" spc="-6" dirty="0">
                <a:latin typeface="Arial"/>
                <a:cs typeface="Arial"/>
              </a:rPr>
              <a:t>1.78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</a:t>
            </a:r>
            <a:r>
              <a:rPr sz="2700" spc="29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</a:t>
            </a:r>
            <a:endParaRPr sz="2700">
              <a:latin typeface="Arial"/>
              <a:cs typeface="Arial"/>
            </a:endParaRPr>
          </a:p>
          <a:p>
            <a:pPr marL="782086" marR="5793">
              <a:lnSpc>
                <a:spcPts val="3125"/>
              </a:lnSpc>
              <a:spcBef>
                <a:spcPts val="154"/>
              </a:spcBef>
            </a:pPr>
            <a:r>
              <a:rPr sz="2700" spc="-6" dirty="0">
                <a:latin typeface="Arial"/>
                <a:cs typeface="Arial"/>
              </a:rPr>
              <a:t>1.64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; 75 ao peso de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 59 ao peso  </a:t>
            </a:r>
            <a:r>
              <a:rPr sz="2700" dirty="0">
                <a:latin typeface="Arial"/>
                <a:cs typeface="Arial"/>
              </a:rPr>
              <a:t>de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793673" marR="918951" indent="-394664">
              <a:lnSpc>
                <a:spcPct val="92400"/>
              </a:lnSpc>
              <a:spcBef>
                <a:spcPts val="855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um </a:t>
            </a:r>
            <a:r>
              <a:rPr sz="2700" dirty="0">
                <a:latin typeface="Arial"/>
                <a:cs typeface="Arial"/>
              </a:rPr>
              <a:t>conjunto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instruções para </a:t>
            </a:r>
            <a:r>
              <a:rPr sz="2700" spc="-6" dirty="0">
                <a:latin typeface="Arial"/>
                <a:cs typeface="Arial"/>
              </a:rPr>
              <a:t>imprimir a  </a:t>
            </a:r>
            <a:r>
              <a:rPr sz="2700" dirty="0">
                <a:latin typeface="Arial"/>
                <a:cs typeface="Arial"/>
              </a:rPr>
              <a:t>média das alturas </a:t>
            </a:r>
            <a:r>
              <a:rPr sz="2700" spc="-6" dirty="0">
                <a:latin typeface="Arial"/>
                <a:cs typeface="Arial"/>
              </a:rPr>
              <a:t>e a </a:t>
            </a:r>
            <a:r>
              <a:rPr sz="2700" dirty="0">
                <a:latin typeface="Arial"/>
                <a:cs typeface="Arial"/>
              </a:rPr>
              <a:t>média dos pesos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joao </a:t>
            </a:r>
            <a:r>
              <a:rPr sz="2700" spc="-6" dirty="0">
                <a:latin typeface="Arial"/>
                <a:cs typeface="Arial"/>
              </a:rPr>
              <a:t>e 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4852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091" y="1093874"/>
            <a:ext cx="871289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60" marR="5793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uma estrutura onde </a:t>
            </a:r>
            <a:r>
              <a:rPr sz="3200" spc="-6" dirty="0">
                <a:latin typeface="Arial"/>
                <a:cs typeface="Arial"/>
              </a:rPr>
              <a:t>um de seus  </a:t>
            </a:r>
            <a:r>
              <a:rPr sz="3200" dirty="0">
                <a:latin typeface="Arial"/>
                <a:cs typeface="Arial"/>
              </a:rPr>
              <a:t>campos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outra</a:t>
            </a:r>
            <a:r>
              <a:rPr sz="3200" spc="-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761" y="6686103"/>
            <a:ext cx="5726910" cy="38615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6656" rIns="0" bIns="0" rtlCol="0">
            <a:spAutoFit/>
          </a:bodyPr>
          <a:lstStyle/>
          <a:p>
            <a:pPr marL="109347">
              <a:spcBef>
                <a:spcPts val="131"/>
              </a:spcBef>
            </a:pPr>
            <a:r>
              <a:rPr sz="2400" b="1" spc="-6" dirty="0">
                <a:latin typeface="Courier New"/>
                <a:cs typeface="Courier New"/>
              </a:rPr>
              <a:t>ficha_pessoal </a:t>
            </a:r>
            <a:r>
              <a:rPr sz="2400" spc="-6" dirty="0">
                <a:latin typeface="Courier New"/>
                <a:cs typeface="Courier New"/>
              </a:rPr>
              <a:t>ficha1</a:t>
            </a:r>
            <a:r>
              <a:rPr sz="24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spc="-4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ficha2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5" name="object 5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2598" y="2240363"/>
            <a:ext cx="1069340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46440" y="2240363"/>
            <a:ext cx="1247563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6870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887" y="2912331"/>
            <a:ext cx="249586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8985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idade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948" y="3584439"/>
            <a:ext cx="9131718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/>
            <a:r>
              <a:rPr sz="2300" spc="-6" dirty="0">
                <a:latin typeface="Courier New"/>
                <a:cs typeface="Courier New"/>
              </a:rPr>
              <a:t>endereco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end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220867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ficha_pessoal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900">
              <a:latin typeface="Times New Roman"/>
              <a:cs typeface="Times New Roman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Repare </a:t>
            </a:r>
            <a:r>
              <a:rPr sz="3200" spc="-6" dirty="0">
                <a:latin typeface="Arial"/>
                <a:cs typeface="Arial"/>
              </a:rPr>
              <a:t>que um </a:t>
            </a:r>
            <a:r>
              <a:rPr sz="3200" dirty="0">
                <a:latin typeface="Arial"/>
                <a:cs typeface="Arial"/>
              </a:rPr>
              <a:t>campo do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endereco</a:t>
            </a:r>
            <a:r>
              <a:rPr sz="3200" b="1" spc="-103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declarado dentro de</a:t>
            </a:r>
            <a:r>
              <a:rPr sz="3200" spc="-17" dirty="0">
                <a:latin typeface="Arial"/>
                <a:cs typeface="Arial"/>
              </a:rPr>
              <a:t>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ficha_pessoal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376560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 </a:t>
            </a:r>
            <a:r>
              <a:rPr sz="3200" dirty="0">
                <a:latin typeface="Arial"/>
                <a:cs typeface="Arial"/>
              </a:rPr>
              <a:t>de variáveis do tipo definido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acima: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393652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65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7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2904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66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22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64441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67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42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8" y="5677171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75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7" y="5677171"/>
            <a:ext cx="4635292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673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408" y="805746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1492" y="198148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08" y="1981482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17" y="2317327"/>
            <a:ext cx="3239209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408" y="2989295"/>
            <a:ext cx="252631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492" y="3493481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08" y="3493481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417" y="3829326"/>
            <a:ext cx="1991646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1278" y="4501435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ma</a:t>
            </a:r>
            <a:r>
              <a:rPr sz="2300" dirty="0">
                <a:latin typeface="Courier New"/>
                <a:cs typeface="Courier New"/>
              </a:rPr>
              <a:t>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408" y="4501434"/>
            <a:ext cx="2347350" cy="703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spc="-6" dirty="0">
                <a:latin typeface="Courier New"/>
                <a:cs typeface="Courier New"/>
              </a:rPr>
              <a:t>Responsavel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08" y="5341327"/>
            <a:ext cx="216986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25" y="5677170"/>
            <a:ext cx="466499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226" y="6685053"/>
            <a:ext cx="5913302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mae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ano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1975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"%s"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pai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0713" y="823238"/>
            <a:ext cx="2172097" cy="75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09431" y="1541296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0416" y="2497843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mae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9133" y="2877767"/>
            <a:ext cx="2168384" cy="108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 marR="5793">
              <a:lnSpc>
                <a:spcPts val="2646"/>
              </a:lnSpc>
              <a:spcBef>
                <a:spcPts val="290"/>
              </a:spcBef>
            </a:pPr>
            <a:r>
              <a:rPr sz="2700" b="1" spc="-6" dirty="0">
                <a:latin typeface="Courier New"/>
                <a:cs typeface="Courier New"/>
              </a:rPr>
              <a:t>cpf  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7356" y="3922013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0416" y="4902350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87356" y="6326450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23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4" y="1203443"/>
            <a:ext cx="8989139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Em alguns casos </a:t>
            </a:r>
            <a:r>
              <a:rPr sz="2700" spc="-6" dirty="0">
                <a:latin typeface="Arial"/>
                <a:cs typeface="Arial"/>
              </a:rPr>
              <a:t>o tipo </a:t>
            </a:r>
            <a:r>
              <a:rPr sz="2700" dirty="0">
                <a:latin typeface="Arial"/>
                <a:cs typeface="Arial"/>
              </a:rPr>
              <a:t>estrutura possui </a:t>
            </a:r>
            <a:r>
              <a:rPr sz="2700" spc="-6" dirty="0">
                <a:latin typeface="Arial"/>
                <a:cs typeface="Arial"/>
              </a:rPr>
              <a:t>vetores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como  um </a:t>
            </a:r>
            <a:r>
              <a:rPr sz="2700" dirty="0">
                <a:latin typeface="Arial"/>
                <a:cs typeface="Arial"/>
              </a:rPr>
              <a:t>dos seus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campos.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8262" y="5011079"/>
            <a:ext cx="736433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</a:t>
            </a:r>
            <a:r>
              <a:rPr sz="2700" spc="-6" dirty="0">
                <a:latin typeface="Arial"/>
                <a:cs typeface="Arial"/>
              </a:rPr>
              <a:t>acesso a </a:t>
            </a:r>
            <a:r>
              <a:rPr sz="2700" dirty="0">
                <a:latin typeface="Arial"/>
                <a:cs typeface="Arial"/>
              </a:rPr>
              <a:t>estes campos </a:t>
            </a:r>
            <a:r>
              <a:rPr sz="2700" spc="-6" dirty="0">
                <a:latin typeface="Arial"/>
                <a:cs typeface="Arial"/>
              </a:rPr>
              <a:t>é feito da</a:t>
            </a:r>
            <a:r>
              <a:rPr sz="2700" spc="-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mesma  maneira </a:t>
            </a:r>
            <a:r>
              <a:rPr sz="2700" spc="-6" dirty="0">
                <a:latin typeface="Arial"/>
                <a:cs typeface="Arial"/>
              </a:rPr>
              <a:t>como </a:t>
            </a:r>
            <a:r>
              <a:rPr sz="2700" dirty="0">
                <a:latin typeface="Arial"/>
                <a:cs typeface="Arial"/>
              </a:rPr>
              <a:t>acesso direto </a:t>
            </a:r>
            <a:r>
              <a:rPr sz="2700" spc="-6" dirty="0">
                <a:latin typeface="Arial"/>
                <a:cs typeface="Arial"/>
              </a:rPr>
              <a:t>a um</a:t>
            </a:r>
            <a:r>
              <a:rPr sz="2700" spc="-51" dirty="0">
                <a:latin typeface="Arial"/>
                <a:cs typeface="Arial"/>
              </a:rPr>
              <a:t> </a:t>
            </a:r>
            <a:r>
              <a:rPr sz="2700" spc="-34" dirty="0">
                <a:latin typeface="Arial"/>
                <a:cs typeface="Arial"/>
              </a:rPr>
              <a:t>vetor.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com</a:t>
            </a:r>
            <a:r>
              <a:rPr spc="-46" dirty="0"/>
              <a:t> </a:t>
            </a:r>
            <a:r>
              <a:rPr spc="-6" dirty="0"/>
              <a:t>vetor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2671" y="2269748"/>
            <a:ext cx="3635756" cy="179956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 marL="9920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99209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Dados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3" y="6000420"/>
            <a:ext cx="5795229" cy="111948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933" marR="1184716">
              <a:lnSpc>
                <a:spcPct val="100899"/>
              </a:lnSpc>
              <a:spcBef>
                <a:spcPts val="125"/>
              </a:spcBef>
            </a:pPr>
            <a:r>
              <a:rPr sz="2300" spc="-6" dirty="0">
                <a:latin typeface="Courier New"/>
                <a:cs typeface="Courier New"/>
              </a:rPr>
              <a:t>Dados 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86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521796"/>
            <a:ext cx="9113153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98084" algn="l"/>
              </a:tabLst>
            </a:pPr>
            <a:r>
              <a:rPr sz="2700" dirty="0">
                <a:solidFill>
                  <a:srgbClr val="C5000A"/>
                </a:solidFill>
                <a:latin typeface="Arial"/>
                <a:cs typeface="Arial"/>
              </a:rPr>
              <a:t>4)	</a:t>
            </a:r>
            <a:r>
              <a:rPr sz="2700" spc="-6" dirty="0">
                <a:latin typeface="Arial"/>
                <a:cs typeface="Arial"/>
              </a:rPr>
              <a:t>Faça </a:t>
            </a:r>
            <a:r>
              <a:rPr sz="2700" dirty="0">
                <a:latin typeface="Arial"/>
                <a:cs typeface="Arial"/>
              </a:rPr>
              <a:t>um programa </a:t>
            </a:r>
            <a:r>
              <a:rPr sz="2700" spc="-6" dirty="0">
                <a:latin typeface="Arial"/>
                <a:cs typeface="Arial"/>
              </a:rPr>
              <a:t>(função </a:t>
            </a:r>
            <a:r>
              <a:rPr sz="2700" dirty="0">
                <a:latin typeface="Arial"/>
                <a:cs typeface="Arial"/>
              </a:rPr>
              <a:t>principal) para leitura,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spc="-11" dirty="0">
                <a:latin typeface="Arial"/>
                <a:cs typeface="Arial"/>
              </a:rPr>
              <a:t>via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teclado, dos dados </a:t>
            </a:r>
            <a:r>
              <a:rPr sz="2700" spc="-6" dirty="0">
                <a:latin typeface="Arial"/>
                <a:cs typeface="Arial"/>
              </a:rPr>
              <a:t>de um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atleta.</a:t>
            </a:r>
            <a:endParaRPr sz="2700">
              <a:latin typeface="Arial"/>
              <a:cs typeface="Arial"/>
            </a:endParaRPr>
          </a:p>
          <a:p>
            <a:pPr marL="698084" marR="41277"/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dados a serem guardados na estrutura atleta</a:t>
            </a:r>
            <a:r>
              <a:rPr sz="2700" spc="-10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são  </a:t>
            </a:r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seguintes: nome, medidas (estrutura definida </a:t>
            </a:r>
            <a:r>
              <a:rPr sz="2700" spc="-6" dirty="0">
                <a:latin typeface="Arial"/>
                <a:cs typeface="Arial"/>
              </a:rPr>
              <a:t>no  exercício </a:t>
            </a:r>
            <a:r>
              <a:rPr sz="2700" dirty="0">
                <a:latin typeface="Arial"/>
                <a:cs typeface="Arial"/>
              </a:rPr>
              <a:t>2), esporte praticado e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idade.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spc="-6" dirty="0">
                <a:latin typeface="Arial"/>
                <a:cs typeface="Arial"/>
              </a:rPr>
              <a:t>Ao final, imprima </a:t>
            </a:r>
            <a:r>
              <a:rPr sz="2700" dirty="0">
                <a:latin typeface="Arial"/>
                <a:cs typeface="Arial"/>
              </a:rPr>
              <a:t>estas informações </a:t>
            </a:r>
            <a:r>
              <a:rPr sz="2700" spc="-6" dirty="0">
                <a:latin typeface="Arial"/>
                <a:cs typeface="Arial"/>
              </a:rPr>
              <a:t>na</a:t>
            </a:r>
            <a:r>
              <a:rPr sz="2700" spc="-2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tela.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03320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380" y="1203443"/>
            <a:ext cx="9208947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das </a:t>
            </a:r>
            <a:r>
              <a:rPr sz="2700" spc="-6" dirty="0">
                <a:latin typeface="Arial"/>
                <a:cs typeface="Arial"/>
              </a:rPr>
              <a:t>vantagens ao utilizarmos </a:t>
            </a:r>
            <a:r>
              <a:rPr sz="2700" dirty="0">
                <a:latin typeface="Arial"/>
                <a:cs typeface="Arial"/>
              </a:rPr>
              <a:t>estruturas </a:t>
            </a:r>
            <a:r>
              <a:rPr sz="2700" spc="-6" dirty="0">
                <a:latin typeface="Arial"/>
                <a:cs typeface="Arial"/>
              </a:rPr>
              <a:t>é a  </a:t>
            </a:r>
            <a:r>
              <a:rPr sz="2700" dirty="0">
                <a:latin typeface="Arial"/>
                <a:cs typeface="Arial"/>
              </a:rPr>
              <a:t>possibilidade </a:t>
            </a:r>
            <a:r>
              <a:rPr sz="2700" spc="-6" dirty="0">
                <a:latin typeface="Arial"/>
                <a:cs typeface="Arial"/>
              </a:rPr>
              <a:t>de copiarmos toda a </a:t>
            </a:r>
            <a:r>
              <a:rPr sz="2700" dirty="0">
                <a:latin typeface="Arial"/>
                <a:cs typeface="Arial"/>
              </a:rPr>
              <a:t>informação </a:t>
            </a:r>
            <a:r>
              <a:rPr sz="2700" spc="-6" dirty="0">
                <a:latin typeface="Arial"/>
                <a:cs typeface="Arial"/>
              </a:rPr>
              <a:t>de uma  estrutura para outra do </a:t>
            </a:r>
            <a:r>
              <a:rPr sz="2700" dirty="0">
                <a:latin typeface="Arial"/>
                <a:cs typeface="Arial"/>
              </a:rPr>
              <a:t>mesmo </a:t>
            </a:r>
            <a:r>
              <a:rPr sz="2700" spc="-6" dirty="0">
                <a:latin typeface="Arial"/>
                <a:cs typeface="Arial"/>
              </a:rPr>
              <a:t>tipo com uma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atribuição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01383" y="2412763"/>
            <a:ext cx="134038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latin typeface="Arial"/>
                <a:cs typeface="Arial"/>
              </a:rPr>
              <a:t>simpl</a:t>
            </a:r>
            <a:r>
              <a:rPr sz="2700" spc="6" dirty="0">
                <a:latin typeface="Arial"/>
                <a:cs typeface="Arial"/>
              </a:rPr>
              <a:t>e</a:t>
            </a:r>
            <a:r>
              <a:rPr sz="2700" dirty="0">
                <a:latin typeface="Arial"/>
                <a:cs typeface="Arial"/>
              </a:rPr>
              <a:t>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244" y="2599996"/>
            <a:ext cx="7595284" cy="5005318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931" rIns="0" bIns="0" rtlCol="0">
            <a:spAutoFit/>
          </a:bodyPr>
          <a:lstStyle/>
          <a:p>
            <a:pPr marL="99933">
              <a:spcBef>
                <a:spcPts val="290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7527">
              <a:tabLst>
                <a:tab pos="1142715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Coordenadas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993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main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Coordenadas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30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segunda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>
              <a:tabLst>
                <a:tab pos="2533091" algn="l"/>
              </a:tabLst>
            </a:pP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	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Atribuição de</a:t>
            </a:r>
            <a:r>
              <a:rPr spc="-91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871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864" y="6312477"/>
            <a:ext cx="966787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Desenvolver </a:t>
            </a:r>
            <a:r>
              <a:rPr sz="3000" dirty="0">
                <a:latin typeface="Arial"/>
                <a:cs typeface="Arial"/>
              </a:rPr>
              <a:t>um </a:t>
            </a:r>
            <a:r>
              <a:rPr sz="3000" spc="-6" dirty="0">
                <a:latin typeface="Arial"/>
                <a:cs typeface="Arial"/>
              </a:rPr>
              <a:t>algoritmo para ler e imprimir o nome  e as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de um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aluno.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52863" y="1278308"/>
            <a:ext cx="9070082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Considere </a:t>
            </a:r>
            <a:r>
              <a:rPr sz="3000" dirty="0">
                <a:latin typeface="Arial"/>
                <a:cs typeface="Arial"/>
              </a:rPr>
              <a:t>as </a:t>
            </a:r>
            <a:r>
              <a:rPr sz="3000" spc="-6" dirty="0">
                <a:latin typeface="Arial"/>
                <a:cs typeface="Arial"/>
              </a:rPr>
              <a:t>informações </a:t>
            </a:r>
            <a:r>
              <a:rPr sz="3000" dirty="0">
                <a:latin typeface="Arial"/>
                <a:cs typeface="Arial"/>
              </a:rPr>
              <a:t>de um </a:t>
            </a:r>
            <a:r>
              <a:rPr sz="3000" spc="-6" dirty="0">
                <a:latin typeface="Arial"/>
                <a:cs typeface="Arial"/>
              </a:rPr>
              <a:t>aluno que tem  </a:t>
            </a:r>
            <a:r>
              <a:rPr sz="3000" dirty="0">
                <a:latin typeface="Arial"/>
                <a:cs typeface="Arial"/>
              </a:rPr>
              <a:t>NOME </a:t>
            </a:r>
            <a:r>
              <a:rPr sz="3000" spc="-6" dirty="0">
                <a:latin typeface="Arial"/>
                <a:cs typeface="Arial"/>
              </a:rPr>
              <a:t>e 4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como campos de uma estrutura;  </a:t>
            </a:r>
            <a:r>
              <a:rPr sz="3000" dirty="0">
                <a:latin typeface="Arial"/>
                <a:cs typeface="Arial"/>
              </a:rPr>
              <a:t>veja </a:t>
            </a:r>
            <a:r>
              <a:rPr sz="3000" i="1" spc="-6" dirty="0">
                <a:latin typeface="Arial"/>
                <a:cs typeface="Arial"/>
              </a:rPr>
              <a:t>layout</a:t>
            </a:r>
            <a:r>
              <a:rPr sz="3000" i="1" spc="-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abaixo.</a:t>
            </a:r>
            <a:endParaRPr sz="3000">
              <a:latin typeface="Arial"/>
              <a:cs typeface="Arial"/>
            </a:endParaRPr>
          </a:p>
          <a:p>
            <a:pPr>
              <a:spcBef>
                <a:spcPts val="29"/>
              </a:spcBef>
            </a:pPr>
            <a:endParaRPr sz="3300">
              <a:latin typeface="Times New Roman"/>
              <a:cs typeface="Times New Roman"/>
            </a:endParaRPr>
          </a:p>
          <a:p>
            <a:pPr marL="1668451"/>
            <a:r>
              <a:rPr sz="2300" dirty="0">
                <a:latin typeface="Arial"/>
                <a:cs typeface="Arial"/>
              </a:rPr>
              <a:t>Cadastro de notas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  <a:p>
            <a:pPr marL="1668451">
              <a:spcBef>
                <a:spcPts val="1483"/>
              </a:spcBef>
              <a:tabLst>
                <a:tab pos="6626009" algn="l"/>
              </a:tabLst>
            </a:pPr>
            <a:r>
              <a:rPr sz="2300" dirty="0">
                <a:latin typeface="Arial"/>
                <a:cs typeface="Arial"/>
              </a:rPr>
              <a:t>Nome: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75810" y="3876205"/>
          <a:ext cx="6570204" cy="194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40"/>
                <a:gridCol w="1641140"/>
                <a:gridCol w="1646784"/>
                <a:gridCol w="1641140"/>
              </a:tblGrid>
              <a:tr h="71003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Notas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1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3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4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841"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3073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786" y="1468620"/>
            <a:ext cx="6133110" cy="293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8750"/>
              <a:buChar char="•"/>
              <a:tabLst>
                <a:tab pos="535874" algn="l"/>
                <a:tab pos="536597" algn="l"/>
              </a:tabLst>
            </a:pPr>
            <a:r>
              <a:rPr sz="3600" spc="-6" dirty="0">
                <a:latin typeface="Arial"/>
                <a:cs typeface="Arial"/>
              </a:rPr>
              <a:t>Ideia básica do algoritmo</a:t>
            </a:r>
            <a:r>
              <a:rPr sz="3600" spc="-51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Ler os dados de um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Imprimir </a:t>
            </a:r>
            <a:r>
              <a:rPr sz="3200" spc="-6" dirty="0">
                <a:latin typeface="Arial"/>
                <a:cs typeface="Arial"/>
              </a:rPr>
              <a:t>os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2668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9105" y="1438533"/>
            <a:ext cx="360011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01772" algn="l"/>
              </a:tabLst>
            </a:pPr>
            <a:r>
              <a:rPr sz="2200" spc="6" dirty="0">
                <a:solidFill>
                  <a:srgbClr val="852B34"/>
                </a:solidFill>
                <a:latin typeface="Arial"/>
                <a:cs typeface="Arial"/>
              </a:rPr>
              <a:t>1.	</a:t>
            </a: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906" y="2835087"/>
            <a:ext cx="7069526" cy="211921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1000" rIns="0" bIns="0" rtlCol="0">
            <a:spAutoFit/>
          </a:bodyPr>
          <a:lstStyle/>
          <a:p>
            <a:pPr marL="99209">
              <a:spcBef>
                <a:spcPts val="165"/>
              </a:spcBef>
            </a:pPr>
            <a:r>
              <a:rPr sz="2700"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7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  <a:p>
            <a:pPr marL="99209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17046">
              <a:lnSpc>
                <a:spcPts val="3284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1704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notas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99209"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716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4" y="1438533"/>
            <a:ext cx="3975122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spc="6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12" y="3931759"/>
            <a:ext cx="5169962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520667"/>
            <a:r>
              <a:rPr sz="2300" spc="-6" dirty="0">
                <a:latin typeface="Courier New"/>
                <a:cs typeface="Courier New"/>
              </a:rPr>
              <a:t>Aluno 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 dados do</a:t>
            </a:r>
            <a:r>
              <a:rPr sz="2300" spc="-46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77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439245" y="4945309"/>
            <a:ext cx="552640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para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percorrer </a:t>
            </a: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o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vetor de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notas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483" y="4945309"/>
            <a:ext cx="303053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contador</a:t>
            </a:r>
            <a:endParaRPr sz="2300">
              <a:latin typeface="Courier New"/>
              <a:cs typeface="Courier New"/>
            </a:endParaRPr>
          </a:p>
          <a:p>
            <a:pPr marL="37656"/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495" y="1623248"/>
            <a:ext cx="4714006" cy="141570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0414" rIns="0" bIns="0" rtlCol="0">
            <a:spAutoFit/>
          </a:bodyPr>
          <a:lstStyle/>
          <a:p>
            <a:pPr marL="99933">
              <a:spcBef>
                <a:spcPts val="23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17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4" y="1438532"/>
            <a:ext cx="4892973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spc="-6" dirty="0">
                <a:latin typeface="Arial"/>
                <a:cs typeface="Arial"/>
              </a:rPr>
              <a:t>Ler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495" y="1270612"/>
            <a:ext cx="471400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99933">
              <a:spcBef>
                <a:spcPts val="6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spc="-6" dirty="0">
                <a:latin typeface="Courier New"/>
                <a:cs typeface="Courier New"/>
              </a:rPr>
              <a:t>Aluno</a:t>
            </a:r>
            <a:r>
              <a:rPr spc="-11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>
              <a:spcBef>
                <a:spcPts val="23"/>
              </a:spcBef>
            </a:pP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970" y="4833361"/>
            <a:ext cx="5768495" cy="2090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>
              <a:tabLst>
                <a:tab pos="83350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latin typeface="Courier New"/>
                <a:cs typeface="Courier New"/>
              </a:rPr>
              <a:t>i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dirty="0">
                <a:latin typeface="Courier New"/>
                <a:cs typeface="Courier New"/>
              </a:rPr>
              <a:t>i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z="27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6" dirty="0">
                <a:latin typeface="Courier New"/>
                <a:cs typeface="Courier New"/>
              </a:rPr>
              <a:t>a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6" dirty="0">
                <a:latin typeface="Courier New"/>
                <a:cs typeface="Courier New"/>
              </a:rPr>
              <a:t>notas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73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2691" y="5286750"/>
            <a:ext cx="6252669" cy="558385"/>
          </a:xfrm>
          <a:prstGeom prst="rect">
            <a:avLst/>
          </a:prstGeom>
        </p:spPr>
        <p:txBody>
          <a:bodyPr vert="horz" wrap="square" lIns="0" tIns="4345" rIns="0" bIns="0" rtlCol="0">
            <a:spAutoFit/>
          </a:bodyPr>
          <a:lstStyle/>
          <a:p>
            <a:pPr>
              <a:spcBef>
                <a:spcPts val="34"/>
              </a:spcBef>
            </a:pPr>
            <a:endParaRPr>
              <a:latin typeface="Times New Roman"/>
              <a:cs typeface="Times New Roman"/>
            </a:endParaRPr>
          </a:p>
          <a:p>
            <a:pPr marR="419285" algn="r"/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752" y="1192247"/>
          <a:ext cx="9849807" cy="625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5801"/>
                <a:gridCol w="1116866"/>
                <a:gridCol w="3597140"/>
              </a:tblGrid>
              <a:tr h="4088906">
                <a:tc>
                  <a:txBody>
                    <a:bodyPr/>
                    <a:lstStyle/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172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Definir</a:t>
                      </a:r>
                      <a:r>
                        <a:rPr sz="3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estrutura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Declarar</a:t>
                      </a:r>
                      <a:r>
                        <a:rPr sz="3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variáveis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spc="-5" dirty="0">
                          <a:latin typeface="Arial"/>
                          <a:cs typeface="Arial"/>
                        </a:rPr>
                        <a:t>Ler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 </a:t>
                      </a:r>
                      <a:r>
                        <a:rPr sz="3100" spc="-5" dirty="0">
                          <a:latin typeface="Arial"/>
                          <a:cs typeface="Arial"/>
                        </a:rPr>
                        <a:t>de um</a:t>
                      </a:r>
                      <a:r>
                        <a:rPr sz="3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aluno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Imprimir os</a:t>
                      </a:r>
                      <a:r>
                        <a:rPr sz="31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typedef</a:t>
                      </a:r>
                      <a:r>
                        <a:rPr sz="1800" b="1" spc="-8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-1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main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 marR="19716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gets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om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972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scanf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7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41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puts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11300">
                <a:tc gridSpan="2">
                  <a:txBody>
                    <a:bodyPr/>
                    <a:lstStyle/>
                    <a:p>
                      <a:pPr marL="85090">
                        <a:lnSpc>
                          <a:spcPts val="1465"/>
                        </a:lnSpc>
                      </a:pPr>
                      <a:r>
                        <a:rPr sz="26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6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26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2600" spc="-1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600" spc="-12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652557" y="1136273"/>
            <a:ext cx="4547665" cy="617594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50691" rIns="0" bIns="0" rtlCol="0">
            <a:spAutoFit/>
          </a:bodyPr>
          <a:lstStyle/>
          <a:p>
            <a:pPr marL="377284" marR="1947249" indent="-278075">
              <a:spcBef>
                <a:spcPts val="39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1900">
              <a:latin typeface="Times New Roman"/>
              <a:cs typeface="Times New Roman"/>
            </a:endParaRPr>
          </a:p>
          <a:p>
            <a:pPr marL="99209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Aluno</a:t>
            </a:r>
            <a:r>
              <a:rPr spc="-103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scanf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puts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77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1" y="2686476"/>
            <a:ext cx="2028776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1" y="2184107"/>
            <a:ext cx="4460039" cy="137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b="1" spc="-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422182" algn="just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  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 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049" y="3796722"/>
            <a:ext cx="23183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57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101" y="3528045"/>
            <a:ext cx="2028776" cy="8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5839" y="4334072"/>
            <a:ext cx="4032303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8102" y="5409614"/>
            <a:ext cx="3603824" cy="1667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spc="-6" dirty="0">
                <a:latin typeface="Courier New"/>
                <a:cs typeface="Courier New"/>
              </a:rPr>
              <a:t>MinhaEstrutura </a:t>
            </a:r>
            <a:r>
              <a:rPr spc="6" dirty="0">
                <a:latin typeface="Courier New"/>
                <a:cs typeface="Courier New"/>
              </a:rPr>
              <a:t>var;  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0" y="0"/>
                </a:moveTo>
                <a:lnTo>
                  <a:pt x="2485136" y="406907"/>
                </a:lnTo>
                <a:lnTo>
                  <a:pt x="2485136" y="812164"/>
                </a:lnTo>
                <a:lnTo>
                  <a:pt x="2490931" y="855266"/>
                </a:lnTo>
                <a:lnTo>
                  <a:pt x="2507285" y="894004"/>
                </a:lnTo>
                <a:lnTo>
                  <a:pt x="2532649" y="926830"/>
                </a:lnTo>
                <a:lnTo>
                  <a:pt x="2565475" y="952194"/>
                </a:lnTo>
                <a:lnTo>
                  <a:pt x="2604213" y="968548"/>
                </a:lnTo>
                <a:lnTo>
                  <a:pt x="2647315" y="974344"/>
                </a:lnTo>
                <a:lnTo>
                  <a:pt x="3473576" y="974344"/>
                </a:lnTo>
                <a:lnTo>
                  <a:pt x="3516678" y="968548"/>
                </a:lnTo>
                <a:lnTo>
                  <a:pt x="3555416" y="952194"/>
                </a:lnTo>
                <a:lnTo>
                  <a:pt x="3588242" y="926830"/>
                </a:lnTo>
                <a:lnTo>
                  <a:pt x="3613606" y="894004"/>
                </a:lnTo>
                <a:lnTo>
                  <a:pt x="3629960" y="855266"/>
                </a:lnTo>
                <a:lnTo>
                  <a:pt x="3635756" y="812164"/>
                </a:lnTo>
                <a:lnTo>
                  <a:pt x="3635756" y="163702"/>
                </a:lnTo>
                <a:lnTo>
                  <a:pt x="2485136" y="163702"/>
                </a:lnTo>
                <a:lnTo>
                  <a:pt x="0" y="0"/>
                </a:lnTo>
                <a:close/>
              </a:path>
              <a:path w="3636009" h="974725">
                <a:moveTo>
                  <a:pt x="3473576" y="1524"/>
                </a:moveTo>
                <a:lnTo>
                  <a:pt x="2647315" y="1524"/>
                </a:lnTo>
                <a:lnTo>
                  <a:pt x="2604213" y="7319"/>
                </a:lnTo>
                <a:lnTo>
                  <a:pt x="2565475" y="23673"/>
                </a:lnTo>
                <a:lnTo>
                  <a:pt x="2532649" y="49037"/>
                </a:lnTo>
                <a:lnTo>
                  <a:pt x="2507285" y="81863"/>
                </a:lnTo>
                <a:lnTo>
                  <a:pt x="2490931" y="120601"/>
                </a:lnTo>
                <a:lnTo>
                  <a:pt x="2485136" y="163702"/>
                </a:lnTo>
                <a:lnTo>
                  <a:pt x="3635756" y="163702"/>
                </a:lnTo>
                <a:lnTo>
                  <a:pt x="3629960" y="120601"/>
                </a:lnTo>
                <a:lnTo>
                  <a:pt x="3613606" y="81863"/>
                </a:lnTo>
                <a:lnTo>
                  <a:pt x="3588242" y="49037"/>
                </a:lnTo>
                <a:lnTo>
                  <a:pt x="3555416" y="23673"/>
                </a:lnTo>
                <a:lnTo>
                  <a:pt x="3516678" y="7319"/>
                </a:lnTo>
                <a:lnTo>
                  <a:pt x="3473576" y="1524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2485136" y="163702"/>
                </a:moveTo>
                <a:lnTo>
                  <a:pt x="2490931" y="120601"/>
                </a:lnTo>
                <a:lnTo>
                  <a:pt x="2507285" y="81863"/>
                </a:lnTo>
                <a:lnTo>
                  <a:pt x="2532649" y="49037"/>
                </a:lnTo>
                <a:lnTo>
                  <a:pt x="2565475" y="23673"/>
                </a:lnTo>
                <a:lnTo>
                  <a:pt x="2604213" y="7319"/>
                </a:lnTo>
                <a:lnTo>
                  <a:pt x="2647315" y="1524"/>
                </a:lnTo>
                <a:lnTo>
                  <a:pt x="2676906" y="1524"/>
                </a:lnTo>
                <a:lnTo>
                  <a:pt x="2964561" y="1524"/>
                </a:lnTo>
                <a:lnTo>
                  <a:pt x="3473576" y="1524"/>
                </a:lnTo>
                <a:lnTo>
                  <a:pt x="3516678" y="7319"/>
                </a:lnTo>
                <a:lnTo>
                  <a:pt x="3555416" y="23673"/>
                </a:lnTo>
                <a:lnTo>
                  <a:pt x="3588242" y="49037"/>
                </a:lnTo>
                <a:lnTo>
                  <a:pt x="3613606" y="81863"/>
                </a:lnTo>
                <a:lnTo>
                  <a:pt x="3629960" y="120601"/>
                </a:lnTo>
                <a:lnTo>
                  <a:pt x="3635756" y="163702"/>
                </a:lnTo>
                <a:lnTo>
                  <a:pt x="3635756" y="406907"/>
                </a:lnTo>
                <a:lnTo>
                  <a:pt x="3635756" y="812164"/>
                </a:lnTo>
                <a:lnTo>
                  <a:pt x="3629960" y="855266"/>
                </a:lnTo>
                <a:lnTo>
                  <a:pt x="3613606" y="894004"/>
                </a:lnTo>
                <a:lnTo>
                  <a:pt x="3588242" y="926830"/>
                </a:lnTo>
                <a:lnTo>
                  <a:pt x="3555416" y="952194"/>
                </a:lnTo>
                <a:lnTo>
                  <a:pt x="3516678" y="968548"/>
                </a:lnTo>
                <a:lnTo>
                  <a:pt x="3473576" y="974344"/>
                </a:lnTo>
                <a:lnTo>
                  <a:pt x="2964561" y="974344"/>
                </a:lnTo>
                <a:lnTo>
                  <a:pt x="2676906" y="974344"/>
                </a:lnTo>
                <a:lnTo>
                  <a:pt x="2647315" y="974344"/>
                </a:lnTo>
                <a:lnTo>
                  <a:pt x="2604213" y="968548"/>
                </a:lnTo>
                <a:lnTo>
                  <a:pt x="2565475" y="952194"/>
                </a:lnTo>
                <a:lnTo>
                  <a:pt x="2532649" y="926830"/>
                </a:lnTo>
                <a:lnTo>
                  <a:pt x="2507285" y="894004"/>
                </a:lnTo>
                <a:lnTo>
                  <a:pt x="2490931" y="855266"/>
                </a:lnTo>
                <a:lnTo>
                  <a:pt x="2485136" y="812164"/>
                </a:lnTo>
                <a:lnTo>
                  <a:pt x="2485136" y="406907"/>
                </a:lnTo>
                <a:lnTo>
                  <a:pt x="0" y="0"/>
                </a:lnTo>
                <a:lnTo>
                  <a:pt x="2485136" y="163702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99591" y="4183781"/>
            <a:ext cx="1070824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17" dirty="0">
                <a:latin typeface="Arial"/>
                <a:cs typeface="Arial"/>
              </a:rPr>
              <a:t>Tipo </a:t>
            </a:r>
            <a:r>
              <a:rPr spc="-11" dirty="0">
                <a:latin typeface="Arial"/>
                <a:cs typeface="Arial"/>
              </a:rPr>
              <a:t>de  </a:t>
            </a:r>
            <a:r>
              <a:rPr spc="-6" dirty="0">
                <a:latin typeface="Arial"/>
                <a:cs typeface="Arial"/>
              </a:rPr>
              <a:t>retorno 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9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81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133018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3888982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2439670" y="852677"/>
                </a:moveTo>
                <a:lnTo>
                  <a:pt x="234950" y="852677"/>
                </a:lnTo>
                <a:lnTo>
                  <a:pt x="187600" y="857449"/>
                </a:lnTo>
                <a:lnTo>
                  <a:pt x="143498" y="871136"/>
                </a:lnTo>
                <a:lnTo>
                  <a:pt x="103588" y="892794"/>
                </a:lnTo>
                <a:lnTo>
                  <a:pt x="68816" y="921480"/>
                </a:lnTo>
                <a:lnTo>
                  <a:pt x="40126" y="956249"/>
                </a:lnTo>
                <a:lnTo>
                  <a:pt x="18464" y="996160"/>
                </a:lnTo>
                <a:lnTo>
                  <a:pt x="4773" y="1040267"/>
                </a:lnTo>
                <a:lnTo>
                  <a:pt x="0" y="1087627"/>
                </a:lnTo>
                <a:lnTo>
                  <a:pt x="0" y="2027427"/>
                </a:lnTo>
                <a:lnTo>
                  <a:pt x="4773" y="2074788"/>
                </a:lnTo>
                <a:lnTo>
                  <a:pt x="18464" y="2118895"/>
                </a:lnTo>
                <a:lnTo>
                  <a:pt x="40126" y="2158806"/>
                </a:lnTo>
                <a:lnTo>
                  <a:pt x="68816" y="2193575"/>
                </a:lnTo>
                <a:lnTo>
                  <a:pt x="103588" y="2222261"/>
                </a:lnTo>
                <a:lnTo>
                  <a:pt x="143498" y="2243919"/>
                </a:lnTo>
                <a:lnTo>
                  <a:pt x="187600" y="2257606"/>
                </a:lnTo>
                <a:lnTo>
                  <a:pt x="234950" y="2262378"/>
                </a:lnTo>
                <a:lnTo>
                  <a:pt x="2439670" y="2262378"/>
                </a:lnTo>
                <a:lnTo>
                  <a:pt x="2487030" y="2257606"/>
                </a:lnTo>
                <a:lnTo>
                  <a:pt x="2531137" y="2243919"/>
                </a:lnTo>
                <a:lnTo>
                  <a:pt x="2571048" y="2222261"/>
                </a:lnTo>
                <a:lnTo>
                  <a:pt x="2605817" y="2193575"/>
                </a:lnTo>
                <a:lnTo>
                  <a:pt x="2634503" y="2158806"/>
                </a:lnTo>
                <a:lnTo>
                  <a:pt x="2656161" y="2118895"/>
                </a:lnTo>
                <a:lnTo>
                  <a:pt x="2669848" y="2074788"/>
                </a:lnTo>
                <a:lnTo>
                  <a:pt x="2674620" y="2027427"/>
                </a:lnTo>
                <a:lnTo>
                  <a:pt x="2674620" y="1087627"/>
                </a:lnTo>
                <a:lnTo>
                  <a:pt x="2669848" y="1040267"/>
                </a:lnTo>
                <a:lnTo>
                  <a:pt x="2656161" y="996160"/>
                </a:lnTo>
                <a:lnTo>
                  <a:pt x="2634503" y="956249"/>
                </a:lnTo>
                <a:lnTo>
                  <a:pt x="2605817" y="921480"/>
                </a:lnTo>
                <a:lnTo>
                  <a:pt x="2571048" y="892794"/>
                </a:lnTo>
                <a:lnTo>
                  <a:pt x="2531137" y="871136"/>
                </a:lnTo>
                <a:lnTo>
                  <a:pt x="2487030" y="857449"/>
                </a:lnTo>
                <a:lnTo>
                  <a:pt x="2439670" y="852677"/>
                </a:lnTo>
                <a:close/>
              </a:path>
              <a:path w="3623945" h="2262504">
                <a:moveTo>
                  <a:pt x="3623817" y="0"/>
                </a:moveTo>
                <a:lnTo>
                  <a:pt x="1560195" y="852677"/>
                </a:lnTo>
                <a:lnTo>
                  <a:pt x="2228850" y="852677"/>
                </a:lnTo>
                <a:lnTo>
                  <a:pt x="3623817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0" y="1087627"/>
                </a:moveTo>
                <a:lnTo>
                  <a:pt x="4773" y="1040267"/>
                </a:lnTo>
                <a:lnTo>
                  <a:pt x="18464" y="996160"/>
                </a:lnTo>
                <a:lnTo>
                  <a:pt x="40126" y="956249"/>
                </a:lnTo>
                <a:lnTo>
                  <a:pt x="68816" y="921480"/>
                </a:lnTo>
                <a:lnTo>
                  <a:pt x="103588" y="892794"/>
                </a:lnTo>
                <a:lnTo>
                  <a:pt x="143498" y="871136"/>
                </a:lnTo>
                <a:lnTo>
                  <a:pt x="187600" y="857449"/>
                </a:lnTo>
                <a:lnTo>
                  <a:pt x="234950" y="852677"/>
                </a:lnTo>
                <a:lnTo>
                  <a:pt x="1560195" y="852677"/>
                </a:lnTo>
                <a:lnTo>
                  <a:pt x="3623817" y="0"/>
                </a:lnTo>
                <a:lnTo>
                  <a:pt x="2228850" y="852677"/>
                </a:lnTo>
                <a:lnTo>
                  <a:pt x="2439670" y="852677"/>
                </a:lnTo>
                <a:lnTo>
                  <a:pt x="2487030" y="857449"/>
                </a:lnTo>
                <a:lnTo>
                  <a:pt x="2531137" y="871136"/>
                </a:lnTo>
                <a:lnTo>
                  <a:pt x="2571048" y="892794"/>
                </a:lnTo>
                <a:lnTo>
                  <a:pt x="2605817" y="921480"/>
                </a:lnTo>
                <a:lnTo>
                  <a:pt x="2634503" y="956249"/>
                </a:lnTo>
                <a:lnTo>
                  <a:pt x="2656161" y="996160"/>
                </a:lnTo>
                <a:lnTo>
                  <a:pt x="2669848" y="1040267"/>
                </a:lnTo>
                <a:lnTo>
                  <a:pt x="2674620" y="1087627"/>
                </a:lnTo>
                <a:lnTo>
                  <a:pt x="2674620" y="1440052"/>
                </a:lnTo>
                <a:lnTo>
                  <a:pt x="2674620" y="2027427"/>
                </a:lnTo>
                <a:lnTo>
                  <a:pt x="2669848" y="2074788"/>
                </a:lnTo>
                <a:lnTo>
                  <a:pt x="2656161" y="2118895"/>
                </a:lnTo>
                <a:lnTo>
                  <a:pt x="2634503" y="2158806"/>
                </a:lnTo>
                <a:lnTo>
                  <a:pt x="2605817" y="2193575"/>
                </a:lnTo>
                <a:lnTo>
                  <a:pt x="2571048" y="2222261"/>
                </a:lnTo>
                <a:lnTo>
                  <a:pt x="2531137" y="2243919"/>
                </a:lnTo>
                <a:lnTo>
                  <a:pt x="2487030" y="2257606"/>
                </a:lnTo>
                <a:lnTo>
                  <a:pt x="2439670" y="2262378"/>
                </a:lnTo>
                <a:lnTo>
                  <a:pt x="2228850" y="2262378"/>
                </a:lnTo>
                <a:lnTo>
                  <a:pt x="1560195" y="2262378"/>
                </a:lnTo>
                <a:lnTo>
                  <a:pt x="234950" y="2262378"/>
                </a:lnTo>
                <a:lnTo>
                  <a:pt x="187600" y="2257606"/>
                </a:lnTo>
                <a:lnTo>
                  <a:pt x="143498" y="2243919"/>
                </a:lnTo>
                <a:lnTo>
                  <a:pt x="103588" y="2222261"/>
                </a:lnTo>
                <a:lnTo>
                  <a:pt x="68816" y="2193575"/>
                </a:lnTo>
                <a:lnTo>
                  <a:pt x="40126" y="2158806"/>
                </a:lnTo>
                <a:lnTo>
                  <a:pt x="18464" y="2118895"/>
                </a:lnTo>
                <a:lnTo>
                  <a:pt x="4773" y="2074788"/>
                </a:lnTo>
                <a:lnTo>
                  <a:pt x="0" y="2027427"/>
                </a:lnTo>
                <a:lnTo>
                  <a:pt x="0" y="1440052"/>
                </a:lnTo>
                <a:lnTo>
                  <a:pt x="0" y="108762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258" y="4586376"/>
            <a:ext cx="2884990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693" marR="147003" algn="ctr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71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  </a:t>
            </a:r>
            <a:r>
              <a:rPr spc="-6" dirty="0">
                <a:latin typeface="Arial"/>
                <a:cs typeface="Arial"/>
              </a:rPr>
              <a:t>Observe </a:t>
            </a:r>
            <a:r>
              <a:rPr spc="-11" dirty="0">
                <a:latin typeface="Arial"/>
                <a:cs typeface="Arial"/>
              </a:rPr>
              <a:t>que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5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uma  cópia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7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Assim,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5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15" name="object 15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3403854" y="878408"/>
                </a:moveTo>
                <a:lnTo>
                  <a:pt x="1067054" y="878408"/>
                </a:lnTo>
                <a:lnTo>
                  <a:pt x="1073326" y="925112"/>
                </a:lnTo>
                <a:lnTo>
                  <a:pt x="1091028" y="967081"/>
                </a:lnTo>
                <a:lnTo>
                  <a:pt x="1118489" y="1002639"/>
                </a:lnTo>
                <a:lnTo>
                  <a:pt x="1154034" y="1030112"/>
                </a:lnTo>
                <a:lnTo>
                  <a:pt x="1195994" y="1047823"/>
                </a:lnTo>
                <a:lnTo>
                  <a:pt x="1242694" y="1054099"/>
                </a:lnTo>
                <a:lnTo>
                  <a:pt x="3228213" y="1054099"/>
                </a:lnTo>
                <a:lnTo>
                  <a:pt x="3274913" y="1047823"/>
                </a:lnTo>
                <a:lnTo>
                  <a:pt x="3316873" y="1030112"/>
                </a:lnTo>
                <a:lnTo>
                  <a:pt x="3352418" y="1002639"/>
                </a:lnTo>
                <a:lnTo>
                  <a:pt x="3379879" y="967081"/>
                </a:lnTo>
                <a:lnTo>
                  <a:pt x="3397581" y="925112"/>
                </a:lnTo>
                <a:lnTo>
                  <a:pt x="3403854" y="878408"/>
                </a:lnTo>
                <a:close/>
              </a:path>
              <a:path w="3404234" h="1054100">
                <a:moveTo>
                  <a:pt x="0" y="598804"/>
                </a:moveTo>
                <a:lnTo>
                  <a:pt x="1067054" y="878420"/>
                </a:lnTo>
                <a:lnTo>
                  <a:pt x="3403854" y="878408"/>
                </a:lnTo>
                <a:lnTo>
                  <a:pt x="3403854" y="614895"/>
                </a:lnTo>
                <a:lnTo>
                  <a:pt x="1067054" y="614895"/>
                </a:lnTo>
                <a:lnTo>
                  <a:pt x="0" y="598804"/>
                </a:lnTo>
                <a:close/>
              </a:path>
              <a:path w="3404234" h="1054100">
                <a:moveTo>
                  <a:pt x="3228213" y="0"/>
                </a:moveTo>
                <a:lnTo>
                  <a:pt x="1242694" y="0"/>
                </a:lnTo>
                <a:lnTo>
                  <a:pt x="1195994" y="6276"/>
                </a:lnTo>
                <a:lnTo>
                  <a:pt x="1154034" y="23987"/>
                </a:lnTo>
                <a:lnTo>
                  <a:pt x="1118489" y="51460"/>
                </a:lnTo>
                <a:lnTo>
                  <a:pt x="1091028" y="87018"/>
                </a:lnTo>
                <a:lnTo>
                  <a:pt x="1073326" y="128987"/>
                </a:lnTo>
                <a:lnTo>
                  <a:pt x="1067054" y="175691"/>
                </a:lnTo>
                <a:lnTo>
                  <a:pt x="1067054" y="614895"/>
                </a:lnTo>
                <a:lnTo>
                  <a:pt x="3403854" y="614895"/>
                </a:lnTo>
                <a:lnTo>
                  <a:pt x="3403854" y="175691"/>
                </a:lnTo>
                <a:lnTo>
                  <a:pt x="3397581" y="128987"/>
                </a:lnTo>
                <a:lnTo>
                  <a:pt x="3379879" y="87018"/>
                </a:lnTo>
                <a:lnTo>
                  <a:pt x="3352418" y="51460"/>
                </a:lnTo>
                <a:lnTo>
                  <a:pt x="3316873" y="23987"/>
                </a:lnTo>
                <a:lnTo>
                  <a:pt x="3274913" y="6276"/>
                </a:lnTo>
                <a:lnTo>
                  <a:pt x="3228213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1067054" y="175691"/>
                </a:moveTo>
                <a:lnTo>
                  <a:pt x="1073326" y="128987"/>
                </a:lnTo>
                <a:lnTo>
                  <a:pt x="1091028" y="87018"/>
                </a:lnTo>
                <a:lnTo>
                  <a:pt x="1118489" y="51460"/>
                </a:lnTo>
                <a:lnTo>
                  <a:pt x="1154034" y="23987"/>
                </a:lnTo>
                <a:lnTo>
                  <a:pt x="1195994" y="6276"/>
                </a:lnTo>
                <a:lnTo>
                  <a:pt x="1242694" y="0"/>
                </a:lnTo>
                <a:lnTo>
                  <a:pt x="1456563" y="0"/>
                </a:lnTo>
                <a:lnTo>
                  <a:pt x="2040763" y="0"/>
                </a:lnTo>
                <a:lnTo>
                  <a:pt x="3228213" y="0"/>
                </a:lnTo>
                <a:lnTo>
                  <a:pt x="3274913" y="6276"/>
                </a:lnTo>
                <a:lnTo>
                  <a:pt x="3316873" y="23987"/>
                </a:lnTo>
                <a:lnTo>
                  <a:pt x="3352418" y="51460"/>
                </a:lnTo>
                <a:lnTo>
                  <a:pt x="3379879" y="87018"/>
                </a:lnTo>
                <a:lnTo>
                  <a:pt x="3397581" y="128987"/>
                </a:lnTo>
                <a:lnTo>
                  <a:pt x="3403854" y="175691"/>
                </a:lnTo>
                <a:lnTo>
                  <a:pt x="3403854" y="614895"/>
                </a:lnTo>
                <a:lnTo>
                  <a:pt x="3403854" y="878420"/>
                </a:lnTo>
                <a:lnTo>
                  <a:pt x="3397581" y="925112"/>
                </a:lnTo>
                <a:lnTo>
                  <a:pt x="3379879" y="967081"/>
                </a:lnTo>
                <a:lnTo>
                  <a:pt x="3352418" y="1002639"/>
                </a:lnTo>
                <a:lnTo>
                  <a:pt x="3316873" y="1030112"/>
                </a:lnTo>
                <a:lnTo>
                  <a:pt x="3274913" y="1047823"/>
                </a:lnTo>
                <a:lnTo>
                  <a:pt x="3228213" y="1054099"/>
                </a:lnTo>
                <a:lnTo>
                  <a:pt x="2040763" y="1054099"/>
                </a:lnTo>
                <a:lnTo>
                  <a:pt x="1456563" y="1054099"/>
                </a:lnTo>
                <a:lnTo>
                  <a:pt x="1242694" y="1054099"/>
                </a:lnTo>
                <a:lnTo>
                  <a:pt x="1195994" y="1047823"/>
                </a:lnTo>
                <a:lnTo>
                  <a:pt x="1154034" y="1030112"/>
                </a:lnTo>
                <a:lnTo>
                  <a:pt x="1118489" y="1002639"/>
                </a:lnTo>
                <a:lnTo>
                  <a:pt x="1091028" y="967081"/>
                </a:lnTo>
                <a:lnTo>
                  <a:pt x="1073326" y="925112"/>
                </a:lnTo>
                <a:lnTo>
                  <a:pt x="1067054" y="878408"/>
                </a:lnTo>
                <a:lnTo>
                  <a:pt x="0" y="598804"/>
                </a:lnTo>
                <a:lnTo>
                  <a:pt x="1067054" y="614895"/>
                </a:lnTo>
                <a:lnTo>
                  <a:pt x="1067054" y="17569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25954" y="6425124"/>
            <a:ext cx="15542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</a:t>
            </a:r>
            <a:r>
              <a:rPr spc="-19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2583" y="6710942"/>
            <a:ext cx="1878028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</a:t>
            </a:r>
            <a:r>
              <a:rPr spc="2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na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2078863" y="0"/>
                </a:moveTo>
                <a:lnTo>
                  <a:pt x="648081" y="0"/>
                </a:lnTo>
                <a:lnTo>
                  <a:pt x="601267" y="9451"/>
                </a:lnTo>
                <a:lnTo>
                  <a:pt x="563038" y="35226"/>
                </a:lnTo>
                <a:lnTo>
                  <a:pt x="537263" y="73455"/>
                </a:lnTo>
                <a:lnTo>
                  <a:pt x="527812" y="120269"/>
                </a:lnTo>
                <a:lnTo>
                  <a:pt x="0" y="121158"/>
                </a:lnTo>
                <a:lnTo>
                  <a:pt x="527812" y="300609"/>
                </a:lnTo>
                <a:lnTo>
                  <a:pt x="527812" y="601090"/>
                </a:lnTo>
                <a:lnTo>
                  <a:pt x="537263" y="647904"/>
                </a:lnTo>
                <a:lnTo>
                  <a:pt x="563038" y="686133"/>
                </a:lnTo>
                <a:lnTo>
                  <a:pt x="601267" y="711908"/>
                </a:lnTo>
                <a:lnTo>
                  <a:pt x="648081" y="721360"/>
                </a:lnTo>
                <a:lnTo>
                  <a:pt x="2078863" y="721360"/>
                </a:lnTo>
                <a:lnTo>
                  <a:pt x="2125676" y="711908"/>
                </a:lnTo>
                <a:lnTo>
                  <a:pt x="2163905" y="686133"/>
                </a:lnTo>
                <a:lnTo>
                  <a:pt x="2189680" y="647904"/>
                </a:lnTo>
                <a:lnTo>
                  <a:pt x="2199132" y="601090"/>
                </a:lnTo>
                <a:lnTo>
                  <a:pt x="2199132" y="120269"/>
                </a:lnTo>
                <a:lnTo>
                  <a:pt x="2189680" y="73455"/>
                </a:lnTo>
                <a:lnTo>
                  <a:pt x="2163905" y="35226"/>
                </a:lnTo>
                <a:lnTo>
                  <a:pt x="2125676" y="9451"/>
                </a:lnTo>
                <a:lnTo>
                  <a:pt x="2078863" y="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527812" y="120269"/>
                </a:moveTo>
                <a:lnTo>
                  <a:pt x="537263" y="73455"/>
                </a:lnTo>
                <a:lnTo>
                  <a:pt x="563038" y="35226"/>
                </a:lnTo>
                <a:lnTo>
                  <a:pt x="601267" y="9451"/>
                </a:lnTo>
                <a:lnTo>
                  <a:pt x="648081" y="0"/>
                </a:lnTo>
                <a:lnTo>
                  <a:pt x="806323" y="0"/>
                </a:lnTo>
                <a:lnTo>
                  <a:pt x="1224152" y="0"/>
                </a:lnTo>
                <a:lnTo>
                  <a:pt x="2078863" y="0"/>
                </a:lnTo>
                <a:lnTo>
                  <a:pt x="2125676" y="9451"/>
                </a:lnTo>
                <a:lnTo>
                  <a:pt x="2163905" y="35226"/>
                </a:lnTo>
                <a:lnTo>
                  <a:pt x="2189680" y="73455"/>
                </a:lnTo>
                <a:lnTo>
                  <a:pt x="2199132" y="120269"/>
                </a:lnTo>
                <a:lnTo>
                  <a:pt x="2199132" y="300609"/>
                </a:lnTo>
                <a:lnTo>
                  <a:pt x="2199132" y="601090"/>
                </a:lnTo>
                <a:lnTo>
                  <a:pt x="2189680" y="647904"/>
                </a:lnTo>
                <a:lnTo>
                  <a:pt x="2163905" y="686133"/>
                </a:lnTo>
                <a:lnTo>
                  <a:pt x="2125676" y="711908"/>
                </a:lnTo>
                <a:lnTo>
                  <a:pt x="2078863" y="721360"/>
                </a:lnTo>
                <a:lnTo>
                  <a:pt x="1224152" y="721360"/>
                </a:lnTo>
                <a:lnTo>
                  <a:pt x="806323" y="721360"/>
                </a:lnTo>
                <a:lnTo>
                  <a:pt x="648081" y="721360"/>
                </a:lnTo>
                <a:lnTo>
                  <a:pt x="601267" y="711908"/>
                </a:lnTo>
                <a:lnTo>
                  <a:pt x="563038" y="686133"/>
                </a:lnTo>
                <a:lnTo>
                  <a:pt x="537263" y="647904"/>
                </a:lnTo>
                <a:lnTo>
                  <a:pt x="527812" y="601090"/>
                </a:lnTo>
                <a:lnTo>
                  <a:pt x="527812" y="300609"/>
                </a:lnTo>
                <a:lnTo>
                  <a:pt x="0" y="121158"/>
                </a:lnTo>
                <a:lnTo>
                  <a:pt x="527812" y="120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80404" y="2184108"/>
            <a:ext cx="2157988" cy="840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5836" marR="5793" indent="-34759">
              <a:spcBef>
                <a:spcPts val="40"/>
              </a:spcBef>
            </a:pPr>
            <a:r>
              <a:rPr dirty="0">
                <a:latin typeface="Arial"/>
                <a:cs typeface="Arial"/>
              </a:rPr>
              <a:t>O </a:t>
            </a:r>
            <a:r>
              <a:rPr spc="-6" dirty="0">
                <a:latin typeface="Arial"/>
                <a:cs typeface="Arial"/>
              </a:rPr>
              <a:t>valor </a:t>
            </a:r>
            <a:r>
              <a:rPr spc="-11" dirty="0">
                <a:latin typeface="Arial"/>
                <a:cs typeface="Arial"/>
              </a:rPr>
              <a:t>de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6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 </a:t>
            </a:r>
            <a:r>
              <a:rPr u="sng" spc="-11" dirty="0">
                <a:latin typeface="Arial"/>
                <a:cs typeface="Arial"/>
              </a:rPr>
              <a:t>copiado </a:t>
            </a:r>
            <a:r>
              <a:rPr spc="-6" dirty="0">
                <a:latin typeface="Arial"/>
                <a:cs typeface="Arial"/>
              </a:rPr>
              <a:t>para</a:t>
            </a:r>
            <a:r>
              <a:rPr spc="-3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8078" y="6991301"/>
            <a:ext cx="18097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955"/>
              </a:lnSpc>
            </a:pPr>
            <a:r>
              <a:rPr spc="-6" dirty="0">
                <a:latin typeface="Arial"/>
                <a:cs typeface="Arial"/>
              </a:rPr>
              <a:t>função</a:t>
            </a:r>
            <a:r>
              <a:rPr spc="-80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82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104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lang="pt-BR" sz="2400" spc="-11" dirty="0" smtClean="0">
                <a:latin typeface="Arial"/>
                <a:cs typeface="Arial"/>
              </a:rPr>
              <a:t>Quando o ponteiro para uma estrutura é passado como parâmetro a forma de acesso muda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510719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 err="1" smtClean="0">
                <a:latin typeface="Courier New"/>
                <a:cs typeface="Courier New"/>
              </a:rPr>
              <a:t>imprime</a:t>
            </a:r>
            <a:r>
              <a:rPr spc="-6" dirty="0" smtClean="0">
                <a:latin typeface="Courier New"/>
                <a:cs typeface="Courier New"/>
              </a:rPr>
              <a:t>(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pt-BR" b="1" spc="-6" dirty="0" smtClean="0">
                <a:latin typeface="Courier New"/>
                <a:cs typeface="Courier New"/>
              </a:rPr>
              <a:t>*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dirty="0" smtClean="0">
                <a:latin typeface="Courier New"/>
                <a:cs typeface="Courier New"/>
              </a:rPr>
              <a:t>-&gt;</a:t>
            </a:r>
            <a:r>
              <a:rPr b="1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 err="1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 smtClean="0">
                <a:solidFill>
                  <a:srgbClr val="00664D"/>
                </a:solidFill>
                <a:latin typeface="Courier New"/>
                <a:cs typeface="Courier New"/>
              </a:rPr>
              <a:t>(</a:t>
            </a:r>
            <a:r>
              <a:rPr lang="pt-BR" spc="-6" dirty="0" smtClean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 err="1" smtClean="0">
                <a:solidFill>
                  <a:srgbClr val="00664D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83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797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3" y="1835950"/>
            <a:ext cx="9433213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Pode-se criar vetores de estruturas como se</a:t>
            </a:r>
            <a:r>
              <a:rPr sz="3000" spc="171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criam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vetores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tipos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primitivos.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programas apresentados até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momento</a:t>
            </a:r>
            <a:r>
              <a:rPr sz="3000" spc="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só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fizeram </a:t>
            </a:r>
            <a:r>
              <a:rPr sz="3000" spc="-11" dirty="0">
                <a:latin typeface="Arial"/>
                <a:cs typeface="Arial"/>
              </a:rPr>
              <a:t>menção </a:t>
            </a:r>
            <a:r>
              <a:rPr sz="3000" spc="-6" dirty="0">
                <a:latin typeface="Arial"/>
                <a:cs typeface="Arial"/>
              </a:rPr>
              <a:t>a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única instância da</a:t>
            </a:r>
            <a:r>
              <a:rPr sz="3000" spc="18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marR="588013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É </a:t>
            </a:r>
            <a:r>
              <a:rPr sz="3000" spc="-6" dirty="0">
                <a:latin typeface="Arial"/>
                <a:cs typeface="Arial"/>
              </a:rPr>
              <a:t>necessário possuir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definição da estrutura  </a:t>
            </a:r>
            <a:r>
              <a:rPr sz="3000" spc="-11" dirty="0">
                <a:latin typeface="Arial"/>
                <a:cs typeface="Arial"/>
              </a:rPr>
              <a:t>antes </a:t>
            </a:r>
            <a:r>
              <a:rPr sz="3000" spc="-6" dirty="0">
                <a:latin typeface="Arial"/>
                <a:cs typeface="Arial"/>
              </a:rPr>
              <a:t>de declarar um vetor de</a:t>
            </a:r>
            <a:r>
              <a:rPr sz="3000" spc="10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1152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262" y="1914732"/>
            <a:ext cx="9162907" cy="3690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642"/>
              <a:buChar char="•"/>
              <a:tabLst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Suponha que </a:t>
            </a:r>
            <a:r>
              <a:rPr sz="3200" spc="-6" dirty="0">
                <a:latin typeface="Arial"/>
                <a:cs typeface="Arial"/>
              </a:rPr>
              <a:t>deseja-se </a:t>
            </a:r>
            <a:r>
              <a:rPr sz="3200" dirty="0">
                <a:latin typeface="Arial"/>
                <a:cs typeface="Arial"/>
              </a:rPr>
              <a:t>manter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registro de  informações relativas a passagens rodoviárias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todos lugares (poltronas)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ônibus.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B34"/>
              </a:buClr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35874" marR="532253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Pode-se utilizar uma estrutura referente a  cada poltrona </a:t>
            </a:r>
            <a:r>
              <a:rPr sz="3200" spc="-6" dirty="0">
                <a:latin typeface="Arial"/>
                <a:cs typeface="Arial"/>
              </a:rPr>
              <a:t>(</a:t>
            </a: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6" dirty="0">
                <a:latin typeface="Arial"/>
                <a:cs typeface="Arial"/>
              </a:rPr>
              <a:t>) e </a:t>
            </a:r>
            <a:r>
              <a:rPr sz="3200" dirty="0">
                <a:latin typeface="Arial"/>
                <a:cs typeface="Arial"/>
              </a:rPr>
              <a:t>para agrupar  todas elas utiliza-se um vetor de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22868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040" y="3837023"/>
            <a:ext cx="6987840" cy="1845745"/>
          </a:xfrm>
          <a:custGeom>
            <a:avLst/>
            <a:gdLst/>
            <a:ahLst/>
            <a:cxnLst/>
            <a:rect l="l" t="t" r="r" b="b"/>
            <a:pathLst>
              <a:path w="5975350" h="1675129">
                <a:moveTo>
                  <a:pt x="0" y="0"/>
                </a:moveTo>
                <a:lnTo>
                  <a:pt x="59753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923" y="1470997"/>
            <a:ext cx="9639653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940" marR="5793" indent="-379457">
              <a:buClr>
                <a:srgbClr val="852B34"/>
              </a:buClr>
              <a:buSzPct val="68750"/>
              <a:buFont typeface="Wingdings"/>
              <a:buChar char=""/>
              <a:tabLst>
                <a:tab pos="393216" algn="l"/>
                <a:tab pos="393940" algn="l"/>
              </a:tabLst>
            </a:pPr>
            <a:r>
              <a:rPr sz="2700" dirty="0">
                <a:latin typeface="Arial"/>
                <a:cs typeface="Arial"/>
              </a:rPr>
              <a:t>Um ônibus possui 44 lugares numerados de 0 a 43,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passa  por </a:t>
            </a:r>
            <a:r>
              <a:rPr sz="2700" spc="-6" dirty="0">
                <a:latin typeface="Arial"/>
                <a:cs typeface="Arial"/>
              </a:rPr>
              <a:t>várias </a:t>
            </a:r>
            <a:r>
              <a:rPr sz="2700" dirty="0">
                <a:latin typeface="Arial"/>
                <a:cs typeface="Arial"/>
              </a:rPr>
              <a:t>cidades </a:t>
            </a:r>
            <a:r>
              <a:rPr sz="2700" spc="-6" dirty="0">
                <a:latin typeface="Arial"/>
                <a:cs typeface="Arial"/>
              </a:rPr>
              <a:t>e </a:t>
            </a:r>
            <a:r>
              <a:rPr sz="2700" dirty="0">
                <a:latin typeface="Arial"/>
                <a:cs typeface="Arial"/>
              </a:rPr>
              <a:t>precisa armazenar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  </a:t>
            </a:r>
            <a:r>
              <a:rPr sz="2700" spc="-6" dirty="0">
                <a:latin typeface="Arial"/>
                <a:cs typeface="Arial"/>
              </a:rPr>
              <a:t>abaixo: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0758" y="3534371"/>
            <a:ext cx="2971131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lnSpc>
                <a:spcPct val="154200"/>
              </a:lnSpc>
              <a:tabLst>
                <a:tab pos="1356340" algn="l"/>
                <a:tab pos="2079770" algn="l"/>
                <a:tab pos="2560609" algn="l"/>
                <a:tab pos="2802476" algn="l"/>
                <a:tab pos="2866202" algn="l"/>
              </a:tabLst>
            </a:pPr>
            <a:r>
              <a:rPr sz="2300" dirty="0">
                <a:latin typeface="Arial"/>
                <a:cs typeface="Arial"/>
              </a:rPr>
              <a:t>Nome:_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De: </a:t>
            </a:r>
            <a:r>
              <a:rPr sz="2300" u="heavy" dirty="0">
                <a:latin typeface="Arial"/>
                <a:cs typeface="Arial"/>
              </a:rPr>
              <a:t>				</a:t>
            </a:r>
            <a:r>
              <a:rPr sz="2300" dirty="0">
                <a:latin typeface="Arial"/>
                <a:cs typeface="Arial"/>
              </a:rPr>
              <a:t> Data:_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Poltrona:</a:t>
            </a:r>
            <a:r>
              <a:rPr sz="2300" u="heavy" dirty="0">
                <a:latin typeface="Arial"/>
                <a:cs typeface="Arial"/>
              </a:rPr>
              <a:t> 		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3772" y="3534371"/>
            <a:ext cx="3187227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451" marR="5793" indent="-112968">
              <a:lnSpc>
                <a:spcPct val="154200"/>
              </a:lnSpc>
              <a:tabLst>
                <a:tab pos="2815511" algn="l"/>
                <a:tab pos="2993653" algn="l"/>
                <a:tab pos="3092862" algn="l"/>
              </a:tabLst>
            </a:pPr>
            <a:r>
              <a:rPr sz="2300" dirty="0">
                <a:latin typeface="Arial"/>
                <a:cs typeface="Arial"/>
              </a:rPr>
              <a:t>Número: </a:t>
            </a:r>
            <a:r>
              <a:rPr sz="2300" u="heavy" dirty="0">
                <a:latin typeface="Arial"/>
                <a:cs typeface="Arial"/>
              </a:rPr>
              <a:t>	</a:t>
            </a:r>
            <a:r>
              <a:rPr sz="2300" dirty="0">
                <a:latin typeface="Arial"/>
                <a:cs typeface="Arial"/>
              </a:rPr>
              <a:t> Para: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Horário:_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Distância:</a:t>
            </a:r>
            <a:r>
              <a:rPr sz="2300" u="heavy" dirty="0">
                <a:latin typeface="Arial"/>
                <a:cs typeface="Arial"/>
              </a:rPr>
              <a:t> 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95340" y="3299671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5340" y="3966463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467" y="6295683"/>
            <a:ext cx="362387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43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49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899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49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49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49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899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6" name="object 26"/>
          <p:cNvSpPr/>
          <p:nvPr/>
        </p:nvSpPr>
        <p:spPr>
          <a:xfrm>
            <a:off x="1699062" y="3086971"/>
            <a:ext cx="1878771" cy="575833"/>
          </a:xfrm>
          <a:custGeom>
            <a:avLst/>
            <a:gdLst/>
            <a:ahLst/>
            <a:cxnLst/>
            <a:rect l="l" t="t" r="r" b="b"/>
            <a:pathLst>
              <a:path w="1606550" h="522604">
                <a:moveTo>
                  <a:pt x="0" y="0"/>
                </a:moveTo>
                <a:lnTo>
                  <a:pt x="1606550" y="522350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5040" y="3064580"/>
            <a:ext cx="6987840" cy="607319"/>
          </a:xfrm>
          <a:custGeom>
            <a:avLst/>
            <a:gdLst/>
            <a:ahLst/>
            <a:cxnLst/>
            <a:rect l="l" t="t" r="r" b="b"/>
            <a:pathLst>
              <a:path w="5975350" h="551179">
                <a:moveTo>
                  <a:pt x="0" y="0"/>
                </a:moveTo>
                <a:lnTo>
                  <a:pt x="5975350" y="55092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9062" y="3837023"/>
            <a:ext cx="1893623" cy="1845745"/>
          </a:xfrm>
          <a:custGeom>
            <a:avLst/>
            <a:gdLst/>
            <a:ahLst/>
            <a:cxnLst/>
            <a:rect l="l" t="t" r="r" b="b"/>
            <a:pathLst>
              <a:path w="1619250" h="1675129">
                <a:moveTo>
                  <a:pt x="0" y="0"/>
                </a:moveTo>
                <a:lnTo>
                  <a:pt x="16192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86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5860485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150" y="2166197"/>
            <a:ext cx="310405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209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numero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 marR="261420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origem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destino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data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horario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poltrona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distancia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Passagem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484" y="6596544"/>
            <a:ext cx="7547758" cy="50341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862" rIns="0" bIns="0" rtlCol="0">
            <a:spAutoFit/>
          </a:bodyPr>
          <a:lstStyle/>
          <a:p>
            <a:pPr marL="396112">
              <a:spcBef>
                <a:spcPts val="86"/>
              </a:spcBef>
            </a:pP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spc="-6" dirty="0">
                <a:latin typeface="Courier New"/>
                <a:cs typeface="Courier New"/>
              </a:rPr>
              <a:t>dadosPassagem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45" y="1041398"/>
            <a:ext cx="47310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Definição da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1438533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484" y="2177391"/>
            <a:ext cx="7547758" cy="50048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7966" rIns="0" bIns="0" rtlCol="0">
            <a:spAutoFit/>
          </a:bodyPr>
          <a:lstStyle/>
          <a:p>
            <a:pPr marL="396112">
              <a:spcBef>
                <a:spcPts val="63"/>
              </a:spcBef>
            </a:pPr>
            <a:r>
              <a:rPr sz="3200" b="1" spc="-6" dirty="0">
                <a:latin typeface="Courier New"/>
                <a:cs typeface="Courier New"/>
              </a:rPr>
              <a:t>Passagem</a:t>
            </a:r>
            <a:r>
              <a:rPr sz="3200" b="1" spc="-114" dirty="0">
                <a:latin typeface="Courier New"/>
                <a:cs typeface="Courier New"/>
              </a:rPr>
              <a:t> </a:t>
            </a:r>
            <a:r>
              <a:rPr sz="3200" b="1" spc="-6" dirty="0">
                <a:latin typeface="Courier New"/>
                <a:cs typeface="Courier New"/>
              </a:rPr>
              <a:t>dadosPassagem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b="1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45" y="3417917"/>
            <a:ext cx="771632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Observe </a:t>
            </a:r>
            <a:r>
              <a:rPr sz="3200" spc="-6" dirty="0">
                <a:latin typeface="Arial"/>
                <a:cs typeface="Arial"/>
              </a:rPr>
              <a:t>que cada </a:t>
            </a:r>
            <a:r>
              <a:rPr sz="3200" dirty="0">
                <a:latin typeface="Arial"/>
                <a:cs typeface="Arial"/>
              </a:rPr>
              <a:t>posição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spc="6" dirty="0">
                <a:latin typeface="Arial"/>
                <a:cs typeface="Arial"/>
              </a:rPr>
              <a:t>vetor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estruturas pode ser vista como uma  variável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tipo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Passagem.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395" y="5127224"/>
            <a:ext cx="7907175" cy="995122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138" rIns="0" bIns="0" rtlCol="0">
            <a:spAutoFit/>
          </a:bodyPr>
          <a:lstStyle/>
          <a:p>
            <a:pPr marL="97761" marR="302696">
              <a:spcBef>
                <a:spcPts val="80"/>
              </a:spcBef>
            </a:pPr>
            <a:r>
              <a:rPr sz="3200" spc="-6" dirty="0">
                <a:latin typeface="Courier New"/>
                <a:cs typeface="Courier New"/>
              </a:rPr>
              <a:t>Passagem p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32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21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7" y="1354572"/>
            <a:ext cx="9259445" cy="5152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1044229" indent="-521391">
              <a:buClr>
                <a:srgbClr val="852B34"/>
              </a:buClr>
              <a:buSzPct val="69642"/>
              <a:buChar char="•"/>
              <a:tabLst>
                <a:tab pos="521391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478665">
              <a:spcBef>
                <a:spcPts val="2543"/>
              </a:spcBef>
            </a:pPr>
            <a:r>
              <a:rPr sz="2700" spc="-6" dirty="0">
                <a:latin typeface="Courier New"/>
                <a:cs typeface="Courier New"/>
              </a:rPr>
              <a:t>Passagem</a:t>
            </a:r>
            <a:r>
              <a:rPr sz="2700" spc="-63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478665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78665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R="980505" algn="ctr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6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46" y="1354572"/>
            <a:ext cx="817896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118" y="2654990"/>
            <a:ext cx="1740648" cy="84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284"/>
              </a:lnSpc>
            </a:pPr>
            <a:r>
              <a:rPr sz="2700" spc="-6" dirty="0">
                <a:latin typeface="Courier New"/>
                <a:cs typeface="Courier New"/>
              </a:rPr>
              <a:t>int</a:t>
            </a:r>
            <a:r>
              <a:rPr sz="2700" spc="-108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spc="-6" dirty="0">
                <a:latin typeface="Courier New"/>
                <a:cs typeface="Courier New"/>
              </a:rPr>
              <a:t>Passagem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90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565375" y="3057863"/>
            <a:ext cx="386893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118" y="3461297"/>
            <a:ext cx="3233268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808" y="3461297"/>
            <a:ext cx="152752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i++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8" y="3864310"/>
            <a:ext cx="9424300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9428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639428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L="1265821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710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202" y="3788746"/>
            <a:ext cx="877081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874" algn="l"/>
                <a:tab pos="536597" algn="l"/>
              </a:tabLst>
            </a:pPr>
            <a:r>
              <a:rPr sz="3000" spc="-6" dirty="0">
                <a:latin typeface="Arial"/>
                <a:cs typeface="Arial"/>
              </a:rPr>
              <a:t>Pode-se inicializar um vetor de estruturas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no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11" dirty="0">
                <a:latin typeface="Arial"/>
                <a:cs typeface="Arial"/>
              </a:rPr>
              <a:t>momento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sua criação como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código</a:t>
            </a:r>
            <a:r>
              <a:rPr sz="3000" spc="137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91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811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809" y="3550855"/>
            <a:ext cx="919558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230"/>
              <a:buChar char="•"/>
              <a:tabLst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Se </a:t>
            </a:r>
            <a:r>
              <a:rPr sz="3000" spc="-6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número </a:t>
            </a:r>
            <a:r>
              <a:rPr sz="3000" spc="-6" dirty="0">
                <a:latin typeface="Arial"/>
                <a:cs typeface="Arial"/>
              </a:rPr>
              <a:t>de elementos </a:t>
            </a:r>
            <a:r>
              <a:rPr sz="3000" dirty="0">
                <a:latin typeface="Arial"/>
                <a:cs typeface="Arial"/>
              </a:rPr>
              <a:t>inicializados for </a:t>
            </a:r>
            <a:r>
              <a:rPr sz="3000" spc="-6" dirty="0">
                <a:latin typeface="Arial"/>
                <a:cs typeface="Arial"/>
              </a:rPr>
              <a:t>menor  que </a:t>
            </a: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alocados </a:t>
            </a:r>
            <a:r>
              <a:rPr sz="3000" dirty="0">
                <a:latin typeface="Arial"/>
                <a:cs typeface="Arial"/>
              </a:rPr>
              <a:t>em </a:t>
            </a:r>
            <a:r>
              <a:rPr sz="3000" spc="-6" dirty="0">
                <a:latin typeface="Arial"/>
                <a:cs typeface="Arial"/>
              </a:rPr>
              <a:t>memória,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restante </a:t>
            </a:r>
            <a:r>
              <a:rPr sz="3000" dirty="0">
                <a:latin typeface="Arial"/>
                <a:cs typeface="Arial"/>
              </a:rPr>
              <a:t>do </a:t>
            </a:r>
            <a:r>
              <a:rPr sz="3000" spc="-6" dirty="0">
                <a:latin typeface="Arial"/>
                <a:cs typeface="Arial"/>
              </a:rPr>
              <a:t>vetor  ficará “zerado” (se numérico) ou vazio (se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i="1" spc="-6" dirty="0">
                <a:latin typeface="Arial"/>
                <a:cs typeface="Arial"/>
              </a:rPr>
              <a:t>strings</a:t>
            </a:r>
            <a:r>
              <a:rPr sz="3000" spc="-6" dirty="0">
                <a:latin typeface="Arial"/>
                <a:cs typeface="Arial"/>
              </a:rPr>
              <a:t>).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950" y="6439818"/>
            <a:ext cx="978520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exemplo, o índice 1 do vetor terá descrição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dirty="0">
                <a:latin typeface="Arial"/>
                <a:cs typeface="Arial"/>
              </a:rPr>
              <a:t>e os </a:t>
            </a:r>
            <a:r>
              <a:rPr sz="3000" spc="-6" dirty="0">
                <a:latin typeface="Arial"/>
                <a:cs typeface="Arial"/>
              </a:rPr>
              <a:t>índices </a:t>
            </a:r>
            <a:r>
              <a:rPr sz="3000" dirty="0">
                <a:latin typeface="Arial"/>
                <a:cs typeface="Arial"/>
              </a:rPr>
              <a:t>3, 4 e 5 </a:t>
            </a:r>
            <a:r>
              <a:rPr sz="3000" spc="-6" dirty="0">
                <a:latin typeface="Arial"/>
                <a:cs typeface="Arial"/>
              </a:rPr>
              <a:t>terão código </a:t>
            </a:r>
            <a:r>
              <a:rPr sz="3000" dirty="0">
                <a:latin typeface="Arial"/>
                <a:cs typeface="Arial"/>
              </a:rPr>
              <a:t>0 e </a:t>
            </a:r>
            <a:r>
              <a:rPr sz="3000" spc="-6" dirty="0">
                <a:latin typeface="Arial"/>
                <a:cs typeface="Arial"/>
              </a:rPr>
              <a:t>descrição</a:t>
            </a:r>
            <a:r>
              <a:rPr sz="3000" spc="10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vazia.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023" y="1519416"/>
            <a:ext cx="8303722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Outro </a:t>
            </a:r>
            <a:r>
              <a:rPr sz="3400" spc="-11" dirty="0">
                <a:latin typeface="Arial"/>
                <a:cs typeface="Arial"/>
              </a:rPr>
              <a:t>exemplo </a:t>
            </a:r>
            <a:r>
              <a:rPr sz="3400" spc="-6" dirty="0">
                <a:latin typeface="Arial"/>
                <a:cs typeface="Arial"/>
              </a:rPr>
              <a:t>mais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completo....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5793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Considere que </a:t>
            </a:r>
            <a:r>
              <a:rPr sz="3400" spc="-6" dirty="0">
                <a:latin typeface="Arial"/>
                <a:cs typeface="Arial"/>
              </a:rPr>
              <a:t>você está fazendo um  programa </a:t>
            </a:r>
            <a:r>
              <a:rPr sz="3400" spc="-11" dirty="0">
                <a:latin typeface="Arial"/>
                <a:cs typeface="Arial"/>
              </a:rPr>
              <a:t>que </a:t>
            </a:r>
            <a:r>
              <a:rPr sz="3400" spc="-6" dirty="0">
                <a:latin typeface="Arial"/>
                <a:cs typeface="Arial"/>
              </a:rPr>
              <a:t>leia </a:t>
            </a:r>
            <a:r>
              <a:rPr sz="3400" dirty="0">
                <a:latin typeface="Arial"/>
                <a:cs typeface="Arial"/>
              </a:rPr>
              <a:t>o </a:t>
            </a:r>
            <a:r>
              <a:rPr sz="3400" spc="-6" dirty="0">
                <a:latin typeface="Arial"/>
                <a:cs typeface="Arial"/>
              </a:rPr>
              <a:t>nome </a:t>
            </a:r>
            <a:r>
              <a:rPr sz="3400" dirty="0">
                <a:latin typeface="Arial"/>
                <a:cs typeface="Arial"/>
              </a:rPr>
              <a:t>e as 4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notas  escolares de 8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6634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511" y="7290623"/>
            <a:ext cx="17822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100" dirty="0">
                <a:latin typeface="Times New Roman"/>
                <a:cs typeface="Times New Roman"/>
              </a:rPr>
              <a:t>46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8960" y="1318188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80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33963" y="1362548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9313" y="2298435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2200" y="1869535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43"/>
              </a:spcBef>
              <a:tabLst>
                <a:tab pos="1619208" algn="l"/>
                <a:tab pos="2131185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446" y="179536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0689" y="223476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0689" y="260419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60689" y="3107960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0446" y="1795368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6452" y="179536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07723" y="2234764"/>
            <a:ext cx="0" cy="862001"/>
          </a:xfrm>
          <a:custGeom>
            <a:avLst/>
            <a:gdLst/>
            <a:ahLst/>
            <a:cxnLst/>
            <a:rect l="l" t="t" r="r" b="b"/>
            <a:pathLst>
              <a:path h="782319">
                <a:moveTo>
                  <a:pt x="0" y="0"/>
                </a:moveTo>
                <a:lnTo>
                  <a:pt x="0" y="7823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2200" y="1869535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39"/>
                </a:moveTo>
                <a:lnTo>
                  <a:pt x="2016760" y="1729739"/>
                </a:lnTo>
                <a:lnTo>
                  <a:pt x="201676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1512" y="1875132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6217" y="1919210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41568" y="285467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751" y="2426476"/>
            <a:ext cx="235848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4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37"/>
              </a:spcBef>
              <a:tabLst>
                <a:tab pos="1618484" algn="l"/>
                <a:tab pos="2131185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997" y="235231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03239" y="278890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3239" y="3161135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03239" y="366490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2997" y="2352310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79003" y="235231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0274" y="2788908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44751" y="2426476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40"/>
                </a:moveTo>
                <a:lnTo>
                  <a:pt x="2016760" y="1729740"/>
                </a:lnTo>
                <a:lnTo>
                  <a:pt x="2016760" y="0"/>
                </a:lnTo>
                <a:lnTo>
                  <a:pt x="0" y="0"/>
                </a:lnTo>
                <a:lnTo>
                  <a:pt x="0" y="1729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27920" y="2426475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3073" y="2470135"/>
            <a:ext cx="107528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Nome:_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8274" y="340602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4131" y="2980620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24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9406" y="290365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59649" y="3340252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59649" y="3712479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59649" y="4216246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29406" y="2903655"/>
            <a:ext cx="0" cy="76964"/>
          </a:xfrm>
          <a:custGeom>
            <a:avLst/>
            <a:gdLst/>
            <a:ahLst/>
            <a:cxnLst/>
            <a:rect l="l" t="t" r="r" b="b"/>
            <a:pathLst>
              <a:path h="69850">
                <a:moveTo>
                  <a:pt x="0" y="0"/>
                </a:moveTo>
                <a:lnTo>
                  <a:pt x="0" y="6985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5412" y="290365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09652" y="3340252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4131" y="2980620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1561" y="2980620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64486" y="3024979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686" y="3960864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9165" y="3537561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775">
              <a:lnSpc>
                <a:spcPts val="220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845088">
              <a:spcBef>
                <a:spcPts val="1243"/>
              </a:spcBef>
              <a:tabLst>
                <a:tab pos="1359237" algn="l"/>
                <a:tab pos="18712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63045" y="345779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69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54683" y="3894395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4683" y="4266623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4683" y="4770389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63045" y="3457798"/>
            <a:ext cx="0" cy="79763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238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66082" y="345779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9165" y="3537561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200"/>
                </a:moveTo>
                <a:lnTo>
                  <a:pt x="2014220" y="1727200"/>
                </a:lnTo>
                <a:lnTo>
                  <a:pt x="2014220" y="0"/>
                </a:lnTo>
                <a:lnTo>
                  <a:pt x="0" y="0"/>
                </a:lnTo>
                <a:lnTo>
                  <a:pt x="0" y="172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99165" y="3534764"/>
            <a:ext cx="2103035" cy="1807961"/>
          </a:xfrm>
          <a:custGeom>
            <a:avLst/>
            <a:gdLst/>
            <a:ahLst/>
            <a:cxnLst/>
            <a:rect l="l" t="t" r="r" b="b"/>
            <a:pathLst>
              <a:path w="1798320" h="1640839">
                <a:moveTo>
                  <a:pt x="0" y="1640839"/>
                </a:moveTo>
                <a:lnTo>
                  <a:pt x="1798320" y="1640839"/>
                </a:lnTo>
                <a:lnTo>
                  <a:pt x="179832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01346" y="3578143"/>
            <a:ext cx="10737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66547" y="451360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2403" y="4094503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17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00650" y="4011942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27921" y="4448538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7921" y="4817967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27921" y="5321734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00650" y="4011942"/>
            <a:ext cx="0" cy="82562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93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3684" y="4011942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7925" y="4448539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72403" y="4094503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199"/>
                </a:moveTo>
                <a:lnTo>
                  <a:pt x="2014219" y="1727199"/>
                </a:lnTo>
                <a:lnTo>
                  <a:pt x="2014219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9832" y="4091704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60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332759" y="4136204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7959" y="507195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84266" y="4643049"/>
            <a:ext cx="2355518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794" algn="ctr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926193">
              <a:spcBef>
                <a:spcPts val="1243"/>
              </a:spcBef>
              <a:tabLst>
                <a:tab pos="1440342" algn="l"/>
                <a:tab pos="1952319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231318" y="4568884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39784" y="5005482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39784" y="5377708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9784" y="5881475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31318" y="4568884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37325" y="4568884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84266" y="4643049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67436" y="4648647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669619" y="4692727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34819" y="5628193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0676" y="5199991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5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68922" y="512582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99164" y="556242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99164" y="593185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9164" y="643561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68922" y="5125825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71956" y="512582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46199" y="5562424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0676" y="5199991"/>
            <a:ext cx="2358489" cy="1903119"/>
          </a:xfrm>
          <a:custGeom>
            <a:avLst/>
            <a:gdLst/>
            <a:ahLst/>
            <a:cxnLst/>
            <a:rect l="l" t="t" r="r" b="b"/>
            <a:pathLst>
              <a:path w="2016760" h="1727200">
                <a:moveTo>
                  <a:pt x="0" y="1727199"/>
                </a:moveTo>
                <a:lnTo>
                  <a:pt x="2016760" y="1727199"/>
                </a:lnTo>
                <a:lnTo>
                  <a:pt x="2016760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52863" y="1200644"/>
            <a:ext cx="424468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Esquematica</a:t>
            </a:r>
            <a:r>
              <a:rPr sz="3200" spc="11" dirty="0">
                <a:latin typeface="Arial"/>
                <a:cs typeface="Arial"/>
              </a:rPr>
              <a:t>m</a:t>
            </a:r>
            <a:r>
              <a:rPr sz="3200" dirty="0">
                <a:latin typeface="Arial"/>
                <a:cs typeface="Arial"/>
              </a:rPr>
              <a:t>ente: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798105" y="5199992"/>
            <a:ext cx="2106006" cy="1807961"/>
          </a:xfrm>
          <a:custGeom>
            <a:avLst/>
            <a:gdLst/>
            <a:ahLst/>
            <a:cxnLst/>
            <a:rect l="l" t="t" r="r" b="b"/>
            <a:pathLst>
              <a:path w="1800860" h="1640839">
                <a:moveTo>
                  <a:pt x="0" y="1640839"/>
                </a:moveTo>
                <a:lnTo>
                  <a:pt x="1800860" y="1640839"/>
                </a:lnTo>
                <a:lnTo>
                  <a:pt x="180086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901031" y="5243790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6623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04047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89148" y="5741961"/>
            <a:ext cx="76339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071">
              <a:spcBef>
                <a:spcPts val="1237"/>
              </a:spcBef>
              <a:tabLst>
                <a:tab pos="624221" algn="l"/>
              </a:tabLst>
            </a:pPr>
            <a:r>
              <a:rPr sz="1500" spc="-6" dirty="0">
                <a:latin typeface="Arial"/>
                <a:cs typeface="Arial"/>
              </a:rPr>
              <a:t>1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799592" y="567717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799592" y="6113767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99592" y="6483196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799592" y="6986963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99592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05596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25349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85110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7686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195377" y="7046086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1944" y="65178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57560" y="5962988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52186" y="5408495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09635" y="485183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61635" y="437605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819084" y="38195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41882" y="3184224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86810" y="5122047"/>
            <a:ext cx="2069321" cy="160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004343" y="3923782"/>
            <a:ext cx="4131067" cy="3198918"/>
          </a:xfrm>
          <a:custGeom>
            <a:avLst/>
            <a:gdLst/>
            <a:ahLst/>
            <a:cxnLst/>
            <a:rect l="l" t="t" r="r" b="b"/>
            <a:pathLst>
              <a:path w="3532504" h="2903220">
                <a:moveTo>
                  <a:pt x="3469234" y="43485"/>
                </a:moveTo>
                <a:lnTo>
                  <a:pt x="0" y="2893237"/>
                </a:lnTo>
                <a:lnTo>
                  <a:pt x="8128" y="2903042"/>
                </a:lnTo>
                <a:lnTo>
                  <a:pt x="3477253" y="53250"/>
                </a:lnTo>
                <a:lnTo>
                  <a:pt x="3469234" y="43485"/>
                </a:lnTo>
                <a:close/>
              </a:path>
              <a:path w="3532504" h="2903220">
                <a:moveTo>
                  <a:pt x="3516343" y="35433"/>
                </a:moveTo>
                <a:lnTo>
                  <a:pt x="3479038" y="35433"/>
                </a:lnTo>
                <a:lnTo>
                  <a:pt x="3487039" y="45212"/>
                </a:lnTo>
                <a:lnTo>
                  <a:pt x="3477253" y="53250"/>
                </a:lnTo>
                <a:lnTo>
                  <a:pt x="3497453" y="77851"/>
                </a:lnTo>
                <a:lnTo>
                  <a:pt x="3516343" y="35433"/>
                </a:lnTo>
                <a:close/>
              </a:path>
              <a:path w="3532504" h="2903220">
                <a:moveTo>
                  <a:pt x="3479038" y="35433"/>
                </a:moveTo>
                <a:lnTo>
                  <a:pt x="3469234" y="43485"/>
                </a:lnTo>
                <a:lnTo>
                  <a:pt x="3477253" y="53250"/>
                </a:lnTo>
                <a:lnTo>
                  <a:pt x="3487039" y="45212"/>
                </a:lnTo>
                <a:lnTo>
                  <a:pt x="3479038" y="35433"/>
                </a:lnTo>
                <a:close/>
              </a:path>
              <a:path w="3532504" h="2903220">
                <a:moveTo>
                  <a:pt x="3532124" y="0"/>
                </a:moveTo>
                <a:lnTo>
                  <a:pt x="3449066" y="18923"/>
                </a:lnTo>
                <a:lnTo>
                  <a:pt x="3469234" y="43485"/>
                </a:lnTo>
                <a:lnTo>
                  <a:pt x="3479038" y="35433"/>
                </a:lnTo>
                <a:lnTo>
                  <a:pt x="3516343" y="35433"/>
                </a:lnTo>
                <a:lnTo>
                  <a:pt x="3532124" y="0"/>
                </a:ln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978278" y="2051450"/>
            <a:ext cx="2946626" cy="740409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39828" rIns="0" bIns="0" rtlCol="0">
            <a:spAutoFit/>
          </a:bodyPr>
          <a:lstStyle/>
          <a:p>
            <a:pPr marL="107899">
              <a:lnSpc>
                <a:spcPts val="2737"/>
              </a:lnSpc>
              <a:spcBef>
                <a:spcPts val="314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</a:t>
            </a:r>
            <a:endParaRPr sz="2300">
              <a:latin typeface="Arial"/>
              <a:cs typeface="Arial"/>
            </a:endParaRPr>
          </a:p>
          <a:p>
            <a:pPr marL="487356"/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112" name="object 112"/>
          <p:cNvSpPr/>
          <p:nvPr/>
        </p:nvSpPr>
        <p:spPr>
          <a:xfrm>
            <a:off x="7594808" y="2796943"/>
            <a:ext cx="831709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1071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24024" y="3351728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62071" y="3904891"/>
            <a:ext cx="830966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18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25565" y="4463011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29157" y="5019475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93837" y="5570598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3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8048" y="3338854"/>
            <a:ext cx="4544695" cy="2594398"/>
          </a:xfrm>
          <a:custGeom>
            <a:avLst/>
            <a:gdLst/>
            <a:ahLst/>
            <a:cxnLst/>
            <a:rect l="l" t="t" r="r" b="b"/>
            <a:pathLst>
              <a:path w="3886200" h="2354579">
                <a:moveTo>
                  <a:pt x="0" y="0"/>
                </a:moveTo>
                <a:lnTo>
                  <a:pt x="3886200" y="2354198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2864" y="1200643"/>
            <a:ext cx="890596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Visão esquemática </a:t>
            </a:r>
            <a:r>
              <a:rPr sz="3400" dirty="0">
                <a:latin typeface="Arial"/>
                <a:cs typeface="Arial"/>
              </a:rPr>
              <a:t>do vetor de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estruturas: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483" y="3543158"/>
            <a:ext cx="2694143" cy="775241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41277" rIns="0" bIns="0" rtlCol="0">
            <a:spAutoFit/>
          </a:bodyPr>
          <a:lstStyle/>
          <a:p>
            <a:pPr marL="488080" marR="131072" indent="-379457">
              <a:spcBef>
                <a:spcPts val="325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  escolares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9879" y="3727872"/>
          <a:ext cx="2916920" cy="2236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082"/>
                <a:gridCol w="727745"/>
                <a:gridCol w="727744"/>
                <a:gridCol w="717349"/>
              </a:tblGrid>
              <a:tr h="591926">
                <a:tc gridSpan="4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1766570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Nome:_</a:t>
                      </a:r>
                      <a:r>
                        <a:rPr sz="2200" u="heavy" dirty="0">
                          <a:latin typeface="Arial"/>
                          <a:cs typeface="Arial"/>
                        </a:rPr>
                        <a:t> 	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27939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2129">
                <a:tc gridSpan="4"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900" spc="-10" dirty="0">
                          <a:latin typeface="Arial"/>
                          <a:cs typeface="Arial"/>
                        </a:rPr>
                        <a:t>notas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3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98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  <a:tr h="60312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19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7569" y="2186766"/>
            <a:ext cx="195303" cy="964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7569" y="3508175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569" y="4094224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569" y="4830982"/>
            <a:ext cx="195303" cy="2380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sz="2300" spc="-6" dirty="0"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34"/>
              </a:spcBef>
            </a:pPr>
            <a:endParaRPr sz="2800">
              <a:latin typeface="Times New Roman"/>
              <a:cs typeface="Times New Roman"/>
            </a:endParaRPr>
          </a:p>
          <a:p>
            <a:pPr marL="14483"/>
            <a:r>
              <a:rPr sz="2300" dirty="0"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7" name="object 27"/>
          <p:cNvSpPr/>
          <p:nvPr/>
        </p:nvSpPr>
        <p:spPr>
          <a:xfrm>
            <a:off x="4108048" y="2655970"/>
            <a:ext cx="4529843" cy="1083098"/>
          </a:xfrm>
          <a:custGeom>
            <a:avLst/>
            <a:gdLst/>
            <a:ahLst/>
            <a:cxnLst/>
            <a:rect l="l" t="t" r="r" b="b"/>
            <a:pathLst>
              <a:path w="3873500" h="982979">
                <a:moveTo>
                  <a:pt x="0" y="0"/>
                </a:moveTo>
                <a:lnTo>
                  <a:pt x="3873500" y="982726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887" y="2661566"/>
            <a:ext cx="2315418" cy="1074003"/>
          </a:xfrm>
          <a:custGeom>
            <a:avLst/>
            <a:gdLst/>
            <a:ahLst/>
            <a:cxnLst/>
            <a:rect l="l" t="t" r="r" b="b"/>
            <a:pathLst>
              <a:path w="1979929" h="974725">
                <a:moveTo>
                  <a:pt x="0" y="0"/>
                </a:moveTo>
                <a:lnTo>
                  <a:pt x="1979548" y="974725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1887" y="3324861"/>
            <a:ext cx="2311705" cy="2646874"/>
          </a:xfrm>
          <a:custGeom>
            <a:avLst/>
            <a:gdLst/>
            <a:ahLst/>
            <a:cxnLst/>
            <a:rect l="l" t="t" r="r" b="b"/>
            <a:pathLst>
              <a:path w="1976754" h="2402204">
                <a:moveTo>
                  <a:pt x="0" y="0"/>
                </a:moveTo>
                <a:lnTo>
                  <a:pt x="1976373" y="2401951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50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464" y="1704829"/>
            <a:ext cx="956539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Definição da </a:t>
            </a:r>
            <a:r>
              <a:rPr sz="3400" dirty="0">
                <a:latin typeface="Arial"/>
                <a:cs typeface="Arial"/>
              </a:rPr>
              <a:t>estrutura </a:t>
            </a:r>
            <a:r>
              <a:rPr sz="3400" spc="-6" dirty="0">
                <a:latin typeface="Arial"/>
                <a:cs typeface="Arial"/>
              </a:rPr>
              <a:t>e do </a:t>
            </a:r>
            <a:r>
              <a:rPr sz="3400" dirty="0">
                <a:latin typeface="Arial"/>
                <a:cs typeface="Arial"/>
              </a:rPr>
              <a:t>vetor </a:t>
            </a:r>
            <a:r>
              <a:rPr sz="3400" spc="-6" dirty="0">
                <a:latin typeface="Arial"/>
                <a:cs typeface="Arial"/>
              </a:rPr>
              <a:t>de 8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02804" y="2733913"/>
            <a:ext cx="1280980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str</a:t>
            </a:r>
            <a:r>
              <a:rPr sz="2700" b="1" spc="-23" dirty="0">
                <a:solidFill>
                  <a:srgbClr val="00009F"/>
                </a:solidFill>
                <a:latin typeface="Courier New"/>
                <a:cs typeface="Courier New"/>
              </a:rPr>
              <a:t>u</a:t>
            </a: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491414" y="2733913"/>
            <a:ext cx="1497076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  float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414" y="3540360"/>
            <a:ext cx="3630558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94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1668451"/>
            <a:r>
              <a:rPr sz="2700" spc="-6" dirty="0">
                <a:latin typeface="Courier New"/>
                <a:cs typeface="Courier New"/>
              </a:rPr>
              <a:t>not</a:t>
            </a:r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dirty="0">
                <a:latin typeface="Courier New"/>
                <a:cs typeface="Courier New"/>
              </a:rPr>
              <a:t>s</a:t>
            </a:r>
            <a:r>
              <a:rPr sz="2700" spc="-29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50" y="4346666"/>
            <a:ext cx="1283951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6" dirty="0">
                <a:latin typeface="Courier New"/>
                <a:cs typeface="Courier New"/>
              </a:rPr>
              <a:t>Alun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414" y="5152833"/>
            <a:ext cx="5132089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main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624945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80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notasAlunos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76425"/>
            <a:r>
              <a:rPr sz="2700" spc="-6" dirty="0">
                <a:latin typeface="Courier New"/>
                <a:cs typeface="Courier New"/>
              </a:rPr>
              <a:t>...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536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994" y="4998065"/>
            <a:ext cx="5882855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782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20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2982298"/>
            <a:ext cx="5200408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0" y="0"/>
                </a:moveTo>
                <a:lnTo>
                  <a:pt x="1010538" y="1561845"/>
                </a:lnTo>
                <a:lnTo>
                  <a:pt x="1010538" y="3169030"/>
                </a:lnTo>
                <a:lnTo>
                  <a:pt x="1013405" y="3215185"/>
                </a:lnTo>
                <a:lnTo>
                  <a:pt x="1021775" y="3259627"/>
                </a:lnTo>
                <a:lnTo>
                  <a:pt x="1035303" y="3302013"/>
                </a:lnTo>
                <a:lnTo>
                  <a:pt x="1053645" y="3341998"/>
                </a:lnTo>
                <a:lnTo>
                  <a:pt x="1076456" y="3379238"/>
                </a:lnTo>
                <a:lnTo>
                  <a:pt x="1103392" y="3413387"/>
                </a:lnTo>
                <a:lnTo>
                  <a:pt x="1134106" y="3444101"/>
                </a:lnTo>
                <a:lnTo>
                  <a:pt x="1168256" y="3471035"/>
                </a:lnTo>
                <a:lnTo>
                  <a:pt x="1205495" y="3493845"/>
                </a:lnTo>
                <a:lnTo>
                  <a:pt x="1245480" y="3512186"/>
                </a:lnTo>
                <a:lnTo>
                  <a:pt x="1287865" y="3525714"/>
                </a:lnTo>
                <a:lnTo>
                  <a:pt x="1332306" y="3534083"/>
                </a:lnTo>
                <a:lnTo>
                  <a:pt x="1378458" y="3536950"/>
                </a:lnTo>
                <a:lnTo>
                  <a:pt x="2849880" y="3536950"/>
                </a:lnTo>
                <a:lnTo>
                  <a:pt x="2896031" y="3534083"/>
                </a:lnTo>
                <a:lnTo>
                  <a:pt x="2940472" y="3525714"/>
                </a:lnTo>
                <a:lnTo>
                  <a:pt x="2982857" y="3512186"/>
                </a:lnTo>
                <a:lnTo>
                  <a:pt x="3022842" y="3493845"/>
                </a:lnTo>
                <a:lnTo>
                  <a:pt x="3060081" y="3471035"/>
                </a:lnTo>
                <a:lnTo>
                  <a:pt x="3094231" y="3444101"/>
                </a:lnTo>
                <a:lnTo>
                  <a:pt x="3124945" y="3413387"/>
                </a:lnTo>
                <a:lnTo>
                  <a:pt x="3151881" y="3379238"/>
                </a:lnTo>
                <a:lnTo>
                  <a:pt x="3174692" y="3341998"/>
                </a:lnTo>
                <a:lnTo>
                  <a:pt x="3193034" y="3302013"/>
                </a:lnTo>
                <a:lnTo>
                  <a:pt x="3206562" y="3259627"/>
                </a:lnTo>
                <a:lnTo>
                  <a:pt x="3214932" y="3215185"/>
                </a:lnTo>
                <a:lnTo>
                  <a:pt x="3217798" y="3169030"/>
                </a:lnTo>
                <a:lnTo>
                  <a:pt x="3217798" y="715390"/>
                </a:lnTo>
                <a:lnTo>
                  <a:pt x="1010538" y="715390"/>
                </a:lnTo>
                <a:lnTo>
                  <a:pt x="0" y="0"/>
                </a:lnTo>
                <a:close/>
              </a:path>
              <a:path w="3218179" h="3536950">
                <a:moveTo>
                  <a:pt x="2849880" y="151129"/>
                </a:moveTo>
                <a:lnTo>
                  <a:pt x="1378458" y="151129"/>
                </a:lnTo>
                <a:lnTo>
                  <a:pt x="1332306" y="153996"/>
                </a:lnTo>
                <a:lnTo>
                  <a:pt x="1287865" y="162366"/>
                </a:lnTo>
                <a:lnTo>
                  <a:pt x="1245480" y="175894"/>
                </a:lnTo>
                <a:lnTo>
                  <a:pt x="1205495" y="194236"/>
                </a:lnTo>
                <a:lnTo>
                  <a:pt x="1168256" y="217047"/>
                </a:lnTo>
                <a:lnTo>
                  <a:pt x="1134106" y="243983"/>
                </a:lnTo>
                <a:lnTo>
                  <a:pt x="1103392" y="274697"/>
                </a:lnTo>
                <a:lnTo>
                  <a:pt x="1076456" y="308847"/>
                </a:lnTo>
                <a:lnTo>
                  <a:pt x="1053645" y="346086"/>
                </a:lnTo>
                <a:lnTo>
                  <a:pt x="1035303" y="386071"/>
                </a:lnTo>
                <a:lnTo>
                  <a:pt x="1021775" y="428456"/>
                </a:lnTo>
                <a:lnTo>
                  <a:pt x="1013405" y="472897"/>
                </a:lnTo>
                <a:lnTo>
                  <a:pt x="1010538" y="519049"/>
                </a:lnTo>
                <a:lnTo>
                  <a:pt x="1010538" y="715390"/>
                </a:lnTo>
                <a:lnTo>
                  <a:pt x="3217798" y="715390"/>
                </a:lnTo>
                <a:lnTo>
                  <a:pt x="3217798" y="519049"/>
                </a:lnTo>
                <a:lnTo>
                  <a:pt x="3214932" y="472897"/>
                </a:lnTo>
                <a:lnTo>
                  <a:pt x="3206562" y="428456"/>
                </a:lnTo>
                <a:lnTo>
                  <a:pt x="3193034" y="386071"/>
                </a:lnTo>
                <a:lnTo>
                  <a:pt x="3174692" y="346086"/>
                </a:lnTo>
                <a:lnTo>
                  <a:pt x="3151881" y="308847"/>
                </a:lnTo>
                <a:lnTo>
                  <a:pt x="3124945" y="274697"/>
                </a:lnTo>
                <a:lnTo>
                  <a:pt x="3094231" y="243983"/>
                </a:lnTo>
                <a:lnTo>
                  <a:pt x="3060081" y="217047"/>
                </a:lnTo>
                <a:lnTo>
                  <a:pt x="3022842" y="194236"/>
                </a:lnTo>
                <a:lnTo>
                  <a:pt x="2982857" y="175894"/>
                </a:lnTo>
                <a:lnTo>
                  <a:pt x="2940472" y="162366"/>
                </a:lnTo>
                <a:lnTo>
                  <a:pt x="2896031" y="153996"/>
                </a:lnTo>
                <a:lnTo>
                  <a:pt x="2849880" y="15112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1010538" y="519049"/>
                </a:moveTo>
                <a:lnTo>
                  <a:pt x="1013405" y="472897"/>
                </a:lnTo>
                <a:lnTo>
                  <a:pt x="1021775" y="428456"/>
                </a:lnTo>
                <a:lnTo>
                  <a:pt x="1035303" y="386071"/>
                </a:lnTo>
                <a:lnTo>
                  <a:pt x="1053645" y="346086"/>
                </a:lnTo>
                <a:lnTo>
                  <a:pt x="1076456" y="308847"/>
                </a:lnTo>
                <a:lnTo>
                  <a:pt x="1103392" y="274697"/>
                </a:lnTo>
                <a:lnTo>
                  <a:pt x="1134106" y="243983"/>
                </a:lnTo>
                <a:lnTo>
                  <a:pt x="1168256" y="217047"/>
                </a:lnTo>
                <a:lnTo>
                  <a:pt x="1205495" y="194236"/>
                </a:lnTo>
                <a:lnTo>
                  <a:pt x="1245480" y="175894"/>
                </a:lnTo>
                <a:lnTo>
                  <a:pt x="1287865" y="162366"/>
                </a:lnTo>
                <a:lnTo>
                  <a:pt x="1332306" y="153996"/>
                </a:lnTo>
                <a:lnTo>
                  <a:pt x="1378458" y="151129"/>
                </a:lnTo>
                <a:lnTo>
                  <a:pt x="1930272" y="151129"/>
                </a:lnTo>
                <a:lnTo>
                  <a:pt x="2849880" y="151129"/>
                </a:lnTo>
                <a:lnTo>
                  <a:pt x="2896031" y="153996"/>
                </a:lnTo>
                <a:lnTo>
                  <a:pt x="2940472" y="162366"/>
                </a:lnTo>
                <a:lnTo>
                  <a:pt x="2982857" y="175894"/>
                </a:lnTo>
                <a:lnTo>
                  <a:pt x="3022842" y="194236"/>
                </a:lnTo>
                <a:lnTo>
                  <a:pt x="3060081" y="217047"/>
                </a:lnTo>
                <a:lnTo>
                  <a:pt x="3094231" y="243983"/>
                </a:lnTo>
                <a:lnTo>
                  <a:pt x="3124945" y="274697"/>
                </a:lnTo>
                <a:lnTo>
                  <a:pt x="3151881" y="308847"/>
                </a:lnTo>
                <a:lnTo>
                  <a:pt x="3174692" y="346086"/>
                </a:lnTo>
                <a:lnTo>
                  <a:pt x="3193034" y="386071"/>
                </a:lnTo>
                <a:lnTo>
                  <a:pt x="3206562" y="428456"/>
                </a:lnTo>
                <a:lnTo>
                  <a:pt x="3214932" y="472897"/>
                </a:lnTo>
                <a:lnTo>
                  <a:pt x="3217798" y="519049"/>
                </a:lnTo>
                <a:lnTo>
                  <a:pt x="3217798" y="715390"/>
                </a:lnTo>
                <a:lnTo>
                  <a:pt x="3217798" y="1561845"/>
                </a:lnTo>
                <a:lnTo>
                  <a:pt x="3217798" y="3169030"/>
                </a:lnTo>
                <a:lnTo>
                  <a:pt x="3214932" y="3215185"/>
                </a:lnTo>
                <a:lnTo>
                  <a:pt x="3206562" y="3259627"/>
                </a:lnTo>
                <a:lnTo>
                  <a:pt x="3193034" y="3302013"/>
                </a:lnTo>
                <a:lnTo>
                  <a:pt x="3174692" y="3341998"/>
                </a:lnTo>
                <a:lnTo>
                  <a:pt x="3151881" y="3379238"/>
                </a:lnTo>
                <a:lnTo>
                  <a:pt x="3124945" y="3413387"/>
                </a:lnTo>
                <a:lnTo>
                  <a:pt x="3094231" y="3444101"/>
                </a:lnTo>
                <a:lnTo>
                  <a:pt x="3060081" y="3471035"/>
                </a:lnTo>
                <a:lnTo>
                  <a:pt x="3022842" y="3493845"/>
                </a:lnTo>
                <a:lnTo>
                  <a:pt x="2982857" y="3512186"/>
                </a:lnTo>
                <a:lnTo>
                  <a:pt x="2940472" y="3525714"/>
                </a:lnTo>
                <a:lnTo>
                  <a:pt x="2896031" y="3534083"/>
                </a:lnTo>
                <a:lnTo>
                  <a:pt x="2849880" y="3536950"/>
                </a:lnTo>
                <a:lnTo>
                  <a:pt x="1930272" y="3536950"/>
                </a:lnTo>
                <a:lnTo>
                  <a:pt x="1378458" y="3536950"/>
                </a:lnTo>
                <a:lnTo>
                  <a:pt x="1332306" y="3534083"/>
                </a:lnTo>
                <a:lnTo>
                  <a:pt x="1287865" y="3525714"/>
                </a:lnTo>
                <a:lnTo>
                  <a:pt x="1245480" y="3512186"/>
                </a:lnTo>
                <a:lnTo>
                  <a:pt x="1205495" y="3493845"/>
                </a:lnTo>
                <a:lnTo>
                  <a:pt x="1168256" y="3471035"/>
                </a:lnTo>
                <a:lnTo>
                  <a:pt x="1134106" y="3444101"/>
                </a:lnTo>
                <a:lnTo>
                  <a:pt x="1103392" y="3413387"/>
                </a:lnTo>
                <a:lnTo>
                  <a:pt x="1076456" y="3379238"/>
                </a:lnTo>
                <a:lnTo>
                  <a:pt x="1053645" y="3341998"/>
                </a:lnTo>
                <a:lnTo>
                  <a:pt x="1035303" y="3302013"/>
                </a:lnTo>
                <a:lnTo>
                  <a:pt x="1021775" y="3259627"/>
                </a:lnTo>
                <a:lnTo>
                  <a:pt x="1013405" y="3215185"/>
                </a:lnTo>
                <a:lnTo>
                  <a:pt x="1010538" y="3169030"/>
                </a:lnTo>
                <a:lnTo>
                  <a:pt x="1010538" y="1561845"/>
                </a:lnTo>
                <a:lnTo>
                  <a:pt x="0" y="0"/>
                </a:lnTo>
                <a:lnTo>
                  <a:pt x="1010538" y="715390"/>
                </a:lnTo>
                <a:lnTo>
                  <a:pt x="1010538" y="5190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5348" y="3069479"/>
            <a:ext cx="2314676" cy="101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38" marR="126727" algn="ctr"/>
            <a:r>
              <a:rPr spc="-6" dirty="0">
                <a:latin typeface="Arial"/>
                <a:cs typeface="Arial"/>
              </a:rPr>
              <a:t>Assim como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ocorre  com tipos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básicos: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1368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98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8508382" y="4043846"/>
            <a:ext cx="1430242" cy="5492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uma</a:t>
            </a:r>
            <a:r>
              <a:rPr spc="-86" dirty="0">
                <a:latin typeface="Arial"/>
                <a:cs typeface="Arial"/>
              </a:rPr>
              <a:t> </a:t>
            </a:r>
            <a:r>
              <a:rPr b="1" spc="-17" dirty="0">
                <a:solidFill>
                  <a:srgbClr val="00664D"/>
                </a:solidFill>
                <a:latin typeface="Arial"/>
                <a:cs typeface="Arial"/>
              </a:rPr>
              <a:t>variável</a:t>
            </a:r>
            <a:endParaRPr>
              <a:latin typeface="Arial"/>
              <a:cs typeface="Arial"/>
            </a:endParaRPr>
          </a:p>
          <a:p>
            <a:pPr marL="60829"/>
            <a:r>
              <a:rPr spc="-11" dirty="0">
                <a:latin typeface="Arial"/>
                <a:cs typeface="Arial"/>
              </a:rPr>
              <a:t>passada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por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5347" y="4581057"/>
            <a:ext cx="2315418" cy="946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2172" algn="ctr"/>
            <a:r>
              <a:rPr spc="-6" dirty="0">
                <a:latin typeface="Arial"/>
                <a:cs typeface="Arial"/>
              </a:rPr>
              <a:t>parâmetro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não têm  efeito </a:t>
            </a:r>
            <a:r>
              <a:rPr dirty="0">
                <a:latin typeface="Arial"/>
                <a:cs typeface="Arial"/>
              </a:rPr>
              <a:t>fora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função;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912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156" y="5499453"/>
            <a:ext cx="187877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-4345" algn="ctr"/>
            <a:r>
              <a:rPr spc="-11" dirty="0">
                <a:latin typeface="Arial"/>
                <a:cs typeface="Arial"/>
              </a:rPr>
              <a:t>um </a:t>
            </a:r>
            <a:r>
              <a:rPr b="1" spc="-11" dirty="0">
                <a:solidFill>
                  <a:srgbClr val="00664D"/>
                </a:solidFill>
                <a:latin typeface="Arial"/>
                <a:cs typeface="Arial"/>
              </a:rPr>
              <a:t>vetor são 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mantidas </a:t>
            </a:r>
            <a:r>
              <a:rPr dirty="0">
                <a:latin typeface="Arial"/>
                <a:cs typeface="Arial"/>
              </a:rPr>
              <a:t>fora</a:t>
            </a:r>
            <a:r>
              <a:rPr spc="-6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da  </a:t>
            </a:r>
            <a:r>
              <a:rPr spc="-6" dirty="0">
                <a:latin typeface="Arial"/>
                <a:cs typeface="Arial"/>
              </a:rPr>
              <a:t>função.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5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3318142"/>
            <a:ext cx="5200408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142" y="4998064"/>
            <a:ext cx="5912559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70967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1244600" y="0"/>
                </a:moveTo>
                <a:lnTo>
                  <a:pt x="124460" y="0"/>
                </a:lnTo>
                <a:lnTo>
                  <a:pt x="76016" y="9784"/>
                </a:lnTo>
                <a:lnTo>
                  <a:pt x="36455" y="36464"/>
                </a:lnTo>
                <a:lnTo>
                  <a:pt x="9781" y="76027"/>
                </a:lnTo>
                <a:lnTo>
                  <a:pt x="0" y="124460"/>
                </a:lnTo>
                <a:lnTo>
                  <a:pt x="0" y="622300"/>
                </a:lnTo>
                <a:lnTo>
                  <a:pt x="9781" y="670732"/>
                </a:lnTo>
                <a:lnTo>
                  <a:pt x="36455" y="710295"/>
                </a:lnTo>
                <a:lnTo>
                  <a:pt x="76016" y="736975"/>
                </a:lnTo>
                <a:lnTo>
                  <a:pt x="124460" y="746760"/>
                </a:lnTo>
                <a:lnTo>
                  <a:pt x="1244600" y="746760"/>
                </a:lnTo>
                <a:lnTo>
                  <a:pt x="1293032" y="736975"/>
                </a:lnTo>
                <a:lnTo>
                  <a:pt x="1332595" y="710295"/>
                </a:lnTo>
                <a:lnTo>
                  <a:pt x="1359275" y="670732"/>
                </a:lnTo>
                <a:lnTo>
                  <a:pt x="1369060" y="622300"/>
                </a:lnTo>
                <a:lnTo>
                  <a:pt x="1369060" y="311150"/>
                </a:lnTo>
                <a:lnTo>
                  <a:pt x="1702943" y="276733"/>
                </a:lnTo>
                <a:lnTo>
                  <a:pt x="1369060" y="124460"/>
                </a:lnTo>
                <a:lnTo>
                  <a:pt x="1359275" y="76027"/>
                </a:lnTo>
                <a:lnTo>
                  <a:pt x="1332595" y="36464"/>
                </a:lnTo>
                <a:lnTo>
                  <a:pt x="1293032" y="9784"/>
                </a:lnTo>
                <a:lnTo>
                  <a:pt x="12446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0" y="124460"/>
                </a:moveTo>
                <a:lnTo>
                  <a:pt x="9781" y="76027"/>
                </a:lnTo>
                <a:lnTo>
                  <a:pt x="36455" y="36464"/>
                </a:lnTo>
                <a:lnTo>
                  <a:pt x="76016" y="9784"/>
                </a:lnTo>
                <a:lnTo>
                  <a:pt x="124460" y="0"/>
                </a:lnTo>
                <a:lnTo>
                  <a:pt x="798614" y="0"/>
                </a:lnTo>
                <a:lnTo>
                  <a:pt x="1140841" y="0"/>
                </a:lnTo>
                <a:lnTo>
                  <a:pt x="1244600" y="0"/>
                </a:lnTo>
                <a:lnTo>
                  <a:pt x="1293032" y="9784"/>
                </a:lnTo>
                <a:lnTo>
                  <a:pt x="1332595" y="36464"/>
                </a:lnTo>
                <a:lnTo>
                  <a:pt x="1359275" y="76027"/>
                </a:lnTo>
                <a:lnTo>
                  <a:pt x="1369060" y="124460"/>
                </a:lnTo>
                <a:lnTo>
                  <a:pt x="1702943" y="276733"/>
                </a:lnTo>
                <a:lnTo>
                  <a:pt x="1369060" y="311150"/>
                </a:lnTo>
                <a:lnTo>
                  <a:pt x="1369060" y="622300"/>
                </a:lnTo>
                <a:lnTo>
                  <a:pt x="1359275" y="670732"/>
                </a:lnTo>
                <a:lnTo>
                  <a:pt x="1332595" y="710295"/>
                </a:lnTo>
                <a:lnTo>
                  <a:pt x="1293032" y="736975"/>
                </a:lnTo>
                <a:lnTo>
                  <a:pt x="1244600" y="746760"/>
                </a:lnTo>
                <a:lnTo>
                  <a:pt x="1140841" y="746760"/>
                </a:lnTo>
                <a:lnTo>
                  <a:pt x="798614" y="746760"/>
                </a:lnTo>
                <a:lnTo>
                  <a:pt x="124460" y="746760"/>
                </a:lnTo>
                <a:lnTo>
                  <a:pt x="76016" y="736975"/>
                </a:lnTo>
                <a:lnTo>
                  <a:pt x="36455" y="710295"/>
                </a:lnTo>
                <a:lnTo>
                  <a:pt x="9781" y="670732"/>
                </a:lnTo>
                <a:lnTo>
                  <a:pt x="0" y="622300"/>
                </a:lnTo>
                <a:lnTo>
                  <a:pt x="0" y="311150"/>
                </a:lnTo>
                <a:lnTo>
                  <a:pt x="0" y="124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880" y="3275183"/>
            <a:ext cx="1491135" cy="54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42"/>
            <a:r>
              <a:rPr spc="-11" dirty="0">
                <a:latin typeface="Arial"/>
                <a:cs typeface="Arial"/>
              </a:rPr>
              <a:t>Laço para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ler</a:t>
            </a:r>
            <a:endParaRPr>
              <a:latin typeface="Arial"/>
              <a:cs typeface="Arial"/>
            </a:endParaRPr>
          </a:p>
          <a:p>
            <a:pPr marL="14483"/>
            <a:r>
              <a:rPr spc="-11" dirty="0">
                <a:latin typeface="Arial"/>
                <a:cs typeface="Arial"/>
              </a:rPr>
              <a:t>os </a:t>
            </a:r>
            <a:r>
              <a:rPr spc="-6" dirty="0">
                <a:latin typeface="Arial"/>
                <a:cs typeface="Arial"/>
              </a:rPr>
              <a:t>oito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2247" y="3303870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0"/>
                </a:lnTo>
                <a:lnTo>
                  <a:pt x="4752340" y="300608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79"/>
                </a:lnTo>
                <a:lnTo>
                  <a:pt x="60070" y="360679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8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22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4326516"/>
            <a:ext cx="5200408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143" y="5670174"/>
            <a:ext cx="565115" cy="7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1446148" y="0"/>
                </a:moveTo>
                <a:lnTo>
                  <a:pt x="136321" y="0"/>
                </a:lnTo>
                <a:lnTo>
                  <a:pt x="93234" y="6954"/>
                </a:lnTo>
                <a:lnTo>
                  <a:pt x="55813" y="26314"/>
                </a:lnTo>
                <a:lnTo>
                  <a:pt x="26303" y="55824"/>
                </a:lnTo>
                <a:lnTo>
                  <a:pt x="6950" y="93228"/>
                </a:lnTo>
                <a:lnTo>
                  <a:pt x="0" y="136271"/>
                </a:lnTo>
                <a:lnTo>
                  <a:pt x="0" y="681608"/>
                </a:lnTo>
                <a:lnTo>
                  <a:pt x="6950" y="724651"/>
                </a:lnTo>
                <a:lnTo>
                  <a:pt x="26303" y="762055"/>
                </a:lnTo>
                <a:lnTo>
                  <a:pt x="55813" y="791565"/>
                </a:lnTo>
                <a:lnTo>
                  <a:pt x="93234" y="810925"/>
                </a:lnTo>
                <a:lnTo>
                  <a:pt x="136321" y="817880"/>
                </a:lnTo>
                <a:lnTo>
                  <a:pt x="1446148" y="817880"/>
                </a:lnTo>
                <a:lnTo>
                  <a:pt x="1489191" y="810925"/>
                </a:lnTo>
                <a:lnTo>
                  <a:pt x="1526595" y="791565"/>
                </a:lnTo>
                <a:lnTo>
                  <a:pt x="1556105" y="762055"/>
                </a:lnTo>
                <a:lnTo>
                  <a:pt x="1575465" y="724651"/>
                </a:lnTo>
                <a:lnTo>
                  <a:pt x="1582420" y="681608"/>
                </a:lnTo>
                <a:lnTo>
                  <a:pt x="1582420" y="340741"/>
                </a:lnTo>
                <a:lnTo>
                  <a:pt x="2023088" y="340741"/>
                </a:lnTo>
                <a:lnTo>
                  <a:pt x="1582420" y="136271"/>
                </a:lnTo>
                <a:lnTo>
                  <a:pt x="1575465" y="93228"/>
                </a:lnTo>
                <a:lnTo>
                  <a:pt x="1556105" y="55824"/>
                </a:lnTo>
                <a:lnTo>
                  <a:pt x="1526595" y="26314"/>
                </a:lnTo>
                <a:lnTo>
                  <a:pt x="1489191" y="6954"/>
                </a:lnTo>
                <a:lnTo>
                  <a:pt x="1446148" y="0"/>
                </a:lnTo>
                <a:close/>
              </a:path>
              <a:path w="2106295" h="817879">
                <a:moveTo>
                  <a:pt x="2023088" y="340741"/>
                </a:moveTo>
                <a:lnTo>
                  <a:pt x="1582420" y="340741"/>
                </a:lnTo>
                <a:lnTo>
                  <a:pt x="2106295" y="379349"/>
                </a:lnTo>
                <a:lnTo>
                  <a:pt x="2023088" y="340741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0" y="136271"/>
                </a:moveTo>
                <a:lnTo>
                  <a:pt x="6950" y="93228"/>
                </a:lnTo>
                <a:lnTo>
                  <a:pt x="26303" y="55824"/>
                </a:lnTo>
                <a:lnTo>
                  <a:pt x="55813" y="26314"/>
                </a:lnTo>
                <a:lnTo>
                  <a:pt x="93234" y="6954"/>
                </a:lnTo>
                <a:lnTo>
                  <a:pt x="136321" y="0"/>
                </a:lnTo>
                <a:lnTo>
                  <a:pt x="923074" y="0"/>
                </a:lnTo>
                <a:lnTo>
                  <a:pt x="1318641" y="0"/>
                </a:lnTo>
                <a:lnTo>
                  <a:pt x="1446148" y="0"/>
                </a:lnTo>
                <a:lnTo>
                  <a:pt x="1489191" y="6954"/>
                </a:lnTo>
                <a:lnTo>
                  <a:pt x="1526595" y="26314"/>
                </a:lnTo>
                <a:lnTo>
                  <a:pt x="1556105" y="55824"/>
                </a:lnTo>
                <a:lnTo>
                  <a:pt x="1575465" y="93228"/>
                </a:lnTo>
                <a:lnTo>
                  <a:pt x="1582420" y="136271"/>
                </a:lnTo>
                <a:lnTo>
                  <a:pt x="2106295" y="379349"/>
                </a:lnTo>
                <a:lnTo>
                  <a:pt x="1582420" y="340741"/>
                </a:lnTo>
                <a:lnTo>
                  <a:pt x="1582420" y="681608"/>
                </a:lnTo>
                <a:lnTo>
                  <a:pt x="1575465" y="724651"/>
                </a:lnTo>
                <a:lnTo>
                  <a:pt x="1556105" y="762055"/>
                </a:lnTo>
                <a:lnTo>
                  <a:pt x="1526595" y="791565"/>
                </a:lnTo>
                <a:lnTo>
                  <a:pt x="1489191" y="810925"/>
                </a:lnTo>
                <a:lnTo>
                  <a:pt x="1446148" y="817880"/>
                </a:lnTo>
                <a:lnTo>
                  <a:pt x="1318641" y="817880"/>
                </a:lnTo>
                <a:lnTo>
                  <a:pt x="923074" y="817880"/>
                </a:lnTo>
                <a:lnTo>
                  <a:pt x="136321" y="817880"/>
                </a:lnTo>
                <a:lnTo>
                  <a:pt x="93234" y="810925"/>
                </a:lnTo>
                <a:lnTo>
                  <a:pt x="55813" y="791565"/>
                </a:lnTo>
                <a:lnTo>
                  <a:pt x="26303" y="762055"/>
                </a:lnTo>
                <a:lnTo>
                  <a:pt x="6950" y="724651"/>
                </a:lnTo>
                <a:lnTo>
                  <a:pt x="0" y="681608"/>
                </a:lnTo>
                <a:lnTo>
                  <a:pt x="0" y="340741"/>
                </a:lnTo>
                <a:lnTo>
                  <a:pt x="0" y="13627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1473" y="3821909"/>
            <a:ext cx="138865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gets é</a:t>
            </a:r>
            <a:r>
              <a:rPr spc="-46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usado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984" y="4090726"/>
            <a:ext cx="169386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para ler 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nome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125" y="4359261"/>
            <a:ext cx="151935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de cada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21869" y="4376613"/>
            <a:ext cx="1702033" cy="1097792"/>
          </a:xfrm>
          <a:custGeom>
            <a:avLst/>
            <a:gdLst/>
            <a:ahLst/>
            <a:cxnLst/>
            <a:rect l="l" t="t" r="r" b="b"/>
            <a:pathLst>
              <a:path w="1455420" h="996314">
                <a:moveTo>
                  <a:pt x="1330960" y="249428"/>
                </a:moveTo>
                <a:lnTo>
                  <a:pt x="124460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60"/>
                </a:lnTo>
                <a:lnTo>
                  <a:pt x="36464" y="959723"/>
                </a:lnTo>
                <a:lnTo>
                  <a:pt x="76027" y="986403"/>
                </a:lnTo>
                <a:lnTo>
                  <a:pt x="124460" y="996188"/>
                </a:lnTo>
                <a:lnTo>
                  <a:pt x="1330960" y="996188"/>
                </a:lnTo>
                <a:lnTo>
                  <a:pt x="1379392" y="986403"/>
                </a:lnTo>
                <a:lnTo>
                  <a:pt x="1418955" y="959723"/>
                </a:lnTo>
                <a:lnTo>
                  <a:pt x="1445635" y="920160"/>
                </a:lnTo>
                <a:lnTo>
                  <a:pt x="1455420" y="871728"/>
                </a:lnTo>
                <a:lnTo>
                  <a:pt x="1455420" y="373888"/>
                </a:lnTo>
                <a:lnTo>
                  <a:pt x="1445635" y="325455"/>
                </a:lnTo>
                <a:lnTo>
                  <a:pt x="1418955" y="285892"/>
                </a:lnTo>
                <a:lnTo>
                  <a:pt x="1379392" y="259212"/>
                </a:lnTo>
                <a:lnTo>
                  <a:pt x="1330960" y="249428"/>
                </a:lnTo>
                <a:close/>
              </a:path>
              <a:path w="1455420" h="996314">
                <a:moveTo>
                  <a:pt x="1093470" y="0"/>
                </a:moveTo>
                <a:lnTo>
                  <a:pt x="848995" y="249428"/>
                </a:lnTo>
                <a:lnTo>
                  <a:pt x="1212850" y="249428"/>
                </a:lnTo>
                <a:lnTo>
                  <a:pt x="109347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21869" y="4376613"/>
            <a:ext cx="1702033" cy="1097792"/>
          </a:xfrm>
          <a:custGeom>
            <a:avLst/>
            <a:gdLst/>
            <a:ahLst/>
            <a:cxnLst/>
            <a:rect l="l" t="t" r="r" b="b"/>
            <a:pathLst>
              <a:path w="145542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60" y="249428"/>
                </a:lnTo>
                <a:lnTo>
                  <a:pt x="848995" y="249428"/>
                </a:lnTo>
                <a:lnTo>
                  <a:pt x="1093470" y="0"/>
                </a:lnTo>
                <a:lnTo>
                  <a:pt x="1212850" y="249428"/>
                </a:lnTo>
                <a:lnTo>
                  <a:pt x="1330960" y="249428"/>
                </a:lnTo>
                <a:lnTo>
                  <a:pt x="1379392" y="259212"/>
                </a:lnTo>
                <a:lnTo>
                  <a:pt x="1418955" y="285892"/>
                </a:lnTo>
                <a:lnTo>
                  <a:pt x="1445635" y="325455"/>
                </a:lnTo>
                <a:lnTo>
                  <a:pt x="1455420" y="373888"/>
                </a:lnTo>
                <a:lnTo>
                  <a:pt x="1455420" y="560578"/>
                </a:lnTo>
                <a:lnTo>
                  <a:pt x="1455420" y="871728"/>
                </a:lnTo>
                <a:lnTo>
                  <a:pt x="1445635" y="920160"/>
                </a:lnTo>
                <a:lnTo>
                  <a:pt x="1418955" y="959723"/>
                </a:lnTo>
                <a:lnTo>
                  <a:pt x="1379392" y="986403"/>
                </a:lnTo>
                <a:lnTo>
                  <a:pt x="1330960" y="996188"/>
                </a:lnTo>
                <a:lnTo>
                  <a:pt x="1212850" y="996188"/>
                </a:lnTo>
                <a:lnTo>
                  <a:pt x="848995" y="996188"/>
                </a:lnTo>
                <a:lnTo>
                  <a:pt x="124460" y="996188"/>
                </a:lnTo>
                <a:lnTo>
                  <a:pt x="76027" y="986403"/>
                </a:lnTo>
                <a:lnTo>
                  <a:pt x="36464" y="959723"/>
                </a:lnTo>
                <a:lnTo>
                  <a:pt x="9784" y="920160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16680" y="4655223"/>
            <a:ext cx="111166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Índice i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100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513" dirty="0">
                <a:latin typeface="Courier New"/>
                <a:cs typeface="Courier New"/>
              </a:rPr>
              <a:t>s</a:t>
            </a:r>
            <a:r>
              <a:rPr sz="2700" spc="-770" baseline="32986" dirty="0">
                <a:latin typeface="Arial"/>
                <a:cs typeface="Arial"/>
              </a:rPr>
              <a:t>v</a:t>
            </a:r>
            <a:r>
              <a:rPr sz="2300" spc="-513" dirty="0">
                <a:latin typeface="Courier New"/>
                <a:cs typeface="Courier New"/>
              </a:rPr>
              <a:t>c</a:t>
            </a:r>
            <a:r>
              <a:rPr sz="2700" spc="-770" baseline="32986" dirty="0">
                <a:latin typeface="Arial"/>
                <a:cs typeface="Arial"/>
              </a:rPr>
              <a:t>e</a:t>
            </a:r>
            <a:r>
              <a:rPr sz="2300" spc="-513" dirty="0">
                <a:latin typeface="Courier New"/>
                <a:cs typeface="Courier New"/>
              </a:rPr>
              <a:t>a</a:t>
            </a:r>
            <a:r>
              <a:rPr sz="2700" spc="-770" baseline="32986" dirty="0">
                <a:latin typeface="Arial"/>
                <a:cs typeface="Arial"/>
              </a:rPr>
              <a:t>to</a:t>
            </a:r>
            <a:r>
              <a:rPr sz="2300" spc="-513" dirty="0">
                <a:latin typeface="Courier New"/>
                <a:cs typeface="Courier New"/>
              </a:rPr>
              <a:t>n</a:t>
            </a:r>
            <a:r>
              <a:rPr sz="2700" spc="-770" baseline="32986" dirty="0">
                <a:latin typeface="Arial"/>
                <a:cs typeface="Arial"/>
              </a:rPr>
              <a:t>r</a:t>
            </a:r>
            <a:r>
              <a:rPr sz="2700" spc="-76" baseline="32986" dirty="0">
                <a:latin typeface="Arial"/>
                <a:cs typeface="Arial"/>
              </a:rPr>
              <a:t> </a:t>
            </a:r>
            <a:r>
              <a:rPr sz="2300" spc="-86" dirty="0">
                <a:latin typeface="Courier New"/>
                <a:cs typeface="Courier New"/>
              </a:rPr>
              <a:t>f</a:t>
            </a:r>
            <a:r>
              <a:rPr sz="2700" spc="-128" baseline="32986" dirty="0">
                <a:latin typeface="Arial"/>
                <a:cs typeface="Arial"/>
              </a:rPr>
              <a:t>de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8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86" dirty="0">
                <a:latin typeface="Courier New"/>
                <a:cs typeface="Courier New"/>
              </a:rPr>
              <a:t>A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i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86" dirty="0">
                <a:latin typeface="Courier New"/>
                <a:cs typeface="Courier New"/>
              </a:rPr>
              <a:t>notas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j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9756" y="5192995"/>
            <a:ext cx="724775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7" dirty="0">
                <a:latin typeface="Arial"/>
                <a:cs typeface="Arial"/>
              </a:rPr>
              <a:t>a</a:t>
            </a:r>
            <a:r>
              <a:rPr spc="-6" dirty="0">
                <a:latin typeface="Arial"/>
                <a:cs typeface="Arial"/>
              </a:rPr>
              <a:t>l</a:t>
            </a:r>
            <a:r>
              <a:rPr spc="-17" dirty="0">
                <a:latin typeface="Arial"/>
                <a:cs typeface="Arial"/>
              </a:rPr>
              <a:t>uno</a:t>
            </a:r>
            <a:r>
              <a:rPr dirty="0">
                <a:latin typeface="Arial"/>
                <a:cs typeface="Arial"/>
              </a:rPr>
              <a:t>s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1871980" y="397637"/>
                </a:moveTo>
                <a:lnTo>
                  <a:pt x="132080" y="397637"/>
                </a:lnTo>
                <a:lnTo>
                  <a:pt x="90331" y="404375"/>
                </a:lnTo>
                <a:lnTo>
                  <a:pt x="54073" y="423134"/>
                </a:lnTo>
                <a:lnTo>
                  <a:pt x="25482" y="451732"/>
                </a:lnTo>
                <a:lnTo>
                  <a:pt x="6733" y="487987"/>
                </a:lnTo>
                <a:lnTo>
                  <a:pt x="0" y="529717"/>
                </a:lnTo>
                <a:lnTo>
                  <a:pt x="0" y="1058037"/>
                </a:lnTo>
                <a:lnTo>
                  <a:pt x="6733" y="1099766"/>
                </a:lnTo>
                <a:lnTo>
                  <a:pt x="25482" y="1136021"/>
                </a:lnTo>
                <a:lnTo>
                  <a:pt x="54073" y="1164619"/>
                </a:lnTo>
                <a:lnTo>
                  <a:pt x="90331" y="1183378"/>
                </a:lnTo>
                <a:lnTo>
                  <a:pt x="132080" y="1190117"/>
                </a:lnTo>
                <a:lnTo>
                  <a:pt x="1871980" y="1190117"/>
                </a:lnTo>
                <a:lnTo>
                  <a:pt x="1913709" y="1183378"/>
                </a:lnTo>
                <a:lnTo>
                  <a:pt x="1949964" y="1164619"/>
                </a:lnTo>
                <a:lnTo>
                  <a:pt x="1978562" y="1136021"/>
                </a:lnTo>
                <a:lnTo>
                  <a:pt x="1997321" y="1099766"/>
                </a:lnTo>
                <a:lnTo>
                  <a:pt x="2004060" y="1058037"/>
                </a:lnTo>
                <a:lnTo>
                  <a:pt x="2004060" y="529717"/>
                </a:lnTo>
                <a:lnTo>
                  <a:pt x="1997321" y="487987"/>
                </a:lnTo>
                <a:lnTo>
                  <a:pt x="1978562" y="451732"/>
                </a:lnTo>
                <a:lnTo>
                  <a:pt x="1949964" y="423134"/>
                </a:lnTo>
                <a:lnTo>
                  <a:pt x="1913709" y="404375"/>
                </a:lnTo>
                <a:lnTo>
                  <a:pt x="1871980" y="397637"/>
                </a:lnTo>
                <a:close/>
              </a:path>
              <a:path w="2004060" h="1190625">
                <a:moveTo>
                  <a:pt x="1979295" y="0"/>
                </a:moveTo>
                <a:lnTo>
                  <a:pt x="1169035" y="397637"/>
                </a:lnTo>
                <a:lnTo>
                  <a:pt x="1670050" y="397637"/>
                </a:lnTo>
                <a:lnTo>
                  <a:pt x="197929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0" y="529717"/>
                </a:moveTo>
                <a:lnTo>
                  <a:pt x="6733" y="487987"/>
                </a:lnTo>
                <a:lnTo>
                  <a:pt x="25482" y="451732"/>
                </a:lnTo>
                <a:lnTo>
                  <a:pt x="54073" y="423134"/>
                </a:lnTo>
                <a:lnTo>
                  <a:pt x="90331" y="404375"/>
                </a:lnTo>
                <a:lnTo>
                  <a:pt x="132080" y="397637"/>
                </a:lnTo>
                <a:lnTo>
                  <a:pt x="1169035" y="397637"/>
                </a:lnTo>
                <a:lnTo>
                  <a:pt x="1979295" y="0"/>
                </a:lnTo>
                <a:lnTo>
                  <a:pt x="1670050" y="397637"/>
                </a:lnTo>
                <a:lnTo>
                  <a:pt x="1871980" y="397637"/>
                </a:lnTo>
                <a:lnTo>
                  <a:pt x="1913709" y="404375"/>
                </a:lnTo>
                <a:lnTo>
                  <a:pt x="1949964" y="423134"/>
                </a:lnTo>
                <a:lnTo>
                  <a:pt x="1978562" y="451732"/>
                </a:lnTo>
                <a:lnTo>
                  <a:pt x="1997321" y="487987"/>
                </a:lnTo>
                <a:lnTo>
                  <a:pt x="2004060" y="529717"/>
                </a:lnTo>
                <a:lnTo>
                  <a:pt x="2004060" y="727837"/>
                </a:lnTo>
                <a:lnTo>
                  <a:pt x="2004060" y="1058037"/>
                </a:lnTo>
                <a:lnTo>
                  <a:pt x="1997321" y="1099766"/>
                </a:lnTo>
                <a:lnTo>
                  <a:pt x="1978562" y="1136021"/>
                </a:lnTo>
                <a:lnTo>
                  <a:pt x="1949964" y="1164619"/>
                </a:lnTo>
                <a:lnTo>
                  <a:pt x="1913709" y="1183378"/>
                </a:lnTo>
                <a:lnTo>
                  <a:pt x="1871980" y="1190117"/>
                </a:lnTo>
                <a:lnTo>
                  <a:pt x="1670050" y="1190117"/>
                </a:lnTo>
                <a:lnTo>
                  <a:pt x="1169035" y="1190117"/>
                </a:lnTo>
                <a:lnTo>
                  <a:pt x="132080" y="1190117"/>
                </a:lnTo>
                <a:lnTo>
                  <a:pt x="90331" y="1183378"/>
                </a:lnTo>
                <a:lnTo>
                  <a:pt x="54073" y="1164619"/>
                </a:lnTo>
                <a:lnTo>
                  <a:pt x="25482" y="1136021"/>
                </a:lnTo>
                <a:lnTo>
                  <a:pt x="6733" y="1099766"/>
                </a:lnTo>
                <a:lnTo>
                  <a:pt x="0" y="1058037"/>
                </a:lnTo>
                <a:lnTo>
                  <a:pt x="0" y="727837"/>
                </a:lnTo>
                <a:lnTo>
                  <a:pt x="0" y="52971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763" y="4998204"/>
            <a:ext cx="2221108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9" marR="5793" indent="-1448" algn="ctr"/>
            <a:r>
              <a:rPr spc="-6" dirty="0">
                <a:latin typeface="Arial"/>
                <a:cs typeface="Arial"/>
              </a:rPr>
              <a:t>Para </a:t>
            </a:r>
            <a:r>
              <a:rPr spc="-11" dirty="0">
                <a:latin typeface="Arial"/>
                <a:cs typeface="Arial"/>
              </a:rPr>
              <a:t>cada aluno, um  </a:t>
            </a:r>
            <a:r>
              <a:rPr spc="-6" dirty="0">
                <a:latin typeface="Arial"/>
                <a:cs typeface="Arial"/>
              </a:rPr>
              <a:t>laço para ler </a:t>
            </a:r>
            <a:r>
              <a:rPr spc="-11" dirty="0">
                <a:latin typeface="Arial"/>
                <a:cs typeface="Arial"/>
              </a:rPr>
              <a:t>as suas  quatro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4730" y="4333793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1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1"/>
                </a:lnTo>
                <a:lnTo>
                  <a:pt x="4752340" y="300609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80"/>
                </a:lnTo>
                <a:lnTo>
                  <a:pt x="60070" y="360680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9"/>
                </a:lnTo>
                <a:lnTo>
                  <a:pt x="0" y="60071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888" y="4998065"/>
            <a:ext cx="516996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594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3442" y="5670174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995" y="6011616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1244600" y="227330"/>
                </a:moveTo>
                <a:lnTo>
                  <a:pt x="124460" y="227330"/>
                </a:lnTo>
                <a:lnTo>
                  <a:pt x="76027" y="237114"/>
                </a:lnTo>
                <a:lnTo>
                  <a:pt x="36464" y="263794"/>
                </a:lnTo>
                <a:lnTo>
                  <a:pt x="9784" y="303357"/>
                </a:lnTo>
                <a:lnTo>
                  <a:pt x="0" y="351789"/>
                </a:lnTo>
                <a:lnTo>
                  <a:pt x="0" y="849630"/>
                </a:lnTo>
                <a:lnTo>
                  <a:pt x="9784" y="898073"/>
                </a:lnTo>
                <a:lnTo>
                  <a:pt x="36464" y="937634"/>
                </a:lnTo>
                <a:lnTo>
                  <a:pt x="76027" y="964308"/>
                </a:lnTo>
                <a:lnTo>
                  <a:pt x="124460" y="974090"/>
                </a:lnTo>
                <a:lnTo>
                  <a:pt x="1244600" y="974090"/>
                </a:lnTo>
                <a:lnTo>
                  <a:pt x="1293032" y="964308"/>
                </a:lnTo>
                <a:lnTo>
                  <a:pt x="1332595" y="937634"/>
                </a:lnTo>
                <a:lnTo>
                  <a:pt x="1359275" y="898073"/>
                </a:lnTo>
                <a:lnTo>
                  <a:pt x="1369059" y="849630"/>
                </a:lnTo>
                <a:lnTo>
                  <a:pt x="1369059" y="351789"/>
                </a:lnTo>
                <a:lnTo>
                  <a:pt x="1359275" y="303357"/>
                </a:lnTo>
                <a:lnTo>
                  <a:pt x="1332595" y="263794"/>
                </a:lnTo>
                <a:lnTo>
                  <a:pt x="1293032" y="237114"/>
                </a:lnTo>
                <a:lnTo>
                  <a:pt x="1244600" y="227330"/>
                </a:lnTo>
                <a:close/>
              </a:path>
              <a:path w="1369059" h="974089">
                <a:moveTo>
                  <a:pt x="830072" y="0"/>
                </a:moveTo>
                <a:lnTo>
                  <a:pt x="798576" y="227330"/>
                </a:lnTo>
                <a:lnTo>
                  <a:pt x="1140841" y="227330"/>
                </a:lnTo>
                <a:lnTo>
                  <a:pt x="83007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0" y="351789"/>
                </a:moveTo>
                <a:lnTo>
                  <a:pt x="9784" y="303357"/>
                </a:lnTo>
                <a:lnTo>
                  <a:pt x="36464" y="263794"/>
                </a:lnTo>
                <a:lnTo>
                  <a:pt x="76027" y="237114"/>
                </a:lnTo>
                <a:lnTo>
                  <a:pt x="124460" y="227330"/>
                </a:lnTo>
                <a:lnTo>
                  <a:pt x="798576" y="227330"/>
                </a:lnTo>
                <a:lnTo>
                  <a:pt x="830072" y="0"/>
                </a:lnTo>
                <a:lnTo>
                  <a:pt x="1140841" y="227330"/>
                </a:lnTo>
                <a:lnTo>
                  <a:pt x="1244600" y="227330"/>
                </a:lnTo>
                <a:lnTo>
                  <a:pt x="1293032" y="237114"/>
                </a:lnTo>
                <a:lnTo>
                  <a:pt x="1332595" y="263794"/>
                </a:lnTo>
                <a:lnTo>
                  <a:pt x="1359275" y="303357"/>
                </a:lnTo>
                <a:lnTo>
                  <a:pt x="1369059" y="351789"/>
                </a:lnTo>
                <a:lnTo>
                  <a:pt x="1369059" y="538480"/>
                </a:lnTo>
                <a:lnTo>
                  <a:pt x="1369059" y="849630"/>
                </a:lnTo>
                <a:lnTo>
                  <a:pt x="1359275" y="898073"/>
                </a:lnTo>
                <a:lnTo>
                  <a:pt x="1332595" y="937634"/>
                </a:lnTo>
                <a:lnTo>
                  <a:pt x="1293032" y="964308"/>
                </a:lnTo>
                <a:lnTo>
                  <a:pt x="1244600" y="974090"/>
                </a:lnTo>
                <a:lnTo>
                  <a:pt x="1140841" y="974090"/>
                </a:lnTo>
                <a:lnTo>
                  <a:pt x="798576" y="974090"/>
                </a:lnTo>
                <a:lnTo>
                  <a:pt x="124460" y="974090"/>
                </a:lnTo>
                <a:lnTo>
                  <a:pt x="76027" y="964308"/>
                </a:lnTo>
                <a:lnTo>
                  <a:pt x="36464" y="937634"/>
                </a:lnTo>
                <a:lnTo>
                  <a:pt x="9784" y="898073"/>
                </a:lnTo>
                <a:lnTo>
                  <a:pt x="0" y="849630"/>
                </a:lnTo>
                <a:lnTo>
                  <a:pt x="0" y="538480"/>
                </a:lnTo>
                <a:lnTo>
                  <a:pt x="0" y="35178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07128" y="5741961"/>
            <a:ext cx="150301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05660"/>
            <a:r>
              <a:rPr spc="-6" dirty="0">
                <a:latin typeface="Arial"/>
                <a:cs typeface="Arial"/>
              </a:rPr>
              <a:t>Índice j </a:t>
            </a:r>
            <a:r>
              <a:rPr spc="-11" dirty="0">
                <a:latin typeface="Arial"/>
                <a:cs typeface="Arial"/>
              </a:rPr>
              <a:t>do 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1333500" y="249428"/>
                </a:moveTo>
                <a:lnTo>
                  <a:pt x="124459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71"/>
                </a:lnTo>
                <a:lnTo>
                  <a:pt x="36464" y="959732"/>
                </a:lnTo>
                <a:lnTo>
                  <a:pt x="76027" y="986406"/>
                </a:lnTo>
                <a:lnTo>
                  <a:pt x="124459" y="996188"/>
                </a:lnTo>
                <a:lnTo>
                  <a:pt x="1333500" y="996188"/>
                </a:lnTo>
                <a:lnTo>
                  <a:pt x="1381932" y="986406"/>
                </a:lnTo>
                <a:lnTo>
                  <a:pt x="1421495" y="959732"/>
                </a:lnTo>
                <a:lnTo>
                  <a:pt x="1448175" y="920171"/>
                </a:lnTo>
                <a:lnTo>
                  <a:pt x="1457959" y="871728"/>
                </a:lnTo>
                <a:lnTo>
                  <a:pt x="1457959" y="373888"/>
                </a:lnTo>
                <a:lnTo>
                  <a:pt x="1448175" y="325455"/>
                </a:lnTo>
                <a:lnTo>
                  <a:pt x="1421495" y="285892"/>
                </a:lnTo>
                <a:lnTo>
                  <a:pt x="1381932" y="259212"/>
                </a:lnTo>
                <a:lnTo>
                  <a:pt x="1333500" y="249428"/>
                </a:lnTo>
                <a:close/>
              </a:path>
              <a:path w="1457960" h="996314">
                <a:moveTo>
                  <a:pt x="1095375" y="0"/>
                </a:moveTo>
                <a:lnTo>
                  <a:pt x="850518" y="249428"/>
                </a:lnTo>
                <a:lnTo>
                  <a:pt x="1215008" y="249428"/>
                </a:lnTo>
                <a:lnTo>
                  <a:pt x="109537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59" y="249428"/>
                </a:lnTo>
                <a:lnTo>
                  <a:pt x="850518" y="249428"/>
                </a:lnTo>
                <a:lnTo>
                  <a:pt x="1095375" y="0"/>
                </a:lnTo>
                <a:lnTo>
                  <a:pt x="1215008" y="249428"/>
                </a:lnTo>
                <a:lnTo>
                  <a:pt x="1333500" y="249428"/>
                </a:lnTo>
                <a:lnTo>
                  <a:pt x="1381932" y="259212"/>
                </a:lnTo>
                <a:lnTo>
                  <a:pt x="1421495" y="285892"/>
                </a:lnTo>
                <a:lnTo>
                  <a:pt x="1448175" y="325455"/>
                </a:lnTo>
                <a:lnTo>
                  <a:pt x="1457959" y="373888"/>
                </a:lnTo>
                <a:lnTo>
                  <a:pt x="1457959" y="560578"/>
                </a:lnTo>
                <a:lnTo>
                  <a:pt x="1457959" y="871728"/>
                </a:lnTo>
                <a:lnTo>
                  <a:pt x="1448175" y="920171"/>
                </a:lnTo>
                <a:lnTo>
                  <a:pt x="1421495" y="959732"/>
                </a:lnTo>
                <a:lnTo>
                  <a:pt x="1381932" y="986406"/>
                </a:lnTo>
                <a:lnTo>
                  <a:pt x="1333500" y="996188"/>
                </a:lnTo>
                <a:lnTo>
                  <a:pt x="1215008" y="996188"/>
                </a:lnTo>
                <a:lnTo>
                  <a:pt x="850518" y="996188"/>
                </a:lnTo>
                <a:lnTo>
                  <a:pt x="124459" y="996188"/>
                </a:lnTo>
                <a:lnTo>
                  <a:pt x="76027" y="986406"/>
                </a:lnTo>
                <a:lnTo>
                  <a:pt x="36464" y="959732"/>
                </a:lnTo>
                <a:lnTo>
                  <a:pt x="9784" y="920171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1829" y="5607203"/>
            <a:ext cx="10827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Índice</a:t>
            </a:r>
            <a:r>
              <a:rPr spc="-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 </a:t>
            </a:r>
            <a:r>
              <a:rPr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  alunos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14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Impressão </a:t>
            </a:r>
            <a:r>
              <a:rPr dirty="0"/>
              <a:t>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17" dirty="0"/>
              <a:t> </a:t>
            </a:r>
            <a:r>
              <a:rPr spc="-6"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6" y="1283906"/>
            <a:ext cx="818342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processo de </a:t>
            </a:r>
            <a:r>
              <a:rPr sz="2700" spc="-6" dirty="0">
                <a:latin typeface="Arial"/>
                <a:cs typeface="Arial"/>
              </a:rPr>
              <a:t>escrita </a:t>
            </a:r>
            <a:r>
              <a:rPr sz="2700" dirty="0">
                <a:latin typeface="Arial"/>
                <a:cs typeface="Arial"/>
              </a:rPr>
              <a:t>de um </a:t>
            </a:r>
            <a:r>
              <a:rPr sz="2700" spc="-6" dirty="0">
                <a:latin typeface="Arial"/>
                <a:cs typeface="Arial"/>
              </a:rPr>
              <a:t>vetor </a:t>
            </a:r>
            <a:r>
              <a:rPr sz="2700" dirty="0">
                <a:latin typeface="Arial"/>
                <a:cs typeface="Arial"/>
              </a:rPr>
              <a:t>de estrutura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é</a:t>
            </a:r>
            <a:endParaRPr sz="2700">
              <a:latin typeface="Arial"/>
              <a:cs typeface="Arial"/>
            </a:endParaRPr>
          </a:p>
          <a:p>
            <a:pPr marL="404802"/>
            <a:r>
              <a:rPr sz="2700" dirty="0">
                <a:latin typeface="Arial"/>
                <a:cs typeface="Arial"/>
              </a:rPr>
              <a:t>similar aos modos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escrita anteriores </a:t>
            </a:r>
            <a:r>
              <a:rPr sz="2700" spc="-6" dirty="0">
                <a:latin typeface="Arial"/>
                <a:cs typeface="Arial"/>
              </a:rPr>
              <a:t>já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vistos.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91634">
              <a:spcBef>
                <a:spcPts val="6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imprime_vetor_alunos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59163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373618" y="3509154"/>
            <a:ext cx="356595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866" y="3173031"/>
            <a:ext cx="142652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120" dirty="0"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419" y="4180844"/>
            <a:ext cx="6240787" cy="2477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5188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95188">
              <a:tabLst>
                <a:tab pos="1390376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042782"/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 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4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4" y="1710007"/>
            <a:ext cx="5037780" cy="508804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49967" rIns="0" bIns="0" rtlCol="0">
            <a:spAutoFit/>
          </a:bodyPr>
          <a:lstStyle/>
          <a:p>
            <a:pPr marL="97761">
              <a:spcBef>
                <a:spcPts val="393"/>
              </a:spcBef>
            </a:pP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1600" spc="-108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>
              <a:spcBef>
                <a:spcPts val="6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>
              <a:lnSpc>
                <a:spcPts val="1916"/>
              </a:lnSpc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1600" b="1" spc="-5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j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 marR="181039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nome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do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aluno"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spc="-11" dirty="0">
                <a:latin typeface="Courier New"/>
                <a:cs typeface="Courier New"/>
              </a:rPr>
              <a:t>gets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4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notas</a:t>
            </a:r>
            <a:r>
              <a:rPr sz="1600" spc="-74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8432" marR="302696" indent="-243316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scanf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"%f%*c"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Programa</a:t>
            </a:r>
            <a:r>
              <a:rPr spc="-51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4913" y="1589663"/>
            <a:ext cx="5361552" cy="5323134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2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 marR="207470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"\nAlunos:"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6" dirty="0">
                <a:latin typeface="Courier New"/>
                <a:cs typeface="Courier New"/>
              </a:rPr>
              <a:t>printf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"\n%20s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9156" marR="617703" indent="-244040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"%.2f 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9209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main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57" dirty="0"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85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9251" y="996337"/>
            <a:ext cx="6020978" cy="680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300">
              <a:latin typeface="Times New Roman"/>
              <a:cs typeface="Times New Roman"/>
            </a:endParaRPr>
          </a:p>
          <a:p>
            <a:pPr marR="10862" algn="r"/>
            <a:r>
              <a:rPr sz="1100" dirty="0">
                <a:latin typeface="Times New Roman"/>
                <a:cs typeface="Times New Roman"/>
              </a:rPr>
              <a:t>57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2817" y="1047415"/>
            <a:ext cx="5781862" cy="420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68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"Produtos</a:t>
            </a:r>
            <a:r>
              <a:rPr sz="2100" spc="-5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armazenados:\n"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7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639428">
              <a:tabLst>
                <a:tab pos="3754014" algn="l"/>
              </a:tabLst>
            </a:pP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%d:	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23" dirty="0">
                <a:latin typeface="Courier New"/>
                <a:cs typeface="Courier New"/>
              </a:rPr>
              <a:t>i</a:t>
            </a:r>
            <a:r>
              <a:rPr sz="2100" spc="-23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639428" marR="472148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"Codigo: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scanf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"%d%*c"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 &amp;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"Descricao: 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gets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4842" y="5280733"/>
            <a:ext cx="1150283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817" y="5280734"/>
            <a:ext cx="450459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1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639428" marR="161486" indent="-312835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8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"%3d </a:t>
            </a:r>
            <a:r>
              <a:rPr sz="2100" dirty="0">
                <a:solidFill>
                  <a:srgbClr val="0000FF"/>
                </a:solidFill>
                <a:latin typeface="Courier New"/>
                <a:cs typeface="Courier New"/>
              </a:rPr>
              <a:t>-</a:t>
            </a:r>
            <a:r>
              <a:rPr sz="2100" spc="-9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%s\n"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53" y="6792453"/>
            <a:ext cx="4662024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7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818" y="7100660"/>
            <a:ext cx="190847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103" dirty="0"/>
              <a:t> </a:t>
            </a:r>
            <a:r>
              <a:rPr spc="-6" dirty="0"/>
              <a:t>2</a:t>
            </a:r>
          </a:p>
        </p:txBody>
      </p:sp>
      <p:sp>
        <p:nvSpPr>
          <p:cNvPr id="11" name="object 11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2924" y="1044616"/>
            <a:ext cx="4344194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100" spc="-57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#define TAM</a:t>
            </a:r>
            <a:r>
              <a:rPr sz="2100"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9F00"/>
                </a:solidFill>
                <a:latin typeface="Courier New"/>
                <a:cs typeface="Courier New"/>
              </a:rPr>
              <a:t>4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main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 marR="5793"/>
            <a:r>
              <a:rPr sz="2100" spc="-11" dirty="0">
                <a:latin typeface="Courier New"/>
                <a:cs typeface="Courier New"/>
              </a:rPr>
              <a:t>Produto 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17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82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91" y="1282505"/>
            <a:ext cx="9729509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0633" indent="-556150">
              <a:lnSpc>
                <a:spcPts val="2714"/>
              </a:lnSpc>
              <a:buClr>
                <a:srgbClr val="C5000A"/>
              </a:buClr>
              <a:buAutoNum type="arabicParenR" startAt="5"/>
              <a:tabLst>
                <a:tab pos="564116" algn="l"/>
                <a:tab pos="564840" algn="l"/>
                <a:tab pos="5159597" algn="l"/>
              </a:tabLst>
            </a:pPr>
            <a:r>
              <a:rPr sz="2500" spc="-6" dirty="0">
                <a:solidFill>
                  <a:srgbClr val="C00000"/>
                </a:solidFill>
                <a:latin typeface="Arial"/>
                <a:cs typeface="Arial"/>
              </a:rPr>
              <a:t>a) </a:t>
            </a:r>
            <a:r>
              <a:rPr sz="2500" spc="-11" dirty="0">
                <a:latin typeface="Arial"/>
                <a:cs typeface="Arial"/>
              </a:rPr>
              <a:t>Crie </a:t>
            </a:r>
            <a:r>
              <a:rPr sz="2500" dirty="0">
                <a:latin typeface="Arial"/>
                <a:cs typeface="Arial"/>
              </a:rPr>
              <a:t>uma</a:t>
            </a:r>
            <a:r>
              <a:rPr sz="2500" spc="7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estrutura</a:t>
            </a:r>
            <a:r>
              <a:rPr sz="2500" spc="11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chamada	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764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contendo apenas as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(inteiros)</a:t>
            </a:r>
            <a:r>
              <a:rPr sz="2500" spc="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ponto.</a:t>
            </a:r>
            <a:endParaRPr sz="2500">
              <a:latin typeface="Arial"/>
              <a:cs typeface="Arial"/>
            </a:endParaRPr>
          </a:p>
          <a:p>
            <a:pPr marL="570633" lvl="1">
              <a:lnSpc>
                <a:spcPts val="2714"/>
              </a:lnSpc>
              <a:spcBef>
                <a:spcPts val="1825"/>
              </a:spcBef>
              <a:buClr>
                <a:srgbClr val="C00000"/>
              </a:buClr>
              <a:buAutoNum type="alphaLcParenR" startAt="2"/>
              <a:tabLst>
                <a:tab pos="945021" algn="l"/>
              </a:tabLst>
            </a:pPr>
            <a:r>
              <a:rPr sz="2500" spc="-6" dirty="0">
                <a:latin typeface="Arial"/>
                <a:cs typeface="Arial"/>
              </a:rPr>
              <a:t>Faça </a:t>
            </a:r>
            <a:r>
              <a:rPr sz="2500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spc="-11" dirty="0">
                <a:latin typeface="Arial"/>
                <a:cs typeface="Arial"/>
              </a:rPr>
              <a:t>dois </a:t>
            </a:r>
            <a:r>
              <a:rPr sz="2500" spc="-6" dirty="0">
                <a:latin typeface="Arial"/>
                <a:cs typeface="Arial"/>
              </a:rPr>
              <a:t>pontos por </a:t>
            </a:r>
            <a:r>
              <a:rPr sz="2500" dirty="0">
                <a:latin typeface="Arial"/>
                <a:cs typeface="Arial"/>
              </a:rPr>
              <a:t>parâmetro</a:t>
            </a:r>
            <a:r>
              <a:rPr sz="2500" spc="14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dirty="0">
                <a:latin typeface="Arial"/>
                <a:cs typeface="Arial"/>
              </a:rPr>
              <a:t>retorne a </a:t>
            </a:r>
            <a:r>
              <a:rPr sz="2500" spc="-6" dirty="0">
                <a:latin typeface="Arial"/>
                <a:cs typeface="Arial"/>
              </a:rPr>
              <a:t>distância entre eles.</a:t>
            </a:r>
            <a:endParaRPr sz="25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570633" marR="158590" lvl="1">
              <a:lnSpc>
                <a:spcPct val="80100"/>
              </a:lnSpc>
              <a:buClr>
                <a:srgbClr val="C00000"/>
              </a:buClr>
              <a:buAutoNum type="alphaLcParenR" startAt="3"/>
              <a:tabLst>
                <a:tab pos="927641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declare 2 </a:t>
            </a:r>
            <a:r>
              <a:rPr sz="2500" dirty="0">
                <a:latin typeface="Arial"/>
                <a:cs typeface="Arial"/>
              </a:rPr>
              <a:t>pontos, </a:t>
            </a:r>
            <a:r>
              <a:rPr sz="2500" spc="-11" dirty="0">
                <a:latin typeface="Arial"/>
                <a:cs typeface="Arial"/>
              </a:rPr>
              <a:t>leia </a:t>
            </a:r>
            <a:r>
              <a:rPr sz="2500" spc="-6" dirty="0">
                <a:latin typeface="Arial"/>
                <a:cs typeface="Arial"/>
              </a:rPr>
              <a:t>as  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cada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um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chame</a:t>
            </a:r>
            <a:r>
              <a:rPr sz="2500" spc="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função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criada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para  </a:t>
            </a:r>
            <a:r>
              <a:rPr sz="2500" spc="-6" dirty="0">
                <a:latin typeface="Arial"/>
                <a:cs typeface="Arial"/>
              </a:rPr>
              <a:t>calcular a distância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eles. Apresente no final a distância 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os </a:t>
            </a:r>
            <a:r>
              <a:rPr sz="2500" spc="-11" dirty="0">
                <a:latin typeface="Arial"/>
                <a:cs typeface="Arial"/>
              </a:rPr>
              <a:t>dois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pontos.</a:t>
            </a:r>
            <a:endParaRPr sz="2500">
              <a:latin typeface="Arial"/>
              <a:cs typeface="Arial"/>
            </a:endParaRPr>
          </a:p>
          <a:p>
            <a:pPr lvl="1">
              <a:spcBef>
                <a:spcPts val="6"/>
              </a:spcBef>
              <a:buClr>
                <a:srgbClr val="C00000"/>
              </a:buClr>
              <a:buFont typeface="Arial"/>
              <a:buAutoNum type="alphaLcParenR" startAt="3"/>
            </a:pPr>
            <a:endParaRPr sz="3300">
              <a:latin typeface="Times New Roman"/>
              <a:cs typeface="Times New Roman"/>
            </a:endParaRPr>
          </a:p>
          <a:p>
            <a:pPr marL="570633" marR="5793" indent="-556150">
              <a:lnSpc>
                <a:spcPct val="80300"/>
              </a:lnSpc>
              <a:buClr>
                <a:srgbClr val="C5000A"/>
              </a:buClr>
              <a:buAutoNum type="arabicParenR" startAt="6"/>
              <a:tabLst>
                <a:tab pos="569909" algn="l"/>
                <a:tab pos="570633" algn="l"/>
              </a:tabLst>
            </a:pPr>
            <a:r>
              <a:rPr sz="2500" spc="-6" dirty="0">
                <a:latin typeface="Arial"/>
                <a:cs typeface="Arial"/>
              </a:rPr>
              <a:t>Utilizando a </a:t>
            </a:r>
            <a:r>
              <a:rPr sz="2500" dirty="0">
                <a:latin typeface="Arial"/>
                <a:cs typeface="Arial"/>
              </a:rPr>
              <a:t>estrutura 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667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definida no exercício </a:t>
            </a:r>
            <a:r>
              <a:rPr sz="2500" dirty="0">
                <a:latin typeface="Arial"/>
                <a:cs typeface="Arial"/>
              </a:rPr>
              <a:t>5, faça uma 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-6" dirty="0">
                <a:latin typeface="Arial"/>
                <a:cs typeface="Arial"/>
              </a:rPr>
              <a:t>pontos </a:t>
            </a:r>
            <a:r>
              <a:rPr sz="2500" dirty="0">
                <a:latin typeface="Arial"/>
                <a:cs typeface="Arial"/>
              </a:rPr>
              <a:t>e retorne o </a:t>
            </a:r>
            <a:r>
              <a:rPr sz="2500" spc="-6" dirty="0">
                <a:latin typeface="Arial"/>
                <a:cs typeface="Arial"/>
              </a:rPr>
              <a:t>ponto mais próximo </a:t>
            </a:r>
            <a:r>
              <a:rPr sz="2500" dirty="0">
                <a:latin typeface="Arial"/>
                <a:cs typeface="Arial"/>
              </a:rPr>
              <a:t>da  </a:t>
            </a:r>
            <a:r>
              <a:rPr sz="2500" spc="-6" dirty="0">
                <a:latin typeface="Arial"/>
                <a:cs typeface="Arial"/>
              </a:rPr>
              <a:t>origem. Em seguida, modifique o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principal para ler 4  pontos e imprimir apenas as coordenadas do ponto mais  próximo </a:t>
            </a:r>
            <a:r>
              <a:rPr sz="2500" dirty="0">
                <a:latin typeface="Arial"/>
                <a:cs typeface="Arial"/>
              </a:rPr>
              <a:t>da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origem.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4994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62" y="1483245"/>
            <a:ext cx="967158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 indent="-553254" algn="just">
              <a:lnSpc>
                <a:spcPts val="2144"/>
              </a:lnSpc>
              <a:buClr>
                <a:srgbClr val="C5000A"/>
              </a:buClr>
              <a:buAutoNum type="arabicParenR" startAt="7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Utilizando </a:t>
            </a:r>
            <a:r>
              <a:rPr sz="2500" dirty="0">
                <a:latin typeface="Arial"/>
                <a:cs typeface="Arial"/>
              </a:rPr>
              <a:t>a  estrutura </a:t>
            </a:r>
            <a:r>
              <a:rPr sz="2500" spc="-6" dirty="0">
                <a:latin typeface="Courier New"/>
                <a:cs typeface="Courier New"/>
              </a:rPr>
              <a:t>medidas </a:t>
            </a:r>
            <a:r>
              <a:rPr sz="2500" dirty="0">
                <a:latin typeface="Arial"/>
                <a:cs typeface="Arial"/>
              </a:rPr>
              <a:t>definida  </a:t>
            </a:r>
            <a:r>
              <a:rPr sz="2500" spc="-6" dirty="0">
                <a:latin typeface="Arial"/>
                <a:cs typeface="Arial"/>
              </a:rPr>
              <a:t>no exercício  2,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faça</a:t>
            </a:r>
            <a:endParaRPr sz="2500">
              <a:latin typeface="Arial"/>
              <a:cs typeface="Arial"/>
            </a:endParaRPr>
          </a:p>
          <a:p>
            <a:pPr marL="567737" marR="10862">
              <a:lnSpc>
                <a:spcPts val="2418"/>
              </a:lnSpc>
              <a:spcBef>
                <a:spcPts val="290"/>
              </a:spcBef>
              <a:tabLst>
                <a:tab pos="1184716" algn="l"/>
                <a:tab pos="2722819" algn="l"/>
                <a:tab pos="3430317" algn="l"/>
                <a:tab pos="4099436" algn="l"/>
                <a:tab pos="4449926" algn="l"/>
                <a:tab pos="5423189" algn="l"/>
                <a:tab pos="5773680" algn="l"/>
                <a:tab pos="6124895" algn="l"/>
                <a:tab pos="6990983" algn="l"/>
                <a:tab pos="7518167" algn="l"/>
                <a:tab pos="7868656" algn="l"/>
                <a:tab pos="9233687" algn="l"/>
              </a:tabLst>
            </a:pPr>
            <a:r>
              <a:rPr sz="2500" spc="-11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m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progra</a:t>
            </a:r>
            <a:r>
              <a:rPr sz="2500" dirty="0">
                <a:latin typeface="Arial"/>
                <a:cs typeface="Arial"/>
              </a:rPr>
              <a:t>m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q</a:t>
            </a:r>
            <a:r>
              <a:rPr sz="2500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l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spc="-23" dirty="0">
                <a:latin typeface="Arial"/>
                <a:cs typeface="Arial"/>
              </a:rPr>
              <a:t>i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l</a:t>
            </a:r>
            <a:r>
              <a:rPr sz="2500" spc="6" dirty="0">
                <a:latin typeface="Arial"/>
                <a:cs typeface="Arial"/>
              </a:rPr>
              <a:t>t</a:t>
            </a:r>
            <a:r>
              <a:rPr sz="2500" spc="-6" dirty="0">
                <a:latin typeface="Arial"/>
                <a:cs typeface="Arial"/>
              </a:rPr>
              <a:t>ura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1" dirty="0">
                <a:latin typeface="Arial"/>
                <a:cs typeface="Arial"/>
              </a:rPr>
              <a:t>d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6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esso</a:t>
            </a:r>
            <a:r>
              <a:rPr sz="2500" spc="-17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s	</a:t>
            </a:r>
            <a:r>
              <a:rPr sz="2500" spc="-6" dirty="0">
                <a:latin typeface="Arial"/>
                <a:cs typeface="Arial"/>
              </a:rPr>
              <a:t>e  imprima a média da altura e a média do peso do</a:t>
            </a:r>
            <a:r>
              <a:rPr sz="2500" spc="18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grupo.</a:t>
            </a:r>
            <a:endParaRPr sz="2500">
              <a:latin typeface="Arial"/>
              <a:cs typeface="Arial"/>
            </a:endParaRPr>
          </a:p>
          <a:p>
            <a:pPr marL="567737" marR="7242" indent="-553254" algn="just">
              <a:lnSpc>
                <a:spcPct val="80100"/>
              </a:lnSpc>
              <a:spcBef>
                <a:spcPts val="2058"/>
              </a:spcBef>
              <a:buClr>
                <a:srgbClr val="C00000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receba </a:t>
            </a:r>
            <a:r>
              <a:rPr sz="2500" dirty="0">
                <a:latin typeface="Arial"/>
                <a:cs typeface="Arial"/>
              </a:rPr>
              <a:t>três </a:t>
            </a:r>
            <a:r>
              <a:rPr sz="2500" spc="-11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(de </a:t>
            </a:r>
            <a:r>
              <a:rPr sz="2500" spc="-6" dirty="0">
                <a:latin typeface="Arial"/>
                <a:cs typeface="Arial"/>
              </a:rPr>
              <a:t>no máximo  100 </a:t>
            </a:r>
            <a:r>
              <a:rPr sz="2500" dirty="0">
                <a:latin typeface="Arial"/>
                <a:cs typeface="Arial"/>
              </a:rPr>
              <a:t>caracteres cada) </a:t>
            </a:r>
            <a:r>
              <a:rPr sz="2500" spc="-6" dirty="0">
                <a:latin typeface="Arial"/>
                <a:cs typeface="Arial"/>
              </a:rPr>
              <a:t>e as idades das </a:t>
            </a:r>
            <a:r>
              <a:rPr sz="2500" dirty="0">
                <a:latin typeface="Arial"/>
                <a:cs typeface="Arial"/>
              </a:rPr>
              <a:t>respectivas pessoas </a:t>
            </a:r>
            <a:r>
              <a:rPr sz="2500" spc="11" dirty="0">
                <a:latin typeface="Arial"/>
                <a:cs typeface="Arial"/>
              </a:rPr>
              <a:t>em 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estruturas. </a:t>
            </a:r>
            <a:r>
              <a:rPr sz="2500" spc="-6" dirty="0">
                <a:latin typeface="Arial"/>
                <a:cs typeface="Arial"/>
              </a:rPr>
              <a:t>Após </a:t>
            </a:r>
            <a:r>
              <a:rPr sz="2500" dirty="0">
                <a:latin typeface="Arial"/>
                <a:cs typeface="Arial"/>
              </a:rPr>
              <a:t>o recebimento, </a:t>
            </a:r>
            <a:r>
              <a:rPr sz="2500" spc="-6" dirty="0">
                <a:latin typeface="Arial"/>
                <a:cs typeface="Arial"/>
              </a:rPr>
              <a:t>listar os </a:t>
            </a:r>
            <a:r>
              <a:rPr sz="2500" dirty="0">
                <a:latin typeface="Arial"/>
                <a:cs typeface="Arial"/>
              </a:rPr>
              <a:t>três  </a:t>
            </a:r>
            <a:r>
              <a:rPr sz="2500" spc="-6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armazenados </a:t>
            </a:r>
            <a:r>
              <a:rPr sz="2500" spc="-6" dirty="0">
                <a:latin typeface="Arial"/>
                <a:cs typeface="Arial"/>
              </a:rPr>
              <a:t>neste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por ordem crescente </a:t>
            </a:r>
            <a:r>
              <a:rPr sz="2500" spc="11" dirty="0">
                <a:latin typeface="Arial"/>
                <a:cs typeface="Arial"/>
              </a:rPr>
              <a:t>de  </a:t>
            </a:r>
            <a:r>
              <a:rPr sz="2500" spc="-6" dirty="0">
                <a:latin typeface="Arial"/>
                <a:cs typeface="Arial"/>
              </a:rPr>
              <a:t>idades.</a:t>
            </a:r>
            <a:endParaRPr sz="2500">
              <a:latin typeface="Arial"/>
              <a:cs typeface="Arial"/>
            </a:endParaRPr>
          </a:p>
          <a:p>
            <a:pPr marL="567737" marR="5793" indent="-553254" algn="just">
              <a:lnSpc>
                <a:spcPct val="80100"/>
              </a:lnSpc>
              <a:spcBef>
                <a:spcPts val="2036"/>
              </a:spcBef>
              <a:buClr>
                <a:srgbClr val="C5000A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armazene informações </a:t>
            </a:r>
            <a:r>
              <a:rPr sz="2500" spc="-6" dirty="0">
                <a:latin typeface="Arial"/>
                <a:cs typeface="Arial"/>
              </a:rPr>
              <a:t>de  </a:t>
            </a:r>
            <a:r>
              <a:rPr sz="2500" dirty="0">
                <a:latin typeface="Arial"/>
                <a:cs typeface="Arial"/>
              </a:rPr>
              <a:t>restaurantes. </a:t>
            </a:r>
            <a:r>
              <a:rPr sz="2500" spc="-6" dirty="0">
                <a:latin typeface="Arial"/>
                <a:cs typeface="Arial"/>
              </a:rPr>
              <a:t>Cada </a:t>
            </a:r>
            <a:r>
              <a:rPr sz="2500" dirty="0">
                <a:latin typeface="Arial"/>
                <a:cs typeface="Arial"/>
              </a:rPr>
              <a:t>restaurante </a:t>
            </a:r>
            <a:r>
              <a:rPr sz="2500" spc="-6" dirty="0">
                <a:latin typeface="Arial"/>
                <a:cs typeface="Arial"/>
              </a:rPr>
              <a:t>é identificado </a:t>
            </a:r>
            <a:r>
              <a:rPr sz="2500" spc="-11" dirty="0">
                <a:latin typeface="Arial"/>
                <a:cs typeface="Arial"/>
              </a:rPr>
              <a:t>pelo </a:t>
            </a:r>
            <a:r>
              <a:rPr sz="2500" spc="-6" dirty="0">
                <a:latin typeface="Arial"/>
                <a:cs typeface="Arial"/>
              </a:rPr>
              <a:t>nome, o  tipo de </a:t>
            </a:r>
            <a:r>
              <a:rPr sz="2500" dirty="0">
                <a:latin typeface="Arial"/>
                <a:cs typeface="Arial"/>
              </a:rPr>
              <a:t>comida </a:t>
            </a:r>
            <a:r>
              <a:rPr sz="2500" spc="-6" dirty="0">
                <a:latin typeface="Arial"/>
                <a:cs typeface="Arial"/>
              </a:rPr>
              <a:t>(brasileira, chinesa, francesa, italiana,  japonesa, </a:t>
            </a:r>
            <a:r>
              <a:rPr sz="2500" dirty="0">
                <a:latin typeface="Arial"/>
                <a:cs typeface="Arial"/>
              </a:rPr>
              <a:t>etc.) e </a:t>
            </a:r>
            <a:r>
              <a:rPr sz="2500" spc="-11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nota para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6" dirty="0">
                <a:latin typeface="Arial"/>
                <a:cs typeface="Arial"/>
              </a:rPr>
              <a:t>cozinha </a:t>
            </a:r>
            <a:r>
              <a:rPr sz="2500" dirty="0">
                <a:latin typeface="Arial"/>
                <a:cs typeface="Arial"/>
              </a:rPr>
              <a:t>(entre 0 e 5). O  programa deverá ler </a:t>
            </a:r>
            <a:r>
              <a:rPr sz="2500" spc="-6" dirty="0">
                <a:latin typeface="Arial"/>
                <a:cs typeface="Arial"/>
              </a:rPr>
              <a:t>todas as informações e imprimir a </a:t>
            </a:r>
            <a:r>
              <a:rPr sz="2500" spc="-11" dirty="0">
                <a:latin typeface="Arial"/>
                <a:cs typeface="Arial"/>
              </a:rPr>
              <a:t>lista  </a:t>
            </a:r>
            <a:r>
              <a:rPr sz="2500" spc="-6" dirty="0">
                <a:latin typeface="Arial"/>
                <a:cs typeface="Arial"/>
              </a:rPr>
              <a:t>de todos os </a:t>
            </a:r>
            <a:r>
              <a:rPr sz="2500" dirty="0">
                <a:latin typeface="Arial"/>
                <a:cs typeface="Arial"/>
              </a:rPr>
              <a:t>restaurantes </a:t>
            </a:r>
            <a:r>
              <a:rPr sz="2500" spc="-6" dirty="0">
                <a:latin typeface="Arial"/>
                <a:cs typeface="Arial"/>
              </a:rPr>
              <a:t>e, ao final, o tipo de cozinha </a:t>
            </a:r>
            <a:r>
              <a:rPr sz="2500" spc="11" dirty="0">
                <a:latin typeface="Arial"/>
                <a:cs typeface="Arial"/>
              </a:rPr>
              <a:t>do  </a:t>
            </a:r>
            <a:r>
              <a:rPr sz="2500" dirty="0">
                <a:latin typeface="Arial"/>
                <a:cs typeface="Arial"/>
              </a:rPr>
              <a:t>restaurante com </a:t>
            </a:r>
            <a:r>
              <a:rPr sz="2500" spc="-6" dirty="0">
                <a:latin typeface="Arial"/>
                <a:cs typeface="Arial"/>
              </a:rPr>
              <a:t>maior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nota.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559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744" y="1125779"/>
            <a:ext cx="9580246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287" marR="5793" indent="-509804" algn="just">
              <a:lnSpc>
                <a:spcPct val="80000"/>
              </a:lnSpc>
              <a:buClr>
                <a:srgbClr val="C00000"/>
              </a:buClr>
              <a:buAutoNum type="arabicParenR" startAt="10"/>
              <a:tabLst>
                <a:tab pos="625669" algn="l"/>
              </a:tabLst>
            </a:pPr>
            <a:r>
              <a:rPr sz="2500" dirty="0">
                <a:latin typeface="Arial"/>
                <a:cs typeface="Arial"/>
              </a:rPr>
              <a:t>Faça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permita </a:t>
            </a:r>
            <a:r>
              <a:rPr sz="2500" spc="-6" dirty="0">
                <a:latin typeface="Arial"/>
                <a:cs typeface="Arial"/>
              </a:rPr>
              <a:t>o </a:t>
            </a:r>
            <a:r>
              <a:rPr sz="2500" dirty="0">
                <a:latin typeface="Arial"/>
                <a:cs typeface="Arial"/>
              </a:rPr>
              <a:t>cadastro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veículos. A  estrutura veículos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conter </a:t>
            </a:r>
            <a:r>
              <a:rPr sz="2500" spc="-6" dirty="0">
                <a:latin typeface="Arial"/>
                <a:cs typeface="Arial"/>
              </a:rPr>
              <a:t>os campos placa, </a:t>
            </a:r>
            <a:r>
              <a:rPr sz="2500" dirty="0">
                <a:latin typeface="Arial"/>
                <a:cs typeface="Arial"/>
              </a:rPr>
              <a:t>marca,  </a:t>
            </a:r>
            <a:r>
              <a:rPr sz="2500" spc="-6" dirty="0">
                <a:latin typeface="Arial"/>
                <a:cs typeface="Arial"/>
              </a:rPr>
              <a:t>modelo e </a:t>
            </a:r>
            <a:r>
              <a:rPr sz="2500" spc="-11" dirty="0">
                <a:latin typeface="Arial"/>
                <a:cs typeface="Arial"/>
              </a:rPr>
              <a:t>ano. </a:t>
            </a:r>
            <a:r>
              <a:rPr sz="2500" spc="-6" dirty="0">
                <a:latin typeface="Arial"/>
                <a:cs typeface="Arial"/>
              </a:rPr>
              <a:t>Faça um menu </a:t>
            </a:r>
            <a:r>
              <a:rPr sz="2500" dirty="0">
                <a:latin typeface="Arial"/>
                <a:cs typeface="Arial"/>
              </a:rPr>
              <a:t>com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20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opções:</a:t>
            </a:r>
            <a:endParaRPr sz="2500">
              <a:latin typeface="Arial"/>
              <a:cs typeface="Arial"/>
            </a:endParaRPr>
          </a:p>
          <a:p>
            <a:pPr marL="1048575">
              <a:spcBef>
                <a:spcPts val="616"/>
              </a:spcBef>
            </a:pPr>
            <a:r>
              <a:rPr sz="2100" spc="-6" dirty="0">
                <a:latin typeface="Courier New"/>
                <a:cs typeface="Courier New"/>
              </a:rPr>
              <a:t>Menu:</a:t>
            </a:r>
            <a:endParaRPr sz="2100">
              <a:latin typeface="Courier New"/>
              <a:cs typeface="Courier New"/>
            </a:endParaRPr>
          </a:p>
          <a:p>
            <a:pPr marL="1697417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Ler </a:t>
            </a:r>
            <a:r>
              <a:rPr sz="2100" spc="-6" dirty="0">
                <a:latin typeface="Courier New"/>
                <a:cs typeface="Courier New"/>
              </a:rPr>
              <a:t>as </a:t>
            </a:r>
            <a:r>
              <a:rPr sz="2100" spc="-11" dirty="0">
                <a:latin typeface="Courier New"/>
                <a:cs typeface="Courier New"/>
              </a:rPr>
              <a:t>informações </a:t>
            </a:r>
            <a:r>
              <a:rPr sz="2100" spc="-6" dirty="0">
                <a:latin typeface="Courier New"/>
                <a:cs typeface="Courier New"/>
              </a:rPr>
              <a:t>de um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veículo</a:t>
            </a:r>
            <a:endParaRPr sz="2100">
              <a:latin typeface="Courier New"/>
              <a:cs typeface="Courier New"/>
            </a:endParaRPr>
          </a:p>
          <a:p>
            <a:pPr marL="1697417" marR="498218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Verificar </a:t>
            </a:r>
            <a:r>
              <a:rPr sz="2100" spc="-6" dirty="0">
                <a:latin typeface="Courier New"/>
                <a:cs typeface="Courier New"/>
              </a:rPr>
              <a:t>se </a:t>
            </a:r>
            <a:r>
              <a:rPr sz="2100" spc="-17" dirty="0">
                <a:latin typeface="Courier New"/>
                <a:cs typeface="Courier New"/>
              </a:rPr>
              <a:t>uma </a:t>
            </a:r>
            <a:r>
              <a:rPr sz="2100" spc="-11" dirty="0">
                <a:latin typeface="Courier New"/>
                <a:cs typeface="Courier New"/>
              </a:rPr>
              <a:t>placa está no formato correto  (AAADDDD)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Imprimir por</a:t>
            </a:r>
            <a:r>
              <a:rPr sz="2100" spc="-91" dirty="0">
                <a:latin typeface="Courier New"/>
                <a:cs typeface="Courier New"/>
              </a:rPr>
              <a:t> </a:t>
            </a:r>
            <a:r>
              <a:rPr sz="2100" spc="-17" dirty="0">
                <a:latin typeface="Courier New"/>
                <a:cs typeface="Courier New"/>
              </a:rPr>
              <a:t>ano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Pesquisar veículo </a:t>
            </a:r>
            <a:r>
              <a:rPr sz="2100" spc="-6" dirty="0">
                <a:latin typeface="Courier New"/>
                <a:cs typeface="Courier New"/>
              </a:rPr>
              <a:t>por</a:t>
            </a:r>
            <a:r>
              <a:rPr sz="2100" spc="-103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placa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844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6" dirty="0">
                <a:latin typeface="Courier New"/>
                <a:cs typeface="Courier New"/>
              </a:rPr>
              <a:t>Imprimir todos os veículos</a:t>
            </a:r>
            <a:r>
              <a:rPr sz="2100" spc="-268" dirty="0"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cadastrados</a:t>
            </a:r>
            <a:endParaRPr sz="2100">
              <a:latin typeface="Courier New"/>
              <a:cs typeface="Courier New"/>
            </a:endParaRPr>
          </a:p>
          <a:p>
            <a:pPr marL="523563">
              <a:spcBef>
                <a:spcPts val="205"/>
              </a:spcBef>
            </a:pPr>
            <a:r>
              <a:rPr sz="2500" dirty="0">
                <a:latin typeface="Arial"/>
                <a:cs typeface="Arial"/>
              </a:rPr>
              <a:t>O programa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ter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características: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91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primeiro item, peça inicialmente </a:t>
            </a:r>
            <a:r>
              <a:rPr sz="2500" dirty="0">
                <a:latin typeface="Arial"/>
                <a:cs typeface="Arial"/>
              </a:rPr>
              <a:t>o </a:t>
            </a:r>
            <a:r>
              <a:rPr sz="2500" spc="-6" dirty="0">
                <a:latin typeface="Arial"/>
                <a:cs typeface="Arial"/>
              </a:rPr>
              <a:t>índice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14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vetor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que deseja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alterar.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68"/>
              </a:spcBef>
              <a:buClr>
                <a:srgbClr val="808080"/>
              </a:buClr>
              <a:buSzPct val="68181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terceiro </a:t>
            </a:r>
            <a:r>
              <a:rPr sz="2500" dirty="0">
                <a:latin typeface="Arial"/>
                <a:cs typeface="Arial"/>
              </a:rPr>
              <a:t>item, </a:t>
            </a:r>
            <a:r>
              <a:rPr sz="2500" spc="-6" dirty="0">
                <a:latin typeface="Arial"/>
                <a:cs typeface="Arial"/>
              </a:rPr>
              <a:t>peça o ano mínimo e </a:t>
            </a:r>
            <a:r>
              <a:rPr sz="2500" spc="-11" dirty="0">
                <a:latin typeface="Arial"/>
                <a:cs typeface="Arial"/>
              </a:rPr>
              <a:t>máximo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imprima </a:t>
            </a:r>
            <a:r>
              <a:rPr sz="2500" dirty="0">
                <a:latin typeface="Arial"/>
                <a:cs typeface="Arial"/>
              </a:rPr>
              <a:t>os </a:t>
            </a:r>
            <a:r>
              <a:rPr sz="2500" spc="-6" dirty="0">
                <a:latin typeface="Arial"/>
                <a:cs typeface="Arial"/>
              </a:rPr>
              <a:t>veículos que </a:t>
            </a:r>
            <a:r>
              <a:rPr sz="2500" dirty="0">
                <a:latin typeface="Arial"/>
                <a:cs typeface="Arial"/>
              </a:rPr>
              <a:t>estão </a:t>
            </a:r>
            <a:r>
              <a:rPr sz="2500" spc="-6" dirty="0">
                <a:latin typeface="Arial"/>
                <a:cs typeface="Arial"/>
              </a:rPr>
              <a:t>nesse</a:t>
            </a:r>
            <a:r>
              <a:rPr sz="2500" spc="10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intervalo.</a:t>
            </a:r>
            <a:endParaRPr sz="2500">
              <a:latin typeface="Arial"/>
              <a:cs typeface="Arial"/>
            </a:endParaRPr>
          </a:p>
          <a:p>
            <a:pPr marL="1697417" marR="101382" indent="-648842">
              <a:lnSpc>
                <a:spcPts val="2418"/>
              </a:lnSpc>
              <a:spcBef>
                <a:spcPts val="644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6" dirty="0">
                <a:latin typeface="Arial"/>
                <a:cs typeface="Arial"/>
              </a:rPr>
              <a:t>Faça funções para realizar as operações de cada um  dos itens do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menu.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7254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060" y="505035"/>
            <a:ext cx="750824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dirty="0" smtClean="0"/>
              <a:t>Recursividade - </a:t>
            </a:r>
            <a:r>
              <a:rPr dirty="0" err="1" smtClean="0"/>
              <a:t>D</a:t>
            </a:r>
            <a:r>
              <a:rPr spc="-10" dirty="0" err="1" smtClean="0"/>
              <a:t>efi</a:t>
            </a:r>
            <a:r>
              <a:rPr spc="5" dirty="0" err="1" smtClean="0"/>
              <a:t>n</a:t>
            </a:r>
            <a:r>
              <a:rPr dirty="0" err="1" smtClean="0"/>
              <a:t>i</a:t>
            </a:r>
            <a:r>
              <a:rPr spc="-10" dirty="0" err="1" smtClean="0"/>
              <a:t>ç</a:t>
            </a:r>
            <a:r>
              <a:rPr spc="0" dirty="0" err="1" smtClean="0"/>
              <a:t>ã</a:t>
            </a:r>
            <a:r>
              <a:rPr spc="-5" dirty="0" err="1" smtClean="0"/>
              <a:t>o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109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94079" y="1950096"/>
            <a:ext cx="8859520" cy="4624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5" dirty="0">
                <a:latin typeface="Arial"/>
                <a:cs typeface="Arial"/>
              </a:rPr>
              <a:t>ão é 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 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a,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ou indi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amen</a:t>
            </a:r>
            <a:r>
              <a:rPr sz="330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latin typeface="Times New Roman"/>
              <a:cs typeface="Times New Roman"/>
            </a:endParaRPr>
          </a:p>
          <a:p>
            <a:pPr marL="390525" marR="426084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opó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ar</a:t>
            </a:r>
            <a:r>
              <a:rPr sz="3300" dirty="0">
                <a:latin typeface="Arial"/>
                <a:cs typeface="Arial"/>
              </a:rPr>
              <a:t> s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ionali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e ou o</a:t>
            </a:r>
            <a:r>
              <a:rPr sz="3300" spc="-10" dirty="0">
                <a:latin typeface="Arial"/>
                <a:cs typeface="Arial"/>
              </a:rPr>
              <a:t>b</a:t>
            </a:r>
            <a:r>
              <a:rPr sz="3300" dirty="0">
                <a:latin typeface="Arial"/>
                <a:cs typeface="Arial"/>
              </a:rPr>
              <a:t>j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manei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mais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la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e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on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a.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52A33"/>
              </a:buClr>
              <a:buFont typeface="Wingdings"/>
              <a:buChar char=""/>
            </a:pPr>
            <a:endParaRPr sz="4450">
              <a:latin typeface="Times New Roman"/>
              <a:cs typeface="Times New Roman"/>
            </a:endParaRPr>
          </a:p>
          <a:p>
            <a:pPr marL="390525" marR="1050925" indent="-377825">
              <a:lnSpc>
                <a:spcPts val="3579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latin typeface="Arial"/>
                <a:cs typeface="Arial"/>
              </a:rPr>
              <a:t>Lin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ua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ens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spc="-5" dirty="0">
                <a:latin typeface="Arial"/>
                <a:cs typeface="Arial"/>
              </a:rPr>
              <a:t>m 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20" dirty="0">
                <a:latin typeface="Arial"/>
                <a:cs typeface="Arial"/>
              </a:rPr>
              <a:t>ã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ia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ão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as</a:t>
            </a:r>
            <a:r>
              <a:rPr sz="3300" dirty="0">
                <a:latin typeface="Arial"/>
                <a:cs typeface="Arial"/>
              </a:rPr>
              <a:t> r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</a:t>
            </a:r>
            <a:r>
              <a:rPr sz="3300" dirty="0">
                <a:latin typeface="Arial"/>
                <a:cs typeface="Arial"/>
              </a:rPr>
              <a:t>rs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as</a:t>
            </a:r>
            <a:endParaRPr sz="3300">
              <a:latin typeface="Arial"/>
              <a:cs typeface="Arial"/>
            </a:endParaRPr>
          </a:p>
          <a:p>
            <a:pPr marL="774065" lvl="1" indent="-382270">
              <a:lnSpc>
                <a:spcPct val="100000"/>
              </a:lnSpc>
              <a:spcBef>
                <a:spcPts val="309"/>
              </a:spcBef>
              <a:buClr>
                <a:srgbClr val="7F7F7F"/>
              </a:buClr>
              <a:buSzPct val="68421"/>
              <a:buFont typeface="Wingdings"/>
              <a:buChar char=""/>
              <a:tabLst>
                <a:tab pos="774700" algn="l"/>
              </a:tabLst>
            </a:pPr>
            <a:r>
              <a:rPr sz="2850" spc="10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 li</a:t>
            </a:r>
            <a:r>
              <a:rPr sz="2850" spc="5" dirty="0">
                <a:latin typeface="Arial"/>
                <a:cs typeface="Arial"/>
              </a:rPr>
              <a:t>ngua</a:t>
            </a:r>
            <a:r>
              <a:rPr sz="2850" spc="15" dirty="0">
                <a:latin typeface="Arial"/>
                <a:cs typeface="Arial"/>
              </a:rPr>
              <a:t>g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 é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li</a:t>
            </a:r>
            <a:r>
              <a:rPr sz="2850" spc="5" dirty="0">
                <a:latin typeface="Arial"/>
                <a:cs typeface="Arial"/>
              </a:rPr>
              <a:t>nguage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-5" dirty="0">
                <a:latin typeface="Arial"/>
                <a:cs typeface="Arial"/>
              </a:rPr>
              <a:t>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192225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04566" y="2074705"/>
            <a:ext cx="7235190" cy="152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b="1" spc="15" dirty="0">
                <a:latin typeface="Arial"/>
                <a:cs typeface="Arial"/>
              </a:rPr>
              <a:t>C</a:t>
            </a:r>
            <a:r>
              <a:rPr sz="2850" b="1" spc="5" dirty="0">
                <a:latin typeface="Arial"/>
                <a:cs typeface="Arial"/>
              </a:rPr>
              <a:t>á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cu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va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or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de</a:t>
            </a:r>
            <a:r>
              <a:rPr sz="2850" b="1" dirty="0">
                <a:latin typeface="Arial"/>
                <a:cs typeface="Arial"/>
              </a:rPr>
              <a:t> 2</a:t>
            </a:r>
            <a:r>
              <a:rPr sz="2775" b="1" spc="15" baseline="27027" dirty="0">
                <a:latin typeface="Arial"/>
                <a:cs typeface="Arial"/>
              </a:rPr>
              <a:t>n</a:t>
            </a:r>
            <a:r>
              <a:rPr sz="2775" b="1" baseline="27027" dirty="0">
                <a:latin typeface="Arial"/>
                <a:cs typeface="Arial"/>
              </a:rPr>
              <a:t> </a:t>
            </a:r>
            <a:r>
              <a:rPr sz="2775" b="1" spc="-359" baseline="27027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pa</a:t>
            </a:r>
            <a:r>
              <a:rPr sz="2850" b="1" spc="15" dirty="0">
                <a:latin typeface="Arial"/>
                <a:cs typeface="Arial"/>
              </a:rPr>
              <a:t>r</a:t>
            </a:r>
            <a:r>
              <a:rPr sz="2850" b="1" spc="5" dirty="0">
                <a:latin typeface="Arial"/>
                <a:cs typeface="Arial"/>
              </a:rPr>
              <a:t>a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u</a:t>
            </a:r>
            <a:r>
              <a:rPr sz="2850" b="1" spc="15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 nú</a:t>
            </a:r>
            <a:r>
              <a:rPr sz="2850" b="1" spc="20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ero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n: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Ap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ende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os 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52" baseline="27027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…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357538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32085"/>
            <a:ext cx="5833745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Arial"/>
                <a:cs typeface="Arial"/>
              </a:rPr>
              <a:t>I</a:t>
            </a:r>
            <a:r>
              <a:rPr sz="2650" spc="-15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ple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en</a:t>
            </a:r>
            <a:r>
              <a:rPr sz="2650" spc="-10" dirty="0">
                <a:latin typeface="Arial"/>
                <a:cs typeface="Arial"/>
              </a:rPr>
              <a:t>t</a:t>
            </a:r>
            <a:r>
              <a:rPr sz="2650" spc="-15" dirty="0">
                <a:latin typeface="Arial"/>
                <a:cs typeface="Arial"/>
              </a:rPr>
              <a:t>a</a:t>
            </a:r>
            <a:r>
              <a:rPr sz="2650" dirty="0">
                <a:latin typeface="Arial"/>
                <a:cs typeface="Arial"/>
              </a:rPr>
              <a:t>ç</a:t>
            </a:r>
            <a:r>
              <a:rPr sz="2650" spc="-15" dirty="0">
                <a:latin typeface="Arial"/>
                <a:cs typeface="Arial"/>
              </a:rPr>
              <a:t>ã</a:t>
            </a:r>
            <a:r>
              <a:rPr sz="2650" spc="-10" dirty="0">
                <a:latin typeface="Arial"/>
                <a:cs typeface="Arial"/>
              </a:rPr>
              <a:t>o</a:t>
            </a:r>
            <a:r>
              <a:rPr sz="2650" spc="5" dirty="0">
                <a:latin typeface="Arial"/>
                <a:cs typeface="Arial"/>
              </a:rPr>
              <a:t> 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u</a:t>
            </a:r>
            <a:r>
              <a:rPr sz="2650" spc="-5" dirty="0">
                <a:latin typeface="Arial"/>
                <a:cs typeface="Arial"/>
              </a:rPr>
              <a:t>i</a:t>
            </a:r>
            <a:r>
              <a:rPr sz="2650" spc="0" dirty="0">
                <a:latin typeface="Arial"/>
                <a:cs typeface="Arial"/>
              </a:rPr>
              <a:t>t</a:t>
            </a:r>
            <a:r>
              <a:rPr sz="2650" spc="-10" dirty="0">
                <a:latin typeface="Arial"/>
                <a:cs typeface="Arial"/>
              </a:rPr>
              <a:t>o s</a:t>
            </a:r>
            <a:r>
              <a:rPr sz="2650" spc="0" dirty="0">
                <a:latin typeface="Arial"/>
                <a:cs typeface="Arial"/>
              </a:rPr>
              <a:t>i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p</a:t>
            </a:r>
            <a:r>
              <a:rPr sz="2650" spc="0" dirty="0">
                <a:latin typeface="Arial"/>
                <a:cs typeface="Arial"/>
              </a:rPr>
              <a:t>l</a:t>
            </a:r>
            <a:r>
              <a:rPr sz="2650" spc="-15" dirty="0">
                <a:latin typeface="Arial"/>
                <a:cs typeface="Arial"/>
              </a:rPr>
              <a:t>e</a:t>
            </a:r>
            <a:r>
              <a:rPr sz="2650" spc="-10" dirty="0">
                <a:latin typeface="Arial"/>
                <a:cs typeface="Arial"/>
              </a:rPr>
              <a:t>s</a:t>
            </a:r>
            <a:r>
              <a:rPr sz="2650" spc="-5" dirty="0">
                <a:latin typeface="Arial"/>
                <a:cs typeface="Arial"/>
              </a:rPr>
              <a:t>: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111" y="2743941"/>
            <a:ext cx="4204970" cy="3091122"/>
          </a:xfrm>
          <a:custGeom>
            <a:avLst/>
            <a:gdLst/>
            <a:ahLst/>
            <a:cxnLst/>
            <a:rect l="l" t="t" r="r" b="b"/>
            <a:pathLst>
              <a:path w="4204970" h="3093720">
                <a:moveTo>
                  <a:pt x="0" y="0"/>
                </a:moveTo>
                <a:lnTo>
                  <a:pt x="0" y="3093719"/>
                </a:lnTo>
                <a:lnTo>
                  <a:pt x="4204715" y="3093719"/>
                </a:lnTo>
                <a:lnTo>
                  <a:pt x="4204715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1267" y="2776171"/>
            <a:ext cx="255778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dirty="0">
                <a:latin typeface="Courier New"/>
                <a:cs typeface="Courier New"/>
              </a:rPr>
              <a:t>te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c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a(i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111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269492" y="3417960"/>
            <a:ext cx="1481455" cy="113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403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f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r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3485" y="4273005"/>
            <a:ext cx="53721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i++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900" y="4273005"/>
            <a:ext cx="201930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&lt;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403860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*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2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492" y="4541003"/>
            <a:ext cx="808355" cy="76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03860">
              <a:lnSpc>
                <a:spcPct val="140000"/>
              </a:lnSpc>
            </a:pP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 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10" dirty="0">
                <a:latin typeface="Courier New"/>
                <a:cs typeface="Courier New"/>
              </a:rPr>
              <a:t>e</a:t>
            </a:r>
            <a:r>
              <a:rPr sz="1750" dirty="0">
                <a:latin typeface="Courier New"/>
                <a:cs typeface="Courier New"/>
              </a:rPr>
              <a:t>t</a:t>
            </a:r>
            <a:r>
              <a:rPr sz="1750" spc="10" dirty="0">
                <a:latin typeface="Courier New"/>
                <a:cs typeface="Courier New"/>
              </a:rPr>
              <a:t>u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2716" y="5020661"/>
            <a:ext cx="8064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ot)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267" y="5395249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283211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4" y="2074705"/>
            <a:ext cx="688276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1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1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ar</a:t>
            </a:r>
            <a:r>
              <a:rPr sz="2850" spc="-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or de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37" baseline="27027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endo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2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: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1324" y="4171491"/>
            <a:ext cx="3442335" cy="149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2630">
              <a:lnSpc>
                <a:spcPts val="3340"/>
              </a:lnSpc>
            </a:pP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1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340"/>
              </a:lnSpc>
            </a:pPr>
            <a:r>
              <a:rPr sz="4275" spc="7" baseline="-17543" dirty="0">
                <a:latin typeface="Arial"/>
                <a:cs typeface="Arial"/>
              </a:rPr>
              <a:t>2</a:t>
            </a:r>
            <a:r>
              <a:rPr sz="1850" spc="1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 marL="822960">
              <a:lnSpc>
                <a:spcPct val="100000"/>
              </a:lnSpc>
              <a:spcBef>
                <a:spcPts val="1580"/>
              </a:spcBef>
            </a:pPr>
            <a:r>
              <a:rPr sz="2850" spc="5" dirty="0">
                <a:latin typeface="Arial"/>
                <a:cs typeface="Arial"/>
              </a:rPr>
              <a:t>2 *</a:t>
            </a:r>
            <a:r>
              <a:rPr sz="2850" spc="2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spc="2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&gt; 1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9887" y="4061094"/>
            <a:ext cx="117475" cy="1773969"/>
          </a:xfrm>
          <a:custGeom>
            <a:avLst/>
            <a:gdLst/>
            <a:ahLst/>
            <a:cxnLst/>
            <a:rect l="l" t="t" r="r" b="b"/>
            <a:pathLst>
              <a:path w="117475" h="1775460">
                <a:moveTo>
                  <a:pt x="117347" y="0"/>
                </a:moveTo>
                <a:lnTo>
                  <a:pt x="85114" y="24416"/>
                </a:lnTo>
                <a:lnTo>
                  <a:pt x="69616" y="60899"/>
                </a:lnTo>
                <a:lnTo>
                  <a:pt x="61020" y="101437"/>
                </a:lnTo>
                <a:lnTo>
                  <a:pt x="58002" y="139798"/>
                </a:lnTo>
                <a:lnTo>
                  <a:pt x="57911" y="147827"/>
                </a:lnTo>
                <a:lnTo>
                  <a:pt x="57911" y="740663"/>
                </a:lnTo>
                <a:lnTo>
                  <a:pt x="57826" y="748693"/>
                </a:lnTo>
                <a:lnTo>
                  <a:pt x="54961" y="787054"/>
                </a:lnTo>
                <a:lnTo>
                  <a:pt x="46744" y="827592"/>
                </a:lnTo>
                <a:lnTo>
                  <a:pt x="31769" y="864075"/>
                </a:lnTo>
                <a:lnTo>
                  <a:pt x="0" y="888491"/>
                </a:lnTo>
                <a:lnTo>
                  <a:pt x="3179" y="888708"/>
                </a:lnTo>
                <a:lnTo>
                  <a:pt x="34210" y="916826"/>
                </a:lnTo>
                <a:lnTo>
                  <a:pt x="48439" y="954959"/>
                </a:lnTo>
                <a:lnTo>
                  <a:pt x="55844" y="996794"/>
                </a:lnTo>
                <a:lnTo>
                  <a:pt x="57911" y="1036319"/>
                </a:lnTo>
                <a:lnTo>
                  <a:pt x="57911" y="1627631"/>
                </a:lnTo>
                <a:lnTo>
                  <a:pt x="58002" y="1635803"/>
                </a:lnTo>
                <a:lnTo>
                  <a:pt x="61020" y="1674607"/>
                </a:lnTo>
                <a:lnTo>
                  <a:pt x="69616" y="1715219"/>
                </a:lnTo>
                <a:lnTo>
                  <a:pt x="85114" y="1751432"/>
                </a:lnTo>
                <a:lnTo>
                  <a:pt x="114163" y="1775243"/>
                </a:lnTo>
                <a:lnTo>
                  <a:pt x="117347" y="1775459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921317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94080" y="1931326"/>
            <a:ext cx="8485505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igni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a que,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spc="-1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ulo do 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alor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</a:t>
            </a:r>
            <a:r>
              <a:rPr sz="3300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n </a:t>
            </a:r>
            <a:r>
              <a:rPr sz="3300" spc="-5" dirty="0">
                <a:latin typeface="Arial"/>
                <a:cs typeface="Arial"/>
              </a:rPr>
              <a:t>pa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um de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</a:t>
            </a:r>
            <a:r>
              <a:rPr sz="3300" spc="10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nado n,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há ne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ade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que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e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aos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los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io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or</a:t>
            </a:r>
            <a:r>
              <a:rPr sz="3300" spc="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emplo: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é 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-7" baseline="25252" dirty="0">
                <a:latin typeface="Arial"/>
                <a:cs typeface="Arial"/>
              </a:rPr>
              <a:t>4</a:t>
            </a:r>
            <a:r>
              <a:rPr sz="3300" spc="-5" dirty="0">
                <a:latin typeface="Arial"/>
                <a:cs typeface="Arial"/>
              </a:rPr>
              <a:t>?</a:t>
            </a:r>
            <a:endParaRPr sz="33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287029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77470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051657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57542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477141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56302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240393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736907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494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66304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003282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444838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4195445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160498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5163185" cy="358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1996439">
              <a:lnSpc>
                <a:spcPct val="100000"/>
              </a:lnSpc>
            </a:pP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an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o,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 </a:t>
            </a:r>
            <a:r>
              <a:rPr sz="3300" spc="-457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spc="2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689409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080" y="1948573"/>
            <a:ext cx="8625205" cy="4873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pa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: </a:t>
            </a:r>
            <a:r>
              <a:rPr sz="3500" spc="10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-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ur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o</a:t>
            </a:r>
            <a:r>
              <a:rPr sz="3500" spc="15" dirty="0">
                <a:latin typeface="Arial"/>
                <a:cs typeface="Arial"/>
              </a:rPr>
              <a:t>u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15" dirty="0">
                <a:latin typeface="Arial"/>
                <a:cs typeface="Arial"/>
              </a:rPr>
              <a:t>e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57531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Tod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20" dirty="0">
                <a:latin typeface="Arial"/>
                <a:cs typeface="Arial"/>
              </a:rPr>
              <a:t>p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og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</a:t>
            </a:r>
            <a:r>
              <a:rPr sz="3500" spc="10" dirty="0">
                <a:latin typeface="Arial"/>
                <a:cs typeface="Arial"/>
              </a:rPr>
              <a:t>rs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10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10" dirty="0">
                <a:latin typeface="Arial"/>
                <a:cs typeface="Arial"/>
              </a:rPr>
              <a:t>s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20" dirty="0">
                <a:latin typeface="Arial"/>
                <a:cs typeface="Arial"/>
              </a:rPr>
              <a:t>u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r u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on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ç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ad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!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302260" indent="-377825">
              <a:lnSpc>
                <a:spcPts val="379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vo</a:t>
            </a:r>
            <a:r>
              <a:rPr sz="3500" spc="5" dirty="0">
                <a:latin typeface="Arial"/>
                <a:cs typeface="Arial"/>
              </a:rPr>
              <a:t>.</a:t>
            </a:r>
            <a:endParaRPr sz="3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90453211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7396" y="3631686"/>
            <a:ext cx="147383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latin typeface="Arial"/>
                <a:cs typeface="Arial"/>
              </a:rPr>
              <a:t>2,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=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93993" y="3631686"/>
            <a:ext cx="243840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B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se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ã</a:t>
            </a:r>
            <a:r>
              <a:rPr sz="2400" spc="1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5" y="3939276"/>
            <a:ext cx="31305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7" baseline="-17361" dirty="0">
                <a:latin typeface="Arial"/>
                <a:cs typeface="Arial"/>
              </a:rPr>
              <a:t>2</a:t>
            </a:r>
            <a:r>
              <a:rPr sz="1650" dirty="0"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395" y="4848339"/>
            <a:ext cx="223901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0" dirty="0">
                <a:latin typeface="Arial"/>
                <a:cs typeface="Arial"/>
              </a:rPr>
              <a:t>2 </a:t>
            </a:r>
            <a:r>
              <a:rPr sz="2400" spc="5" dirty="0">
                <a:latin typeface="Arial"/>
                <a:cs typeface="Arial"/>
              </a:rPr>
              <a:t>*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2</a:t>
            </a:r>
            <a:r>
              <a:rPr sz="2475" baseline="25252" dirty="0">
                <a:latin typeface="Arial"/>
                <a:cs typeface="Arial"/>
              </a:rPr>
              <a:t>n-1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 &gt;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7479" y="4848339"/>
            <a:ext cx="221742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sso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1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i</a:t>
            </a:r>
            <a:r>
              <a:rPr sz="2400" spc="10" dirty="0">
                <a:latin typeface="Arial"/>
                <a:cs typeface="Arial"/>
              </a:rPr>
              <a:t>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3103" y="3458097"/>
            <a:ext cx="318770" cy="1982709"/>
          </a:xfrm>
          <a:custGeom>
            <a:avLst/>
            <a:gdLst/>
            <a:ahLst/>
            <a:cxnLst/>
            <a:rect l="l" t="t" r="r" b="b"/>
            <a:pathLst>
              <a:path w="318769" h="1984375">
                <a:moveTo>
                  <a:pt x="318515" y="0"/>
                </a:moveTo>
                <a:lnTo>
                  <a:pt x="279521" y="4983"/>
                </a:lnTo>
                <a:lnTo>
                  <a:pt x="244015" y="19118"/>
                </a:lnTo>
                <a:lnTo>
                  <a:pt x="209197" y="44907"/>
                </a:lnTo>
                <a:lnTo>
                  <a:pt x="185075" y="74528"/>
                </a:lnTo>
                <a:lnTo>
                  <a:pt x="168087" y="109452"/>
                </a:lnTo>
                <a:lnTo>
                  <a:pt x="159394" y="148455"/>
                </a:lnTo>
                <a:lnTo>
                  <a:pt x="158495" y="166115"/>
                </a:lnTo>
                <a:lnTo>
                  <a:pt x="158495" y="827531"/>
                </a:lnTo>
                <a:lnTo>
                  <a:pt x="158397" y="833468"/>
                </a:lnTo>
                <a:lnTo>
                  <a:pt x="152407" y="873291"/>
                </a:lnTo>
                <a:lnTo>
                  <a:pt x="137929" y="909247"/>
                </a:lnTo>
                <a:lnTo>
                  <a:pt x="112394" y="944117"/>
                </a:lnTo>
                <a:lnTo>
                  <a:pt x="78839" y="970690"/>
                </a:lnTo>
                <a:lnTo>
                  <a:pt x="38899" y="987235"/>
                </a:lnTo>
                <a:lnTo>
                  <a:pt x="0" y="992123"/>
                </a:lnTo>
                <a:lnTo>
                  <a:pt x="5738" y="992229"/>
                </a:lnTo>
                <a:lnTo>
                  <a:pt x="44185" y="998595"/>
                </a:lnTo>
                <a:lnTo>
                  <a:pt x="83417" y="1016790"/>
                </a:lnTo>
                <a:lnTo>
                  <a:pt x="116058" y="1044882"/>
                </a:lnTo>
                <a:lnTo>
                  <a:pt x="137929" y="1076143"/>
                </a:lnTo>
                <a:lnTo>
                  <a:pt x="152407" y="1112357"/>
                </a:lnTo>
                <a:lnTo>
                  <a:pt x="158397" y="1152300"/>
                </a:lnTo>
                <a:lnTo>
                  <a:pt x="158495" y="1158239"/>
                </a:lnTo>
                <a:lnTo>
                  <a:pt x="158495" y="1818131"/>
                </a:lnTo>
                <a:lnTo>
                  <a:pt x="158596" y="1824071"/>
                </a:lnTo>
                <a:lnTo>
                  <a:pt x="164706" y="1864014"/>
                </a:lnTo>
                <a:lnTo>
                  <a:pt x="179442" y="1900228"/>
                </a:lnTo>
                <a:lnTo>
                  <a:pt x="201645" y="1931489"/>
                </a:lnTo>
                <a:lnTo>
                  <a:pt x="234674" y="1959581"/>
                </a:lnTo>
                <a:lnTo>
                  <a:pt x="274208" y="1977776"/>
                </a:lnTo>
                <a:lnTo>
                  <a:pt x="312775" y="1984142"/>
                </a:lnTo>
                <a:lnTo>
                  <a:pt x="318515" y="1984247"/>
                </a:lnTo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100583"/>
                </a:lnTo>
                <a:lnTo>
                  <a:pt x="178307" y="100583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100583"/>
                </a:lnTo>
                <a:lnTo>
                  <a:pt x="713231" y="100583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11" name="object 11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99059"/>
                </a:lnTo>
                <a:lnTo>
                  <a:pt x="178307" y="99059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99059"/>
                </a:lnTo>
                <a:lnTo>
                  <a:pt x="713231" y="99059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776460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7615" y="2060241"/>
            <a:ext cx="9067800" cy="5404388"/>
          </a:xfrm>
          <a:custGeom>
            <a:avLst/>
            <a:gdLst/>
            <a:ahLst/>
            <a:cxnLst/>
            <a:rect l="l" t="t" r="r" b="b"/>
            <a:pathLst>
              <a:path w="9067800" h="5408930">
                <a:moveTo>
                  <a:pt x="0" y="0"/>
                </a:moveTo>
                <a:lnTo>
                  <a:pt x="0" y="5408675"/>
                </a:lnTo>
                <a:lnTo>
                  <a:pt x="9067799" y="5408675"/>
                </a:lnTo>
                <a:lnTo>
                  <a:pt x="9067799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071" y="2109728"/>
            <a:ext cx="457835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 Po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5" dirty="0">
                <a:latin typeface="Arial"/>
                <a:cs typeface="Arial"/>
              </a:rPr>
              <a:t>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-10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n)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{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0338" y="3158882"/>
            <a:ext cx="28809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Ba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da</a:t>
            </a:r>
            <a:r>
              <a:rPr sz="2850" spc="10" dirty="0">
                <a:latin typeface="Arial"/>
                <a:cs typeface="Arial"/>
              </a:rPr>
              <a:t> 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ão</a:t>
            </a:r>
            <a:endParaRPr sz="2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930" y="3069049"/>
            <a:ext cx="2133600" cy="1581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065" marR="5080" indent="-405765">
              <a:lnSpc>
                <a:spcPct val="120700"/>
              </a:lnSpc>
              <a:tabLst>
                <a:tab pos="498475" algn="l"/>
              </a:tabLst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dirty="0">
                <a:latin typeface="Arial"/>
                <a:cs typeface="Arial"/>
              </a:rPr>
              <a:t>f	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=</a:t>
            </a:r>
            <a:r>
              <a:rPr sz="2850" spc="5" dirty="0">
                <a:latin typeface="Arial"/>
                <a:cs typeface="Arial"/>
              </a:rPr>
              <a:t>= 1)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10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endParaRPr sz="2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070" y="4731851"/>
            <a:ext cx="699008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3925">
              <a:lnSpc>
                <a:spcPct val="100000"/>
              </a:lnSpc>
            </a:pP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</a:t>
            </a:r>
            <a:r>
              <a:rPr sz="2850" spc="15" dirty="0">
                <a:latin typeface="Arial"/>
                <a:cs typeface="Arial"/>
              </a:rPr>
              <a:t>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-10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- 1</a:t>
            </a:r>
            <a:r>
              <a:rPr sz="2850" spc="10" dirty="0">
                <a:latin typeface="Arial"/>
                <a:cs typeface="Arial"/>
              </a:rPr>
              <a:t>))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}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759" y="6827115"/>
            <a:ext cx="26142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Pa</a:t>
            </a:r>
            <a:r>
              <a:rPr sz="2850" spc="-5" dirty="0">
                <a:latin typeface="Arial"/>
                <a:cs typeface="Arial"/>
              </a:rPr>
              <a:t>s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397763"/>
                </a:moveTo>
                <a:lnTo>
                  <a:pt x="358139" y="0"/>
                </a:lnTo>
                <a:lnTo>
                  <a:pt x="0" y="198119"/>
                </a:lnTo>
                <a:lnTo>
                  <a:pt x="358139" y="397763"/>
                </a:lnTo>
                <a:close/>
              </a:path>
              <a:path w="1428114" h="398145">
                <a:moveTo>
                  <a:pt x="1427987" y="298703"/>
                </a:moveTo>
                <a:lnTo>
                  <a:pt x="1427987" y="99059"/>
                </a:lnTo>
                <a:lnTo>
                  <a:pt x="358139" y="99059"/>
                </a:lnTo>
                <a:lnTo>
                  <a:pt x="358139" y="298703"/>
                </a:lnTo>
                <a:lnTo>
                  <a:pt x="1427987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0"/>
                </a:moveTo>
                <a:lnTo>
                  <a:pt x="358139" y="99059"/>
                </a:lnTo>
                <a:lnTo>
                  <a:pt x="1427987" y="99059"/>
                </a:lnTo>
                <a:lnTo>
                  <a:pt x="1427987" y="298703"/>
                </a:lnTo>
                <a:lnTo>
                  <a:pt x="358139" y="298703"/>
                </a:lnTo>
                <a:lnTo>
                  <a:pt x="358139" y="397763"/>
                </a:lnTo>
                <a:lnTo>
                  <a:pt x="0" y="198119"/>
                </a:lnTo>
                <a:lnTo>
                  <a:pt x="358139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198119" y="0"/>
                </a:lnTo>
                <a:lnTo>
                  <a:pt x="0" y="356615"/>
                </a:lnTo>
                <a:lnTo>
                  <a:pt x="99059" y="356615"/>
                </a:lnTo>
                <a:lnTo>
                  <a:pt x="99059" y="1426463"/>
                </a:lnTo>
                <a:lnTo>
                  <a:pt x="297179" y="1426463"/>
                </a:lnTo>
                <a:lnTo>
                  <a:pt x="297179" y="356615"/>
                </a:lnTo>
                <a:lnTo>
                  <a:pt x="396239" y="356615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297179" y="356615"/>
                </a:lnTo>
                <a:lnTo>
                  <a:pt x="297179" y="1426463"/>
                </a:lnTo>
                <a:lnTo>
                  <a:pt x="99059" y="1426463"/>
                </a:lnTo>
                <a:lnTo>
                  <a:pt x="99059" y="356615"/>
                </a:lnTo>
                <a:lnTo>
                  <a:pt x="0" y="356615"/>
                </a:lnTo>
                <a:lnTo>
                  <a:pt x="198119" y="0"/>
                </a:lnTo>
                <a:lnTo>
                  <a:pt x="396239" y="356615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828049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2071668"/>
            <a:ext cx="8209915" cy="3517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87655">
              <a:lnSpc>
                <a:spcPct val="100699"/>
              </a:lnSpc>
            </a:pP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as 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an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x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a?</a:t>
            </a:r>
            <a:endParaRPr sz="2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400"/>
              </a:lnSpc>
              <a:spcBef>
                <a:spcPts val="1615"/>
              </a:spcBef>
            </a:pPr>
            <a:r>
              <a:rPr sz="2850" spc="5" dirty="0">
                <a:latin typeface="Arial"/>
                <a:cs typeface="Arial"/>
              </a:rPr>
              <a:t>Suponha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2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ha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ada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gu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ód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go</a:t>
            </a:r>
            <a:r>
              <a:rPr sz="28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850" spc="-1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850" spc="1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850" spc="-10" dirty="0" err="1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2850" spc="-10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129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06294355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u="sng" spc="5" dirty="0" err="1" smtClean="0">
                <a:latin typeface="Arial"/>
                <a:cs typeface="Arial"/>
              </a:rPr>
              <a:t>int</a:t>
            </a:r>
            <a:r>
              <a:rPr sz="1950" spc="1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smtClean="0">
                <a:latin typeface="Arial"/>
                <a:cs typeface="Arial"/>
              </a:rPr>
              <a:t>u</a:t>
            </a:r>
            <a:r>
              <a:rPr sz="1950" u="sng" spc="5" dirty="0" err="1" smtClean="0">
                <a:latin typeface="Arial"/>
                <a:cs typeface="Arial"/>
              </a:rPr>
              <a:t>r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498" y="5010508"/>
            <a:ext cx="2999740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-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Recu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195" y="2664761"/>
            <a:ext cx="1231900" cy="2305652"/>
          </a:xfrm>
          <a:custGeom>
            <a:avLst/>
            <a:gdLst/>
            <a:ahLst/>
            <a:cxnLst/>
            <a:rect l="l" t="t" r="r" b="b"/>
            <a:pathLst>
              <a:path w="1231900" h="2307590">
                <a:moveTo>
                  <a:pt x="138683" y="48767"/>
                </a:moveTo>
                <a:lnTo>
                  <a:pt x="25907" y="0"/>
                </a:lnTo>
                <a:lnTo>
                  <a:pt x="0" y="120395"/>
                </a:lnTo>
                <a:lnTo>
                  <a:pt x="48767" y="95208"/>
                </a:lnTo>
                <a:lnTo>
                  <a:pt x="48767" y="77723"/>
                </a:lnTo>
                <a:lnTo>
                  <a:pt x="76199" y="62483"/>
                </a:lnTo>
                <a:lnTo>
                  <a:pt x="83780" y="77124"/>
                </a:lnTo>
                <a:lnTo>
                  <a:pt x="138683" y="48767"/>
                </a:lnTo>
                <a:close/>
              </a:path>
              <a:path w="1231900" h="2307590">
                <a:moveTo>
                  <a:pt x="83780" y="77124"/>
                </a:moveTo>
                <a:lnTo>
                  <a:pt x="76199" y="62483"/>
                </a:lnTo>
                <a:lnTo>
                  <a:pt x="48767" y="77723"/>
                </a:lnTo>
                <a:lnTo>
                  <a:pt x="55906" y="91520"/>
                </a:lnTo>
                <a:lnTo>
                  <a:pt x="83780" y="77124"/>
                </a:lnTo>
                <a:close/>
              </a:path>
              <a:path w="1231900" h="2307590">
                <a:moveTo>
                  <a:pt x="55906" y="91520"/>
                </a:moveTo>
                <a:lnTo>
                  <a:pt x="48767" y="77723"/>
                </a:lnTo>
                <a:lnTo>
                  <a:pt x="48767" y="95208"/>
                </a:lnTo>
                <a:lnTo>
                  <a:pt x="55906" y="91520"/>
                </a:lnTo>
                <a:close/>
              </a:path>
              <a:path w="1231900" h="2307590">
                <a:moveTo>
                  <a:pt x="1231391" y="2293619"/>
                </a:moveTo>
                <a:lnTo>
                  <a:pt x="83780" y="77124"/>
                </a:lnTo>
                <a:lnTo>
                  <a:pt x="55906" y="91520"/>
                </a:lnTo>
                <a:lnTo>
                  <a:pt x="1202435" y="2307335"/>
                </a:lnTo>
                <a:lnTo>
                  <a:pt x="1231391" y="2293619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6496" y="35060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130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74165826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 err="1" smtClean="0">
                <a:latin typeface="Arial"/>
                <a:cs typeface="Arial"/>
              </a:rPr>
              <a:t>F</a:t>
            </a:r>
            <a:r>
              <a:rPr sz="1950" spc="5" dirty="0" err="1" smtClean="0">
                <a:latin typeface="Arial"/>
                <a:cs typeface="Arial"/>
              </a:rPr>
              <a:t>at</a:t>
            </a:r>
            <a:r>
              <a:rPr sz="1950" spc="15" dirty="0" err="1" smtClean="0">
                <a:latin typeface="Arial"/>
                <a:cs typeface="Arial"/>
              </a:rPr>
              <a:t>o</a:t>
            </a:r>
            <a:r>
              <a:rPr sz="1950" spc="5" dirty="0" err="1" smtClean="0">
                <a:latin typeface="Arial"/>
                <a:cs typeface="Arial"/>
              </a:rPr>
              <a:t>rial</a:t>
            </a:r>
            <a:r>
              <a:rPr sz="1950" spc="15" dirty="0" err="1" smtClean="0">
                <a:latin typeface="Arial"/>
                <a:cs typeface="Arial"/>
              </a:rPr>
              <a:t>Recu</a:t>
            </a:r>
            <a:r>
              <a:rPr sz="1950" spc="5" dirty="0" err="1" smtClean="0">
                <a:latin typeface="Arial"/>
                <a:cs typeface="Arial"/>
              </a:rPr>
              <a:t>r</a:t>
            </a:r>
            <a:r>
              <a:rPr sz="1950" spc="15" dirty="0" err="1" smtClean="0">
                <a:latin typeface="Arial"/>
                <a:cs typeface="Arial"/>
              </a:rPr>
              <a:t>s</a:t>
            </a:r>
            <a:r>
              <a:rPr sz="1950" spc="-5" dirty="0" err="1" smtClean="0">
                <a:latin typeface="Arial"/>
                <a:cs typeface="Arial"/>
              </a:rPr>
              <a:t>i</a:t>
            </a:r>
            <a:r>
              <a:rPr sz="1950" spc="15" dirty="0" err="1" smtClean="0">
                <a:latin typeface="Arial"/>
                <a:cs typeface="Arial"/>
              </a:rPr>
              <a:t>vo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194354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205634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474051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(1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435890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135</a:t>
            </a:fld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297376135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136</a:t>
            </a:fld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9372901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ne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363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2963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2963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137</a:t>
            </a:fld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96621767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8887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6111" y="2664760"/>
            <a:ext cx="158750" cy="2457925"/>
          </a:xfrm>
          <a:custGeom>
            <a:avLst/>
            <a:gdLst/>
            <a:ahLst/>
            <a:cxnLst/>
            <a:rect l="l" t="t" r="r" b="b"/>
            <a:pathLst>
              <a:path w="158750" h="2459990">
                <a:moveTo>
                  <a:pt x="158495" y="2365247"/>
                </a:moveTo>
                <a:lnTo>
                  <a:pt x="0" y="2365247"/>
                </a:lnTo>
                <a:lnTo>
                  <a:pt x="64007" y="2441565"/>
                </a:lnTo>
                <a:lnTo>
                  <a:pt x="64007" y="2380487"/>
                </a:lnTo>
                <a:lnTo>
                  <a:pt x="94487" y="2380487"/>
                </a:lnTo>
                <a:lnTo>
                  <a:pt x="94487" y="2441565"/>
                </a:lnTo>
                <a:lnTo>
                  <a:pt x="158495" y="2365247"/>
                </a:lnTo>
                <a:close/>
              </a:path>
              <a:path w="158750" h="2459990">
                <a:moveTo>
                  <a:pt x="94487" y="2365247"/>
                </a:moveTo>
                <a:lnTo>
                  <a:pt x="94487" y="0"/>
                </a:lnTo>
                <a:lnTo>
                  <a:pt x="64007" y="0"/>
                </a:lnTo>
                <a:lnTo>
                  <a:pt x="64007" y="2365247"/>
                </a:lnTo>
                <a:lnTo>
                  <a:pt x="94487" y="2365247"/>
                </a:lnTo>
                <a:close/>
              </a:path>
              <a:path w="158750" h="2459990">
                <a:moveTo>
                  <a:pt x="94487" y="2441565"/>
                </a:moveTo>
                <a:lnTo>
                  <a:pt x="94487" y="2380487"/>
                </a:lnTo>
                <a:lnTo>
                  <a:pt x="64007" y="2380487"/>
                </a:lnTo>
                <a:lnTo>
                  <a:pt x="64007" y="2441565"/>
                </a:lnTo>
                <a:lnTo>
                  <a:pt x="79247" y="2459735"/>
                </a:lnTo>
                <a:lnTo>
                  <a:pt x="94487" y="244156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7107" y="5322666"/>
            <a:ext cx="944244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70" dirty="0" smtClean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138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1381760" y="3664425"/>
            <a:ext cx="3054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7142614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02005" y="8826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843" y="2307648"/>
            <a:ext cx="8321040" cy="1418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405" marR="5080" indent="-53340">
              <a:lnSpc>
                <a:spcPct val="101099"/>
              </a:lnSpc>
            </a:pPr>
            <a:r>
              <a:rPr sz="3050" spc="15" dirty="0">
                <a:latin typeface="Arial"/>
                <a:cs typeface="Arial"/>
              </a:rPr>
              <a:t>Escre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um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25" dirty="0">
                <a:latin typeface="Arial"/>
                <a:cs typeface="Arial"/>
              </a:rPr>
              <a:t>ó</a:t>
            </a:r>
            <a:r>
              <a:rPr sz="3050" spc="15" dirty="0">
                <a:latin typeface="Arial"/>
                <a:cs typeface="Arial"/>
              </a:rPr>
              <a:t>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g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re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urs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p</a:t>
            </a:r>
            <a:r>
              <a:rPr sz="3050" spc="15" dirty="0">
                <a:latin typeface="Arial"/>
                <a:cs typeface="Arial"/>
              </a:rPr>
              <a:t>ara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10" dirty="0">
                <a:latin typeface="Arial"/>
                <a:cs typeface="Arial"/>
              </a:rPr>
              <a:t>r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á</a:t>
            </a:r>
            <a:r>
              <a:rPr sz="3050" spc="20" dirty="0">
                <a:latin typeface="Arial"/>
                <a:cs typeface="Arial"/>
              </a:rPr>
              <a:t>x</a:t>
            </a:r>
            <a:r>
              <a:rPr sz="3050" spc="15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o 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10" dirty="0">
                <a:latin typeface="Arial"/>
                <a:cs typeface="Arial"/>
              </a:rPr>
              <a:t>r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25" dirty="0">
                <a:latin typeface="Arial"/>
                <a:cs typeface="Arial"/>
              </a:rPr>
              <a:t>mum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MDC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e do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spc="25" dirty="0">
                <a:latin typeface="Arial"/>
                <a:cs typeface="Arial"/>
              </a:rPr>
              <a:t>úm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25" dirty="0">
                <a:latin typeface="Arial"/>
                <a:cs typeface="Arial"/>
              </a:rPr>
              <a:t>r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25" dirty="0">
                <a:latin typeface="Arial"/>
                <a:cs typeface="Arial"/>
              </a:rPr>
              <a:t>e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ros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po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dirty="0">
                <a:latin typeface="Arial"/>
                <a:cs typeface="Arial"/>
              </a:rPr>
              <a:t>iti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20" dirty="0">
                <a:latin typeface="Arial"/>
                <a:cs typeface="Arial"/>
              </a:rPr>
              <a:t> N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eg</a:t>
            </a:r>
            <a:r>
              <a:rPr sz="3050" spc="2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3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spc="15" dirty="0">
                <a:latin typeface="Arial"/>
                <a:cs typeface="Arial"/>
              </a:rPr>
              <a:t>eira</a:t>
            </a:r>
            <a:r>
              <a:rPr sz="3050" spc="5" dirty="0">
                <a:latin typeface="Arial"/>
                <a:cs typeface="Arial"/>
              </a:rPr>
              <a:t>: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6132" y="4228594"/>
            <a:ext cx="8567928" cy="1528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139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530301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368" y="4409797"/>
            <a:ext cx="951230" cy="317233"/>
          </a:xfrm>
          <a:custGeom>
            <a:avLst/>
            <a:gdLst/>
            <a:ahLst/>
            <a:cxnLst/>
            <a:rect l="l" t="t" r="r" b="b"/>
            <a:pathLst>
              <a:path w="951230" h="317500">
                <a:moveTo>
                  <a:pt x="0" y="0"/>
                </a:moveTo>
                <a:lnTo>
                  <a:pt x="0" y="316991"/>
                </a:lnTo>
                <a:lnTo>
                  <a:pt x="950975" y="316991"/>
                </a:lnTo>
                <a:lnTo>
                  <a:pt x="95097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188725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3904615" cy="1402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40195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&gt;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=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)==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0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ur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26336" y="4091550"/>
            <a:ext cx="3889375" cy="317233"/>
          </a:xfrm>
          <a:custGeom>
            <a:avLst/>
            <a:gdLst/>
            <a:ahLst/>
            <a:cxnLst/>
            <a:rect l="l" t="t" r="r" b="b"/>
            <a:pathLst>
              <a:path w="3889375" h="317500">
                <a:moveTo>
                  <a:pt x="0" y="0"/>
                </a:moveTo>
                <a:lnTo>
                  <a:pt x="0" y="316991"/>
                </a:lnTo>
                <a:lnTo>
                  <a:pt x="3889247" y="316991"/>
                </a:lnTo>
                <a:lnTo>
                  <a:pt x="3889247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468869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659" y="2971079"/>
            <a:ext cx="202120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7458" y="2864489"/>
            <a:ext cx="1481455" cy="151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985" indent="-134620">
              <a:lnSpc>
                <a:spcPct val="1400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233" y="5963224"/>
            <a:ext cx="402590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970">
              <a:lnSpc>
                <a:spcPct val="100000"/>
              </a:lnSpc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6335" y="4409797"/>
            <a:ext cx="3810000" cy="713141"/>
          </a:xfrm>
          <a:custGeom>
            <a:avLst/>
            <a:gdLst/>
            <a:ahLst/>
            <a:cxnLst/>
            <a:rect l="l" t="t" r="r" b="b"/>
            <a:pathLst>
              <a:path w="3810000" h="713739">
                <a:moveTo>
                  <a:pt x="0" y="0"/>
                </a:moveTo>
                <a:lnTo>
                  <a:pt x="0" y="713231"/>
                </a:lnTo>
                <a:lnTo>
                  <a:pt x="3809999" y="71323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421588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&lt;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45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409797"/>
            <a:ext cx="3810000" cy="317233"/>
          </a:xfrm>
          <a:custGeom>
            <a:avLst/>
            <a:gdLst/>
            <a:ahLst/>
            <a:cxnLst/>
            <a:rect l="l" t="t" r="r" b="b"/>
            <a:pathLst>
              <a:path w="3810000" h="317500">
                <a:moveTo>
                  <a:pt x="0" y="0"/>
                </a:moveTo>
                <a:lnTo>
                  <a:pt x="0" y="316991"/>
                </a:lnTo>
                <a:lnTo>
                  <a:pt x="3809999" y="31699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68055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&lt;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637540" marR="854075" indent="269240">
              <a:lnSpc>
                <a:spcPct val="140600"/>
              </a:lnSpc>
            </a:pPr>
            <a:r>
              <a:rPr sz="1750" dirty="0">
                <a:latin typeface="Courier New"/>
                <a:cs typeface="Courier New"/>
              </a:rPr>
              <a:t>re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 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D</a:t>
            </a:r>
            <a:r>
              <a:rPr sz="1750" spc="10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(m</a:t>
            </a:r>
            <a:r>
              <a:rPr sz="1750" spc="10" dirty="0">
                <a:latin typeface="Courier New"/>
                <a:cs typeface="Courier New"/>
              </a:rPr>
              <a:t>,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10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m))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728047"/>
            <a:ext cx="3810000" cy="315330"/>
          </a:xfrm>
          <a:custGeom>
            <a:avLst/>
            <a:gdLst/>
            <a:ahLst/>
            <a:cxnLst/>
            <a:rect l="l" t="t" r="r" b="b"/>
            <a:pathLst>
              <a:path w="3810000" h="315595">
                <a:moveTo>
                  <a:pt x="0" y="0"/>
                </a:moveTo>
                <a:lnTo>
                  <a:pt x="0" y="315467"/>
                </a:lnTo>
                <a:lnTo>
                  <a:pt x="3809999" y="315467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976658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1" y="1501807"/>
            <a:ext cx="7468870" cy="93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920">
              <a:lnSpc>
                <a:spcPct val="92000"/>
              </a:lnSpc>
              <a:tabLst>
                <a:tab pos="641985" algn="l"/>
              </a:tabLst>
            </a:pPr>
            <a:r>
              <a:rPr sz="2200" spc="-5" dirty="0">
                <a:solidFill>
                  <a:srgbClr val="852A33"/>
                </a:solidFill>
                <a:latin typeface="Arial"/>
                <a:cs typeface="Arial"/>
              </a:rPr>
              <a:t>1</a:t>
            </a:r>
            <a:r>
              <a:rPr sz="2200" dirty="0">
                <a:solidFill>
                  <a:srgbClr val="852A33"/>
                </a:solidFill>
                <a:latin typeface="Arial"/>
                <a:cs typeface="Arial"/>
              </a:rPr>
              <a:t>)	</a:t>
            </a: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ã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spc="-15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150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-é</a:t>
            </a:r>
            <a:r>
              <a:rPr sz="2200" dirty="0">
                <a:latin typeface="Arial"/>
                <a:cs typeface="Arial"/>
              </a:rPr>
              <a:t>simo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bona</a:t>
            </a:r>
            <a:r>
              <a:rPr sz="2200" dirty="0">
                <a:latin typeface="Arial"/>
                <a:cs typeface="Arial"/>
              </a:rPr>
              <a:t>cci.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é </a:t>
            </a:r>
            <a:r>
              <a:rPr sz="2200" spc="-5" dirty="0">
                <a:latin typeface="Arial"/>
                <a:cs typeface="Arial"/>
              </a:rPr>
              <a:t>dad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por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2" y="3673815"/>
            <a:ext cx="8392795" cy="2900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285">
              <a:lnSpc>
                <a:spcPts val="239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ja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v</a:t>
            </a:r>
            <a:r>
              <a:rPr sz="2200" spc="-5" dirty="0">
                <a:latin typeface="Arial"/>
                <a:cs typeface="Arial"/>
              </a:rPr>
              <a:t>eto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nte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1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s. </a:t>
            </a:r>
            <a:r>
              <a:rPr sz="2200" spc="5" dirty="0">
                <a:latin typeface="Arial"/>
                <a:cs typeface="Arial"/>
              </a:rPr>
              <a:t>D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õe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rsi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par</a:t>
            </a:r>
            <a:r>
              <a:rPr sz="2200" dirty="0">
                <a:latin typeface="Arial"/>
                <a:cs typeface="Arial"/>
              </a:rPr>
              <a:t>a 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35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á</a:t>
            </a:r>
            <a:r>
              <a:rPr sz="2200" spc="-15" dirty="0">
                <a:latin typeface="Arial"/>
                <a:cs typeface="Arial"/>
              </a:rPr>
              <a:t>x</a:t>
            </a:r>
            <a:r>
              <a:rPr sz="2200" dirty="0">
                <a:latin typeface="Arial"/>
                <a:cs typeface="Arial"/>
              </a:rPr>
              <a:t>imo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éd</a:t>
            </a:r>
            <a:r>
              <a:rPr sz="2200" dirty="0">
                <a:latin typeface="Arial"/>
                <a:cs typeface="Arial"/>
              </a:rPr>
              <a:t>ia</a:t>
            </a:r>
            <a:r>
              <a:rPr sz="2200" spc="-5" dirty="0">
                <a:latin typeface="Arial"/>
                <a:cs typeface="Arial"/>
              </a:rPr>
              <a:t> ar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ét</a:t>
            </a:r>
            <a:r>
              <a:rPr sz="2200" dirty="0">
                <a:latin typeface="Arial"/>
                <a:cs typeface="Arial"/>
              </a:rPr>
              <a:t>ica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"/>
              </a:spcBef>
              <a:buFont typeface="Arial"/>
              <a:buAutoNum type="alphaLcParenR"/>
            </a:pPr>
            <a:endParaRPr sz="3250">
              <a:latin typeface="Times New Roman"/>
              <a:cs typeface="Times New Roman"/>
            </a:endParaRPr>
          </a:p>
          <a:p>
            <a:pPr marL="641985" marR="318770" indent="-629285">
              <a:lnSpc>
                <a:spcPts val="238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pro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ed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qu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pr</a:t>
            </a:r>
            <a:r>
              <a:rPr sz="2200" dirty="0">
                <a:latin typeface="Arial"/>
                <a:cs typeface="Arial"/>
              </a:rPr>
              <a:t>ima</a:t>
            </a:r>
            <a:r>
              <a:rPr sz="2200" spc="-5" dirty="0">
                <a:latin typeface="Arial"/>
                <a:cs typeface="Arial"/>
              </a:rPr>
              <a:t> n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t</a:t>
            </a:r>
            <a:r>
              <a:rPr sz="2200" dirty="0">
                <a:latin typeface="Arial"/>
                <a:cs typeface="Arial"/>
              </a:rPr>
              <a:t>ela</a:t>
            </a:r>
            <a:r>
              <a:rPr sz="2200" spc="-5" dirty="0">
                <a:latin typeface="Arial"/>
                <a:cs typeface="Arial"/>
              </a:rPr>
              <a:t> 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15" dirty="0">
                <a:latin typeface="Arial"/>
                <a:cs typeface="Arial"/>
              </a:rPr>
              <a:t>í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pare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à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 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forne</a:t>
            </a:r>
            <a:r>
              <a:rPr sz="2200" dirty="0">
                <a:latin typeface="Arial"/>
                <a:cs typeface="Arial"/>
              </a:rPr>
              <a:t>ci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lo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á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50847" y="2506398"/>
            <a:ext cx="5236464" cy="962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856621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672491"/>
          </a:xfrm>
          <a:prstGeom prst="rect">
            <a:avLst/>
          </a:prstGeom>
        </p:spPr>
        <p:txBody>
          <a:bodyPr vert="horz" wrap="square" lIns="0" tIns="79247" rIns="0" bIns="0" rtlCol="0">
            <a:spAutoFit/>
          </a:bodyPr>
          <a:lstStyle/>
          <a:p>
            <a:pPr marL="1079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/>
              <a:t>146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46252" y="1470876"/>
            <a:ext cx="9130665" cy="513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30353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ed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me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pr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 i</a:t>
            </a:r>
            <a:r>
              <a:rPr sz="2600" spc="25" dirty="0">
                <a:latin typeface="Arial"/>
                <a:cs typeface="Arial"/>
              </a:rPr>
              <a:t>mp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t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sé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20" dirty="0">
                <a:latin typeface="Arial"/>
                <a:cs typeface="Arial"/>
              </a:rPr>
              <a:t>te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[i,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5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 incr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  <a:buClr>
                <a:srgbClr val="852A33"/>
              </a:buClr>
              <a:buFont typeface="Arial"/>
              <a:buAutoNum type="arabicParenR" startAt="4"/>
            </a:pPr>
            <a:endParaRPr sz="3550">
              <a:latin typeface="Times New Roman"/>
              <a:cs typeface="Times New Roman"/>
            </a:endParaRPr>
          </a:p>
          <a:p>
            <a:pPr marL="641985" marR="508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f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10" dirty="0">
                <a:latin typeface="Arial"/>
                <a:cs typeface="Arial"/>
              </a:rPr>
              <a:t>t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So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(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q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ér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alores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[i</a:t>
            </a:r>
            <a:r>
              <a:rPr sz="2600" spc="25" dirty="0">
                <a:latin typeface="Arial"/>
                <a:cs typeface="Arial"/>
              </a:rPr>
              <a:t>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20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Clr>
                <a:srgbClr val="852A33"/>
              </a:buClr>
              <a:buFont typeface="Arial"/>
              <a:buAutoNum type="arabicParenR" startAt="4"/>
            </a:pPr>
            <a:endParaRPr sz="3600">
              <a:latin typeface="Times New Roman"/>
              <a:cs typeface="Times New Roman"/>
            </a:endParaRPr>
          </a:p>
          <a:p>
            <a:pPr marL="641985" marR="243840" indent="-629285">
              <a:lnSpc>
                <a:spcPts val="286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15" dirty="0">
                <a:latin typeface="Arial"/>
                <a:cs typeface="Arial"/>
              </a:rPr>
              <a:t>Fa</a:t>
            </a:r>
            <a:r>
              <a:rPr sz="2600" spc="25" dirty="0">
                <a:latin typeface="Arial"/>
                <a:cs typeface="Arial"/>
              </a:rPr>
              <a:t>ç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u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curs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ul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0" dirty="0">
                <a:latin typeface="Arial"/>
                <a:cs typeface="Arial"/>
              </a:rPr>
              <a:t>é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de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5" dirty="0">
                <a:latin typeface="Arial"/>
                <a:cs typeface="Arial"/>
              </a:rPr>
              <a:t>ri</a:t>
            </a:r>
            <a:r>
              <a:rPr sz="2600" spc="20" dirty="0">
                <a:latin typeface="Arial"/>
                <a:cs typeface="Arial"/>
              </a:rPr>
              <a:t>ta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eg</a:t>
            </a:r>
            <a:r>
              <a:rPr sz="2600" spc="15" dirty="0">
                <a:latin typeface="Arial"/>
                <a:cs typeface="Arial"/>
              </a:rPr>
              <a:t>ui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&gt;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0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15" dirty="0">
                <a:latin typeface="Arial"/>
                <a:cs typeface="Arial"/>
              </a:rPr>
              <a:t>eci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arâ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pa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sm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660"/>
              </a:lnSpc>
            </a:pP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20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2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3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..</a:t>
            </a:r>
            <a:r>
              <a:rPr sz="2600" spc="10" dirty="0">
                <a:latin typeface="Arial"/>
                <a:cs typeface="Arial"/>
              </a:rPr>
              <a:t>.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10" dirty="0">
                <a:latin typeface="Arial"/>
                <a:cs typeface="Arial"/>
              </a:rPr>
              <a:t>!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990"/>
              </a:lnSpc>
            </a:pPr>
            <a:r>
              <a:rPr sz="2600" spc="25" dirty="0">
                <a:latin typeface="Arial"/>
                <a:cs typeface="Arial"/>
              </a:rPr>
              <a:t>OBS</a:t>
            </a:r>
            <a:r>
              <a:rPr sz="2600" spc="10" dirty="0">
                <a:latin typeface="Arial"/>
                <a:cs typeface="Arial"/>
              </a:rPr>
              <a:t>: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or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25" dirty="0">
                <a:latin typeface="Arial"/>
                <a:cs typeface="Arial"/>
              </a:rPr>
              <a:t>ambé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rec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si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71477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147</a:t>
            </a:fld>
            <a:endParaRPr spc="-6" dirty="0"/>
          </a:p>
        </p:txBody>
      </p:sp>
      <p:sp>
        <p:nvSpPr>
          <p:cNvPr id="3" name="object 3"/>
          <p:cNvSpPr txBox="1"/>
          <p:nvPr/>
        </p:nvSpPr>
        <p:spPr>
          <a:xfrm>
            <a:off x="723349" y="1035050"/>
            <a:ext cx="9006962" cy="5963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O </a:t>
            </a:r>
            <a:r>
              <a:rPr lang="pt-BR" sz="3200" i="1" dirty="0" err="1"/>
              <a:t>debugger</a:t>
            </a:r>
            <a:r>
              <a:rPr lang="pt-BR" sz="3200" i="1" dirty="0"/>
              <a:t> </a:t>
            </a:r>
            <a:r>
              <a:rPr lang="pt-BR" sz="3200" dirty="0"/>
              <a:t>ou depurador é uma funcionalidade do </a:t>
            </a:r>
            <a:r>
              <a:rPr lang="pt-BR" sz="3200" dirty="0" err="1"/>
              <a:t>Code</a:t>
            </a:r>
            <a:r>
              <a:rPr lang="pt-BR" sz="3200" dirty="0"/>
              <a:t>::</a:t>
            </a:r>
            <a:r>
              <a:rPr lang="pt-BR" sz="3200" dirty="0" err="1"/>
              <a:t>Blocks</a:t>
            </a:r>
            <a:r>
              <a:rPr lang="pt-BR" sz="3200" dirty="0"/>
              <a:t> e de outras </a:t>
            </a:r>
            <a:r>
              <a:rPr lang="pt-BR" sz="3200" dirty="0" err="1"/>
              <a:t>IDEs</a:t>
            </a:r>
            <a:r>
              <a:rPr lang="pt-BR" sz="3200" dirty="0"/>
              <a:t> que permite a </a:t>
            </a:r>
            <a:r>
              <a:rPr lang="pt-BR" sz="3200" dirty="0" smtClean="0"/>
              <a:t>verificação </a:t>
            </a:r>
            <a:r>
              <a:rPr lang="pt-BR" sz="3200" dirty="0"/>
              <a:t>passo-a-passo da execução de um algoritmo. </a:t>
            </a:r>
          </a:p>
          <a:p>
            <a:pPr>
              <a:spcBef>
                <a:spcPts val="11"/>
              </a:spcBef>
            </a:pPr>
            <a:endParaRPr sz="4300" dirty="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Impressões, leituras de </a:t>
            </a:r>
            <a:r>
              <a:rPr sz="3200" dirty="0">
                <a:latin typeface="Arial"/>
                <a:cs typeface="Arial"/>
              </a:rPr>
              <a:t>dados, variáveis,  vetores, strings </a:t>
            </a:r>
            <a:r>
              <a:rPr sz="3200" spc="-6" dirty="0">
                <a:latin typeface="Arial"/>
                <a:cs typeface="Arial"/>
              </a:rPr>
              <a:t>etc.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ter </a:t>
            </a:r>
            <a:r>
              <a:rPr sz="3200" dirty="0">
                <a:latin typeface="Arial"/>
                <a:cs typeface="Arial"/>
              </a:rPr>
              <a:t>seus valores  verificados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execução de </a:t>
            </a:r>
            <a:r>
              <a:rPr sz="3200" dirty="0">
                <a:latin typeface="Arial"/>
                <a:cs typeface="Arial"/>
              </a:rPr>
              <a:t>uma </a:t>
            </a:r>
            <a:r>
              <a:rPr sz="3200" spc="-6" dirty="0">
                <a:latin typeface="Arial"/>
                <a:cs typeface="Arial"/>
              </a:rPr>
              <a:t>nova  </a:t>
            </a:r>
            <a:r>
              <a:rPr sz="3200" dirty="0">
                <a:latin typeface="Arial"/>
                <a:cs typeface="Arial"/>
              </a:rPr>
              <a:t>instrução.</a:t>
            </a:r>
          </a:p>
          <a:p>
            <a:pPr>
              <a:spcBef>
                <a:spcPts val="40"/>
              </a:spcBef>
              <a:buClr>
                <a:srgbClr val="852B34"/>
              </a:buClr>
              <a:buFont typeface="Arial"/>
              <a:buChar char="•"/>
            </a:pPr>
            <a:endParaRPr sz="4300" dirty="0">
              <a:latin typeface="Times New Roman"/>
              <a:cs typeface="Times New Roman"/>
            </a:endParaRPr>
          </a:p>
          <a:p>
            <a:pPr marL="405526" marR="7966" indent="-391043" algn="just">
              <a:lnSpc>
                <a:spcPts val="3455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Assim, </a:t>
            </a:r>
            <a:r>
              <a:rPr sz="3200" dirty="0">
                <a:latin typeface="Arial"/>
                <a:cs typeface="Arial"/>
              </a:rPr>
              <a:t>possíveis </a:t>
            </a:r>
            <a:r>
              <a:rPr sz="3200" spc="-6" dirty="0">
                <a:latin typeface="Arial"/>
                <a:cs typeface="Arial"/>
              </a:rPr>
              <a:t>falhas no </a:t>
            </a:r>
            <a:r>
              <a:rPr sz="3200" dirty="0">
                <a:latin typeface="Arial"/>
                <a:cs typeface="Arial"/>
              </a:rPr>
              <a:t>algoritmo podem  ser detectadas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facilmente.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3294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9190" cy="553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i="1" dirty="0">
                <a:latin typeface="Arial"/>
                <a:cs typeface="Arial"/>
              </a:rPr>
              <a:t>debugger </a:t>
            </a:r>
            <a:r>
              <a:rPr sz="3200" dirty="0">
                <a:latin typeface="Arial"/>
                <a:cs typeface="Arial"/>
              </a:rPr>
              <a:t>também </a:t>
            </a:r>
            <a:r>
              <a:rPr sz="3200" spc="-6" dirty="0">
                <a:latin typeface="Arial"/>
                <a:cs typeface="Arial"/>
              </a:rPr>
              <a:t>serve como </a:t>
            </a:r>
            <a:r>
              <a:rPr sz="3200" dirty="0">
                <a:latin typeface="Arial"/>
                <a:cs typeface="Arial"/>
              </a:rPr>
              <a:t>uma  importante ferramenta </a:t>
            </a:r>
            <a:r>
              <a:rPr sz="3200" spc="-6" dirty="0">
                <a:latin typeface="Arial"/>
                <a:cs typeface="Arial"/>
              </a:rPr>
              <a:t>para o </a:t>
            </a:r>
            <a:r>
              <a:rPr sz="3200" dirty="0">
                <a:latin typeface="Arial"/>
                <a:cs typeface="Arial"/>
              </a:rPr>
              <a:t>aprendizado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algoritmos, </a:t>
            </a:r>
            <a:r>
              <a:rPr sz="3200" spc="-6" dirty="0">
                <a:latin typeface="Arial"/>
                <a:cs typeface="Arial"/>
              </a:rPr>
              <a:t>permitindo </a:t>
            </a:r>
            <a:r>
              <a:rPr sz="3200" dirty="0">
                <a:latin typeface="Arial"/>
                <a:cs typeface="Arial"/>
              </a:rPr>
              <a:t>que </a:t>
            </a:r>
            <a:r>
              <a:rPr sz="3200" spc="-6" dirty="0">
                <a:latin typeface="Arial"/>
                <a:cs typeface="Arial"/>
              </a:rPr>
              <a:t>seja feito um </a:t>
            </a:r>
            <a:r>
              <a:rPr sz="3200" dirty="0">
                <a:latin typeface="Arial"/>
                <a:cs typeface="Arial"/>
              </a:rPr>
              <a:t>“teste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mesa” </a:t>
            </a:r>
            <a:r>
              <a:rPr sz="3200" spc="-6" dirty="0">
                <a:latin typeface="Arial"/>
                <a:cs typeface="Arial"/>
              </a:rPr>
              <a:t>durante a execução do </a:t>
            </a:r>
            <a:r>
              <a:rPr sz="3200" dirty="0">
                <a:latin typeface="Arial"/>
                <a:cs typeface="Arial"/>
              </a:rPr>
              <a:t>próprio  algoritmo.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Através </a:t>
            </a:r>
            <a:r>
              <a:rPr sz="3200" spc="-11" dirty="0">
                <a:latin typeface="Arial"/>
                <a:cs typeface="Arial"/>
              </a:rPr>
              <a:t>do </a:t>
            </a:r>
            <a:r>
              <a:rPr sz="3200" spc="-6" dirty="0">
                <a:latin typeface="Arial"/>
                <a:cs typeface="Arial"/>
              </a:rPr>
              <a:t>processo de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de  </a:t>
            </a:r>
            <a:r>
              <a:rPr sz="3200" spc="-6" dirty="0">
                <a:latin typeface="Arial"/>
                <a:cs typeface="Arial"/>
              </a:rPr>
              <a:t>execução de um </a:t>
            </a:r>
            <a:r>
              <a:rPr sz="3200" dirty="0">
                <a:latin typeface="Arial"/>
                <a:cs typeface="Arial"/>
              </a:rPr>
              <a:t>código pode </a:t>
            </a:r>
            <a:r>
              <a:rPr sz="3200" spc="-6" dirty="0">
                <a:latin typeface="Arial"/>
                <a:cs typeface="Arial"/>
              </a:rPr>
              <a:t>ser </a:t>
            </a:r>
            <a:r>
              <a:rPr sz="3200" dirty="0">
                <a:latin typeface="Arial"/>
                <a:cs typeface="Arial"/>
              </a:rPr>
              <a:t>verificado  continuamente, por </a:t>
            </a:r>
            <a:r>
              <a:rPr sz="3200" spc="-6" dirty="0">
                <a:latin typeface="Arial"/>
                <a:cs typeface="Arial"/>
              </a:rPr>
              <a:t>meio da </a:t>
            </a:r>
            <a:r>
              <a:rPr sz="3200" dirty="0">
                <a:latin typeface="Arial"/>
                <a:cs typeface="Arial"/>
              </a:rPr>
              <a:t>checagem do  </a:t>
            </a:r>
            <a:r>
              <a:rPr sz="3200" spc="-6" dirty="0">
                <a:latin typeface="Arial"/>
                <a:cs typeface="Arial"/>
              </a:rPr>
              <a:t>resultado de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teste condicional, de </a:t>
            </a:r>
            <a:r>
              <a:rPr sz="3200" dirty="0">
                <a:latin typeface="Arial"/>
                <a:cs typeface="Arial"/>
              </a:rPr>
              <a:t>cada  repetição, </a:t>
            </a:r>
            <a:r>
              <a:rPr sz="3200" spc="-6" dirty="0">
                <a:latin typeface="Arial"/>
                <a:cs typeface="Arial"/>
              </a:rPr>
              <a:t>de cada </a:t>
            </a:r>
            <a:r>
              <a:rPr sz="3200" dirty="0">
                <a:latin typeface="Arial"/>
                <a:cs typeface="Arial"/>
              </a:rPr>
              <a:t>operação </a:t>
            </a:r>
            <a:r>
              <a:rPr sz="3200" spc="-6" dirty="0">
                <a:latin typeface="Arial"/>
                <a:cs typeface="Arial"/>
              </a:rPr>
              <a:t>lógica e  matemática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148</a:t>
            </a:fld>
            <a:endParaRPr spc="-6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2772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10675" cy="2304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8690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</a:t>
            </a:r>
            <a:r>
              <a:rPr sz="3200" dirty="0">
                <a:latin typeface="Arial"/>
                <a:cs typeface="Arial"/>
              </a:rPr>
              <a:t>abaixo </a:t>
            </a:r>
            <a:r>
              <a:rPr sz="3200" spc="-6" dirty="0">
                <a:latin typeface="Arial"/>
                <a:cs typeface="Arial"/>
              </a:rPr>
              <a:t>será utilizado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 </a:t>
            </a:r>
            <a:r>
              <a:rPr sz="3200" dirty="0">
                <a:latin typeface="Arial"/>
                <a:cs typeface="Arial"/>
              </a:rPr>
              <a:t>explicação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funcionamento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i="1" spc="-6" dirty="0">
                <a:latin typeface="Arial"/>
                <a:cs typeface="Arial"/>
              </a:rPr>
              <a:t>debugger </a:t>
            </a:r>
            <a:r>
              <a:rPr sz="3200" spc="-6" dirty="0">
                <a:latin typeface="Arial"/>
                <a:cs typeface="Arial"/>
              </a:rPr>
              <a:t>do  </a:t>
            </a:r>
            <a:r>
              <a:rPr sz="3200" dirty="0">
                <a:latin typeface="Arial"/>
                <a:cs typeface="Arial"/>
              </a:rPr>
              <a:t>Code::Blocks.</a:t>
            </a:r>
            <a:endParaRPr sz="3200">
              <a:latin typeface="Arial"/>
              <a:cs typeface="Arial"/>
            </a:endParaRPr>
          </a:p>
          <a:p>
            <a:pPr marL="405526" indent="-391043">
              <a:lnSpc>
                <a:spcPts val="3638"/>
              </a:lnSpc>
              <a:spcBef>
                <a:spcPts val="382"/>
              </a:spcBef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algoritmo inverte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ordem dos elementos</a:t>
            </a:r>
            <a:r>
              <a:rPr sz="3200" spc="29" dirty="0">
                <a:latin typeface="Arial"/>
                <a:cs typeface="Arial"/>
              </a:rPr>
              <a:t> </a:t>
            </a:r>
            <a:r>
              <a:rPr sz="3200" spc="11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vetor </a:t>
            </a:r>
            <a:r>
              <a:rPr sz="3200" spc="-6" dirty="0">
                <a:latin typeface="Arial"/>
                <a:cs typeface="Arial"/>
              </a:rPr>
              <a:t>de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inteiros.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483543" y="3554101"/>
            <a:ext cx="6059742" cy="3741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245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9190" cy="2352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Antes de dar início ao </a:t>
            </a:r>
            <a:r>
              <a:rPr sz="2700" i="1" dirty="0">
                <a:latin typeface="Arial"/>
                <a:cs typeface="Arial"/>
              </a:rPr>
              <a:t>debugging, </a:t>
            </a:r>
            <a:r>
              <a:rPr sz="2700" spc="-6" dirty="0">
                <a:latin typeface="Arial"/>
                <a:cs typeface="Arial"/>
              </a:rPr>
              <a:t>é necessário  colocar  </a:t>
            </a:r>
            <a:r>
              <a:rPr sz="2700" i="1" spc="-6" dirty="0">
                <a:latin typeface="Arial"/>
                <a:cs typeface="Arial"/>
              </a:rPr>
              <a:t>breakpoints  </a:t>
            </a:r>
            <a:r>
              <a:rPr sz="2700" spc="-6" dirty="0">
                <a:latin typeface="Arial"/>
                <a:cs typeface="Arial"/>
              </a:rPr>
              <a:t>(pontos  de  parada)  nas </a:t>
            </a:r>
            <a:r>
              <a:rPr sz="2700" spc="71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linhas</a:t>
            </a:r>
            <a:endParaRPr sz="2700">
              <a:latin typeface="Arial"/>
              <a:cs typeface="Arial"/>
            </a:endParaRPr>
          </a:p>
          <a:p>
            <a:pPr marL="404802">
              <a:lnSpc>
                <a:spcPts val="2914"/>
              </a:lnSpc>
            </a:pPr>
            <a:r>
              <a:rPr sz="2700" spc="-6" dirty="0">
                <a:latin typeface="Arial"/>
                <a:cs typeface="Arial"/>
              </a:rPr>
              <a:t>cujas execuções devem ser</a:t>
            </a:r>
            <a:r>
              <a:rPr sz="2700" spc="91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verificadas.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ct val="90000"/>
              </a:lnSpc>
              <a:spcBef>
                <a:spcPts val="656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Basta clicar ao lado direito do número de cada </a:t>
            </a:r>
            <a:r>
              <a:rPr sz="2700" dirty="0">
                <a:latin typeface="Arial"/>
                <a:cs typeface="Arial"/>
              </a:rPr>
              <a:t>linha  desejada. Os </a:t>
            </a:r>
            <a:r>
              <a:rPr sz="2700" spc="-6" dirty="0">
                <a:latin typeface="Arial"/>
                <a:cs typeface="Arial"/>
              </a:rPr>
              <a:t>hexágonos em vermelho indicam a  criação de um</a:t>
            </a:r>
            <a:r>
              <a:rPr sz="2700" spc="11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06540" y="3615239"/>
            <a:ext cx="8168272" cy="37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263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94907"/>
            <a:ext cx="9010675" cy="182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Outras formas </a:t>
            </a:r>
            <a:r>
              <a:rPr sz="2700" spc="-6" dirty="0">
                <a:latin typeface="Arial"/>
                <a:cs typeface="Arial"/>
              </a:rPr>
              <a:t>de se adicionar um</a:t>
            </a:r>
            <a:r>
              <a:rPr sz="2700" spc="17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:</a:t>
            </a:r>
            <a:endParaRPr sz="2700">
              <a:latin typeface="Arial"/>
              <a:cs typeface="Arial"/>
            </a:endParaRPr>
          </a:p>
          <a:p>
            <a:pPr marL="803811" marR="5793" lvl="1" indent="-396836" algn="just">
              <a:lnSpc>
                <a:spcPct val="90100"/>
              </a:lnSpc>
              <a:spcBef>
                <a:spcPts val="547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4535" algn="l"/>
              </a:tabLst>
            </a:pPr>
            <a:r>
              <a:rPr sz="2300" dirty="0">
                <a:latin typeface="Arial"/>
                <a:cs typeface="Arial"/>
              </a:rPr>
              <a:t>Clicar com o botão </a:t>
            </a:r>
            <a:r>
              <a:rPr sz="2300" spc="-6" dirty="0">
                <a:latin typeface="Arial"/>
                <a:cs typeface="Arial"/>
              </a:rPr>
              <a:t>esquerdo </a:t>
            </a:r>
            <a:r>
              <a:rPr sz="2300" dirty="0">
                <a:latin typeface="Arial"/>
                <a:cs typeface="Arial"/>
              </a:rPr>
              <a:t>do mouse ao </a:t>
            </a:r>
            <a:r>
              <a:rPr sz="2300" spc="-6" dirty="0">
                <a:latin typeface="Arial"/>
                <a:cs typeface="Arial"/>
              </a:rPr>
              <a:t>lado </a:t>
            </a:r>
            <a:r>
              <a:rPr sz="2300" dirty="0">
                <a:latin typeface="Arial"/>
                <a:cs typeface="Arial"/>
              </a:rPr>
              <a:t>direito do  número de cada linha desejada e </a:t>
            </a:r>
            <a:r>
              <a:rPr sz="2300" spc="-6" dirty="0">
                <a:latin typeface="Arial"/>
                <a:cs typeface="Arial"/>
              </a:rPr>
              <a:t>escolher </a:t>
            </a:r>
            <a:r>
              <a:rPr sz="2300" dirty="0">
                <a:latin typeface="Arial"/>
                <a:cs typeface="Arial"/>
              </a:rPr>
              <a:t>a opção </a:t>
            </a:r>
            <a:r>
              <a:rPr sz="2300" i="1" dirty="0">
                <a:latin typeface="Arial"/>
                <a:cs typeface="Arial"/>
              </a:rPr>
              <a:t>Add  breakpoint</a:t>
            </a:r>
            <a:r>
              <a:rPr sz="2300" dirty="0">
                <a:latin typeface="Arial"/>
                <a:cs typeface="Arial"/>
              </a:rPr>
              <a:t>;</a:t>
            </a:r>
            <a:endParaRPr sz="2300">
              <a:latin typeface="Arial"/>
              <a:cs typeface="Arial"/>
            </a:endParaRPr>
          </a:p>
          <a:p>
            <a:pPr marL="803811" lvl="1" indent="-396836">
              <a:spcBef>
                <a:spcPts val="274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3811" algn="l"/>
                <a:tab pos="804535" algn="l"/>
                <a:tab pos="3087793" algn="l"/>
              </a:tabLst>
            </a:pPr>
            <a:r>
              <a:rPr sz="2300" dirty="0">
                <a:latin typeface="Arial"/>
                <a:cs typeface="Arial"/>
              </a:rPr>
              <a:t>Colocar</a:t>
            </a:r>
            <a:r>
              <a:rPr sz="2300" spc="-1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-6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cursor	na linha desejada e pressionar a tecla</a:t>
            </a:r>
            <a:r>
              <a:rPr sz="2300" spc="-17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F5.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245974" y="3143461"/>
            <a:ext cx="8260652" cy="3977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4225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993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dirty="0">
                <a:latin typeface="Arial"/>
                <a:cs typeface="Arial"/>
              </a:rPr>
              <a:t>Com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adição dos </a:t>
            </a:r>
            <a:r>
              <a:rPr sz="3200" i="1" dirty="0">
                <a:latin typeface="Arial"/>
                <a:cs typeface="Arial"/>
              </a:rPr>
              <a:t>breakpoints</a:t>
            </a:r>
            <a:r>
              <a:rPr sz="3200" dirty="0">
                <a:latin typeface="Arial"/>
                <a:cs typeface="Arial"/>
              </a:rPr>
              <a:t>, nas </a:t>
            </a:r>
            <a:r>
              <a:rPr sz="3200" spc="-6" dirty="0">
                <a:latin typeface="Arial"/>
                <a:cs typeface="Arial"/>
              </a:rPr>
              <a:t>linhas </a:t>
            </a:r>
            <a:r>
              <a:rPr sz="3200" dirty="0">
                <a:latin typeface="Arial"/>
                <a:cs typeface="Arial"/>
              </a:rPr>
              <a:t>5,  </a:t>
            </a:r>
            <a:r>
              <a:rPr sz="3200" spc="-6" dirty="0">
                <a:latin typeface="Arial"/>
                <a:cs typeface="Arial"/>
              </a:rPr>
              <a:t>6, 8, 9, </a:t>
            </a:r>
            <a:r>
              <a:rPr sz="3200" spc="-11" dirty="0">
                <a:latin typeface="Arial"/>
                <a:cs typeface="Arial"/>
              </a:rPr>
              <a:t>10 </a:t>
            </a:r>
            <a:r>
              <a:rPr sz="3200" spc="-6" dirty="0">
                <a:latin typeface="Arial"/>
                <a:cs typeface="Arial"/>
              </a:rPr>
              <a:t>e 13 do </a:t>
            </a:r>
            <a:r>
              <a:rPr sz="3200" dirty="0">
                <a:latin typeface="Arial"/>
                <a:cs typeface="Arial"/>
              </a:rPr>
              <a:t>algoritmo abaixo, </a:t>
            </a:r>
            <a:r>
              <a:rPr sz="3200" spc="-6" dirty="0">
                <a:latin typeface="Arial"/>
                <a:cs typeface="Arial"/>
              </a:rPr>
              <a:t>ocorrerá  o </a:t>
            </a:r>
            <a:r>
              <a:rPr sz="3200" dirty="0">
                <a:latin typeface="Arial"/>
                <a:cs typeface="Arial"/>
              </a:rPr>
              <a:t>passo-a-passo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88524" y="3492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88524" y="2826145"/>
            <a:ext cx="9558116" cy="4335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216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185951"/>
            <a:ext cx="900696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lnSpc>
                <a:spcPts val="3638"/>
              </a:lnSpc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3723600" algn="l"/>
              </a:tabLst>
            </a:pPr>
            <a:r>
              <a:rPr sz="3200" spc="-11" dirty="0">
                <a:latin typeface="Arial"/>
                <a:cs typeface="Arial"/>
              </a:rPr>
              <a:t>No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menu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	</a:t>
            </a:r>
            <a:r>
              <a:rPr sz="3200" spc="-6" dirty="0">
                <a:latin typeface="Arial"/>
                <a:cs typeface="Arial"/>
              </a:rPr>
              <a:t>acesse </a:t>
            </a:r>
            <a:r>
              <a:rPr sz="3200" i="1" spc="-6" dirty="0">
                <a:latin typeface="Arial"/>
                <a:cs typeface="Arial"/>
              </a:rPr>
              <a:t>Debugging</a:t>
            </a:r>
            <a:r>
              <a:rPr sz="3200" i="1" spc="130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windows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e clique em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Watches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46759" y="2270714"/>
            <a:ext cx="9686140" cy="499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1801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85951"/>
            <a:ext cx="405903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977608" algn="l"/>
                <a:tab pos="2365811" algn="l"/>
              </a:tabLst>
            </a:pPr>
            <a:r>
              <a:rPr sz="3200" spc="-6" dirty="0">
                <a:latin typeface="Arial"/>
                <a:cs typeface="Arial"/>
              </a:rPr>
              <a:t>A	janela	</a:t>
            </a:r>
            <a:r>
              <a:rPr sz="3200" i="1" spc="-6" dirty="0">
                <a:latin typeface="Arial"/>
                <a:cs typeface="Arial"/>
              </a:rPr>
              <a:t>Watches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771" y="1185951"/>
            <a:ext cx="29570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05782" algn="l"/>
              </a:tabLst>
            </a:pPr>
            <a:r>
              <a:rPr sz="3200" spc="-6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6" dirty="0">
                <a:latin typeface="Arial"/>
                <a:cs typeface="Arial"/>
              </a:rPr>
              <a:t>rá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o</a:t>
            </a:r>
            <a:r>
              <a:rPr sz="3200" spc="-6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d</a:t>
            </a:r>
            <a:r>
              <a:rPr sz="3200" spc="11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2831" y="1185951"/>
            <a:ext cx="142652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50681" algn="l"/>
              </a:tabLst>
            </a:pPr>
            <a:r>
              <a:rPr sz="3200" spc="-6" dirty="0">
                <a:latin typeface="Arial"/>
                <a:cs typeface="Arial"/>
              </a:rPr>
              <a:t>Nela	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351" y="1656132"/>
            <a:ext cx="860670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90000"/>
              </a:lnSpc>
            </a:pPr>
            <a:r>
              <a:rPr sz="3200" dirty="0">
                <a:latin typeface="Arial"/>
                <a:cs typeface="Arial"/>
              </a:rPr>
              <a:t>possível acompanhar </a:t>
            </a: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conteúdo das  variáveis, vetores, strings </a:t>
            </a:r>
            <a:r>
              <a:rPr sz="3200" spc="-6" dirty="0">
                <a:latin typeface="Arial"/>
                <a:cs typeface="Arial"/>
              </a:rPr>
              <a:t>etc., a cada </a:t>
            </a:r>
            <a:r>
              <a:rPr sz="3200" dirty="0">
                <a:latin typeface="Arial"/>
                <a:cs typeface="Arial"/>
              </a:rPr>
              <a:t>passo 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algoritmo.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51175" y="6566766"/>
            <a:ext cx="584943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400" spc="-6" dirty="0">
                <a:latin typeface="Arial"/>
                <a:cs typeface="Arial"/>
              </a:rPr>
              <a:t>Inicialmente,</a:t>
            </a:r>
            <a:r>
              <a:rPr sz="1400" spc="-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spc="-6" dirty="0">
                <a:latin typeface="Arial"/>
                <a:cs typeface="Arial"/>
              </a:rPr>
              <a:t>variáveis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439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 </a:t>
            </a:r>
            <a:r>
              <a:rPr sz="1400" spc="23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aux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o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vetor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vet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contém</a:t>
            </a:r>
            <a:r>
              <a:rPr sz="1400" spc="-34" dirty="0">
                <a:latin typeface="Arial"/>
                <a:cs typeface="Arial"/>
              </a:rPr>
              <a:t> </a:t>
            </a:r>
            <a:r>
              <a:rPr sz="1400" spc="-11" dirty="0">
                <a:latin typeface="Arial"/>
                <a:cs typeface="Arial"/>
              </a:rPr>
              <a:t>lixo</a:t>
            </a:r>
            <a:r>
              <a:rPr sz="1400" dirty="0">
                <a:latin typeface="Arial"/>
                <a:cs typeface="Arial"/>
              </a:rPr>
              <a:t> de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memória.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4067" y="3021577"/>
            <a:ext cx="4210526" cy="3454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1133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696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Para </a:t>
            </a:r>
            <a:r>
              <a:rPr sz="3200" dirty="0">
                <a:latin typeface="Arial"/>
                <a:cs typeface="Arial"/>
              </a:rPr>
              <a:t>dar </a:t>
            </a:r>
            <a:r>
              <a:rPr sz="3200" spc="-6" dirty="0">
                <a:latin typeface="Arial"/>
                <a:cs typeface="Arial"/>
              </a:rPr>
              <a:t>início ao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acesse </a:t>
            </a:r>
            <a:r>
              <a:rPr sz="3200" spc="-6" dirty="0">
                <a:latin typeface="Arial"/>
                <a:cs typeface="Arial"/>
              </a:rPr>
              <a:t>o menu  </a:t>
            </a:r>
            <a:r>
              <a:rPr sz="3200" i="1" dirty="0">
                <a:latin typeface="Arial"/>
                <a:cs typeface="Arial"/>
              </a:rPr>
              <a:t>Debug </a:t>
            </a:r>
            <a:r>
              <a:rPr sz="3200" spc="-6" dirty="0">
                <a:latin typeface="Arial"/>
                <a:cs typeface="Arial"/>
              </a:rPr>
              <a:t>e, em </a:t>
            </a:r>
            <a:r>
              <a:rPr sz="3200" dirty="0">
                <a:latin typeface="Arial"/>
                <a:cs typeface="Arial"/>
              </a:rPr>
              <a:t>seguida, escolha </a:t>
            </a:r>
            <a:r>
              <a:rPr sz="3200" spc="-6" dirty="0">
                <a:latin typeface="Arial"/>
                <a:cs typeface="Arial"/>
              </a:rPr>
              <a:t>a opção  </a:t>
            </a:r>
            <a:r>
              <a:rPr sz="3200" i="1" spc="-6" dirty="0">
                <a:latin typeface="Arial"/>
                <a:cs typeface="Arial"/>
              </a:rPr>
              <a:t>Start/Continue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pressione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tecla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F8.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19754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557226" y="2598806"/>
            <a:ext cx="7747961" cy="461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62618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700" y="3193805"/>
            <a:ext cx="6736693" cy="423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3349" y="1232969"/>
            <a:ext cx="9005477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será </a:t>
            </a:r>
            <a:r>
              <a:rPr sz="3200" dirty="0">
                <a:latin typeface="Arial"/>
                <a:cs typeface="Arial"/>
              </a:rPr>
              <a:t>executado normalmente até  </a:t>
            </a:r>
            <a:r>
              <a:rPr sz="3200" spc="-6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seja encontrado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i="1" dirty="0">
                <a:latin typeface="Arial"/>
                <a:cs typeface="Arial"/>
              </a:rPr>
              <a:t>breakpoint</a:t>
            </a:r>
            <a:r>
              <a:rPr sz="3200" dirty="0">
                <a:latin typeface="Arial"/>
                <a:cs typeface="Arial"/>
              </a:rPr>
              <a:t>. </a:t>
            </a:r>
            <a:r>
              <a:rPr sz="3200" spc="-6" dirty="0">
                <a:latin typeface="Arial"/>
                <a:cs typeface="Arial"/>
              </a:rPr>
              <a:t>A seta  em </a:t>
            </a:r>
            <a:r>
              <a:rPr sz="3200" dirty="0">
                <a:latin typeface="Arial"/>
                <a:cs typeface="Arial"/>
              </a:rPr>
              <a:t>amarelo indica </a:t>
            </a:r>
            <a:r>
              <a:rPr sz="3200" b="1" spc="-6" dirty="0">
                <a:latin typeface="Arial"/>
                <a:cs typeface="Arial"/>
              </a:rPr>
              <a:t>a linha </a:t>
            </a:r>
            <a:r>
              <a:rPr sz="3200" b="1" dirty="0">
                <a:latin typeface="Arial"/>
                <a:cs typeface="Arial"/>
              </a:rPr>
              <a:t>que </a:t>
            </a:r>
            <a:r>
              <a:rPr sz="3200" b="1" spc="-6" dirty="0">
                <a:latin typeface="Arial"/>
                <a:cs typeface="Arial"/>
              </a:rPr>
              <a:t>será  executada </a:t>
            </a:r>
            <a:r>
              <a:rPr sz="3200" spc="-6" dirty="0">
                <a:latin typeface="Arial"/>
                <a:cs typeface="Arial"/>
              </a:rPr>
              <a:t>(linha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5).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434529" y="4768990"/>
            <a:ext cx="230442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543" y="4841758"/>
            <a:ext cx="2105263" cy="94456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332" y="4301019"/>
            <a:ext cx="2105263" cy="47402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2725" rIns="0" bIns="0" rtlCol="0">
            <a:spAutoFit/>
          </a:bodyPr>
          <a:lstStyle/>
          <a:p>
            <a:pPr marL="204211" marR="169452" indent="-28242">
              <a:spcBef>
                <a:spcPts val="336"/>
              </a:spcBef>
            </a:pPr>
            <a:r>
              <a:rPr sz="1400" b="1" spc="-6" dirty="0">
                <a:latin typeface="Arial"/>
                <a:cs typeface="Arial"/>
              </a:rPr>
              <a:t>Execução parada </a:t>
            </a:r>
            <a:r>
              <a:rPr sz="1400" b="1" dirty="0">
                <a:latin typeface="Arial"/>
                <a:cs typeface="Arial"/>
              </a:rPr>
              <a:t>no  primeiro</a:t>
            </a:r>
            <a:r>
              <a:rPr sz="1400" b="1" spc="-1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breakpoint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097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7704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controle </a:t>
            </a:r>
            <a:r>
              <a:rPr sz="3200" spc="-6" dirty="0">
                <a:latin typeface="Arial"/>
                <a:cs typeface="Arial"/>
              </a:rPr>
              <a:t>do fluxo de </a:t>
            </a:r>
            <a:r>
              <a:rPr sz="3200" dirty="0">
                <a:latin typeface="Arial"/>
                <a:cs typeface="Arial"/>
              </a:rPr>
              <a:t>execução pode ser  feito </a:t>
            </a:r>
            <a:r>
              <a:rPr sz="3200" spc="-6" dirty="0">
                <a:latin typeface="Arial"/>
                <a:cs typeface="Arial"/>
              </a:rPr>
              <a:t>através de alguns </a:t>
            </a:r>
            <a:r>
              <a:rPr sz="3200" dirty="0">
                <a:latin typeface="Arial"/>
                <a:cs typeface="Arial"/>
              </a:rPr>
              <a:t>comandos dispostos  </a:t>
            </a:r>
            <a:r>
              <a:rPr sz="3200" spc="-6" dirty="0">
                <a:latin typeface="Arial"/>
                <a:cs typeface="Arial"/>
              </a:rPr>
              <a:t>no menu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 destacado abaixo, que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exibido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partir </a:t>
            </a:r>
            <a:r>
              <a:rPr sz="3200" spc="-6" dirty="0">
                <a:latin typeface="Arial"/>
                <a:cs typeface="Arial"/>
              </a:rPr>
              <a:t>do início do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</a:t>
            </a:r>
            <a:r>
              <a:rPr spc="-11" dirty="0"/>
              <a:t>da</a:t>
            </a:r>
            <a:r>
              <a:rPr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963017" y="3304709"/>
            <a:ext cx="1885603" cy="2837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3914" y="3377057"/>
            <a:ext cx="1684211" cy="94456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41437" y="2984902"/>
            <a:ext cx="1937435" cy="28717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553" rIns="0" bIns="0" rtlCol="0">
            <a:spAutoFit/>
          </a:bodyPr>
          <a:lstStyle/>
          <a:p>
            <a:pPr marL="179590">
              <a:spcBef>
                <a:spcPts val="319"/>
              </a:spcBef>
            </a:pPr>
            <a:r>
              <a:rPr sz="1600" dirty="0">
                <a:latin typeface="Arial"/>
                <a:cs typeface="Arial"/>
              </a:rPr>
              <a:t>Atalhos do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" dirty="0">
                <a:latin typeface="Arial"/>
                <a:cs typeface="Arial"/>
              </a:rPr>
              <a:t>menu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6699" y="3064188"/>
            <a:ext cx="5859835" cy="4327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0743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359" y="1344778"/>
            <a:ext cx="225081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735740" algn="l"/>
              </a:tabLst>
            </a:pPr>
            <a:r>
              <a:rPr sz="3200" spc="-6" dirty="0">
                <a:latin typeface="Arial"/>
                <a:cs typeface="Arial"/>
              </a:rPr>
              <a:t>a	p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6" dirty="0">
                <a:latin typeface="Arial"/>
                <a:cs typeface="Arial"/>
              </a:rPr>
              <a:t>ó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m</a:t>
            </a:r>
            <a:r>
              <a:rPr sz="3200" spc="-6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348" y="1344778"/>
            <a:ext cx="62734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151">
              <a:lnSpc>
                <a:spcPts val="3638"/>
              </a:lnSpc>
              <a:tabLst>
                <a:tab pos="1952319" algn="l"/>
                <a:tab pos="4544066" algn="l"/>
              </a:tabLst>
            </a:pPr>
            <a:r>
              <a:rPr sz="3200" b="1" i="1" spc="-6" dirty="0">
                <a:latin typeface="Arial"/>
                <a:cs typeface="Arial"/>
              </a:rPr>
              <a:t>Next	ins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c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ion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6" dirty="0">
                <a:latin typeface="Arial"/>
                <a:cs typeface="Arial"/>
              </a:rPr>
              <a:t>Al</a:t>
            </a:r>
            <a:r>
              <a:rPr sz="3200" b="1" dirty="0">
                <a:latin typeface="Arial"/>
                <a:cs typeface="Arial"/>
              </a:rPr>
              <a:t>t-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spc="6" dirty="0">
                <a:latin typeface="Arial"/>
                <a:cs typeface="Arial"/>
              </a:rPr>
              <a:t>7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dirty="0">
                <a:latin typeface="Arial"/>
                <a:cs typeface="Arial"/>
              </a:rPr>
              <a:t>instrução 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executada.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349" y="2856497"/>
            <a:ext cx="9006962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562668">
              <a:lnSpc>
                <a:spcPts val="3444"/>
              </a:lnSpc>
            </a:pPr>
            <a:r>
              <a:rPr sz="3200" b="1" i="1" spc="-6" dirty="0">
                <a:latin typeface="Arial"/>
                <a:cs typeface="Arial"/>
              </a:rPr>
              <a:t>Next line </a:t>
            </a:r>
            <a:r>
              <a:rPr sz="3200" b="1" dirty="0">
                <a:latin typeface="Arial"/>
                <a:cs typeface="Arial"/>
              </a:rPr>
              <a:t>(F7):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desviada para  </a:t>
            </a:r>
            <a:r>
              <a:rPr sz="3200" spc="-6" dirty="0">
                <a:latin typeface="Arial"/>
                <a:cs typeface="Arial"/>
              </a:rPr>
              <a:t>a próxima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linha.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/>
              <a:cs typeface="Times New Roman"/>
            </a:endParaRPr>
          </a:p>
          <a:p>
            <a:pPr marL="14483" marR="8690" indent="562668">
              <a:lnSpc>
                <a:spcPts val="3444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Run </a:t>
            </a:r>
            <a:r>
              <a:rPr sz="3200" b="1" i="1" spc="6" dirty="0">
                <a:latin typeface="Arial"/>
                <a:cs typeface="Arial"/>
              </a:rPr>
              <a:t>to </a:t>
            </a:r>
            <a:r>
              <a:rPr sz="3200" b="1" i="1" dirty="0">
                <a:latin typeface="Arial"/>
                <a:cs typeface="Arial"/>
              </a:rPr>
              <a:t>cursor </a:t>
            </a:r>
            <a:r>
              <a:rPr sz="3200" b="1" dirty="0">
                <a:latin typeface="Arial"/>
                <a:cs typeface="Arial"/>
              </a:rPr>
              <a:t>(F4):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desviada 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linha na </a:t>
            </a:r>
            <a:r>
              <a:rPr sz="3200" dirty="0">
                <a:latin typeface="Arial"/>
                <a:cs typeface="Arial"/>
              </a:rPr>
              <a:t>qual se encontra 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spc="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cursor.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92" y="5718592"/>
            <a:ext cx="435978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3357178" algn="l"/>
              </a:tabLst>
            </a:pPr>
            <a:r>
              <a:rPr sz="3200" b="1" i="1" spc="-6" dirty="0">
                <a:latin typeface="Arial"/>
                <a:cs typeface="Arial"/>
              </a:rPr>
              <a:t>Sta</a:t>
            </a:r>
            <a:r>
              <a:rPr sz="3200" b="1" i="1" dirty="0">
                <a:latin typeface="Arial"/>
                <a:cs typeface="Arial"/>
              </a:rPr>
              <a:t>r</a:t>
            </a:r>
            <a:r>
              <a:rPr sz="3200" b="1" i="1" spc="-6" dirty="0">
                <a:latin typeface="Arial"/>
                <a:cs typeface="Arial"/>
              </a:rPr>
              <a:t>t/Cont</a:t>
            </a:r>
            <a:r>
              <a:rPr sz="3200" b="1" i="1" spc="6" dirty="0">
                <a:latin typeface="Arial"/>
                <a:cs typeface="Arial"/>
              </a:rPr>
              <a:t>i</a:t>
            </a:r>
            <a:r>
              <a:rPr sz="3200" b="1" i="1" spc="-6" dirty="0">
                <a:latin typeface="Arial"/>
                <a:cs typeface="Arial"/>
              </a:rPr>
              <a:t>n</a:t>
            </a:r>
            <a:r>
              <a:rPr sz="3200" b="1" i="1" spc="-17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e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dirty="0">
                <a:latin typeface="Arial"/>
                <a:cs typeface="Arial"/>
              </a:rPr>
              <a:t>8)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49" y="6141700"/>
            <a:ext cx="62712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2188393" algn="l"/>
                <a:tab pos="2688060" algn="l"/>
                <a:tab pos="4336958" algn="l"/>
                <a:tab pos="578526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gin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7" dirty="0">
                <a:latin typeface="Arial"/>
                <a:cs typeface="Arial"/>
              </a:rPr>
              <a:t>i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(</a:t>
            </a:r>
            <a:r>
              <a:rPr sz="3200" i="1" spc="-6" dirty="0">
                <a:latin typeface="Arial"/>
                <a:cs typeface="Arial"/>
              </a:rPr>
              <a:t>s</a:t>
            </a:r>
            <a:r>
              <a:rPr sz="3200" i="1" dirty="0">
                <a:latin typeface="Arial"/>
                <a:cs typeface="Arial"/>
              </a:rPr>
              <a:t>t</a:t>
            </a:r>
            <a:r>
              <a:rPr sz="3200" i="1" spc="-6" dirty="0">
                <a:latin typeface="Arial"/>
                <a:cs typeface="Arial"/>
              </a:rPr>
              <a:t>a</a:t>
            </a:r>
            <a:r>
              <a:rPr sz="3200" i="1" dirty="0">
                <a:latin typeface="Arial"/>
                <a:cs typeface="Arial"/>
              </a:rPr>
              <a:t>rt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6" dirty="0">
                <a:latin typeface="Arial"/>
                <a:cs typeface="Arial"/>
              </a:rPr>
              <a:t>.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4151" y="5718592"/>
            <a:ext cx="353773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638"/>
              </a:lnSpc>
              <a:tabLst>
                <a:tab pos="787155" algn="l"/>
                <a:tab pos="2982790" algn="l"/>
              </a:tabLst>
            </a:pPr>
            <a:r>
              <a:rPr sz="3200" spc="-6" dirty="0">
                <a:latin typeface="Arial"/>
                <a:cs typeface="Arial"/>
              </a:rPr>
              <a:t>o	pro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6" dirty="0">
                <a:latin typeface="Arial"/>
                <a:cs typeface="Arial"/>
              </a:rPr>
              <a:t>so</a:t>
            </a:r>
            <a:r>
              <a:rPr sz="3200" dirty="0">
                <a:latin typeface="Arial"/>
                <a:cs typeface="Arial"/>
              </a:rPr>
              <a:t>	de</a:t>
            </a:r>
            <a:endParaRPr sz="3200">
              <a:latin typeface="Arial"/>
              <a:cs typeface="Arial"/>
            </a:endParaRPr>
          </a:p>
          <a:p>
            <a:pPr marL="1036264">
              <a:lnSpc>
                <a:spcPts val="3638"/>
              </a:lnSpc>
              <a:tabLst>
                <a:tab pos="320872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</a:t>
            </a:r>
            <a:r>
              <a:rPr sz="3200" i="1" spc="-6" dirty="0">
                <a:latin typeface="Arial"/>
                <a:cs typeface="Arial"/>
              </a:rPr>
              <a:t>i</a:t>
            </a:r>
            <a:r>
              <a:rPr sz="3200" i="1" dirty="0">
                <a:latin typeface="Arial"/>
                <a:cs typeface="Arial"/>
              </a:rPr>
              <a:t>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349" y="6565200"/>
            <a:ext cx="68890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</a:t>
            </a:r>
            <a:r>
              <a:rPr sz="3200" spc="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</a:t>
            </a:r>
            <a:r>
              <a:rPr sz="3200" i="1" dirty="0">
                <a:latin typeface="Arial"/>
                <a:cs typeface="Arial"/>
              </a:rPr>
              <a:t>continue</a:t>
            </a:r>
            <a:r>
              <a:rPr sz="320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88330" y="1345336"/>
            <a:ext cx="590543" cy="476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056" y="2826131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575" y="4333695"/>
            <a:ext cx="406052" cy="346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4" y="5761803"/>
            <a:ext cx="349169" cy="3669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5139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454346"/>
            <a:ext cx="9008446" cy="4931562"/>
          </a:xfrm>
          <a:prstGeom prst="rect">
            <a:avLst/>
          </a:prstGeom>
        </p:spPr>
        <p:txBody>
          <a:bodyPr vert="horz" wrap="square" lIns="0" tIns="54312" rIns="0" bIns="0" rtlCol="0">
            <a:spAutoFit/>
          </a:bodyPr>
          <a:lstStyle/>
          <a:p>
            <a:pPr marL="14483" marR="6517" indent="562668" algn="just">
              <a:lnSpc>
                <a:spcPts val="3455"/>
              </a:lnSpc>
              <a:spcBef>
                <a:spcPts val="428"/>
              </a:spcBef>
            </a:pPr>
            <a:r>
              <a:rPr sz="3200" b="1" i="1" spc="-6" dirty="0">
                <a:latin typeface="Arial"/>
                <a:cs typeface="Arial"/>
              </a:rPr>
              <a:t>Step into </a:t>
            </a:r>
            <a:r>
              <a:rPr sz="3200" b="1" dirty="0">
                <a:latin typeface="Arial"/>
                <a:cs typeface="Arial"/>
              </a:rPr>
              <a:t>(Shitf-F7):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6" dirty="0">
                <a:latin typeface="Arial"/>
                <a:cs typeface="Arial"/>
              </a:rPr>
              <a:t>a instrução a </a:t>
            </a:r>
            <a:r>
              <a:rPr sz="3200" dirty="0">
                <a:latin typeface="Arial"/>
                <a:cs typeface="Arial"/>
              </a:rPr>
              <a:t>ser  executada </a:t>
            </a:r>
            <a:r>
              <a:rPr sz="3200" spc="-6" dirty="0">
                <a:latin typeface="Arial"/>
                <a:cs typeface="Arial"/>
              </a:rPr>
              <a:t>for uma </a:t>
            </a:r>
            <a:r>
              <a:rPr sz="3200" dirty="0">
                <a:latin typeface="Arial"/>
                <a:cs typeface="Arial"/>
              </a:rPr>
              <a:t>chamada de função, </a:t>
            </a:r>
            <a:r>
              <a:rPr sz="3200" spc="-6" dirty="0">
                <a:latin typeface="Arial"/>
                <a:cs typeface="Arial"/>
              </a:rPr>
              <a:t>a  execução é </a:t>
            </a:r>
            <a:r>
              <a:rPr sz="3200" dirty="0">
                <a:latin typeface="Arial"/>
                <a:cs typeface="Arial"/>
              </a:rPr>
              <a:t>desviada </a:t>
            </a:r>
            <a:r>
              <a:rPr sz="3200" spc="-6" dirty="0">
                <a:latin typeface="Arial"/>
                <a:cs typeface="Arial"/>
              </a:rPr>
              <a:t>para 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300">
              <a:latin typeface="Times New Roman"/>
              <a:cs typeface="Times New Roman"/>
            </a:endParaRPr>
          </a:p>
          <a:p>
            <a:pPr marL="14483" marR="6517" indent="562668" algn="just">
              <a:lnSpc>
                <a:spcPct val="90000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Step out </a:t>
            </a:r>
            <a:r>
              <a:rPr sz="3200" b="1" dirty="0">
                <a:latin typeface="Arial"/>
                <a:cs typeface="Arial"/>
              </a:rPr>
              <a:t>(Ctrl-F7): </a:t>
            </a:r>
            <a:r>
              <a:rPr sz="3200" spc="-6" dirty="0">
                <a:latin typeface="Arial"/>
                <a:cs typeface="Arial"/>
              </a:rPr>
              <a:t>a função em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interrompida.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retorna </a:t>
            </a:r>
            <a:r>
              <a:rPr sz="3200" spc="-6" dirty="0">
                <a:latin typeface="Arial"/>
                <a:cs typeface="Arial"/>
              </a:rPr>
              <a:t>para a </a:t>
            </a:r>
            <a:r>
              <a:rPr sz="3200" dirty="0">
                <a:latin typeface="Arial"/>
                <a:cs typeface="Arial"/>
              </a:rPr>
              <a:t>instrução  </a:t>
            </a:r>
            <a:r>
              <a:rPr sz="3200" spc="-6" dirty="0">
                <a:latin typeface="Arial"/>
                <a:cs typeface="Arial"/>
              </a:rPr>
              <a:t>seguinte à chamada da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000">
              <a:latin typeface="Times New Roman"/>
              <a:cs typeface="Times New Roman"/>
            </a:endParaRPr>
          </a:p>
          <a:p>
            <a:pPr marL="577151">
              <a:lnSpc>
                <a:spcPts val="3638"/>
              </a:lnSpc>
              <a:spcBef>
                <a:spcPts val="6"/>
              </a:spcBef>
              <a:tabLst>
                <a:tab pos="1698865" algn="l"/>
                <a:tab pos="3772118" algn="l"/>
                <a:tab pos="5910545" algn="l"/>
                <a:tab pos="6447143" algn="l"/>
                <a:tab pos="8317632" algn="l"/>
              </a:tabLst>
            </a:pPr>
            <a:r>
              <a:rPr sz="3200" b="1" i="1" spc="-6" dirty="0">
                <a:latin typeface="Arial"/>
                <a:cs typeface="Arial"/>
              </a:rPr>
              <a:t>Stop	d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bugg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spc="-6" dirty="0">
                <a:latin typeface="Arial"/>
                <a:cs typeface="Arial"/>
              </a:rPr>
              <a:t>(Shif</a:t>
            </a:r>
            <a:r>
              <a:rPr sz="3200" b="1" dirty="0">
                <a:latin typeface="Arial"/>
                <a:cs typeface="Arial"/>
              </a:rPr>
              <a:t>t</a:t>
            </a:r>
            <a:r>
              <a:rPr sz="3200" b="1" spc="-6" dirty="0">
                <a:latin typeface="Arial"/>
                <a:cs typeface="Arial"/>
              </a:rPr>
              <a:t>-</a:t>
            </a:r>
            <a:r>
              <a:rPr sz="3200" b="1" spc="-17" dirty="0">
                <a:latin typeface="Arial"/>
                <a:cs typeface="Arial"/>
              </a:rPr>
              <a:t>F</a:t>
            </a:r>
            <a:r>
              <a:rPr sz="3200" b="1" spc="-6" dirty="0">
                <a:latin typeface="Arial"/>
                <a:cs typeface="Arial"/>
              </a:rPr>
              <a:t>8):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processo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i="1" spc="-6" dirty="0">
                <a:latin typeface="Arial"/>
                <a:cs typeface="Arial"/>
              </a:rPr>
              <a:t>debugging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finalizado.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5179" y="1556611"/>
            <a:ext cx="479227" cy="409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180" y="3394171"/>
            <a:ext cx="491316" cy="40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1316" y="5285814"/>
            <a:ext cx="413091" cy="427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00319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8446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 seguir, o algoritmo </a:t>
            </a:r>
            <a:r>
              <a:rPr sz="3200" dirty="0">
                <a:latin typeface="Arial"/>
                <a:cs typeface="Arial"/>
              </a:rPr>
              <a:t>descrito anteriormente  </a:t>
            </a:r>
            <a:r>
              <a:rPr sz="3200" spc="-6" dirty="0">
                <a:latin typeface="Arial"/>
                <a:cs typeface="Arial"/>
              </a:rPr>
              <a:t>será </a:t>
            </a:r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 por meio do  comando </a:t>
            </a:r>
            <a:r>
              <a:rPr sz="3200" i="1" spc="-6" dirty="0">
                <a:latin typeface="Arial"/>
                <a:cs typeface="Arial"/>
              </a:rPr>
              <a:t>Next line </a:t>
            </a:r>
            <a:r>
              <a:rPr sz="3200" spc="-6" dirty="0">
                <a:latin typeface="Arial"/>
                <a:cs typeface="Arial"/>
              </a:rPr>
              <a:t>(F7)     </a:t>
            </a:r>
            <a:r>
              <a:rPr sz="3200" spc="86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2876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3075" y="2667500"/>
            <a:ext cx="7832173" cy="471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7447" y="2032698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62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2587" y="5007439"/>
            <a:ext cx="1295684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62490" y="5079788"/>
            <a:ext cx="1095331" cy="94456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6699" y="4918190"/>
            <a:ext cx="2189918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04145" marR="296903" indent="95588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Próxima </a:t>
            </a:r>
            <a:r>
              <a:rPr sz="1600" b="1" spc="-6" dirty="0">
                <a:latin typeface="Arial"/>
                <a:cs typeface="Arial"/>
              </a:rPr>
              <a:t>linha  </a:t>
            </a:r>
            <a:r>
              <a:rPr sz="1600" b="1" dirty="0">
                <a:latin typeface="Arial"/>
                <a:cs typeface="Arial"/>
              </a:rPr>
              <a:t>a ser</a:t>
            </a:r>
            <a:r>
              <a:rPr sz="1600" b="1" spc="-86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executada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723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3469" y="4382771"/>
            <a:ext cx="1620049" cy="690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960" y="4408377"/>
            <a:ext cx="1419846" cy="512163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7083" y="3875323"/>
            <a:ext cx="2189918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157141" marR="147726" indent="79657" algn="just">
              <a:spcBef>
                <a:spcPts val="354"/>
              </a:spcBef>
            </a:pPr>
            <a:r>
              <a:rPr sz="1600" b="1" spc="-17" dirty="0">
                <a:latin typeface="Arial"/>
                <a:cs typeface="Arial"/>
              </a:rPr>
              <a:t>Vetor </a:t>
            </a:r>
            <a:r>
              <a:rPr sz="1600" b="1" spc="-6" dirty="0">
                <a:latin typeface="Arial"/>
                <a:cs typeface="Arial"/>
              </a:rPr>
              <a:t>inicializado  pela </a:t>
            </a:r>
            <a:r>
              <a:rPr sz="1600" b="1" dirty="0">
                <a:latin typeface="Arial"/>
                <a:cs typeface="Arial"/>
              </a:rPr>
              <a:t>última </a:t>
            </a:r>
            <a:r>
              <a:rPr sz="1600" b="1" spc="-6" dirty="0">
                <a:latin typeface="Arial"/>
                <a:cs typeface="Arial"/>
              </a:rPr>
              <a:t>linha  executada (linha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44" y="4552371"/>
            <a:ext cx="283374" cy="755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5646" y="4590992"/>
            <a:ext cx="169312" cy="635306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74186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61040" y="3523007"/>
            <a:ext cx="2573545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836" y="3595495"/>
            <a:ext cx="2371854" cy="94456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223" y="3201661"/>
            <a:ext cx="2209227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75969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execução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938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859" y="4854631"/>
            <a:ext cx="157356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latin typeface="Arial"/>
                <a:cs typeface="Arial"/>
              </a:rPr>
              <a:t>Breakpoints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48453" y="3826948"/>
            <a:ext cx="2721470" cy="1064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8806" y="3926441"/>
            <a:ext cx="2531514" cy="896983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54" y="4263544"/>
            <a:ext cx="1796490" cy="831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806" y="4367516"/>
            <a:ext cx="1606238" cy="659095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8454" y="4543976"/>
            <a:ext cx="1709161" cy="552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8805" y="4633393"/>
            <a:ext cx="1519354" cy="393918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48453" y="4779065"/>
            <a:ext cx="1791145" cy="31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8806" y="4854072"/>
            <a:ext cx="1601782" cy="17352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34000" y="5177041"/>
            <a:ext cx="2548594" cy="5793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3016" y="5202790"/>
            <a:ext cx="2360715" cy="427502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8453" y="3549874"/>
            <a:ext cx="2639488" cy="1341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8805" y="3659305"/>
            <a:ext cx="2449086" cy="1162861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710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826790" y="2465099"/>
            <a:ext cx="1889166" cy="60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8278" y="2490846"/>
            <a:ext cx="1688666" cy="437997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62490" y="2336442"/>
            <a:ext cx="49687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40352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Variáveis </a:t>
            </a: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6" dirty="0">
                <a:latin typeface="Arial"/>
                <a:cs typeface="Arial"/>
              </a:rPr>
              <a:t>vetor contendo </a:t>
            </a:r>
            <a:r>
              <a:rPr sz="1600" b="1" dirty="0">
                <a:latin typeface="Arial"/>
                <a:cs typeface="Arial"/>
              </a:rPr>
              <a:t>lixo </a:t>
            </a:r>
            <a:r>
              <a:rPr sz="1600" b="1" spc="-6" dirty="0">
                <a:latin typeface="Arial"/>
                <a:cs typeface="Arial"/>
              </a:rPr>
              <a:t>de</a:t>
            </a:r>
            <a:r>
              <a:rPr sz="1600" b="1" spc="-177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memória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852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0895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912336" y="3024278"/>
            <a:ext cx="1532719" cy="680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3677" y="3049467"/>
            <a:ext cx="1332219" cy="501668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4773" y="2725042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36074">
              <a:spcBef>
                <a:spcPts val="348"/>
              </a:spcBef>
            </a:pPr>
            <a:r>
              <a:rPr sz="1600" b="1" spc="-17" dirty="0">
                <a:latin typeface="Arial"/>
                <a:cs typeface="Arial"/>
              </a:rPr>
              <a:t>Vetor</a:t>
            </a:r>
            <a:r>
              <a:rPr sz="1600" b="1" spc="-103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0451" y="3025959"/>
            <a:ext cx="285156" cy="1113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0947" y="3064161"/>
            <a:ext cx="169312" cy="99214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7847" y="3751382"/>
            <a:ext cx="6241381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83543" y="377825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712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66" y="2623029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12968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4226603"/>
            <a:ext cx="6241381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4254309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8566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373557"/>
            <a:ext cx="898246" cy="806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97765"/>
            <a:ext cx="698041" cy="618514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029316"/>
            <a:ext cx="891115" cy="367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5" y="3126432"/>
            <a:ext cx="690615" cy="202206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3002266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84659" marR="174521" algn="ctr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</a:t>
            </a:r>
            <a:r>
              <a:rPr sz="1600" b="1" dirty="0">
                <a:latin typeface="Arial"/>
                <a:cs typeface="Arial"/>
              </a:rPr>
              <a:t>primeiro 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73448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9897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136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182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02032" y="3529726"/>
            <a:ext cx="1345586" cy="621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036" y="3554493"/>
            <a:ext cx="1146570" cy="44289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1146"/>
            <a:ext cx="1343804" cy="392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0705"/>
            <a:ext cx="1143600" cy="235091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221" y="3265472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6422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169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959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283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46782" y="3321502"/>
            <a:ext cx="1432916" cy="873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7086" y="3346409"/>
            <a:ext cx="1233454" cy="684283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2826"/>
            <a:ext cx="1343804" cy="391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2103"/>
            <a:ext cx="1143600" cy="233692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9082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426"/>
            <a:ext cx="9728321" cy="621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412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688" y="1093775"/>
            <a:ext cx="9702923" cy="6229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276161"/>
            <a:ext cx="898246" cy="745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741" y="3301070"/>
            <a:ext cx="697299" cy="556941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193881"/>
            <a:ext cx="889334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0" y="3252234"/>
            <a:ext cx="687645" cy="101453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2906131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84659" marR="174521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segundo </a:t>
            </a:r>
            <a:r>
              <a:rPr sz="1600" b="1" dirty="0">
                <a:latin typeface="Arial"/>
                <a:cs typeface="Arial"/>
              </a:rPr>
              <a:t>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7642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3" y="1093804"/>
            <a:ext cx="9702923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3024" y="3319823"/>
            <a:ext cx="1334893" cy="62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4067" y="3345431"/>
            <a:ext cx="1133945" cy="442195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3024" y="3145182"/>
            <a:ext cx="1329546" cy="298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4068" y="3226765"/>
            <a:ext cx="1129490" cy="149031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8707" y="3170876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7146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1644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8" y="3321502"/>
            <a:ext cx="1347368" cy="700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45710"/>
            <a:ext cx="1147313" cy="515661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200598"/>
            <a:ext cx="1342022" cy="285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277423"/>
            <a:ext cx="1140629" cy="98654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8495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093804"/>
            <a:ext cx="9722825" cy="623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920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732776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475989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00898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41652"/>
            <a:ext cx="1014091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20576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4142" y="3109597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09347" marR="101382" indent="724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 do  </a:t>
            </a:r>
            <a:r>
              <a:rPr sz="1600" b="1" dirty="0">
                <a:latin typeface="Arial"/>
                <a:cs typeface="Arial"/>
              </a:rPr>
              <a:t>terceiro elemento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com 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antepenúltimo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13051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32776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116458"/>
            <a:ext cx="9732776" cy="6272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0548" y="3475990"/>
            <a:ext cx="1017655" cy="37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1741" y="3501178"/>
            <a:ext cx="816114" cy="210602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547" y="3397065"/>
            <a:ext cx="1014091" cy="2837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81740" y="3469273"/>
            <a:ext cx="812401" cy="94456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8349" y="3347054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67146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4959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47330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511253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35462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75236"/>
            <a:ext cx="1014091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55140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3696" y="3381478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94007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844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21216"/>
            <a:ext cx="9747330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532481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535126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179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6360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16"/>
            <a:ext cx="9776738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4022" y="5563262"/>
            <a:ext cx="1933722" cy="322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3627" y="5588031"/>
            <a:ext cx="1733222" cy="174919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180" y="5027199"/>
            <a:ext cx="2599833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39628" marR="330214" indent="156417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366" y="2622973"/>
            <a:ext cx="2189918" cy="537047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530081" marR="104278" indent="-417113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 </a:t>
            </a:r>
            <a:r>
              <a:rPr sz="1600" b="1" spc="-6" dirty="0">
                <a:latin typeface="Arial"/>
                <a:cs typeface="Arial"/>
              </a:rPr>
              <a:t>inicializada  novamente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240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7"/>
            <a:ext cx="9776738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74575" y="5338248"/>
            <a:ext cx="6342968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9824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3230" y="6194650"/>
            <a:ext cx="3516346" cy="921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687" y="6220329"/>
            <a:ext cx="3316439" cy="757049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752" y="5659174"/>
            <a:ext cx="2599833" cy="53851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5622" rIns="0" bIns="0" rtlCol="0">
            <a:spAutoFit/>
          </a:bodyPr>
          <a:lstStyle/>
          <a:p>
            <a:pPr marL="339628" marR="330214" indent="156417">
              <a:spcBef>
                <a:spcPts val="359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5040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169"/>
            <a:ext cx="9776738" cy="633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7271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9"/>
            <a:ext cx="9791293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372" y="1136422"/>
            <a:ext cx="9767677" cy="632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426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951" y="1136462"/>
            <a:ext cx="975817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308" y="1136442"/>
            <a:ext cx="9787283" cy="206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308" y="1136442"/>
            <a:ext cx="9787283" cy="374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4594" y="6621047"/>
            <a:ext cx="1161644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3572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6462"/>
            <a:ext cx="978728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108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8561"/>
            <a:ext cx="9798570" cy="6328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96717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66"/>
            <a:ext cx="9798570" cy="6350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15101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6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2804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50"/>
            <a:ext cx="9798570" cy="6347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189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4878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4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9096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5"/>
            <a:ext cx="9783718" cy="633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66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0986"/>
            <a:ext cx="9783718" cy="6321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813468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84117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044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0"/>
            <a:ext cx="9783718" cy="6396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512948" y="5828579"/>
            <a:ext cx="1552324" cy="55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446" y="5853908"/>
            <a:ext cx="1352270" cy="382023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7226" y="5654711"/>
            <a:ext cx="1010675" cy="39781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3449" rIns="0" bIns="0" rtlCol="0">
            <a:spAutoFit/>
          </a:bodyPr>
          <a:lstStyle/>
          <a:p>
            <a:pPr marL="241867">
              <a:spcBef>
                <a:spcPts val="342"/>
              </a:spcBef>
            </a:pPr>
            <a:r>
              <a:rPr sz="2300" b="1" dirty="0">
                <a:latin typeface="Arial"/>
                <a:cs typeface="Arial"/>
              </a:rPr>
              <a:t>FIM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390" y="6333558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318" y="6068708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5120" y="609552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714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194</a:t>
            </a:fld>
            <a:endParaRPr spc="-6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0" y="1339850"/>
            <a:ext cx="8686800" cy="3993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pt-BR" b="0" dirty="0"/>
          </a:p>
          <a:p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Para maiores informações sobre 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debugger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 do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Code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::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Blocks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, acesse o endereço abaixo: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u="sng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pt-BR" sz="3200" u="sng" dirty="0">
                <a:solidFill>
                  <a:schemeClr val="accent1"/>
                </a:solidFill>
                <a:latin typeface="Arial"/>
                <a:cs typeface="Arial"/>
              </a:rPr>
              <a:t>http://wiki.codeblocks.org/index.php/Debugging_with_Code::Blocks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8537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8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9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679190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5273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23734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51517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7102475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75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>
                <a:latin typeface="Arial"/>
                <a:cs typeface="Arial"/>
              </a:rPr>
              <a:t>Imprim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606790" cy="4463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9734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7179309" cy="511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7133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6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240780" cy="2396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68858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Ca</a:t>
            </a:r>
            <a:r>
              <a:rPr sz="1850" spc="10" dirty="0">
                <a:latin typeface="Times New Roman"/>
                <a:cs typeface="Times New Roman"/>
              </a:rPr>
              <a:t>b</a:t>
            </a:r>
            <a:r>
              <a:rPr sz="1850" spc="15" dirty="0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75" y="5251970"/>
            <a:ext cx="51180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130" dirty="0">
                <a:latin typeface="Times New Roman"/>
                <a:cs typeface="Times New Roman"/>
              </a:rPr>
              <a:t> 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10" dirty="0">
                <a:latin typeface="Times New Roman"/>
                <a:cs typeface="Times New Roman"/>
              </a:rPr>
              <a:t>und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2550" u="sng" spc="7" baseline="16339" dirty="0">
                <a:latin typeface="Times New Roman"/>
                <a:cs typeface="Times New Roman"/>
              </a:rPr>
              <a:t> </a:t>
            </a:r>
            <a:r>
              <a:rPr sz="2550" u="sng" spc="-195" baseline="16339" dirty="0">
                <a:latin typeface="Times New Roman"/>
                <a:cs typeface="Times New Roman"/>
              </a:rPr>
              <a:t> </a:t>
            </a:r>
            <a:r>
              <a:rPr sz="2550" u="sng" spc="315" baseline="16339" dirty="0">
                <a:latin typeface="Meiryo UI"/>
                <a:cs typeface="Meiryo UI"/>
              </a:rPr>
              <a:t>✲</a:t>
            </a:r>
            <a:endParaRPr sz="2550" baseline="16339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73149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9136" y="4290302"/>
            <a:ext cx="2749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endParaRPr sz="2025" baseline="-1234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10638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99654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86954" y="3934562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864" y="3428555"/>
            <a:ext cx="85725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470" dirty="0">
                <a:latin typeface="Times New Roman"/>
                <a:cs typeface="Times New Roman"/>
              </a:rPr>
              <a:t>.</a:t>
            </a:r>
            <a:r>
              <a:rPr sz="2775" spc="7" baseline="-21021" dirty="0">
                <a:latin typeface="Times New Roman"/>
                <a:cs typeface="Times New Roman"/>
              </a:rPr>
              <a:t>.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864" y="3603434"/>
            <a:ext cx="8572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6954" y="3250248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9135" y="2735098"/>
            <a:ext cx="255270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endParaRPr sz="2025" baseline="-1234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53527" y="244157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964" y="2079358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904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1367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52853" cy="10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endParaRPr sz="2600" baseline="16339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9080">
                <a:tc gridSpan="3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rowSpan="2" grid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90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599122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6887845" cy="649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688784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3133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es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mtClean="0">
                <a:latin typeface="Arial"/>
                <a:cs typeface="Arial"/>
              </a:rPr>
              <a:t> </a:t>
            </a:r>
            <a:r>
              <a:rPr sz="1700" spc="-165" smtClean="0">
                <a:latin typeface="Arial"/>
                <a:cs typeface="Arial"/>
              </a:rPr>
              <a:t> </a:t>
            </a:r>
            <a:r>
              <a:rPr sz="1700" spc="125" smtClean="0">
                <a:latin typeface="Arial"/>
                <a:cs typeface="Arial"/>
              </a:rPr>
              <a:t>Fil</a:t>
            </a:r>
            <a:r>
              <a:rPr sz="1700" spc="10" smtClean="0">
                <a:latin typeface="Arial"/>
                <a:cs typeface="Arial"/>
              </a:rPr>
              <a:t>a</a:t>
            </a:r>
            <a:r>
              <a:rPr sz="1700" spc="-225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948" y="5683250"/>
            <a:ext cx="4514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7810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58000" cy="580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6961505" cy="3501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Ordenação</a:t>
            </a:r>
            <a:r>
              <a:rPr sz="5325" spc="-1560" baseline="24256" dirty="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sz="5325" baseline="24256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08197" y="5228285"/>
            <a:ext cx="3878579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Últi</a:t>
            </a:r>
            <a:r>
              <a:rPr sz="1700" spc="10" dirty="0">
                <a:latin typeface="Arial"/>
                <a:cs typeface="Arial"/>
              </a:rPr>
              <a:t>ma</a:t>
            </a:r>
            <a:r>
              <a:rPr sz="1700" spc="5" dirty="0">
                <a:latin typeface="Arial"/>
                <a:cs typeface="Arial"/>
              </a:rPr>
              <a:t> alte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ão: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31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Ago</a:t>
            </a:r>
            <a:r>
              <a:rPr sz="1700" spc="5" dirty="0">
                <a:latin typeface="Arial"/>
                <a:cs typeface="Arial"/>
              </a:rPr>
              <a:t>sto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616204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82" baseline="27777" dirty="0">
                <a:latin typeface="Lucida Sans Unicode"/>
                <a:cs typeface="Lucida Sans Unicode"/>
              </a:rPr>
              <a:t>∗</a:t>
            </a:r>
            <a:r>
              <a:rPr sz="1350" spc="-35" dirty="0">
                <a:latin typeface="Times New Roman"/>
                <a:cs typeface="Times New Roman"/>
              </a:rPr>
              <a:t>T</a:t>
            </a:r>
            <a:r>
              <a:rPr sz="1350" spc="5" dirty="0">
                <a:latin typeface="Times New Roman"/>
                <a:cs typeface="Times New Roman"/>
              </a:rPr>
              <a:t>ransparência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elaborada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por </a:t>
            </a:r>
            <a:r>
              <a:rPr sz="1350" spc="15" dirty="0">
                <a:latin typeface="Times New Roman"/>
                <a:cs typeface="Times New Roman"/>
              </a:rPr>
              <a:t>C</a:t>
            </a:r>
            <a:r>
              <a:rPr sz="1350" spc="5" dirty="0">
                <a:latin typeface="Times New Roman"/>
                <a:cs typeface="Times New Roman"/>
              </a:rPr>
              <a:t>har</a:t>
            </a:r>
            <a:r>
              <a:rPr sz="1350" dirty="0">
                <a:latin typeface="Times New Roman"/>
                <a:cs typeface="Times New Roman"/>
              </a:rPr>
              <a:t>le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Or</a:t>
            </a:r>
            <a:r>
              <a:rPr sz="1350" spc="5" dirty="0">
                <a:latin typeface="Times New Roman"/>
                <a:cs typeface="Times New Roman"/>
              </a:rPr>
              <a:t>nela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A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20" dirty="0">
                <a:latin typeface="Times New Roman"/>
                <a:cs typeface="Times New Roman"/>
              </a:rPr>
              <a:t>m</a:t>
            </a:r>
            <a:r>
              <a:rPr sz="1350" spc="5" dirty="0">
                <a:latin typeface="Times New Roman"/>
                <a:cs typeface="Times New Roman"/>
              </a:rPr>
              <a:t>eida, Israel </a:t>
            </a:r>
            <a:r>
              <a:rPr sz="1350" spc="15" dirty="0">
                <a:latin typeface="Times New Roman"/>
                <a:cs typeface="Times New Roman"/>
              </a:rPr>
              <a:t>G</a:t>
            </a:r>
            <a:r>
              <a:rPr sz="1350" spc="5" dirty="0">
                <a:latin typeface="Times New Roman"/>
                <a:cs typeface="Times New Roman"/>
              </a:rPr>
              <a:t>ue</a:t>
            </a:r>
            <a:r>
              <a:rPr sz="1350" spc="10" dirty="0">
                <a:latin typeface="Times New Roman"/>
                <a:cs typeface="Times New Roman"/>
              </a:rPr>
              <a:t>rra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N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Z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viani</a:t>
            </a:r>
            <a:endParaRPr sz="13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23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3229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 smtClean="0">
                <a:latin typeface="Arial"/>
                <a:cs typeface="Arial"/>
              </a:rPr>
              <a:t>H</a:t>
            </a:r>
            <a:r>
              <a:rPr sz="2050" dirty="0" smtClean="0">
                <a:latin typeface="Arial"/>
                <a:cs typeface="Arial"/>
              </a:rPr>
              <a:t>eap</a:t>
            </a:r>
            <a:r>
              <a:rPr sz="2050" spc="5" dirty="0" smtClean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498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visa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923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ôn</a:t>
            </a:r>
            <a:r>
              <a:rPr sz="2050" spc="5" dirty="0">
                <a:latin typeface="Arial"/>
                <a:cs typeface="Arial"/>
              </a:rPr>
              <a:t>ico 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abé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08394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8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onô</a:t>
            </a:r>
            <a:r>
              <a:rPr sz="2050" spc="5" dirty="0">
                <a:latin typeface="Arial"/>
                <a:cs typeface="Arial"/>
              </a:rPr>
              <a:t>mico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requ</a:t>
            </a:r>
            <a:r>
              <a:rPr sz="2050" spc="5" dirty="0">
                <a:latin typeface="Arial"/>
                <a:cs typeface="Arial"/>
              </a:rPr>
              <a:t>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ordial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spc="5" dirty="0">
                <a:latin typeface="Arial"/>
                <a:cs typeface="Arial"/>
              </a:rPr>
              <a:t>n</a:t>
            </a:r>
            <a:r>
              <a:rPr sz="2050" b="1" i="1" dirty="0">
                <a:latin typeface="Arial"/>
                <a:cs typeface="Arial"/>
              </a:rPr>
              <a:t> s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dirty="0">
                <a:latin typeface="Arial"/>
                <a:cs typeface="Arial"/>
              </a:rPr>
              <a:t>t</a:t>
            </a:r>
            <a:r>
              <a:rPr sz="2050" b="1" i="1" spc="5" dirty="0">
                <a:latin typeface="Arial"/>
                <a:cs typeface="Arial"/>
              </a:rPr>
              <a:t>u</a:t>
            </a:r>
            <a:r>
              <a:rPr sz="2050" b="1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ópia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rodu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684" y="304008"/>
          <a:ext cx="9638834" cy="4472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ojet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 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lgo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 – 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 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denaçã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–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Seçã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-5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2450" b="1" spc="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34354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9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0" y="1770710"/>
            <a:ext cx="6015889" cy="4732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void</a:t>
            </a: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err="1">
                <a:latin typeface="Arial"/>
                <a:cs typeface="Arial"/>
              </a:rPr>
              <a:t>selection_sort</a:t>
            </a:r>
            <a:r>
              <a:rPr lang="pt-BR" sz="2050" spc="-60" dirty="0">
                <a:latin typeface="Arial"/>
                <a:cs typeface="Arial"/>
              </a:rPr>
              <a:t>(</a:t>
            </a: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num[], </a:t>
            </a: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err="1">
                <a:latin typeface="Arial"/>
                <a:cs typeface="Arial"/>
              </a:rPr>
              <a:t>tam</a:t>
            </a:r>
            <a:r>
              <a:rPr lang="pt-BR" sz="2050" spc="-60" dirty="0">
                <a:latin typeface="Arial"/>
                <a:cs typeface="Arial"/>
              </a:rPr>
              <a:t>) { 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i, j, min, </a:t>
            </a:r>
            <a:r>
              <a:rPr lang="pt-BR" sz="2050" spc="-60" dirty="0" err="1">
                <a:latin typeface="Arial"/>
                <a:cs typeface="Arial"/>
              </a:rPr>
              <a:t>aux</a:t>
            </a:r>
            <a:r>
              <a:rPr lang="pt-BR" sz="2050" spc="-60" dirty="0">
                <a:latin typeface="Arial"/>
                <a:cs typeface="Arial"/>
              </a:rPr>
              <a:t>; 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for (i = 0; i &lt; (tam-1); i++) {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min = i;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for (j = (i+1); j &lt; </a:t>
            </a:r>
            <a:r>
              <a:rPr lang="pt-BR" sz="2050" spc="-60" dirty="0" err="1">
                <a:latin typeface="Arial"/>
                <a:cs typeface="Arial"/>
              </a:rPr>
              <a:t>tam</a:t>
            </a:r>
            <a:r>
              <a:rPr lang="pt-BR" sz="2050" spc="-60" dirty="0">
                <a:latin typeface="Arial"/>
                <a:cs typeface="Arial"/>
              </a:rPr>
              <a:t>; j++) { </a:t>
            </a:r>
            <a:endParaRPr lang="pt-BR" sz="2050" spc="-60" dirty="0" smtClean="0">
              <a:latin typeface="Arial"/>
              <a:cs typeface="Arial"/>
            </a:endParaRP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</a:t>
            </a:r>
            <a:r>
              <a:rPr lang="pt-BR" sz="2050" spc="-60" dirty="0" err="1" smtClean="0">
                <a:latin typeface="Arial"/>
                <a:cs typeface="Arial"/>
              </a:rPr>
              <a:t>if</a:t>
            </a:r>
            <a:r>
              <a:rPr lang="pt-BR" sz="2050" spc="-60" dirty="0" smtClean="0">
                <a:latin typeface="Arial"/>
                <a:cs typeface="Arial"/>
              </a:rPr>
              <a:t>(num[j] &lt; num[min])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smtClean="0">
                <a:latin typeface="Arial"/>
                <a:cs typeface="Arial"/>
              </a:rPr>
              <a:t>         min </a:t>
            </a:r>
            <a:r>
              <a:rPr lang="pt-BR" sz="2050" spc="-60" dirty="0">
                <a:latin typeface="Arial"/>
                <a:cs typeface="Arial"/>
              </a:rPr>
              <a:t>= j;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if</a:t>
            </a:r>
            <a:r>
              <a:rPr lang="pt-BR" sz="2050" spc="-60" dirty="0">
                <a:latin typeface="Arial"/>
                <a:cs typeface="Arial"/>
              </a:rPr>
              <a:t> (num[i] != num[min]) {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</a:t>
            </a:r>
            <a:r>
              <a:rPr lang="pt-BR" sz="2050" spc="-60" dirty="0" err="1" smtClean="0">
                <a:latin typeface="Arial"/>
                <a:cs typeface="Arial"/>
              </a:rPr>
              <a:t>aux</a:t>
            </a:r>
            <a:r>
              <a:rPr lang="pt-BR" sz="2050" spc="-60" dirty="0" smtClean="0">
                <a:latin typeface="Arial"/>
                <a:cs typeface="Arial"/>
              </a:rPr>
              <a:t> </a:t>
            </a:r>
            <a:r>
              <a:rPr lang="pt-BR" sz="2050" spc="-60" dirty="0">
                <a:latin typeface="Arial"/>
                <a:cs typeface="Arial"/>
              </a:rPr>
              <a:t>= num[i];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num[i</a:t>
            </a:r>
            <a:r>
              <a:rPr lang="pt-BR" sz="2050" spc="-60" dirty="0">
                <a:latin typeface="Arial"/>
                <a:cs typeface="Arial"/>
              </a:rPr>
              <a:t>] = num[min];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num[min</a:t>
            </a:r>
            <a:r>
              <a:rPr lang="pt-BR" sz="2050" spc="-60" dirty="0">
                <a:latin typeface="Arial"/>
                <a:cs typeface="Arial"/>
              </a:rPr>
              <a:t>] = </a:t>
            </a:r>
            <a:r>
              <a:rPr lang="pt-BR" sz="2050" spc="-60" dirty="0" err="1">
                <a:latin typeface="Arial"/>
                <a:cs typeface="Arial"/>
              </a:rPr>
              <a:t>aux</a:t>
            </a:r>
            <a:r>
              <a:rPr lang="pt-BR" sz="2050" spc="-60" dirty="0">
                <a:latin typeface="Arial"/>
                <a:cs typeface="Arial"/>
              </a:rPr>
              <a:t>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 </a:t>
            </a:r>
          </a:p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</a:t>
            </a:r>
            <a:endParaRPr sz="2050" spc="-6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9041" y="1890699"/>
            <a:ext cx="367284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40994" y="2981860"/>
            <a:ext cx="8540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 dirty="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0994" y="3797652"/>
            <a:ext cx="19310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0951" y="6369050"/>
            <a:ext cx="788225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8200542" y="2828239"/>
                <a:ext cx="9459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 −</m:t>
                      </m:r>
                      <m:f>
                        <m:f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542" y="2828239"/>
                <a:ext cx="945964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4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antagen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ajud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quadrá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73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jogadore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i=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oloque-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luga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7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06841" cy="320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marL="284480" marR="89535" indent="-2622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15684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4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007211" y="1797050"/>
            <a:ext cx="74799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insertionSort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],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{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i, j, atual;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for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(i = 1; i &lt;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; i++) {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atual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i ]; </a:t>
            </a: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for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(j = i - 1; (j &gt;= 0) &amp;&amp; (atual &lt;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j ] );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j--) {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original[ j 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1 ] 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original [ j ];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original[ j+1 ]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atual;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}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dirty="0">
                <a:latin typeface="Arial"/>
                <a:cs typeface="Arial"/>
              </a:rPr>
              <a:t>Con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559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94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50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100"/>
            <a:ext cx="7216140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dirty="0">
                <a:latin typeface="Arial"/>
                <a:cs typeface="Arial"/>
              </a:rPr>
              <a:t>anel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120" baseline="-12345" dirty="0">
                <a:latin typeface="Trebuchet MS"/>
                <a:cs typeface="Trebuchet MS"/>
              </a:rPr>
              <a:t>i</a:t>
            </a:r>
            <a:r>
              <a:rPr sz="2025" i="1" baseline="-12345" dirty="0">
                <a:latin typeface="Trebuchet MS"/>
                <a:cs typeface="Trebuchet MS"/>
              </a:rPr>
              <a:t>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019" y="2716441"/>
            <a:ext cx="1254760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3054" y="257991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991" y="3793578"/>
            <a:ext cx="8890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9032" y="3614153"/>
            <a:ext cx="33445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6819" y="3615842"/>
            <a:ext cx="32639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marR="5080" indent="-104139">
              <a:lnSpc>
                <a:spcPts val="1530"/>
              </a:lnSpc>
            </a:pPr>
            <a:r>
              <a:rPr sz="1350" i="1" u="sng" spc="80" dirty="0">
                <a:latin typeface="Trebuchet MS"/>
                <a:cs typeface="Trebuchet MS"/>
              </a:rPr>
              <a:t>i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1295" y="4205061"/>
            <a:ext cx="8382000" cy="749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8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961" y="5242471"/>
            <a:ext cx="3859529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R="362585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6208" y="5870752"/>
            <a:ext cx="64579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9750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7967" y="5691327"/>
            <a:ext cx="446913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u="sng" baseline="32921" dirty="0">
                <a:latin typeface="Trebuchet MS"/>
                <a:cs typeface="Trebuchet MS"/>
              </a:rPr>
              <a:t> </a:t>
            </a:r>
            <a:r>
              <a:rPr sz="2025" i="1" u="sng" spc="-142" baseline="32921" dirty="0">
                <a:latin typeface="Trebuchet MS"/>
                <a:cs typeface="Trebuchet MS"/>
              </a:rPr>
              <a:t> 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17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1997" y="510594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9753" y="6319608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7961" y="6140296"/>
            <a:ext cx="379920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3832" y="6108598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6453" y="6319608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1018" y="6036969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187" baseline="-21680" dirty="0">
                <a:latin typeface="Georgia"/>
                <a:cs typeface="Georgia"/>
              </a:rPr>
              <a:t>1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6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46059" cy="329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64033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84" y="4920031"/>
            <a:ext cx="372745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78" y="4471060"/>
            <a:ext cx="42608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R="246379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1234" y="5099342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811" y="4816703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5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900" y="4334532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038" y="5548312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65" y="5368887"/>
            <a:ext cx="387286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4002" y="5337187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6623" y="5548312"/>
            <a:ext cx="7385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2460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1188" y="5265559"/>
            <a:ext cx="137223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11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1959.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564" cy="1831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95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eficiên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4, 13,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40, 121,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364,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093, 3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280,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2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Shellsor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175895" algn="ctr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0" dirty="0">
                <a:latin typeface="Lucida Sans Unicode"/>
                <a:cs typeface="Lucida Sans Unicode"/>
              </a:rPr>
              <a:t> </a:t>
            </a:r>
            <a:r>
              <a:rPr sz="1700" spc="19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1380" algn="ctr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95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85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61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 err="1">
                <a:latin typeface="Arial"/>
                <a:cs typeface="Arial"/>
              </a:rPr>
              <a:t>void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shellSort</a:t>
            </a:r>
            <a:r>
              <a:rPr lang="pt-BR" sz="2000" b="1" spc="-25" dirty="0">
                <a:latin typeface="Arial"/>
                <a:cs typeface="Arial"/>
              </a:rPr>
              <a:t>(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[],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i , j ,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gap = 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(gap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= 3*gap+1;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 gap &gt; 1)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/= 3;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for(i = gap; i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; i++)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[i];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j = i -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(j &gt;= 0 &amp;&amp;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&lt;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j -=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2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1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eficiên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ingué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apa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dif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1</a:t>
            </a:r>
            <a:r>
              <a:rPr sz="2025" i="1" spc="-135" baseline="30864" dirty="0">
                <a:latin typeface="Trebuchet MS"/>
                <a:cs typeface="Trebuchet MS"/>
              </a:rPr>
              <a:t>,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spc="262" baseline="30864" dirty="0">
                <a:latin typeface="PMingLiU"/>
                <a:cs typeface="PMingLiU"/>
              </a:rPr>
              <a:t>5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0" dirty="0">
                <a:latin typeface="Georgia"/>
                <a:cs typeface="Georgia"/>
              </a:rPr>
              <a:t>n</a:t>
            </a:r>
            <a:r>
              <a:rPr sz="2050" spc="-15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603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pequena.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7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1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oar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</a:t>
            </a:r>
            <a:r>
              <a:rPr sz="2050" spc="5" dirty="0">
                <a:latin typeface="Arial"/>
                <a:cs typeface="Arial"/>
              </a:rPr>
              <a:t>0 e</a:t>
            </a:r>
            <a:r>
              <a:rPr sz="2050" dirty="0">
                <a:latin typeface="Arial"/>
                <a:cs typeface="Arial"/>
              </a:rPr>
              <a:t> pu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licc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1962.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idé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bá</a:t>
            </a:r>
            <a:r>
              <a:rPr sz="2050" spc="5" dirty="0">
                <a:latin typeface="Arial"/>
                <a:cs typeface="Arial"/>
              </a:rPr>
              <a:t>sica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dir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8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piv</a:t>
            </a:r>
            <a:r>
              <a:rPr sz="2050" b="1" spc="5" dirty="0">
                <a:latin typeface="Arial"/>
                <a:cs typeface="Arial"/>
              </a:rPr>
              <a:t>ô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9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ô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que: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5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024" cy="146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6726" y="1693938"/>
            <a:ext cx="9499854" cy="49141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 err="1">
                <a:latin typeface="Arial"/>
                <a:cs typeface="Arial"/>
              </a:rPr>
              <a:t>void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Particao</a:t>
            </a:r>
            <a:r>
              <a:rPr lang="pt-BR" dirty="0">
                <a:latin typeface="Arial"/>
                <a:cs typeface="Arial"/>
              </a:rPr>
              <a:t>(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Esq</a:t>
            </a:r>
            <a:r>
              <a:rPr lang="pt-BR" dirty="0">
                <a:latin typeface="Arial"/>
                <a:cs typeface="Arial"/>
              </a:rPr>
              <a:t>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Dir</a:t>
            </a:r>
            <a:r>
              <a:rPr lang="pt-BR" dirty="0">
                <a:latin typeface="Arial"/>
                <a:cs typeface="Arial"/>
              </a:rPr>
              <a:t> 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* i 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* j , char A[])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x , w;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*i = </a:t>
            </a:r>
            <a:r>
              <a:rPr lang="pt-BR" dirty="0" err="1">
                <a:latin typeface="Arial"/>
                <a:cs typeface="Arial"/>
              </a:rPr>
              <a:t>Esq</a:t>
            </a:r>
            <a:r>
              <a:rPr lang="pt-BR" dirty="0">
                <a:latin typeface="Arial"/>
                <a:cs typeface="Arial"/>
              </a:rPr>
              <a:t>; *j = </a:t>
            </a:r>
            <a:r>
              <a:rPr lang="pt-BR" dirty="0" err="1">
                <a:latin typeface="Arial"/>
                <a:cs typeface="Arial"/>
              </a:rPr>
              <a:t>Dir</a:t>
            </a:r>
            <a:r>
              <a:rPr lang="pt-BR" dirty="0">
                <a:latin typeface="Arial"/>
                <a:cs typeface="Arial"/>
              </a:rPr>
              <a:t>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x = A[(*i + *j)/2]; /* </a:t>
            </a:r>
            <a:r>
              <a:rPr lang="pt-BR" dirty="0" err="1">
                <a:latin typeface="Arial"/>
                <a:cs typeface="Arial"/>
              </a:rPr>
              <a:t>obtem</a:t>
            </a:r>
            <a:r>
              <a:rPr lang="pt-BR" dirty="0">
                <a:latin typeface="Arial"/>
                <a:cs typeface="Arial"/>
              </a:rPr>
              <a:t> o </a:t>
            </a:r>
            <a:r>
              <a:rPr lang="pt-BR" dirty="0" err="1">
                <a:latin typeface="Arial"/>
                <a:cs typeface="Arial"/>
              </a:rPr>
              <a:t>pivo</a:t>
            </a:r>
            <a:r>
              <a:rPr lang="pt-BR" dirty="0">
                <a:latin typeface="Arial"/>
                <a:cs typeface="Arial"/>
              </a:rPr>
              <a:t> x */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do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(x &gt; A[*i]) (*i)++;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(x &lt; A[*j]) (*j)--;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if</a:t>
            </a:r>
            <a:r>
              <a:rPr lang="pt-BR" dirty="0">
                <a:latin typeface="Arial"/>
                <a:cs typeface="Arial"/>
              </a:rPr>
              <a:t>(* i &lt;= * j ){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w = A[*i];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A[*i] = A[*j];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A[*j] = w;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(*i)++; (*j)--;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>
                <a:latin typeface="Arial"/>
                <a:cs typeface="Arial"/>
              </a:rPr>
              <a:t> </a:t>
            </a:r>
            <a:r>
              <a:rPr lang="pt-BR" smtClean="0">
                <a:latin typeface="Arial"/>
                <a:cs typeface="Arial"/>
              </a:rPr>
              <a:t>       </a:t>
            </a:r>
            <a:r>
              <a:rPr lang="pt-BR" smtClean="0">
                <a:latin typeface="Arial"/>
                <a:cs typeface="Arial"/>
              </a:rPr>
              <a:t>}</a:t>
            </a:r>
            <a:endParaRPr lang="pt-BR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 smtClean="0">
                <a:latin typeface="Arial"/>
                <a:cs typeface="Arial"/>
              </a:rPr>
              <a:t>    </a:t>
            </a:r>
            <a:r>
              <a:rPr lang="pt-BR" dirty="0">
                <a:latin typeface="Arial"/>
                <a:cs typeface="Arial"/>
              </a:rPr>
              <a:t>}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(*i&lt;= *j);</a:t>
            </a:r>
          </a:p>
          <a:p>
            <a:pPr>
              <a:spcBef>
                <a:spcPts val="57"/>
              </a:spcBef>
            </a:pPr>
            <a:r>
              <a:rPr lang="pt-BR" dirty="0" smtClean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4231050" y="4006850"/>
            <a:ext cx="9499854" cy="10233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pc="10" dirty="0" smtClean="0">
                <a:latin typeface="Arial"/>
                <a:cs typeface="Arial"/>
              </a:rPr>
              <a:t>O </a:t>
            </a:r>
            <a:r>
              <a:rPr dirty="0" err="1" smtClean="0">
                <a:latin typeface="Arial"/>
                <a:cs typeface="Arial"/>
              </a:rPr>
              <a:t>anel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in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e</a:t>
            </a:r>
            <a:r>
              <a:rPr spc="5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n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d</a:t>
            </a:r>
            <a:r>
              <a:rPr spc="5" dirty="0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pro</a:t>
            </a:r>
            <a:r>
              <a:rPr spc="5" dirty="0" err="1" smtClean="0">
                <a:latin typeface="Arial"/>
                <a:cs typeface="Arial"/>
              </a:rPr>
              <a:t>c</a:t>
            </a:r>
            <a:r>
              <a:rPr dirty="0" err="1" smtClean="0">
                <a:latin typeface="Arial"/>
                <a:cs typeface="Arial"/>
              </a:rPr>
              <a:t>ed</a:t>
            </a:r>
            <a:r>
              <a:rPr spc="5" dirty="0" err="1" smtClean="0">
                <a:latin typeface="Arial"/>
                <a:cs typeface="Arial"/>
              </a:rPr>
              <a:t>im</a:t>
            </a:r>
            <a:r>
              <a:rPr dirty="0" err="1" smtClean="0">
                <a:latin typeface="Arial"/>
                <a:cs typeface="Arial"/>
              </a:rPr>
              <a:t>en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spc="-75" dirty="0" err="1" smtClean="0">
                <a:latin typeface="Arial"/>
                <a:cs typeface="Arial"/>
              </a:rPr>
              <a:t>P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85" dirty="0" err="1" smtClean="0">
                <a:latin typeface="Arial"/>
                <a:cs typeface="Arial"/>
              </a:rPr>
              <a:t>r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ic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5" dirty="0" smtClean="0">
                <a:latin typeface="Arial"/>
                <a:cs typeface="Arial"/>
              </a:rPr>
              <a:t>é</a:t>
            </a:r>
            <a:endParaRPr lang="pt-BR" spc="5" dirty="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tabLst>
                <a:tab pos="467995" algn="l"/>
              </a:tabLst>
            </a:pPr>
            <a:r>
              <a:rPr dirty="0" smtClean="0">
                <a:latin typeface="Arial"/>
                <a:cs typeface="Arial"/>
              </a:rPr>
              <a:t> </a:t>
            </a:r>
            <a:r>
              <a:rPr spc="-60" dirty="0" err="1" smtClean="0">
                <a:latin typeface="Arial"/>
                <a:cs typeface="Arial"/>
              </a:rPr>
              <a:t>e</a:t>
            </a:r>
            <a:r>
              <a:rPr spc="5" dirty="0" err="1" smtClean="0">
                <a:latin typeface="Arial"/>
                <a:cs typeface="Arial"/>
              </a:rPr>
              <a:t>x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re</a:t>
            </a:r>
            <a:r>
              <a:rPr spc="10" dirty="0" err="1" smtClean="0">
                <a:latin typeface="Arial"/>
                <a:cs typeface="Arial"/>
              </a:rPr>
              <a:t>m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10" dirty="0" err="1" smtClean="0">
                <a:latin typeface="Arial"/>
                <a:cs typeface="Arial"/>
              </a:rPr>
              <a:t>m</a:t>
            </a:r>
            <a:r>
              <a:rPr dirty="0" err="1" smtClean="0">
                <a:latin typeface="Arial"/>
                <a:cs typeface="Arial"/>
              </a:rPr>
              <a:t>en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e</a:t>
            </a:r>
            <a:r>
              <a:rPr spc="5" dirty="0" smtClean="0">
                <a:latin typeface="Arial"/>
                <a:cs typeface="Arial"/>
              </a:rPr>
              <a:t> sim</a:t>
            </a:r>
            <a:r>
              <a:rPr dirty="0" smtClean="0">
                <a:latin typeface="Arial"/>
                <a:cs typeface="Arial"/>
              </a:rPr>
              <a:t>ple</a:t>
            </a:r>
            <a:r>
              <a:rPr spc="-30" dirty="0" smtClean="0">
                <a:latin typeface="Arial"/>
                <a:cs typeface="Arial"/>
              </a:rPr>
              <a:t>s</a:t>
            </a:r>
            <a:r>
              <a:rPr dirty="0" smtClean="0">
                <a:latin typeface="Arial"/>
                <a:cs typeface="Arial"/>
              </a:rPr>
              <a:t>.</a:t>
            </a: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spc="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5" dirty="0" err="1" smtClean="0">
                <a:latin typeface="Arial"/>
                <a:cs typeface="Arial"/>
              </a:rPr>
              <a:t>z</a:t>
            </a:r>
            <a:r>
              <a:rPr dirty="0" err="1" smtClean="0">
                <a:latin typeface="Arial"/>
                <a:cs typeface="Arial"/>
              </a:rPr>
              <a:t>ã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pe</a:t>
            </a:r>
            <a:r>
              <a:rPr spc="5" dirty="0" smtClean="0">
                <a:latin typeface="Arial"/>
                <a:cs typeface="Arial"/>
              </a:rPr>
              <a:t>la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qual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5" dirty="0" smtClean="0">
                <a:latin typeface="Arial"/>
                <a:cs typeface="Arial"/>
              </a:rPr>
              <a:t>o </a:t>
            </a:r>
            <a:r>
              <a:rPr dirty="0" err="1" smtClean="0">
                <a:latin typeface="Arial"/>
                <a:cs typeface="Arial"/>
              </a:rPr>
              <a:t>algo</a:t>
            </a:r>
            <a:r>
              <a:rPr spc="3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i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10" dirty="0" err="1" smtClean="0">
                <a:latin typeface="Arial"/>
                <a:cs typeface="Arial"/>
              </a:rPr>
              <a:t>mo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spc="10" dirty="0" smtClean="0">
                <a:latin typeface="Arial"/>
                <a:cs typeface="Arial"/>
              </a:rPr>
              <a:t>Q</a:t>
            </a:r>
            <a:r>
              <a:rPr dirty="0" smtClean="0">
                <a:latin typeface="Arial"/>
                <a:cs typeface="Arial"/>
              </a:rPr>
              <a:t>ui</a:t>
            </a:r>
            <a:r>
              <a:rPr spc="-40" dirty="0" smtClean="0">
                <a:latin typeface="Arial"/>
                <a:cs typeface="Arial"/>
              </a:rPr>
              <a:t>c</a:t>
            </a:r>
            <a:r>
              <a:rPr spc="5" dirty="0" smtClean="0">
                <a:latin typeface="Arial"/>
                <a:cs typeface="Arial"/>
              </a:rPr>
              <a:t>ks</a:t>
            </a:r>
            <a:r>
              <a:rPr dirty="0" smtClean="0">
                <a:latin typeface="Arial"/>
                <a:cs typeface="Arial"/>
              </a:rPr>
              <a:t>o</a:t>
            </a:r>
            <a:r>
              <a:rPr spc="85" dirty="0" smtClean="0">
                <a:latin typeface="Arial"/>
                <a:cs typeface="Arial"/>
              </a:rPr>
              <a:t>r</a:t>
            </a:r>
            <a:r>
              <a:rPr dirty="0" smtClean="0">
                <a:latin typeface="Arial"/>
                <a:cs typeface="Arial"/>
              </a:rPr>
              <a:t>t </a:t>
            </a:r>
            <a:r>
              <a:rPr spc="5" dirty="0" smtClean="0">
                <a:latin typeface="Arial"/>
                <a:cs typeface="Arial"/>
              </a:rPr>
              <a:t>é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ã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rápid</a:t>
            </a:r>
            <a:r>
              <a:rPr spc="-80" dirty="0" err="1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46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59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Lucida Sans Unicode"/>
                <a:cs typeface="Lucida Sans Unicode"/>
              </a:rPr>
              <a:t> </a:t>
            </a:r>
            <a:r>
              <a:rPr sz="1700" i="1" spc="20" dirty="0">
                <a:latin typeface="Arial"/>
                <a:cs typeface="Arial"/>
              </a:rPr>
              <a:t>Entr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procediment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Partica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transparenci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 err="1">
                <a:latin typeface="Arial"/>
                <a:cs typeface="Arial"/>
              </a:rPr>
              <a:t>void</a:t>
            </a:r>
            <a:r>
              <a:rPr lang="pt-BR" sz="1700" spc="10" dirty="0">
                <a:latin typeface="Arial"/>
                <a:cs typeface="Arial"/>
              </a:rPr>
              <a:t> Ordena(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char A[])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i , j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Particao</a:t>
            </a:r>
            <a:r>
              <a:rPr lang="pt-BR" sz="1700" spc="10" dirty="0">
                <a:latin typeface="Arial"/>
                <a:cs typeface="Arial"/>
              </a:rPr>
              <a:t>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&amp;i , &amp;j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if</a:t>
            </a:r>
            <a:r>
              <a:rPr lang="pt-BR" sz="1700" spc="10" dirty="0">
                <a:latin typeface="Arial"/>
                <a:cs typeface="Arial"/>
              </a:rPr>
              <a:t> 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 &lt; j ) Ordena(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j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if</a:t>
            </a:r>
            <a:r>
              <a:rPr lang="pt-BR" sz="1700" spc="10" dirty="0">
                <a:latin typeface="Arial"/>
                <a:cs typeface="Arial"/>
              </a:rPr>
              <a:t> ( i &lt;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) Ordena( i ,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}</a:t>
            </a:r>
            <a:endParaRPr sz="1700" spc="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 err="1">
                <a:latin typeface="Arial"/>
                <a:cs typeface="Arial"/>
              </a:rPr>
              <a:t>void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QuickSort</a:t>
            </a:r>
            <a:r>
              <a:rPr lang="pt-BR" sz="1700" spc="10" dirty="0">
                <a:latin typeface="Arial"/>
                <a:cs typeface="Arial"/>
              </a:rPr>
              <a:t>(char A</a:t>
            </a:r>
            <a:r>
              <a:rPr lang="pt-BR" sz="1700" spc="10" dirty="0" smtClean="0">
                <a:latin typeface="Arial"/>
                <a:cs typeface="Arial"/>
              </a:rPr>
              <a:t>[ ],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n)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Ordena(0 , n-1, A) ;//n eh o numero de elementos do vetor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}</a:t>
            </a:r>
            <a:endParaRPr sz="1700" spc="1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60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8832" cy="294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29290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Pi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472440" algn="ctr">
              <a:lnSpc>
                <a:spcPct val="100000"/>
              </a:lnSpc>
              <a:spcBef>
                <a:spcPts val="484"/>
              </a:spcBef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4979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pregand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odifica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isso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edian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099818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iguai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Flajolet (1996,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17):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491561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dirty="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marL="1114425" marR="386715" lvl="2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engan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729668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4629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(o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redu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14191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refle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habilidad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abandona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63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SOs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repetid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381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gerên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26262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Tip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52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70996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198450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bse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ação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Aj</a:t>
            </a:r>
            <a:r>
              <a:rPr sz="2050" dirty="0">
                <a:latin typeface="Arial"/>
                <a:cs typeface="Arial"/>
              </a:rPr>
              <a:t>unt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eficient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logarít</a:t>
            </a:r>
            <a:r>
              <a:rPr sz="2050" spc="5" dirty="0">
                <a:latin typeface="Arial"/>
                <a:cs typeface="Arial"/>
              </a:rPr>
              <a:t>mico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itui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utiliza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fis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uille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n, 1978).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73411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Algo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203809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41020" algn="ctr">
              <a:lnSpc>
                <a:spcPct val="100000"/>
              </a:lnSpc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986155" algn="ctr">
              <a:lnSpc>
                <a:spcPct val="100000"/>
              </a:lnSpc>
              <a:spcBef>
                <a:spcPts val="1075"/>
              </a:spcBef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232" y="4550701"/>
            <a:ext cx="2871788" cy="1691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625075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Á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re 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eta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11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55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7202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filho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1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233" cy="725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657854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 propo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Fl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yd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1964.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82813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engloband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pai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iten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26" cy="184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i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17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23767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43456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vi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 dirty="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56724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 dirty="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" y="1335088"/>
            <a:ext cx="9010650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6817187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 dirty="0">
              <a:latin typeface="Times New Roman"/>
              <a:cs typeface="Times New Roman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1711325"/>
            <a:ext cx="7439025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4154454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130" cy="432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3446145" algn="l"/>
              </a:tabLst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-20" dirty="0">
                <a:latin typeface="Arial"/>
                <a:cs typeface="Arial"/>
              </a:rPr>
              <a:t>eti</a:t>
            </a:r>
            <a:r>
              <a:rPr sz="1700" spc="-25" dirty="0">
                <a:latin typeface="Arial"/>
                <a:cs typeface="Arial"/>
              </a:rPr>
              <a:t>r</a:t>
            </a:r>
            <a:r>
              <a:rPr sz="1700" spc="-15" dirty="0">
                <a:latin typeface="Arial"/>
                <a:cs typeface="Arial"/>
              </a:rPr>
              <a:t>aMa</a:t>
            </a:r>
            <a:r>
              <a:rPr sz="1700" spc="114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7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hea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0915" marR="3470275" indent="-743585">
              <a:lnSpc>
                <a:spcPts val="2720"/>
              </a:lnSpc>
              <a:spcBef>
                <a:spcPts val="200"/>
              </a:spcBef>
              <a:tabLst>
                <a:tab pos="2671445" algn="l"/>
                <a:tab pos="4308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00" dirty="0">
                <a:latin typeface="Arial"/>
                <a:cs typeface="Arial"/>
              </a:rPr>
              <a:t>n)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85" dirty="0">
                <a:latin typeface="Arial"/>
                <a:cs typeface="Arial"/>
              </a:rPr>
              <a:t>z</a:t>
            </a:r>
            <a:r>
              <a:rPr sz="1700" spc="12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∗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6892290" algn="ctr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527167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732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5471"/>
            <a:ext cx="8388350" cy="425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 marR="5080">
              <a:lnSpc>
                <a:spcPct val="117400"/>
              </a:lnSpc>
              <a:spcBef>
                <a:spcPts val="173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261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5" dirty="0">
                <a:latin typeface="Arial"/>
                <a:cs typeface="Arial"/>
              </a:rPr>
              <a:t>e(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ChaveNov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meno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atua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30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30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30"/>
              </a:spcBef>
              <a:tabLst>
                <a:tab pos="2389505" algn="l"/>
              </a:tabLst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1785" y="5179580"/>
            <a:ext cx="29146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7995" algn="l"/>
                <a:tab pos="1940560" algn="l"/>
              </a:tabLst>
            </a:pP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982" y="5099525"/>
            <a:ext cx="1595755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17170">
              <a:lnSpc>
                <a:spcPct val="130900"/>
              </a:lnSpc>
              <a:tabLst>
                <a:tab pos="420370" algn="l"/>
                <a:tab pos="10864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196627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776288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62570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4770" y="4200543"/>
            <a:ext cx="2379307" cy="1483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94" y="4200543"/>
            <a:ext cx="2379307" cy="1483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4770" y="2508547"/>
            <a:ext cx="2379307" cy="1483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594" y="2508547"/>
            <a:ext cx="2379307" cy="1483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10776" y="4148289"/>
            <a:ext cx="220979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(c)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0776" y="2456281"/>
            <a:ext cx="3019425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  <a:tabLst>
                <a:tab pos="2786380" algn="l"/>
              </a:tabLst>
            </a:pPr>
            <a:r>
              <a:rPr sz="1550" spc="5" dirty="0">
                <a:latin typeface="Times New Roman"/>
                <a:cs typeface="Times New Roman"/>
              </a:rPr>
              <a:t>(a)	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601" y="4148289"/>
            <a:ext cx="23241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(d)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71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053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0180" y="4596168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416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59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9709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400" y="423754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4776" y="4834725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087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642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6419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0871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6427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9718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595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9104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2400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2510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85923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9211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9334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7683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3239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26530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891" y="4205795"/>
            <a:ext cx="3708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5"/>
              </a:lnSpc>
              <a:tabLst>
                <a:tab pos="314960" algn="l"/>
              </a:tabLst>
            </a:pPr>
            <a:r>
              <a:rPr sz="1300" dirty="0">
                <a:latin typeface="Times New Roman"/>
                <a:cs typeface="Times New Roman"/>
              </a:rPr>
              <a:t>U	</a:t>
            </a:r>
            <a:r>
              <a:rPr sz="2325" i="1" baseline="1792" dirty="0">
                <a:latin typeface="Times New Roman"/>
                <a:cs typeface="Times New Roman"/>
              </a:rPr>
              <a:t>i</a:t>
            </a:r>
            <a:endParaRPr sz="2325" baseline="1792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5920" y="483472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5916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26530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30977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768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99091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37027" y="242385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41422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18564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37027" y="575901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21295" y="6132294"/>
            <a:ext cx="8527415" cy="702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625511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8517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9321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3995" marR="3452495" indent="-180975">
              <a:lnSpc>
                <a:spcPts val="2720"/>
              </a:lnSpc>
              <a:spcBef>
                <a:spcPts val="200"/>
              </a:spcBef>
              <a:tabLst>
                <a:tab pos="1068705" algn="l"/>
                <a:tab pos="2461260" algn="l"/>
              </a:tabLst>
            </a:pPr>
            <a:r>
              <a:rPr sz="1700" spc="135" dirty="0">
                <a:latin typeface="Arial"/>
                <a:cs typeface="Arial"/>
              </a:rPr>
              <a:t>{(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120" dirty="0">
                <a:latin typeface="Arial"/>
                <a:cs typeface="Arial"/>
              </a:rPr>
              <a:t>)++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IN</a:t>
            </a:r>
            <a:r>
              <a:rPr sz="1700" spc="-50" dirty="0">
                <a:latin typeface="Arial"/>
                <a:cs typeface="Arial"/>
              </a:rPr>
              <a:t>T_</a:t>
            </a:r>
            <a:r>
              <a:rPr sz="1700" spc="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I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950469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30607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, at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819448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5, apó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2.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1652" cy="294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06486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1093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11" y="2218309"/>
            <a:ext cx="27997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6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Heapsor</a:t>
            </a:r>
            <a:r>
              <a:rPr sz="1700" spc="11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632" y="2218309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327" y="2563266"/>
            <a:ext cx="4203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186" y="2477251"/>
            <a:ext cx="1804670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660" marR="5080" indent="-188595">
              <a:lnSpc>
                <a:spcPct val="1332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35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2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639" y="3253295"/>
            <a:ext cx="22459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85" dirty="0">
                <a:latin typeface="Arial"/>
                <a:cs typeface="Arial"/>
              </a:rPr>
              <a:t>c</a:t>
            </a:r>
            <a:r>
              <a:rPr sz="1700" i="1" spc="90" dirty="0">
                <a:latin typeface="Arial"/>
                <a:cs typeface="Arial"/>
              </a:rPr>
              <a:t>on</a:t>
            </a:r>
            <a:r>
              <a:rPr sz="1700" i="1" spc="85" dirty="0">
                <a:latin typeface="Arial"/>
                <a:cs typeface="Arial"/>
              </a:rPr>
              <a:t>stro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spc="220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hea</a:t>
            </a:r>
            <a:r>
              <a:rPr sz="1700" i="1" spc="10" dirty="0">
                <a:latin typeface="Arial"/>
                <a:cs typeface="Arial"/>
              </a:rPr>
              <a:t>p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7428" y="4633353"/>
            <a:ext cx="12077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948" y="4633353"/>
            <a:ext cx="676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10" dirty="0">
                <a:latin typeface="Arial"/>
                <a:cs typeface="Arial"/>
              </a:rPr>
              <a:t>r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808" y="3598252"/>
            <a:ext cx="3122930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8075" algn="l"/>
              </a:tabLst>
            </a:pP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675"/>
              </a:spcBef>
              <a:tabLst>
                <a:tab pos="469265" algn="l"/>
                <a:tab pos="239776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 </a:t>
            </a:r>
            <a:r>
              <a:rPr sz="1700" i="1" spc="-35" dirty="0">
                <a:latin typeface="Arial"/>
                <a:cs typeface="Arial"/>
              </a:rPr>
              <a:t>orden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04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v</a:t>
            </a:r>
            <a:r>
              <a:rPr sz="1700" i="1" spc="75" dirty="0">
                <a:latin typeface="Arial"/>
                <a:cs typeface="Arial"/>
              </a:rPr>
              <a:t>eto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675"/>
              </a:spcBef>
              <a:tabLst>
                <a:tab pos="161353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945">
              <a:lnSpc>
                <a:spcPct val="100000"/>
              </a:lnSpc>
              <a:spcBef>
                <a:spcPts val="675"/>
              </a:spcBef>
              <a:tabLst>
                <a:tab pos="1641475" algn="l"/>
              </a:tabLst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8471" y="5668340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0691" y="2130196"/>
            <a:ext cx="95885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Anális</a:t>
            </a:r>
            <a:r>
              <a:rPr sz="2050" b="1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1578" y="2614028"/>
            <a:ext cx="268732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96439" algn="l"/>
              </a:tabLst>
            </a:pP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979" y="2926585"/>
            <a:ext cx="328549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1295" y="6552624"/>
            <a:ext cx="852741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719132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208279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48387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endado:</a:t>
            </a:r>
            <a:endParaRPr sz="2050">
              <a:latin typeface="Arial"/>
              <a:cs typeface="Arial"/>
            </a:endParaRPr>
          </a:p>
          <a:p>
            <a:pPr marL="852169" marR="46990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44401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5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xidade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e).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80841" cy="2578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ompl</a:t>
                      </a:r>
                      <a:r>
                        <a:rPr sz="1850" spc="-6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50044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el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55567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673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00382" cy="2578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03669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50" b="1" spc="20" dirty="0">
                <a:latin typeface="Arial"/>
                <a:cs typeface="Arial"/>
              </a:rPr>
              <a:t>Obse</a:t>
            </a:r>
            <a:r>
              <a:rPr sz="1850" b="1" spc="25" dirty="0">
                <a:latin typeface="Arial"/>
                <a:cs typeface="Arial"/>
              </a:rPr>
              <a:t>r</a:t>
            </a: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ações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sobre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5" dirty="0">
                <a:latin typeface="Arial"/>
                <a:cs typeface="Arial"/>
              </a:rPr>
              <a:t>mé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êm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ande</a:t>
            </a:r>
            <a:r>
              <a:rPr sz="1850" spc="10" dirty="0">
                <a:latin typeface="Arial"/>
                <a:cs typeface="Arial"/>
              </a:rPr>
              <a:t>za.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500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0" dirty="0">
                <a:latin typeface="Palatino Linotype"/>
                <a:cs typeface="Palatino Linotype"/>
              </a:rPr>
              <a:t>O</a:t>
            </a:r>
            <a:r>
              <a:rPr sz="1850" spc="130" dirty="0">
                <a:latin typeface="Lucida Sans Unicode"/>
                <a:cs typeface="Lucida Sans Unicode"/>
              </a:rPr>
              <a:t>(</a:t>
            </a:r>
            <a:r>
              <a:rPr sz="1850" spc="50" dirty="0">
                <a:latin typeface="Palatino Linotype"/>
                <a:cs typeface="Palatino Linotype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30" dirty="0">
                <a:latin typeface="Lucida Sans Unicode"/>
                <a:cs typeface="Lucida Sans Unicode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681889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In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luênci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inicial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r</a:t>
            </a:r>
            <a:r>
              <a:rPr sz="2050" b="1" dirty="0">
                <a:latin typeface="Arial"/>
                <a:cs typeface="Arial"/>
              </a:rPr>
              <a:t>egist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10" dirty="0">
                <a:latin typeface="Arial"/>
                <a:cs typeface="Arial"/>
              </a:rPr>
              <a:t> asc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44139" cy="152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Heap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2895">
                <a:tc>
                  <a:txBody>
                    <a:bodyPr/>
                    <a:lstStyle/>
                    <a:p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73314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Inse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bo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(</a:t>
            </a:r>
            <a:r>
              <a:rPr sz="2050" b="1" spc="5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ub</a:t>
            </a:r>
            <a:r>
              <a:rPr sz="2050" b="1" spc="-20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)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b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567494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eleção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ajo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00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865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hellso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im 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7408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rágil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uidad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probabilidad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179689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ligei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ubarqui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podend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k, </a:t>
            </a:r>
            <a:r>
              <a:rPr sz="2050" dirty="0">
                <a:latin typeface="Arial"/>
                <a:cs typeface="Arial"/>
              </a:rPr>
              <a:t>1988).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44318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Heapso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347268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Conside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 f</a:t>
            </a:r>
            <a:r>
              <a:rPr sz="2050" b="1" dirty="0">
                <a:latin typeface="Arial"/>
                <a:cs typeface="Arial"/>
              </a:rPr>
              <a:t>inais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eguir 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ég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1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</TotalTime>
  <Words>18367</Words>
  <Application>Microsoft Office PowerPoint</Application>
  <PresentationFormat>Personalizar</PresentationFormat>
  <Paragraphs>4276</Paragraphs>
  <Slides>303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7</vt:i4>
      </vt:variant>
      <vt:variant>
        <vt:lpstr>Títulos de slides</vt:lpstr>
      </vt:variant>
      <vt:variant>
        <vt:i4>303</vt:i4>
      </vt:variant>
    </vt:vector>
  </HeadingPairs>
  <TitlesOfParts>
    <vt:vector size="310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Matrizes e subrotinas</vt:lpstr>
      <vt:lpstr>Exercícios</vt:lpstr>
      <vt:lpstr>Exercícios</vt:lpstr>
      <vt:lpstr>Exercícios</vt:lpstr>
      <vt:lpstr>Exercícios</vt:lpstr>
      <vt:lpstr>Estruturas heterogêneas</vt:lpstr>
      <vt:lpstr>Estruturas heterogêneas</vt:lpstr>
      <vt:lpstr>Variáveis compostas</vt:lpstr>
      <vt:lpstr>Definição de estrutura</vt:lpstr>
      <vt:lpstr>Estruturas - Definição</vt:lpstr>
      <vt:lpstr>Estruturas - Declaração</vt:lpstr>
      <vt:lpstr>Estruturas - Declaração</vt:lpstr>
      <vt:lpstr>Comando typedef</vt:lpstr>
      <vt:lpstr>Estruturas - Declaração</vt:lpstr>
      <vt:lpstr>Estruturas - Declaração</vt:lpstr>
      <vt:lpstr>Definição e Declaração</vt:lpstr>
      <vt:lpstr>Estruturas: Manipulação</vt:lpstr>
      <vt:lpstr>Estruturas: Manipulação</vt:lpstr>
      <vt:lpstr>Estruturas: Manipulação</vt:lpstr>
      <vt:lpstr>Exercícios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com vetor</vt:lpstr>
      <vt:lpstr>Exercício</vt:lpstr>
      <vt:lpstr>Atribuição de estruturas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Estruturas e funções</vt:lpstr>
      <vt:lpstr>Estruturas e funções</vt:lpstr>
      <vt:lpstr>Estruturas e funções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Inicialização de estruturas</vt:lpstr>
      <vt:lpstr>Inicialização de estruturas</vt:lpstr>
      <vt:lpstr>Vetores de estruturas</vt:lpstr>
      <vt:lpstr>Vetores de estruturas</vt:lpstr>
      <vt:lpstr>Vetores de estruturas</vt:lpstr>
      <vt:lpstr>Vetores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Impressão de vetor de estruturas</vt:lpstr>
      <vt:lpstr>Programa completo</vt:lpstr>
      <vt:lpstr>Exemplo 2</vt:lpstr>
      <vt:lpstr>Exercícios</vt:lpstr>
      <vt:lpstr>Exercícios</vt:lpstr>
      <vt:lpstr>Exercícios</vt:lpstr>
      <vt:lpstr>Recursividade - Definição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Exercício</vt:lpstr>
      <vt:lpstr>Exercício</vt:lpstr>
      <vt:lpstr>Exercício</vt:lpstr>
      <vt:lpstr>Exercício</vt:lpstr>
      <vt:lpstr>Exercício</vt:lpstr>
      <vt:lpstr>Exercício</vt:lpstr>
      <vt:lpstr>Exercícios</vt:lpstr>
      <vt:lpstr>Exercícios</vt:lpstr>
      <vt:lpstr>Debugger (Depurador)</vt:lpstr>
      <vt:lpstr>Debugger (Depurador)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Controle da execução</vt:lpstr>
      <vt:lpstr>Controle da execução</vt:lpstr>
      <vt:lpstr>Controle da 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Dica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Ordenação∗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53</cp:revision>
  <dcterms:created xsi:type="dcterms:W3CDTF">2015-06-18T03:37:37Z</dcterms:created>
  <dcterms:modified xsi:type="dcterms:W3CDTF">2018-06-08T04:06:11Z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