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6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3" r:id="rId3"/>
    <p:sldMasterId id="2147483679" r:id="rId4"/>
    <p:sldMasterId id="2147483685" r:id="rId5"/>
    <p:sldMasterId id="2147483691" r:id="rId6"/>
    <p:sldMasterId id="2147483703" r:id="rId7"/>
  </p:sldMasterIdLst>
  <p:sldIdLst>
    <p:sldId id="256" r:id="rId8"/>
    <p:sldId id="308" r:id="rId9"/>
    <p:sldId id="309" r:id="rId10"/>
    <p:sldId id="310" r:id="rId11"/>
    <p:sldId id="311" r:id="rId12"/>
    <p:sldId id="312" r:id="rId13"/>
    <p:sldId id="439" r:id="rId14"/>
    <p:sldId id="313" r:id="rId15"/>
    <p:sldId id="314" r:id="rId16"/>
    <p:sldId id="339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566" r:id="rId56"/>
    <p:sldId id="567" r:id="rId57"/>
    <p:sldId id="568" r:id="rId58"/>
    <p:sldId id="569" r:id="rId59"/>
    <p:sldId id="570" r:id="rId60"/>
    <p:sldId id="571" r:id="rId61"/>
    <p:sldId id="572" r:id="rId62"/>
    <p:sldId id="573" r:id="rId63"/>
    <p:sldId id="574" r:id="rId64"/>
    <p:sldId id="575" r:id="rId65"/>
    <p:sldId id="576" r:id="rId66"/>
    <p:sldId id="577" r:id="rId67"/>
    <p:sldId id="578" r:id="rId68"/>
    <p:sldId id="579" r:id="rId69"/>
    <p:sldId id="580" r:id="rId70"/>
    <p:sldId id="581" r:id="rId71"/>
    <p:sldId id="582" r:id="rId72"/>
    <p:sldId id="583" r:id="rId73"/>
    <p:sldId id="584" r:id="rId74"/>
    <p:sldId id="585" r:id="rId75"/>
    <p:sldId id="586" r:id="rId76"/>
    <p:sldId id="587" r:id="rId77"/>
    <p:sldId id="588" r:id="rId78"/>
    <p:sldId id="589" r:id="rId79"/>
    <p:sldId id="590" r:id="rId80"/>
    <p:sldId id="591" r:id="rId81"/>
    <p:sldId id="592" r:id="rId82"/>
    <p:sldId id="593" r:id="rId83"/>
    <p:sldId id="594" r:id="rId84"/>
    <p:sldId id="595" r:id="rId85"/>
    <p:sldId id="596" r:id="rId86"/>
    <p:sldId id="597" r:id="rId87"/>
    <p:sldId id="598" r:id="rId88"/>
    <p:sldId id="599" r:id="rId89"/>
    <p:sldId id="625" r:id="rId90"/>
    <p:sldId id="600" r:id="rId91"/>
    <p:sldId id="601" r:id="rId92"/>
    <p:sldId id="602" r:id="rId93"/>
    <p:sldId id="603" r:id="rId94"/>
    <p:sldId id="604" r:id="rId95"/>
    <p:sldId id="605" r:id="rId96"/>
    <p:sldId id="606" r:id="rId97"/>
    <p:sldId id="607" r:id="rId98"/>
    <p:sldId id="608" r:id="rId99"/>
    <p:sldId id="609" r:id="rId100"/>
    <p:sldId id="610" r:id="rId101"/>
    <p:sldId id="611" r:id="rId102"/>
    <p:sldId id="612" r:id="rId103"/>
    <p:sldId id="613" r:id="rId104"/>
    <p:sldId id="614" r:id="rId105"/>
    <p:sldId id="615" r:id="rId106"/>
    <p:sldId id="616" r:id="rId107"/>
    <p:sldId id="617" r:id="rId108"/>
    <p:sldId id="618" r:id="rId109"/>
    <p:sldId id="619" r:id="rId110"/>
    <p:sldId id="620" r:id="rId111"/>
    <p:sldId id="621" r:id="rId112"/>
    <p:sldId id="622" r:id="rId113"/>
    <p:sldId id="623" r:id="rId114"/>
    <p:sldId id="624" r:id="rId115"/>
    <p:sldId id="518" r:id="rId116"/>
    <p:sldId id="519" r:id="rId117"/>
    <p:sldId id="520" r:id="rId118"/>
    <p:sldId id="521" r:id="rId119"/>
    <p:sldId id="522" r:id="rId120"/>
    <p:sldId id="523" r:id="rId121"/>
    <p:sldId id="524" r:id="rId122"/>
    <p:sldId id="525" r:id="rId123"/>
    <p:sldId id="526" r:id="rId124"/>
    <p:sldId id="527" r:id="rId125"/>
    <p:sldId id="528" r:id="rId126"/>
    <p:sldId id="529" r:id="rId127"/>
    <p:sldId id="530" r:id="rId128"/>
    <p:sldId id="531" r:id="rId129"/>
    <p:sldId id="532" r:id="rId130"/>
    <p:sldId id="533" r:id="rId131"/>
    <p:sldId id="534" r:id="rId132"/>
    <p:sldId id="535" r:id="rId133"/>
    <p:sldId id="536" r:id="rId134"/>
    <p:sldId id="537" r:id="rId135"/>
    <p:sldId id="538" r:id="rId136"/>
    <p:sldId id="539" r:id="rId137"/>
    <p:sldId id="540" r:id="rId138"/>
    <p:sldId id="541" r:id="rId139"/>
    <p:sldId id="542" r:id="rId140"/>
    <p:sldId id="543" r:id="rId141"/>
    <p:sldId id="544" r:id="rId142"/>
    <p:sldId id="545" r:id="rId143"/>
    <p:sldId id="546" r:id="rId144"/>
    <p:sldId id="547" r:id="rId145"/>
    <p:sldId id="548" r:id="rId146"/>
    <p:sldId id="549" r:id="rId147"/>
    <p:sldId id="550" r:id="rId148"/>
    <p:sldId id="551" r:id="rId149"/>
    <p:sldId id="552" r:id="rId150"/>
    <p:sldId id="553" r:id="rId151"/>
    <p:sldId id="554" r:id="rId152"/>
    <p:sldId id="555" r:id="rId153"/>
    <p:sldId id="556" r:id="rId154"/>
    <p:sldId id="557" r:id="rId155"/>
    <p:sldId id="558" r:id="rId156"/>
    <p:sldId id="559" r:id="rId157"/>
    <p:sldId id="560" r:id="rId158"/>
    <p:sldId id="561" r:id="rId159"/>
    <p:sldId id="562" r:id="rId160"/>
    <p:sldId id="563" r:id="rId161"/>
    <p:sldId id="564" r:id="rId162"/>
    <p:sldId id="565" r:id="rId163"/>
    <p:sldId id="440" r:id="rId164"/>
    <p:sldId id="441" r:id="rId165"/>
    <p:sldId id="442" r:id="rId166"/>
    <p:sldId id="257" r:id="rId167"/>
    <p:sldId id="258" r:id="rId168"/>
    <p:sldId id="259" r:id="rId169"/>
    <p:sldId id="260" r:id="rId170"/>
    <p:sldId id="261" r:id="rId171"/>
    <p:sldId id="262" r:id="rId172"/>
    <p:sldId id="263" r:id="rId173"/>
    <p:sldId id="264" r:id="rId174"/>
    <p:sldId id="265" r:id="rId175"/>
    <p:sldId id="266" r:id="rId176"/>
    <p:sldId id="267" r:id="rId177"/>
    <p:sldId id="268" r:id="rId178"/>
    <p:sldId id="269" r:id="rId179"/>
    <p:sldId id="270" r:id="rId180"/>
    <p:sldId id="271" r:id="rId181"/>
    <p:sldId id="272" r:id="rId182"/>
    <p:sldId id="273" r:id="rId183"/>
    <p:sldId id="274" r:id="rId184"/>
    <p:sldId id="275" r:id="rId185"/>
    <p:sldId id="276" r:id="rId186"/>
    <p:sldId id="277" r:id="rId187"/>
    <p:sldId id="278" r:id="rId188"/>
    <p:sldId id="279" r:id="rId189"/>
    <p:sldId id="280" r:id="rId190"/>
    <p:sldId id="281" r:id="rId191"/>
    <p:sldId id="282" r:id="rId192"/>
    <p:sldId id="283" r:id="rId193"/>
    <p:sldId id="284" r:id="rId194"/>
    <p:sldId id="285" r:id="rId195"/>
    <p:sldId id="286" r:id="rId196"/>
    <p:sldId id="287" r:id="rId197"/>
    <p:sldId id="288" r:id="rId198"/>
    <p:sldId id="289" r:id="rId199"/>
    <p:sldId id="290" r:id="rId200"/>
    <p:sldId id="291" r:id="rId201"/>
    <p:sldId id="292" r:id="rId202"/>
    <p:sldId id="293" r:id="rId203"/>
    <p:sldId id="294" r:id="rId204"/>
    <p:sldId id="295" r:id="rId205"/>
    <p:sldId id="296" r:id="rId206"/>
    <p:sldId id="297" r:id="rId207"/>
    <p:sldId id="298" r:id="rId208"/>
    <p:sldId id="299" r:id="rId209"/>
    <p:sldId id="300" r:id="rId210"/>
    <p:sldId id="301" r:id="rId211"/>
    <p:sldId id="302" r:id="rId212"/>
    <p:sldId id="303" r:id="rId213"/>
    <p:sldId id="443" r:id="rId214"/>
    <p:sldId id="304" r:id="rId215"/>
    <p:sldId id="305" r:id="rId216"/>
    <p:sldId id="306" r:id="rId217"/>
    <p:sldId id="307" r:id="rId218"/>
    <p:sldId id="444" r:id="rId219"/>
    <p:sldId id="445" r:id="rId220"/>
    <p:sldId id="446" r:id="rId221"/>
    <p:sldId id="447" r:id="rId222"/>
    <p:sldId id="448" r:id="rId223"/>
    <p:sldId id="449" r:id="rId224"/>
    <p:sldId id="450" r:id="rId225"/>
    <p:sldId id="451" r:id="rId226"/>
    <p:sldId id="452" r:id="rId227"/>
    <p:sldId id="453" r:id="rId228"/>
    <p:sldId id="454" r:id="rId229"/>
    <p:sldId id="455" r:id="rId230"/>
    <p:sldId id="456" r:id="rId231"/>
    <p:sldId id="457" r:id="rId232"/>
    <p:sldId id="458" r:id="rId233"/>
    <p:sldId id="459" r:id="rId234"/>
    <p:sldId id="460" r:id="rId235"/>
    <p:sldId id="461" r:id="rId236"/>
    <p:sldId id="462" r:id="rId237"/>
    <p:sldId id="463" r:id="rId238"/>
    <p:sldId id="464" r:id="rId239"/>
    <p:sldId id="465" r:id="rId240"/>
    <p:sldId id="466" r:id="rId241"/>
    <p:sldId id="467" r:id="rId242"/>
    <p:sldId id="468" r:id="rId243"/>
    <p:sldId id="517" r:id="rId244"/>
    <p:sldId id="469" r:id="rId245"/>
    <p:sldId id="470" r:id="rId246"/>
    <p:sldId id="471" r:id="rId247"/>
    <p:sldId id="472" r:id="rId248"/>
    <p:sldId id="473" r:id="rId249"/>
    <p:sldId id="474" r:id="rId250"/>
    <p:sldId id="475" r:id="rId251"/>
    <p:sldId id="476" r:id="rId252"/>
    <p:sldId id="477" r:id="rId253"/>
    <p:sldId id="478" r:id="rId254"/>
    <p:sldId id="479" r:id="rId255"/>
    <p:sldId id="480" r:id="rId256"/>
    <p:sldId id="481" r:id="rId257"/>
    <p:sldId id="482" r:id="rId258"/>
    <p:sldId id="483" r:id="rId259"/>
    <p:sldId id="484" r:id="rId260"/>
    <p:sldId id="485" r:id="rId261"/>
    <p:sldId id="486" r:id="rId262"/>
    <p:sldId id="487" r:id="rId263"/>
    <p:sldId id="488" r:id="rId264"/>
    <p:sldId id="489" r:id="rId265"/>
    <p:sldId id="490" r:id="rId266"/>
    <p:sldId id="491" r:id="rId267"/>
    <p:sldId id="492" r:id="rId268"/>
    <p:sldId id="493" r:id="rId269"/>
    <p:sldId id="494" r:id="rId270"/>
    <p:sldId id="495" r:id="rId271"/>
    <p:sldId id="496" r:id="rId272"/>
    <p:sldId id="497" r:id="rId273"/>
    <p:sldId id="498" r:id="rId274"/>
    <p:sldId id="499" r:id="rId275"/>
    <p:sldId id="500" r:id="rId276"/>
    <p:sldId id="501" r:id="rId277"/>
    <p:sldId id="502" r:id="rId278"/>
    <p:sldId id="503" r:id="rId279"/>
    <p:sldId id="504" r:id="rId280"/>
    <p:sldId id="505" r:id="rId281"/>
    <p:sldId id="506" r:id="rId282"/>
    <p:sldId id="507" r:id="rId283"/>
    <p:sldId id="508" r:id="rId284"/>
    <p:sldId id="509" r:id="rId285"/>
    <p:sldId id="510" r:id="rId286"/>
    <p:sldId id="511" r:id="rId287"/>
    <p:sldId id="512" r:id="rId288"/>
    <p:sldId id="513" r:id="rId289"/>
    <p:sldId id="514" r:id="rId290"/>
    <p:sldId id="515" r:id="rId291"/>
    <p:sldId id="516" r:id="rId292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176" y="-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0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63" Type="http://schemas.openxmlformats.org/officeDocument/2006/relationships/slide" Target="slides/slide56.xml"/><Relationship Id="rId84" Type="http://schemas.openxmlformats.org/officeDocument/2006/relationships/slide" Target="slides/slide77.xml"/><Relationship Id="rId138" Type="http://schemas.openxmlformats.org/officeDocument/2006/relationships/slide" Target="slides/slide131.xml"/><Relationship Id="rId159" Type="http://schemas.openxmlformats.org/officeDocument/2006/relationships/slide" Target="slides/slide152.xml"/><Relationship Id="rId170" Type="http://schemas.openxmlformats.org/officeDocument/2006/relationships/slide" Target="slides/slide163.xml"/><Relationship Id="rId191" Type="http://schemas.openxmlformats.org/officeDocument/2006/relationships/slide" Target="slides/slide184.xml"/><Relationship Id="rId205" Type="http://schemas.openxmlformats.org/officeDocument/2006/relationships/slide" Target="slides/slide198.xml"/><Relationship Id="rId226" Type="http://schemas.openxmlformats.org/officeDocument/2006/relationships/slide" Target="slides/slide219.xml"/><Relationship Id="rId247" Type="http://schemas.openxmlformats.org/officeDocument/2006/relationships/slide" Target="slides/slide240.xml"/><Relationship Id="rId107" Type="http://schemas.openxmlformats.org/officeDocument/2006/relationships/slide" Target="slides/slide100.xml"/><Relationship Id="rId268" Type="http://schemas.openxmlformats.org/officeDocument/2006/relationships/slide" Target="slides/slide261.xml"/><Relationship Id="rId289" Type="http://schemas.openxmlformats.org/officeDocument/2006/relationships/slide" Target="slides/slide282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53" Type="http://schemas.openxmlformats.org/officeDocument/2006/relationships/slide" Target="slides/slide46.xml"/><Relationship Id="rId74" Type="http://schemas.openxmlformats.org/officeDocument/2006/relationships/slide" Target="slides/slide67.xml"/><Relationship Id="rId128" Type="http://schemas.openxmlformats.org/officeDocument/2006/relationships/slide" Target="slides/slide121.xml"/><Relationship Id="rId149" Type="http://schemas.openxmlformats.org/officeDocument/2006/relationships/slide" Target="slides/slide142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8.xml"/><Relationship Id="rId160" Type="http://schemas.openxmlformats.org/officeDocument/2006/relationships/slide" Target="slides/slide153.xml"/><Relationship Id="rId181" Type="http://schemas.openxmlformats.org/officeDocument/2006/relationships/slide" Target="slides/slide174.xml"/><Relationship Id="rId216" Type="http://schemas.openxmlformats.org/officeDocument/2006/relationships/slide" Target="slides/slide209.xml"/><Relationship Id="rId237" Type="http://schemas.openxmlformats.org/officeDocument/2006/relationships/slide" Target="slides/slide230.xml"/><Relationship Id="rId258" Type="http://schemas.openxmlformats.org/officeDocument/2006/relationships/slide" Target="slides/slide251.xml"/><Relationship Id="rId279" Type="http://schemas.openxmlformats.org/officeDocument/2006/relationships/slide" Target="slides/slide272.xml"/><Relationship Id="rId22" Type="http://schemas.openxmlformats.org/officeDocument/2006/relationships/slide" Target="slides/slide15.xml"/><Relationship Id="rId43" Type="http://schemas.openxmlformats.org/officeDocument/2006/relationships/slide" Target="slides/slide36.xml"/><Relationship Id="rId64" Type="http://schemas.openxmlformats.org/officeDocument/2006/relationships/slide" Target="slides/slide57.xml"/><Relationship Id="rId118" Type="http://schemas.openxmlformats.org/officeDocument/2006/relationships/slide" Target="slides/slide111.xml"/><Relationship Id="rId139" Type="http://schemas.openxmlformats.org/officeDocument/2006/relationships/slide" Target="slides/slide132.xml"/><Relationship Id="rId290" Type="http://schemas.openxmlformats.org/officeDocument/2006/relationships/slide" Target="slides/slide283.xml"/><Relationship Id="rId85" Type="http://schemas.openxmlformats.org/officeDocument/2006/relationships/slide" Target="slides/slide78.xml"/><Relationship Id="rId150" Type="http://schemas.openxmlformats.org/officeDocument/2006/relationships/slide" Target="slides/slide143.xml"/><Relationship Id="rId171" Type="http://schemas.openxmlformats.org/officeDocument/2006/relationships/slide" Target="slides/slide164.xml"/><Relationship Id="rId192" Type="http://schemas.openxmlformats.org/officeDocument/2006/relationships/slide" Target="slides/slide185.xml"/><Relationship Id="rId206" Type="http://schemas.openxmlformats.org/officeDocument/2006/relationships/slide" Target="slides/slide199.xml"/><Relationship Id="rId227" Type="http://schemas.openxmlformats.org/officeDocument/2006/relationships/slide" Target="slides/slide220.xml"/><Relationship Id="rId248" Type="http://schemas.openxmlformats.org/officeDocument/2006/relationships/slide" Target="slides/slide241.xml"/><Relationship Id="rId269" Type="http://schemas.openxmlformats.org/officeDocument/2006/relationships/slide" Target="slides/slide262.xml"/><Relationship Id="rId12" Type="http://schemas.openxmlformats.org/officeDocument/2006/relationships/slide" Target="slides/slide5.xml"/><Relationship Id="rId33" Type="http://schemas.openxmlformats.org/officeDocument/2006/relationships/slide" Target="slides/slide26.xml"/><Relationship Id="rId108" Type="http://schemas.openxmlformats.org/officeDocument/2006/relationships/slide" Target="slides/slide101.xml"/><Relationship Id="rId129" Type="http://schemas.openxmlformats.org/officeDocument/2006/relationships/slide" Target="slides/slide122.xml"/><Relationship Id="rId280" Type="http://schemas.openxmlformats.org/officeDocument/2006/relationships/slide" Target="slides/slide273.xml"/><Relationship Id="rId54" Type="http://schemas.openxmlformats.org/officeDocument/2006/relationships/slide" Target="slides/slide47.xml"/><Relationship Id="rId75" Type="http://schemas.openxmlformats.org/officeDocument/2006/relationships/slide" Target="slides/slide68.xml"/><Relationship Id="rId96" Type="http://schemas.openxmlformats.org/officeDocument/2006/relationships/slide" Target="slides/slide89.xml"/><Relationship Id="rId140" Type="http://schemas.openxmlformats.org/officeDocument/2006/relationships/slide" Target="slides/slide133.xml"/><Relationship Id="rId161" Type="http://schemas.openxmlformats.org/officeDocument/2006/relationships/slide" Target="slides/slide154.xml"/><Relationship Id="rId182" Type="http://schemas.openxmlformats.org/officeDocument/2006/relationships/slide" Target="slides/slide175.xml"/><Relationship Id="rId217" Type="http://schemas.openxmlformats.org/officeDocument/2006/relationships/slide" Target="slides/slide210.xml"/><Relationship Id="rId6" Type="http://schemas.openxmlformats.org/officeDocument/2006/relationships/slideMaster" Target="slideMasters/slideMaster6.xml"/><Relationship Id="rId238" Type="http://schemas.openxmlformats.org/officeDocument/2006/relationships/slide" Target="slides/slide231.xml"/><Relationship Id="rId259" Type="http://schemas.openxmlformats.org/officeDocument/2006/relationships/slide" Target="slides/slide252.xml"/><Relationship Id="rId23" Type="http://schemas.openxmlformats.org/officeDocument/2006/relationships/slide" Target="slides/slide16.xml"/><Relationship Id="rId119" Type="http://schemas.openxmlformats.org/officeDocument/2006/relationships/slide" Target="slides/slide112.xml"/><Relationship Id="rId270" Type="http://schemas.openxmlformats.org/officeDocument/2006/relationships/slide" Target="slides/slide263.xml"/><Relationship Id="rId291" Type="http://schemas.openxmlformats.org/officeDocument/2006/relationships/slide" Target="slides/slide284.xml"/><Relationship Id="rId44" Type="http://schemas.openxmlformats.org/officeDocument/2006/relationships/slide" Target="slides/slide37.xml"/><Relationship Id="rId65" Type="http://schemas.openxmlformats.org/officeDocument/2006/relationships/slide" Target="slides/slide58.xml"/><Relationship Id="rId86" Type="http://schemas.openxmlformats.org/officeDocument/2006/relationships/slide" Target="slides/slide79.xml"/><Relationship Id="rId130" Type="http://schemas.openxmlformats.org/officeDocument/2006/relationships/slide" Target="slides/slide123.xml"/><Relationship Id="rId151" Type="http://schemas.openxmlformats.org/officeDocument/2006/relationships/slide" Target="slides/slide144.xml"/><Relationship Id="rId172" Type="http://schemas.openxmlformats.org/officeDocument/2006/relationships/slide" Target="slides/slide165.xml"/><Relationship Id="rId193" Type="http://schemas.openxmlformats.org/officeDocument/2006/relationships/slide" Target="slides/slide186.xml"/><Relationship Id="rId207" Type="http://schemas.openxmlformats.org/officeDocument/2006/relationships/slide" Target="slides/slide200.xml"/><Relationship Id="rId228" Type="http://schemas.openxmlformats.org/officeDocument/2006/relationships/slide" Target="slides/slide221.xml"/><Relationship Id="rId249" Type="http://schemas.openxmlformats.org/officeDocument/2006/relationships/slide" Target="slides/slide242.xml"/><Relationship Id="rId13" Type="http://schemas.openxmlformats.org/officeDocument/2006/relationships/slide" Target="slides/slide6.xml"/><Relationship Id="rId109" Type="http://schemas.openxmlformats.org/officeDocument/2006/relationships/slide" Target="slides/slide102.xml"/><Relationship Id="rId260" Type="http://schemas.openxmlformats.org/officeDocument/2006/relationships/slide" Target="slides/slide253.xml"/><Relationship Id="rId281" Type="http://schemas.openxmlformats.org/officeDocument/2006/relationships/slide" Target="slides/slide274.xml"/><Relationship Id="rId34" Type="http://schemas.openxmlformats.org/officeDocument/2006/relationships/slide" Target="slides/slide27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20" Type="http://schemas.openxmlformats.org/officeDocument/2006/relationships/slide" Target="slides/slide113.xml"/><Relationship Id="rId141" Type="http://schemas.openxmlformats.org/officeDocument/2006/relationships/slide" Target="slides/slide134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162" Type="http://schemas.openxmlformats.org/officeDocument/2006/relationships/slide" Target="slides/slide155.xml"/><Relationship Id="rId183" Type="http://schemas.openxmlformats.org/officeDocument/2006/relationships/slide" Target="slides/slide176.xml"/><Relationship Id="rId213" Type="http://schemas.openxmlformats.org/officeDocument/2006/relationships/slide" Target="slides/slide206.xml"/><Relationship Id="rId218" Type="http://schemas.openxmlformats.org/officeDocument/2006/relationships/slide" Target="slides/slide211.xml"/><Relationship Id="rId234" Type="http://schemas.openxmlformats.org/officeDocument/2006/relationships/slide" Target="slides/slide227.xml"/><Relationship Id="rId239" Type="http://schemas.openxmlformats.org/officeDocument/2006/relationships/slide" Target="slides/slide23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50" Type="http://schemas.openxmlformats.org/officeDocument/2006/relationships/slide" Target="slides/slide243.xml"/><Relationship Id="rId255" Type="http://schemas.openxmlformats.org/officeDocument/2006/relationships/slide" Target="slides/slide248.xml"/><Relationship Id="rId271" Type="http://schemas.openxmlformats.org/officeDocument/2006/relationships/slide" Target="slides/slide264.xml"/><Relationship Id="rId276" Type="http://schemas.openxmlformats.org/officeDocument/2006/relationships/slide" Target="slides/slide269.xml"/><Relationship Id="rId292" Type="http://schemas.openxmlformats.org/officeDocument/2006/relationships/slide" Target="slides/slide285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110" Type="http://schemas.openxmlformats.org/officeDocument/2006/relationships/slide" Target="slides/slide103.xml"/><Relationship Id="rId115" Type="http://schemas.openxmlformats.org/officeDocument/2006/relationships/slide" Target="slides/slide108.xml"/><Relationship Id="rId131" Type="http://schemas.openxmlformats.org/officeDocument/2006/relationships/slide" Target="slides/slide124.xml"/><Relationship Id="rId136" Type="http://schemas.openxmlformats.org/officeDocument/2006/relationships/slide" Target="slides/slide129.xml"/><Relationship Id="rId157" Type="http://schemas.openxmlformats.org/officeDocument/2006/relationships/slide" Target="slides/slide150.xml"/><Relationship Id="rId178" Type="http://schemas.openxmlformats.org/officeDocument/2006/relationships/slide" Target="slides/slide171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52" Type="http://schemas.openxmlformats.org/officeDocument/2006/relationships/slide" Target="slides/slide145.xml"/><Relationship Id="rId173" Type="http://schemas.openxmlformats.org/officeDocument/2006/relationships/slide" Target="slides/slide166.xml"/><Relationship Id="rId194" Type="http://schemas.openxmlformats.org/officeDocument/2006/relationships/slide" Target="slides/slide187.xml"/><Relationship Id="rId199" Type="http://schemas.openxmlformats.org/officeDocument/2006/relationships/slide" Target="slides/slide192.xml"/><Relationship Id="rId203" Type="http://schemas.openxmlformats.org/officeDocument/2006/relationships/slide" Target="slides/slide196.xml"/><Relationship Id="rId208" Type="http://schemas.openxmlformats.org/officeDocument/2006/relationships/slide" Target="slides/slide201.xml"/><Relationship Id="rId229" Type="http://schemas.openxmlformats.org/officeDocument/2006/relationships/slide" Target="slides/slide222.xml"/><Relationship Id="rId19" Type="http://schemas.openxmlformats.org/officeDocument/2006/relationships/slide" Target="slides/slide12.xml"/><Relationship Id="rId224" Type="http://schemas.openxmlformats.org/officeDocument/2006/relationships/slide" Target="slides/slide217.xml"/><Relationship Id="rId240" Type="http://schemas.openxmlformats.org/officeDocument/2006/relationships/slide" Target="slides/slide233.xml"/><Relationship Id="rId245" Type="http://schemas.openxmlformats.org/officeDocument/2006/relationships/slide" Target="slides/slide238.xml"/><Relationship Id="rId261" Type="http://schemas.openxmlformats.org/officeDocument/2006/relationships/slide" Target="slides/slide254.xml"/><Relationship Id="rId266" Type="http://schemas.openxmlformats.org/officeDocument/2006/relationships/slide" Target="slides/slide259.xml"/><Relationship Id="rId287" Type="http://schemas.openxmlformats.org/officeDocument/2006/relationships/slide" Target="slides/slide280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slide" Target="slides/slide93.xml"/><Relationship Id="rId105" Type="http://schemas.openxmlformats.org/officeDocument/2006/relationships/slide" Target="slides/slide98.xml"/><Relationship Id="rId126" Type="http://schemas.openxmlformats.org/officeDocument/2006/relationships/slide" Target="slides/slide119.xml"/><Relationship Id="rId147" Type="http://schemas.openxmlformats.org/officeDocument/2006/relationships/slide" Target="slides/slide140.xml"/><Relationship Id="rId168" Type="http://schemas.openxmlformats.org/officeDocument/2006/relationships/slide" Target="slides/slide161.xml"/><Relationship Id="rId282" Type="http://schemas.openxmlformats.org/officeDocument/2006/relationships/slide" Target="slides/slide275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121" Type="http://schemas.openxmlformats.org/officeDocument/2006/relationships/slide" Target="slides/slide114.xml"/><Relationship Id="rId142" Type="http://schemas.openxmlformats.org/officeDocument/2006/relationships/slide" Target="slides/slide135.xml"/><Relationship Id="rId163" Type="http://schemas.openxmlformats.org/officeDocument/2006/relationships/slide" Target="slides/slide156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219" Type="http://schemas.openxmlformats.org/officeDocument/2006/relationships/slide" Target="slides/slide212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7.xml"/><Relationship Id="rId230" Type="http://schemas.openxmlformats.org/officeDocument/2006/relationships/slide" Target="slides/slide223.xml"/><Relationship Id="rId235" Type="http://schemas.openxmlformats.org/officeDocument/2006/relationships/slide" Target="slides/slide228.xml"/><Relationship Id="rId251" Type="http://schemas.openxmlformats.org/officeDocument/2006/relationships/slide" Target="slides/slide244.xml"/><Relationship Id="rId256" Type="http://schemas.openxmlformats.org/officeDocument/2006/relationships/slide" Target="slides/slide249.xml"/><Relationship Id="rId277" Type="http://schemas.openxmlformats.org/officeDocument/2006/relationships/slide" Target="slides/slide270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Relationship Id="rId116" Type="http://schemas.openxmlformats.org/officeDocument/2006/relationships/slide" Target="slides/slide109.xml"/><Relationship Id="rId137" Type="http://schemas.openxmlformats.org/officeDocument/2006/relationships/slide" Target="slides/slide130.xml"/><Relationship Id="rId158" Type="http://schemas.openxmlformats.org/officeDocument/2006/relationships/slide" Target="slides/slide151.xml"/><Relationship Id="rId272" Type="http://schemas.openxmlformats.org/officeDocument/2006/relationships/slide" Target="slides/slide265.xml"/><Relationship Id="rId293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62" Type="http://schemas.openxmlformats.org/officeDocument/2006/relationships/slide" Target="slides/slide55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111" Type="http://schemas.openxmlformats.org/officeDocument/2006/relationships/slide" Target="slides/slide104.xml"/><Relationship Id="rId132" Type="http://schemas.openxmlformats.org/officeDocument/2006/relationships/slide" Target="slides/slide125.xml"/><Relationship Id="rId153" Type="http://schemas.openxmlformats.org/officeDocument/2006/relationships/slide" Target="slides/slide146.xml"/><Relationship Id="rId174" Type="http://schemas.openxmlformats.org/officeDocument/2006/relationships/slide" Target="slides/slide167.xml"/><Relationship Id="rId179" Type="http://schemas.openxmlformats.org/officeDocument/2006/relationships/slide" Target="slides/slide172.xml"/><Relationship Id="rId195" Type="http://schemas.openxmlformats.org/officeDocument/2006/relationships/slide" Target="slides/slide188.xml"/><Relationship Id="rId209" Type="http://schemas.openxmlformats.org/officeDocument/2006/relationships/slide" Target="slides/slide202.xml"/><Relationship Id="rId190" Type="http://schemas.openxmlformats.org/officeDocument/2006/relationships/slide" Target="slides/slide183.xml"/><Relationship Id="rId204" Type="http://schemas.openxmlformats.org/officeDocument/2006/relationships/slide" Target="slides/slide197.xml"/><Relationship Id="rId220" Type="http://schemas.openxmlformats.org/officeDocument/2006/relationships/slide" Target="slides/slide213.xml"/><Relationship Id="rId225" Type="http://schemas.openxmlformats.org/officeDocument/2006/relationships/slide" Target="slides/slide218.xml"/><Relationship Id="rId241" Type="http://schemas.openxmlformats.org/officeDocument/2006/relationships/slide" Target="slides/slide234.xml"/><Relationship Id="rId246" Type="http://schemas.openxmlformats.org/officeDocument/2006/relationships/slide" Target="slides/slide239.xml"/><Relationship Id="rId267" Type="http://schemas.openxmlformats.org/officeDocument/2006/relationships/slide" Target="slides/slide260.xml"/><Relationship Id="rId288" Type="http://schemas.openxmlformats.org/officeDocument/2006/relationships/slide" Target="slides/slide281.xml"/><Relationship Id="rId15" Type="http://schemas.openxmlformats.org/officeDocument/2006/relationships/slide" Target="slides/slide8.xml"/><Relationship Id="rId36" Type="http://schemas.openxmlformats.org/officeDocument/2006/relationships/slide" Target="slides/slide29.xml"/><Relationship Id="rId57" Type="http://schemas.openxmlformats.org/officeDocument/2006/relationships/slide" Target="slides/slide50.xml"/><Relationship Id="rId106" Type="http://schemas.openxmlformats.org/officeDocument/2006/relationships/slide" Target="slides/slide99.xml"/><Relationship Id="rId127" Type="http://schemas.openxmlformats.org/officeDocument/2006/relationships/slide" Target="slides/slide120.xml"/><Relationship Id="rId262" Type="http://schemas.openxmlformats.org/officeDocument/2006/relationships/slide" Target="slides/slide255.xml"/><Relationship Id="rId283" Type="http://schemas.openxmlformats.org/officeDocument/2006/relationships/slide" Target="slides/slide276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52" Type="http://schemas.openxmlformats.org/officeDocument/2006/relationships/slide" Target="slides/slide45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94" Type="http://schemas.openxmlformats.org/officeDocument/2006/relationships/slide" Target="slides/slide87.xml"/><Relationship Id="rId99" Type="http://schemas.openxmlformats.org/officeDocument/2006/relationships/slide" Target="slides/slide92.xml"/><Relationship Id="rId101" Type="http://schemas.openxmlformats.org/officeDocument/2006/relationships/slide" Target="slides/slide94.xml"/><Relationship Id="rId122" Type="http://schemas.openxmlformats.org/officeDocument/2006/relationships/slide" Target="slides/slide115.xml"/><Relationship Id="rId143" Type="http://schemas.openxmlformats.org/officeDocument/2006/relationships/slide" Target="slides/slide136.xml"/><Relationship Id="rId148" Type="http://schemas.openxmlformats.org/officeDocument/2006/relationships/slide" Target="slides/slide141.xml"/><Relationship Id="rId164" Type="http://schemas.openxmlformats.org/officeDocument/2006/relationships/slide" Target="slides/slide157.xml"/><Relationship Id="rId169" Type="http://schemas.openxmlformats.org/officeDocument/2006/relationships/slide" Target="slides/slide162.xml"/><Relationship Id="rId185" Type="http://schemas.openxmlformats.org/officeDocument/2006/relationships/slide" Target="slides/slide17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80" Type="http://schemas.openxmlformats.org/officeDocument/2006/relationships/slide" Target="slides/slide173.xml"/><Relationship Id="rId210" Type="http://schemas.openxmlformats.org/officeDocument/2006/relationships/slide" Target="slides/slide203.xml"/><Relationship Id="rId215" Type="http://schemas.openxmlformats.org/officeDocument/2006/relationships/slide" Target="slides/slide208.xml"/><Relationship Id="rId236" Type="http://schemas.openxmlformats.org/officeDocument/2006/relationships/slide" Target="slides/slide229.xml"/><Relationship Id="rId257" Type="http://schemas.openxmlformats.org/officeDocument/2006/relationships/slide" Target="slides/slide250.xml"/><Relationship Id="rId278" Type="http://schemas.openxmlformats.org/officeDocument/2006/relationships/slide" Target="slides/slide271.xml"/><Relationship Id="rId26" Type="http://schemas.openxmlformats.org/officeDocument/2006/relationships/slide" Target="slides/slide19.xml"/><Relationship Id="rId231" Type="http://schemas.openxmlformats.org/officeDocument/2006/relationships/slide" Target="slides/slide224.xml"/><Relationship Id="rId252" Type="http://schemas.openxmlformats.org/officeDocument/2006/relationships/slide" Target="slides/slide245.xml"/><Relationship Id="rId273" Type="http://schemas.openxmlformats.org/officeDocument/2006/relationships/slide" Target="slides/slide266.xml"/><Relationship Id="rId294" Type="http://schemas.openxmlformats.org/officeDocument/2006/relationships/viewProps" Target="viewProps.xml"/><Relationship Id="rId47" Type="http://schemas.openxmlformats.org/officeDocument/2006/relationships/slide" Target="slides/slide40.xml"/><Relationship Id="rId68" Type="http://schemas.openxmlformats.org/officeDocument/2006/relationships/slide" Target="slides/slide61.xml"/><Relationship Id="rId89" Type="http://schemas.openxmlformats.org/officeDocument/2006/relationships/slide" Target="slides/slide82.xml"/><Relationship Id="rId112" Type="http://schemas.openxmlformats.org/officeDocument/2006/relationships/slide" Target="slides/slide105.xml"/><Relationship Id="rId133" Type="http://schemas.openxmlformats.org/officeDocument/2006/relationships/slide" Target="slides/slide126.xml"/><Relationship Id="rId154" Type="http://schemas.openxmlformats.org/officeDocument/2006/relationships/slide" Target="slides/slide147.xml"/><Relationship Id="rId175" Type="http://schemas.openxmlformats.org/officeDocument/2006/relationships/slide" Target="slides/slide168.xml"/><Relationship Id="rId196" Type="http://schemas.openxmlformats.org/officeDocument/2006/relationships/slide" Target="slides/slide189.xml"/><Relationship Id="rId200" Type="http://schemas.openxmlformats.org/officeDocument/2006/relationships/slide" Target="slides/slide193.xml"/><Relationship Id="rId16" Type="http://schemas.openxmlformats.org/officeDocument/2006/relationships/slide" Target="slides/slide9.xml"/><Relationship Id="rId221" Type="http://schemas.openxmlformats.org/officeDocument/2006/relationships/slide" Target="slides/slide214.xml"/><Relationship Id="rId242" Type="http://schemas.openxmlformats.org/officeDocument/2006/relationships/slide" Target="slides/slide235.xml"/><Relationship Id="rId263" Type="http://schemas.openxmlformats.org/officeDocument/2006/relationships/slide" Target="slides/slide256.xml"/><Relationship Id="rId284" Type="http://schemas.openxmlformats.org/officeDocument/2006/relationships/slide" Target="slides/slide277.xml"/><Relationship Id="rId37" Type="http://schemas.openxmlformats.org/officeDocument/2006/relationships/slide" Target="slides/slide30.xml"/><Relationship Id="rId58" Type="http://schemas.openxmlformats.org/officeDocument/2006/relationships/slide" Target="slides/slide51.xml"/><Relationship Id="rId79" Type="http://schemas.openxmlformats.org/officeDocument/2006/relationships/slide" Target="slides/slide72.xml"/><Relationship Id="rId102" Type="http://schemas.openxmlformats.org/officeDocument/2006/relationships/slide" Target="slides/slide95.xml"/><Relationship Id="rId123" Type="http://schemas.openxmlformats.org/officeDocument/2006/relationships/slide" Target="slides/slide116.xml"/><Relationship Id="rId144" Type="http://schemas.openxmlformats.org/officeDocument/2006/relationships/slide" Target="slides/slide137.xml"/><Relationship Id="rId90" Type="http://schemas.openxmlformats.org/officeDocument/2006/relationships/slide" Target="slides/slide83.xml"/><Relationship Id="rId165" Type="http://schemas.openxmlformats.org/officeDocument/2006/relationships/slide" Target="slides/slide158.xml"/><Relationship Id="rId186" Type="http://schemas.openxmlformats.org/officeDocument/2006/relationships/slide" Target="slides/slide179.xml"/><Relationship Id="rId211" Type="http://schemas.openxmlformats.org/officeDocument/2006/relationships/slide" Target="slides/slide204.xml"/><Relationship Id="rId232" Type="http://schemas.openxmlformats.org/officeDocument/2006/relationships/slide" Target="slides/slide225.xml"/><Relationship Id="rId253" Type="http://schemas.openxmlformats.org/officeDocument/2006/relationships/slide" Target="slides/slide246.xml"/><Relationship Id="rId274" Type="http://schemas.openxmlformats.org/officeDocument/2006/relationships/slide" Target="slides/slide267.xml"/><Relationship Id="rId295" Type="http://schemas.openxmlformats.org/officeDocument/2006/relationships/theme" Target="theme/theme1.xml"/><Relationship Id="rId27" Type="http://schemas.openxmlformats.org/officeDocument/2006/relationships/slide" Target="slides/slide20.xml"/><Relationship Id="rId48" Type="http://schemas.openxmlformats.org/officeDocument/2006/relationships/slide" Target="slides/slide41.xml"/><Relationship Id="rId69" Type="http://schemas.openxmlformats.org/officeDocument/2006/relationships/slide" Target="slides/slide62.xml"/><Relationship Id="rId113" Type="http://schemas.openxmlformats.org/officeDocument/2006/relationships/slide" Target="slides/slide106.xml"/><Relationship Id="rId134" Type="http://schemas.openxmlformats.org/officeDocument/2006/relationships/slide" Target="slides/slide127.xml"/><Relationship Id="rId80" Type="http://schemas.openxmlformats.org/officeDocument/2006/relationships/slide" Target="slides/slide73.xml"/><Relationship Id="rId155" Type="http://schemas.openxmlformats.org/officeDocument/2006/relationships/slide" Target="slides/slide148.xml"/><Relationship Id="rId176" Type="http://schemas.openxmlformats.org/officeDocument/2006/relationships/slide" Target="slides/slide169.xml"/><Relationship Id="rId197" Type="http://schemas.openxmlformats.org/officeDocument/2006/relationships/slide" Target="slides/slide190.xml"/><Relationship Id="rId201" Type="http://schemas.openxmlformats.org/officeDocument/2006/relationships/slide" Target="slides/slide194.xml"/><Relationship Id="rId222" Type="http://schemas.openxmlformats.org/officeDocument/2006/relationships/slide" Target="slides/slide215.xml"/><Relationship Id="rId243" Type="http://schemas.openxmlformats.org/officeDocument/2006/relationships/slide" Target="slides/slide236.xml"/><Relationship Id="rId264" Type="http://schemas.openxmlformats.org/officeDocument/2006/relationships/slide" Target="slides/slide257.xml"/><Relationship Id="rId285" Type="http://schemas.openxmlformats.org/officeDocument/2006/relationships/slide" Target="slides/slide278.xml"/><Relationship Id="rId17" Type="http://schemas.openxmlformats.org/officeDocument/2006/relationships/slide" Target="slides/slide10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slide" Target="slides/slide96.xml"/><Relationship Id="rId124" Type="http://schemas.openxmlformats.org/officeDocument/2006/relationships/slide" Target="slides/slide117.xml"/><Relationship Id="rId70" Type="http://schemas.openxmlformats.org/officeDocument/2006/relationships/slide" Target="slides/slide63.xml"/><Relationship Id="rId91" Type="http://schemas.openxmlformats.org/officeDocument/2006/relationships/slide" Target="slides/slide84.xml"/><Relationship Id="rId145" Type="http://schemas.openxmlformats.org/officeDocument/2006/relationships/slide" Target="slides/slide138.xml"/><Relationship Id="rId166" Type="http://schemas.openxmlformats.org/officeDocument/2006/relationships/slide" Target="slides/slide159.xml"/><Relationship Id="rId187" Type="http://schemas.openxmlformats.org/officeDocument/2006/relationships/slide" Target="slides/slide180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5.xml"/><Relationship Id="rId233" Type="http://schemas.openxmlformats.org/officeDocument/2006/relationships/slide" Target="slides/slide226.xml"/><Relationship Id="rId254" Type="http://schemas.openxmlformats.org/officeDocument/2006/relationships/slide" Target="slides/slide247.xml"/><Relationship Id="rId28" Type="http://schemas.openxmlformats.org/officeDocument/2006/relationships/slide" Target="slides/slide21.xml"/><Relationship Id="rId49" Type="http://schemas.openxmlformats.org/officeDocument/2006/relationships/slide" Target="slides/slide42.xml"/><Relationship Id="rId114" Type="http://schemas.openxmlformats.org/officeDocument/2006/relationships/slide" Target="slides/slide107.xml"/><Relationship Id="rId275" Type="http://schemas.openxmlformats.org/officeDocument/2006/relationships/slide" Target="slides/slide268.xml"/><Relationship Id="rId296" Type="http://schemas.openxmlformats.org/officeDocument/2006/relationships/tableStyles" Target="tableStyles.xml"/><Relationship Id="rId60" Type="http://schemas.openxmlformats.org/officeDocument/2006/relationships/slide" Target="slides/slide53.xml"/><Relationship Id="rId81" Type="http://schemas.openxmlformats.org/officeDocument/2006/relationships/slide" Target="slides/slide74.xml"/><Relationship Id="rId135" Type="http://schemas.openxmlformats.org/officeDocument/2006/relationships/slide" Target="slides/slide128.xml"/><Relationship Id="rId156" Type="http://schemas.openxmlformats.org/officeDocument/2006/relationships/slide" Target="slides/slide149.xml"/><Relationship Id="rId177" Type="http://schemas.openxmlformats.org/officeDocument/2006/relationships/slide" Target="slides/slide170.xml"/><Relationship Id="rId198" Type="http://schemas.openxmlformats.org/officeDocument/2006/relationships/slide" Target="slides/slide191.xml"/><Relationship Id="rId202" Type="http://schemas.openxmlformats.org/officeDocument/2006/relationships/slide" Target="slides/slide195.xml"/><Relationship Id="rId223" Type="http://schemas.openxmlformats.org/officeDocument/2006/relationships/slide" Target="slides/slide216.xml"/><Relationship Id="rId244" Type="http://schemas.openxmlformats.org/officeDocument/2006/relationships/slide" Target="slides/slide237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265" Type="http://schemas.openxmlformats.org/officeDocument/2006/relationships/slide" Target="slides/slide258.xml"/><Relationship Id="rId286" Type="http://schemas.openxmlformats.org/officeDocument/2006/relationships/slide" Target="slides/slide279.xml"/><Relationship Id="rId50" Type="http://schemas.openxmlformats.org/officeDocument/2006/relationships/slide" Target="slides/slide43.xml"/><Relationship Id="rId104" Type="http://schemas.openxmlformats.org/officeDocument/2006/relationships/slide" Target="slides/slide97.xml"/><Relationship Id="rId125" Type="http://schemas.openxmlformats.org/officeDocument/2006/relationships/slide" Target="slides/slide118.xml"/><Relationship Id="rId146" Type="http://schemas.openxmlformats.org/officeDocument/2006/relationships/slide" Target="slides/slide139.xml"/><Relationship Id="rId167" Type="http://schemas.openxmlformats.org/officeDocument/2006/relationships/slide" Target="slides/slide160.xml"/><Relationship Id="rId188" Type="http://schemas.openxmlformats.org/officeDocument/2006/relationships/slide" Target="slides/slide1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3/14/2017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3/14/2017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3/14/2017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C0329E4D-311F-49AC-882D-B648C5504FF0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583" y="505072"/>
            <a:ext cx="9222232" cy="661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3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9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8444" y="2561975"/>
            <a:ext cx="438848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8032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45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4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381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36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22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85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343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307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0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12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978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2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0543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184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8801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65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81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51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1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30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81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5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6431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626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15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03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04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684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061063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0" y="0"/>
                </a:moveTo>
                <a:lnTo>
                  <a:pt x="0" y="114414"/>
                </a:lnTo>
                <a:lnTo>
                  <a:pt x="8863050" y="114414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9959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479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4201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03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4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505" y="568989"/>
            <a:ext cx="951842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79" y="1932332"/>
            <a:ext cx="8905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8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8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33654" y="729556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16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37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435" y="1292281"/>
            <a:ext cx="932256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8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8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8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2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61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4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12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1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56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69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8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98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1" y="702755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9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0485" y="2283269"/>
            <a:ext cx="547242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1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algoritmosufjf/material" TargetMode="External"/><Relationship Id="rId2" Type="http://schemas.openxmlformats.org/officeDocument/2006/relationships/hyperlink" Target="http://www.dcc.ufmg.br/algoritmos-jav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mitpress.mit.edu/algorithm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user/progdescomplicada" TargetMode="External"/><Relationship Id="rId2" Type="http://schemas.openxmlformats.org/officeDocument/2006/relationships/hyperlink" Target="https://sites.google.com/site/algoritmosturmaespecial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4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9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29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9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2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7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0.png"/><Relationship Id="rId4" Type="http://schemas.openxmlformats.org/officeDocument/2006/relationships/image" Target="../media/image63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4.png"/><Relationship Id="rId4" Type="http://schemas.openxmlformats.org/officeDocument/2006/relationships/image" Target="../media/image66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5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9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1.png"/><Relationship Id="rId4" Type="http://schemas.openxmlformats.org/officeDocument/2006/relationships/image" Target="../media/image8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54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8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6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5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5.png"/><Relationship Id="rId4" Type="http://schemas.openxmlformats.org/officeDocument/2006/relationships/image" Target="../media/image56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03.png"/><Relationship Id="rId4" Type="http://schemas.openxmlformats.org/officeDocument/2006/relationships/image" Target="../media/image85.png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5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5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samuelbasilio@leopoldina.cefetmg.br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CMA06 – Teoria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Terça 10:40 – 12:20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CMA07 – Laboratório 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smtClean="0">
                <a:latin typeface="Calibri"/>
                <a:cs typeface="Calibri"/>
              </a:rPr>
              <a:t>Sexta 13:20 </a:t>
            </a:r>
            <a:r>
              <a:rPr lang="pt-BR">
                <a:latin typeface="Calibri"/>
                <a:cs typeface="Calibri"/>
              </a:rPr>
              <a:t>– </a:t>
            </a:r>
            <a:r>
              <a:rPr lang="pt-BR" smtClean="0">
                <a:latin typeface="Calibri"/>
                <a:cs typeface="Calibri"/>
              </a:rPr>
              <a:t>15:00</a:t>
            </a:r>
            <a:r>
              <a:rPr lang="pt-BR" dirty="0" smtClean="0">
                <a:latin typeface="Calibri"/>
                <a:cs typeface="Calibri"/>
              </a:rPr>
              <a:t>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s</a:t>
            </a:r>
            <a:r>
              <a:rPr lang="pt-BR" spc="5" dirty="0">
                <a:latin typeface="Calibri"/>
                <a:cs typeface="Calibri"/>
              </a:rPr>
              <a:t>e</a:t>
            </a:r>
            <a:r>
              <a:rPr lang="pt-BR" spc="-5" dirty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 por disciplina: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>
                <a:latin typeface="Calibri"/>
                <a:cs typeface="Calibri"/>
              </a:rPr>
              <a:t>2</a:t>
            </a:r>
            <a:r>
              <a:rPr lang="pt-BR" spc="14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total </a:t>
            </a:r>
            <a:r>
              <a:rPr lang="pt-BR" dirty="0" smtClean="0">
                <a:latin typeface="Calibri"/>
                <a:cs typeface="Calibri"/>
              </a:rPr>
              <a:t>por </a:t>
            </a:r>
            <a:r>
              <a:rPr lang="pt-BR" dirty="0">
                <a:latin typeface="Calibri"/>
                <a:cs typeface="Calibri"/>
              </a:rPr>
              <a:t>disciplina :</a:t>
            </a: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30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 smtClean="0"/>
              <a:t>Pré-requisitos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900" y="1720889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CMA01 -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CMA02 - </a:t>
            </a:r>
            <a:r>
              <a:rPr lang="pt-BR" dirty="0" err="1"/>
              <a:t>Lab</a:t>
            </a:r>
            <a:r>
              <a:rPr lang="pt-BR" dirty="0"/>
              <a:t>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controle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Alternativa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Repetição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Declaração e escopo de variáveis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err="1" smtClean="0">
                <a:latin typeface="Calibri"/>
                <a:cs typeface="Calibri"/>
              </a:rPr>
              <a:t>Subrotinas</a:t>
            </a:r>
            <a:endParaRPr lang="pt-BR" dirty="0" smtClean="0">
              <a:latin typeface="Calibri"/>
              <a:cs typeface="Calibri"/>
            </a:endParaRP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Funções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Procedimentos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dados homogêneas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numéricos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de caracteres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Matrizes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4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57279" y="791857"/>
            <a:ext cx="7630926" cy="13040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101725"/>
              </a:lnSpc>
              <a:spcBef>
                <a:spcPts val="2948"/>
              </a:spcBef>
            </a:pPr>
            <a:endParaRPr lang="pt-BR" spc="5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681" y="1983414"/>
            <a:ext cx="7787567" cy="3490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29154">
              <a:lnSpc>
                <a:spcPts val="1935"/>
              </a:lnSpc>
              <a:spcBef>
                <a:spcPts val="96"/>
              </a:spcBef>
            </a:pPr>
            <a:r>
              <a:rPr lang="pt-BR" sz="2700" i="1" dirty="0"/>
              <a:t>A disciplina deverá possibilitar ao estudante:</a:t>
            </a:r>
          </a:p>
          <a:p>
            <a:pPr marL="12698" marR="29154">
              <a:lnSpc>
                <a:spcPts val="1935"/>
              </a:lnSpc>
              <a:spcBef>
                <a:spcPts val="96"/>
              </a:spcBef>
            </a:pPr>
            <a:endParaRPr lang="pt-BR" sz="2700" dirty="0">
              <a:latin typeface="Calibri"/>
              <a:cs typeface="Calibri"/>
            </a:endParaRP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Familiaridade com as principais estruturas de dados e suas abstrações.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criar estruturas de dados com alocação estática e dinâmica de memória.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utilizar os conceitos relativos ao projeto e implementação de aplicações utilizando as estruturas de dados clássicas: listas, filas, pilhas e árvores.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Domínio dos conceitos relativos ao projeto, implementação e uso de algoritmos de pesquisa e ordenação.</a:t>
            </a: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err="1"/>
              <a:t>Objetivos</a:t>
            </a:r>
            <a:r>
              <a:rPr dirty="0"/>
              <a:t> </a:t>
            </a:r>
            <a:r>
              <a:rPr dirty="0" err="1" smtClean="0"/>
              <a:t>Gerais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462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Conceitos introdutórios em estruturas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Tipos abstratos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Estruturas de dados: listas, pilhas, filas e árvores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pesquisa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ordenação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7924831" cy="4814278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ZIVIANI, N. Projeto de Algoritmos, com implementações em </a:t>
            </a:r>
            <a:r>
              <a:rPr lang="pt-BR" dirty="0" smtClean="0"/>
              <a:t>Pascal e C. </a:t>
            </a:r>
            <a:r>
              <a:rPr lang="pt-BR" dirty="0"/>
              <a:t>Editora </a:t>
            </a:r>
            <a:r>
              <a:rPr lang="pt-BR" dirty="0" smtClean="0"/>
              <a:t>Pioneira, 4</a:t>
            </a:r>
            <a:r>
              <a:rPr lang="pt-BR" baseline="30000" dirty="0" smtClean="0"/>
              <a:t>a</a:t>
            </a:r>
            <a:r>
              <a:rPr lang="pt-BR" dirty="0"/>
              <a:t> edição, </a:t>
            </a:r>
            <a:r>
              <a:rPr lang="pt-BR" dirty="0" smtClean="0"/>
              <a:t>1999.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 smtClean="0"/>
              <a:t>: </a:t>
            </a:r>
            <a:r>
              <a:rPr lang="pt-BR" u="sng" dirty="0" smtClean="0">
                <a:hlinkClick r:id="rId2"/>
              </a:rPr>
              <a:t>http</a:t>
            </a:r>
            <a:r>
              <a:rPr lang="pt-BR" u="sng" dirty="0">
                <a:hlinkClick r:id="rId2"/>
              </a:rPr>
              <a:t>://www.dcc.ufmg.br/algoritmos-java</a:t>
            </a:r>
            <a:r>
              <a:rPr lang="pt-BR" u="sng" dirty="0" smtClean="0">
                <a:hlinkClick r:id="rId2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SILVA, R.L.S. e OLIVEIRA, A. M. Algoritmos em C </a:t>
            </a:r>
            <a:r>
              <a:rPr lang="pt-BR" dirty="0" smtClean="0"/>
              <a:t>, 1 edição. 2014</a:t>
            </a:r>
            <a:r>
              <a:rPr lang="pt-BR" dirty="0"/>
              <a:t> </a:t>
            </a: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i="1" dirty="0"/>
              <a:t> </a:t>
            </a:r>
            <a:r>
              <a:rPr lang="pt-BR" i="1" dirty="0" smtClean="0"/>
              <a:t>        Site </a:t>
            </a:r>
            <a:r>
              <a:rPr lang="pt-BR" i="1" dirty="0"/>
              <a:t>do autor</a:t>
            </a:r>
            <a:r>
              <a:rPr lang="pt-BR" i="1" dirty="0" smtClean="0"/>
              <a:t>: </a:t>
            </a:r>
            <a:r>
              <a:rPr lang="pt-BR" i="1" dirty="0" smtClean="0">
                <a:hlinkClick r:id="rId3"/>
              </a:rPr>
              <a:t>https://sites.google.com/site/algoritmosufjf/material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/>
              <a:t>CORMEN</a:t>
            </a:r>
            <a:r>
              <a:rPr lang="pt-BR" dirty="0"/>
              <a:t>, T. H. et.al. Algoritmos: teoria e prática, 3 edição. Ed. Campus, 2002.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/>
              <a:t>: </a:t>
            </a:r>
            <a:r>
              <a:rPr lang="pt-BR" u="sng" dirty="0">
                <a:hlinkClick r:id="rId4"/>
              </a:rPr>
              <a:t>http://mitpress.mit.edu/algorithms</a:t>
            </a:r>
            <a:r>
              <a:rPr lang="pt-BR" u="sng" dirty="0" smtClean="0">
                <a:hlinkClick r:id="rId4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Links para vídeo aulas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1828845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https://sites.google.com/site/algoritmosturmaespecial</a:t>
            </a:r>
            <a:r>
              <a:rPr lang="pt-BR" sz="2800" dirty="0" smtClean="0">
                <a:hlinkClick r:id="rId2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</a:t>
            </a:r>
            <a:r>
              <a:rPr lang="pt-BR" sz="2800" dirty="0" smtClean="0">
                <a:hlinkClick r:id="rId3"/>
              </a:rPr>
              <a:t>www.youtube.com/user/progdescomplicada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602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/>
              <a:t>1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2</a:t>
            </a:r>
          </a:p>
          <a:p>
            <a:pPr lvl="1"/>
            <a:r>
              <a:rPr lang="pt-BR" sz="2300" dirty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3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</a:t>
            </a:r>
            <a:r>
              <a:rPr lang="pt-BR" sz="2300" dirty="0" smtClean="0"/>
              <a:t>4</a:t>
            </a:r>
            <a:endParaRPr lang="pt-BR" sz="2300" dirty="0"/>
          </a:p>
          <a:p>
            <a:pPr lvl="1"/>
            <a:r>
              <a:rPr lang="pt-BR" sz="2300" dirty="0"/>
              <a:t>3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(Em ambas disciplinas)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95890"/>
            <a:ext cx="6210300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dirty="0"/>
              <a:t>R</a:t>
            </a:r>
            <a:r>
              <a:rPr sz="3300" spc="-15" dirty="0"/>
              <a:t>E</a:t>
            </a:r>
            <a:r>
              <a:rPr sz="3300" dirty="0"/>
              <a:t>V</a:t>
            </a:r>
            <a:r>
              <a:rPr sz="3300" spc="-10" dirty="0"/>
              <a:t>I</a:t>
            </a:r>
            <a:r>
              <a:rPr sz="3300" dirty="0"/>
              <a:t>SÃ</a:t>
            </a:r>
            <a:r>
              <a:rPr sz="3300" spc="-5" dirty="0"/>
              <a:t>O:</a:t>
            </a:r>
            <a:r>
              <a:rPr sz="3300" spc="10" dirty="0"/>
              <a:t> </a:t>
            </a:r>
            <a:r>
              <a:rPr sz="3300" spc="-5" dirty="0"/>
              <a:t>T</a:t>
            </a:r>
            <a:r>
              <a:rPr sz="3300" dirty="0"/>
              <a:t>i</a:t>
            </a:r>
            <a:r>
              <a:rPr sz="3300" spc="0" dirty="0"/>
              <a:t>p</a:t>
            </a:r>
            <a:r>
              <a:rPr sz="3300" spc="-5" dirty="0"/>
              <a:t>os</a:t>
            </a:r>
            <a:r>
              <a:rPr sz="3300" spc="5" dirty="0"/>
              <a:t> </a:t>
            </a:r>
            <a:r>
              <a:rPr sz="3300" spc="-5" dirty="0"/>
              <a:t>de</a:t>
            </a:r>
            <a:r>
              <a:rPr sz="3300" spc="5" dirty="0"/>
              <a:t> </a:t>
            </a:r>
            <a:r>
              <a:rPr sz="3300" dirty="0"/>
              <a:t>S</a:t>
            </a:r>
            <a:r>
              <a:rPr sz="3300" spc="-5" dirty="0"/>
              <a:t>ub</a:t>
            </a:r>
            <a:r>
              <a:rPr sz="3300" spc="0" dirty="0"/>
              <a:t>r</a:t>
            </a:r>
            <a:r>
              <a:rPr sz="3300" spc="-5" dirty="0"/>
              <a:t>o</a:t>
            </a:r>
            <a:r>
              <a:rPr sz="3300" dirty="0"/>
              <a:t>ti</a:t>
            </a:r>
            <a:r>
              <a:rPr sz="3300" spc="0" dirty="0"/>
              <a:t>n</a:t>
            </a:r>
            <a:r>
              <a:rPr sz="3300" spc="-5" dirty="0"/>
              <a:t>as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711698" y="2500814"/>
            <a:ext cx="262509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(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8313" y="2500814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088" y="1892739"/>
            <a:ext cx="3683635" cy="134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075" indent="-333375">
              <a:buClr>
                <a:srgbClr val="852A33"/>
              </a:buClr>
              <a:buSzPct val="69696"/>
              <a:buFont typeface="Wingdings"/>
              <a:buChar char=""/>
              <a:tabLst>
                <a:tab pos="34671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R="5080" algn="r">
              <a:spcBef>
                <a:spcPts val="108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480059" algn="r">
              <a:spcBef>
                <a:spcPts val="37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1" y="3239586"/>
            <a:ext cx="6254115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123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pri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”,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+b);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960" algn="ctr">
              <a:spcBef>
                <a:spcPts val="28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8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980" indent="-335280">
              <a:buClr>
                <a:srgbClr val="852A33"/>
              </a:buClr>
              <a:buSzPct val="69696"/>
              <a:buFont typeface="Wingdings"/>
              <a:buChar char=""/>
              <a:tabLst>
                <a:tab pos="34798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9346" y="4867151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 int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6170" y="4867152"/>
            <a:ext cx="2321560" cy="75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b="1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23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Soma</a:t>
            </a:r>
            <a:r>
              <a:rPr sz="23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(int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6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0677" y="5621373"/>
            <a:ext cx="10318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4093" y="5621373"/>
            <a:ext cx="103505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(a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+b)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4655" y="5989871"/>
            <a:ext cx="1936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901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983" y="155603"/>
            <a:ext cx="8274684" cy="1180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P</a:t>
            </a:r>
            <a:r>
              <a:rPr spc="5" dirty="0"/>
              <a:t>a</a:t>
            </a:r>
            <a:r>
              <a:rPr dirty="0"/>
              <a:t>r</a:t>
            </a:r>
            <a:r>
              <a:rPr spc="5" dirty="0"/>
              <a:t>âme</a:t>
            </a:r>
            <a:r>
              <a:rPr dirty="0"/>
              <a:t>tr</a:t>
            </a:r>
            <a:r>
              <a:rPr spc="-5" dirty="0"/>
              <a:t>o</a:t>
            </a:r>
            <a:r>
              <a:rPr dirty="0"/>
              <a:t>s</a:t>
            </a:r>
            <a:r>
              <a:rPr spc="15" dirty="0"/>
              <a:t> </a:t>
            </a:r>
            <a:r>
              <a:rPr spc="-5" dirty="0"/>
              <a:t>d</a:t>
            </a:r>
            <a:r>
              <a:rPr dirty="0"/>
              <a:t>e </a:t>
            </a:r>
            <a:r>
              <a:rPr spc="0" dirty="0"/>
              <a:t>u</a:t>
            </a:r>
            <a:r>
              <a:rPr spc="5" dirty="0"/>
              <a:t>m</a:t>
            </a:r>
            <a:r>
              <a:rPr dirty="0"/>
              <a:t>a </a:t>
            </a:r>
            <a:r>
              <a:rPr spc="5" dirty="0"/>
              <a:t>s</a:t>
            </a:r>
            <a:r>
              <a:rPr spc="-5" dirty="0"/>
              <a:t>ub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t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a</a:t>
            </a:r>
            <a:r>
              <a:rPr spc="15" dirty="0"/>
              <a:t> </a:t>
            </a:r>
            <a:r>
              <a:rPr spc="5" dirty="0"/>
              <a:t>e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C </a:t>
            </a: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2807" y="2450594"/>
            <a:ext cx="579120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5067" y="2450594"/>
            <a:ext cx="2549525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780" algn="l"/>
                <a:tab pos="2048510" algn="l"/>
              </a:tabLst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4" y="2379117"/>
            <a:ext cx="5601970" cy="853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  <a:tabLst>
                <a:tab pos="1470660" algn="l"/>
                <a:tab pos="2083435" algn="l"/>
                <a:tab pos="2988945" algn="l"/>
                <a:tab pos="4382770" algn="l"/>
              </a:tabLst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	por	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	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4" y="3786232"/>
            <a:ext cx="9058910" cy="212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800"/>
              </a:lnSpc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u="heavy" spc="1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por  </a:t>
            </a:r>
            <a:r>
              <a:rPr sz="2300" u="heavy" spc="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  </a:t>
            </a:r>
            <a:r>
              <a:rPr sz="2300" spc="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r>
              <a:rPr sz="23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6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06955" y="1845790"/>
            <a:ext cx="4481830" cy="104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886" y="2546241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55" y="2894970"/>
            <a:ext cx="4161790" cy="430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640080">
              <a:lnSpc>
                <a:spcPts val="3240"/>
              </a:lnSpc>
              <a:spcBef>
                <a:spcPts val="10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ts val="325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6955" y="1051210"/>
            <a:ext cx="764667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3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9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84" y="1950884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62" y="1950884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654" y="2269105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7067" y="2269105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5432" y="2269132"/>
            <a:ext cx="2252345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64" y="2904106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434" y="3222329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36" y="385882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484" y="4495323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072" y="5201638"/>
            <a:ext cx="3729354" cy="294953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234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431" y="5612998"/>
            <a:ext cx="4161790" cy="192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7845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152" y="1978293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8428" y="1978293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2322" y="229651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7747" y="229651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113" y="2296514"/>
            <a:ext cx="2252345" cy="979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029" y="2933012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9" y="3251260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1" y="3886235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52" y="4522732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603" y="5229299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786" y="5229299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6795" y="5597519"/>
            <a:ext cx="2313940" cy="344325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74625">
              <a:spcBef>
                <a:spcPts val="22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099" y="5954723"/>
            <a:ext cx="4161790" cy="1609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0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5595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78288"/>
          </a:xfrm>
          <a:prstGeom prst="rect">
            <a:avLst/>
          </a:prstGeom>
        </p:spPr>
        <p:txBody>
          <a:bodyPr vert="horz" wrap="square" lIns="0" tIns="595121" rIns="0" bIns="0" rtlCol="0">
            <a:spAutoFit/>
          </a:bodyPr>
          <a:lstStyle/>
          <a:p>
            <a:pPr marL="715010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715010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1031875">
              <a:lnSpc>
                <a:spcPct val="100000"/>
              </a:lnSpc>
              <a:spcBef>
                <a:spcPts val="3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8136" y="3493372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083" y="4551674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083" y="1051210"/>
            <a:ext cx="7766050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10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5" y="1871449"/>
            <a:ext cx="4919980" cy="397811"/>
          </a:xfrm>
          <a:custGeom>
            <a:avLst/>
            <a:gdLst/>
            <a:ahLst/>
            <a:cxnLst/>
            <a:rect l="l" t="t" r="r" b="b"/>
            <a:pathLst>
              <a:path w="4919980" h="398144">
                <a:moveTo>
                  <a:pt x="0" y="0"/>
                </a:moveTo>
                <a:lnTo>
                  <a:pt x="0" y="397763"/>
                </a:lnTo>
                <a:lnTo>
                  <a:pt x="4919471" y="397763"/>
                </a:lnTo>
                <a:lnTo>
                  <a:pt x="491947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2988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8591" y="2358693"/>
            <a:ext cx="2627630" cy="385756"/>
          </a:xfrm>
          <a:custGeom>
            <a:avLst/>
            <a:gdLst/>
            <a:ahLst/>
            <a:cxnLst/>
            <a:rect l="l" t="t" r="r" b="b"/>
            <a:pathLst>
              <a:path w="2627629" h="386080">
                <a:moveTo>
                  <a:pt x="0" y="0"/>
                </a:moveTo>
                <a:lnTo>
                  <a:pt x="0" y="385571"/>
                </a:lnTo>
                <a:lnTo>
                  <a:pt x="2627375" y="385571"/>
                </a:lnTo>
                <a:lnTo>
                  <a:pt x="262737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89660" y="1393568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1935" y="1393568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75830" y="171029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1255" y="17102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9621" y="1710268"/>
            <a:ext cx="2252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6599" y="2346764"/>
            <a:ext cx="193548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06652" y="2983261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9609" y="330153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89660" y="3938007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89607" y="4542537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688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6955" y="1051209"/>
            <a:ext cx="7646670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5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6955" y="1772726"/>
            <a:ext cx="4481830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0886" y="2407700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3955" y="2725922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7008" y="3362418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6955" y="4420721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2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5291" y="2747013"/>
            <a:ext cx="1967864" cy="393369"/>
          </a:xfrm>
          <a:custGeom>
            <a:avLst/>
            <a:gdLst/>
            <a:ahLst/>
            <a:cxnLst/>
            <a:rect l="l" t="t" r="r" b="b"/>
            <a:pathLst>
              <a:path w="1967864" h="393700">
                <a:moveTo>
                  <a:pt x="0" y="0"/>
                </a:moveTo>
                <a:lnTo>
                  <a:pt x="0" y="393191"/>
                </a:lnTo>
                <a:lnTo>
                  <a:pt x="1967483" y="393191"/>
                </a:lnTo>
                <a:lnTo>
                  <a:pt x="196748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2934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63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184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308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316" y="3226923"/>
            <a:ext cx="1617345" cy="15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263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263" y="1051210"/>
            <a:ext cx="784987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67839" y="3219030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910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1288" y="1399659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65" y="1399659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458" y="1748362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885" y="1748362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1748362"/>
            <a:ext cx="2252345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5166" y="2447265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8236" y="2797516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1288" y="3496445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9740" y="4735913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5922" y="4735913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9731" y="5148569"/>
            <a:ext cx="209423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88603" y="5519887"/>
            <a:ext cx="2784475" cy="341119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27965">
              <a:spcBef>
                <a:spcPts val="2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35" y="5873368"/>
            <a:ext cx="4161790" cy="1223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799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24428"/>
          </a:xfrm>
          <a:prstGeom prst="rect">
            <a:avLst/>
          </a:prstGeom>
        </p:spPr>
        <p:txBody>
          <a:bodyPr vert="horz" wrap="square" lIns="0" tIns="541782" rIns="0" bIns="0" rtlCol="0">
            <a:spAutoFit/>
          </a:bodyPr>
          <a:lstStyle/>
          <a:p>
            <a:pPr marL="634365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634365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7364" y="3441600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311" y="4499875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000"/>
              </a:lnSpc>
              <a:spcBef>
                <a:spcPts val="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331" y="1051209"/>
            <a:ext cx="7846695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67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9" y="1871449"/>
            <a:ext cx="4840605" cy="397811"/>
          </a:xfrm>
          <a:custGeom>
            <a:avLst/>
            <a:gdLst/>
            <a:ahLst/>
            <a:cxnLst/>
            <a:rect l="l" t="t" r="r" b="b"/>
            <a:pathLst>
              <a:path w="4840605" h="398144">
                <a:moveTo>
                  <a:pt x="0" y="0"/>
                </a:moveTo>
                <a:lnTo>
                  <a:pt x="0" y="397763"/>
                </a:lnTo>
                <a:lnTo>
                  <a:pt x="4840223" y="397763"/>
                </a:lnTo>
                <a:lnTo>
                  <a:pt x="484022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43225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15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2060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060" y="3226897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068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015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5017" y="1051210"/>
            <a:ext cx="7928609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09343" y="2594714"/>
            <a:ext cx="2550160" cy="387025"/>
          </a:xfrm>
          <a:custGeom>
            <a:avLst/>
            <a:gdLst/>
            <a:ahLst/>
            <a:cxnLst/>
            <a:rect l="l" t="t" r="r" b="b"/>
            <a:pathLst>
              <a:path w="2550160" h="387350">
                <a:moveTo>
                  <a:pt x="0" y="0"/>
                </a:moveTo>
                <a:lnTo>
                  <a:pt x="0" y="387095"/>
                </a:lnTo>
                <a:lnTo>
                  <a:pt x="2549651" y="387095"/>
                </a:lnTo>
                <a:lnTo>
                  <a:pt x="254965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0026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8591" y="2909944"/>
            <a:ext cx="2391410" cy="390197"/>
          </a:xfrm>
          <a:custGeom>
            <a:avLst/>
            <a:gdLst/>
            <a:ahLst/>
            <a:cxnLst/>
            <a:rect l="l" t="t" r="r" b="b"/>
            <a:pathLst>
              <a:path w="2391410" h="390525">
                <a:moveTo>
                  <a:pt x="0" y="0"/>
                </a:moveTo>
                <a:lnTo>
                  <a:pt x="0" y="390143"/>
                </a:lnTo>
                <a:lnTo>
                  <a:pt x="2391155" y="390143"/>
                </a:lnTo>
                <a:lnTo>
                  <a:pt x="239115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10359" y="1051210"/>
            <a:ext cx="784352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359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428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7404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412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0359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92059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67839" y="3302806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5796" y="1051210"/>
            <a:ext cx="78479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5787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721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2832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05840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5787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15163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511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43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556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564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198" y="4816616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2010" y="4716101"/>
            <a:ext cx="2412365" cy="1268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50" y="6072608"/>
            <a:ext cx="4680585" cy="700192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195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35585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3516" y="683424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528" y="1051210"/>
            <a:ext cx="777049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76766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 err="1" smtClean="0"/>
              <a:t>E</a:t>
            </a:r>
            <a:r>
              <a:rPr spc="5" dirty="0" err="1" smtClean="0"/>
              <a:t>xe</a:t>
            </a:r>
            <a:r>
              <a:rPr dirty="0" err="1" smtClean="0"/>
              <a:t>r</a:t>
            </a:r>
            <a:r>
              <a:rPr spc="5" dirty="0" err="1" smtClean="0"/>
              <a:t>c</a:t>
            </a:r>
            <a:r>
              <a:rPr spc="0" dirty="0" err="1" smtClean="0"/>
              <a:t>í</a:t>
            </a:r>
            <a:r>
              <a:rPr spc="5" dirty="0" err="1" smtClean="0"/>
              <a:t>c</a:t>
            </a:r>
            <a:r>
              <a:rPr spc="-10" dirty="0" err="1" smtClean="0"/>
              <a:t>i</a:t>
            </a:r>
            <a:r>
              <a:rPr spc="-5" dirty="0" err="1" smtClean="0"/>
              <a:t>o</a:t>
            </a:r>
            <a:r>
              <a:rPr dirty="0" err="1" smtClean="0"/>
              <a:t>s</a:t>
            </a:r>
            <a:endParaRPr i="1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122751"/>
            <a:ext cx="594169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2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056" y="2566544"/>
            <a:ext cx="107886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 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97" y="1962051"/>
            <a:ext cx="3184525" cy="1232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void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44" y="3171063"/>
            <a:ext cx="213296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2" y="4380103"/>
            <a:ext cx="153098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9258" y="4984623"/>
            <a:ext cx="138049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391" y="5282299"/>
            <a:ext cx="3786504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820" marR="5080">
              <a:lnSpc>
                <a:spcPct val="101800"/>
              </a:lnSpc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alc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(&amp;x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&amp;y);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- 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x,y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72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78" y="2140182"/>
            <a:ext cx="137858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140182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 marR="60642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 q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 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lnSpc>
                <a:spcPts val="229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re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q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12" y="4256762"/>
            <a:ext cx="5892165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,y)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85" y="2443204"/>
            <a:ext cx="15297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43203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 marR="15557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+ 1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tur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4559784"/>
            <a:ext cx="4538980" cy="214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105791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z; z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cul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  <a:tabLst>
                <a:tab pos="2268855" algn="l"/>
                <a:tab pos="2870835" algn="l"/>
              </a:tabLst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d”,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94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70"/>
            <a:ext cx="4799330" cy="1003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49"/>
              </a:spcBef>
            </a:pPr>
            <a:endParaRPr sz="23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497" y="2405643"/>
            <a:ext cx="1602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05670"/>
            <a:ext cx="26047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cal(i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2975166"/>
            <a:ext cx="4182110" cy="287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>
              <a:spcBef>
                <a:spcPts val="35"/>
              </a:spcBef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20116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return(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x,&amp;y,&amp;z)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27" y="5824175"/>
            <a:ext cx="2749550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%d”,x,y,z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2015" y="5821051"/>
            <a:ext cx="1458595" cy="575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printf(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6393646"/>
            <a:ext cx="1682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34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56" y="1673469"/>
            <a:ext cx="9266555" cy="373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50673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a: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5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0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 algn="just">
              <a:lnSpc>
                <a:spcPct val="100200"/>
              </a:lnSpc>
              <a:spcBef>
                <a:spcPts val="1685"/>
              </a:spcBef>
              <a:buClr>
                <a:srgbClr val="852A33"/>
              </a:buClr>
              <a:buSzPct val="69696"/>
              <a:buFont typeface="Wingdings"/>
              <a:buChar char=""/>
              <a:tabLst>
                <a:tab pos="5080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Todas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ompon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eu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amanho</a:t>
            </a:r>
            <a:r>
              <a:rPr sz="3300" spc="4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33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oda 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1714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 err="1" smtClean="0">
                <a:latin typeface="Arial"/>
                <a:cs typeface="Arial"/>
              </a:rPr>
              <a:t>V</a:t>
            </a:r>
            <a:r>
              <a:rPr i="1" spc="5" dirty="0" err="1" smtClean="0">
                <a:latin typeface="Arial"/>
                <a:cs typeface="Arial"/>
              </a:rPr>
              <a:t>e</a:t>
            </a:r>
            <a:r>
              <a:rPr i="1" spc="-10" dirty="0" err="1" smtClean="0">
                <a:latin typeface="Arial"/>
                <a:cs typeface="Arial"/>
              </a:rPr>
              <a:t>t</a:t>
            </a:r>
            <a:r>
              <a:rPr i="1" spc="5" dirty="0" err="1" smtClean="0">
                <a:latin typeface="Arial"/>
                <a:cs typeface="Arial"/>
              </a:rPr>
              <a:t>o</a:t>
            </a:r>
            <a:r>
              <a:rPr i="1" dirty="0" err="1" smtClean="0">
                <a:latin typeface="Arial"/>
                <a:cs typeface="Arial"/>
              </a:rPr>
              <a:t>r</a:t>
            </a:r>
            <a:r>
              <a:rPr i="1" spc="15" dirty="0" err="1" smtClean="0">
                <a:latin typeface="Arial"/>
                <a:cs typeface="Arial"/>
              </a:rPr>
              <a:t>e</a:t>
            </a:r>
            <a:r>
              <a:rPr i="1" spc="-5" dirty="0" err="1" smtClean="0">
                <a:latin typeface="Arial"/>
                <a:cs typeface="Arial"/>
              </a:rPr>
              <a:t>s</a:t>
            </a:r>
            <a:endParaRPr i="1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3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446532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3486" y="5122176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4636" y="5105426"/>
            <a:ext cx="273367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873760" algn="l"/>
                <a:tab pos="1734185" algn="l"/>
                <a:tab pos="2595245" algn="l"/>
              </a:tabLst>
            </a:pP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1	2	</a:t>
            </a:r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3	</a:t>
            </a: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2325" baseline="3584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4991" y="5768102"/>
            <a:ext cx="4221480" cy="98977"/>
          </a:xfrm>
          <a:custGeom>
            <a:avLst/>
            <a:gdLst/>
            <a:ahLst/>
            <a:cxnLst/>
            <a:rect l="l" t="t" r="r" b="b"/>
            <a:pathLst>
              <a:path w="4221480" h="99060">
                <a:moveTo>
                  <a:pt x="4221479" y="0"/>
                </a:moveTo>
                <a:lnTo>
                  <a:pt x="4188557" y="20875"/>
                </a:lnTo>
                <a:lnTo>
                  <a:pt x="4147544" y="30171"/>
                </a:lnTo>
                <a:lnTo>
                  <a:pt x="4106224" y="36323"/>
                </a:lnTo>
                <a:lnTo>
                  <a:pt x="4065113" y="40737"/>
                </a:lnTo>
                <a:lnTo>
                  <a:pt x="4019437" y="44269"/>
                </a:lnTo>
                <a:lnTo>
                  <a:pt x="3978359" y="46480"/>
                </a:lnTo>
                <a:lnTo>
                  <a:pt x="3934944" y="47974"/>
                </a:lnTo>
                <a:lnTo>
                  <a:pt x="3889572" y="48701"/>
                </a:lnTo>
                <a:lnTo>
                  <a:pt x="2462783" y="48767"/>
                </a:lnTo>
                <a:lnTo>
                  <a:pt x="2453524" y="48785"/>
                </a:lnTo>
                <a:lnTo>
                  <a:pt x="2408188" y="49374"/>
                </a:lnTo>
                <a:lnTo>
                  <a:pt x="2364720" y="50761"/>
                </a:lnTo>
                <a:lnTo>
                  <a:pt x="2323477" y="52891"/>
                </a:lnTo>
                <a:lnTo>
                  <a:pt x="2284814" y="55710"/>
                </a:lnTo>
                <a:lnTo>
                  <a:pt x="2242328" y="59924"/>
                </a:lnTo>
                <a:lnTo>
                  <a:pt x="2198928" y="65867"/>
                </a:lnTo>
                <a:lnTo>
                  <a:pt x="2158661" y="73829"/>
                </a:lnTo>
                <a:lnTo>
                  <a:pt x="2122129" y="86415"/>
                </a:lnTo>
                <a:lnTo>
                  <a:pt x="2110739" y="99059"/>
                </a:lnTo>
                <a:lnTo>
                  <a:pt x="2110621" y="97757"/>
                </a:lnTo>
                <a:lnTo>
                  <a:pt x="2075070" y="77093"/>
                </a:lnTo>
                <a:lnTo>
                  <a:pt x="2033602" y="67749"/>
                </a:lnTo>
                <a:lnTo>
                  <a:pt x="1992267" y="61515"/>
                </a:lnTo>
                <a:lnTo>
                  <a:pt x="1951327" y="57018"/>
                </a:lnTo>
                <a:lnTo>
                  <a:pt x="1905953" y="53402"/>
                </a:lnTo>
                <a:lnTo>
                  <a:pt x="1865197" y="51129"/>
                </a:lnTo>
                <a:lnTo>
                  <a:pt x="1822145" y="49589"/>
                </a:lnTo>
                <a:lnTo>
                  <a:pt x="1777155" y="48836"/>
                </a:lnTo>
                <a:lnTo>
                  <a:pt x="1758695" y="48767"/>
                </a:lnTo>
                <a:lnTo>
                  <a:pt x="352043" y="48767"/>
                </a:lnTo>
                <a:lnTo>
                  <a:pt x="342635" y="48751"/>
                </a:lnTo>
                <a:lnTo>
                  <a:pt x="296588" y="48182"/>
                </a:lnTo>
                <a:lnTo>
                  <a:pt x="252477" y="46838"/>
                </a:lnTo>
                <a:lnTo>
                  <a:pt x="210675" y="44767"/>
                </a:lnTo>
                <a:lnTo>
                  <a:pt x="171557" y="42016"/>
                </a:lnTo>
                <a:lnTo>
                  <a:pt x="128685" y="37887"/>
                </a:lnTo>
                <a:lnTo>
                  <a:pt x="90863" y="32932"/>
                </a:lnTo>
                <a:lnTo>
                  <a:pt x="49406" y="25184"/>
                </a:lnTo>
                <a:lnTo>
                  <a:pt x="11751" y="12733"/>
                </a:lnTo>
                <a:lnTo>
                  <a:pt x="122" y="1322"/>
                </a:lnTo>
                <a:lnTo>
                  <a:pt x="0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551" y="5355405"/>
            <a:ext cx="4460875" cy="807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2100" b="1" i="1" spc="-65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2100">
              <a:solidFill>
                <a:prstClr val="black"/>
              </a:solidFill>
              <a:latin typeface="Tahoma"/>
              <a:cs typeface="Tahoma"/>
            </a:endParaRPr>
          </a:p>
          <a:p>
            <a:pPr marL="1077595">
              <a:spcBef>
                <a:spcPts val="1570"/>
              </a:spcBef>
            </a:pP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5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8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65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p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b="1" i="1" spc="-6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251" y="1595442"/>
            <a:ext cx="8313420" cy="3310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400"/>
              </a:lnSpc>
              <a:buClr>
                <a:srgbClr val="852A33"/>
              </a:buClr>
              <a:buSzPct val="70909"/>
              <a:buFont typeface="Wingdings"/>
              <a:buChar char=""/>
              <a:tabLst>
                <a:tab pos="390525" algn="l"/>
              </a:tabLst>
            </a:pP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 em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91795">
              <a:spcBef>
                <a:spcPts val="735"/>
              </a:spcBef>
              <a:tabLst>
                <a:tab pos="2827020" algn="l"/>
              </a:tabLst>
            </a:pP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po_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	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cad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_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9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65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1732280">
              <a:lnSpc>
                <a:spcPct val="120000"/>
              </a:lnSpc>
              <a:spcBef>
                <a:spcPts val="10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 (0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4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709670">
              <a:spcBef>
                <a:spcPts val="940"/>
              </a:spcBef>
            </a:pP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Í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do 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v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eto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9338" y="4959499"/>
            <a:ext cx="3649979" cy="158617"/>
          </a:xfrm>
          <a:custGeom>
            <a:avLst/>
            <a:gdLst/>
            <a:ahLst/>
            <a:cxnLst/>
            <a:rect l="l" t="t" r="r" b="b"/>
            <a:pathLst>
              <a:path w="3649979" h="158750">
                <a:moveTo>
                  <a:pt x="3649979" y="158495"/>
                </a:moveTo>
                <a:lnTo>
                  <a:pt x="3624556" y="126488"/>
                </a:lnTo>
                <a:lnTo>
                  <a:pt x="3587649" y="110164"/>
                </a:lnTo>
                <a:lnTo>
                  <a:pt x="3549560" y="99422"/>
                </a:lnTo>
                <a:lnTo>
                  <a:pt x="3511290" y="91803"/>
                </a:lnTo>
                <a:lnTo>
                  <a:pt x="3468555" y="85833"/>
                </a:lnTo>
                <a:lnTo>
                  <a:pt x="3430029" y="82241"/>
                </a:lnTo>
                <a:lnTo>
                  <a:pt x="3389279" y="80012"/>
                </a:lnTo>
                <a:lnTo>
                  <a:pt x="3346703" y="79247"/>
                </a:lnTo>
                <a:lnTo>
                  <a:pt x="2106167" y="79247"/>
                </a:lnTo>
                <a:lnTo>
                  <a:pt x="2097525" y="79216"/>
                </a:lnTo>
                <a:lnTo>
                  <a:pt x="2055283" y="78151"/>
                </a:lnTo>
                <a:lnTo>
                  <a:pt x="2014946" y="75642"/>
                </a:lnTo>
                <a:lnTo>
                  <a:pt x="1976913" y="71789"/>
                </a:lnTo>
                <a:lnTo>
                  <a:pt x="1934874" y="65532"/>
                </a:lnTo>
                <a:lnTo>
                  <a:pt x="1897414" y="57655"/>
                </a:lnTo>
                <a:lnTo>
                  <a:pt x="1860417" y="46648"/>
                </a:lnTo>
                <a:lnTo>
                  <a:pt x="1825142" y="30041"/>
                </a:lnTo>
                <a:lnTo>
                  <a:pt x="1802891" y="0"/>
                </a:lnTo>
                <a:lnTo>
                  <a:pt x="1802770" y="2277"/>
                </a:lnTo>
                <a:lnTo>
                  <a:pt x="1777215" y="32007"/>
                </a:lnTo>
                <a:lnTo>
                  <a:pt x="1739994" y="48331"/>
                </a:lnTo>
                <a:lnTo>
                  <a:pt x="1701632" y="59073"/>
                </a:lnTo>
                <a:lnTo>
                  <a:pt x="1663132" y="66692"/>
                </a:lnTo>
                <a:lnTo>
                  <a:pt x="1620196" y="72662"/>
                </a:lnTo>
                <a:lnTo>
                  <a:pt x="1581537" y="76254"/>
                </a:lnTo>
                <a:lnTo>
                  <a:pt x="1540699" y="78483"/>
                </a:lnTo>
                <a:lnTo>
                  <a:pt x="1498091" y="79247"/>
                </a:lnTo>
                <a:lnTo>
                  <a:pt x="304799" y="79247"/>
                </a:lnTo>
                <a:lnTo>
                  <a:pt x="296080" y="79279"/>
                </a:lnTo>
                <a:lnTo>
                  <a:pt x="253490" y="80344"/>
                </a:lnTo>
                <a:lnTo>
                  <a:pt x="212865" y="82853"/>
                </a:lnTo>
                <a:lnTo>
                  <a:pt x="174600" y="86706"/>
                </a:lnTo>
                <a:lnTo>
                  <a:pt x="132347" y="92963"/>
                </a:lnTo>
                <a:lnTo>
                  <a:pt x="94733" y="100840"/>
                </a:lnTo>
                <a:lnTo>
                  <a:pt x="57620" y="111847"/>
                </a:lnTo>
                <a:lnTo>
                  <a:pt x="22272" y="128454"/>
                </a:lnTo>
                <a:lnTo>
                  <a:pt x="120" y="156218"/>
                </a:lnTo>
                <a:lnTo>
                  <a:pt x="0" y="158495"/>
                </a:lnTo>
              </a:path>
            </a:pathLst>
          </a:custGeom>
          <a:ln w="41980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7199" y="5338021"/>
          <a:ext cx="4222999" cy="31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195"/>
                <a:gridCol w="819911"/>
                <a:gridCol w="833627"/>
                <a:gridCol w="888491"/>
                <a:gridCol w="874775"/>
              </a:tblGrid>
              <a:tr h="313679"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9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3" y="1592373"/>
            <a:ext cx="9230360" cy="627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 marR="5080" indent="-302895">
              <a:lnSpc>
                <a:spcPct val="111400"/>
              </a:lnSpc>
              <a:buClr>
                <a:srgbClr val="852A33"/>
              </a:buClr>
              <a:buSzPct val="70270"/>
              <a:buFont typeface="Wingdings"/>
              <a:buChar char=""/>
              <a:tabLst>
                <a:tab pos="316230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Cada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f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cia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nd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du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por 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u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nú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h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ó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no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8" y="4213112"/>
            <a:ext cx="8951595" cy="1625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Exe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5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229044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[1]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618172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[4]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3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s[0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186824"/>
            <a:ext cx="4856480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300" i="1" spc="-5" dirty="0">
                <a:latin typeface="Arial"/>
                <a:cs typeface="Arial"/>
              </a:rPr>
              <a:t>V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dirty="0">
                <a:latin typeface="Arial"/>
                <a:cs typeface="Arial"/>
              </a:rPr>
              <a:t>t</a:t>
            </a:r>
            <a:r>
              <a:rPr sz="4300" i="1" spc="-10" dirty="0">
                <a:latin typeface="Arial"/>
                <a:cs typeface="Arial"/>
              </a:rPr>
              <a:t>o</a:t>
            </a:r>
            <a:r>
              <a:rPr sz="4300" i="1" spc="0" dirty="0">
                <a:latin typeface="Arial"/>
                <a:cs typeface="Arial"/>
              </a:rPr>
              <a:t>r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spc="0" dirty="0">
                <a:latin typeface="Arial"/>
                <a:cs typeface="Arial"/>
              </a:rPr>
              <a:t>s</a:t>
            </a:r>
            <a:r>
              <a:rPr sz="4300" i="1" spc="-5" dirty="0">
                <a:latin typeface="Arial"/>
                <a:cs typeface="Arial"/>
              </a:rPr>
              <a:t>:</a:t>
            </a:r>
            <a:r>
              <a:rPr sz="4300" i="1" spc="-15" dirty="0">
                <a:latin typeface="Arial"/>
                <a:cs typeface="Arial"/>
              </a:rPr>
              <a:t> </a:t>
            </a:r>
            <a:r>
              <a:rPr sz="4300" i="1" spc="5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f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ên</a:t>
            </a:r>
            <a:r>
              <a:rPr sz="4300" i="1" spc="-5" dirty="0">
                <a:latin typeface="Arial"/>
                <a:cs typeface="Arial"/>
              </a:rPr>
              <a:t>c</a:t>
            </a:r>
            <a:r>
              <a:rPr sz="4300" i="1" dirty="0">
                <a:latin typeface="Arial"/>
                <a:cs typeface="Arial"/>
              </a:rPr>
              <a:t>i</a:t>
            </a:r>
            <a:r>
              <a:rPr sz="4300" i="1" spc="-5" dirty="0">
                <a:latin typeface="Arial"/>
                <a:cs typeface="Arial"/>
              </a:rPr>
              <a:t>a </a:t>
            </a:r>
            <a:r>
              <a:rPr sz="4300" i="1" spc="-10" dirty="0">
                <a:latin typeface="Arial"/>
                <a:cs typeface="Arial"/>
              </a:rPr>
              <a:t>(M</a:t>
            </a:r>
            <a:r>
              <a:rPr sz="4300" i="1" spc="0" dirty="0">
                <a:latin typeface="Arial"/>
                <a:cs typeface="Arial"/>
              </a:rPr>
              <a:t>a</a:t>
            </a:r>
            <a:r>
              <a:rPr sz="4300" i="1" spc="-10" dirty="0">
                <a:latin typeface="Arial"/>
                <a:cs typeface="Arial"/>
              </a:rPr>
              <a:t>n</a:t>
            </a:r>
            <a:r>
              <a:rPr sz="4300" i="1" spc="-5" dirty="0">
                <a:latin typeface="Arial"/>
                <a:cs typeface="Arial"/>
              </a:rPr>
              <a:t>ip</a:t>
            </a:r>
            <a:r>
              <a:rPr sz="4300" i="1" spc="-10" dirty="0">
                <a:latin typeface="Arial"/>
                <a:cs typeface="Arial"/>
              </a:rPr>
              <a:t>u</a:t>
            </a:r>
            <a:r>
              <a:rPr sz="4300" i="1" dirty="0">
                <a:latin typeface="Arial"/>
                <a:cs typeface="Arial"/>
              </a:rPr>
              <a:t>l</a:t>
            </a:r>
            <a:r>
              <a:rPr sz="4300" i="1" spc="-10" dirty="0">
                <a:latin typeface="Arial"/>
                <a:cs typeface="Arial"/>
              </a:rPr>
              <a:t>a</a:t>
            </a:r>
            <a:r>
              <a:rPr sz="4300" i="1" spc="0" dirty="0">
                <a:latin typeface="Arial"/>
                <a:cs typeface="Arial"/>
              </a:rPr>
              <a:t>ç</a:t>
            </a:r>
            <a:r>
              <a:rPr sz="4300" i="1" spc="-10" dirty="0">
                <a:latin typeface="Arial"/>
                <a:cs typeface="Arial"/>
              </a:rPr>
              <a:t>ã</a:t>
            </a:r>
            <a:r>
              <a:rPr sz="4300" i="1" dirty="0">
                <a:latin typeface="Arial"/>
                <a:cs typeface="Arial"/>
              </a:rPr>
              <a:t>o</a:t>
            </a:r>
            <a:r>
              <a:rPr sz="4300" i="1" spc="-5" dirty="0">
                <a:latin typeface="Arial"/>
                <a:cs typeface="Arial"/>
              </a:rPr>
              <a:t>)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6391" y="263760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6413" y="2585831"/>
            <a:ext cx="101917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903605" algn="l"/>
              </a:tabLst>
            </a:pPr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1	2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1031" y="2605626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2562" y="258735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519" y="3097973"/>
            <a:ext cx="749935" cy="307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1950" b="1" i="1" spc="-9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950" b="1" i="1" spc="-204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950" b="1" i="1" spc="-114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950" b="1" i="1" spc="-18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9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70890" y="3082872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8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49635"/>
            <a:ext cx="8879205" cy="204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>
              <a:lnSpc>
                <a:spcPts val="3560"/>
              </a:lnSpc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ssív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 el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ua 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128270">
              <a:spcBef>
                <a:spcPts val="355"/>
              </a:spcBef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245745">
              <a:spcBef>
                <a:spcPts val="405"/>
              </a:spcBef>
            </a:pP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-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9" y="6022395"/>
            <a:ext cx="894905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spc="1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 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508880"/>
            <a:ext cx="465582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50058" y="435527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0231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1736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4757" y="4323294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6318" y="430502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259" y="4800882"/>
            <a:ext cx="840740" cy="288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va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b="1" i="1" spc="-6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b="1" i="1" spc="-5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14623" y="4795894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80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02647"/>
            <a:ext cx="9201785" cy="5039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0"/>
              </a:spcBef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!!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!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  <a:buClr>
                <a:srgbClr val="852A33"/>
              </a:buClr>
              <a:buFont typeface="Wingdings"/>
              <a:buChar char=""/>
            </a:pPr>
            <a:endParaRPr sz="31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254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 64,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64, 27, 18,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95, 14};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{1,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5};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655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583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5" y="910878"/>
            <a:ext cx="416496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V</a:t>
            </a:r>
            <a:r>
              <a:rPr b="1" spc="5" dirty="0">
                <a:latin typeface="Arial"/>
                <a:cs typeface="Arial"/>
              </a:rPr>
              <a:t>e</a:t>
            </a:r>
            <a:r>
              <a:rPr b="1" dirty="0">
                <a:latin typeface="Arial"/>
                <a:cs typeface="Arial"/>
              </a:rPr>
              <a:t>t</a:t>
            </a:r>
            <a:r>
              <a:rPr b="1" spc="-5" dirty="0">
                <a:latin typeface="Arial"/>
                <a:cs typeface="Arial"/>
              </a:rPr>
              <a:t>o</a:t>
            </a:r>
            <a:r>
              <a:rPr b="1" dirty="0">
                <a:latin typeface="Arial"/>
                <a:cs typeface="Arial"/>
              </a:rPr>
              <a:t>r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5" dirty="0">
                <a:latin typeface="Arial"/>
                <a:cs typeface="Arial"/>
              </a:rPr>
              <a:t>s</a:t>
            </a:r>
            <a:r>
              <a:rPr b="1" dirty="0">
                <a:latin typeface="Arial"/>
                <a:cs typeface="Arial"/>
              </a:rPr>
              <a:t>: E</a:t>
            </a:r>
            <a:r>
              <a:rPr b="1" spc="5" dirty="0">
                <a:latin typeface="Arial"/>
                <a:cs typeface="Arial"/>
              </a:rPr>
              <a:t>x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-5" dirty="0">
                <a:latin typeface="Arial"/>
                <a:cs typeface="Arial"/>
              </a:rPr>
              <a:t>mp</a:t>
            </a:r>
            <a:r>
              <a:rPr b="1" spc="0" dirty="0">
                <a:latin typeface="Arial"/>
                <a:cs typeface="Arial"/>
              </a:rPr>
              <a:t>l</a:t>
            </a:r>
            <a:r>
              <a:rPr b="1" spc="-5" dirty="0">
                <a:latin typeface="Arial"/>
                <a:cs typeface="Arial"/>
              </a:rPr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2018403"/>
            <a:ext cx="182880" cy="26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spc="475" dirty="0">
                <a:solidFill>
                  <a:srgbClr val="852A33"/>
                </a:solidFill>
                <a:latin typeface="Wingdings"/>
                <a:cs typeface="Wingdings"/>
              </a:rPr>
              <a:t></a:t>
            </a:r>
            <a:endParaRPr sz="1650">
              <a:solidFill>
                <a:prstClr val="black"/>
              </a:solidFill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176" y="1932732"/>
            <a:ext cx="8030845" cy="71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úl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696" y="2846002"/>
            <a:ext cx="6487795" cy="4417793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00965">
              <a:spcBef>
                <a:spcPts val="21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3271520">
              <a:lnSpc>
                <a:spcPct val="1010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],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;i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42669" marR="1387475" indent="-635">
              <a:lnSpc>
                <a:spcPts val="2120"/>
              </a:lnSpc>
              <a:spcBef>
                <a:spcPts val="6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val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,i)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>
              <a:lnSpc>
                <a:spcPts val="2050"/>
              </a:lnSpc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848360" indent="-635">
              <a:lnSpc>
                <a:spcPct val="100600"/>
              </a:lnSpc>
              <a:spcBef>
                <a:spcPts val="10"/>
              </a:spcBef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da: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2059939" indent="405130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4754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95" y="505073"/>
            <a:ext cx="5127625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spc="-5" dirty="0"/>
              <a:t>V</a:t>
            </a:r>
            <a:r>
              <a:rPr sz="4300" spc="-10" dirty="0"/>
              <a:t>e</a:t>
            </a:r>
            <a:r>
              <a:rPr sz="4300" dirty="0"/>
              <a:t>t</a:t>
            </a:r>
            <a:r>
              <a:rPr sz="4300" spc="-10" dirty="0"/>
              <a:t>o</a:t>
            </a:r>
            <a:r>
              <a:rPr sz="4300" spc="0" dirty="0"/>
              <a:t>r</a:t>
            </a:r>
            <a:r>
              <a:rPr sz="4300" spc="-10" dirty="0"/>
              <a:t>e</a:t>
            </a:r>
            <a:r>
              <a:rPr sz="4300" spc="-5" dirty="0"/>
              <a:t>s</a:t>
            </a:r>
            <a:r>
              <a:rPr sz="4300" spc="5" dirty="0"/>
              <a:t> </a:t>
            </a:r>
            <a:r>
              <a:rPr sz="4300" spc="-5" dirty="0"/>
              <a:t>e</a:t>
            </a:r>
            <a:r>
              <a:rPr sz="4300" dirty="0"/>
              <a:t> </a:t>
            </a:r>
            <a:r>
              <a:rPr sz="4300" spc="5" dirty="0"/>
              <a:t>S</a:t>
            </a:r>
            <a:r>
              <a:rPr sz="4300" spc="-10" dirty="0"/>
              <a:t>u</a:t>
            </a:r>
            <a:r>
              <a:rPr sz="4300" spc="0" dirty="0"/>
              <a:t>b</a:t>
            </a:r>
            <a:r>
              <a:rPr sz="4300" spc="-10" dirty="0"/>
              <a:t>r</a:t>
            </a:r>
            <a:r>
              <a:rPr sz="4300" spc="0" dirty="0"/>
              <a:t>o</a:t>
            </a:r>
            <a:r>
              <a:rPr sz="4300" spc="-10" dirty="0"/>
              <a:t>t</a:t>
            </a:r>
            <a:r>
              <a:rPr sz="4300" dirty="0"/>
              <a:t>i</a:t>
            </a:r>
            <a:r>
              <a:rPr sz="4300" spc="-10" dirty="0"/>
              <a:t>na</a:t>
            </a:r>
            <a:r>
              <a:rPr sz="4300" spc="-5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2332"/>
            <a:ext cx="8629650" cy="318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63309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por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852A33"/>
              </a:buClr>
              <a:buFont typeface="Wingdings"/>
              <a:buChar char=""/>
            </a:pPr>
            <a:endParaRPr sz="4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âme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pela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3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777" y="11728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610" y="874007"/>
            <a:ext cx="9263380" cy="474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985" algn="just">
              <a:lnSpc>
                <a:spcPct val="91300"/>
              </a:lnSpc>
              <a:buFontTx/>
              <a:buAutoNum type="arabicParenR"/>
              <a:tabLst>
                <a:tab pos="455295" algn="l"/>
              </a:tabLst>
            </a:pP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ais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3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8"/>
              </a:spcBef>
              <a:buFont typeface="Arial"/>
              <a:buAutoNum type="arabicParenR"/>
            </a:pPr>
            <a:endParaRPr sz="3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0500"/>
              </a:lnSpc>
              <a:buFontTx/>
              <a:buAutoNum type="arabicParenR"/>
              <a:tabLst>
                <a:tab pos="44005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AutoNum type="arabicParenR"/>
            </a:pPr>
            <a:endParaRPr sz="3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1300"/>
              </a:lnSpc>
              <a:buFontTx/>
              <a:buAutoNum type="arabicParenR"/>
              <a:tabLst>
                <a:tab pos="40767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nto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X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XXX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YYYYY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5" y="6058473"/>
            <a:ext cx="926401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tá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0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2720"/>
            <a:ext cx="196024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32" y="1247036"/>
            <a:ext cx="8841105" cy="545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670">
              <a:lnSpc>
                <a:spcPct val="81300"/>
              </a:lnSpc>
              <a:buFontTx/>
              <a:buAutoNum type="arabicParenR" startAt="5"/>
              <a:tabLst>
                <a:tab pos="403225" algn="l"/>
                <a:tab pos="1281430" algn="l"/>
                <a:tab pos="413766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4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677545">
              <a:lnSpc>
                <a:spcPts val="2530"/>
              </a:lnSpc>
              <a:buFontTx/>
              <a:buAutoNum type="arabicParenR" startAt="5"/>
              <a:tabLst>
                <a:tab pos="40449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nem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5300" lvl="1" indent="-389890">
              <a:spcBef>
                <a:spcPts val="60"/>
              </a:spcBef>
              <a:buFontTx/>
              <a:buAutoNum type="alphaLcParenR"/>
              <a:tabLst>
                <a:tab pos="495934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7205" lvl="1" indent="-391795">
              <a:spcBef>
                <a:spcPts val="45"/>
              </a:spcBef>
              <a:buFontTx/>
              <a:buAutoNum type="alphaLcParenR"/>
              <a:tabLst>
                <a:tab pos="497840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=6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77520" lvl="1" indent="-372110">
              <a:spcBef>
                <a:spcPts val="45"/>
              </a:spcBef>
              <a:buFontTx/>
              <a:buAutoNum type="alphaLcParenR"/>
              <a:tabLst>
                <a:tab pos="47815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&lt;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54"/>
              </a:spcBef>
              <a:buFont typeface="Arial"/>
              <a:buAutoNum type="alphaLcParenR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30"/>
              </a:lnSpc>
              <a:buFontTx/>
              <a:buAutoNum type="arabicParenR" startAt="5"/>
              <a:tabLst>
                <a:tab pos="40322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 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lores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4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119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080" y="813677"/>
            <a:ext cx="9262745" cy="1926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513715" algn="l"/>
                <a:tab pos="1463040" algn="l"/>
                <a:tab pos="2132330" algn="l"/>
                <a:tab pos="3775075" algn="l"/>
                <a:tab pos="4539615" algn="l"/>
                <a:tab pos="5266690" algn="l"/>
                <a:tab pos="5937250" algn="l"/>
                <a:tab pos="6885305" algn="l"/>
                <a:tab pos="7909559" algn="l"/>
                <a:tab pos="8674100" algn="l"/>
                <a:tab pos="906272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5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6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660"/>
              </a:lnSpc>
              <a:tabLst>
                <a:tab pos="373380" algn="l"/>
                <a:tab pos="1671955" algn="l"/>
                <a:tab pos="2237105" algn="l"/>
                <a:tab pos="3402965" algn="l"/>
                <a:tab pos="3858895" algn="l"/>
                <a:tab pos="4219575" algn="l"/>
                <a:tab pos="5516245" algn="l"/>
                <a:tab pos="6085205" algn="l"/>
                <a:tab pos="7250430" algn="l"/>
                <a:tab pos="7799070" algn="l"/>
                <a:tab pos="8702040" algn="l"/>
                <a:tab pos="906208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1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olu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col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99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59"/>
              </a:spcBef>
              <a:tabLst>
                <a:tab pos="690245" algn="l"/>
                <a:tab pos="1068705" algn="l"/>
                <a:tab pos="2270760" algn="l"/>
                <a:tab pos="3136265" algn="l"/>
                <a:tab pos="3515995" algn="l"/>
                <a:tab pos="5648960" algn="l"/>
                <a:tab pos="6382385" algn="l"/>
                <a:tab pos="7506970" algn="l"/>
                <a:tab pos="807212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5767" y="2663744"/>
            <a:ext cx="3025775" cy="406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466215" algn="l"/>
                <a:tab pos="2826385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003" y="2703373"/>
            <a:ext cx="6005830" cy="1182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1297305" algn="l"/>
                <a:tab pos="1743710" algn="l"/>
                <a:tab pos="2991485" algn="l"/>
                <a:tab pos="3622675" algn="l"/>
                <a:tab pos="4797425" algn="l"/>
              </a:tabLst>
            </a:pP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13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ois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eve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05"/>
              </a:spcBef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080" y="4386526"/>
            <a:ext cx="926147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rela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calc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03" y="6355761"/>
            <a:ext cx="9262110" cy="1095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30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alores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eiros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cres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amanh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#de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56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9" y="2290939"/>
            <a:ext cx="20300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078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534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7468" y="465013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775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3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7468" y="2825913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145" y="361925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8958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00229" y="3887540"/>
            <a:ext cx="581025" cy="2226344"/>
          </a:xfrm>
          <a:custGeom>
            <a:avLst/>
            <a:gdLst/>
            <a:ahLst/>
            <a:cxnLst/>
            <a:rect l="l" t="t" r="r" b="b"/>
            <a:pathLst>
              <a:path w="581025" h="2228215">
                <a:moveTo>
                  <a:pt x="545275" y="82097"/>
                </a:moveTo>
                <a:lnTo>
                  <a:pt x="535976" y="79640"/>
                </a:lnTo>
                <a:lnTo>
                  <a:pt x="1523" y="2221991"/>
                </a:lnTo>
                <a:lnTo>
                  <a:pt x="0" y="2223515"/>
                </a:lnTo>
                <a:lnTo>
                  <a:pt x="4571" y="2228087"/>
                </a:lnTo>
                <a:lnTo>
                  <a:pt x="7619" y="2228087"/>
                </a:lnTo>
                <a:lnTo>
                  <a:pt x="10667" y="2226563"/>
                </a:lnTo>
                <a:lnTo>
                  <a:pt x="12191" y="2223515"/>
                </a:lnTo>
                <a:lnTo>
                  <a:pt x="545275" y="82097"/>
                </a:lnTo>
                <a:close/>
              </a:path>
              <a:path w="581025" h="2228215">
                <a:moveTo>
                  <a:pt x="580643" y="91439"/>
                </a:moveTo>
                <a:lnTo>
                  <a:pt x="560831" y="0"/>
                </a:lnTo>
                <a:lnTo>
                  <a:pt x="499871" y="70103"/>
                </a:lnTo>
                <a:lnTo>
                  <a:pt x="535976" y="79640"/>
                </a:lnTo>
                <a:lnTo>
                  <a:pt x="539495" y="65531"/>
                </a:lnTo>
                <a:lnTo>
                  <a:pt x="539495" y="62483"/>
                </a:lnTo>
                <a:lnTo>
                  <a:pt x="542543" y="60959"/>
                </a:lnTo>
                <a:lnTo>
                  <a:pt x="545591" y="62483"/>
                </a:lnTo>
                <a:lnTo>
                  <a:pt x="548639" y="62483"/>
                </a:lnTo>
                <a:lnTo>
                  <a:pt x="550163" y="65531"/>
                </a:lnTo>
                <a:lnTo>
                  <a:pt x="550163" y="83388"/>
                </a:lnTo>
                <a:lnTo>
                  <a:pt x="580643" y="91439"/>
                </a:lnTo>
                <a:close/>
              </a:path>
              <a:path w="581025" h="2228215">
                <a:moveTo>
                  <a:pt x="550163" y="65531"/>
                </a:moveTo>
                <a:lnTo>
                  <a:pt x="548639" y="62483"/>
                </a:lnTo>
                <a:lnTo>
                  <a:pt x="545591" y="62483"/>
                </a:lnTo>
                <a:lnTo>
                  <a:pt x="542543" y="60959"/>
                </a:lnTo>
                <a:lnTo>
                  <a:pt x="539495" y="62483"/>
                </a:lnTo>
                <a:lnTo>
                  <a:pt x="539495" y="65531"/>
                </a:lnTo>
                <a:lnTo>
                  <a:pt x="535976" y="79640"/>
                </a:lnTo>
                <a:lnTo>
                  <a:pt x="545275" y="82097"/>
                </a:lnTo>
                <a:lnTo>
                  <a:pt x="548639" y="68579"/>
                </a:lnTo>
                <a:lnTo>
                  <a:pt x="550163" y="65531"/>
                </a:lnTo>
                <a:close/>
              </a:path>
              <a:path w="581025" h="2228215">
                <a:moveTo>
                  <a:pt x="550163" y="83388"/>
                </a:moveTo>
                <a:lnTo>
                  <a:pt x="550163" y="65531"/>
                </a:lnTo>
                <a:lnTo>
                  <a:pt x="548639" y="68579"/>
                </a:lnTo>
                <a:lnTo>
                  <a:pt x="545275" y="82097"/>
                </a:lnTo>
                <a:lnTo>
                  <a:pt x="550163" y="83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5135" y="6256129"/>
            <a:ext cx="12985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at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1]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2]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39</a:t>
            </a:fld>
            <a:endParaRPr dirty="0">
              <a:solidFill>
                <a:prstClr val="black"/>
              </a:solidFill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0853" y="2286659"/>
          <a:ext cx="5024624" cy="2871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5775"/>
                <a:gridCol w="1257299"/>
                <a:gridCol w="1255775"/>
                <a:gridCol w="1255775"/>
              </a:tblGrid>
              <a:tr h="852722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6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03" y="2290931"/>
            <a:ext cx="9070340" cy="3954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ec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aração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20"/>
              </a:spcBef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</a:p>
          <a:p>
            <a:pPr marL="12700" marR="6029325">
              <a:lnSpc>
                <a:spcPct val="120700"/>
              </a:lnSpc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[3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[2]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7]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36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erações 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6; </a:t>
            </a:r>
            <a:endParaRPr lang="pt-BR" sz="2300" dirty="0" smtClean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300" spc="10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5;</a:t>
            </a:r>
          </a:p>
        </p:txBody>
      </p:sp>
    </p:spTree>
    <p:extLst>
      <p:ext uri="{BB962C8B-B14F-4D97-AF65-F5344CB8AC3E}">
        <p14:creationId xmlns:p14="http://schemas.microsoft.com/office/powerpoint/2010/main" val="153345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71324"/>
            <a:ext cx="8063865" cy="4222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900"/>
              </a:lnSpc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ão,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5"/>
              </a:spcBef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7165"/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2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5}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} 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/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 p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R="877569" algn="ctr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7.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As d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6862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64071"/>
            <a:ext cx="9201785" cy="460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3420"/>
              </a:lnSpc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 algn="just">
              <a:lnSpc>
                <a:spcPts val="276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au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oma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6"/>
              </a:spcBef>
              <a:buClr>
                <a:srgbClr val="852A33"/>
              </a:buClr>
              <a:buFont typeface="Wingdings"/>
              <a:buChar char=""/>
            </a:pPr>
            <a:endParaRPr sz="2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ts val="223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33464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35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27}};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17575"/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//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odos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nulos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 algn="just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9810"/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32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18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14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67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31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}};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460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0" y="1684635"/>
            <a:ext cx="8943340" cy="861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230"/>
              </a:lnSpc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ex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1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371" y="2672373"/>
            <a:ext cx="6426835" cy="3400742"/>
          </a:xfrm>
          <a:prstGeom prst="rect">
            <a:avLst/>
          </a:prstGeom>
          <a:ln w="2099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2235">
              <a:spcBef>
                <a:spcPts val="20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3"/>
              </a:spcBef>
            </a:pPr>
            <a:endParaRPr sz="1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22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m[3][2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1500" marR="3480435" indent="-23495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(i=0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for(j=0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2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77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“i=%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mento=%d\n"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3642" y="3062225"/>
            <a:ext cx="2776855" cy="1854995"/>
          </a:xfrm>
          <a:prstGeom prst="rect">
            <a:avLst/>
          </a:prstGeom>
          <a:solidFill>
            <a:srgbClr val="EBEBEB"/>
          </a:solidFill>
          <a:ln w="2099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02235">
              <a:spcBef>
                <a:spcPts val="42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494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5" dirty="0">
                <a:latin typeface="Arial"/>
                <a:cs typeface="Arial"/>
              </a:rPr>
              <a:t>sub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517432"/>
            <a:ext cx="8868410" cy="2300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nas 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ape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pode ser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031" y="384718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600" y="3847187"/>
            <a:ext cx="155638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7361" y="490239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v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522" y="3847151"/>
            <a:ext cx="4250055" cy="1526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/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21970" algn="ctr">
              <a:spcBef>
                <a:spcPts val="969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500"/>
              </a:spcBef>
            </a:pP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1435" y="4902397"/>
            <a:ext cx="1774189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079" y="5974399"/>
            <a:ext cx="765302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avendo</a:t>
            </a:r>
            <a:r>
              <a:rPr sz="2850" b="1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regra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deverá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seguida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91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85" y="1718643"/>
            <a:ext cx="9246235" cy="5474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83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inal,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rá 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4.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033144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7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24574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10,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6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7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68" y="1896328"/>
            <a:ext cx="9241790" cy="46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cê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905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75895">
              <a:lnSpc>
                <a:spcPts val="2620"/>
              </a:lnSpc>
              <a:buFontTx/>
              <a:buAutoNum type="arabicParenR" startAt="5"/>
              <a:tabLst>
                <a:tab pos="370840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linha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eja,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&gt;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76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930" marR="5080">
              <a:lnSpc>
                <a:spcPts val="2330"/>
              </a:lnSpc>
              <a:buAutoNum type="arabicParenR" startAt="8"/>
              <a:tabLst>
                <a:tab pos="434975" algn="l"/>
              </a:tabLst>
            </a:pPr>
            <a:r>
              <a:rPr spc="15" dirty="0"/>
              <a:t>F</a:t>
            </a:r>
            <a:r>
              <a:rPr spc="5" dirty="0"/>
              <a:t>a</a:t>
            </a:r>
            <a:r>
              <a:rPr spc="10" dirty="0"/>
              <a:t>ça </a:t>
            </a:r>
            <a:r>
              <a:rPr spc="15" dirty="0"/>
              <a:t>um</a:t>
            </a:r>
            <a:r>
              <a:rPr dirty="0"/>
              <a:t> </a:t>
            </a:r>
            <a:r>
              <a:rPr spc="15" dirty="0"/>
              <a:t>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g</a:t>
            </a:r>
            <a:r>
              <a:rPr dirty="0"/>
              <a:t>r</a:t>
            </a:r>
            <a:r>
              <a:rPr spc="15" dirty="0"/>
              <a:t>a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p</a:t>
            </a:r>
            <a:r>
              <a:rPr spc="5" dirty="0"/>
              <a:t>a</a:t>
            </a:r>
            <a:r>
              <a:rPr spc="10" dirty="0"/>
              <a:t>ra</a:t>
            </a:r>
            <a:r>
              <a:rPr dirty="0"/>
              <a:t> </a:t>
            </a:r>
            <a:r>
              <a:rPr spc="5" dirty="0"/>
              <a:t>l</a:t>
            </a:r>
            <a:r>
              <a:rPr spc="15" dirty="0"/>
              <a:t>e</a:t>
            </a:r>
            <a:r>
              <a:rPr spc="5" dirty="0"/>
              <a:t>r</a:t>
            </a:r>
            <a:r>
              <a:rPr spc="10" dirty="0"/>
              <a:t> a</a:t>
            </a:r>
            <a:r>
              <a:rPr dirty="0"/>
              <a:t> </a:t>
            </a:r>
            <a:r>
              <a:rPr spc="15" dirty="0"/>
              <a:t>q</a:t>
            </a:r>
            <a:r>
              <a:rPr spc="5" dirty="0"/>
              <a:t>u</a:t>
            </a:r>
            <a:r>
              <a:rPr spc="15" dirty="0"/>
              <a:t>a</a:t>
            </a:r>
            <a:r>
              <a:rPr spc="5" dirty="0"/>
              <a:t>n</a:t>
            </a:r>
            <a:r>
              <a:rPr dirty="0"/>
              <a:t>t</a:t>
            </a:r>
            <a:r>
              <a:rPr spc="5" dirty="0"/>
              <a:t>id</a:t>
            </a:r>
            <a:r>
              <a:rPr spc="15" dirty="0"/>
              <a:t>a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15" dirty="0"/>
              <a:t>m t</a:t>
            </a:r>
            <a:r>
              <a:rPr spc="5" dirty="0"/>
              <a:t>otal</a:t>
            </a:r>
            <a:r>
              <a:rPr spc="15" dirty="0"/>
              <a:t> </a:t>
            </a:r>
            <a:r>
              <a:rPr spc="5" dirty="0"/>
              <a:t>d</a:t>
            </a:r>
            <a:r>
              <a:rPr spc="10" dirty="0"/>
              <a:t>e 5</a:t>
            </a:r>
            <a:r>
              <a:rPr spc="5" dirty="0"/>
              <a:t> 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d</a:t>
            </a:r>
            <a:r>
              <a:rPr spc="5" dirty="0"/>
              <a:t>u</a:t>
            </a:r>
            <a:r>
              <a:rPr dirty="0"/>
              <a:t>t</a:t>
            </a:r>
            <a:r>
              <a:rPr spc="5" dirty="0"/>
              <a:t>o</a:t>
            </a:r>
            <a:r>
              <a:rPr spc="10" dirty="0"/>
              <a:t>s</a:t>
            </a:r>
            <a:r>
              <a:rPr spc="15" dirty="0"/>
              <a:t> q</a:t>
            </a:r>
            <a:r>
              <a:rPr spc="5" dirty="0"/>
              <a:t>u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e</a:t>
            </a:r>
            <a:r>
              <a:rPr spc="25" dirty="0"/>
              <a:t>m</a:t>
            </a:r>
            <a:r>
              <a:rPr spc="5" dirty="0"/>
              <a:t>p</a:t>
            </a:r>
            <a:r>
              <a:rPr spc="10" dirty="0"/>
              <a:t>r</a:t>
            </a:r>
            <a:r>
              <a:rPr spc="5" dirty="0"/>
              <a:t>e</a:t>
            </a:r>
            <a:r>
              <a:rPr spc="10" dirty="0"/>
              <a:t>sa </a:t>
            </a:r>
            <a:r>
              <a:rPr dirty="0"/>
              <a:t>t</a:t>
            </a:r>
            <a:r>
              <a:rPr spc="15" dirty="0"/>
              <a:t>em </a:t>
            </a:r>
            <a:r>
              <a:rPr spc="5" dirty="0"/>
              <a:t>e</a:t>
            </a:r>
            <a:r>
              <a:rPr spc="15" dirty="0"/>
              <a:t>m</a:t>
            </a:r>
            <a:r>
              <a:rPr dirty="0"/>
              <a:t> </a:t>
            </a:r>
            <a:r>
              <a:rPr spc="20" dirty="0"/>
              <a:t>s</a:t>
            </a:r>
            <a:r>
              <a:rPr spc="5" dirty="0"/>
              <a:t>ua</a:t>
            </a:r>
            <a:r>
              <a:rPr spc="10" dirty="0"/>
              <a:t>s</a:t>
            </a:r>
            <a:r>
              <a:rPr spc="15" dirty="0"/>
              <a:t> </a:t>
            </a:r>
            <a:r>
              <a:rPr spc="10" dirty="0"/>
              <a:t>7 </a:t>
            </a:r>
            <a:r>
              <a:rPr spc="5" dirty="0"/>
              <a:t>loja</a:t>
            </a:r>
            <a:r>
              <a:rPr spc="10" dirty="0"/>
              <a:t>s</a:t>
            </a:r>
            <a:r>
              <a:rPr spc="5" dirty="0"/>
              <a:t> </a:t>
            </a:r>
            <a:r>
              <a:rPr spc="10" dirty="0"/>
              <a:t>e</a:t>
            </a:r>
            <a:r>
              <a:rPr dirty="0"/>
              <a:t> </a:t>
            </a:r>
            <a:r>
              <a:rPr spc="15" dirty="0"/>
              <a:t>i</a:t>
            </a:r>
            <a:r>
              <a:rPr spc="10" dirty="0"/>
              <a:t>m</a:t>
            </a:r>
            <a:r>
              <a:rPr spc="15" dirty="0"/>
              <a:t>p</a:t>
            </a:r>
            <a:r>
              <a:rPr spc="5" dirty="0"/>
              <a:t>ri</a:t>
            </a:r>
            <a:r>
              <a:rPr spc="10" dirty="0"/>
              <a:t>m</a:t>
            </a:r>
            <a:r>
              <a:rPr spc="15" dirty="0"/>
              <a:t>i</a:t>
            </a:r>
            <a:r>
              <a:rPr spc="5" dirty="0"/>
              <a:t>r</a:t>
            </a:r>
            <a:r>
              <a:rPr dirty="0"/>
              <a:t> </a:t>
            </a:r>
            <a:r>
              <a:rPr spc="15" dirty="0"/>
              <a:t>em u</a:t>
            </a:r>
            <a:r>
              <a:rPr spc="10" dirty="0"/>
              <a:t>ma</a:t>
            </a:r>
            <a:r>
              <a:rPr spc="5" dirty="0"/>
              <a:t> </a:t>
            </a:r>
            <a:r>
              <a:rPr dirty="0"/>
              <a:t>t</a:t>
            </a:r>
            <a:r>
              <a:rPr spc="5" dirty="0"/>
              <a:t>a</a:t>
            </a:r>
            <a:r>
              <a:rPr spc="15" dirty="0"/>
              <a:t>b</a:t>
            </a:r>
            <a:r>
              <a:rPr spc="5" dirty="0"/>
              <a:t>ela:</a:t>
            </a:r>
          </a:p>
          <a:p>
            <a:pPr marL="692150" lvl="1" indent="-361315">
              <a:lnSpc>
                <a:spcPct val="100000"/>
              </a:lnSpc>
              <a:spcBef>
                <a:spcPts val="35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 t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5" dirty="0">
                <a:latin typeface="Arial"/>
                <a:cs typeface="Arial"/>
              </a:rPr>
              <a:t>od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0" dirty="0">
                <a:latin typeface="Arial"/>
                <a:cs typeface="Arial"/>
              </a:rPr>
              <a:t>o </a:t>
            </a:r>
            <a:r>
              <a:rPr sz="2400" spc="5" dirty="0">
                <a:latin typeface="Arial"/>
                <a:cs typeface="Arial"/>
              </a:rPr>
              <a:t>ne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 loja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92150" lvl="1" indent="-36131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loj</a:t>
            </a:r>
            <a:r>
              <a:rPr sz="2400" spc="10" dirty="0">
                <a:latin typeface="Arial"/>
                <a:cs typeface="Arial"/>
              </a:rPr>
              <a:t>a </a:t>
            </a:r>
            <a:r>
              <a:rPr sz="2400" spc="5" dirty="0">
                <a:latin typeface="Arial"/>
                <a:cs typeface="Arial"/>
              </a:rPr>
              <a:t>qu</a:t>
            </a:r>
            <a:r>
              <a:rPr sz="2400" spc="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5" dirty="0">
                <a:latin typeface="Arial"/>
                <a:cs typeface="Arial"/>
              </a:rPr>
              <a:t>em </a:t>
            </a:r>
            <a:r>
              <a:rPr sz="2400" spc="25" dirty="0">
                <a:latin typeface="Arial"/>
                <a:cs typeface="Arial"/>
              </a:rPr>
              <a:t>m</a:t>
            </a:r>
            <a:r>
              <a:rPr sz="2400" spc="5" dirty="0">
                <a:latin typeface="Arial"/>
                <a:cs typeface="Arial"/>
              </a:rPr>
              <a:t>eno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 p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o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2230" lvl="1">
              <a:lnSpc>
                <a:spcPct val="100000"/>
              </a:lnSpc>
              <a:spcBef>
                <a:spcPts val="7"/>
              </a:spcBef>
              <a:buFont typeface="Arial"/>
              <a:buAutoNum type="alphaLcParenR"/>
            </a:pPr>
            <a:endParaRPr sz="2550">
              <a:latin typeface="Times New Roman"/>
              <a:cs typeface="Times New Roman"/>
            </a:endParaRPr>
          </a:p>
          <a:p>
            <a:pPr marL="434340" indent="-359410">
              <a:lnSpc>
                <a:spcPct val="100000"/>
              </a:lnSpc>
              <a:buAutoNum type="arabicParenR" startAt="8"/>
              <a:tabLst>
                <a:tab pos="434975" algn="l"/>
              </a:tabLst>
            </a:pPr>
            <a:r>
              <a:rPr dirty="0"/>
              <a:t>I</a:t>
            </a:r>
            <a:r>
              <a:rPr spc="15" dirty="0"/>
              <a:t>d</a:t>
            </a:r>
            <a:r>
              <a:rPr spc="5" dirty="0"/>
              <a:t>e</a:t>
            </a:r>
            <a:r>
              <a:rPr spc="15" dirty="0"/>
              <a:t>m </a:t>
            </a:r>
            <a:r>
              <a:rPr spc="5" dirty="0"/>
              <a:t>a</a:t>
            </a:r>
            <a:r>
              <a:rPr spc="10" dirty="0"/>
              <a:t>o </a:t>
            </a:r>
            <a:r>
              <a:rPr spc="15" dirty="0"/>
              <a:t>e</a:t>
            </a:r>
            <a:r>
              <a:rPr spc="-5" dirty="0"/>
              <a:t>x</a:t>
            </a:r>
            <a:r>
              <a:rPr spc="15" dirty="0"/>
              <a:t>e</a:t>
            </a:r>
            <a:r>
              <a:rPr dirty="0"/>
              <a:t>r</a:t>
            </a:r>
            <a:r>
              <a:rPr spc="10" dirty="0"/>
              <a:t>c</a:t>
            </a:r>
            <a:r>
              <a:rPr dirty="0"/>
              <a:t>í</a:t>
            </a:r>
            <a:r>
              <a:rPr spc="10" dirty="0"/>
              <a:t>c</a:t>
            </a:r>
            <a:r>
              <a:rPr spc="5" dirty="0"/>
              <a:t>i</a:t>
            </a:r>
            <a:r>
              <a:rPr spc="10" dirty="0"/>
              <a:t>o </a:t>
            </a:r>
            <a:r>
              <a:rPr spc="5" dirty="0"/>
              <a:t>1,</a:t>
            </a:r>
            <a:r>
              <a:rPr dirty="0"/>
              <a:t> </a:t>
            </a:r>
            <a:r>
              <a:rPr spc="15" dirty="0"/>
              <a:t>a</a:t>
            </a:r>
            <a:r>
              <a:rPr spc="5" dirty="0"/>
              <a:t>g</a:t>
            </a:r>
            <a:r>
              <a:rPr spc="15" dirty="0"/>
              <a:t>o</a:t>
            </a:r>
            <a:r>
              <a:rPr dirty="0"/>
              <a:t>r</a:t>
            </a:r>
            <a:r>
              <a:rPr spc="10" dirty="0"/>
              <a:t>a c</a:t>
            </a:r>
            <a:r>
              <a:rPr spc="15" dirty="0"/>
              <a:t>om</a:t>
            </a:r>
            <a:r>
              <a:rPr dirty="0"/>
              <a:t> </a:t>
            </a:r>
            <a:r>
              <a:rPr spc="10" dirty="0"/>
              <a:t>o s</a:t>
            </a:r>
            <a:r>
              <a:rPr spc="15" dirty="0"/>
              <a:t>e</a:t>
            </a:r>
            <a:r>
              <a:rPr spc="5" dirty="0"/>
              <a:t>gui</a:t>
            </a:r>
            <a:r>
              <a:rPr spc="15" dirty="0"/>
              <a:t>n</a:t>
            </a:r>
            <a:r>
              <a:rPr dirty="0"/>
              <a:t>t</a:t>
            </a:r>
            <a:r>
              <a:rPr spc="10" dirty="0"/>
              <a:t>e </a:t>
            </a:r>
            <a:r>
              <a:rPr dirty="0"/>
              <a:t>“</a:t>
            </a:r>
            <a:r>
              <a:rPr spc="25" dirty="0"/>
              <a:t>M</a:t>
            </a:r>
            <a:r>
              <a:rPr spc="5" dirty="0"/>
              <a:t>e</a:t>
            </a:r>
            <a:r>
              <a:rPr spc="15" dirty="0"/>
              <a:t>n</a:t>
            </a:r>
            <a:r>
              <a:rPr spc="5" dirty="0"/>
              <a:t>u</a:t>
            </a:r>
            <a:r>
              <a:rPr spc="15" dirty="0"/>
              <a:t>”</a:t>
            </a:r>
            <a:r>
              <a:rPr spc="5" dirty="0"/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3855" y="3695641"/>
            <a:ext cx="7062470" cy="2695215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9710">
              <a:spcBef>
                <a:spcPts val="330"/>
              </a:spcBef>
            </a:pP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i="1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5934" indent="-361315">
              <a:spcBef>
                <a:spcPts val="20"/>
              </a:spcBef>
              <a:buFontTx/>
              <a:buAutoNum type="arabicParenR"/>
              <a:tabLst>
                <a:tab pos="496570" algn="l"/>
              </a:tabLst>
            </a:pP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spo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35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 marR="5499735">
              <a:lnSpc>
                <a:spcPct val="100800"/>
              </a:lnSpc>
              <a:buFontTx/>
              <a:buAutoNum type="arabicParenR"/>
              <a:tabLst>
                <a:tab pos="494665" algn="l"/>
                <a:tab pos="1532890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air 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u="heavy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u="heavy" spc="-5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92" y="6422989"/>
            <a:ext cx="9225915" cy="1116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só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0"/>
              </a:spcBef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0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031" y="1528338"/>
            <a:ext cx="8046084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8460">
              <a:lnSpc>
                <a:spcPts val="2270"/>
              </a:lnSpc>
            </a:pP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pl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bro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 p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 q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5017" y="3915709"/>
            <a:ext cx="166370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995" y="2406693"/>
            <a:ext cx="6451600" cy="20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dio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h&gt;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4666615">
              <a:tabLst>
                <a:tab pos="643255" algn="l"/>
              </a:tabLst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10 int	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AX]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X],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 marR="5080" indent="-635">
              <a:lnSpc>
                <a:spcPts val="1989"/>
              </a:lnSpc>
              <a:spcBef>
                <a:spcPts val="55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nDi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u="heavy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nh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lu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das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“%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,%d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369" y="4419192"/>
            <a:ext cx="2166620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5080" indent="-635">
              <a:spcBef>
                <a:spcPts val="10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290" y="4419730"/>
            <a:ext cx="3805554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9065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4691" y="5426211"/>
            <a:ext cx="116014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é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ad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.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3369" y="5426247"/>
            <a:ext cx="6071870" cy="153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o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ia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(a,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“r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be”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3027680">
              <a:lnSpc>
                <a:spcPct val="100200"/>
              </a:lnSpc>
              <a:spcBef>
                <a:spcPts val="5"/>
              </a:spcBef>
            </a:pP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 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4066" y="6936750"/>
            <a:ext cx="15176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425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935722"/>
            <a:ext cx="9124292" cy="3395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Até </a:t>
            </a:r>
            <a:r>
              <a:rPr sz="3400" spc="-6" dirty="0">
                <a:latin typeface="Arial"/>
                <a:cs typeface="Arial"/>
              </a:rPr>
              <a:t>agora vimos as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de dados  homogêneas: </a:t>
            </a:r>
            <a:r>
              <a:rPr sz="3400" b="1" spc="-17" dirty="0">
                <a:latin typeface="Arial"/>
                <a:cs typeface="Arial"/>
              </a:rPr>
              <a:t>vetores</a:t>
            </a:r>
            <a:r>
              <a:rPr sz="3400" spc="-17" dirty="0">
                <a:latin typeface="Arial"/>
                <a:cs typeface="Arial"/>
              </a:rPr>
              <a:t>, </a:t>
            </a:r>
            <a:r>
              <a:rPr sz="3400" b="1" spc="-6" dirty="0">
                <a:latin typeface="Arial"/>
                <a:cs typeface="Arial"/>
              </a:rPr>
              <a:t>matrizes </a:t>
            </a:r>
            <a:r>
              <a:rPr sz="3400" spc="-6" dirty="0">
                <a:latin typeface="Arial"/>
                <a:cs typeface="Arial"/>
              </a:rPr>
              <a:t>e</a:t>
            </a:r>
            <a:r>
              <a:rPr sz="3400" spc="103" dirty="0">
                <a:latin typeface="Arial"/>
                <a:cs typeface="Arial"/>
              </a:rPr>
              <a:t> </a:t>
            </a:r>
            <a:r>
              <a:rPr sz="3400" b="1" i="1" spc="-6" dirty="0">
                <a:latin typeface="Arial"/>
                <a:cs typeface="Arial"/>
              </a:rPr>
              <a:t>strings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193349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Nestas estruturas </a:t>
            </a:r>
            <a:r>
              <a:rPr sz="3400" spc="-6" dirty="0">
                <a:latin typeface="Arial"/>
                <a:cs typeface="Arial"/>
              </a:rPr>
              <a:t>todos os elementos da  </a:t>
            </a:r>
            <a:r>
              <a:rPr sz="3400" dirty="0">
                <a:latin typeface="Arial"/>
                <a:cs typeface="Arial"/>
              </a:rPr>
              <a:t>estrutura são de </a:t>
            </a:r>
            <a:r>
              <a:rPr sz="3400" spc="-6" dirty="0">
                <a:latin typeface="Arial"/>
                <a:cs typeface="Arial"/>
              </a:rPr>
              <a:t>tipos </a:t>
            </a:r>
            <a:r>
              <a:rPr sz="3400" dirty="0">
                <a:latin typeface="Arial"/>
                <a:cs typeface="Arial"/>
              </a:rPr>
              <a:t>de </a:t>
            </a:r>
            <a:r>
              <a:rPr sz="3400" spc="-6" dirty="0">
                <a:latin typeface="Arial"/>
                <a:cs typeface="Arial"/>
              </a:rPr>
              <a:t>dados</a:t>
            </a:r>
            <a:r>
              <a:rPr sz="3400" spc="-4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primitivos:  </a:t>
            </a:r>
            <a:r>
              <a:rPr sz="3400" b="1" dirty="0">
                <a:latin typeface="Arial"/>
                <a:cs typeface="Arial"/>
              </a:rPr>
              <a:t>inteiro, </a:t>
            </a:r>
            <a:r>
              <a:rPr sz="3400" b="1" spc="-6" dirty="0">
                <a:latin typeface="Arial"/>
                <a:cs typeface="Arial"/>
              </a:rPr>
              <a:t>real,</a:t>
            </a:r>
            <a:r>
              <a:rPr sz="3400" b="1" spc="-34" dirty="0">
                <a:latin typeface="Arial"/>
                <a:cs typeface="Arial"/>
              </a:rPr>
              <a:t> </a:t>
            </a:r>
            <a:r>
              <a:rPr sz="3400" b="1" spc="-11" dirty="0">
                <a:latin typeface="Arial"/>
                <a:cs typeface="Arial"/>
              </a:rPr>
              <a:t>caractere</a:t>
            </a:r>
            <a:r>
              <a:rPr sz="3400" spc="-11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49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1780552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86058"/>
            <a:ext cx="9426529" cy="5311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</a:t>
            </a:r>
            <a:r>
              <a:rPr sz="3400" dirty="0">
                <a:latin typeface="Arial"/>
                <a:cs typeface="Arial"/>
              </a:rPr>
              <a:t>em </a:t>
            </a:r>
            <a:r>
              <a:rPr sz="3400" spc="-6" dirty="0">
                <a:latin typeface="Arial"/>
                <a:cs typeface="Arial"/>
              </a:rPr>
              <a:t>muitos </a:t>
            </a:r>
            <a:r>
              <a:rPr sz="3400" dirty="0">
                <a:latin typeface="Arial"/>
                <a:cs typeface="Arial"/>
              </a:rPr>
              <a:t>casos, </a:t>
            </a:r>
            <a:r>
              <a:rPr sz="3400" spc="-6" dirty="0">
                <a:latin typeface="Arial"/>
                <a:cs typeface="Arial"/>
              </a:rPr>
              <a:t>necessitamos  armazenar conjuntos de informações  relacionadas, formados por diversos tipos de  </a:t>
            </a:r>
            <a:r>
              <a:rPr sz="3400" spc="-11" dirty="0">
                <a:latin typeface="Arial"/>
                <a:cs typeface="Arial"/>
              </a:rPr>
              <a:t>dados</a:t>
            </a:r>
            <a:r>
              <a:rPr sz="3400" spc="-3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11" dirty="0">
                <a:latin typeface="Arial"/>
                <a:cs typeface="Arial"/>
              </a:rPr>
              <a:t>Endereço;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pessoais de um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cliente;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de </a:t>
            </a:r>
            <a:r>
              <a:rPr sz="3400" dirty="0">
                <a:latin typeface="Arial"/>
                <a:cs typeface="Arial"/>
              </a:rPr>
              <a:t>um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produto.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50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326595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59890"/>
            <a:ext cx="9306971" cy="5248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784259" indent="-521391">
              <a:lnSpc>
                <a:spcPct val="900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Quando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determinada estrutura </a:t>
            </a:r>
            <a:r>
              <a:rPr sz="3400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dirty="0">
                <a:latin typeface="Arial"/>
                <a:cs typeface="Arial"/>
              </a:rPr>
              <a:t>for </a:t>
            </a:r>
            <a:r>
              <a:rPr sz="3400" spc="-6" dirty="0">
                <a:latin typeface="Arial"/>
                <a:cs typeface="Arial"/>
              </a:rPr>
              <a:t>composta </a:t>
            </a:r>
            <a:r>
              <a:rPr sz="3400" spc="-11" dirty="0">
                <a:latin typeface="Arial"/>
                <a:cs typeface="Arial"/>
              </a:rPr>
              <a:t>por </a:t>
            </a:r>
            <a:r>
              <a:rPr sz="3400" b="1" spc="-11" dirty="0">
                <a:latin typeface="Arial"/>
                <a:cs typeface="Arial"/>
              </a:rPr>
              <a:t>diversos </a:t>
            </a:r>
            <a:r>
              <a:rPr sz="3400" b="1" dirty="0">
                <a:latin typeface="Arial"/>
                <a:cs typeface="Arial"/>
              </a:rPr>
              <a:t>tipos  </a:t>
            </a:r>
            <a:r>
              <a:rPr sz="3400" b="1" spc="-6" dirty="0">
                <a:latin typeface="Arial"/>
                <a:cs typeface="Arial"/>
              </a:rPr>
              <a:t>diferentes, </a:t>
            </a:r>
            <a:r>
              <a:rPr sz="3400" spc="-6" dirty="0">
                <a:latin typeface="Arial"/>
                <a:cs typeface="Arial"/>
              </a:rPr>
              <a:t>primitivos </a:t>
            </a:r>
            <a:r>
              <a:rPr sz="3400" dirty="0">
                <a:latin typeface="Arial"/>
                <a:cs typeface="Arial"/>
              </a:rPr>
              <a:t>ou </a:t>
            </a:r>
            <a:r>
              <a:rPr sz="3400" spc="-11" dirty="0">
                <a:latin typeface="Arial"/>
                <a:cs typeface="Arial"/>
              </a:rPr>
              <a:t>não, </a:t>
            </a:r>
            <a:r>
              <a:rPr sz="3400" spc="-6" dirty="0">
                <a:latin typeface="Arial"/>
                <a:cs typeface="Arial"/>
              </a:rPr>
              <a:t>temos </a:t>
            </a:r>
            <a:r>
              <a:rPr sz="3400" dirty="0">
                <a:latin typeface="Arial"/>
                <a:cs typeface="Arial"/>
              </a:rPr>
              <a:t>um  </a:t>
            </a:r>
            <a:r>
              <a:rPr sz="3400" spc="-6" dirty="0">
                <a:latin typeface="Arial"/>
                <a:cs typeface="Arial"/>
              </a:rPr>
              <a:t>conjunto heterogêneo de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800">
              <a:latin typeface="Times New Roman"/>
              <a:cs typeface="Times New Roman"/>
            </a:endParaRPr>
          </a:p>
          <a:p>
            <a:pPr marL="535874" marR="5793" indent="-521391">
              <a:lnSpc>
                <a:spcPts val="3695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Essas </a:t>
            </a:r>
            <a:r>
              <a:rPr sz="3400" spc="-6" dirty="0">
                <a:latin typeface="Arial"/>
                <a:cs typeface="Arial"/>
              </a:rPr>
              <a:t>variáveis são chamadas de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b="1" u="heavy" spc="-17" dirty="0">
                <a:latin typeface="Arial"/>
                <a:cs typeface="Arial"/>
              </a:rPr>
              <a:t>variáveis  </a:t>
            </a:r>
            <a:r>
              <a:rPr sz="3400" b="1" u="heavy" dirty="0">
                <a:latin typeface="Arial"/>
                <a:cs typeface="Arial"/>
              </a:rPr>
              <a:t>compostas</a:t>
            </a:r>
            <a:r>
              <a:rPr sz="3400" b="1" u="heavy" spc="-86" dirty="0">
                <a:latin typeface="Arial"/>
                <a:cs typeface="Arial"/>
              </a:rPr>
              <a:t> </a:t>
            </a:r>
            <a:r>
              <a:rPr sz="3400" b="1" u="heavy" spc="-6" dirty="0">
                <a:latin typeface="Arial"/>
                <a:cs typeface="Arial"/>
              </a:rPr>
              <a:t>heterogêneas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spcBef>
                <a:spcPts val="6"/>
              </a:spcBef>
              <a:buClr>
                <a:srgbClr val="852B34"/>
              </a:buClr>
              <a:buFont typeface="Arial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marL="535874" indent="-521391">
              <a:lnSpc>
                <a:spcPts val="39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Estas </a:t>
            </a:r>
            <a:r>
              <a:rPr sz="3400" spc="-6" dirty="0">
                <a:latin typeface="Arial"/>
                <a:cs typeface="Arial"/>
              </a:rPr>
              <a:t>variáveis compostas são</a:t>
            </a:r>
            <a:r>
              <a:rPr sz="3400" spc="23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chamadas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00"/>
              </a:lnSpc>
            </a:pPr>
            <a:r>
              <a:rPr sz="3400" spc="-6" dirty="0">
                <a:latin typeface="Arial"/>
                <a:cs typeface="Arial"/>
              </a:rPr>
              <a:t>de </a:t>
            </a:r>
            <a:r>
              <a:rPr sz="3400" b="1" spc="-6" dirty="0">
                <a:solidFill>
                  <a:srgbClr val="FF0000"/>
                </a:solidFill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(ou </a:t>
            </a:r>
            <a:r>
              <a:rPr sz="3400" b="1" i="1" spc="-6" dirty="0">
                <a:solidFill>
                  <a:srgbClr val="FF0000"/>
                </a:solidFill>
                <a:latin typeface="Arial"/>
                <a:cs typeface="Arial"/>
              </a:rPr>
              <a:t>structs </a:t>
            </a:r>
            <a:r>
              <a:rPr sz="3400" dirty="0">
                <a:latin typeface="Arial"/>
                <a:cs typeface="Arial"/>
              </a:rPr>
              <a:t>na </a:t>
            </a:r>
            <a:r>
              <a:rPr sz="3400" spc="-6" dirty="0">
                <a:latin typeface="Arial"/>
                <a:cs typeface="Arial"/>
              </a:rPr>
              <a:t>linguagem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C).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51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Variáveis</a:t>
            </a:r>
            <a:r>
              <a:rPr spc="-103" dirty="0"/>
              <a:t> </a:t>
            </a:r>
            <a:r>
              <a:rPr dirty="0"/>
              <a:t>compostas</a:t>
            </a:r>
          </a:p>
        </p:txBody>
      </p:sp>
    </p:spTree>
    <p:extLst>
      <p:ext uri="{BB962C8B-B14F-4D97-AF65-F5344CB8AC3E}">
        <p14:creationId xmlns:p14="http://schemas.microsoft.com/office/powerpoint/2010/main" val="2685532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510072" y="4329594"/>
          <a:ext cx="3356539" cy="2762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6539"/>
              </a:tblGrid>
              <a:tr h="713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56515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713669">
                <a:tc>
                  <a:txBody>
                    <a:bodyPr/>
                    <a:lstStyle/>
                    <a:p>
                      <a:pPr marL="10223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sobrenome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71688"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salário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6329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cargo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4755593" y="4335191"/>
            <a:ext cx="549522" cy="2854678"/>
          </a:xfrm>
          <a:custGeom>
            <a:avLst/>
            <a:gdLst/>
            <a:ahLst/>
            <a:cxnLst/>
            <a:rect l="l" t="t" r="r" b="b"/>
            <a:pathLst>
              <a:path w="469900" h="2590800">
                <a:moveTo>
                  <a:pt x="469900" y="2590800"/>
                </a:moveTo>
                <a:lnTo>
                  <a:pt x="416017" y="2586699"/>
                </a:lnTo>
                <a:lnTo>
                  <a:pt x="366559" y="2575020"/>
                </a:lnTo>
                <a:lnTo>
                  <a:pt x="322936" y="2556692"/>
                </a:lnTo>
                <a:lnTo>
                  <a:pt x="286554" y="2532649"/>
                </a:lnTo>
                <a:lnTo>
                  <a:pt x="258824" y="2503822"/>
                </a:lnTo>
                <a:lnTo>
                  <a:pt x="234950" y="2435542"/>
                </a:lnTo>
                <a:lnTo>
                  <a:pt x="234950" y="1450593"/>
                </a:lnTo>
                <a:lnTo>
                  <a:pt x="228746" y="1415005"/>
                </a:lnTo>
                <a:lnTo>
                  <a:pt x="183345" y="1353522"/>
                </a:lnTo>
                <a:lnTo>
                  <a:pt x="146963" y="1329490"/>
                </a:lnTo>
                <a:lnTo>
                  <a:pt x="103340" y="1311171"/>
                </a:lnTo>
                <a:lnTo>
                  <a:pt x="53882" y="1299498"/>
                </a:lnTo>
                <a:lnTo>
                  <a:pt x="0" y="1295400"/>
                </a:lnTo>
                <a:lnTo>
                  <a:pt x="53882" y="1291301"/>
                </a:lnTo>
                <a:lnTo>
                  <a:pt x="103340" y="1279628"/>
                </a:lnTo>
                <a:lnTo>
                  <a:pt x="146963" y="1261309"/>
                </a:lnTo>
                <a:lnTo>
                  <a:pt x="183345" y="1237277"/>
                </a:lnTo>
                <a:lnTo>
                  <a:pt x="211075" y="1208462"/>
                </a:lnTo>
                <a:lnTo>
                  <a:pt x="234950" y="1140206"/>
                </a:lnTo>
                <a:lnTo>
                  <a:pt x="234950" y="155194"/>
                </a:lnTo>
                <a:lnTo>
                  <a:pt x="241153" y="119605"/>
                </a:lnTo>
                <a:lnTo>
                  <a:pt x="286554" y="58122"/>
                </a:lnTo>
                <a:lnTo>
                  <a:pt x="322936" y="34090"/>
                </a:lnTo>
                <a:lnTo>
                  <a:pt x="366559" y="15771"/>
                </a:lnTo>
                <a:lnTo>
                  <a:pt x="416017" y="4098"/>
                </a:lnTo>
                <a:lnTo>
                  <a:pt x="4699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5266" y="1281105"/>
            <a:ext cx="9283207" cy="4875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Uma estrutura </a:t>
            </a:r>
            <a:r>
              <a:rPr sz="3400" spc="-6" dirty="0">
                <a:latin typeface="Arial"/>
                <a:cs typeface="Arial"/>
              </a:rPr>
              <a:t>pode </a:t>
            </a:r>
            <a:r>
              <a:rPr sz="3400" dirty="0">
                <a:latin typeface="Arial"/>
                <a:cs typeface="Arial"/>
              </a:rPr>
              <a:t>ser </a:t>
            </a:r>
            <a:r>
              <a:rPr sz="3400" spc="-6" dirty="0">
                <a:latin typeface="Arial"/>
                <a:cs typeface="Arial"/>
              </a:rPr>
              <a:t>definida </a:t>
            </a:r>
            <a:r>
              <a:rPr sz="3400" dirty="0">
                <a:latin typeface="Arial"/>
                <a:cs typeface="Arial"/>
              </a:rPr>
              <a:t>como uma  </a:t>
            </a:r>
            <a:r>
              <a:rPr sz="3400" spc="-6" dirty="0">
                <a:latin typeface="Arial"/>
                <a:cs typeface="Arial"/>
              </a:rPr>
              <a:t>coleção de uma ou mais variáveis  relacionadas (campos), </a:t>
            </a:r>
            <a:r>
              <a:rPr sz="3400" b="1" dirty="0">
                <a:latin typeface="Arial"/>
                <a:cs typeface="Arial"/>
              </a:rPr>
              <a:t>onde </a:t>
            </a:r>
            <a:r>
              <a:rPr sz="3400" b="1" spc="-6" dirty="0">
                <a:latin typeface="Arial"/>
                <a:cs typeface="Arial"/>
              </a:rPr>
              <a:t>cada </a:t>
            </a:r>
            <a:r>
              <a:rPr sz="3400" b="1" spc="-23" dirty="0">
                <a:latin typeface="Arial"/>
                <a:cs typeface="Arial"/>
              </a:rPr>
              <a:t>variável  </a:t>
            </a:r>
            <a:r>
              <a:rPr sz="3400" b="1" dirty="0">
                <a:latin typeface="Arial"/>
                <a:cs typeface="Arial"/>
              </a:rPr>
              <a:t>pode </a:t>
            </a:r>
            <a:r>
              <a:rPr sz="3400" b="1" spc="-6" dirty="0">
                <a:latin typeface="Arial"/>
                <a:cs typeface="Arial"/>
              </a:rPr>
              <a:t>ser </a:t>
            </a:r>
            <a:r>
              <a:rPr sz="3400" b="1" dirty="0">
                <a:latin typeface="Arial"/>
                <a:cs typeface="Arial"/>
              </a:rPr>
              <a:t>de um tipo</a:t>
            </a:r>
            <a:r>
              <a:rPr sz="3400" b="1" spc="-40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distinto</a:t>
            </a:r>
            <a:r>
              <a:rPr sz="3400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  <a:p>
            <a:pPr marL="963849">
              <a:spcBef>
                <a:spcPts val="1983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empregado</a:t>
            </a:r>
            <a:endParaRPr sz="3600">
              <a:latin typeface="Arial"/>
              <a:cs typeface="Arial"/>
            </a:endParaRPr>
          </a:p>
          <a:p>
            <a:pPr marL="963849">
              <a:spcBef>
                <a:spcPts val="912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(4</a:t>
            </a:r>
            <a:r>
              <a:rPr sz="3600" spc="-91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campos)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52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Definição de</a:t>
            </a:r>
            <a:r>
              <a:rPr spc="-108" dirty="0"/>
              <a:t> </a:t>
            </a:r>
            <a:r>
              <a:rPr dirty="0"/>
              <a:t>estrutura</a:t>
            </a:r>
          </a:p>
        </p:txBody>
      </p:sp>
    </p:spTree>
    <p:extLst>
      <p:ext uri="{BB962C8B-B14F-4D97-AF65-F5344CB8AC3E}">
        <p14:creationId xmlns:p14="http://schemas.microsoft.com/office/powerpoint/2010/main" val="21599672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6692" y="2947035"/>
            <a:ext cx="6695257" cy="2723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29"/>
              </a:spcBef>
            </a:pPr>
            <a:endParaRPr sz="1200">
              <a:latin typeface="Times New Roman"/>
              <a:cs typeface="Times New Roman"/>
            </a:endParaRPr>
          </a:p>
          <a:p>
            <a:pPr marR="918951" algn="r"/>
            <a:r>
              <a:rPr sz="1100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38760"/>
            <a:ext cx="8630465" cy="1021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lnSpc>
                <a:spcPts val="3991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Sintaxe para definir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estrutura </a:t>
            </a:r>
            <a:r>
              <a:rPr sz="3400" dirty="0">
                <a:latin typeface="Arial"/>
                <a:cs typeface="Arial"/>
              </a:rPr>
              <a:t>com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n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91"/>
              </a:lnSpc>
            </a:pPr>
            <a:r>
              <a:rPr sz="3400" spc="-6" dirty="0">
                <a:latin typeface="Arial"/>
                <a:cs typeface="Arial"/>
              </a:rPr>
              <a:t>campos em</a:t>
            </a:r>
            <a:r>
              <a:rPr sz="3400" spc="-63" dirty="0">
                <a:latin typeface="Arial"/>
                <a:cs typeface="Arial"/>
              </a:rPr>
              <a:t> </a:t>
            </a:r>
            <a:r>
              <a:rPr sz="3400" spc="-17" dirty="0">
                <a:latin typeface="Arial"/>
                <a:cs typeface="Arial"/>
              </a:rPr>
              <a:t>C</a:t>
            </a:r>
            <a:r>
              <a:rPr sz="3400" spc="-17" dirty="0">
                <a:latin typeface="Courier New"/>
                <a:cs typeface="Courier New"/>
              </a:rPr>
              <a:t>: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40" dirty="0"/>
              <a:t> </a:t>
            </a:r>
            <a:r>
              <a:rPr spc="-6" dirty="0"/>
              <a:t>Definição</a:t>
            </a:r>
          </a:p>
        </p:txBody>
      </p:sp>
      <p:sp>
        <p:nvSpPr>
          <p:cNvPr id="5" name="object 5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00862" y="2963826"/>
            <a:ext cx="4039729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NomeDaEstrutura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9221" y="2963827"/>
            <a:ext cx="1901049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tipo1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tipo2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7901" y="3971780"/>
            <a:ext cx="4041956" cy="1049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identificador1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spc="-6" dirty="0">
                <a:latin typeface="Courier New"/>
                <a:cs typeface="Courier New"/>
              </a:rPr>
              <a:t>identificador2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9221" y="4979594"/>
            <a:ext cx="6179894" cy="1582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...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tipoN</a:t>
            </a:r>
            <a:r>
              <a:rPr sz="3400" spc="-91" dirty="0">
                <a:latin typeface="Courier New"/>
                <a:cs typeface="Courier New"/>
              </a:rPr>
              <a:t> </a:t>
            </a:r>
            <a:r>
              <a:rPr sz="3400" spc="-6" dirty="0">
                <a:latin typeface="Courier New"/>
                <a:cs typeface="Courier New"/>
              </a:rPr>
              <a:t>identificadorN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>
              <a:spcBef>
                <a:spcPts val="91"/>
              </a:spcBef>
            </a:pP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3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496567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433" y="1200643"/>
            <a:ext cx="9196324" cy="2854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70000"/>
              <a:buChar char="•"/>
              <a:tabLst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dessa forma, </a:t>
            </a:r>
            <a:r>
              <a:rPr sz="3400" dirty="0">
                <a:latin typeface="Arial"/>
                <a:cs typeface="Arial"/>
              </a:rPr>
              <a:t>é </a:t>
            </a:r>
            <a:r>
              <a:rPr sz="3400" spc="-6" dirty="0">
                <a:latin typeface="Arial"/>
                <a:cs typeface="Arial"/>
              </a:rPr>
              <a:t>necessário </a:t>
            </a:r>
            <a:r>
              <a:rPr sz="3400" spc="-11" dirty="0">
                <a:latin typeface="Arial"/>
                <a:cs typeface="Arial"/>
              </a:rPr>
              <a:t>usar  </a:t>
            </a:r>
            <a:r>
              <a:rPr sz="3400" spc="-6" dirty="0">
                <a:latin typeface="Arial"/>
                <a:cs typeface="Arial"/>
              </a:rPr>
              <a:t>a palavra-chave </a:t>
            </a:r>
            <a:r>
              <a:rPr sz="34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3400" b="1" spc="-113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3400" spc="-6" dirty="0">
                <a:latin typeface="Arial"/>
                <a:cs typeface="Arial"/>
              </a:rPr>
              <a:t>toda vez que uma  variável </a:t>
            </a:r>
            <a:r>
              <a:rPr sz="3400" dirty="0">
                <a:latin typeface="Arial"/>
                <a:cs typeface="Arial"/>
              </a:rPr>
              <a:t>é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declarada:</a:t>
            </a:r>
            <a:endParaRPr sz="3400">
              <a:latin typeface="Arial"/>
              <a:cs typeface="Arial"/>
            </a:endParaRPr>
          </a:p>
          <a:p>
            <a:pPr marL="569184">
              <a:spcBef>
                <a:spcPts val="1175"/>
              </a:spcBef>
            </a:pPr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2700" b="1" spc="-11" dirty="0">
                <a:latin typeface="Courier New"/>
                <a:cs typeface="Courier New"/>
              </a:rPr>
              <a:t>&lt;nomeEstrutura&gt; var1, </a:t>
            </a:r>
            <a:r>
              <a:rPr sz="2700" b="1" spc="-6" dirty="0">
                <a:latin typeface="Courier New"/>
                <a:cs typeface="Courier New"/>
              </a:rPr>
              <a:t>...,</a:t>
            </a:r>
            <a:r>
              <a:rPr sz="2700" b="1" spc="-23" dirty="0">
                <a:latin typeface="Courier New"/>
                <a:cs typeface="Courier New"/>
              </a:rPr>
              <a:t> </a:t>
            </a:r>
            <a:r>
              <a:rPr sz="2700" b="1" spc="-6" dirty="0">
                <a:latin typeface="Courier New"/>
                <a:cs typeface="Courier New"/>
              </a:rPr>
              <a:t>varN;</a:t>
            </a:r>
            <a:endParaRPr sz="2700">
              <a:latin typeface="Courier New"/>
              <a:cs typeface="Courier New"/>
            </a:endParaRPr>
          </a:p>
          <a:p>
            <a:pPr marL="535874" indent="-521391">
              <a:spcBef>
                <a:spcPts val="1471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38587" y="4241436"/>
            <a:ext cx="463529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Declaracao de</a:t>
            </a:r>
            <a:r>
              <a:rPr sz="23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54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538587" y="4577281"/>
            <a:ext cx="1069340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6596" y="4577281"/>
            <a:ext cx="303128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fulano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a2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a3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1518" y="4203652"/>
            <a:ext cx="4247656" cy="292457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209">
              <a:spcBef>
                <a:spcPts val="125"/>
              </a:spcBef>
            </a:pPr>
            <a:r>
              <a:rPr sz="2100" spc="-6" dirty="0">
                <a:solidFill>
                  <a:srgbClr val="7E7E7E"/>
                </a:solidFill>
                <a:latin typeface="Courier New"/>
                <a:cs typeface="Courier New"/>
              </a:rPr>
              <a:t>//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Definicao da</a:t>
            </a:r>
            <a:r>
              <a:rPr sz="2100" spc="-6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412768" marR="137082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740595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200643"/>
            <a:ext cx="8983199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Note que para variáveis </a:t>
            </a:r>
            <a:r>
              <a:rPr sz="3400" dirty="0">
                <a:latin typeface="Arial"/>
                <a:cs typeface="Arial"/>
              </a:rPr>
              <a:t>do </a:t>
            </a:r>
            <a:r>
              <a:rPr sz="3400" spc="-6" dirty="0">
                <a:latin typeface="Arial"/>
                <a:cs typeface="Arial"/>
              </a:rPr>
              <a:t>tipo estrutura </a:t>
            </a:r>
            <a:r>
              <a:rPr sz="3400" dirty="0">
                <a:latin typeface="Arial"/>
                <a:cs typeface="Arial"/>
              </a:rPr>
              <a:t>a  </a:t>
            </a:r>
            <a:r>
              <a:rPr sz="3400" spc="-6" dirty="0">
                <a:latin typeface="Arial"/>
                <a:cs typeface="Arial"/>
              </a:rPr>
              <a:t>palavra chave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3400" spc="-6" dirty="0">
                <a:latin typeface="Arial"/>
                <a:cs typeface="Arial"/>
              </a:rPr>
              <a:t>deve vir antes do  nome </a:t>
            </a:r>
            <a:r>
              <a:rPr sz="3400" dirty="0">
                <a:latin typeface="Arial"/>
                <a:cs typeface="Arial"/>
              </a:rPr>
              <a:t>da</a:t>
            </a:r>
            <a:r>
              <a:rPr sz="3400" spc="-11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estrutura.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5288570"/>
            <a:ext cx="7783904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Existe uma outra </a:t>
            </a:r>
            <a:r>
              <a:rPr sz="3400" spc="-11" dirty="0">
                <a:latin typeface="Arial"/>
                <a:cs typeface="Arial"/>
              </a:rPr>
              <a:t>possibilidade, </a:t>
            </a:r>
            <a:r>
              <a:rPr sz="3400" spc="-6" dirty="0">
                <a:latin typeface="Arial"/>
                <a:cs typeface="Arial"/>
              </a:rPr>
              <a:t>mais  simples, para </a:t>
            </a:r>
            <a:r>
              <a:rPr sz="3400" spc="-11" dirty="0">
                <a:latin typeface="Arial"/>
                <a:cs typeface="Arial"/>
              </a:rPr>
              <a:t>declarar </a:t>
            </a:r>
            <a:r>
              <a:rPr sz="3400" spc="-6" dirty="0">
                <a:latin typeface="Arial"/>
                <a:cs typeface="Arial"/>
              </a:rPr>
              <a:t>variáveis de  estruturas.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8345" y="3302470"/>
            <a:ext cx="4167456" cy="145812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037">
              <a:spcBef>
                <a:spcPts val="160"/>
              </a:spcBef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Tipos</a:t>
            </a:r>
            <a:r>
              <a:rPr sz="2300" spc="-10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primitivos</a:t>
            </a:r>
            <a:endParaRPr sz="2300">
              <a:latin typeface="Courier New"/>
              <a:cs typeface="Courier New"/>
            </a:endParaRPr>
          </a:p>
          <a:p>
            <a:pPr marL="97037" marR="151130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valor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dirty="0">
                <a:latin typeface="Courier New"/>
                <a:cs typeface="Courier New"/>
              </a:rPr>
              <a:t>z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letra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13534" y="3296873"/>
          <a:ext cx="4547663" cy="14581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9973"/>
                <a:gridCol w="2187690"/>
              </a:tblGrid>
              <a:tr h="731861"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// Variaveis</a:t>
                      </a:r>
                      <a:r>
                        <a:rPr sz="2200" spc="-8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estruturas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fulano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0246">
                <a:tc>
                  <a:txBody>
                    <a:bodyPr/>
                    <a:lstStyle/>
                    <a:p>
                      <a:pPr marL="78740">
                        <a:lnSpc>
                          <a:spcPts val="2045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2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27940">
                      <a:solidFill>
                        <a:srgbClr val="FF0000"/>
                      </a:solidFill>
                      <a:prstDash val="solid"/>
                    </a:lnR>
                    <a:lnB w="27940">
                      <a:solidFill>
                        <a:srgbClr val="FF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2155"/>
                        </a:lnSpc>
                      </a:pPr>
                      <a:r>
                        <a:rPr sz="2200" spc="-5" dirty="0">
                          <a:latin typeface="Courier New"/>
                          <a:cs typeface="Courier New"/>
                        </a:rPr>
                        <a:t>a1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200" spc="-8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96015">
                <a:tc gridSpan="2">
                  <a:txBody>
                    <a:bodyPr/>
                    <a:lstStyle/>
                    <a:p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4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163277" y="2188306"/>
            <a:ext cx="557689" cy="1591063"/>
          </a:xfrm>
          <a:custGeom>
            <a:avLst/>
            <a:gdLst/>
            <a:ahLst/>
            <a:cxnLst/>
            <a:rect l="l" t="t" r="r" b="b"/>
            <a:pathLst>
              <a:path w="476885" h="1443989">
                <a:moveTo>
                  <a:pt x="371602" y="1335786"/>
                </a:moveTo>
                <a:lnTo>
                  <a:pt x="362839" y="1336039"/>
                </a:lnTo>
                <a:lnTo>
                  <a:pt x="352298" y="1347343"/>
                </a:lnTo>
                <a:lnTo>
                  <a:pt x="352552" y="1356233"/>
                </a:lnTo>
                <a:lnTo>
                  <a:pt x="358267" y="1361439"/>
                </a:lnTo>
                <a:lnTo>
                  <a:pt x="446786" y="1443989"/>
                </a:lnTo>
                <a:lnTo>
                  <a:pt x="452175" y="1421511"/>
                </a:lnTo>
                <a:lnTo>
                  <a:pt x="425323" y="1421511"/>
                </a:lnTo>
                <a:lnTo>
                  <a:pt x="410360" y="1371790"/>
                </a:lnTo>
                <a:lnTo>
                  <a:pt x="377317" y="1340993"/>
                </a:lnTo>
                <a:lnTo>
                  <a:pt x="371602" y="1335786"/>
                </a:lnTo>
                <a:close/>
              </a:path>
              <a:path w="476885" h="1443989">
                <a:moveTo>
                  <a:pt x="410360" y="1371790"/>
                </a:moveTo>
                <a:lnTo>
                  <a:pt x="425323" y="1421511"/>
                </a:lnTo>
                <a:lnTo>
                  <a:pt x="449607" y="1414145"/>
                </a:lnTo>
                <a:lnTo>
                  <a:pt x="425196" y="1414145"/>
                </a:lnTo>
                <a:lnTo>
                  <a:pt x="430782" y="1390824"/>
                </a:lnTo>
                <a:lnTo>
                  <a:pt x="410360" y="1371790"/>
                </a:lnTo>
                <a:close/>
              </a:path>
              <a:path w="476885" h="1443989">
                <a:moveTo>
                  <a:pt x="457200" y="1307719"/>
                </a:moveTo>
                <a:lnTo>
                  <a:pt x="449580" y="1312290"/>
                </a:lnTo>
                <a:lnTo>
                  <a:pt x="437229" y="1363915"/>
                </a:lnTo>
                <a:lnTo>
                  <a:pt x="452120" y="1413383"/>
                </a:lnTo>
                <a:lnTo>
                  <a:pt x="425323" y="1421511"/>
                </a:lnTo>
                <a:lnTo>
                  <a:pt x="452175" y="1421511"/>
                </a:lnTo>
                <a:lnTo>
                  <a:pt x="474980" y="1326388"/>
                </a:lnTo>
                <a:lnTo>
                  <a:pt x="476758" y="1318895"/>
                </a:lnTo>
                <a:lnTo>
                  <a:pt x="472186" y="1311275"/>
                </a:lnTo>
                <a:lnTo>
                  <a:pt x="457200" y="1307719"/>
                </a:lnTo>
                <a:close/>
              </a:path>
              <a:path w="476885" h="1443989">
                <a:moveTo>
                  <a:pt x="430782" y="1390824"/>
                </a:moveTo>
                <a:lnTo>
                  <a:pt x="425196" y="1414145"/>
                </a:lnTo>
                <a:lnTo>
                  <a:pt x="448310" y="1407160"/>
                </a:lnTo>
                <a:lnTo>
                  <a:pt x="430782" y="1390824"/>
                </a:lnTo>
                <a:close/>
              </a:path>
              <a:path w="476885" h="1443989">
                <a:moveTo>
                  <a:pt x="437229" y="1363915"/>
                </a:moveTo>
                <a:lnTo>
                  <a:pt x="430782" y="1390824"/>
                </a:lnTo>
                <a:lnTo>
                  <a:pt x="448310" y="1407160"/>
                </a:lnTo>
                <a:lnTo>
                  <a:pt x="425196" y="1414145"/>
                </a:lnTo>
                <a:lnTo>
                  <a:pt x="449607" y="1414145"/>
                </a:lnTo>
                <a:lnTo>
                  <a:pt x="452120" y="1413383"/>
                </a:lnTo>
                <a:lnTo>
                  <a:pt x="437229" y="1363915"/>
                </a:lnTo>
                <a:close/>
              </a:path>
              <a:path w="476885" h="1443989">
                <a:moveTo>
                  <a:pt x="26670" y="0"/>
                </a:moveTo>
                <a:lnTo>
                  <a:pt x="0" y="8127"/>
                </a:lnTo>
                <a:lnTo>
                  <a:pt x="410360" y="1371790"/>
                </a:lnTo>
                <a:lnTo>
                  <a:pt x="430782" y="1390824"/>
                </a:lnTo>
                <a:lnTo>
                  <a:pt x="437229" y="1363915"/>
                </a:lnTo>
                <a:lnTo>
                  <a:pt x="26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45997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9878" y="3105442"/>
            <a:ext cx="68630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993300"/>
                </a:solidFill>
                <a:latin typeface="Courier New"/>
                <a:cs typeface="Courier New"/>
              </a:rPr>
              <a:t>&lt;nomeAntigo&gt;</a:t>
            </a:r>
            <a:r>
              <a:rPr sz="2700" b="1" spc="-34" dirty="0">
                <a:solidFill>
                  <a:srgbClr val="993300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FF0000"/>
                </a:solidFill>
                <a:latin typeface="Courier New"/>
                <a:cs typeface="Courier New"/>
              </a:rPr>
              <a:t>&lt;nomeNovo&gt;;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96441"/>
            <a:ext cx="9191126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O </a:t>
            </a:r>
            <a:r>
              <a:rPr sz="3400" spc="-11" dirty="0">
                <a:latin typeface="Arial"/>
                <a:cs typeface="Arial"/>
              </a:rPr>
              <a:t>comando </a:t>
            </a:r>
            <a:r>
              <a:rPr sz="3400" b="1" spc="-6" dirty="0"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 </a:t>
            </a:r>
            <a:r>
              <a:rPr sz="3400" spc="-11" dirty="0">
                <a:latin typeface="Arial"/>
                <a:cs typeface="Arial"/>
              </a:rPr>
              <a:t>pode </a:t>
            </a:r>
            <a:r>
              <a:rPr sz="3400" spc="-6" dirty="0">
                <a:latin typeface="Arial"/>
                <a:cs typeface="Arial"/>
              </a:rPr>
              <a:t>ser </a:t>
            </a:r>
            <a:r>
              <a:rPr sz="3400" spc="-11" dirty="0">
                <a:latin typeface="Arial"/>
                <a:cs typeface="Arial"/>
              </a:rPr>
              <a:t>usado </a:t>
            </a:r>
            <a:r>
              <a:rPr sz="3400" spc="-6" dirty="0">
                <a:latin typeface="Arial"/>
                <a:cs typeface="Arial"/>
              </a:rPr>
              <a:t>para  </a:t>
            </a:r>
            <a:r>
              <a:rPr sz="3400" spc="-11" dirty="0">
                <a:latin typeface="Arial"/>
                <a:cs typeface="Arial"/>
              </a:rPr>
              <a:t>dar </a:t>
            </a:r>
            <a:r>
              <a:rPr sz="3400" spc="-6" dirty="0">
                <a:latin typeface="Arial"/>
                <a:cs typeface="Arial"/>
              </a:rPr>
              <a:t>um novo nome para </a:t>
            </a:r>
            <a:r>
              <a:rPr sz="3400" spc="-11" dirty="0">
                <a:latin typeface="Arial"/>
                <a:cs typeface="Arial"/>
              </a:rPr>
              <a:t>algum </a:t>
            </a:r>
            <a:r>
              <a:rPr sz="3400" spc="-6" dirty="0">
                <a:latin typeface="Arial"/>
                <a:cs typeface="Arial"/>
              </a:rPr>
              <a:t>tipo </a:t>
            </a:r>
            <a:r>
              <a:rPr sz="3400" spc="-17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66" y="3062482"/>
            <a:ext cx="147925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Us</a:t>
            </a:r>
            <a:r>
              <a:rPr sz="3400" spc="-23" dirty="0">
                <a:latin typeface="Arial"/>
                <a:cs typeface="Arial"/>
              </a:rPr>
              <a:t>o</a:t>
            </a:r>
            <a:r>
              <a:rPr sz="3400" dirty="0">
                <a:latin typeface="Arial"/>
                <a:cs typeface="Arial"/>
              </a:rPr>
              <a:t>: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66" y="3678475"/>
            <a:ext cx="263770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66" y="5526459"/>
            <a:ext cx="471623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Declarando</a:t>
            </a:r>
            <a:r>
              <a:rPr sz="3400" spc="-9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variáveis</a:t>
            </a:r>
            <a:endParaRPr sz="3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Comando</a:t>
            </a:r>
            <a:r>
              <a:rPr spc="-125" dirty="0"/>
              <a:t> </a:t>
            </a:r>
            <a:r>
              <a:rPr spc="-6" dirty="0">
                <a:latin typeface="Courier New"/>
                <a:cs typeface="Courier New"/>
              </a:rPr>
              <a:t>typedef</a:t>
            </a:r>
          </a:p>
        </p:txBody>
      </p:sp>
      <p:sp>
        <p:nvSpPr>
          <p:cNvPr id="8" name="object 8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83319" y="4572102"/>
            <a:ext cx="2139423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Inteiro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56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3457235" y="4572102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2957" y="4908227"/>
            <a:ext cx="89185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Rea</a:t>
            </a:r>
            <a:r>
              <a:rPr sz="2300" dirty="0">
                <a:latin typeface="Courier New"/>
                <a:cs typeface="Courier New"/>
              </a:rPr>
              <a:t>l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0599" y="6397837"/>
            <a:ext cx="3995173" cy="66241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7761">
              <a:spcBef>
                <a:spcPts val="125"/>
              </a:spcBef>
              <a:tabLst>
                <a:tab pos="1346202" algn="l"/>
              </a:tabLst>
            </a:pPr>
            <a:r>
              <a:rPr sz="2100" spc="-11" dirty="0">
                <a:latin typeface="Courier New"/>
                <a:cs typeface="Courier New"/>
              </a:rPr>
              <a:t>Inteiro	</a:t>
            </a:r>
            <a:r>
              <a:rPr sz="2100" spc="-6" dirty="0">
                <a:latin typeface="Courier New"/>
                <a:cs typeface="Courier New"/>
              </a:rPr>
              <a:t>n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100" spc="-6" dirty="0">
                <a:latin typeface="Courier New"/>
                <a:cs typeface="Courier New"/>
              </a:rPr>
              <a:t>Real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x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246830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158551"/>
            <a:ext cx="9043349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Assim, com o </a:t>
            </a:r>
            <a:r>
              <a:rPr sz="3400" spc="-6" dirty="0">
                <a:latin typeface="Arial"/>
                <a:cs typeface="Arial"/>
              </a:rPr>
              <a:t>comando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pode-se  definir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e declarar variáveis da  seguinte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forma: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1107" y="4256828"/>
          <a:ext cx="9719111" cy="3229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2671"/>
                <a:gridCol w="1102013"/>
                <a:gridCol w="5474427"/>
              </a:tblGrid>
              <a:tr h="1502904"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0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Definicao da</a:t>
                      </a:r>
                      <a:r>
                        <a:rPr sz="2000" spc="-5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estrutura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est_Aluno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100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ts val="206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matricula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57371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cidade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50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sexo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400" spc="-1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ef </a:t>
                      </a:r>
                      <a:r>
                        <a:rPr sz="2400" b="1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est_Aluno</a:t>
                      </a:r>
                      <a:r>
                        <a:rPr sz="24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claracao </a:t>
                      </a:r>
                      <a:r>
                        <a:rPr sz="2400" spc="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r>
                        <a:rPr sz="24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variaveis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369429"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ts val="108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Aluno a1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400" spc="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985592" y="2996711"/>
            <a:ext cx="130845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spc="-6" dirty="0">
                <a:latin typeface="Courier New"/>
                <a:cs typeface="Courier New"/>
              </a:rPr>
              <a:t>l</a:t>
            </a:r>
            <a:r>
              <a:rPr sz="2700" spc="-23" dirty="0">
                <a:latin typeface="Courier New"/>
                <a:cs typeface="Courier New"/>
              </a:rPr>
              <a:t>u</a:t>
            </a:r>
            <a:r>
              <a:rPr sz="2700" spc="-6" dirty="0">
                <a:latin typeface="Courier New"/>
                <a:cs typeface="Courier New"/>
              </a:rPr>
              <a:t>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27476" y="3007206"/>
            <a:ext cx="1027755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266" y="2996711"/>
            <a:ext cx="7250719" cy="1338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2734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est_Aluno</a:t>
            </a:r>
            <a:endParaRPr sz="2700" dirty="0">
              <a:latin typeface="Courier New"/>
              <a:cs typeface="Courier New"/>
            </a:endParaRPr>
          </a:p>
          <a:p>
            <a:pPr marL="535874" indent="-521391">
              <a:spcBef>
                <a:spcPts val="331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</a:t>
            </a:r>
            <a:endParaRPr sz="3400" dirty="0">
              <a:latin typeface="Arial"/>
              <a:cs typeface="Arial"/>
            </a:endParaRPr>
          </a:p>
          <a:p>
            <a:pPr marR="469976" algn="r">
              <a:spcBef>
                <a:spcPts val="336"/>
              </a:spcBef>
            </a:pPr>
            <a:r>
              <a:rPr sz="2100" dirty="0">
                <a:latin typeface="Arial"/>
                <a:cs typeface="Arial"/>
              </a:rPr>
              <a:t>Nome</a:t>
            </a:r>
            <a:r>
              <a:rPr sz="2100" spc="-97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antigo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2878" y="3985635"/>
            <a:ext cx="1396083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latin typeface="Arial"/>
                <a:cs typeface="Arial"/>
              </a:rPr>
              <a:t>Nome</a:t>
            </a:r>
            <a:r>
              <a:rPr sz="2100" spc="-108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novo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8617" y="3530147"/>
            <a:ext cx="677249" cy="455488"/>
          </a:xfrm>
          <a:custGeom>
            <a:avLst/>
            <a:gdLst/>
            <a:ahLst/>
            <a:cxnLst/>
            <a:rect l="l" t="t" r="r" b="b"/>
            <a:pathLst>
              <a:path w="579120" h="413385">
                <a:moveTo>
                  <a:pt x="545985" y="23224"/>
                </a:moveTo>
                <a:lnTo>
                  <a:pt x="525981" y="24958"/>
                </a:lnTo>
                <a:lnTo>
                  <a:pt x="0" y="396493"/>
                </a:lnTo>
                <a:lnTo>
                  <a:pt x="11683" y="413130"/>
                </a:lnTo>
                <a:lnTo>
                  <a:pt x="537588" y="41649"/>
                </a:lnTo>
                <a:lnTo>
                  <a:pt x="545985" y="23224"/>
                </a:lnTo>
                <a:close/>
              </a:path>
              <a:path w="579120" h="413385">
                <a:moveTo>
                  <a:pt x="577488" y="3301"/>
                </a:moveTo>
                <a:lnTo>
                  <a:pt x="556640" y="3301"/>
                </a:lnTo>
                <a:lnTo>
                  <a:pt x="568325" y="19938"/>
                </a:lnTo>
                <a:lnTo>
                  <a:pt x="537588" y="41649"/>
                </a:lnTo>
                <a:lnTo>
                  <a:pt x="516636" y="87629"/>
                </a:lnTo>
                <a:lnTo>
                  <a:pt x="514350" y="92709"/>
                </a:lnTo>
                <a:lnTo>
                  <a:pt x="516636" y="98805"/>
                </a:lnTo>
                <a:lnTo>
                  <a:pt x="521715" y="101091"/>
                </a:lnTo>
                <a:lnTo>
                  <a:pt x="526795" y="103504"/>
                </a:lnTo>
                <a:lnTo>
                  <a:pt x="532764" y="101218"/>
                </a:lnTo>
                <a:lnTo>
                  <a:pt x="535177" y="96138"/>
                </a:lnTo>
                <a:lnTo>
                  <a:pt x="577488" y="3301"/>
                </a:lnTo>
                <a:close/>
              </a:path>
              <a:path w="579120" h="413385">
                <a:moveTo>
                  <a:pt x="559495" y="7365"/>
                </a:moveTo>
                <a:lnTo>
                  <a:pt x="553212" y="7365"/>
                </a:lnTo>
                <a:lnTo>
                  <a:pt x="563371" y="21716"/>
                </a:lnTo>
                <a:lnTo>
                  <a:pt x="545985" y="23224"/>
                </a:lnTo>
                <a:lnTo>
                  <a:pt x="537588" y="41649"/>
                </a:lnTo>
                <a:lnTo>
                  <a:pt x="568325" y="19938"/>
                </a:lnTo>
                <a:lnTo>
                  <a:pt x="559495" y="7365"/>
                </a:lnTo>
                <a:close/>
              </a:path>
              <a:path w="579120" h="413385">
                <a:moveTo>
                  <a:pt x="578992" y="0"/>
                </a:moveTo>
                <a:lnTo>
                  <a:pt x="468121" y="9651"/>
                </a:lnTo>
                <a:lnTo>
                  <a:pt x="464057" y="14604"/>
                </a:lnTo>
                <a:lnTo>
                  <a:pt x="464438" y="20192"/>
                </a:lnTo>
                <a:lnTo>
                  <a:pt x="464946" y="25780"/>
                </a:lnTo>
                <a:lnTo>
                  <a:pt x="469900" y="29844"/>
                </a:lnTo>
                <a:lnTo>
                  <a:pt x="525981" y="24958"/>
                </a:lnTo>
                <a:lnTo>
                  <a:pt x="556640" y="3301"/>
                </a:lnTo>
                <a:lnTo>
                  <a:pt x="577488" y="3301"/>
                </a:lnTo>
                <a:lnTo>
                  <a:pt x="578992" y="0"/>
                </a:lnTo>
                <a:close/>
              </a:path>
              <a:path w="579120" h="413385">
                <a:moveTo>
                  <a:pt x="556640" y="3301"/>
                </a:moveTo>
                <a:lnTo>
                  <a:pt x="525981" y="24958"/>
                </a:lnTo>
                <a:lnTo>
                  <a:pt x="545985" y="23224"/>
                </a:lnTo>
                <a:lnTo>
                  <a:pt x="553212" y="7365"/>
                </a:lnTo>
                <a:lnTo>
                  <a:pt x="559495" y="7365"/>
                </a:lnTo>
                <a:lnTo>
                  <a:pt x="556640" y="3301"/>
                </a:lnTo>
                <a:close/>
              </a:path>
              <a:path w="579120" h="413385">
                <a:moveTo>
                  <a:pt x="553212" y="7365"/>
                </a:moveTo>
                <a:lnTo>
                  <a:pt x="545985" y="23224"/>
                </a:lnTo>
                <a:lnTo>
                  <a:pt x="563371" y="21716"/>
                </a:lnTo>
                <a:lnTo>
                  <a:pt x="553212" y="7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9467" y="3518476"/>
            <a:ext cx="681704" cy="488374"/>
          </a:xfrm>
          <a:custGeom>
            <a:avLst/>
            <a:gdLst/>
            <a:ahLst/>
            <a:cxnLst/>
            <a:rect l="l" t="t" r="r" b="b"/>
            <a:pathLst>
              <a:path w="582929" h="443229">
                <a:moveTo>
                  <a:pt x="32108" y="24274"/>
                </a:moveTo>
                <a:lnTo>
                  <a:pt x="39872" y="42815"/>
                </a:lnTo>
                <a:lnTo>
                  <a:pt x="570102" y="443102"/>
                </a:lnTo>
                <a:lnTo>
                  <a:pt x="582421" y="426847"/>
                </a:lnTo>
                <a:lnTo>
                  <a:pt x="52162" y="26658"/>
                </a:lnTo>
                <a:lnTo>
                  <a:pt x="32108" y="24274"/>
                </a:lnTo>
                <a:close/>
              </a:path>
              <a:path w="582929" h="443229">
                <a:moveTo>
                  <a:pt x="0" y="0"/>
                </a:moveTo>
                <a:lnTo>
                  <a:pt x="40766" y="97409"/>
                </a:lnTo>
                <a:lnTo>
                  <a:pt x="42925" y="102615"/>
                </a:lnTo>
                <a:lnTo>
                  <a:pt x="48894" y="105029"/>
                </a:lnTo>
                <a:lnTo>
                  <a:pt x="53975" y="102870"/>
                </a:lnTo>
                <a:lnTo>
                  <a:pt x="59181" y="100711"/>
                </a:lnTo>
                <a:lnTo>
                  <a:pt x="61594" y="94742"/>
                </a:lnTo>
                <a:lnTo>
                  <a:pt x="59435" y="89535"/>
                </a:lnTo>
                <a:lnTo>
                  <a:pt x="39872" y="42815"/>
                </a:lnTo>
                <a:lnTo>
                  <a:pt x="9905" y="20193"/>
                </a:lnTo>
                <a:lnTo>
                  <a:pt x="22225" y="4063"/>
                </a:lnTo>
                <a:lnTo>
                  <a:pt x="34253" y="4063"/>
                </a:lnTo>
                <a:lnTo>
                  <a:pt x="0" y="0"/>
                </a:lnTo>
                <a:close/>
              </a:path>
              <a:path w="582929" h="443229">
                <a:moveTo>
                  <a:pt x="22225" y="4063"/>
                </a:moveTo>
                <a:lnTo>
                  <a:pt x="9905" y="20193"/>
                </a:lnTo>
                <a:lnTo>
                  <a:pt x="39872" y="42815"/>
                </a:lnTo>
                <a:lnTo>
                  <a:pt x="32108" y="24274"/>
                </a:lnTo>
                <a:lnTo>
                  <a:pt x="14858" y="22225"/>
                </a:lnTo>
                <a:lnTo>
                  <a:pt x="25400" y="8255"/>
                </a:lnTo>
                <a:lnTo>
                  <a:pt x="27778" y="8255"/>
                </a:lnTo>
                <a:lnTo>
                  <a:pt x="22225" y="4063"/>
                </a:lnTo>
                <a:close/>
              </a:path>
              <a:path w="582929" h="443229">
                <a:moveTo>
                  <a:pt x="34253" y="4063"/>
                </a:moveTo>
                <a:lnTo>
                  <a:pt x="22225" y="4063"/>
                </a:lnTo>
                <a:lnTo>
                  <a:pt x="52162" y="26658"/>
                </a:lnTo>
                <a:lnTo>
                  <a:pt x="108076" y="33274"/>
                </a:lnTo>
                <a:lnTo>
                  <a:pt x="113029" y="29337"/>
                </a:lnTo>
                <a:lnTo>
                  <a:pt x="113791" y="23749"/>
                </a:lnTo>
                <a:lnTo>
                  <a:pt x="114426" y="18161"/>
                </a:lnTo>
                <a:lnTo>
                  <a:pt x="110489" y="13081"/>
                </a:lnTo>
                <a:lnTo>
                  <a:pt x="34253" y="4063"/>
                </a:lnTo>
                <a:close/>
              </a:path>
              <a:path w="582929" h="443229">
                <a:moveTo>
                  <a:pt x="27778" y="8255"/>
                </a:moveTo>
                <a:lnTo>
                  <a:pt x="25400" y="8255"/>
                </a:lnTo>
                <a:lnTo>
                  <a:pt x="32108" y="24274"/>
                </a:lnTo>
                <a:lnTo>
                  <a:pt x="52162" y="26658"/>
                </a:lnTo>
                <a:lnTo>
                  <a:pt x="27778" y="8255"/>
                </a:lnTo>
                <a:close/>
              </a:path>
              <a:path w="582929" h="443229">
                <a:moveTo>
                  <a:pt x="25400" y="8255"/>
                </a:moveTo>
                <a:lnTo>
                  <a:pt x="14858" y="22225"/>
                </a:lnTo>
                <a:lnTo>
                  <a:pt x="32108" y="24274"/>
                </a:lnTo>
                <a:lnTo>
                  <a:pt x="25400" y="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57</a:t>
            </a:fld>
            <a:endParaRPr dirty="0"/>
          </a:p>
        </p:txBody>
      </p:sp>
      <p:sp>
        <p:nvSpPr>
          <p:cNvPr id="12" name="object 6"/>
          <p:cNvSpPr/>
          <p:nvPr/>
        </p:nvSpPr>
        <p:spPr>
          <a:xfrm>
            <a:off x="5660669" y="3053386"/>
            <a:ext cx="1972031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58506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266" y="1042237"/>
            <a:ext cx="9400538" cy="1203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 </a:t>
            </a:r>
            <a:r>
              <a:rPr sz="3400" spc="-6" dirty="0">
                <a:latin typeface="Arial"/>
                <a:cs typeface="Arial"/>
              </a:rPr>
              <a:t>seguinte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também pode </a:t>
            </a:r>
            <a:r>
              <a:rPr sz="3400" dirty="0">
                <a:latin typeface="Arial"/>
                <a:cs typeface="Arial"/>
              </a:rPr>
              <a:t>ser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utilizada:</a:t>
            </a:r>
            <a:endParaRPr sz="3400">
              <a:latin typeface="Arial"/>
              <a:cs typeface="Arial"/>
            </a:endParaRPr>
          </a:p>
          <a:p>
            <a:pPr marL="1588070">
              <a:spcBef>
                <a:spcPts val="2121"/>
              </a:spcBef>
            </a:pP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 Definicao </a:t>
            </a:r>
            <a:r>
              <a:rPr sz="2700" spc="-17" dirty="0">
                <a:solidFill>
                  <a:srgbClr val="7E7E7E"/>
                </a:solidFill>
                <a:latin typeface="Courier New"/>
                <a:cs typeface="Courier New"/>
              </a:rPr>
              <a:t>da</a:t>
            </a:r>
            <a:r>
              <a:rPr sz="27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950321" y="2209857"/>
            <a:ext cx="13106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8931" y="2209857"/>
            <a:ext cx="1526780" cy="1245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6453" y="3016302"/>
            <a:ext cx="216318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8931" y="3419317"/>
            <a:ext cx="3874130" cy="2077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596">
              <a:tabLst>
                <a:tab pos="126582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700" spc="-11" dirty="0">
                <a:latin typeface="Courier New"/>
                <a:cs typeface="Courier New"/>
              </a:rPr>
              <a:t>matricula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idade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cidade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sexo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8931" y="5838445"/>
            <a:ext cx="280776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2700" spc="-6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solidFill>
                  <a:srgbClr val="7E7E7E"/>
                </a:solidFill>
                <a:latin typeface="Courier New"/>
                <a:cs typeface="Courier New"/>
              </a:rPr>
              <a:t>Declaracao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8930" y="6249855"/>
            <a:ext cx="280850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Aluno a1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7885" y="5838445"/>
            <a:ext cx="2596862" cy="850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de</a:t>
            </a:r>
            <a:r>
              <a:rPr sz="2700" spc="-10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700">
              <a:latin typeface="Courier New"/>
              <a:cs typeface="Courier New"/>
            </a:endParaRPr>
          </a:p>
          <a:p>
            <a:pPr marL="14483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a3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4918" y="6846678"/>
            <a:ext cx="7966583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dirty="0">
                <a:latin typeface="Arial"/>
                <a:cs typeface="Arial"/>
              </a:rPr>
              <a:t>Esta </a:t>
            </a:r>
            <a:r>
              <a:rPr sz="3400" spc="-6" dirty="0">
                <a:latin typeface="Arial"/>
                <a:cs typeface="Arial"/>
              </a:rPr>
              <a:t>será a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adotada na</a:t>
            </a:r>
            <a:r>
              <a:rPr sz="3400" spc="-8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disciplina.</a:t>
            </a:r>
            <a:endParaRPr sz="3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0239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971"/>
            <a:r>
              <a:rPr dirty="0"/>
              <a:t>Definição e</a:t>
            </a:r>
            <a:r>
              <a:rPr spc="-80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6366" y="1542086"/>
            <a:ext cx="2600575" cy="2785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 marR="144831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matricula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idade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cidade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sexo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6366" y="5036266"/>
            <a:ext cx="2742412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45545" algn="ctr"/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latin typeface="Courier New"/>
                <a:cs typeface="Courier New"/>
              </a:rPr>
              <a:t>Aluno a1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a3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processamento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6366" y="6920494"/>
            <a:ext cx="17302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838" y="1529911"/>
            <a:ext cx="5216003" cy="616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</a:t>
            </a:r>
            <a:endParaRPr sz="3200">
              <a:latin typeface="Arial"/>
              <a:cs typeface="Arial"/>
            </a:endParaRPr>
          </a:p>
          <a:p>
            <a:pPr marL="465631" marR="5793"/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deve  ficar </a:t>
            </a:r>
            <a:r>
              <a:rPr sz="3200" b="1" spc="-6" dirty="0">
                <a:latin typeface="Arial"/>
                <a:cs typeface="Arial"/>
              </a:rPr>
              <a:t>fora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programa  principal (</a:t>
            </a:r>
            <a:r>
              <a:rPr sz="3200" b="1" dirty="0">
                <a:latin typeface="Courier New"/>
                <a:cs typeface="Courier New"/>
              </a:rPr>
              <a:t>main</a:t>
            </a:r>
            <a:r>
              <a:rPr sz="3200" dirty="0">
                <a:latin typeface="Arial"/>
                <a:cs typeface="Arial"/>
              </a:rPr>
              <a:t>) </a:t>
            </a:r>
            <a:r>
              <a:rPr sz="3200" spc="-6" dirty="0">
                <a:latin typeface="Arial"/>
                <a:cs typeface="Arial"/>
              </a:rPr>
              <a:t>e de  </a:t>
            </a:r>
            <a:r>
              <a:rPr sz="3200" dirty="0">
                <a:latin typeface="Arial"/>
                <a:cs typeface="Arial"/>
              </a:rPr>
              <a:t>qualquer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535874" indent="-521391">
              <a:spcBef>
                <a:spcPts val="1983"/>
              </a:spcBef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03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</a:t>
            </a:r>
            <a:endParaRPr sz="3200">
              <a:latin typeface="Arial"/>
              <a:cs typeface="Arial"/>
            </a:endParaRPr>
          </a:p>
          <a:p>
            <a:pPr marL="465631" marR="6517"/>
            <a:r>
              <a:rPr sz="3200" dirty="0">
                <a:latin typeface="Arial"/>
                <a:cs typeface="Arial"/>
              </a:rPr>
              <a:t>de uma </a:t>
            </a:r>
            <a:r>
              <a:rPr sz="3200" spc="6" dirty="0">
                <a:latin typeface="Arial"/>
                <a:cs typeface="Arial"/>
              </a:rPr>
              <a:t>variável </a:t>
            </a:r>
            <a:r>
              <a:rPr sz="3200" dirty="0">
                <a:latin typeface="Arial"/>
                <a:cs typeface="Arial"/>
              </a:rPr>
              <a:t>do tipo  estrutura deve ficar  </a:t>
            </a:r>
            <a:r>
              <a:rPr sz="3200" b="1" dirty="0">
                <a:latin typeface="Arial"/>
                <a:cs typeface="Arial"/>
              </a:rPr>
              <a:t>dentro </a:t>
            </a:r>
            <a:r>
              <a:rPr sz="3200" dirty="0">
                <a:latin typeface="Arial"/>
                <a:cs typeface="Arial"/>
              </a:rPr>
              <a:t>de alguma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  </a:t>
            </a:r>
            <a:r>
              <a:rPr sz="3200" spc="-6" dirty="0">
                <a:latin typeface="Arial"/>
                <a:cs typeface="Arial"/>
              </a:rPr>
              <a:t>(seja ela a </a:t>
            </a:r>
            <a:r>
              <a:rPr sz="3200" dirty="0">
                <a:latin typeface="Arial"/>
                <a:cs typeface="Arial"/>
              </a:rPr>
              <a:t>main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outra  qualquer).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05699" y="4809153"/>
            <a:ext cx="2510721" cy="943863"/>
          </a:xfrm>
          <a:custGeom>
            <a:avLst/>
            <a:gdLst/>
            <a:ahLst/>
            <a:cxnLst/>
            <a:rect l="l" t="t" r="r" b="b"/>
            <a:pathLst>
              <a:path w="2146935" h="856614">
                <a:moveTo>
                  <a:pt x="2067278" y="819989"/>
                </a:moveTo>
                <a:lnTo>
                  <a:pt x="2014982" y="828548"/>
                </a:lnTo>
                <a:lnTo>
                  <a:pt x="2009902" y="835660"/>
                </a:lnTo>
                <a:lnTo>
                  <a:pt x="2011045" y="843280"/>
                </a:lnTo>
                <a:lnTo>
                  <a:pt x="2012314" y="850900"/>
                </a:lnTo>
                <a:lnTo>
                  <a:pt x="2019553" y="856107"/>
                </a:lnTo>
                <a:lnTo>
                  <a:pt x="2127047" y="838581"/>
                </a:lnTo>
                <a:lnTo>
                  <a:pt x="2115692" y="838581"/>
                </a:lnTo>
                <a:lnTo>
                  <a:pt x="2067278" y="819989"/>
                </a:lnTo>
                <a:close/>
              </a:path>
              <a:path w="2146935" h="856614">
                <a:moveTo>
                  <a:pt x="2094690" y="815518"/>
                </a:moveTo>
                <a:lnTo>
                  <a:pt x="2067278" y="819989"/>
                </a:lnTo>
                <a:lnTo>
                  <a:pt x="2115692" y="838581"/>
                </a:lnTo>
                <a:lnTo>
                  <a:pt x="2117348" y="834263"/>
                </a:lnTo>
                <a:lnTo>
                  <a:pt x="2109724" y="834263"/>
                </a:lnTo>
                <a:lnTo>
                  <a:pt x="2094690" y="815518"/>
                </a:lnTo>
                <a:close/>
              </a:path>
              <a:path w="2146935" h="856614">
                <a:moveTo>
                  <a:pt x="2057273" y="734060"/>
                </a:moveTo>
                <a:lnTo>
                  <a:pt x="2051177" y="738886"/>
                </a:lnTo>
                <a:lnTo>
                  <a:pt x="2045208" y="743712"/>
                </a:lnTo>
                <a:lnTo>
                  <a:pt x="2044191" y="752475"/>
                </a:lnTo>
                <a:lnTo>
                  <a:pt x="2049017" y="758571"/>
                </a:lnTo>
                <a:lnTo>
                  <a:pt x="2077288" y="793820"/>
                </a:lnTo>
                <a:lnTo>
                  <a:pt x="2125726" y="812419"/>
                </a:lnTo>
                <a:lnTo>
                  <a:pt x="2115692" y="838581"/>
                </a:lnTo>
                <a:lnTo>
                  <a:pt x="2127047" y="838581"/>
                </a:lnTo>
                <a:lnTo>
                  <a:pt x="2146554" y="835406"/>
                </a:lnTo>
                <a:lnTo>
                  <a:pt x="2066036" y="735076"/>
                </a:lnTo>
                <a:lnTo>
                  <a:pt x="2057273" y="734060"/>
                </a:lnTo>
                <a:close/>
              </a:path>
              <a:path w="2146935" h="856614">
                <a:moveTo>
                  <a:pt x="2118360" y="811657"/>
                </a:moveTo>
                <a:lnTo>
                  <a:pt x="2094690" y="815518"/>
                </a:lnTo>
                <a:lnTo>
                  <a:pt x="2109724" y="834263"/>
                </a:lnTo>
                <a:lnTo>
                  <a:pt x="2118360" y="811657"/>
                </a:lnTo>
                <a:close/>
              </a:path>
              <a:path w="2146935" h="856614">
                <a:moveTo>
                  <a:pt x="2123741" y="811657"/>
                </a:moveTo>
                <a:lnTo>
                  <a:pt x="2118360" y="811657"/>
                </a:lnTo>
                <a:lnTo>
                  <a:pt x="2109724" y="834263"/>
                </a:lnTo>
                <a:lnTo>
                  <a:pt x="2117348" y="834263"/>
                </a:lnTo>
                <a:lnTo>
                  <a:pt x="2125726" y="812419"/>
                </a:lnTo>
                <a:lnTo>
                  <a:pt x="2123741" y="811657"/>
                </a:lnTo>
                <a:close/>
              </a:path>
              <a:path w="2146935" h="856614">
                <a:moveTo>
                  <a:pt x="9906" y="0"/>
                </a:moveTo>
                <a:lnTo>
                  <a:pt x="0" y="26162"/>
                </a:lnTo>
                <a:lnTo>
                  <a:pt x="2067278" y="819989"/>
                </a:lnTo>
                <a:lnTo>
                  <a:pt x="2094690" y="815518"/>
                </a:lnTo>
                <a:lnTo>
                  <a:pt x="2077288" y="793820"/>
                </a:lnTo>
                <a:lnTo>
                  <a:pt x="9906" y="0"/>
                </a:lnTo>
                <a:close/>
              </a:path>
              <a:path w="2146935" h="856614">
                <a:moveTo>
                  <a:pt x="2077288" y="793820"/>
                </a:moveTo>
                <a:lnTo>
                  <a:pt x="2094690" y="815518"/>
                </a:lnTo>
                <a:lnTo>
                  <a:pt x="2118360" y="811657"/>
                </a:lnTo>
                <a:lnTo>
                  <a:pt x="2123741" y="811657"/>
                </a:lnTo>
                <a:lnTo>
                  <a:pt x="2077288" y="7938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55890" y="1791451"/>
            <a:ext cx="2613942" cy="538051"/>
          </a:xfrm>
          <a:custGeom>
            <a:avLst/>
            <a:gdLst/>
            <a:ahLst/>
            <a:cxnLst/>
            <a:rect l="l" t="t" r="r" b="b"/>
            <a:pathLst>
              <a:path w="2235200" h="488314">
                <a:moveTo>
                  <a:pt x="2154036" y="444194"/>
                </a:moveTo>
                <a:lnTo>
                  <a:pt x="2111375" y="459105"/>
                </a:lnTo>
                <a:lnTo>
                  <a:pt x="2104009" y="461772"/>
                </a:lnTo>
                <a:lnTo>
                  <a:pt x="2100199" y="469646"/>
                </a:lnTo>
                <a:lnTo>
                  <a:pt x="2102739" y="477012"/>
                </a:lnTo>
                <a:lnTo>
                  <a:pt x="2105279" y="484250"/>
                </a:lnTo>
                <a:lnTo>
                  <a:pt x="2113279" y="488061"/>
                </a:lnTo>
                <a:lnTo>
                  <a:pt x="2210409" y="454025"/>
                </a:lnTo>
                <a:lnTo>
                  <a:pt x="2204847" y="454025"/>
                </a:lnTo>
                <a:lnTo>
                  <a:pt x="2154036" y="444194"/>
                </a:lnTo>
                <a:close/>
              </a:path>
              <a:path w="2235200" h="488314">
                <a:moveTo>
                  <a:pt x="2180380" y="434986"/>
                </a:moveTo>
                <a:lnTo>
                  <a:pt x="2154036" y="444194"/>
                </a:lnTo>
                <a:lnTo>
                  <a:pt x="2204847" y="454025"/>
                </a:lnTo>
                <a:lnTo>
                  <a:pt x="2205489" y="450723"/>
                </a:lnTo>
                <a:lnTo>
                  <a:pt x="2198369" y="450723"/>
                </a:lnTo>
                <a:lnTo>
                  <a:pt x="2180380" y="434986"/>
                </a:lnTo>
                <a:close/>
              </a:path>
              <a:path w="2235200" h="488314">
                <a:moveTo>
                  <a:pt x="2137917" y="360680"/>
                </a:moveTo>
                <a:lnTo>
                  <a:pt x="2129154" y="361315"/>
                </a:lnTo>
                <a:lnTo>
                  <a:pt x="2118994" y="372999"/>
                </a:lnTo>
                <a:lnTo>
                  <a:pt x="2119503" y="381762"/>
                </a:lnTo>
                <a:lnTo>
                  <a:pt x="2159598" y="416806"/>
                </a:lnTo>
                <a:lnTo>
                  <a:pt x="2210180" y="426593"/>
                </a:lnTo>
                <a:lnTo>
                  <a:pt x="2204847" y="454025"/>
                </a:lnTo>
                <a:lnTo>
                  <a:pt x="2210409" y="454025"/>
                </a:lnTo>
                <a:lnTo>
                  <a:pt x="2234691" y="445516"/>
                </a:lnTo>
                <a:lnTo>
                  <a:pt x="2143760" y="365887"/>
                </a:lnTo>
                <a:lnTo>
                  <a:pt x="2137917" y="360680"/>
                </a:lnTo>
                <a:close/>
              </a:path>
              <a:path w="2235200" h="488314">
                <a:moveTo>
                  <a:pt x="2202941" y="427100"/>
                </a:moveTo>
                <a:lnTo>
                  <a:pt x="2180380" y="434986"/>
                </a:lnTo>
                <a:lnTo>
                  <a:pt x="2198369" y="450723"/>
                </a:lnTo>
                <a:lnTo>
                  <a:pt x="2202941" y="427100"/>
                </a:lnTo>
                <a:close/>
              </a:path>
              <a:path w="2235200" h="488314">
                <a:moveTo>
                  <a:pt x="2210082" y="427100"/>
                </a:moveTo>
                <a:lnTo>
                  <a:pt x="2202941" y="427100"/>
                </a:lnTo>
                <a:lnTo>
                  <a:pt x="2198369" y="450723"/>
                </a:lnTo>
                <a:lnTo>
                  <a:pt x="2205489" y="450723"/>
                </a:lnTo>
                <a:lnTo>
                  <a:pt x="2210082" y="427100"/>
                </a:lnTo>
                <a:close/>
              </a:path>
              <a:path w="2235200" h="488314">
                <a:moveTo>
                  <a:pt x="5333" y="0"/>
                </a:moveTo>
                <a:lnTo>
                  <a:pt x="0" y="27432"/>
                </a:lnTo>
                <a:lnTo>
                  <a:pt x="2154036" y="444194"/>
                </a:lnTo>
                <a:lnTo>
                  <a:pt x="2180380" y="434986"/>
                </a:lnTo>
                <a:lnTo>
                  <a:pt x="2159598" y="416806"/>
                </a:lnTo>
                <a:lnTo>
                  <a:pt x="5333" y="0"/>
                </a:lnTo>
                <a:close/>
              </a:path>
              <a:path w="2235200" h="488314">
                <a:moveTo>
                  <a:pt x="2159598" y="416806"/>
                </a:moveTo>
                <a:lnTo>
                  <a:pt x="2180380" y="434986"/>
                </a:lnTo>
                <a:lnTo>
                  <a:pt x="2202941" y="427100"/>
                </a:lnTo>
                <a:lnTo>
                  <a:pt x="2210082" y="427100"/>
                </a:lnTo>
                <a:lnTo>
                  <a:pt x="2210180" y="426593"/>
                </a:lnTo>
                <a:lnTo>
                  <a:pt x="2159598" y="41680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258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321" y="1200643"/>
            <a:ext cx="6298710" cy="3777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marR="5793" indent="-588013"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Cada </a:t>
            </a:r>
            <a:r>
              <a:rPr sz="3400" dirty="0">
                <a:latin typeface="Arial"/>
                <a:cs typeface="Arial"/>
              </a:rPr>
              <a:t>campo de uma  </a:t>
            </a:r>
            <a:r>
              <a:rPr sz="3400" spc="-6" dirty="0">
                <a:latin typeface="Arial"/>
                <a:cs typeface="Arial"/>
              </a:rPr>
              <a:t>estrutura pode armazenar  </a:t>
            </a:r>
            <a:r>
              <a:rPr sz="3400" dirty="0">
                <a:latin typeface="Arial"/>
                <a:cs typeface="Arial"/>
              </a:rPr>
              <a:t>um </a:t>
            </a:r>
            <a:r>
              <a:rPr sz="3400" spc="-6" dirty="0">
                <a:latin typeface="Arial"/>
                <a:cs typeface="Arial"/>
              </a:rPr>
              <a:t>valor (como </a:t>
            </a:r>
            <a:r>
              <a:rPr sz="3400" dirty="0">
                <a:latin typeface="Arial"/>
                <a:cs typeface="Arial"/>
              </a:rPr>
              <a:t>uma  </a:t>
            </a:r>
            <a:r>
              <a:rPr sz="3400" spc="-6" dirty="0">
                <a:latin typeface="Arial"/>
                <a:cs typeface="Arial"/>
              </a:rPr>
              <a:t>variável). Seu valor pode ser  acessado, modificado,  impresso,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etc.</a:t>
            </a:r>
            <a:endParaRPr sz="3400">
              <a:latin typeface="Arial"/>
              <a:cs typeface="Arial"/>
            </a:endParaRPr>
          </a:p>
          <a:p>
            <a:pPr marL="602496" indent="-588013">
              <a:spcBef>
                <a:spcPts val="912"/>
              </a:spcBef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Campos são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acessados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17052" y="2350911"/>
            <a:ext cx="3282280" cy="2544022"/>
          </a:xfrm>
          <a:custGeom>
            <a:avLst/>
            <a:gdLst/>
            <a:ahLst/>
            <a:cxnLst/>
            <a:rect l="l" t="t" r="r" b="b"/>
            <a:pathLst>
              <a:path w="2806700" h="2308860">
                <a:moveTo>
                  <a:pt x="0" y="2308860"/>
                </a:moveTo>
                <a:lnTo>
                  <a:pt x="2806700" y="2308860"/>
                </a:lnTo>
                <a:lnTo>
                  <a:pt x="2806700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8182" y="4894932"/>
          <a:ext cx="9941148" cy="2519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8869"/>
                <a:gridCol w="348662"/>
                <a:gridCol w="2933617"/>
              </a:tblGrid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210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usando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operador</a:t>
                      </a:r>
                      <a:r>
                        <a:rPr sz="33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de</a:t>
                      </a: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acesso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ponto </a:t>
                      </a:r>
                      <a:r>
                        <a:rPr sz="33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(.)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entre</a:t>
                      </a:r>
                      <a:r>
                        <a:rPr sz="33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4151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dirty="0">
                          <a:latin typeface="Arial"/>
                          <a:cs typeface="Arial"/>
                        </a:rPr>
                        <a:t>nome da </a:t>
                      </a:r>
                      <a:r>
                        <a:rPr sz="3300" b="1" spc="-20" dirty="0">
                          <a:latin typeface="Arial"/>
                          <a:cs typeface="Arial"/>
                        </a:rPr>
                        <a:t>variável</a:t>
                      </a:r>
                      <a:r>
                        <a:rPr sz="33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" dirty="0">
                          <a:latin typeface="Arial"/>
                          <a:cs typeface="Arial"/>
                        </a:rPr>
                        <a:t>declarada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como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estrutura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 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nome</a:t>
                      </a:r>
                      <a:r>
                        <a:rPr sz="33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do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spc="-5" dirty="0">
                          <a:latin typeface="Arial"/>
                          <a:cs typeface="Arial"/>
                        </a:rPr>
                        <a:t>campo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.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17052" y="2350910"/>
            <a:ext cx="3411248" cy="2598114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15207" rIns="0" bIns="0" rtlCol="0">
            <a:spAutoFit/>
          </a:bodyPr>
          <a:lstStyle/>
          <a:p>
            <a:pPr marL="99209">
              <a:spcBef>
                <a:spcPts val="120"/>
              </a:spcBef>
            </a:pP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 dirty="0">
              <a:latin typeface="Courier New"/>
              <a:cs typeface="Courier New"/>
            </a:endParaRPr>
          </a:p>
          <a:p>
            <a:pPr marL="412044" marR="430147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412044">
              <a:lnSpc>
                <a:spcPts val="2463"/>
              </a:lnSpc>
            </a:pP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 dirty="0">
              <a:latin typeface="Courier New"/>
              <a:cs typeface="Courier New"/>
            </a:endParaRPr>
          </a:p>
          <a:p>
            <a:pPr marL="41204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74277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749" y="1063227"/>
            <a:ext cx="9632227" cy="1410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</a:t>
            </a:r>
            <a:r>
              <a:rPr sz="3000" spc="-11" dirty="0">
                <a:latin typeface="Arial"/>
                <a:cs typeface="Arial"/>
              </a:rPr>
              <a:t>programa </a:t>
            </a:r>
            <a:r>
              <a:rPr sz="3000" spc="-6" dirty="0">
                <a:latin typeface="Arial"/>
                <a:cs typeface="Arial"/>
              </a:rPr>
              <a:t>são criadas duas variáveis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  <a:p>
            <a:pPr marL="535874" marR="5793" indent="-521391">
              <a:lnSpc>
                <a:spcPts val="3330"/>
              </a:lnSpc>
              <a:spcBef>
                <a:spcPts val="758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Cada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variável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b="1" spc="-941" dirty="0"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(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b="1" spc="-96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e</a:t>
            </a:r>
            <a:r>
              <a:rPr sz="3000" spc="6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a2</a:t>
            </a:r>
            <a:r>
              <a:rPr sz="3000" spc="-6" dirty="0">
                <a:latin typeface="Arial"/>
                <a:cs typeface="Arial"/>
              </a:rPr>
              <a:t>)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tem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11" dirty="0">
                <a:latin typeface="Arial"/>
                <a:cs typeface="Arial"/>
              </a:rPr>
              <a:t>nome,</a:t>
            </a:r>
            <a:r>
              <a:rPr sz="3000" spc="29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matricula,  idade, cidade e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sexo.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25749" y="2440469"/>
            <a:ext cx="4096909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uso </a:t>
            </a:r>
            <a:r>
              <a:rPr sz="3000" dirty="0">
                <a:latin typeface="Arial"/>
                <a:cs typeface="Arial"/>
              </a:rPr>
              <a:t>de</a:t>
            </a:r>
            <a:r>
              <a:rPr sz="3000" spc="-63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C00000"/>
                </a:solidFill>
                <a:latin typeface="Courier New"/>
                <a:cs typeface="Courier New"/>
              </a:rPr>
              <a:t>a1.idade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8061" y="2440469"/>
            <a:ext cx="5314026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permite acessar </a:t>
            </a:r>
            <a:r>
              <a:rPr sz="3000" dirty="0">
                <a:latin typeface="Arial"/>
                <a:cs typeface="Arial"/>
              </a:rPr>
              <a:t>ou </a:t>
            </a:r>
            <a:r>
              <a:rPr sz="3000" spc="-6" dirty="0">
                <a:latin typeface="Arial"/>
                <a:cs typeface="Arial"/>
              </a:rPr>
              <a:t>modificar</a:t>
            </a:r>
            <a:r>
              <a:rPr sz="3000" spc="34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420" y="2832568"/>
            <a:ext cx="5114267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campo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idade</a:t>
            </a:r>
            <a:r>
              <a:rPr sz="3000" b="1" spc="-929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da variável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4399" y="3845418"/>
            <a:ext cx="5994245" cy="299634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>
              <a:lnSpc>
                <a:spcPts val="2167"/>
              </a:lnSpc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>
              <a:lnSpc>
                <a:spcPts val="2440"/>
              </a:lnSpc>
            </a:pPr>
            <a:r>
              <a:rPr spc="-6" dirty="0">
                <a:latin typeface="Courier New"/>
                <a:cs typeface="Courier New"/>
              </a:rPr>
              <a:t>Aluno </a:t>
            </a:r>
            <a:r>
              <a:rPr sz="2100" b="1" dirty="0">
                <a:latin typeface="Courier New"/>
                <a:cs typeface="Courier New"/>
              </a:rPr>
              <a:t>a1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b="1"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b="1" spc="-6" dirty="0">
                <a:latin typeface="Courier New"/>
                <a:cs typeface="Courier New"/>
              </a:rPr>
              <a:t>a1</a:t>
            </a:r>
            <a:r>
              <a:rPr sz="21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z="2100" b="1" spc="-11" dirty="0">
                <a:latin typeface="Courier New"/>
                <a:cs typeface="Courier New"/>
              </a:rPr>
              <a:t>a1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idade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pc="-2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"Matricula %d"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100" b="1" spc="-11" dirty="0">
                <a:latin typeface="Courier New"/>
                <a:cs typeface="Courier New"/>
              </a:rPr>
              <a:t>a2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matricula</a:t>
            </a:r>
            <a:r>
              <a:rPr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>
              <a:spcBef>
                <a:spcPts val="46"/>
              </a:spcBef>
            </a:pP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BDBDE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067" y="4175665"/>
            <a:ext cx="4099137" cy="200107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4759" rIns="0" bIns="0" rtlCol="0">
            <a:spAutoFit/>
          </a:bodyPr>
          <a:lstStyle/>
          <a:p>
            <a:pPr marL="97761">
              <a:spcBef>
                <a:spcPts val="274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 marR="1813282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1600" spc="-6" dirty="0">
                <a:latin typeface="Courier New"/>
                <a:cs typeface="Courier New"/>
              </a:rPr>
              <a:t>nome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11" dirty="0">
                <a:latin typeface="Courier New"/>
                <a:cs typeface="Courier New"/>
              </a:rPr>
              <a:t>matricula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idade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cidade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sexo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7761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781783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041398"/>
            <a:ext cx="3860019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Neste </a:t>
            </a:r>
            <a:r>
              <a:rPr sz="3200" dirty="0">
                <a:latin typeface="Arial"/>
                <a:cs typeface="Arial"/>
              </a:rPr>
              <a:t>exemplo,  serão </a:t>
            </a:r>
            <a:r>
              <a:rPr sz="3200" spc="-6" dirty="0">
                <a:latin typeface="Arial"/>
                <a:cs typeface="Arial"/>
              </a:rPr>
              <a:t>lidos  </a:t>
            </a:r>
            <a:r>
              <a:rPr sz="3200" dirty="0">
                <a:latin typeface="Arial"/>
                <a:cs typeface="Arial"/>
              </a:rPr>
              <a:t>matrícula </a:t>
            </a:r>
            <a:r>
              <a:rPr sz="3200" spc="-6" dirty="0">
                <a:latin typeface="Arial"/>
                <a:cs typeface="Arial"/>
              </a:rPr>
              <a:t>e </a:t>
            </a:r>
            <a:r>
              <a:rPr sz="3200" dirty="0">
                <a:latin typeface="Arial"/>
                <a:cs typeface="Arial"/>
              </a:rPr>
              <a:t>nome 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funcionário.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349250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66287" y="953938"/>
            <a:ext cx="5200408" cy="637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300" spc="-86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Funcionario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endParaRPr sz="2300">
              <a:latin typeface="Times New Roman"/>
              <a:cs typeface="Times New Roman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 marR="700257"/>
            <a:r>
              <a:rPr sz="2300" spc="-6" dirty="0">
                <a:latin typeface="Courier New"/>
                <a:cs typeface="Courier New"/>
              </a:rPr>
              <a:t>Funcionario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 marR="5793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"Informacoes lidas:"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"%d\n"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62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4766287" y="7006905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123693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204405"/>
            <a:ext cx="9835700" cy="6311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084" marR="310662" indent="-683601">
              <a:lnSpc>
                <a:spcPct val="94900"/>
              </a:lnSpc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para representar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de  um cartão de </a:t>
            </a:r>
            <a:r>
              <a:rPr sz="2700" dirty="0">
                <a:latin typeface="Arial"/>
                <a:cs typeface="Arial"/>
              </a:rPr>
              <a:t>crédito. </a:t>
            </a:r>
            <a:r>
              <a:rPr sz="2700" spc="-6" dirty="0">
                <a:latin typeface="Arial"/>
                <a:cs typeface="Arial"/>
              </a:rPr>
              <a:t>Você </a:t>
            </a:r>
            <a:r>
              <a:rPr sz="2700" dirty="0">
                <a:latin typeface="Arial"/>
                <a:cs typeface="Arial"/>
              </a:rPr>
              <a:t>precisa apenas criar </a:t>
            </a:r>
            <a:r>
              <a:rPr sz="2700" spc="-6" dirty="0">
                <a:latin typeface="Arial"/>
                <a:cs typeface="Arial"/>
              </a:rPr>
              <a:t>a 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com </a:t>
            </a:r>
            <a:r>
              <a:rPr sz="2700" dirty="0">
                <a:latin typeface="Arial"/>
                <a:cs typeface="Arial"/>
              </a:rPr>
              <a:t>os dados </a:t>
            </a:r>
            <a:r>
              <a:rPr sz="2700" spc="-6" dirty="0">
                <a:latin typeface="Arial"/>
                <a:cs typeface="Arial"/>
              </a:rPr>
              <a:t>e tipos </a:t>
            </a:r>
            <a:r>
              <a:rPr sz="2700" dirty="0">
                <a:latin typeface="Arial"/>
                <a:cs typeface="Arial"/>
              </a:rPr>
              <a:t>apropriados. Não </a:t>
            </a:r>
            <a:r>
              <a:rPr sz="2700" spc="-6" dirty="0">
                <a:latin typeface="Arial"/>
                <a:cs typeface="Arial"/>
              </a:rPr>
              <a:t>é  </a:t>
            </a:r>
            <a:r>
              <a:rPr sz="2700" dirty="0">
                <a:latin typeface="Arial"/>
                <a:cs typeface="Arial"/>
              </a:rPr>
              <a:t>necessário criar um programa para</a:t>
            </a:r>
            <a:r>
              <a:rPr sz="2700" spc="-5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utilizá-la.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733"/>
              </a:spcBef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chamada </a:t>
            </a:r>
            <a:r>
              <a:rPr sz="2700" spc="-6" dirty="0">
                <a:latin typeface="Courier New"/>
                <a:cs typeface="Courier New"/>
              </a:rPr>
              <a:t>medidas</a:t>
            </a:r>
            <a:r>
              <a:rPr sz="2700" spc="-981" dirty="0">
                <a:latin typeface="Courier New"/>
                <a:cs typeface="Courier New"/>
              </a:rPr>
              <a:t> </a:t>
            </a:r>
            <a:r>
              <a:rPr sz="2700" dirty="0">
                <a:latin typeface="Arial"/>
                <a:cs typeface="Arial"/>
              </a:rPr>
              <a:t>para representar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o peso a altura de uma</a:t>
            </a:r>
            <a:r>
              <a:rPr sz="2700" spc="-1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pessoa.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869"/>
              </a:spcBef>
              <a:buClr>
                <a:srgbClr val="C5000A"/>
              </a:buClr>
              <a:buAutoNum type="arabicParenR" startAt="3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Considerando </a:t>
            </a:r>
            <a:r>
              <a:rPr sz="2700" spc="-6" dirty="0">
                <a:latin typeface="Arial"/>
                <a:cs typeface="Arial"/>
              </a:rPr>
              <a:t>a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do exercício (2) e a </a:t>
            </a:r>
            <a:r>
              <a:rPr sz="2700" dirty="0">
                <a:latin typeface="Arial"/>
                <a:cs typeface="Arial"/>
              </a:rPr>
              <a:t>declaração:</a:t>
            </a:r>
            <a:endParaRPr sz="2700">
              <a:latin typeface="Arial"/>
              <a:cs typeface="Arial"/>
            </a:endParaRPr>
          </a:p>
          <a:p>
            <a:pPr marL="2309326">
              <a:spcBef>
                <a:spcPts val="319"/>
              </a:spcBef>
            </a:pPr>
            <a:r>
              <a:rPr sz="2700" spc="-11" dirty="0">
                <a:latin typeface="Courier New"/>
                <a:cs typeface="Courier New"/>
              </a:rPr>
              <a:t>medidas </a:t>
            </a:r>
            <a:r>
              <a:rPr sz="2700" spc="-6" dirty="0">
                <a:latin typeface="Courier New"/>
                <a:cs typeface="Courier New"/>
              </a:rPr>
              <a:t>joao,</a:t>
            </a:r>
            <a:r>
              <a:rPr sz="2700" spc="-86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maria;</a:t>
            </a:r>
            <a:endParaRPr sz="2700">
              <a:latin typeface="Courier New"/>
              <a:cs typeface="Courier New"/>
            </a:endParaRPr>
          </a:p>
          <a:p>
            <a:pPr marL="399009">
              <a:lnSpc>
                <a:spcPts val="3205"/>
              </a:lnSpc>
              <a:spcBef>
                <a:spcPts val="570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</a:t>
            </a:r>
            <a:r>
              <a:rPr sz="2700" dirty="0">
                <a:latin typeface="Arial"/>
                <a:cs typeface="Arial"/>
              </a:rPr>
              <a:t>instruções para atribuir: </a:t>
            </a:r>
            <a:r>
              <a:rPr sz="2700" spc="-6" dirty="0">
                <a:latin typeface="Arial"/>
                <a:cs typeface="Arial"/>
              </a:rPr>
              <a:t>1.78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</a:t>
            </a:r>
            <a:r>
              <a:rPr sz="2700" spc="29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</a:t>
            </a:r>
            <a:endParaRPr sz="2700">
              <a:latin typeface="Arial"/>
              <a:cs typeface="Arial"/>
            </a:endParaRPr>
          </a:p>
          <a:p>
            <a:pPr marL="782086" marR="5793">
              <a:lnSpc>
                <a:spcPts val="3125"/>
              </a:lnSpc>
              <a:spcBef>
                <a:spcPts val="154"/>
              </a:spcBef>
            </a:pPr>
            <a:r>
              <a:rPr sz="2700" spc="-6" dirty="0">
                <a:latin typeface="Arial"/>
                <a:cs typeface="Arial"/>
              </a:rPr>
              <a:t>1.64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; 75 ao peso de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 59 ao peso  </a:t>
            </a:r>
            <a:r>
              <a:rPr sz="2700" dirty="0">
                <a:latin typeface="Arial"/>
                <a:cs typeface="Arial"/>
              </a:rPr>
              <a:t>de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  <a:p>
            <a:pPr marL="793673" marR="918951" indent="-394664">
              <a:lnSpc>
                <a:spcPct val="92400"/>
              </a:lnSpc>
              <a:spcBef>
                <a:spcPts val="855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um </a:t>
            </a:r>
            <a:r>
              <a:rPr sz="2700" dirty="0">
                <a:latin typeface="Arial"/>
                <a:cs typeface="Arial"/>
              </a:rPr>
              <a:t>conjunto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instruções para </a:t>
            </a:r>
            <a:r>
              <a:rPr sz="2700" spc="-6" dirty="0">
                <a:latin typeface="Arial"/>
                <a:cs typeface="Arial"/>
              </a:rPr>
              <a:t>imprimir a  </a:t>
            </a:r>
            <a:r>
              <a:rPr sz="2700" dirty="0">
                <a:latin typeface="Arial"/>
                <a:cs typeface="Arial"/>
              </a:rPr>
              <a:t>média das alturas </a:t>
            </a:r>
            <a:r>
              <a:rPr sz="2700" spc="-6" dirty="0">
                <a:latin typeface="Arial"/>
                <a:cs typeface="Arial"/>
              </a:rPr>
              <a:t>e a </a:t>
            </a:r>
            <a:r>
              <a:rPr sz="2700" dirty="0">
                <a:latin typeface="Arial"/>
                <a:cs typeface="Arial"/>
              </a:rPr>
              <a:t>média dos pesos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joao </a:t>
            </a:r>
            <a:r>
              <a:rPr sz="2700" spc="-6" dirty="0">
                <a:latin typeface="Arial"/>
                <a:cs typeface="Arial"/>
              </a:rPr>
              <a:t>e 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48520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091" y="1093874"/>
            <a:ext cx="871289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60" marR="5793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uma estrutura onde </a:t>
            </a:r>
            <a:r>
              <a:rPr sz="3200" spc="-6" dirty="0">
                <a:latin typeface="Arial"/>
                <a:cs typeface="Arial"/>
              </a:rPr>
              <a:t>um de seus  </a:t>
            </a:r>
            <a:r>
              <a:rPr sz="3200" dirty="0">
                <a:latin typeface="Arial"/>
                <a:cs typeface="Arial"/>
              </a:rPr>
              <a:t>campos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outra</a:t>
            </a:r>
            <a:r>
              <a:rPr sz="3200" spc="-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estrutura: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0761" y="6686103"/>
            <a:ext cx="5726910" cy="38615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6656" rIns="0" bIns="0" rtlCol="0">
            <a:spAutoFit/>
          </a:bodyPr>
          <a:lstStyle/>
          <a:p>
            <a:pPr marL="109347">
              <a:spcBef>
                <a:spcPts val="131"/>
              </a:spcBef>
            </a:pPr>
            <a:r>
              <a:rPr sz="2400" b="1" spc="-6" dirty="0">
                <a:latin typeface="Courier New"/>
                <a:cs typeface="Courier New"/>
              </a:rPr>
              <a:t>ficha_pessoal </a:t>
            </a:r>
            <a:r>
              <a:rPr sz="2400" spc="-6" dirty="0">
                <a:latin typeface="Courier New"/>
                <a:cs typeface="Courier New"/>
              </a:rPr>
              <a:t>ficha1</a:t>
            </a:r>
            <a:r>
              <a:rPr sz="24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400" spc="-4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ficha2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5" name="object 5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72598" y="2240363"/>
            <a:ext cx="1069340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46440" y="2240363"/>
            <a:ext cx="1247563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6870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2887" y="2912331"/>
            <a:ext cx="249586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8985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idade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948" y="3584439"/>
            <a:ext cx="9131718" cy="3077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/>
            <a:r>
              <a:rPr sz="2300" spc="-6" dirty="0">
                <a:latin typeface="Courier New"/>
                <a:cs typeface="Courier New"/>
              </a:rPr>
              <a:t>endereco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end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220867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ficha_pessoal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900">
              <a:latin typeface="Times New Roman"/>
              <a:cs typeface="Times New Roman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Repare </a:t>
            </a:r>
            <a:r>
              <a:rPr sz="3200" spc="-6" dirty="0">
                <a:latin typeface="Arial"/>
                <a:cs typeface="Arial"/>
              </a:rPr>
              <a:t>que um </a:t>
            </a:r>
            <a:r>
              <a:rPr sz="3200" dirty="0">
                <a:latin typeface="Arial"/>
                <a:cs typeface="Arial"/>
              </a:rPr>
              <a:t>campo do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endereco</a:t>
            </a:r>
            <a:r>
              <a:rPr sz="3200" b="1" spc="-103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declarado dentro de</a:t>
            </a:r>
            <a:r>
              <a:rPr sz="3200" spc="-17" dirty="0">
                <a:latin typeface="Arial"/>
                <a:cs typeface="Arial"/>
              </a:rPr>
              <a:t>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ficha_pessoal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376560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 </a:t>
            </a:r>
            <a:r>
              <a:rPr sz="3200" dirty="0">
                <a:latin typeface="Arial"/>
                <a:cs typeface="Arial"/>
              </a:rPr>
              <a:t>de variáveis do tipo definido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acima: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74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393652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65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872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2904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66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022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64441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67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422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8" y="5677171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6757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7" y="5677171"/>
            <a:ext cx="4635292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5673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5408" y="805746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1492" y="198148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5408" y="1981482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3417" y="2317327"/>
            <a:ext cx="3239209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408" y="2989295"/>
            <a:ext cx="252631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1492" y="3493481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408" y="3493481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3417" y="3829326"/>
            <a:ext cx="1991646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81278" y="4501435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ma</a:t>
            </a:r>
            <a:r>
              <a:rPr sz="2300" dirty="0">
                <a:latin typeface="Courier New"/>
                <a:cs typeface="Courier New"/>
              </a:rPr>
              <a:t>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5408" y="4501434"/>
            <a:ext cx="2347350" cy="703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spc="-6" dirty="0">
                <a:latin typeface="Courier New"/>
                <a:cs typeface="Courier New"/>
              </a:rPr>
              <a:t>Responsavel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5408" y="5341327"/>
            <a:ext cx="216986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225" y="5677170"/>
            <a:ext cx="466499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2226" y="6685053"/>
            <a:ext cx="5913302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mae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ano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1975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"%s"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pai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0713" y="823238"/>
            <a:ext cx="2172097" cy="759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09431" y="1541296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0416" y="2497843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mae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09133" y="2877767"/>
            <a:ext cx="2168384" cy="108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 marR="5793">
              <a:lnSpc>
                <a:spcPts val="2646"/>
              </a:lnSpc>
              <a:spcBef>
                <a:spcPts val="290"/>
              </a:spcBef>
            </a:pPr>
            <a:r>
              <a:rPr sz="2700" b="1" spc="-6" dirty="0">
                <a:latin typeface="Courier New"/>
                <a:cs typeface="Courier New"/>
              </a:rPr>
              <a:t>cpf  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387356" y="3922013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00416" y="4902350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387356" y="6326450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6234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4" y="1203443"/>
            <a:ext cx="8989139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Em alguns casos </a:t>
            </a:r>
            <a:r>
              <a:rPr sz="2700" spc="-6" dirty="0">
                <a:latin typeface="Arial"/>
                <a:cs typeface="Arial"/>
              </a:rPr>
              <a:t>o tipo </a:t>
            </a:r>
            <a:r>
              <a:rPr sz="2700" dirty="0">
                <a:latin typeface="Arial"/>
                <a:cs typeface="Arial"/>
              </a:rPr>
              <a:t>estrutura possui </a:t>
            </a:r>
            <a:r>
              <a:rPr sz="2700" spc="-6" dirty="0">
                <a:latin typeface="Arial"/>
                <a:cs typeface="Arial"/>
              </a:rPr>
              <a:t>vetores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como  um </a:t>
            </a:r>
            <a:r>
              <a:rPr sz="2700" dirty="0">
                <a:latin typeface="Arial"/>
                <a:cs typeface="Arial"/>
              </a:rPr>
              <a:t>dos seus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campos.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38262" y="5011079"/>
            <a:ext cx="736433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</a:t>
            </a:r>
            <a:r>
              <a:rPr sz="2700" spc="-6" dirty="0">
                <a:latin typeface="Arial"/>
                <a:cs typeface="Arial"/>
              </a:rPr>
              <a:t>acesso a </a:t>
            </a:r>
            <a:r>
              <a:rPr sz="2700" dirty="0">
                <a:latin typeface="Arial"/>
                <a:cs typeface="Arial"/>
              </a:rPr>
              <a:t>estes campos </a:t>
            </a:r>
            <a:r>
              <a:rPr sz="2700" spc="-6" dirty="0">
                <a:latin typeface="Arial"/>
                <a:cs typeface="Arial"/>
              </a:rPr>
              <a:t>é feito da</a:t>
            </a:r>
            <a:r>
              <a:rPr sz="2700" spc="-29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mesma  maneira </a:t>
            </a:r>
            <a:r>
              <a:rPr sz="2700" spc="-6" dirty="0">
                <a:latin typeface="Arial"/>
                <a:cs typeface="Arial"/>
              </a:rPr>
              <a:t>como </a:t>
            </a:r>
            <a:r>
              <a:rPr sz="2700" dirty="0">
                <a:latin typeface="Arial"/>
                <a:cs typeface="Arial"/>
              </a:rPr>
              <a:t>acesso direto </a:t>
            </a:r>
            <a:r>
              <a:rPr sz="2700" spc="-6" dirty="0">
                <a:latin typeface="Arial"/>
                <a:cs typeface="Arial"/>
              </a:rPr>
              <a:t>a um</a:t>
            </a:r>
            <a:r>
              <a:rPr sz="2700" spc="-51" dirty="0">
                <a:latin typeface="Arial"/>
                <a:cs typeface="Arial"/>
              </a:rPr>
              <a:t> </a:t>
            </a:r>
            <a:r>
              <a:rPr sz="2700" spc="-34" dirty="0">
                <a:latin typeface="Arial"/>
                <a:cs typeface="Arial"/>
              </a:rPr>
              <a:t>vetor.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com</a:t>
            </a:r>
            <a:r>
              <a:rPr spc="-46" dirty="0"/>
              <a:t> </a:t>
            </a:r>
            <a:r>
              <a:rPr spc="-6" dirty="0"/>
              <a:t>vetor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2671" y="2269748"/>
            <a:ext cx="3635756" cy="179956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 marL="9920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99209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Dados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5613" y="6000420"/>
            <a:ext cx="5795229" cy="111948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933" marR="1184716">
              <a:lnSpc>
                <a:spcPct val="100899"/>
              </a:lnSpc>
              <a:spcBef>
                <a:spcPts val="125"/>
              </a:spcBef>
            </a:pPr>
            <a:r>
              <a:rPr sz="2300" spc="-6" dirty="0">
                <a:latin typeface="Courier New"/>
                <a:cs typeface="Courier New"/>
              </a:rPr>
              <a:t>Dados 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3867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521796"/>
            <a:ext cx="9113153" cy="2492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98084" algn="l"/>
              </a:tabLst>
            </a:pPr>
            <a:r>
              <a:rPr sz="2700" dirty="0">
                <a:solidFill>
                  <a:srgbClr val="C5000A"/>
                </a:solidFill>
                <a:latin typeface="Arial"/>
                <a:cs typeface="Arial"/>
              </a:rPr>
              <a:t>4)	</a:t>
            </a:r>
            <a:r>
              <a:rPr sz="2700" spc="-6" dirty="0">
                <a:latin typeface="Arial"/>
                <a:cs typeface="Arial"/>
              </a:rPr>
              <a:t>Faça </a:t>
            </a:r>
            <a:r>
              <a:rPr sz="2700" dirty="0">
                <a:latin typeface="Arial"/>
                <a:cs typeface="Arial"/>
              </a:rPr>
              <a:t>um programa </a:t>
            </a:r>
            <a:r>
              <a:rPr sz="2700" spc="-6" dirty="0">
                <a:latin typeface="Arial"/>
                <a:cs typeface="Arial"/>
              </a:rPr>
              <a:t>(função </a:t>
            </a:r>
            <a:r>
              <a:rPr sz="2700" dirty="0">
                <a:latin typeface="Arial"/>
                <a:cs typeface="Arial"/>
              </a:rPr>
              <a:t>principal) para leitura,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spc="-11" dirty="0">
                <a:latin typeface="Arial"/>
                <a:cs typeface="Arial"/>
              </a:rPr>
              <a:t>via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teclado, dos dados </a:t>
            </a:r>
            <a:r>
              <a:rPr sz="2700" spc="-6" dirty="0">
                <a:latin typeface="Arial"/>
                <a:cs typeface="Arial"/>
              </a:rPr>
              <a:t>de um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atleta.</a:t>
            </a:r>
            <a:endParaRPr sz="2700">
              <a:latin typeface="Arial"/>
              <a:cs typeface="Arial"/>
            </a:endParaRPr>
          </a:p>
          <a:p>
            <a:pPr marL="698084" marR="41277"/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dados a serem guardados na estrutura atleta</a:t>
            </a:r>
            <a:r>
              <a:rPr sz="2700" spc="-10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são  </a:t>
            </a:r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seguintes: nome, medidas (estrutura definida </a:t>
            </a:r>
            <a:r>
              <a:rPr sz="2700" spc="-6" dirty="0">
                <a:latin typeface="Arial"/>
                <a:cs typeface="Arial"/>
              </a:rPr>
              <a:t>no  exercício </a:t>
            </a:r>
            <a:r>
              <a:rPr sz="2700" dirty="0">
                <a:latin typeface="Arial"/>
                <a:cs typeface="Arial"/>
              </a:rPr>
              <a:t>2), esporte praticado e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idade.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spc="-6" dirty="0">
                <a:latin typeface="Arial"/>
                <a:cs typeface="Arial"/>
              </a:rPr>
              <a:t>Ao final, imprima </a:t>
            </a:r>
            <a:r>
              <a:rPr sz="2700" dirty="0">
                <a:latin typeface="Arial"/>
                <a:cs typeface="Arial"/>
              </a:rPr>
              <a:t>estas informações </a:t>
            </a:r>
            <a:r>
              <a:rPr sz="2700" spc="-6" dirty="0">
                <a:latin typeface="Arial"/>
                <a:cs typeface="Arial"/>
              </a:rPr>
              <a:t>na</a:t>
            </a:r>
            <a:r>
              <a:rPr sz="2700" spc="-2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tela.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</a:t>
            </a:r>
          </a:p>
        </p:txBody>
      </p:sp>
    </p:spTree>
    <p:extLst>
      <p:ext uri="{BB962C8B-B14F-4D97-AF65-F5344CB8AC3E}">
        <p14:creationId xmlns:p14="http://schemas.microsoft.com/office/powerpoint/2010/main" val="103320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380" y="1203443"/>
            <a:ext cx="9208947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das </a:t>
            </a:r>
            <a:r>
              <a:rPr sz="2700" spc="-6" dirty="0">
                <a:latin typeface="Arial"/>
                <a:cs typeface="Arial"/>
              </a:rPr>
              <a:t>vantagens ao utilizarmos </a:t>
            </a:r>
            <a:r>
              <a:rPr sz="2700" dirty="0">
                <a:latin typeface="Arial"/>
                <a:cs typeface="Arial"/>
              </a:rPr>
              <a:t>estruturas </a:t>
            </a:r>
            <a:r>
              <a:rPr sz="2700" spc="-6" dirty="0">
                <a:latin typeface="Arial"/>
                <a:cs typeface="Arial"/>
              </a:rPr>
              <a:t>é a  </a:t>
            </a:r>
            <a:r>
              <a:rPr sz="2700" dirty="0">
                <a:latin typeface="Arial"/>
                <a:cs typeface="Arial"/>
              </a:rPr>
              <a:t>possibilidade </a:t>
            </a:r>
            <a:r>
              <a:rPr sz="2700" spc="-6" dirty="0">
                <a:latin typeface="Arial"/>
                <a:cs typeface="Arial"/>
              </a:rPr>
              <a:t>de copiarmos toda a </a:t>
            </a:r>
            <a:r>
              <a:rPr sz="2700" dirty="0">
                <a:latin typeface="Arial"/>
                <a:cs typeface="Arial"/>
              </a:rPr>
              <a:t>informação </a:t>
            </a:r>
            <a:r>
              <a:rPr sz="2700" spc="-6" dirty="0">
                <a:latin typeface="Arial"/>
                <a:cs typeface="Arial"/>
              </a:rPr>
              <a:t>de uma  estrutura para outra do </a:t>
            </a:r>
            <a:r>
              <a:rPr sz="2700" dirty="0">
                <a:latin typeface="Arial"/>
                <a:cs typeface="Arial"/>
              </a:rPr>
              <a:t>mesmo </a:t>
            </a:r>
            <a:r>
              <a:rPr sz="2700" spc="-6" dirty="0">
                <a:latin typeface="Arial"/>
                <a:cs typeface="Arial"/>
              </a:rPr>
              <a:t>tipo com uma</a:t>
            </a:r>
            <a:r>
              <a:rPr sz="2700" spc="11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atribuição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01383" y="2412763"/>
            <a:ext cx="134038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latin typeface="Arial"/>
                <a:cs typeface="Arial"/>
              </a:rPr>
              <a:t>simpl</a:t>
            </a:r>
            <a:r>
              <a:rPr sz="2700" spc="6" dirty="0">
                <a:latin typeface="Arial"/>
                <a:cs typeface="Arial"/>
              </a:rPr>
              <a:t>e</a:t>
            </a:r>
            <a:r>
              <a:rPr sz="2700" dirty="0">
                <a:latin typeface="Arial"/>
                <a:cs typeface="Arial"/>
              </a:rPr>
              <a:t>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3244" y="2599996"/>
            <a:ext cx="7595284" cy="5005318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931" rIns="0" bIns="0" rtlCol="0">
            <a:spAutoFit/>
          </a:bodyPr>
          <a:lstStyle/>
          <a:p>
            <a:pPr marL="99933">
              <a:spcBef>
                <a:spcPts val="290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7527">
              <a:tabLst>
                <a:tab pos="1142715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Coordenadas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51"/>
              </a:spcBef>
            </a:pPr>
            <a:endParaRPr sz="2300">
              <a:latin typeface="Times New Roman"/>
              <a:cs typeface="Times New Roman"/>
            </a:endParaRPr>
          </a:p>
          <a:p>
            <a:pPr marL="9993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main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Coordenadas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30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segunda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>
              <a:tabLst>
                <a:tab pos="2533091" algn="l"/>
              </a:tabLst>
            </a:pP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	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Atribuição de</a:t>
            </a:r>
            <a:r>
              <a:rPr spc="-91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8717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864" y="6312477"/>
            <a:ext cx="9667873" cy="743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Desenvolver </a:t>
            </a:r>
            <a:r>
              <a:rPr sz="3000" dirty="0">
                <a:latin typeface="Arial"/>
                <a:cs typeface="Arial"/>
              </a:rPr>
              <a:t>um </a:t>
            </a:r>
            <a:r>
              <a:rPr sz="3000" spc="-6" dirty="0">
                <a:latin typeface="Arial"/>
                <a:cs typeface="Arial"/>
              </a:rPr>
              <a:t>algoritmo para ler e imprimir o nome  e as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de um</a:t>
            </a:r>
            <a:r>
              <a:rPr sz="3000" spc="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aluno.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52863" y="1278308"/>
            <a:ext cx="9070082" cy="2523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Considere </a:t>
            </a:r>
            <a:r>
              <a:rPr sz="3000" dirty="0">
                <a:latin typeface="Arial"/>
                <a:cs typeface="Arial"/>
              </a:rPr>
              <a:t>as </a:t>
            </a:r>
            <a:r>
              <a:rPr sz="3000" spc="-6" dirty="0">
                <a:latin typeface="Arial"/>
                <a:cs typeface="Arial"/>
              </a:rPr>
              <a:t>informações </a:t>
            </a:r>
            <a:r>
              <a:rPr sz="3000" dirty="0">
                <a:latin typeface="Arial"/>
                <a:cs typeface="Arial"/>
              </a:rPr>
              <a:t>de um </a:t>
            </a:r>
            <a:r>
              <a:rPr sz="3000" spc="-6" dirty="0">
                <a:latin typeface="Arial"/>
                <a:cs typeface="Arial"/>
              </a:rPr>
              <a:t>aluno que tem  </a:t>
            </a:r>
            <a:r>
              <a:rPr sz="3000" dirty="0">
                <a:latin typeface="Arial"/>
                <a:cs typeface="Arial"/>
              </a:rPr>
              <a:t>NOME </a:t>
            </a:r>
            <a:r>
              <a:rPr sz="3000" spc="-6" dirty="0">
                <a:latin typeface="Arial"/>
                <a:cs typeface="Arial"/>
              </a:rPr>
              <a:t>e 4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como campos de uma estrutura;  </a:t>
            </a:r>
            <a:r>
              <a:rPr sz="3000" dirty="0">
                <a:latin typeface="Arial"/>
                <a:cs typeface="Arial"/>
              </a:rPr>
              <a:t>veja </a:t>
            </a:r>
            <a:r>
              <a:rPr sz="3000" i="1" spc="-6" dirty="0">
                <a:latin typeface="Arial"/>
                <a:cs typeface="Arial"/>
              </a:rPr>
              <a:t>layout</a:t>
            </a:r>
            <a:r>
              <a:rPr sz="3000" i="1" spc="-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abaixo.</a:t>
            </a:r>
            <a:endParaRPr sz="3000">
              <a:latin typeface="Arial"/>
              <a:cs typeface="Arial"/>
            </a:endParaRPr>
          </a:p>
          <a:p>
            <a:pPr>
              <a:spcBef>
                <a:spcPts val="29"/>
              </a:spcBef>
            </a:pPr>
            <a:endParaRPr sz="3300">
              <a:latin typeface="Times New Roman"/>
              <a:cs typeface="Times New Roman"/>
            </a:endParaRPr>
          </a:p>
          <a:p>
            <a:pPr marL="1668451"/>
            <a:r>
              <a:rPr sz="2300" dirty="0">
                <a:latin typeface="Arial"/>
                <a:cs typeface="Arial"/>
              </a:rPr>
              <a:t>Cadastro de notas</a:t>
            </a:r>
            <a:r>
              <a:rPr sz="2300" spc="-16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  <a:p>
            <a:pPr marL="1668451">
              <a:spcBef>
                <a:spcPts val="1483"/>
              </a:spcBef>
              <a:tabLst>
                <a:tab pos="6626009" algn="l"/>
              </a:tabLst>
            </a:pPr>
            <a:r>
              <a:rPr sz="2300" dirty="0">
                <a:latin typeface="Arial"/>
                <a:cs typeface="Arial"/>
              </a:rPr>
              <a:t>Nome: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75810" y="3876205"/>
          <a:ext cx="6570204" cy="1943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140"/>
                <a:gridCol w="1641140"/>
                <a:gridCol w="1646784"/>
                <a:gridCol w="1641140"/>
              </a:tblGrid>
              <a:tr h="710031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Notas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95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1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3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4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841"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130733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786" y="1468620"/>
            <a:ext cx="6133110" cy="293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8750"/>
              <a:buChar char="•"/>
              <a:tabLst>
                <a:tab pos="535874" algn="l"/>
                <a:tab pos="536597" algn="l"/>
              </a:tabLst>
            </a:pPr>
            <a:r>
              <a:rPr sz="3600" spc="-6" dirty="0">
                <a:latin typeface="Arial"/>
                <a:cs typeface="Arial"/>
              </a:rPr>
              <a:t>Ideia básica do algoritmo</a:t>
            </a:r>
            <a:r>
              <a:rPr sz="3600" spc="-51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Ler os dados de um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Imprimir </a:t>
            </a:r>
            <a:r>
              <a:rPr sz="3200" spc="-6" dirty="0">
                <a:latin typeface="Arial"/>
                <a:cs typeface="Arial"/>
              </a:rPr>
              <a:t>os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26684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79105" y="1438533"/>
            <a:ext cx="3600111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01772" algn="l"/>
              </a:tabLst>
            </a:pPr>
            <a:r>
              <a:rPr sz="2200" spc="6" dirty="0">
                <a:solidFill>
                  <a:srgbClr val="852B34"/>
                </a:solidFill>
                <a:latin typeface="Arial"/>
                <a:cs typeface="Arial"/>
              </a:rPr>
              <a:t>1.	</a:t>
            </a: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4906" y="2835087"/>
            <a:ext cx="7069526" cy="211921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1000" rIns="0" bIns="0" rtlCol="0">
            <a:spAutoFit/>
          </a:bodyPr>
          <a:lstStyle/>
          <a:p>
            <a:pPr marL="99209">
              <a:spcBef>
                <a:spcPts val="165"/>
              </a:spcBef>
            </a:pPr>
            <a:r>
              <a:rPr sz="2700"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7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  <a:p>
            <a:pPr marL="99209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517046">
              <a:lnSpc>
                <a:spcPts val="3284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1704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notas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99209"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716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104" y="1438533"/>
            <a:ext cx="3975122" cy="1087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spc="6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5812" y="3931759"/>
            <a:ext cx="5169962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520667"/>
            <a:r>
              <a:rPr sz="2300" spc="-6" dirty="0">
                <a:latin typeface="Courier New"/>
                <a:cs typeface="Courier New"/>
              </a:rPr>
              <a:t>Aluno 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 dados do</a:t>
            </a:r>
            <a:r>
              <a:rPr sz="2300" spc="-46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77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4439245" y="4945309"/>
            <a:ext cx="552640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para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percorrer </a:t>
            </a: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o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vetor de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notas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0483" y="4945309"/>
            <a:ext cx="303053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contador</a:t>
            </a:r>
            <a:endParaRPr sz="2300">
              <a:latin typeface="Courier New"/>
              <a:cs typeface="Courier New"/>
            </a:endParaRPr>
          </a:p>
          <a:p>
            <a:pPr marL="37656"/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8495" y="1623248"/>
            <a:ext cx="4714006" cy="141570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0414" rIns="0" bIns="0" rtlCol="0">
            <a:spAutoFit/>
          </a:bodyPr>
          <a:lstStyle/>
          <a:p>
            <a:pPr marL="99933">
              <a:spcBef>
                <a:spcPts val="23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177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804" y="1438532"/>
            <a:ext cx="4892973" cy="1682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spc="-6" dirty="0">
                <a:latin typeface="Arial"/>
                <a:cs typeface="Arial"/>
              </a:rPr>
              <a:t>Ler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8495" y="1270612"/>
            <a:ext cx="471400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99933">
              <a:spcBef>
                <a:spcPts val="6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spc="-6" dirty="0">
                <a:latin typeface="Courier New"/>
                <a:cs typeface="Courier New"/>
              </a:rPr>
              <a:t>Aluno</a:t>
            </a:r>
            <a:r>
              <a:rPr spc="-114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>
              <a:spcBef>
                <a:spcPts val="23"/>
              </a:spcBef>
            </a:pP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4970" y="4833361"/>
            <a:ext cx="5768495" cy="2090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>
              <a:tabLst>
                <a:tab pos="83350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latin typeface="Courier New"/>
                <a:cs typeface="Courier New"/>
              </a:rPr>
              <a:t>i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dirty="0">
                <a:latin typeface="Courier New"/>
                <a:cs typeface="Courier New"/>
              </a:rPr>
              <a:t>i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z="2700" spc="-1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6" dirty="0">
                <a:latin typeface="Courier New"/>
                <a:cs typeface="Courier New"/>
              </a:rPr>
              <a:t>a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6" dirty="0">
                <a:latin typeface="Courier New"/>
                <a:cs typeface="Courier New"/>
              </a:rPr>
              <a:t>notas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731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32691" y="5286750"/>
            <a:ext cx="6252669" cy="558385"/>
          </a:xfrm>
          <a:prstGeom prst="rect">
            <a:avLst/>
          </a:prstGeom>
        </p:spPr>
        <p:txBody>
          <a:bodyPr vert="horz" wrap="square" lIns="0" tIns="4345" rIns="0" bIns="0" rtlCol="0">
            <a:spAutoFit/>
          </a:bodyPr>
          <a:lstStyle/>
          <a:p>
            <a:pPr>
              <a:spcBef>
                <a:spcPts val="34"/>
              </a:spcBef>
            </a:pPr>
            <a:endParaRPr>
              <a:latin typeface="Times New Roman"/>
              <a:cs typeface="Times New Roman"/>
            </a:endParaRPr>
          </a:p>
          <a:p>
            <a:pPr marR="419285" algn="r"/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752" y="1192247"/>
          <a:ext cx="9849807" cy="6250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5801"/>
                <a:gridCol w="1116866"/>
                <a:gridCol w="3597140"/>
              </a:tblGrid>
              <a:tr h="4088906">
                <a:tc>
                  <a:txBody>
                    <a:bodyPr/>
                    <a:lstStyle/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172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Definir</a:t>
                      </a:r>
                      <a:r>
                        <a:rPr sz="31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estrutura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Declarar</a:t>
                      </a:r>
                      <a:r>
                        <a:rPr sz="31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variáveis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spc="-5" dirty="0">
                          <a:latin typeface="Arial"/>
                          <a:cs typeface="Arial"/>
                        </a:rPr>
                        <a:t>Ler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 </a:t>
                      </a:r>
                      <a:r>
                        <a:rPr sz="3100" spc="-5" dirty="0">
                          <a:latin typeface="Arial"/>
                          <a:cs typeface="Arial"/>
                        </a:rPr>
                        <a:t>de um</a:t>
                      </a:r>
                      <a:r>
                        <a:rPr sz="3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aluno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Imprimir os</a:t>
                      </a:r>
                      <a:r>
                        <a:rPr sz="31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</a:t>
                      </a:r>
                      <a:endParaRPr sz="3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typedef</a:t>
                      </a:r>
                      <a:r>
                        <a:rPr sz="1800" b="1" spc="-8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40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r>
                        <a:rPr sz="1800" spc="-1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main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 marR="19716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gets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spc="15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om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8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1800" spc="-3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9723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scanf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spc="-7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&amp;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2411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puts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511300">
                <a:tc gridSpan="2">
                  <a:txBody>
                    <a:bodyPr/>
                    <a:lstStyle/>
                    <a:p>
                      <a:pPr marL="85090">
                        <a:lnSpc>
                          <a:spcPts val="1465"/>
                        </a:lnSpc>
                      </a:pPr>
                      <a:r>
                        <a:rPr sz="26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26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26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2600" spc="-1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450850">
                        <a:lnSpc>
                          <a:spcPct val="100000"/>
                        </a:lnSpc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600" spc="-12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35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652557" y="1136273"/>
            <a:ext cx="4547665" cy="617594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50691" rIns="0" bIns="0" rtlCol="0">
            <a:spAutoFit/>
          </a:bodyPr>
          <a:lstStyle/>
          <a:p>
            <a:pPr marL="377284" marR="1947249" indent="-278075">
              <a:spcBef>
                <a:spcPts val="39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9"/>
              </a:spcBef>
            </a:pPr>
            <a:endParaRPr sz="1900">
              <a:latin typeface="Times New Roman"/>
              <a:cs typeface="Times New Roman"/>
            </a:endParaRPr>
          </a:p>
          <a:p>
            <a:pPr marL="99209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Aluno</a:t>
            </a:r>
            <a:r>
              <a:rPr spc="-103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scanf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puts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771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1" y="2686476"/>
            <a:ext cx="2028776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1" y="2184107"/>
            <a:ext cx="4460039" cy="137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b="1" spc="-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422182" algn="just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  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 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0049" y="3796722"/>
            <a:ext cx="231838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57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8101" y="3528045"/>
            <a:ext cx="2028776" cy="835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5839" y="4334072"/>
            <a:ext cx="4032303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8102" y="5409614"/>
            <a:ext cx="3603824" cy="1667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spc="-6" dirty="0">
                <a:latin typeface="Courier New"/>
                <a:cs typeface="Courier New"/>
              </a:rPr>
              <a:t>MinhaEstrutura </a:t>
            </a:r>
            <a:r>
              <a:rPr spc="6" dirty="0">
                <a:latin typeface="Courier New"/>
                <a:cs typeface="Courier New"/>
              </a:rPr>
              <a:t>var;  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0" y="0"/>
                </a:moveTo>
                <a:lnTo>
                  <a:pt x="2485136" y="406907"/>
                </a:lnTo>
                <a:lnTo>
                  <a:pt x="2485136" y="812164"/>
                </a:lnTo>
                <a:lnTo>
                  <a:pt x="2490931" y="855266"/>
                </a:lnTo>
                <a:lnTo>
                  <a:pt x="2507285" y="894004"/>
                </a:lnTo>
                <a:lnTo>
                  <a:pt x="2532649" y="926830"/>
                </a:lnTo>
                <a:lnTo>
                  <a:pt x="2565475" y="952194"/>
                </a:lnTo>
                <a:lnTo>
                  <a:pt x="2604213" y="968548"/>
                </a:lnTo>
                <a:lnTo>
                  <a:pt x="2647315" y="974344"/>
                </a:lnTo>
                <a:lnTo>
                  <a:pt x="3473576" y="974344"/>
                </a:lnTo>
                <a:lnTo>
                  <a:pt x="3516678" y="968548"/>
                </a:lnTo>
                <a:lnTo>
                  <a:pt x="3555416" y="952194"/>
                </a:lnTo>
                <a:lnTo>
                  <a:pt x="3588242" y="926830"/>
                </a:lnTo>
                <a:lnTo>
                  <a:pt x="3613606" y="894004"/>
                </a:lnTo>
                <a:lnTo>
                  <a:pt x="3629960" y="855266"/>
                </a:lnTo>
                <a:lnTo>
                  <a:pt x="3635756" y="812164"/>
                </a:lnTo>
                <a:lnTo>
                  <a:pt x="3635756" y="163702"/>
                </a:lnTo>
                <a:lnTo>
                  <a:pt x="2485136" y="163702"/>
                </a:lnTo>
                <a:lnTo>
                  <a:pt x="0" y="0"/>
                </a:lnTo>
                <a:close/>
              </a:path>
              <a:path w="3636009" h="974725">
                <a:moveTo>
                  <a:pt x="3473576" y="1524"/>
                </a:moveTo>
                <a:lnTo>
                  <a:pt x="2647315" y="1524"/>
                </a:lnTo>
                <a:lnTo>
                  <a:pt x="2604213" y="7319"/>
                </a:lnTo>
                <a:lnTo>
                  <a:pt x="2565475" y="23673"/>
                </a:lnTo>
                <a:lnTo>
                  <a:pt x="2532649" y="49037"/>
                </a:lnTo>
                <a:lnTo>
                  <a:pt x="2507285" y="81863"/>
                </a:lnTo>
                <a:lnTo>
                  <a:pt x="2490931" y="120601"/>
                </a:lnTo>
                <a:lnTo>
                  <a:pt x="2485136" y="163702"/>
                </a:lnTo>
                <a:lnTo>
                  <a:pt x="3635756" y="163702"/>
                </a:lnTo>
                <a:lnTo>
                  <a:pt x="3629960" y="120601"/>
                </a:lnTo>
                <a:lnTo>
                  <a:pt x="3613606" y="81863"/>
                </a:lnTo>
                <a:lnTo>
                  <a:pt x="3588242" y="49037"/>
                </a:lnTo>
                <a:lnTo>
                  <a:pt x="3555416" y="23673"/>
                </a:lnTo>
                <a:lnTo>
                  <a:pt x="3516678" y="7319"/>
                </a:lnTo>
                <a:lnTo>
                  <a:pt x="3473576" y="1524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2485136" y="163702"/>
                </a:moveTo>
                <a:lnTo>
                  <a:pt x="2490931" y="120601"/>
                </a:lnTo>
                <a:lnTo>
                  <a:pt x="2507285" y="81863"/>
                </a:lnTo>
                <a:lnTo>
                  <a:pt x="2532649" y="49037"/>
                </a:lnTo>
                <a:lnTo>
                  <a:pt x="2565475" y="23673"/>
                </a:lnTo>
                <a:lnTo>
                  <a:pt x="2604213" y="7319"/>
                </a:lnTo>
                <a:lnTo>
                  <a:pt x="2647315" y="1524"/>
                </a:lnTo>
                <a:lnTo>
                  <a:pt x="2676906" y="1524"/>
                </a:lnTo>
                <a:lnTo>
                  <a:pt x="2964561" y="1524"/>
                </a:lnTo>
                <a:lnTo>
                  <a:pt x="3473576" y="1524"/>
                </a:lnTo>
                <a:lnTo>
                  <a:pt x="3516678" y="7319"/>
                </a:lnTo>
                <a:lnTo>
                  <a:pt x="3555416" y="23673"/>
                </a:lnTo>
                <a:lnTo>
                  <a:pt x="3588242" y="49037"/>
                </a:lnTo>
                <a:lnTo>
                  <a:pt x="3613606" y="81863"/>
                </a:lnTo>
                <a:lnTo>
                  <a:pt x="3629960" y="120601"/>
                </a:lnTo>
                <a:lnTo>
                  <a:pt x="3635756" y="163702"/>
                </a:lnTo>
                <a:lnTo>
                  <a:pt x="3635756" y="406907"/>
                </a:lnTo>
                <a:lnTo>
                  <a:pt x="3635756" y="812164"/>
                </a:lnTo>
                <a:lnTo>
                  <a:pt x="3629960" y="855266"/>
                </a:lnTo>
                <a:lnTo>
                  <a:pt x="3613606" y="894004"/>
                </a:lnTo>
                <a:lnTo>
                  <a:pt x="3588242" y="926830"/>
                </a:lnTo>
                <a:lnTo>
                  <a:pt x="3555416" y="952194"/>
                </a:lnTo>
                <a:lnTo>
                  <a:pt x="3516678" y="968548"/>
                </a:lnTo>
                <a:lnTo>
                  <a:pt x="3473576" y="974344"/>
                </a:lnTo>
                <a:lnTo>
                  <a:pt x="2964561" y="974344"/>
                </a:lnTo>
                <a:lnTo>
                  <a:pt x="2676906" y="974344"/>
                </a:lnTo>
                <a:lnTo>
                  <a:pt x="2647315" y="974344"/>
                </a:lnTo>
                <a:lnTo>
                  <a:pt x="2604213" y="968548"/>
                </a:lnTo>
                <a:lnTo>
                  <a:pt x="2565475" y="952194"/>
                </a:lnTo>
                <a:lnTo>
                  <a:pt x="2532649" y="926830"/>
                </a:lnTo>
                <a:lnTo>
                  <a:pt x="2507285" y="894004"/>
                </a:lnTo>
                <a:lnTo>
                  <a:pt x="2490931" y="855266"/>
                </a:lnTo>
                <a:lnTo>
                  <a:pt x="2485136" y="812164"/>
                </a:lnTo>
                <a:lnTo>
                  <a:pt x="2485136" y="406907"/>
                </a:lnTo>
                <a:lnTo>
                  <a:pt x="0" y="0"/>
                </a:lnTo>
                <a:lnTo>
                  <a:pt x="2485136" y="163702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99591" y="4183781"/>
            <a:ext cx="1070824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17" dirty="0">
                <a:latin typeface="Arial"/>
                <a:cs typeface="Arial"/>
              </a:rPr>
              <a:t>Tipo </a:t>
            </a:r>
            <a:r>
              <a:rPr spc="-11" dirty="0">
                <a:latin typeface="Arial"/>
                <a:cs typeface="Arial"/>
              </a:rPr>
              <a:t>de  </a:t>
            </a:r>
            <a:r>
              <a:rPr spc="-6" dirty="0">
                <a:latin typeface="Arial"/>
                <a:cs typeface="Arial"/>
              </a:rPr>
              <a:t>retorno 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9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81</a:t>
            </a:fld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133018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3888982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2439670" y="852677"/>
                </a:moveTo>
                <a:lnTo>
                  <a:pt x="234950" y="852677"/>
                </a:lnTo>
                <a:lnTo>
                  <a:pt x="187600" y="857449"/>
                </a:lnTo>
                <a:lnTo>
                  <a:pt x="143498" y="871136"/>
                </a:lnTo>
                <a:lnTo>
                  <a:pt x="103588" y="892794"/>
                </a:lnTo>
                <a:lnTo>
                  <a:pt x="68816" y="921480"/>
                </a:lnTo>
                <a:lnTo>
                  <a:pt x="40126" y="956249"/>
                </a:lnTo>
                <a:lnTo>
                  <a:pt x="18464" y="996160"/>
                </a:lnTo>
                <a:lnTo>
                  <a:pt x="4773" y="1040267"/>
                </a:lnTo>
                <a:lnTo>
                  <a:pt x="0" y="1087627"/>
                </a:lnTo>
                <a:lnTo>
                  <a:pt x="0" y="2027427"/>
                </a:lnTo>
                <a:lnTo>
                  <a:pt x="4773" y="2074788"/>
                </a:lnTo>
                <a:lnTo>
                  <a:pt x="18464" y="2118895"/>
                </a:lnTo>
                <a:lnTo>
                  <a:pt x="40126" y="2158806"/>
                </a:lnTo>
                <a:lnTo>
                  <a:pt x="68816" y="2193575"/>
                </a:lnTo>
                <a:lnTo>
                  <a:pt x="103588" y="2222261"/>
                </a:lnTo>
                <a:lnTo>
                  <a:pt x="143498" y="2243919"/>
                </a:lnTo>
                <a:lnTo>
                  <a:pt x="187600" y="2257606"/>
                </a:lnTo>
                <a:lnTo>
                  <a:pt x="234950" y="2262378"/>
                </a:lnTo>
                <a:lnTo>
                  <a:pt x="2439670" y="2262378"/>
                </a:lnTo>
                <a:lnTo>
                  <a:pt x="2487030" y="2257606"/>
                </a:lnTo>
                <a:lnTo>
                  <a:pt x="2531137" y="2243919"/>
                </a:lnTo>
                <a:lnTo>
                  <a:pt x="2571048" y="2222261"/>
                </a:lnTo>
                <a:lnTo>
                  <a:pt x="2605817" y="2193575"/>
                </a:lnTo>
                <a:lnTo>
                  <a:pt x="2634503" y="2158806"/>
                </a:lnTo>
                <a:lnTo>
                  <a:pt x="2656161" y="2118895"/>
                </a:lnTo>
                <a:lnTo>
                  <a:pt x="2669848" y="2074788"/>
                </a:lnTo>
                <a:lnTo>
                  <a:pt x="2674620" y="2027427"/>
                </a:lnTo>
                <a:lnTo>
                  <a:pt x="2674620" y="1087627"/>
                </a:lnTo>
                <a:lnTo>
                  <a:pt x="2669848" y="1040267"/>
                </a:lnTo>
                <a:lnTo>
                  <a:pt x="2656161" y="996160"/>
                </a:lnTo>
                <a:lnTo>
                  <a:pt x="2634503" y="956249"/>
                </a:lnTo>
                <a:lnTo>
                  <a:pt x="2605817" y="921480"/>
                </a:lnTo>
                <a:lnTo>
                  <a:pt x="2571048" y="892794"/>
                </a:lnTo>
                <a:lnTo>
                  <a:pt x="2531137" y="871136"/>
                </a:lnTo>
                <a:lnTo>
                  <a:pt x="2487030" y="857449"/>
                </a:lnTo>
                <a:lnTo>
                  <a:pt x="2439670" y="852677"/>
                </a:lnTo>
                <a:close/>
              </a:path>
              <a:path w="3623945" h="2262504">
                <a:moveTo>
                  <a:pt x="3623817" y="0"/>
                </a:moveTo>
                <a:lnTo>
                  <a:pt x="1560195" y="852677"/>
                </a:lnTo>
                <a:lnTo>
                  <a:pt x="2228850" y="852677"/>
                </a:lnTo>
                <a:lnTo>
                  <a:pt x="3623817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0" y="1087627"/>
                </a:moveTo>
                <a:lnTo>
                  <a:pt x="4773" y="1040267"/>
                </a:lnTo>
                <a:lnTo>
                  <a:pt x="18464" y="996160"/>
                </a:lnTo>
                <a:lnTo>
                  <a:pt x="40126" y="956249"/>
                </a:lnTo>
                <a:lnTo>
                  <a:pt x="68816" y="921480"/>
                </a:lnTo>
                <a:lnTo>
                  <a:pt x="103588" y="892794"/>
                </a:lnTo>
                <a:lnTo>
                  <a:pt x="143498" y="871136"/>
                </a:lnTo>
                <a:lnTo>
                  <a:pt x="187600" y="857449"/>
                </a:lnTo>
                <a:lnTo>
                  <a:pt x="234950" y="852677"/>
                </a:lnTo>
                <a:lnTo>
                  <a:pt x="1560195" y="852677"/>
                </a:lnTo>
                <a:lnTo>
                  <a:pt x="3623817" y="0"/>
                </a:lnTo>
                <a:lnTo>
                  <a:pt x="2228850" y="852677"/>
                </a:lnTo>
                <a:lnTo>
                  <a:pt x="2439670" y="852677"/>
                </a:lnTo>
                <a:lnTo>
                  <a:pt x="2487030" y="857449"/>
                </a:lnTo>
                <a:lnTo>
                  <a:pt x="2531137" y="871136"/>
                </a:lnTo>
                <a:lnTo>
                  <a:pt x="2571048" y="892794"/>
                </a:lnTo>
                <a:lnTo>
                  <a:pt x="2605817" y="921480"/>
                </a:lnTo>
                <a:lnTo>
                  <a:pt x="2634503" y="956249"/>
                </a:lnTo>
                <a:lnTo>
                  <a:pt x="2656161" y="996160"/>
                </a:lnTo>
                <a:lnTo>
                  <a:pt x="2669848" y="1040267"/>
                </a:lnTo>
                <a:lnTo>
                  <a:pt x="2674620" y="1087627"/>
                </a:lnTo>
                <a:lnTo>
                  <a:pt x="2674620" y="1440052"/>
                </a:lnTo>
                <a:lnTo>
                  <a:pt x="2674620" y="2027427"/>
                </a:lnTo>
                <a:lnTo>
                  <a:pt x="2669848" y="2074788"/>
                </a:lnTo>
                <a:lnTo>
                  <a:pt x="2656161" y="2118895"/>
                </a:lnTo>
                <a:lnTo>
                  <a:pt x="2634503" y="2158806"/>
                </a:lnTo>
                <a:lnTo>
                  <a:pt x="2605817" y="2193575"/>
                </a:lnTo>
                <a:lnTo>
                  <a:pt x="2571048" y="2222261"/>
                </a:lnTo>
                <a:lnTo>
                  <a:pt x="2531137" y="2243919"/>
                </a:lnTo>
                <a:lnTo>
                  <a:pt x="2487030" y="2257606"/>
                </a:lnTo>
                <a:lnTo>
                  <a:pt x="2439670" y="2262378"/>
                </a:lnTo>
                <a:lnTo>
                  <a:pt x="2228850" y="2262378"/>
                </a:lnTo>
                <a:lnTo>
                  <a:pt x="1560195" y="2262378"/>
                </a:lnTo>
                <a:lnTo>
                  <a:pt x="234950" y="2262378"/>
                </a:lnTo>
                <a:lnTo>
                  <a:pt x="187600" y="2257606"/>
                </a:lnTo>
                <a:lnTo>
                  <a:pt x="143498" y="2243919"/>
                </a:lnTo>
                <a:lnTo>
                  <a:pt x="103588" y="2222261"/>
                </a:lnTo>
                <a:lnTo>
                  <a:pt x="68816" y="2193575"/>
                </a:lnTo>
                <a:lnTo>
                  <a:pt x="40126" y="2158806"/>
                </a:lnTo>
                <a:lnTo>
                  <a:pt x="18464" y="2118895"/>
                </a:lnTo>
                <a:lnTo>
                  <a:pt x="4773" y="2074788"/>
                </a:lnTo>
                <a:lnTo>
                  <a:pt x="0" y="2027427"/>
                </a:lnTo>
                <a:lnTo>
                  <a:pt x="0" y="1440052"/>
                </a:lnTo>
                <a:lnTo>
                  <a:pt x="0" y="108762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8258" y="4586376"/>
            <a:ext cx="2884990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693" marR="147003" algn="ctr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71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  </a:t>
            </a:r>
            <a:r>
              <a:rPr spc="-6" dirty="0">
                <a:latin typeface="Arial"/>
                <a:cs typeface="Arial"/>
              </a:rPr>
              <a:t>Observe </a:t>
            </a:r>
            <a:r>
              <a:rPr spc="-11" dirty="0">
                <a:latin typeface="Arial"/>
                <a:cs typeface="Arial"/>
              </a:rPr>
              <a:t>que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5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uma  cópia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7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latin typeface="Arial"/>
                <a:cs typeface="Arial"/>
              </a:rPr>
              <a:t>.</a:t>
            </a:r>
            <a:endParaRPr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Assim,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559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15" name="object 15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3403854" y="878408"/>
                </a:moveTo>
                <a:lnTo>
                  <a:pt x="1067054" y="878408"/>
                </a:lnTo>
                <a:lnTo>
                  <a:pt x="1073326" y="925112"/>
                </a:lnTo>
                <a:lnTo>
                  <a:pt x="1091028" y="967081"/>
                </a:lnTo>
                <a:lnTo>
                  <a:pt x="1118489" y="1002639"/>
                </a:lnTo>
                <a:lnTo>
                  <a:pt x="1154034" y="1030112"/>
                </a:lnTo>
                <a:lnTo>
                  <a:pt x="1195994" y="1047823"/>
                </a:lnTo>
                <a:lnTo>
                  <a:pt x="1242694" y="1054099"/>
                </a:lnTo>
                <a:lnTo>
                  <a:pt x="3228213" y="1054099"/>
                </a:lnTo>
                <a:lnTo>
                  <a:pt x="3274913" y="1047823"/>
                </a:lnTo>
                <a:lnTo>
                  <a:pt x="3316873" y="1030112"/>
                </a:lnTo>
                <a:lnTo>
                  <a:pt x="3352418" y="1002639"/>
                </a:lnTo>
                <a:lnTo>
                  <a:pt x="3379879" y="967081"/>
                </a:lnTo>
                <a:lnTo>
                  <a:pt x="3397581" y="925112"/>
                </a:lnTo>
                <a:lnTo>
                  <a:pt x="3403854" y="878408"/>
                </a:lnTo>
                <a:close/>
              </a:path>
              <a:path w="3404234" h="1054100">
                <a:moveTo>
                  <a:pt x="0" y="598804"/>
                </a:moveTo>
                <a:lnTo>
                  <a:pt x="1067054" y="878420"/>
                </a:lnTo>
                <a:lnTo>
                  <a:pt x="3403854" y="878408"/>
                </a:lnTo>
                <a:lnTo>
                  <a:pt x="3403854" y="614895"/>
                </a:lnTo>
                <a:lnTo>
                  <a:pt x="1067054" y="614895"/>
                </a:lnTo>
                <a:lnTo>
                  <a:pt x="0" y="598804"/>
                </a:lnTo>
                <a:close/>
              </a:path>
              <a:path w="3404234" h="1054100">
                <a:moveTo>
                  <a:pt x="3228213" y="0"/>
                </a:moveTo>
                <a:lnTo>
                  <a:pt x="1242694" y="0"/>
                </a:lnTo>
                <a:lnTo>
                  <a:pt x="1195994" y="6276"/>
                </a:lnTo>
                <a:lnTo>
                  <a:pt x="1154034" y="23987"/>
                </a:lnTo>
                <a:lnTo>
                  <a:pt x="1118489" y="51460"/>
                </a:lnTo>
                <a:lnTo>
                  <a:pt x="1091028" y="87018"/>
                </a:lnTo>
                <a:lnTo>
                  <a:pt x="1073326" y="128987"/>
                </a:lnTo>
                <a:lnTo>
                  <a:pt x="1067054" y="175691"/>
                </a:lnTo>
                <a:lnTo>
                  <a:pt x="1067054" y="614895"/>
                </a:lnTo>
                <a:lnTo>
                  <a:pt x="3403854" y="614895"/>
                </a:lnTo>
                <a:lnTo>
                  <a:pt x="3403854" y="175691"/>
                </a:lnTo>
                <a:lnTo>
                  <a:pt x="3397581" y="128987"/>
                </a:lnTo>
                <a:lnTo>
                  <a:pt x="3379879" y="87018"/>
                </a:lnTo>
                <a:lnTo>
                  <a:pt x="3352418" y="51460"/>
                </a:lnTo>
                <a:lnTo>
                  <a:pt x="3316873" y="23987"/>
                </a:lnTo>
                <a:lnTo>
                  <a:pt x="3274913" y="6276"/>
                </a:lnTo>
                <a:lnTo>
                  <a:pt x="3228213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1067054" y="175691"/>
                </a:moveTo>
                <a:lnTo>
                  <a:pt x="1073326" y="128987"/>
                </a:lnTo>
                <a:lnTo>
                  <a:pt x="1091028" y="87018"/>
                </a:lnTo>
                <a:lnTo>
                  <a:pt x="1118489" y="51460"/>
                </a:lnTo>
                <a:lnTo>
                  <a:pt x="1154034" y="23987"/>
                </a:lnTo>
                <a:lnTo>
                  <a:pt x="1195994" y="6276"/>
                </a:lnTo>
                <a:lnTo>
                  <a:pt x="1242694" y="0"/>
                </a:lnTo>
                <a:lnTo>
                  <a:pt x="1456563" y="0"/>
                </a:lnTo>
                <a:lnTo>
                  <a:pt x="2040763" y="0"/>
                </a:lnTo>
                <a:lnTo>
                  <a:pt x="3228213" y="0"/>
                </a:lnTo>
                <a:lnTo>
                  <a:pt x="3274913" y="6276"/>
                </a:lnTo>
                <a:lnTo>
                  <a:pt x="3316873" y="23987"/>
                </a:lnTo>
                <a:lnTo>
                  <a:pt x="3352418" y="51460"/>
                </a:lnTo>
                <a:lnTo>
                  <a:pt x="3379879" y="87018"/>
                </a:lnTo>
                <a:lnTo>
                  <a:pt x="3397581" y="128987"/>
                </a:lnTo>
                <a:lnTo>
                  <a:pt x="3403854" y="175691"/>
                </a:lnTo>
                <a:lnTo>
                  <a:pt x="3403854" y="614895"/>
                </a:lnTo>
                <a:lnTo>
                  <a:pt x="3403854" y="878420"/>
                </a:lnTo>
                <a:lnTo>
                  <a:pt x="3397581" y="925112"/>
                </a:lnTo>
                <a:lnTo>
                  <a:pt x="3379879" y="967081"/>
                </a:lnTo>
                <a:lnTo>
                  <a:pt x="3352418" y="1002639"/>
                </a:lnTo>
                <a:lnTo>
                  <a:pt x="3316873" y="1030112"/>
                </a:lnTo>
                <a:lnTo>
                  <a:pt x="3274913" y="1047823"/>
                </a:lnTo>
                <a:lnTo>
                  <a:pt x="3228213" y="1054099"/>
                </a:lnTo>
                <a:lnTo>
                  <a:pt x="2040763" y="1054099"/>
                </a:lnTo>
                <a:lnTo>
                  <a:pt x="1456563" y="1054099"/>
                </a:lnTo>
                <a:lnTo>
                  <a:pt x="1242694" y="1054099"/>
                </a:lnTo>
                <a:lnTo>
                  <a:pt x="1195994" y="1047823"/>
                </a:lnTo>
                <a:lnTo>
                  <a:pt x="1154034" y="1030112"/>
                </a:lnTo>
                <a:lnTo>
                  <a:pt x="1118489" y="1002639"/>
                </a:lnTo>
                <a:lnTo>
                  <a:pt x="1091028" y="967081"/>
                </a:lnTo>
                <a:lnTo>
                  <a:pt x="1073326" y="925112"/>
                </a:lnTo>
                <a:lnTo>
                  <a:pt x="1067054" y="878408"/>
                </a:lnTo>
                <a:lnTo>
                  <a:pt x="0" y="598804"/>
                </a:lnTo>
                <a:lnTo>
                  <a:pt x="1067054" y="614895"/>
                </a:lnTo>
                <a:lnTo>
                  <a:pt x="1067054" y="17569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25954" y="6425124"/>
            <a:ext cx="155425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</a:t>
            </a:r>
            <a:r>
              <a:rPr spc="-19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62583" y="6710942"/>
            <a:ext cx="1878028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</a:t>
            </a:r>
            <a:r>
              <a:rPr spc="2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na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2078863" y="0"/>
                </a:moveTo>
                <a:lnTo>
                  <a:pt x="648081" y="0"/>
                </a:lnTo>
                <a:lnTo>
                  <a:pt x="601267" y="9451"/>
                </a:lnTo>
                <a:lnTo>
                  <a:pt x="563038" y="35226"/>
                </a:lnTo>
                <a:lnTo>
                  <a:pt x="537263" y="73455"/>
                </a:lnTo>
                <a:lnTo>
                  <a:pt x="527812" y="120269"/>
                </a:lnTo>
                <a:lnTo>
                  <a:pt x="0" y="121158"/>
                </a:lnTo>
                <a:lnTo>
                  <a:pt x="527812" y="300609"/>
                </a:lnTo>
                <a:lnTo>
                  <a:pt x="527812" y="601090"/>
                </a:lnTo>
                <a:lnTo>
                  <a:pt x="537263" y="647904"/>
                </a:lnTo>
                <a:lnTo>
                  <a:pt x="563038" y="686133"/>
                </a:lnTo>
                <a:lnTo>
                  <a:pt x="601267" y="711908"/>
                </a:lnTo>
                <a:lnTo>
                  <a:pt x="648081" y="721360"/>
                </a:lnTo>
                <a:lnTo>
                  <a:pt x="2078863" y="721360"/>
                </a:lnTo>
                <a:lnTo>
                  <a:pt x="2125676" y="711908"/>
                </a:lnTo>
                <a:lnTo>
                  <a:pt x="2163905" y="686133"/>
                </a:lnTo>
                <a:lnTo>
                  <a:pt x="2189680" y="647904"/>
                </a:lnTo>
                <a:lnTo>
                  <a:pt x="2199132" y="601090"/>
                </a:lnTo>
                <a:lnTo>
                  <a:pt x="2199132" y="120269"/>
                </a:lnTo>
                <a:lnTo>
                  <a:pt x="2189680" y="73455"/>
                </a:lnTo>
                <a:lnTo>
                  <a:pt x="2163905" y="35226"/>
                </a:lnTo>
                <a:lnTo>
                  <a:pt x="2125676" y="9451"/>
                </a:lnTo>
                <a:lnTo>
                  <a:pt x="2078863" y="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527812" y="120269"/>
                </a:moveTo>
                <a:lnTo>
                  <a:pt x="537263" y="73455"/>
                </a:lnTo>
                <a:lnTo>
                  <a:pt x="563038" y="35226"/>
                </a:lnTo>
                <a:lnTo>
                  <a:pt x="601267" y="9451"/>
                </a:lnTo>
                <a:lnTo>
                  <a:pt x="648081" y="0"/>
                </a:lnTo>
                <a:lnTo>
                  <a:pt x="806323" y="0"/>
                </a:lnTo>
                <a:lnTo>
                  <a:pt x="1224152" y="0"/>
                </a:lnTo>
                <a:lnTo>
                  <a:pt x="2078863" y="0"/>
                </a:lnTo>
                <a:lnTo>
                  <a:pt x="2125676" y="9451"/>
                </a:lnTo>
                <a:lnTo>
                  <a:pt x="2163905" y="35226"/>
                </a:lnTo>
                <a:lnTo>
                  <a:pt x="2189680" y="73455"/>
                </a:lnTo>
                <a:lnTo>
                  <a:pt x="2199132" y="120269"/>
                </a:lnTo>
                <a:lnTo>
                  <a:pt x="2199132" y="300609"/>
                </a:lnTo>
                <a:lnTo>
                  <a:pt x="2199132" y="601090"/>
                </a:lnTo>
                <a:lnTo>
                  <a:pt x="2189680" y="647904"/>
                </a:lnTo>
                <a:lnTo>
                  <a:pt x="2163905" y="686133"/>
                </a:lnTo>
                <a:lnTo>
                  <a:pt x="2125676" y="711908"/>
                </a:lnTo>
                <a:lnTo>
                  <a:pt x="2078863" y="721360"/>
                </a:lnTo>
                <a:lnTo>
                  <a:pt x="1224152" y="721360"/>
                </a:lnTo>
                <a:lnTo>
                  <a:pt x="806323" y="721360"/>
                </a:lnTo>
                <a:lnTo>
                  <a:pt x="648081" y="721360"/>
                </a:lnTo>
                <a:lnTo>
                  <a:pt x="601267" y="711908"/>
                </a:lnTo>
                <a:lnTo>
                  <a:pt x="563038" y="686133"/>
                </a:lnTo>
                <a:lnTo>
                  <a:pt x="537263" y="647904"/>
                </a:lnTo>
                <a:lnTo>
                  <a:pt x="527812" y="601090"/>
                </a:lnTo>
                <a:lnTo>
                  <a:pt x="527812" y="300609"/>
                </a:lnTo>
                <a:lnTo>
                  <a:pt x="0" y="121158"/>
                </a:lnTo>
                <a:lnTo>
                  <a:pt x="527812" y="12026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80404" y="2184108"/>
            <a:ext cx="2157988" cy="8403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5836" marR="5793" indent="-34759">
              <a:spcBef>
                <a:spcPts val="40"/>
              </a:spcBef>
            </a:pPr>
            <a:r>
              <a:rPr dirty="0">
                <a:latin typeface="Arial"/>
                <a:cs typeface="Arial"/>
              </a:rPr>
              <a:t>O </a:t>
            </a:r>
            <a:r>
              <a:rPr spc="-6" dirty="0">
                <a:latin typeface="Arial"/>
                <a:cs typeface="Arial"/>
              </a:rPr>
              <a:t>valor </a:t>
            </a:r>
            <a:r>
              <a:rPr spc="-11" dirty="0">
                <a:latin typeface="Arial"/>
                <a:cs typeface="Arial"/>
              </a:rPr>
              <a:t>de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6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 </a:t>
            </a:r>
            <a:r>
              <a:rPr u="sng" spc="-11" dirty="0">
                <a:latin typeface="Arial"/>
                <a:cs typeface="Arial"/>
              </a:rPr>
              <a:t>copiado </a:t>
            </a:r>
            <a:r>
              <a:rPr spc="-6" dirty="0">
                <a:latin typeface="Arial"/>
                <a:cs typeface="Arial"/>
              </a:rPr>
              <a:t>para</a:t>
            </a:r>
            <a:r>
              <a:rPr spc="-3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98078" y="6991301"/>
            <a:ext cx="180970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955"/>
              </a:lnSpc>
            </a:pPr>
            <a:r>
              <a:rPr spc="-6" dirty="0">
                <a:latin typeface="Arial"/>
                <a:cs typeface="Arial"/>
              </a:rPr>
              <a:t>função</a:t>
            </a:r>
            <a:r>
              <a:rPr spc="-80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82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3104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510719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 err="1" smtClean="0">
                <a:latin typeface="Courier New"/>
                <a:cs typeface="Courier New"/>
              </a:rPr>
              <a:t>imprime</a:t>
            </a:r>
            <a:r>
              <a:rPr spc="-6" dirty="0" smtClean="0">
                <a:latin typeface="Courier New"/>
                <a:cs typeface="Courier New"/>
              </a:rPr>
              <a:t>(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pt-BR" b="1" spc="-6" dirty="0" smtClean="0">
                <a:latin typeface="Courier New"/>
                <a:cs typeface="Courier New"/>
              </a:rPr>
              <a:t>*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)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dirty="0" smtClean="0">
                <a:latin typeface="Courier New"/>
                <a:cs typeface="Courier New"/>
              </a:rPr>
              <a:t>-&gt;</a:t>
            </a:r>
            <a:r>
              <a:rPr b="1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dirty="0">
                <a:latin typeface="Courier New"/>
                <a:cs typeface="Courier New"/>
              </a:rPr>
              <a:t>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 err="1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 smtClean="0">
                <a:solidFill>
                  <a:srgbClr val="00664D"/>
                </a:solidFill>
                <a:latin typeface="Courier New"/>
                <a:cs typeface="Courier New"/>
              </a:rPr>
              <a:t>(</a:t>
            </a:r>
            <a:r>
              <a:rPr lang="pt-BR" spc="-6" dirty="0" smtClean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 err="1" smtClean="0">
                <a:solidFill>
                  <a:srgbClr val="00664D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83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7797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3" y="1835950"/>
            <a:ext cx="9433213" cy="4129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Pode-se criar vetores de estruturas como se</a:t>
            </a:r>
            <a:r>
              <a:rPr sz="3000" spc="171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criam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vetores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tipos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primitivos.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programas apresentados até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momento</a:t>
            </a:r>
            <a:r>
              <a:rPr sz="3000" spc="143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só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fizeram </a:t>
            </a:r>
            <a:r>
              <a:rPr sz="3000" spc="-11" dirty="0">
                <a:latin typeface="Arial"/>
                <a:cs typeface="Arial"/>
              </a:rPr>
              <a:t>menção </a:t>
            </a:r>
            <a:r>
              <a:rPr sz="3000" spc="-6" dirty="0">
                <a:latin typeface="Arial"/>
                <a:cs typeface="Arial"/>
              </a:rPr>
              <a:t>a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única instância da</a:t>
            </a:r>
            <a:r>
              <a:rPr sz="3000" spc="18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marR="588013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É </a:t>
            </a:r>
            <a:r>
              <a:rPr sz="3000" spc="-6" dirty="0">
                <a:latin typeface="Arial"/>
                <a:cs typeface="Arial"/>
              </a:rPr>
              <a:t>necessário possuir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definição da estrutura  </a:t>
            </a:r>
            <a:r>
              <a:rPr sz="3000" spc="-11" dirty="0">
                <a:latin typeface="Arial"/>
                <a:cs typeface="Arial"/>
              </a:rPr>
              <a:t>antes </a:t>
            </a:r>
            <a:r>
              <a:rPr sz="3000" spc="-6" dirty="0">
                <a:latin typeface="Arial"/>
                <a:cs typeface="Arial"/>
              </a:rPr>
              <a:t>de declarar um vetor de</a:t>
            </a:r>
            <a:r>
              <a:rPr sz="3000" spc="10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11520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8262" y="1914732"/>
            <a:ext cx="9162907" cy="3690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642"/>
              <a:buChar char="•"/>
              <a:tabLst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Suponha que </a:t>
            </a:r>
            <a:r>
              <a:rPr sz="3200" spc="-6" dirty="0">
                <a:latin typeface="Arial"/>
                <a:cs typeface="Arial"/>
              </a:rPr>
              <a:t>deseja-se </a:t>
            </a:r>
            <a:r>
              <a:rPr sz="3200" dirty="0">
                <a:latin typeface="Arial"/>
                <a:cs typeface="Arial"/>
              </a:rPr>
              <a:t>manter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registro de  informações relativas a passagens rodoviárias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todos lugares (poltronas)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ônibus.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51"/>
              </a:spcBef>
              <a:buClr>
                <a:srgbClr val="852B34"/>
              </a:buClr>
              <a:buFont typeface="Arial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535874" marR="532253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Pode-se utilizar uma estrutura referente a  cada poltrona </a:t>
            </a:r>
            <a:r>
              <a:rPr sz="3200" spc="-6" dirty="0">
                <a:latin typeface="Arial"/>
                <a:cs typeface="Arial"/>
              </a:rPr>
              <a:t>(</a:t>
            </a: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6" dirty="0">
                <a:latin typeface="Arial"/>
                <a:cs typeface="Arial"/>
              </a:rPr>
              <a:t>) e </a:t>
            </a:r>
            <a:r>
              <a:rPr sz="3200" dirty="0">
                <a:latin typeface="Arial"/>
                <a:cs typeface="Arial"/>
              </a:rPr>
              <a:t>para agrupar  todas elas utiliza-se um vetor de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228683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5040" y="3837023"/>
            <a:ext cx="6987840" cy="1845745"/>
          </a:xfrm>
          <a:custGeom>
            <a:avLst/>
            <a:gdLst/>
            <a:ahLst/>
            <a:cxnLst/>
            <a:rect l="l" t="t" r="r" b="b"/>
            <a:pathLst>
              <a:path w="5975350" h="1675129">
                <a:moveTo>
                  <a:pt x="0" y="0"/>
                </a:moveTo>
                <a:lnTo>
                  <a:pt x="59753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923" y="1470997"/>
            <a:ext cx="9639653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940" marR="5793" indent="-379457">
              <a:buClr>
                <a:srgbClr val="852B34"/>
              </a:buClr>
              <a:buSzPct val="68750"/>
              <a:buFont typeface="Wingdings"/>
              <a:buChar char=""/>
              <a:tabLst>
                <a:tab pos="393216" algn="l"/>
                <a:tab pos="393940" algn="l"/>
              </a:tabLst>
            </a:pPr>
            <a:r>
              <a:rPr sz="2700" dirty="0">
                <a:latin typeface="Arial"/>
                <a:cs typeface="Arial"/>
              </a:rPr>
              <a:t>Um ônibus possui 44 lugares numerados de 0 a 43,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passa  por </a:t>
            </a:r>
            <a:r>
              <a:rPr sz="2700" spc="-6" dirty="0">
                <a:latin typeface="Arial"/>
                <a:cs typeface="Arial"/>
              </a:rPr>
              <a:t>várias </a:t>
            </a:r>
            <a:r>
              <a:rPr sz="2700" dirty="0">
                <a:latin typeface="Arial"/>
                <a:cs typeface="Arial"/>
              </a:rPr>
              <a:t>cidades </a:t>
            </a:r>
            <a:r>
              <a:rPr sz="2700" spc="-6" dirty="0">
                <a:latin typeface="Arial"/>
                <a:cs typeface="Arial"/>
              </a:rPr>
              <a:t>e </a:t>
            </a:r>
            <a:r>
              <a:rPr sz="2700" dirty="0">
                <a:latin typeface="Arial"/>
                <a:cs typeface="Arial"/>
              </a:rPr>
              <a:t>precisa armazenar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  </a:t>
            </a:r>
            <a:r>
              <a:rPr sz="2700" spc="-6" dirty="0">
                <a:latin typeface="Arial"/>
                <a:cs typeface="Arial"/>
              </a:rPr>
              <a:t>abaixo: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80758" y="3534371"/>
            <a:ext cx="2971131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lnSpc>
                <a:spcPct val="154200"/>
              </a:lnSpc>
              <a:tabLst>
                <a:tab pos="1356340" algn="l"/>
                <a:tab pos="2079770" algn="l"/>
                <a:tab pos="2560609" algn="l"/>
                <a:tab pos="2802476" algn="l"/>
                <a:tab pos="2866202" algn="l"/>
              </a:tabLst>
            </a:pPr>
            <a:r>
              <a:rPr sz="2300" dirty="0">
                <a:latin typeface="Arial"/>
                <a:cs typeface="Arial"/>
              </a:rPr>
              <a:t>Nome:_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De: </a:t>
            </a:r>
            <a:r>
              <a:rPr sz="2300" u="heavy" dirty="0">
                <a:latin typeface="Arial"/>
                <a:cs typeface="Arial"/>
              </a:rPr>
              <a:t>				</a:t>
            </a:r>
            <a:r>
              <a:rPr sz="2300" dirty="0">
                <a:latin typeface="Arial"/>
                <a:cs typeface="Arial"/>
              </a:rPr>
              <a:t> Data:_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Poltrona:</a:t>
            </a:r>
            <a:r>
              <a:rPr sz="2300" u="heavy" dirty="0">
                <a:latin typeface="Arial"/>
                <a:cs typeface="Arial"/>
              </a:rPr>
              <a:t> 		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3772" y="3534371"/>
            <a:ext cx="3187227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451" marR="5793" indent="-112968">
              <a:lnSpc>
                <a:spcPct val="154200"/>
              </a:lnSpc>
              <a:tabLst>
                <a:tab pos="2815511" algn="l"/>
                <a:tab pos="2993653" algn="l"/>
                <a:tab pos="3092862" algn="l"/>
              </a:tabLst>
            </a:pPr>
            <a:r>
              <a:rPr sz="2300" dirty="0">
                <a:latin typeface="Arial"/>
                <a:cs typeface="Arial"/>
              </a:rPr>
              <a:t>Número: </a:t>
            </a:r>
            <a:r>
              <a:rPr sz="2300" u="heavy" dirty="0">
                <a:latin typeface="Arial"/>
                <a:cs typeface="Arial"/>
              </a:rPr>
              <a:t>	</a:t>
            </a:r>
            <a:r>
              <a:rPr sz="2300" dirty="0">
                <a:latin typeface="Arial"/>
                <a:cs typeface="Arial"/>
              </a:rPr>
              <a:t> Para: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Horário:_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Distância:</a:t>
            </a:r>
            <a:r>
              <a:rPr sz="2300" u="heavy" dirty="0">
                <a:latin typeface="Arial"/>
                <a:cs typeface="Arial"/>
              </a:rPr>
              <a:t> 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A4A4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95340" y="3299671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5340" y="3966463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4467" y="6295683"/>
            <a:ext cx="362387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43</a:t>
            </a:r>
            <a:endParaRPr sz="2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49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899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49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49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49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899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6" name="object 26"/>
          <p:cNvSpPr/>
          <p:nvPr/>
        </p:nvSpPr>
        <p:spPr>
          <a:xfrm>
            <a:off x="1699062" y="3086971"/>
            <a:ext cx="1878771" cy="575833"/>
          </a:xfrm>
          <a:custGeom>
            <a:avLst/>
            <a:gdLst/>
            <a:ahLst/>
            <a:cxnLst/>
            <a:rect l="l" t="t" r="r" b="b"/>
            <a:pathLst>
              <a:path w="1606550" h="522604">
                <a:moveTo>
                  <a:pt x="0" y="0"/>
                </a:moveTo>
                <a:lnTo>
                  <a:pt x="1606550" y="522350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05040" y="3064580"/>
            <a:ext cx="6987840" cy="607319"/>
          </a:xfrm>
          <a:custGeom>
            <a:avLst/>
            <a:gdLst/>
            <a:ahLst/>
            <a:cxnLst/>
            <a:rect l="l" t="t" r="r" b="b"/>
            <a:pathLst>
              <a:path w="5975350" h="551179">
                <a:moveTo>
                  <a:pt x="0" y="0"/>
                </a:moveTo>
                <a:lnTo>
                  <a:pt x="5975350" y="55092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99062" y="3837023"/>
            <a:ext cx="1893623" cy="1845745"/>
          </a:xfrm>
          <a:custGeom>
            <a:avLst/>
            <a:gdLst/>
            <a:ahLst/>
            <a:cxnLst/>
            <a:rect l="l" t="t" r="r" b="b"/>
            <a:pathLst>
              <a:path w="1619250" h="1675129">
                <a:moveTo>
                  <a:pt x="0" y="0"/>
                </a:moveTo>
                <a:lnTo>
                  <a:pt x="16192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862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5860485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93150" y="2166197"/>
            <a:ext cx="310405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209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numero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 marR="261420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origem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destino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data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horario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poltrona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distancia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Passagem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6484" y="6596544"/>
            <a:ext cx="7547758" cy="50341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862" rIns="0" bIns="0" rtlCol="0">
            <a:spAutoFit/>
          </a:bodyPr>
          <a:lstStyle/>
          <a:p>
            <a:pPr marL="396112">
              <a:spcBef>
                <a:spcPts val="86"/>
              </a:spcBef>
            </a:pP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114" dirty="0">
                <a:latin typeface="Courier New"/>
                <a:cs typeface="Courier New"/>
              </a:rPr>
              <a:t> </a:t>
            </a:r>
            <a:r>
              <a:rPr sz="3200" spc="-6" dirty="0">
                <a:latin typeface="Courier New"/>
                <a:cs typeface="Courier New"/>
              </a:rPr>
              <a:t>dadosPassagem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745" y="1041398"/>
            <a:ext cx="473108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Definição da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96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1438533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6484" y="2177391"/>
            <a:ext cx="7547758" cy="50048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7966" rIns="0" bIns="0" rtlCol="0">
            <a:spAutoFit/>
          </a:bodyPr>
          <a:lstStyle/>
          <a:p>
            <a:pPr marL="396112">
              <a:spcBef>
                <a:spcPts val="63"/>
              </a:spcBef>
            </a:pPr>
            <a:r>
              <a:rPr sz="3200" b="1" spc="-6" dirty="0">
                <a:latin typeface="Courier New"/>
                <a:cs typeface="Courier New"/>
              </a:rPr>
              <a:t>Passagem</a:t>
            </a:r>
            <a:r>
              <a:rPr sz="3200" b="1" spc="-114" dirty="0">
                <a:latin typeface="Courier New"/>
                <a:cs typeface="Courier New"/>
              </a:rPr>
              <a:t> </a:t>
            </a:r>
            <a:r>
              <a:rPr sz="3200" b="1" spc="-6" dirty="0">
                <a:latin typeface="Courier New"/>
                <a:cs typeface="Courier New"/>
              </a:rPr>
              <a:t>dadosPassagem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b="1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0745" y="3417917"/>
            <a:ext cx="7716327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Observe </a:t>
            </a:r>
            <a:r>
              <a:rPr sz="3200" spc="-6" dirty="0">
                <a:latin typeface="Arial"/>
                <a:cs typeface="Arial"/>
              </a:rPr>
              <a:t>que cada </a:t>
            </a:r>
            <a:r>
              <a:rPr sz="3200" dirty="0">
                <a:latin typeface="Arial"/>
                <a:cs typeface="Arial"/>
              </a:rPr>
              <a:t>posição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spc="6" dirty="0">
                <a:latin typeface="Arial"/>
                <a:cs typeface="Arial"/>
              </a:rPr>
              <a:t>vetor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estruturas pode ser vista como uma  variável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tipo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Passagem.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5395" y="5127224"/>
            <a:ext cx="7907175" cy="995122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138" rIns="0" bIns="0" rtlCol="0">
            <a:spAutoFit/>
          </a:bodyPr>
          <a:lstStyle/>
          <a:p>
            <a:pPr marL="97761" marR="302696">
              <a:spcBef>
                <a:spcPts val="80"/>
              </a:spcBef>
            </a:pPr>
            <a:r>
              <a:rPr sz="3200" spc="-6" dirty="0">
                <a:latin typeface="Courier New"/>
                <a:cs typeface="Courier New"/>
              </a:rPr>
              <a:t>Passagem p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3200" dirty="0">
                <a:latin typeface="Courier New"/>
                <a:cs typeface="Courier New"/>
              </a:rPr>
              <a:t>p </a:t>
            </a:r>
            <a:r>
              <a:rPr sz="32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32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8211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7" y="1354572"/>
            <a:ext cx="9259445" cy="5152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1044229" indent="-521391">
              <a:buClr>
                <a:srgbClr val="852B34"/>
              </a:buClr>
              <a:buSzPct val="69642"/>
              <a:buChar char="•"/>
              <a:tabLst>
                <a:tab pos="521391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478665">
              <a:spcBef>
                <a:spcPts val="2543"/>
              </a:spcBef>
            </a:pPr>
            <a:r>
              <a:rPr sz="2700" spc="-6" dirty="0">
                <a:latin typeface="Courier New"/>
                <a:cs typeface="Courier New"/>
              </a:rPr>
              <a:t>Passagem</a:t>
            </a:r>
            <a:r>
              <a:rPr sz="2700" spc="-63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478665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78665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R="980505" algn="ctr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262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5346" y="1354572"/>
            <a:ext cx="8178966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0118" y="2654990"/>
            <a:ext cx="1740648" cy="84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284"/>
              </a:lnSpc>
            </a:pPr>
            <a:r>
              <a:rPr sz="2700" spc="-6" dirty="0">
                <a:latin typeface="Courier New"/>
                <a:cs typeface="Courier New"/>
              </a:rPr>
              <a:t>int</a:t>
            </a:r>
            <a:r>
              <a:rPr sz="2700" spc="-108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spc="-6" dirty="0">
                <a:latin typeface="Courier New"/>
                <a:cs typeface="Courier New"/>
              </a:rPr>
              <a:t>Passagem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90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565375" y="3057863"/>
            <a:ext cx="386893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118" y="3461297"/>
            <a:ext cx="3233268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6808" y="3461297"/>
            <a:ext cx="152752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i++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118" y="3864310"/>
            <a:ext cx="9424300" cy="290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9428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639428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L="1265821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7102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7202" y="3788746"/>
            <a:ext cx="877081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874" algn="l"/>
                <a:tab pos="536597" algn="l"/>
              </a:tabLst>
            </a:pPr>
            <a:r>
              <a:rPr sz="3000" spc="-6" dirty="0">
                <a:latin typeface="Arial"/>
                <a:cs typeface="Arial"/>
              </a:rPr>
              <a:t>Pode-se inicializar um vetor de estruturas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no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11" dirty="0">
                <a:latin typeface="Arial"/>
                <a:cs typeface="Arial"/>
              </a:rPr>
              <a:t>momento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sua criação como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código</a:t>
            </a:r>
            <a:r>
              <a:rPr sz="3000" spc="137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abaixo: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91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8116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809" y="3550855"/>
            <a:ext cx="919558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230"/>
              <a:buChar char="•"/>
              <a:tabLst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Se </a:t>
            </a:r>
            <a:r>
              <a:rPr sz="3000" spc="-6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número </a:t>
            </a:r>
            <a:r>
              <a:rPr sz="3000" spc="-6" dirty="0">
                <a:latin typeface="Arial"/>
                <a:cs typeface="Arial"/>
              </a:rPr>
              <a:t>de elementos </a:t>
            </a:r>
            <a:r>
              <a:rPr sz="3000" dirty="0">
                <a:latin typeface="Arial"/>
                <a:cs typeface="Arial"/>
              </a:rPr>
              <a:t>inicializados for </a:t>
            </a:r>
            <a:r>
              <a:rPr sz="3000" spc="-6" dirty="0">
                <a:latin typeface="Arial"/>
                <a:cs typeface="Arial"/>
              </a:rPr>
              <a:t>menor  que </a:t>
            </a: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alocados </a:t>
            </a:r>
            <a:r>
              <a:rPr sz="3000" dirty="0">
                <a:latin typeface="Arial"/>
                <a:cs typeface="Arial"/>
              </a:rPr>
              <a:t>em </a:t>
            </a:r>
            <a:r>
              <a:rPr sz="3000" spc="-6" dirty="0">
                <a:latin typeface="Arial"/>
                <a:cs typeface="Arial"/>
              </a:rPr>
              <a:t>memória,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restante </a:t>
            </a:r>
            <a:r>
              <a:rPr sz="3000" dirty="0">
                <a:latin typeface="Arial"/>
                <a:cs typeface="Arial"/>
              </a:rPr>
              <a:t>do </a:t>
            </a:r>
            <a:r>
              <a:rPr sz="3000" spc="-6" dirty="0">
                <a:latin typeface="Arial"/>
                <a:cs typeface="Arial"/>
              </a:rPr>
              <a:t>vetor  ficará “zerado” (se numérico) ou vazio (se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i="1" spc="-6" dirty="0">
                <a:latin typeface="Arial"/>
                <a:cs typeface="Arial"/>
              </a:rPr>
              <a:t>strings</a:t>
            </a:r>
            <a:r>
              <a:rPr sz="3000" spc="-6" dirty="0">
                <a:latin typeface="Arial"/>
                <a:cs typeface="Arial"/>
              </a:rPr>
              <a:t>).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92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950" y="6439818"/>
            <a:ext cx="9785204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exemplo, o índice 1 do vetor terá descrição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dirty="0">
                <a:latin typeface="Arial"/>
                <a:cs typeface="Arial"/>
              </a:rPr>
              <a:t>e os </a:t>
            </a:r>
            <a:r>
              <a:rPr sz="3000" spc="-6" dirty="0">
                <a:latin typeface="Arial"/>
                <a:cs typeface="Arial"/>
              </a:rPr>
              <a:t>índices </a:t>
            </a:r>
            <a:r>
              <a:rPr sz="3000" dirty="0">
                <a:latin typeface="Arial"/>
                <a:cs typeface="Arial"/>
              </a:rPr>
              <a:t>3, 4 e 5 </a:t>
            </a:r>
            <a:r>
              <a:rPr sz="3000" spc="-6" dirty="0">
                <a:latin typeface="Arial"/>
                <a:cs typeface="Arial"/>
              </a:rPr>
              <a:t>terão código </a:t>
            </a:r>
            <a:r>
              <a:rPr sz="3000" dirty="0">
                <a:latin typeface="Arial"/>
                <a:cs typeface="Arial"/>
              </a:rPr>
              <a:t>0 e </a:t>
            </a:r>
            <a:r>
              <a:rPr sz="3000" spc="-6" dirty="0">
                <a:latin typeface="Arial"/>
                <a:cs typeface="Arial"/>
              </a:rPr>
              <a:t>descrição</a:t>
            </a:r>
            <a:r>
              <a:rPr sz="3000" spc="10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vazia.</a:t>
            </a:r>
            <a:endParaRPr sz="3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199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023" y="1519416"/>
            <a:ext cx="8303722" cy="2872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Outro </a:t>
            </a:r>
            <a:r>
              <a:rPr sz="3400" spc="-11" dirty="0">
                <a:latin typeface="Arial"/>
                <a:cs typeface="Arial"/>
              </a:rPr>
              <a:t>exemplo </a:t>
            </a:r>
            <a:r>
              <a:rPr sz="3400" spc="-6" dirty="0">
                <a:latin typeface="Arial"/>
                <a:cs typeface="Arial"/>
              </a:rPr>
              <a:t>mais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completo....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5793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Considere que </a:t>
            </a:r>
            <a:r>
              <a:rPr sz="3400" spc="-6" dirty="0">
                <a:latin typeface="Arial"/>
                <a:cs typeface="Arial"/>
              </a:rPr>
              <a:t>você está fazendo um  programa </a:t>
            </a:r>
            <a:r>
              <a:rPr sz="3400" spc="-11" dirty="0">
                <a:latin typeface="Arial"/>
                <a:cs typeface="Arial"/>
              </a:rPr>
              <a:t>que </a:t>
            </a:r>
            <a:r>
              <a:rPr sz="3400" spc="-6" dirty="0">
                <a:latin typeface="Arial"/>
                <a:cs typeface="Arial"/>
              </a:rPr>
              <a:t>leia </a:t>
            </a:r>
            <a:r>
              <a:rPr sz="3400" dirty="0">
                <a:latin typeface="Arial"/>
                <a:cs typeface="Arial"/>
              </a:rPr>
              <a:t>o </a:t>
            </a:r>
            <a:r>
              <a:rPr sz="3400" spc="-6" dirty="0">
                <a:latin typeface="Arial"/>
                <a:cs typeface="Arial"/>
              </a:rPr>
              <a:t>nome </a:t>
            </a:r>
            <a:r>
              <a:rPr sz="3400" dirty="0">
                <a:latin typeface="Arial"/>
                <a:cs typeface="Arial"/>
              </a:rPr>
              <a:t>e as 4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notas  escolares de 8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66340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26511" y="7290623"/>
            <a:ext cx="178223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100" dirty="0">
                <a:latin typeface="Times New Roman"/>
                <a:cs typeface="Times New Roman"/>
              </a:rPr>
              <a:t>46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28960" y="1318188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80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33963" y="1362548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9313" y="2298435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2200" y="1869535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43"/>
              </a:spcBef>
              <a:tabLst>
                <a:tab pos="1619208" algn="l"/>
                <a:tab pos="2131185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30446" y="179536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60689" y="223476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60689" y="260419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60689" y="3107960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0446" y="1795368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36452" y="179536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607723" y="2234764"/>
            <a:ext cx="0" cy="862001"/>
          </a:xfrm>
          <a:custGeom>
            <a:avLst/>
            <a:gdLst/>
            <a:ahLst/>
            <a:cxnLst/>
            <a:rect l="l" t="t" r="r" b="b"/>
            <a:pathLst>
              <a:path h="782319">
                <a:moveTo>
                  <a:pt x="0" y="0"/>
                </a:moveTo>
                <a:lnTo>
                  <a:pt x="0" y="7823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2200" y="1869535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39"/>
                </a:moveTo>
                <a:lnTo>
                  <a:pt x="2016760" y="1729739"/>
                </a:lnTo>
                <a:lnTo>
                  <a:pt x="201676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71512" y="1875132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76217" y="1919210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41568" y="285467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4751" y="2426476"/>
            <a:ext cx="2358489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4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37"/>
              </a:spcBef>
              <a:tabLst>
                <a:tab pos="1618484" algn="l"/>
                <a:tab pos="2131185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72997" y="235231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03239" y="278890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03239" y="3161135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03239" y="366490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72997" y="2352310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379003" y="235231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50274" y="2788908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44751" y="2426476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40"/>
                </a:moveTo>
                <a:lnTo>
                  <a:pt x="2016760" y="1729740"/>
                </a:lnTo>
                <a:lnTo>
                  <a:pt x="2016760" y="0"/>
                </a:lnTo>
                <a:lnTo>
                  <a:pt x="0" y="0"/>
                </a:lnTo>
                <a:lnTo>
                  <a:pt x="0" y="17297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27920" y="2426475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33073" y="2470135"/>
            <a:ext cx="1075281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Nome:_</a:t>
            </a:r>
            <a:endParaRPr sz="2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98274" y="340602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04131" y="2980620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24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29406" y="290365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859649" y="3340252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59649" y="3712479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59649" y="4216246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29406" y="2903655"/>
            <a:ext cx="0" cy="76964"/>
          </a:xfrm>
          <a:custGeom>
            <a:avLst/>
            <a:gdLst/>
            <a:ahLst/>
            <a:cxnLst/>
            <a:rect l="l" t="t" r="r" b="b"/>
            <a:pathLst>
              <a:path h="69850">
                <a:moveTo>
                  <a:pt x="0" y="0"/>
                </a:moveTo>
                <a:lnTo>
                  <a:pt x="0" y="6985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35412" y="290365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09652" y="3340252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04131" y="2980620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61561" y="2980620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764486" y="3024979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29686" y="3960864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99165" y="3537561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8775">
              <a:lnSpc>
                <a:spcPts val="220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845088">
              <a:spcBef>
                <a:spcPts val="1243"/>
              </a:spcBef>
              <a:tabLst>
                <a:tab pos="1359237" algn="l"/>
                <a:tab pos="18712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663045" y="345779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69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54683" y="3894395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54683" y="4266623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354683" y="4770389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63045" y="3457798"/>
            <a:ext cx="0" cy="79763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238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66082" y="345779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99165" y="3537561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200"/>
                </a:moveTo>
                <a:lnTo>
                  <a:pt x="2014220" y="1727200"/>
                </a:lnTo>
                <a:lnTo>
                  <a:pt x="2014220" y="0"/>
                </a:lnTo>
                <a:lnTo>
                  <a:pt x="0" y="0"/>
                </a:lnTo>
                <a:lnTo>
                  <a:pt x="0" y="1727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999165" y="3534764"/>
            <a:ext cx="2103035" cy="1807961"/>
          </a:xfrm>
          <a:custGeom>
            <a:avLst/>
            <a:gdLst/>
            <a:ahLst/>
            <a:cxnLst/>
            <a:rect l="l" t="t" r="r" b="b"/>
            <a:pathLst>
              <a:path w="1798320" h="1640839">
                <a:moveTo>
                  <a:pt x="0" y="1640839"/>
                </a:moveTo>
                <a:lnTo>
                  <a:pt x="1798320" y="1640839"/>
                </a:lnTo>
                <a:lnTo>
                  <a:pt x="179832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101346" y="3578143"/>
            <a:ext cx="10737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66547" y="451360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72403" y="4094503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17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00650" y="4011942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427921" y="4448538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27921" y="4817967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427921" y="5321734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000650" y="4011942"/>
            <a:ext cx="0" cy="82562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93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03684" y="4011942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577925" y="4448539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072403" y="4094503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199"/>
                </a:moveTo>
                <a:lnTo>
                  <a:pt x="2014219" y="1727199"/>
                </a:lnTo>
                <a:lnTo>
                  <a:pt x="2014219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29832" y="4091704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60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332759" y="4136204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97959" y="507195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84266" y="4643049"/>
            <a:ext cx="2355518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6794" algn="ctr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926193">
              <a:spcBef>
                <a:spcPts val="1243"/>
              </a:spcBef>
              <a:tabLst>
                <a:tab pos="1440342" algn="l"/>
                <a:tab pos="1952319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231318" y="4568884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839784" y="5005482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39784" y="5377708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39784" y="5881475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231318" y="4568884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37325" y="4568884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484266" y="4643049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567436" y="4648647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669619" y="4692727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34819" y="5628193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40676" y="5199991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5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568922" y="512582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999164" y="556242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99164" y="593185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999164" y="643561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568922" y="5125825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671956" y="512582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146199" y="5562424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640676" y="5199991"/>
            <a:ext cx="2358489" cy="1903119"/>
          </a:xfrm>
          <a:custGeom>
            <a:avLst/>
            <a:gdLst/>
            <a:ahLst/>
            <a:cxnLst/>
            <a:rect l="l" t="t" r="r" b="b"/>
            <a:pathLst>
              <a:path w="2016760" h="1727200">
                <a:moveTo>
                  <a:pt x="0" y="1727199"/>
                </a:moveTo>
                <a:lnTo>
                  <a:pt x="2016760" y="1727199"/>
                </a:lnTo>
                <a:lnTo>
                  <a:pt x="2016760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552863" y="1200644"/>
            <a:ext cx="424468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Esquematica</a:t>
            </a:r>
            <a:r>
              <a:rPr sz="3200" spc="11" dirty="0">
                <a:latin typeface="Arial"/>
                <a:cs typeface="Arial"/>
              </a:rPr>
              <a:t>m</a:t>
            </a:r>
            <a:r>
              <a:rPr sz="3200" dirty="0">
                <a:latin typeface="Arial"/>
                <a:cs typeface="Arial"/>
              </a:rPr>
              <a:t>ente:</a:t>
            </a:r>
            <a:endParaRPr sz="32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798105" y="5199992"/>
            <a:ext cx="2106006" cy="1807961"/>
          </a:xfrm>
          <a:custGeom>
            <a:avLst/>
            <a:gdLst/>
            <a:ahLst/>
            <a:cxnLst/>
            <a:rect l="l" t="t" r="r" b="b"/>
            <a:pathLst>
              <a:path w="1800860" h="1640839">
                <a:moveTo>
                  <a:pt x="0" y="1640839"/>
                </a:moveTo>
                <a:lnTo>
                  <a:pt x="1800860" y="1640839"/>
                </a:lnTo>
                <a:lnTo>
                  <a:pt x="180086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901031" y="5243790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6623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04047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889148" y="5741961"/>
            <a:ext cx="76339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071">
              <a:spcBef>
                <a:spcPts val="1237"/>
              </a:spcBef>
              <a:tabLst>
                <a:tab pos="624221" algn="l"/>
              </a:tabLst>
            </a:pPr>
            <a:r>
              <a:rPr sz="1500" spc="-6" dirty="0">
                <a:latin typeface="Arial"/>
                <a:cs typeface="Arial"/>
              </a:rPr>
              <a:t>1	2</a:t>
            </a:r>
            <a:endParaRPr sz="15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2799592" y="567717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799592" y="6113767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799592" y="6483196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799592" y="6986963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799592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905596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325349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85110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37686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4195377" y="7046086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221944" y="65178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957560" y="5962988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652186" y="5408495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409635" y="485183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061635" y="437605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819084" y="38195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9641882" y="3184224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7286810" y="5122047"/>
            <a:ext cx="2069321" cy="1605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004343" y="3923782"/>
            <a:ext cx="4131067" cy="3198918"/>
          </a:xfrm>
          <a:custGeom>
            <a:avLst/>
            <a:gdLst/>
            <a:ahLst/>
            <a:cxnLst/>
            <a:rect l="l" t="t" r="r" b="b"/>
            <a:pathLst>
              <a:path w="3532504" h="2903220">
                <a:moveTo>
                  <a:pt x="3469234" y="43485"/>
                </a:moveTo>
                <a:lnTo>
                  <a:pt x="0" y="2893237"/>
                </a:lnTo>
                <a:lnTo>
                  <a:pt x="8128" y="2903042"/>
                </a:lnTo>
                <a:lnTo>
                  <a:pt x="3477253" y="53250"/>
                </a:lnTo>
                <a:lnTo>
                  <a:pt x="3469234" y="43485"/>
                </a:lnTo>
                <a:close/>
              </a:path>
              <a:path w="3532504" h="2903220">
                <a:moveTo>
                  <a:pt x="3516343" y="35433"/>
                </a:moveTo>
                <a:lnTo>
                  <a:pt x="3479038" y="35433"/>
                </a:lnTo>
                <a:lnTo>
                  <a:pt x="3487039" y="45212"/>
                </a:lnTo>
                <a:lnTo>
                  <a:pt x="3477253" y="53250"/>
                </a:lnTo>
                <a:lnTo>
                  <a:pt x="3497453" y="77851"/>
                </a:lnTo>
                <a:lnTo>
                  <a:pt x="3516343" y="35433"/>
                </a:lnTo>
                <a:close/>
              </a:path>
              <a:path w="3532504" h="2903220">
                <a:moveTo>
                  <a:pt x="3479038" y="35433"/>
                </a:moveTo>
                <a:lnTo>
                  <a:pt x="3469234" y="43485"/>
                </a:lnTo>
                <a:lnTo>
                  <a:pt x="3477253" y="53250"/>
                </a:lnTo>
                <a:lnTo>
                  <a:pt x="3487039" y="45212"/>
                </a:lnTo>
                <a:lnTo>
                  <a:pt x="3479038" y="35433"/>
                </a:lnTo>
                <a:close/>
              </a:path>
              <a:path w="3532504" h="2903220">
                <a:moveTo>
                  <a:pt x="3532124" y="0"/>
                </a:moveTo>
                <a:lnTo>
                  <a:pt x="3449066" y="18923"/>
                </a:lnTo>
                <a:lnTo>
                  <a:pt x="3469234" y="43485"/>
                </a:lnTo>
                <a:lnTo>
                  <a:pt x="3479038" y="35433"/>
                </a:lnTo>
                <a:lnTo>
                  <a:pt x="3516343" y="35433"/>
                </a:lnTo>
                <a:lnTo>
                  <a:pt x="3532124" y="0"/>
                </a:ln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978278" y="2051450"/>
            <a:ext cx="2946626" cy="740409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39828" rIns="0" bIns="0" rtlCol="0">
            <a:spAutoFit/>
          </a:bodyPr>
          <a:lstStyle/>
          <a:p>
            <a:pPr marL="107899">
              <a:lnSpc>
                <a:spcPts val="2737"/>
              </a:lnSpc>
              <a:spcBef>
                <a:spcPts val="314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</a:t>
            </a:r>
            <a:endParaRPr sz="2300">
              <a:latin typeface="Arial"/>
              <a:cs typeface="Arial"/>
            </a:endParaRPr>
          </a:p>
          <a:p>
            <a:pPr marL="487356"/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112" name="object 112"/>
          <p:cNvSpPr/>
          <p:nvPr/>
        </p:nvSpPr>
        <p:spPr>
          <a:xfrm>
            <a:off x="7594808" y="2796943"/>
            <a:ext cx="831709" cy="0"/>
          </a:xfrm>
          <a:custGeom>
            <a:avLst/>
            <a:gdLst/>
            <a:ahLst/>
            <a:cxnLst/>
            <a:rect l="l" t="t" r="r" b="b"/>
            <a:pathLst>
              <a:path w="711200">
                <a:moveTo>
                  <a:pt x="0" y="0"/>
                </a:moveTo>
                <a:lnTo>
                  <a:pt x="711071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824024" y="3351728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162071" y="3904891"/>
            <a:ext cx="830966" cy="0"/>
          </a:xfrm>
          <a:custGeom>
            <a:avLst/>
            <a:gdLst/>
            <a:ahLst/>
            <a:cxnLst/>
            <a:rect l="l" t="t" r="r" b="b"/>
            <a:pathLst>
              <a:path w="710564">
                <a:moveTo>
                  <a:pt x="0" y="0"/>
                </a:moveTo>
                <a:lnTo>
                  <a:pt x="710184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225565" y="4463011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729157" y="5019475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793837" y="5570598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32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8048" y="3338854"/>
            <a:ext cx="4544695" cy="2594398"/>
          </a:xfrm>
          <a:custGeom>
            <a:avLst/>
            <a:gdLst/>
            <a:ahLst/>
            <a:cxnLst/>
            <a:rect l="l" t="t" r="r" b="b"/>
            <a:pathLst>
              <a:path w="3886200" h="2354579">
                <a:moveTo>
                  <a:pt x="0" y="0"/>
                </a:moveTo>
                <a:lnTo>
                  <a:pt x="3886200" y="2354198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2864" y="1200643"/>
            <a:ext cx="8905968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Visão esquemática </a:t>
            </a:r>
            <a:r>
              <a:rPr sz="3400" dirty="0">
                <a:latin typeface="Arial"/>
                <a:cs typeface="Arial"/>
              </a:rPr>
              <a:t>do vetor de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estruturas: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483" y="3543158"/>
            <a:ext cx="2694143" cy="775241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41277" rIns="0" bIns="0" rtlCol="0">
            <a:spAutoFit/>
          </a:bodyPr>
          <a:lstStyle/>
          <a:p>
            <a:pPr marL="488080" marR="131072" indent="-379457">
              <a:spcBef>
                <a:spcPts val="325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  escolares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9879" y="3727872"/>
          <a:ext cx="2916920" cy="22361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082"/>
                <a:gridCol w="727745"/>
                <a:gridCol w="727744"/>
                <a:gridCol w="717349"/>
              </a:tblGrid>
              <a:tr h="591926">
                <a:tc gridSpan="4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05"/>
                        </a:spcBef>
                        <a:tabLst>
                          <a:tab pos="1766570" algn="l"/>
                        </a:tabLst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Nome:_</a:t>
                      </a:r>
                      <a:r>
                        <a:rPr sz="2200" u="heavy" dirty="0">
                          <a:latin typeface="Arial"/>
                          <a:cs typeface="Arial"/>
                        </a:rPr>
                        <a:t> 	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27939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2129">
                <a:tc gridSpan="4"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900" spc="-10" dirty="0">
                          <a:latin typeface="Arial"/>
                          <a:cs typeface="Arial"/>
                        </a:rPr>
                        <a:t>notas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39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8987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  <a:tr h="603120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319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27569" y="2186766"/>
            <a:ext cx="195303" cy="964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7569" y="3508175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2</a:t>
            </a:r>
            <a:endParaRPr sz="2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7569" y="4094224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27569" y="4830982"/>
            <a:ext cx="195303" cy="2380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sz="2300" spc="-6" dirty="0">
                <a:latin typeface="Arial"/>
                <a:cs typeface="Arial"/>
              </a:rPr>
              <a:t>5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34"/>
              </a:spcBef>
            </a:pPr>
            <a:endParaRPr sz="2800">
              <a:latin typeface="Times New Roman"/>
              <a:cs typeface="Times New Roman"/>
            </a:endParaRPr>
          </a:p>
          <a:p>
            <a:pPr marL="14483"/>
            <a:r>
              <a:rPr sz="2300" dirty="0">
                <a:latin typeface="Arial"/>
                <a:cs typeface="Arial"/>
              </a:rPr>
              <a:t>6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7</a:t>
            </a:r>
            <a:endParaRPr sz="23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7" name="object 27"/>
          <p:cNvSpPr/>
          <p:nvPr/>
        </p:nvSpPr>
        <p:spPr>
          <a:xfrm>
            <a:off x="4108048" y="2655970"/>
            <a:ext cx="4529843" cy="1083098"/>
          </a:xfrm>
          <a:custGeom>
            <a:avLst/>
            <a:gdLst/>
            <a:ahLst/>
            <a:cxnLst/>
            <a:rect l="l" t="t" r="r" b="b"/>
            <a:pathLst>
              <a:path w="3873500" h="982979">
                <a:moveTo>
                  <a:pt x="0" y="0"/>
                </a:moveTo>
                <a:lnTo>
                  <a:pt x="3873500" y="982726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21887" y="2661566"/>
            <a:ext cx="2315418" cy="1074003"/>
          </a:xfrm>
          <a:custGeom>
            <a:avLst/>
            <a:gdLst/>
            <a:ahLst/>
            <a:cxnLst/>
            <a:rect l="l" t="t" r="r" b="b"/>
            <a:pathLst>
              <a:path w="1979929" h="974725">
                <a:moveTo>
                  <a:pt x="0" y="0"/>
                </a:moveTo>
                <a:lnTo>
                  <a:pt x="1979548" y="974725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21887" y="3324861"/>
            <a:ext cx="2311705" cy="2646874"/>
          </a:xfrm>
          <a:custGeom>
            <a:avLst/>
            <a:gdLst/>
            <a:ahLst/>
            <a:cxnLst/>
            <a:rect l="l" t="t" r="r" b="b"/>
            <a:pathLst>
              <a:path w="1976754" h="2402204">
                <a:moveTo>
                  <a:pt x="0" y="0"/>
                </a:moveTo>
                <a:lnTo>
                  <a:pt x="1976373" y="2401951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504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464" y="1704829"/>
            <a:ext cx="956539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Definição da </a:t>
            </a:r>
            <a:r>
              <a:rPr sz="3400" dirty="0">
                <a:latin typeface="Arial"/>
                <a:cs typeface="Arial"/>
              </a:rPr>
              <a:t>estrutura </a:t>
            </a:r>
            <a:r>
              <a:rPr sz="3400" spc="-6" dirty="0">
                <a:latin typeface="Arial"/>
                <a:cs typeface="Arial"/>
              </a:rPr>
              <a:t>e do </a:t>
            </a:r>
            <a:r>
              <a:rPr sz="3400" dirty="0">
                <a:latin typeface="Arial"/>
                <a:cs typeface="Arial"/>
              </a:rPr>
              <a:t>vetor </a:t>
            </a:r>
            <a:r>
              <a:rPr sz="3400" spc="-6" dirty="0">
                <a:latin typeface="Arial"/>
                <a:cs typeface="Arial"/>
              </a:rPr>
              <a:t>de 8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02804" y="2733913"/>
            <a:ext cx="1280980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str</a:t>
            </a:r>
            <a:r>
              <a:rPr sz="2700" b="1" spc="-23" dirty="0">
                <a:solidFill>
                  <a:srgbClr val="00009F"/>
                </a:solidFill>
                <a:latin typeface="Courier New"/>
                <a:cs typeface="Courier New"/>
              </a:rPr>
              <a:t>u</a:t>
            </a: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96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491414" y="2733913"/>
            <a:ext cx="1497076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  float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1414" y="3540360"/>
            <a:ext cx="3630558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9894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1668451"/>
            <a:r>
              <a:rPr sz="2700" spc="-6" dirty="0">
                <a:latin typeface="Courier New"/>
                <a:cs typeface="Courier New"/>
              </a:rPr>
              <a:t>not</a:t>
            </a:r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dirty="0">
                <a:latin typeface="Courier New"/>
                <a:cs typeface="Courier New"/>
              </a:rPr>
              <a:t>s</a:t>
            </a:r>
            <a:r>
              <a:rPr sz="2700" spc="-29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9150" y="4346666"/>
            <a:ext cx="1283951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6" dirty="0">
                <a:latin typeface="Courier New"/>
                <a:cs typeface="Courier New"/>
              </a:rPr>
              <a:t>Alun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1414" y="5152833"/>
            <a:ext cx="5132089" cy="1674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main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624945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80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notasAlunos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76425"/>
            <a:r>
              <a:rPr sz="2700" spc="-6" dirty="0">
                <a:latin typeface="Courier New"/>
                <a:cs typeface="Courier New"/>
              </a:rPr>
              <a:t>...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536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97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6994" y="4998065"/>
            <a:ext cx="5882855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2782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820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2982298"/>
            <a:ext cx="5200408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0" y="0"/>
                </a:moveTo>
                <a:lnTo>
                  <a:pt x="1010538" y="1561845"/>
                </a:lnTo>
                <a:lnTo>
                  <a:pt x="1010538" y="3169030"/>
                </a:lnTo>
                <a:lnTo>
                  <a:pt x="1013405" y="3215185"/>
                </a:lnTo>
                <a:lnTo>
                  <a:pt x="1021775" y="3259627"/>
                </a:lnTo>
                <a:lnTo>
                  <a:pt x="1035303" y="3302013"/>
                </a:lnTo>
                <a:lnTo>
                  <a:pt x="1053645" y="3341998"/>
                </a:lnTo>
                <a:lnTo>
                  <a:pt x="1076456" y="3379238"/>
                </a:lnTo>
                <a:lnTo>
                  <a:pt x="1103392" y="3413387"/>
                </a:lnTo>
                <a:lnTo>
                  <a:pt x="1134106" y="3444101"/>
                </a:lnTo>
                <a:lnTo>
                  <a:pt x="1168256" y="3471035"/>
                </a:lnTo>
                <a:lnTo>
                  <a:pt x="1205495" y="3493845"/>
                </a:lnTo>
                <a:lnTo>
                  <a:pt x="1245480" y="3512186"/>
                </a:lnTo>
                <a:lnTo>
                  <a:pt x="1287865" y="3525714"/>
                </a:lnTo>
                <a:lnTo>
                  <a:pt x="1332306" y="3534083"/>
                </a:lnTo>
                <a:lnTo>
                  <a:pt x="1378458" y="3536950"/>
                </a:lnTo>
                <a:lnTo>
                  <a:pt x="2849880" y="3536950"/>
                </a:lnTo>
                <a:lnTo>
                  <a:pt x="2896031" y="3534083"/>
                </a:lnTo>
                <a:lnTo>
                  <a:pt x="2940472" y="3525714"/>
                </a:lnTo>
                <a:lnTo>
                  <a:pt x="2982857" y="3512186"/>
                </a:lnTo>
                <a:lnTo>
                  <a:pt x="3022842" y="3493845"/>
                </a:lnTo>
                <a:lnTo>
                  <a:pt x="3060081" y="3471035"/>
                </a:lnTo>
                <a:lnTo>
                  <a:pt x="3094231" y="3444101"/>
                </a:lnTo>
                <a:lnTo>
                  <a:pt x="3124945" y="3413387"/>
                </a:lnTo>
                <a:lnTo>
                  <a:pt x="3151881" y="3379238"/>
                </a:lnTo>
                <a:lnTo>
                  <a:pt x="3174692" y="3341998"/>
                </a:lnTo>
                <a:lnTo>
                  <a:pt x="3193034" y="3302013"/>
                </a:lnTo>
                <a:lnTo>
                  <a:pt x="3206562" y="3259627"/>
                </a:lnTo>
                <a:lnTo>
                  <a:pt x="3214932" y="3215185"/>
                </a:lnTo>
                <a:lnTo>
                  <a:pt x="3217798" y="3169030"/>
                </a:lnTo>
                <a:lnTo>
                  <a:pt x="3217798" y="715390"/>
                </a:lnTo>
                <a:lnTo>
                  <a:pt x="1010538" y="715390"/>
                </a:lnTo>
                <a:lnTo>
                  <a:pt x="0" y="0"/>
                </a:lnTo>
                <a:close/>
              </a:path>
              <a:path w="3218179" h="3536950">
                <a:moveTo>
                  <a:pt x="2849880" y="151129"/>
                </a:moveTo>
                <a:lnTo>
                  <a:pt x="1378458" y="151129"/>
                </a:lnTo>
                <a:lnTo>
                  <a:pt x="1332306" y="153996"/>
                </a:lnTo>
                <a:lnTo>
                  <a:pt x="1287865" y="162366"/>
                </a:lnTo>
                <a:lnTo>
                  <a:pt x="1245480" y="175894"/>
                </a:lnTo>
                <a:lnTo>
                  <a:pt x="1205495" y="194236"/>
                </a:lnTo>
                <a:lnTo>
                  <a:pt x="1168256" y="217047"/>
                </a:lnTo>
                <a:lnTo>
                  <a:pt x="1134106" y="243983"/>
                </a:lnTo>
                <a:lnTo>
                  <a:pt x="1103392" y="274697"/>
                </a:lnTo>
                <a:lnTo>
                  <a:pt x="1076456" y="308847"/>
                </a:lnTo>
                <a:lnTo>
                  <a:pt x="1053645" y="346086"/>
                </a:lnTo>
                <a:lnTo>
                  <a:pt x="1035303" y="386071"/>
                </a:lnTo>
                <a:lnTo>
                  <a:pt x="1021775" y="428456"/>
                </a:lnTo>
                <a:lnTo>
                  <a:pt x="1013405" y="472897"/>
                </a:lnTo>
                <a:lnTo>
                  <a:pt x="1010538" y="519049"/>
                </a:lnTo>
                <a:lnTo>
                  <a:pt x="1010538" y="715390"/>
                </a:lnTo>
                <a:lnTo>
                  <a:pt x="3217798" y="715390"/>
                </a:lnTo>
                <a:lnTo>
                  <a:pt x="3217798" y="519049"/>
                </a:lnTo>
                <a:lnTo>
                  <a:pt x="3214932" y="472897"/>
                </a:lnTo>
                <a:lnTo>
                  <a:pt x="3206562" y="428456"/>
                </a:lnTo>
                <a:lnTo>
                  <a:pt x="3193034" y="386071"/>
                </a:lnTo>
                <a:lnTo>
                  <a:pt x="3174692" y="346086"/>
                </a:lnTo>
                <a:lnTo>
                  <a:pt x="3151881" y="308847"/>
                </a:lnTo>
                <a:lnTo>
                  <a:pt x="3124945" y="274697"/>
                </a:lnTo>
                <a:lnTo>
                  <a:pt x="3094231" y="243983"/>
                </a:lnTo>
                <a:lnTo>
                  <a:pt x="3060081" y="217047"/>
                </a:lnTo>
                <a:lnTo>
                  <a:pt x="3022842" y="194236"/>
                </a:lnTo>
                <a:lnTo>
                  <a:pt x="2982857" y="175894"/>
                </a:lnTo>
                <a:lnTo>
                  <a:pt x="2940472" y="162366"/>
                </a:lnTo>
                <a:lnTo>
                  <a:pt x="2896031" y="153996"/>
                </a:lnTo>
                <a:lnTo>
                  <a:pt x="2849880" y="15112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1010538" y="519049"/>
                </a:moveTo>
                <a:lnTo>
                  <a:pt x="1013405" y="472897"/>
                </a:lnTo>
                <a:lnTo>
                  <a:pt x="1021775" y="428456"/>
                </a:lnTo>
                <a:lnTo>
                  <a:pt x="1035303" y="386071"/>
                </a:lnTo>
                <a:lnTo>
                  <a:pt x="1053645" y="346086"/>
                </a:lnTo>
                <a:lnTo>
                  <a:pt x="1076456" y="308847"/>
                </a:lnTo>
                <a:lnTo>
                  <a:pt x="1103392" y="274697"/>
                </a:lnTo>
                <a:lnTo>
                  <a:pt x="1134106" y="243983"/>
                </a:lnTo>
                <a:lnTo>
                  <a:pt x="1168256" y="217047"/>
                </a:lnTo>
                <a:lnTo>
                  <a:pt x="1205495" y="194236"/>
                </a:lnTo>
                <a:lnTo>
                  <a:pt x="1245480" y="175894"/>
                </a:lnTo>
                <a:lnTo>
                  <a:pt x="1287865" y="162366"/>
                </a:lnTo>
                <a:lnTo>
                  <a:pt x="1332306" y="153996"/>
                </a:lnTo>
                <a:lnTo>
                  <a:pt x="1378458" y="151129"/>
                </a:lnTo>
                <a:lnTo>
                  <a:pt x="1930272" y="151129"/>
                </a:lnTo>
                <a:lnTo>
                  <a:pt x="2849880" y="151129"/>
                </a:lnTo>
                <a:lnTo>
                  <a:pt x="2896031" y="153996"/>
                </a:lnTo>
                <a:lnTo>
                  <a:pt x="2940472" y="162366"/>
                </a:lnTo>
                <a:lnTo>
                  <a:pt x="2982857" y="175894"/>
                </a:lnTo>
                <a:lnTo>
                  <a:pt x="3022842" y="194236"/>
                </a:lnTo>
                <a:lnTo>
                  <a:pt x="3060081" y="217047"/>
                </a:lnTo>
                <a:lnTo>
                  <a:pt x="3094231" y="243983"/>
                </a:lnTo>
                <a:lnTo>
                  <a:pt x="3124945" y="274697"/>
                </a:lnTo>
                <a:lnTo>
                  <a:pt x="3151881" y="308847"/>
                </a:lnTo>
                <a:lnTo>
                  <a:pt x="3174692" y="346086"/>
                </a:lnTo>
                <a:lnTo>
                  <a:pt x="3193034" y="386071"/>
                </a:lnTo>
                <a:lnTo>
                  <a:pt x="3206562" y="428456"/>
                </a:lnTo>
                <a:lnTo>
                  <a:pt x="3214932" y="472897"/>
                </a:lnTo>
                <a:lnTo>
                  <a:pt x="3217798" y="519049"/>
                </a:lnTo>
                <a:lnTo>
                  <a:pt x="3217798" y="715390"/>
                </a:lnTo>
                <a:lnTo>
                  <a:pt x="3217798" y="1561845"/>
                </a:lnTo>
                <a:lnTo>
                  <a:pt x="3217798" y="3169030"/>
                </a:lnTo>
                <a:lnTo>
                  <a:pt x="3214932" y="3215185"/>
                </a:lnTo>
                <a:lnTo>
                  <a:pt x="3206562" y="3259627"/>
                </a:lnTo>
                <a:lnTo>
                  <a:pt x="3193034" y="3302013"/>
                </a:lnTo>
                <a:lnTo>
                  <a:pt x="3174692" y="3341998"/>
                </a:lnTo>
                <a:lnTo>
                  <a:pt x="3151881" y="3379238"/>
                </a:lnTo>
                <a:lnTo>
                  <a:pt x="3124945" y="3413387"/>
                </a:lnTo>
                <a:lnTo>
                  <a:pt x="3094231" y="3444101"/>
                </a:lnTo>
                <a:lnTo>
                  <a:pt x="3060081" y="3471035"/>
                </a:lnTo>
                <a:lnTo>
                  <a:pt x="3022842" y="3493845"/>
                </a:lnTo>
                <a:lnTo>
                  <a:pt x="2982857" y="3512186"/>
                </a:lnTo>
                <a:lnTo>
                  <a:pt x="2940472" y="3525714"/>
                </a:lnTo>
                <a:lnTo>
                  <a:pt x="2896031" y="3534083"/>
                </a:lnTo>
                <a:lnTo>
                  <a:pt x="2849880" y="3536950"/>
                </a:lnTo>
                <a:lnTo>
                  <a:pt x="1930272" y="3536950"/>
                </a:lnTo>
                <a:lnTo>
                  <a:pt x="1378458" y="3536950"/>
                </a:lnTo>
                <a:lnTo>
                  <a:pt x="1332306" y="3534083"/>
                </a:lnTo>
                <a:lnTo>
                  <a:pt x="1287865" y="3525714"/>
                </a:lnTo>
                <a:lnTo>
                  <a:pt x="1245480" y="3512186"/>
                </a:lnTo>
                <a:lnTo>
                  <a:pt x="1205495" y="3493845"/>
                </a:lnTo>
                <a:lnTo>
                  <a:pt x="1168256" y="3471035"/>
                </a:lnTo>
                <a:lnTo>
                  <a:pt x="1134106" y="3444101"/>
                </a:lnTo>
                <a:lnTo>
                  <a:pt x="1103392" y="3413387"/>
                </a:lnTo>
                <a:lnTo>
                  <a:pt x="1076456" y="3379238"/>
                </a:lnTo>
                <a:lnTo>
                  <a:pt x="1053645" y="3341998"/>
                </a:lnTo>
                <a:lnTo>
                  <a:pt x="1035303" y="3302013"/>
                </a:lnTo>
                <a:lnTo>
                  <a:pt x="1021775" y="3259627"/>
                </a:lnTo>
                <a:lnTo>
                  <a:pt x="1013405" y="3215185"/>
                </a:lnTo>
                <a:lnTo>
                  <a:pt x="1010538" y="3169030"/>
                </a:lnTo>
                <a:lnTo>
                  <a:pt x="1010538" y="1561845"/>
                </a:lnTo>
                <a:lnTo>
                  <a:pt x="0" y="0"/>
                </a:lnTo>
                <a:lnTo>
                  <a:pt x="1010538" y="715390"/>
                </a:lnTo>
                <a:lnTo>
                  <a:pt x="1010538" y="5190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65348" y="3069479"/>
            <a:ext cx="2314676" cy="1010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38" marR="126727" algn="ctr"/>
            <a:r>
              <a:rPr spc="-6" dirty="0">
                <a:latin typeface="Arial"/>
                <a:cs typeface="Arial"/>
              </a:rPr>
              <a:t>Assim como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ocorre  com tipos</a:t>
            </a:r>
            <a:r>
              <a:rPr spc="-57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básicos: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1368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74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98</a:t>
            </a:fld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8508382" y="4043846"/>
            <a:ext cx="1430242" cy="5492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uma</a:t>
            </a:r>
            <a:r>
              <a:rPr spc="-86" dirty="0">
                <a:latin typeface="Arial"/>
                <a:cs typeface="Arial"/>
              </a:rPr>
              <a:t> </a:t>
            </a:r>
            <a:r>
              <a:rPr b="1" spc="-17" dirty="0">
                <a:solidFill>
                  <a:srgbClr val="00664D"/>
                </a:solidFill>
                <a:latin typeface="Arial"/>
                <a:cs typeface="Arial"/>
              </a:rPr>
              <a:t>variável</a:t>
            </a:r>
            <a:endParaRPr>
              <a:latin typeface="Arial"/>
              <a:cs typeface="Arial"/>
            </a:endParaRPr>
          </a:p>
          <a:p>
            <a:pPr marL="60829"/>
            <a:r>
              <a:rPr spc="-11" dirty="0">
                <a:latin typeface="Arial"/>
                <a:cs typeface="Arial"/>
              </a:rPr>
              <a:t>passada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por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65347" y="4581057"/>
            <a:ext cx="2315418" cy="946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2172" algn="ctr"/>
            <a:r>
              <a:rPr spc="-6" dirty="0">
                <a:latin typeface="Arial"/>
                <a:cs typeface="Arial"/>
              </a:rPr>
              <a:t>parâmetro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não têm  efeito </a:t>
            </a:r>
            <a:r>
              <a:rPr dirty="0">
                <a:latin typeface="Arial"/>
                <a:cs typeface="Arial"/>
              </a:rPr>
              <a:t>fora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função;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912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5156" y="5499453"/>
            <a:ext cx="1878771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-4345" algn="ctr"/>
            <a:r>
              <a:rPr spc="-11" dirty="0">
                <a:latin typeface="Arial"/>
                <a:cs typeface="Arial"/>
              </a:rPr>
              <a:t>um </a:t>
            </a:r>
            <a:r>
              <a:rPr b="1" spc="-11" dirty="0">
                <a:solidFill>
                  <a:srgbClr val="00664D"/>
                </a:solidFill>
                <a:latin typeface="Arial"/>
                <a:cs typeface="Arial"/>
              </a:rPr>
              <a:t>vetor são 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mantidas </a:t>
            </a:r>
            <a:r>
              <a:rPr dirty="0">
                <a:latin typeface="Arial"/>
                <a:cs typeface="Arial"/>
              </a:rPr>
              <a:t>fora</a:t>
            </a:r>
            <a:r>
              <a:rPr spc="-6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da  </a:t>
            </a:r>
            <a:r>
              <a:rPr spc="-6" dirty="0">
                <a:latin typeface="Arial"/>
                <a:cs typeface="Arial"/>
              </a:rPr>
              <a:t>função.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653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3318142"/>
            <a:ext cx="5200408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2142" y="4998064"/>
            <a:ext cx="5912559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70967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1244600" y="0"/>
                </a:moveTo>
                <a:lnTo>
                  <a:pt x="124460" y="0"/>
                </a:lnTo>
                <a:lnTo>
                  <a:pt x="76016" y="9784"/>
                </a:lnTo>
                <a:lnTo>
                  <a:pt x="36455" y="36464"/>
                </a:lnTo>
                <a:lnTo>
                  <a:pt x="9781" y="76027"/>
                </a:lnTo>
                <a:lnTo>
                  <a:pt x="0" y="124460"/>
                </a:lnTo>
                <a:lnTo>
                  <a:pt x="0" y="622300"/>
                </a:lnTo>
                <a:lnTo>
                  <a:pt x="9781" y="670732"/>
                </a:lnTo>
                <a:lnTo>
                  <a:pt x="36455" y="710295"/>
                </a:lnTo>
                <a:lnTo>
                  <a:pt x="76016" y="736975"/>
                </a:lnTo>
                <a:lnTo>
                  <a:pt x="124460" y="746760"/>
                </a:lnTo>
                <a:lnTo>
                  <a:pt x="1244600" y="746760"/>
                </a:lnTo>
                <a:lnTo>
                  <a:pt x="1293032" y="736975"/>
                </a:lnTo>
                <a:lnTo>
                  <a:pt x="1332595" y="710295"/>
                </a:lnTo>
                <a:lnTo>
                  <a:pt x="1359275" y="670732"/>
                </a:lnTo>
                <a:lnTo>
                  <a:pt x="1369060" y="622300"/>
                </a:lnTo>
                <a:lnTo>
                  <a:pt x="1369060" y="311150"/>
                </a:lnTo>
                <a:lnTo>
                  <a:pt x="1702943" y="276733"/>
                </a:lnTo>
                <a:lnTo>
                  <a:pt x="1369060" y="124460"/>
                </a:lnTo>
                <a:lnTo>
                  <a:pt x="1359275" y="76027"/>
                </a:lnTo>
                <a:lnTo>
                  <a:pt x="1332595" y="36464"/>
                </a:lnTo>
                <a:lnTo>
                  <a:pt x="1293032" y="9784"/>
                </a:lnTo>
                <a:lnTo>
                  <a:pt x="124460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0" y="124460"/>
                </a:moveTo>
                <a:lnTo>
                  <a:pt x="9781" y="76027"/>
                </a:lnTo>
                <a:lnTo>
                  <a:pt x="36455" y="36464"/>
                </a:lnTo>
                <a:lnTo>
                  <a:pt x="76016" y="9784"/>
                </a:lnTo>
                <a:lnTo>
                  <a:pt x="124460" y="0"/>
                </a:lnTo>
                <a:lnTo>
                  <a:pt x="798614" y="0"/>
                </a:lnTo>
                <a:lnTo>
                  <a:pt x="1140841" y="0"/>
                </a:lnTo>
                <a:lnTo>
                  <a:pt x="1244600" y="0"/>
                </a:lnTo>
                <a:lnTo>
                  <a:pt x="1293032" y="9784"/>
                </a:lnTo>
                <a:lnTo>
                  <a:pt x="1332595" y="36464"/>
                </a:lnTo>
                <a:lnTo>
                  <a:pt x="1359275" y="76027"/>
                </a:lnTo>
                <a:lnTo>
                  <a:pt x="1369060" y="124460"/>
                </a:lnTo>
                <a:lnTo>
                  <a:pt x="1702943" y="276733"/>
                </a:lnTo>
                <a:lnTo>
                  <a:pt x="1369060" y="311150"/>
                </a:lnTo>
                <a:lnTo>
                  <a:pt x="1369060" y="622300"/>
                </a:lnTo>
                <a:lnTo>
                  <a:pt x="1359275" y="670732"/>
                </a:lnTo>
                <a:lnTo>
                  <a:pt x="1332595" y="710295"/>
                </a:lnTo>
                <a:lnTo>
                  <a:pt x="1293032" y="736975"/>
                </a:lnTo>
                <a:lnTo>
                  <a:pt x="1244600" y="746760"/>
                </a:lnTo>
                <a:lnTo>
                  <a:pt x="1140841" y="746760"/>
                </a:lnTo>
                <a:lnTo>
                  <a:pt x="798614" y="746760"/>
                </a:lnTo>
                <a:lnTo>
                  <a:pt x="124460" y="746760"/>
                </a:lnTo>
                <a:lnTo>
                  <a:pt x="76016" y="736975"/>
                </a:lnTo>
                <a:lnTo>
                  <a:pt x="36455" y="710295"/>
                </a:lnTo>
                <a:lnTo>
                  <a:pt x="9781" y="670732"/>
                </a:lnTo>
                <a:lnTo>
                  <a:pt x="0" y="622300"/>
                </a:lnTo>
                <a:lnTo>
                  <a:pt x="0" y="311150"/>
                </a:lnTo>
                <a:lnTo>
                  <a:pt x="0" y="124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2880" y="3275183"/>
            <a:ext cx="1491135" cy="54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242"/>
            <a:r>
              <a:rPr spc="-11" dirty="0">
                <a:latin typeface="Arial"/>
                <a:cs typeface="Arial"/>
              </a:rPr>
              <a:t>Laço para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ler</a:t>
            </a:r>
            <a:endParaRPr>
              <a:latin typeface="Arial"/>
              <a:cs typeface="Arial"/>
            </a:endParaRPr>
          </a:p>
          <a:p>
            <a:pPr marL="14483"/>
            <a:r>
              <a:rPr spc="-11" dirty="0">
                <a:latin typeface="Arial"/>
                <a:cs typeface="Arial"/>
              </a:rPr>
              <a:t>os </a:t>
            </a:r>
            <a:r>
              <a:rPr spc="-6" dirty="0">
                <a:latin typeface="Arial"/>
                <a:cs typeface="Arial"/>
              </a:rPr>
              <a:t>oito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alunos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32247" y="3303870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0"/>
                </a:lnTo>
                <a:lnTo>
                  <a:pt x="4752340" y="300608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79"/>
                </a:lnTo>
                <a:lnTo>
                  <a:pt x="60070" y="360679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8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22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4326516"/>
            <a:ext cx="5200408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2143" y="5670174"/>
            <a:ext cx="565115" cy="7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1446148" y="0"/>
                </a:moveTo>
                <a:lnTo>
                  <a:pt x="136321" y="0"/>
                </a:lnTo>
                <a:lnTo>
                  <a:pt x="93234" y="6954"/>
                </a:lnTo>
                <a:lnTo>
                  <a:pt x="55813" y="26314"/>
                </a:lnTo>
                <a:lnTo>
                  <a:pt x="26303" y="55824"/>
                </a:lnTo>
                <a:lnTo>
                  <a:pt x="6950" y="93228"/>
                </a:lnTo>
                <a:lnTo>
                  <a:pt x="0" y="136271"/>
                </a:lnTo>
                <a:lnTo>
                  <a:pt x="0" y="681608"/>
                </a:lnTo>
                <a:lnTo>
                  <a:pt x="6950" y="724651"/>
                </a:lnTo>
                <a:lnTo>
                  <a:pt x="26303" y="762055"/>
                </a:lnTo>
                <a:lnTo>
                  <a:pt x="55813" y="791565"/>
                </a:lnTo>
                <a:lnTo>
                  <a:pt x="93234" y="810925"/>
                </a:lnTo>
                <a:lnTo>
                  <a:pt x="136321" y="817880"/>
                </a:lnTo>
                <a:lnTo>
                  <a:pt x="1446148" y="817880"/>
                </a:lnTo>
                <a:lnTo>
                  <a:pt x="1489191" y="810925"/>
                </a:lnTo>
                <a:lnTo>
                  <a:pt x="1526595" y="791565"/>
                </a:lnTo>
                <a:lnTo>
                  <a:pt x="1556105" y="762055"/>
                </a:lnTo>
                <a:lnTo>
                  <a:pt x="1575465" y="724651"/>
                </a:lnTo>
                <a:lnTo>
                  <a:pt x="1582420" y="681608"/>
                </a:lnTo>
                <a:lnTo>
                  <a:pt x="1582420" y="340741"/>
                </a:lnTo>
                <a:lnTo>
                  <a:pt x="2023088" y="340741"/>
                </a:lnTo>
                <a:lnTo>
                  <a:pt x="1582420" y="136271"/>
                </a:lnTo>
                <a:lnTo>
                  <a:pt x="1575465" y="93228"/>
                </a:lnTo>
                <a:lnTo>
                  <a:pt x="1556105" y="55824"/>
                </a:lnTo>
                <a:lnTo>
                  <a:pt x="1526595" y="26314"/>
                </a:lnTo>
                <a:lnTo>
                  <a:pt x="1489191" y="6954"/>
                </a:lnTo>
                <a:lnTo>
                  <a:pt x="1446148" y="0"/>
                </a:lnTo>
                <a:close/>
              </a:path>
              <a:path w="2106295" h="817879">
                <a:moveTo>
                  <a:pt x="2023088" y="340741"/>
                </a:moveTo>
                <a:lnTo>
                  <a:pt x="1582420" y="340741"/>
                </a:lnTo>
                <a:lnTo>
                  <a:pt x="2106295" y="379349"/>
                </a:lnTo>
                <a:lnTo>
                  <a:pt x="2023088" y="340741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0" y="136271"/>
                </a:moveTo>
                <a:lnTo>
                  <a:pt x="6950" y="93228"/>
                </a:lnTo>
                <a:lnTo>
                  <a:pt x="26303" y="55824"/>
                </a:lnTo>
                <a:lnTo>
                  <a:pt x="55813" y="26314"/>
                </a:lnTo>
                <a:lnTo>
                  <a:pt x="93234" y="6954"/>
                </a:lnTo>
                <a:lnTo>
                  <a:pt x="136321" y="0"/>
                </a:lnTo>
                <a:lnTo>
                  <a:pt x="923074" y="0"/>
                </a:lnTo>
                <a:lnTo>
                  <a:pt x="1318641" y="0"/>
                </a:lnTo>
                <a:lnTo>
                  <a:pt x="1446148" y="0"/>
                </a:lnTo>
                <a:lnTo>
                  <a:pt x="1489191" y="6954"/>
                </a:lnTo>
                <a:lnTo>
                  <a:pt x="1526595" y="26314"/>
                </a:lnTo>
                <a:lnTo>
                  <a:pt x="1556105" y="55824"/>
                </a:lnTo>
                <a:lnTo>
                  <a:pt x="1575465" y="93228"/>
                </a:lnTo>
                <a:lnTo>
                  <a:pt x="1582420" y="136271"/>
                </a:lnTo>
                <a:lnTo>
                  <a:pt x="2106295" y="379349"/>
                </a:lnTo>
                <a:lnTo>
                  <a:pt x="1582420" y="340741"/>
                </a:lnTo>
                <a:lnTo>
                  <a:pt x="1582420" y="681608"/>
                </a:lnTo>
                <a:lnTo>
                  <a:pt x="1575465" y="724651"/>
                </a:lnTo>
                <a:lnTo>
                  <a:pt x="1556105" y="762055"/>
                </a:lnTo>
                <a:lnTo>
                  <a:pt x="1526595" y="791565"/>
                </a:lnTo>
                <a:lnTo>
                  <a:pt x="1489191" y="810925"/>
                </a:lnTo>
                <a:lnTo>
                  <a:pt x="1446148" y="817880"/>
                </a:lnTo>
                <a:lnTo>
                  <a:pt x="1318641" y="817880"/>
                </a:lnTo>
                <a:lnTo>
                  <a:pt x="923074" y="817880"/>
                </a:lnTo>
                <a:lnTo>
                  <a:pt x="136321" y="817880"/>
                </a:lnTo>
                <a:lnTo>
                  <a:pt x="93234" y="810925"/>
                </a:lnTo>
                <a:lnTo>
                  <a:pt x="55813" y="791565"/>
                </a:lnTo>
                <a:lnTo>
                  <a:pt x="26303" y="762055"/>
                </a:lnTo>
                <a:lnTo>
                  <a:pt x="6950" y="724651"/>
                </a:lnTo>
                <a:lnTo>
                  <a:pt x="0" y="681608"/>
                </a:lnTo>
                <a:lnTo>
                  <a:pt x="0" y="340741"/>
                </a:lnTo>
                <a:lnTo>
                  <a:pt x="0" y="13627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1473" y="3821909"/>
            <a:ext cx="1388657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gets é</a:t>
            </a:r>
            <a:r>
              <a:rPr spc="-46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usado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984" y="4090726"/>
            <a:ext cx="169386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para ler 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nome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6125" y="4359261"/>
            <a:ext cx="151935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de cada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21869" y="4376613"/>
            <a:ext cx="1702033" cy="1097792"/>
          </a:xfrm>
          <a:custGeom>
            <a:avLst/>
            <a:gdLst/>
            <a:ahLst/>
            <a:cxnLst/>
            <a:rect l="l" t="t" r="r" b="b"/>
            <a:pathLst>
              <a:path w="1455420" h="996314">
                <a:moveTo>
                  <a:pt x="1330960" y="249428"/>
                </a:moveTo>
                <a:lnTo>
                  <a:pt x="124460" y="249428"/>
                </a:lnTo>
                <a:lnTo>
                  <a:pt x="76027" y="259212"/>
                </a:lnTo>
                <a:lnTo>
                  <a:pt x="36464" y="285892"/>
                </a:lnTo>
                <a:lnTo>
                  <a:pt x="9784" y="325455"/>
                </a:lnTo>
                <a:lnTo>
                  <a:pt x="0" y="373888"/>
                </a:lnTo>
                <a:lnTo>
                  <a:pt x="0" y="871728"/>
                </a:lnTo>
                <a:lnTo>
                  <a:pt x="9784" y="920160"/>
                </a:lnTo>
                <a:lnTo>
                  <a:pt x="36464" y="959723"/>
                </a:lnTo>
                <a:lnTo>
                  <a:pt x="76027" y="986403"/>
                </a:lnTo>
                <a:lnTo>
                  <a:pt x="124460" y="996188"/>
                </a:lnTo>
                <a:lnTo>
                  <a:pt x="1330960" y="996188"/>
                </a:lnTo>
                <a:lnTo>
                  <a:pt x="1379392" y="986403"/>
                </a:lnTo>
                <a:lnTo>
                  <a:pt x="1418955" y="959723"/>
                </a:lnTo>
                <a:lnTo>
                  <a:pt x="1445635" y="920160"/>
                </a:lnTo>
                <a:lnTo>
                  <a:pt x="1455420" y="871728"/>
                </a:lnTo>
                <a:lnTo>
                  <a:pt x="1455420" y="373888"/>
                </a:lnTo>
                <a:lnTo>
                  <a:pt x="1445635" y="325455"/>
                </a:lnTo>
                <a:lnTo>
                  <a:pt x="1418955" y="285892"/>
                </a:lnTo>
                <a:lnTo>
                  <a:pt x="1379392" y="259212"/>
                </a:lnTo>
                <a:lnTo>
                  <a:pt x="1330960" y="249428"/>
                </a:lnTo>
                <a:close/>
              </a:path>
              <a:path w="1455420" h="996314">
                <a:moveTo>
                  <a:pt x="1093470" y="0"/>
                </a:moveTo>
                <a:lnTo>
                  <a:pt x="848995" y="249428"/>
                </a:lnTo>
                <a:lnTo>
                  <a:pt x="1212850" y="249428"/>
                </a:lnTo>
                <a:lnTo>
                  <a:pt x="109347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21869" y="4376613"/>
            <a:ext cx="1702033" cy="1097792"/>
          </a:xfrm>
          <a:custGeom>
            <a:avLst/>
            <a:gdLst/>
            <a:ahLst/>
            <a:cxnLst/>
            <a:rect l="l" t="t" r="r" b="b"/>
            <a:pathLst>
              <a:path w="1455420" h="996314">
                <a:moveTo>
                  <a:pt x="0" y="373888"/>
                </a:moveTo>
                <a:lnTo>
                  <a:pt x="9784" y="325455"/>
                </a:lnTo>
                <a:lnTo>
                  <a:pt x="36464" y="285892"/>
                </a:lnTo>
                <a:lnTo>
                  <a:pt x="76027" y="259212"/>
                </a:lnTo>
                <a:lnTo>
                  <a:pt x="124460" y="249428"/>
                </a:lnTo>
                <a:lnTo>
                  <a:pt x="848995" y="249428"/>
                </a:lnTo>
                <a:lnTo>
                  <a:pt x="1093470" y="0"/>
                </a:lnTo>
                <a:lnTo>
                  <a:pt x="1212850" y="249428"/>
                </a:lnTo>
                <a:lnTo>
                  <a:pt x="1330960" y="249428"/>
                </a:lnTo>
                <a:lnTo>
                  <a:pt x="1379392" y="259212"/>
                </a:lnTo>
                <a:lnTo>
                  <a:pt x="1418955" y="285892"/>
                </a:lnTo>
                <a:lnTo>
                  <a:pt x="1445635" y="325455"/>
                </a:lnTo>
                <a:lnTo>
                  <a:pt x="1455420" y="373888"/>
                </a:lnTo>
                <a:lnTo>
                  <a:pt x="1455420" y="560578"/>
                </a:lnTo>
                <a:lnTo>
                  <a:pt x="1455420" y="871728"/>
                </a:lnTo>
                <a:lnTo>
                  <a:pt x="1445635" y="920160"/>
                </a:lnTo>
                <a:lnTo>
                  <a:pt x="1418955" y="959723"/>
                </a:lnTo>
                <a:lnTo>
                  <a:pt x="1379392" y="986403"/>
                </a:lnTo>
                <a:lnTo>
                  <a:pt x="1330960" y="996188"/>
                </a:lnTo>
                <a:lnTo>
                  <a:pt x="1212850" y="996188"/>
                </a:lnTo>
                <a:lnTo>
                  <a:pt x="848995" y="996188"/>
                </a:lnTo>
                <a:lnTo>
                  <a:pt x="124460" y="996188"/>
                </a:lnTo>
                <a:lnTo>
                  <a:pt x="76027" y="986403"/>
                </a:lnTo>
                <a:lnTo>
                  <a:pt x="36464" y="959723"/>
                </a:lnTo>
                <a:lnTo>
                  <a:pt x="9784" y="920160"/>
                </a:lnTo>
                <a:lnTo>
                  <a:pt x="0" y="871728"/>
                </a:lnTo>
                <a:lnTo>
                  <a:pt x="0" y="560578"/>
                </a:lnTo>
                <a:lnTo>
                  <a:pt x="0" y="373888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116680" y="4655223"/>
            <a:ext cx="1111667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Índice i</a:t>
            </a:r>
            <a:r>
              <a:rPr spc="-74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do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100</a:t>
            </a:fld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513" dirty="0">
                <a:latin typeface="Courier New"/>
                <a:cs typeface="Courier New"/>
              </a:rPr>
              <a:t>s</a:t>
            </a:r>
            <a:r>
              <a:rPr sz="2700" spc="-770" baseline="32986" dirty="0">
                <a:latin typeface="Arial"/>
                <a:cs typeface="Arial"/>
              </a:rPr>
              <a:t>v</a:t>
            </a:r>
            <a:r>
              <a:rPr sz="2300" spc="-513" dirty="0">
                <a:latin typeface="Courier New"/>
                <a:cs typeface="Courier New"/>
              </a:rPr>
              <a:t>c</a:t>
            </a:r>
            <a:r>
              <a:rPr sz="2700" spc="-770" baseline="32986" dirty="0">
                <a:latin typeface="Arial"/>
                <a:cs typeface="Arial"/>
              </a:rPr>
              <a:t>e</a:t>
            </a:r>
            <a:r>
              <a:rPr sz="2300" spc="-513" dirty="0">
                <a:latin typeface="Courier New"/>
                <a:cs typeface="Courier New"/>
              </a:rPr>
              <a:t>a</a:t>
            </a:r>
            <a:r>
              <a:rPr sz="2700" spc="-770" baseline="32986" dirty="0">
                <a:latin typeface="Arial"/>
                <a:cs typeface="Arial"/>
              </a:rPr>
              <a:t>to</a:t>
            </a:r>
            <a:r>
              <a:rPr sz="2300" spc="-513" dirty="0">
                <a:latin typeface="Courier New"/>
                <a:cs typeface="Courier New"/>
              </a:rPr>
              <a:t>n</a:t>
            </a:r>
            <a:r>
              <a:rPr sz="2700" spc="-770" baseline="32986" dirty="0">
                <a:latin typeface="Arial"/>
                <a:cs typeface="Arial"/>
              </a:rPr>
              <a:t>r</a:t>
            </a:r>
            <a:r>
              <a:rPr sz="2700" spc="-76" baseline="32986" dirty="0">
                <a:latin typeface="Arial"/>
                <a:cs typeface="Arial"/>
              </a:rPr>
              <a:t> </a:t>
            </a:r>
            <a:r>
              <a:rPr sz="2300" spc="-86" dirty="0">
                <a:latin typeface="Courier New"/>
                <a:cs typeface="Courier New"/>
              </a:rPr>
              <a:t>f</a:t>
            </a:r>
            <a:r>
              <a:rPr sz="2700" spc="-128" baseline="32986" dirty="0">
                <a:latin typeface="Arial"/>
                <a:cs typeface="Arial"/>
              </a:rPr>
              <a:t>de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8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86" dirty="0">
                <a:latin typeface="Courier New"/>
                <a:cs typeface="Courier New"/>
              </a:rPr>
              <a:t>A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i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86" dirty="0">
                <a:latin typeface="Courier New"/>
                <a:cs typeface="Courier New"/>
              </a:rPr>
              <a:t>notas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j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09756" y="5192995"/>
            <a:ext cx="724775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7" dirty="0">
                <a:latin typeface="Arial"/>
                <a:cs typeface="Arial"/>
              </a:rPr>
              <a:t>a</a:t>
            </a:r>
            <a:r>
              <a:rPr spc="-6" dirty="0">
                <a:latin typeface="Arial"/>
                <a:cs typeface="Arial"/>
              </a:rPr>
              <a:t>l</a:t>
            </a:r>
            <a:r>
              <a:rPr spc="-17" dirty="0">
                <a:latin typeface="Arial"/>
                <a:cs typeface="Arial"/>
              </a:rPr>
              <a:t>uno</a:t>
            </a:r>
            <a:r>
              <a:rPr dirty="0">
                <a:latin typeface="Arial"/>
                <a:cs typeface="Arial"/>
              </a:rPr>
              <a:t>s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71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1871980" y="397637"/>
                </a:moveTo>
                <a:lnTo>
                  <a:pt x="132080" y="397637"/>
                </a:lnTo>
                <a:lnTo>
                  <a:pt x="90331" y="404375"/>
                </a:lnTo>
                <a:lnTo>
                  <a:pt x="54073" y="423134"/>
                </a:lnTo>
                <a:lnTo>
                  <a:pt x="25482" y="451732"/>
                </a:lnTo>
                <a:lnTo>
                  <a:pt x="6733" y="487987"/>
                </a:lnTo>
                <a:lnTo>
                  <a:pt x="0" y="529717"/>
                </a:lnTo>
                <a:lnTo>
                  <a:pt x="0" y="1058037"/>
                </a:lnTo>
                <a:lnTo>
                  <a:pt x="6733" y="1099766"/>
                </a:lnTo>
                <a:lnTo>
                  <a:pt x="25482" y="1136021"/>
                </a:lnTo>
                <a:lnTo>
                  <a:pt x="54073" y="1164619"/>
                </a:lnTo>
                <a:lnTo>
                  <a:pt x="90331" y="1183378"/>
                </a:lnTo>
                <a:lnTo>
                  <a:pt x="132080" y="1190117"/>
                </a:lnTo>
                <a:lnTo>
                  <a:pt x="1871980" y="1190117"/>
                </a:lnTo>
                <a:lnTo>
                  <a:pt x="1913709" y="1183378"/>
                </a:lnTo>
                <a:lnTo>
                  <a:pt x="1949964" y="1164619"/>
                </a:lnTo>
                <a:lnTo>
                  <a:pt x="1978562" y="1136021"/>
                </a:lnTo>
                <a:lnTo>
                  <a:pt x="1997321" y="1099766"/>
                </a:lnTo>
                <a:lnTo>
                  <a:pt x="2004060" y="1058037"/>
                </a:lnTo>
                <a:lnTo>
                  <a:pt x="2004060" y="529717"/>
                </a:lnTo>
                <a:lnTo>
                  <a:pt x="1997321" y="487987"/>
                </a:lnTo>
                <a:lnTo>
                  <a:pt x="1978562" y="451732"/>
                </a:lnTo>
                <a:lnTo>
                  <a:pt x="1949964" y="423134"/>
                </a:lnTo>
                <a:lnTo>
                  <a:pt x="1913709" y="404375"/>
                </a:lnTo>
                <a:lnTo>
                  <a:pt x="1871980" y="397637"/>
                </a:lnTo>
                <a:close/>
              </a:path>
              <a:path w="2004060" h="1190625">
                <a:moveTo>
                  <a:pt x="1979295" y="0"/>
                </a:moveTo>
                <a:lnTo>
                  <a:pt x="1169035" y="397637"/>
                </a:lnTo>
                <a:lnTo>
                  <a:pt x="1670050" y="397637"/>
                </a:lnTo>
                <a:lnTo>
                  <a:pt x="197929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0" y="529717"/>
                </a:moveTo>
                <a:lnTo>
                  <a:pt x="6733" y="487987"/>
                </a:lnTo>
                <a:lnTo>
                  <a:pt x="25482" y="451732"/>
                </a:lnTo>
                <a:lnTo>
                  <a:pt x="54073" y="423134"/>
                </a:lnTo>
                <a:lnTo>
                  <a:pt x="90331" y="404375"/>
                </a:lnTo>
                <a:lnTo>
                  <a:pt x="132080" y="397637"/>
                </a:lnTo>
                <a:lnTo>
                  <a:pt x="1169035" y="397637"/>
                </a:lnTo>
                <a:lnTo>
                  <a:pt x="1979295" y="0"/>
                </a:lnTo>
                <a:lnTo>
                  <a:pt x="1670050" y="397637"/>
                </a:lnTo>
                <a:lnTo>
                  <a:pt x="1871980" y="397637"/>
                </a:lnTo>
                <a:lnTo>
                  <a:pt x="1913709" y="404375"/>
                </a:lnTo>
                <a:lnTo>
                  <a:pt x="1949964" y="423134"/>
                </a:lnTo>
                <a:lnTo>
                  <a:pt x="1978562" y="451732"/>
                </a:lnTo>
                <a:lnTo>
                  <a:pt x="1997321" y="487987"/>
                </a:lnTo>
                <a:lnTo>
                  <a:pt x="2004060" y="529717"/>
                </a:lnTo>
                <a:lnTo>
                  <a:pt x="2004060" y="727837"/>
                </a:lnTo>
                <a:lnTo>
                  <a:pt x="2004060" y="1058037"/>
                </a:lnTo>
                <a:lnTo>
                  <a:pt x="1997321" y="1099766"/>
                </a:lnTo>
                <a:lnTo>
                  <a:pt x="1978562" y="1136021"/>
                </a:lnTo>
                <a:lnTo>
                  <a:pt x="1949964" y="1164619"/>
                </a:lnTo>
                <a:lnTo>
                  <a:pt x="1913709" y="1183378"/>
                </a:lnTo>
                <a:lnTo>
                  <a:pt x="1871980" y="1190117"/>
                </a:lnTo>
                <a:lnTo>
                  <a:pt x="1670050" y="1190117"/>
                </a:lnTo>
                <a:lnTo>
                  <a:pt x="1169035" y="1190117"/>
                </a:lnTo>
                <a:lnTo>
                  <a:pt x="132080" y="1190117"/>
                </a:lnTo>
                <a:lnTo>
                  <a:pt x="90331" y="1183378"/>
                </a:lnTo>
                <a:lnTo>
                  <a:pt x="54073" y="1164619"/>
                </a:lnTo>
                <a:lnTo>
                  <a:pt x="25482" y="1136021"/>
                </a:lnTo>
                <a:lnTo>
                  <a:pt x="6733" y="1099766"/>
                </a:lnTo>
                <a:lnTo>
                  <a:pt x="0" y="1058037"/>
                </a:lnTo>
                <a:lnTo>
                  <a:pt x="0" y="727837"/>
                </a:lnTo>
                <a:lnTo>
                  <a:pt x="0" y="52971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6763" y="4998204"/>
            <a:ext cx="2221108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59" marR="5793" indent="-1448" algn="ctr"/>
            <a:r>
              <a:rPr spc="-6" dirty="0">
                <a:latin typeface="Arial"/>
                <a:cs typeface="Arial"/>
              </a:rPr>
              <a:t>Para </a:t>
            </a:r>
            <a:r>
              <a:rPr spc="-11" dirty="0">
                <a:latin typeface="Arial"/>
                <a:cs typeface="Arial"/>
              </a:rPr>
              <a:t>cada aluno, um  </a:t>
            </a:r>
            <a:r>
              <a:rPr spc="-6" dirty="0">
                <a:latin typeface="Arial"/>
                <a:cs typeface="Arial"/>
              </a:rPr>
              <a:t>laço para ler </a:t>
            </a:r>
            <a:r>
              <a:rPr spc="-11" dirty="0">
                <a:latin typeface="Arial"/>
                <a:cs typeface="Arial"/>
              </a:rPr>
              <a:t>as suas  quatro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4730" y="4333793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1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1"/>
                </a:lnTo>
                <a:lnTo>
                  <a:pt x="4752340" y="300609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80"/>
                </a:lnTo>
                <a:lnTo>
                  <a:pt x="60070" y="360680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9"/>
                </a:lnTo>
                <a:lnTo>
                  <a:pt x="0" y="60071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4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9888" y="4998065"/>
            <a:ext cx="516996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7594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3442" y="5670174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6995" y="6011616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1244600" y="227330"/>
                </a:moveTo>
                <a:lnTo>
                  <a:pt x="124460" y="227330"/>
                </a:lnTo>
                <a:lnTo>
                  <a:pt x="76027" y="237114"/>
                </a:lnTo>
                <a:lnTo>
                  <a:pt x="36464" y="263794"/>
                </a:lnTo>
                <a:lnTo>
                  <a:pt x="9784" y="303357"/>
                </a:lnTo>
                <a:lnTo>
                  <a:pt x="0" y="351789"/>
                </a:lnTo>
                <a:lnTo>
                  <a:pt x="0" y="849630"/>
                </a:lnTo>
                <a:lnTo>
                  <a:pt x="9784" y="898073"/>
                </a:lnTo>
                <a:lnTo>
                  <a:pt x="36464" y="937634"/>
                </a:lnTo>
                <a:lnTo>
                  <a:pt x="76027" y="964308"/>
                </a:lnTo>
                <a:lnTo>
                  <a:pt x="124460" y="974090"/>
                </a:lnTo>
                <a:lnTo>
                  <a:pt x="1244600" y="974090"/>
                </a:lnTo>
                <a:lnTo>
                  <a:pt x="1293032" y="964308"/>
                </a:lnTo>
                <a:lnTo>
                  <a:pt x="1332595" y="937634"/>
                </a:lnTo>
                <a:lnTo>
                  <a:pt x="1359275" y="898073"/>
                </a:lnTo>
                <a:lnTo>
                  <a:pt x="1369059" y="849630"/>
                </a:lnTo>
                <a:lnTo>
                  <a:pt x="1369059" y="351789"/>
                </a:lnTo>
                <a:lnTo>
                  <a:pt x="1359275" y="303357"/>
                </a:lnTo>
                <a:lnTo>
                  <a:pt x="1332595" y="263794"/>
                </a:lnTo>
                <a:lnTo>
                  <a:pt x="1293032" y="237114"/>
                </a:lnTo>
                <a:lnTo>
                  <a:pt x="1244600" y="227330"/>
                </a:lnTo>
                <a:close/>
              </a:path>
              <a:path w="1369059" h="974089">
                <a:moveTo>
                  <a:pt x="830072" y="0"/>
                </a:moveTo>
                <a:lnTo>
                  <a:pt x="798576" y="227330"/>
                </a:lnTo>
                <a:lnTo>
                  <a:pt x="1140841" y="227330"/>
                </a:lnTo>
                <a:lnTo>
                  <a:pt x="830072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0" y="351789"/>
                </a:moveTo>
                <a:lnTo>
                  <a:pt x="9784" y="303357"/>
                </a:lnTo>
                <a:lnTo>
                  <a:pt x="36464" y="263794"/>
                </a:lnTo>
                <a:lnTo>
                  <a:pt x="76027" y="237114"/>
                </a:lnTo>
                <a:lnTo>
                  <a:pt x="124460" y="227330"/>
                </a:lnTo>
                <a:lnTo>
                  <a:pt x="798576" y="227330"/>
                </a:lnTo>
                <a:lnTo>
                  <a:pt x="830072" y="0"/>
                </a:lnTo>
                <a:lnTo>
                  <a:pt x="1140841" y="227330"/>
                </a:lnTo>
                <a:lnTo>
                  <a:pt x="1244600" y="227330"/>
                </a:lnTo>
                <a:lnTo>
                  <a:pt x="1293032" y="237114"/>
                </a:lnTo>
                <a:lnTo>
                  <a:pt x="1332595" y="263794"/>
                </a:lnTo>
                <a:lnTo>
                  <a:pt x="1359275" y="303357"/>
                </a:lnTo>
                <a:lnTo>
                  <a:pt x="1369059" y="351789"/>
                </a:lnTo>
                <a:lnTo>
                  <a:pt x="1369059" y="538480"/>
                </a:lnTo>
                <a:lnTo>
                  <a:pt x="1369059" y="849630"/>
                </a:lnTo>
                <a:lnTo>
                  <a:pt x="1359275" y="898073"/>
                </a:lnTo>
                <a:lnTo>
                  <a:pt x="1332595" y="937634"/>
                </a:lnTo>
                <a:lnTo>
                  <a:pt x="1293032" y="964308"/>
                </a:lnTo>
                <a:lnTo>
                  <a:pt x="1244600" y="974090"/>
                </a:lnTo>
                <a:lnTo>
                  <a:pt x="1140841" y="974090"/>
                </a:lnTo>
                <a:lnTo>
                  <a:pt x="798576" y="974090"/>
                </a:lnTo>
                <a:lnTo>
                  <a:pt x="124460" y="974090"/>
                </a:lnTo>
                <a:lnTo>
                  <a:pt x="76027" y="964308"/>
                </a:lnTo>
                <a:lnTo>
                  <a:pt x="36464" y="937634"/>
                </a:lnTo>
                <a:lnTo>
                  <a:pt x="9784" y="898073"/>
                </a:lnTo>
                <a:lnTo>
                  <a:pt x="0" y="849630"/>
                </a:lnTo>
                <a:lnTo>
                  <a:pt x="0" y="538480"/>
                </a:lnTo>
                <a:lnTo>
                  <a:pt x="0" y="35178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07128" y="5741961"/>
            <a:ext cx="150301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205660"/>
            <a:r>
              <a:rPr spc="-6" dirty="0">
                <a:latin typeface="Arial"/>
                <a:cs typeface="Arial"/>
              </a:rPr>
              <a:t>Índice j </a:t>
            </a:r>
            <a:r>
              <a:rPr spc="-11" dirty="0">
                <a:latin typeface="Arial"/>
                <a:cs typeface="Arial"/>
              </a:rPr>
              <a:t>do 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1333500" y="249428"/>
                </a:moveTo>
                <a:lnTo>
                  <a:pt x="124459" y="249428"/>
                </a:lnTo>
                <a:lnTo>
                  <a:pt x="76027" y="259212"/>
                </a:lnTo>
                <a:lnTo>
                  <a:pt x="36464" y="285892"/>
                </a:lnTo>
                <a:lnTo>
                  <a:pt x="9784" y="325455"/>
                </a:lnTo>
                <a:lnTo>
                  <a:pt x="0" y="373888"/>
                </a:lnTo>
                <a:lnTo>
                  <a:pt x="0" y="871728"/>
                </a:lnTo>
                <a:lnTo>
                  <a:pt x="9784" y="920171"/>
                </a:lnTo>
                <a:lnTo>
                  <a:pt x="36464" y="959732"/>
                </a:lnTo>
                <a:lnTo>
                  <a:pt x="76027" y="986406"/>
                </a:lnTo>
                <a:lnTo>
                  <a:pt x="124459" y="996188"/>
                </a:lnTo>
                <a:lnTo>
                  <a:pt x="1333500" y="996188"/>
                </a:lnTo>
                <a:lnTo>
                  <a:pt x="1381932" y="986406"/>
                </a:lnTo>
                <a:lnTo>
                  <a:pt x="1421495" y="959732"/>
                </a:lnTo>
                <a:lnTo>
                  <a:pt x="1448175" y="920171"/>
                </a:lnTo>
                <a:lnTo>
                  <a:pt x="1457959" y="871728"/>
                </a:lnTo>
                <a:lnTo>
                  <a:pt x="1457959" y="373888"/>
                </a:lnTo>
                <a:lnTo>
                  <a:pt x="1448175" y="325455"/>
                </a:lnTo>
                <a:lnTo>
                  <a:pt x="1421495" y="285892"/>
                </a:lnTo>
                <a:lnTo>
                  <a:pt x="1381932" y="259212"/>
                </a:lnTo>
                <a:lnTo>
                  <a:pt x="1333500" y="249428"/>
                </a:lnTo>
                <a:close/>
              </a:path>
              <a:path w="1457960" h="996314">
                <a:moveTo>
                  <a:pt x="1095375" y="0"/>
                </a:moveTo>
                <a:lnTo>
                  <a:pt x="850518" y="249428"/>
                </a:lnTo>
                <a:lnTo>
                  <a:pt x="1215008" y="249428"/>
                </a:lnTo>
                <a:lnTo>
                  <a:pt x="109537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0" y="373888"/>
                </a:moveTo>
                <a:lnTo>
                  <a:pt x="9784" y="325455"/>
                </a:lnTo>
                <a:lnTo>
                  <a:pt x="36464" y="285892"/>
                </a:lnTo>
                <a:lnTo>
                  <a:pt x="76027" y="259212"/>
                </a:lnTo>
                <a:lnTo>
                  <a:pt x="124459" y="249428"/>
                </a:lnTo>
                <a:lnTo>
                  <a:pt x="850518" y="249428"/>
                </a:lnTo>
                <a:lnTo>
                  <a:pt x="1095375" y="0"/>
                </a:lnTo>
                <a:lnTo>
                  <a:pt x="1215008" y="249428"/>
                </a:lnTo>
                <a:lnTo>
                  <a:pt x="1333500" y="249428"/>
                </a:lnTo>
                <a:lnTo>
                  <a:pt x="1381932" y="259212"/>
                </a:lnTo>
                <a:lnTo>
                  <a:pt x="1421495" y="285892"/>
                </a:lnTo>
                <a:lnTo>
                  <a:pt x="1448175" y="325455"/>
                </a:lnTo>
                <a:lnTo>
                  <a:pt x="1457959" y="373888"/>
                </a:lnTo>
                <a:lnTo>
                  <a:pt x="1457959" y="560578"/>
                </a:lnTo>
                <a:lnTo>
                  <a:pt x="1457959" y="871728"/>
                </a:lnTo>
                <a:lnTo>
                  <a:pt x="1448175" y="920171"/>
                </a:lnTo>
                <a:lnTo>
                  <a:pt x="1421495" y="959732"/>
                </a:lnTo>
                <a:lnTo>
                  <a:pt x="1381932" y="986406"/>
                </a:lnTo>
                <a:lnTo>
                  <a:pt x="1333500" y="996188"/>
                </a:lnTo>
                <a:lnTo>
                  <a:pt x="1215008" y="996188"/>
                </a:lnTo>
                <a:lnTo>
                  <a:pt x="850518" y="996188"/>
                </a:lnTo>
                <a:lnTo>
                  <a:pt x="124459" y="996188"/>
                </a:lnTo>
                <a:lnTo>
                  <a:pt x="76027" y="986406"/>
                </a:lnTo>
                <a:lnTo>
                  <a:pt x="36464" y="959732"/>
                </a:lnTo>
                <a:lnTo>
                  <a:pt x="9784" y="920171"/>
                </a:lnTo>
                <a:lnTo>
                  <a:pt x="0" y="871728"/>
                </a:lnTo>
                <a:lnTo>
                  <a:pt x="0" y="560578"/>
                </a:lnTo>
                <a:lnTo>
                  <a:pt x="0" y="373888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31829" y="5607203"/>
            <a:ext cx="108270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Índice</a:t>
            </a:r>
            <a:r>
              <a:rPr spc="-2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do </a:t>
            </a:r>
            <a:r>
              <a:rPr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  alunos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147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Impressão </a:t>
            </a:r>
            <a:r>
              <a:rPr dirty="0"/>
              <a:t>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17" dirty="0"/>
              <a:t> </a:t>
            </a:r>
            <a:r>
              <a:rPr spc="-6"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6" y="1283906"/>
            <a:ext cx="8183421" cy="1985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processo de </a:t>
            </a:r>
            <a:r>
              <a:rPr sz="2700" spc="-6" dirty="0">
                <a:latin typeface="Arial"/>
                <a:cs typeface="Arial"/>
              </a:rPr>
              <a:t>escrita </a:t>
            </a:r>
            <a:r>
              <a:rPr sz="2700" dirty="0">
                <a:latin typeface="Arial"/>
                <a:cs typeface="Arial"/>
              </a:rPr>
              <a:t>de um </a:t>
            </a:r>
            <a:r>
              <a:rPr sz="2700" spc="-6" dirty="0">
                <a:latin typeface="Arial"/>
                <a:cs typeface="Arial"/>
              </a:rPr>
              <a:t>vetor </a:t>
            </a:r>
            <a:r>
              <a:rPr sz="2700" dirty="0">
                <a:latin typeface="Arial"/>
                <a:cs typeface="Arial"/>
              </a:rPr>
              <a:t>de estrutura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é</a:t>
            </a:r>
            <a:endParaRPr sz="2700">
              <a:latin typeface="Arial"/>
              <a:cs typeface="Arial"/>
            </a:endParaRPr>
          </a:p>
          <a:p>
            <a:pPr marL="404802"/>
            <a:r>
              <a:rPr sz="2700" dirty="0">
                <a:latin typeface="Arial"/>
                <a:cs typeface="Arial"/>
              </a:rPr>
              <a:t>similar aos modos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escrita anteriores </a:t>
            </a:r>
            <a:r>
              <a:rPr sz="2700" spc="-6" dirty="0">
                <a:latin typeface="Arial"/>
                <a:cs typeface="Arial"/>
              </a:rPr>
              <a:t>já</a:t>
            </a:r>
            <a:r>
              <a:rPr sz="2700" spc="-6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vistos.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91634">
              <a:spcBef>
                <a:spcPts val="6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imprime_vetor_alunos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59163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373618" y="3509154"/>
            <a:ext cx="356595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8866" y="3173031"/>
            <a:ext cx="142652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120" dirty="0"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2419" y="4180844"/>
            <a:ext cx="6240787" cy="2477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5188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95188">
              <a:tabLst>
                <a:tab pos="1390376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042782"/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 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340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4" y="1710007"/>
            <a:ext cx="5037780" cy="508804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49967" rIns="0" bIns="0" rtlCol="0">
            <a:spAutoFit/>
          </a:bodyPr>
          <a:lstStyle/>
          <a:p>
            <a:pPr marL="97761">
              <a:spcBef>
                <a:spcPts val="393"/>
              </a:spcBef>
            </a:pP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1600" spc="-108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>
              <a:spcBef>
                <a:spcPts val="6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>
              <a:lnSpc>
                <a:spcPts val="1916"/>
              </a:lnSpc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1600" b="1" spc="-5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j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 marR="181039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nome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do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aluno"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spc="-11" dirty="0">
                <a:latin typeface="Courier New"/>
                <a:cs typeface="Courier New"/>
              </a:rPr>
              <a:t>gets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as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4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notas</a:t>
            </a:r>
            <a:r>
              <a:rPr sz="1600" spc="-74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8432" marR="302696" indent="-243316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scanf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"%f%*c"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Programa</a:t>
            </a:r>
            <a:r>
              <a:rPr spc="-51" dirty="0"/>
              <a:t> </a:t>
            </a:r>
            <a:r>
              <a:rPr dirty="0"/>
              <a:t>completo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24913" y="1589663"/>
            <a:ext cx="5361552" cy="5323134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2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 marR="207470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j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"\nAlunos:"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6" dirty="0">
                <a:latin typeface="Courier New"/>
                <a:cs typeface="Courier New"/>
              </a:rPr>
              <a:t>printf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"\n%20s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9156" marR="617703" indent="-244040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"%.2f 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9209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main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57" dirty="0"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7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8541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9251" y="996337"/>
            <a:ext cx="6020978" cy="6801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300">
              <a:latin typeface="Times New Roman"/>
              <a:cs typeface="Times New Roman"/>
            </a:endParaRPr>
          </a:p>
          <a:p>
            <a:pPr marR="10862" algn="r"/>
            <a:r>
              <a:rPr sz="1100" dirty="0">
                <a:latin typeface="Times New Roman"/>
                <a:cs typeface="Times New Roman"/>
              </a:rPr>
              <a:t>57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82817" y="1047415"/>
            <a:ext cx="5781862" cy="420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68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"Produtos</a:t>
            </a:r>
            <a:r>
              <a:rPr sz="2100" spc="-5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armazenados:\n"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7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639428">
              <a:tabLst>
                <a:tab pos="3754014" algn="l"/>
              </a:tabLst>
            </a:pP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%d:	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23" dirty="0">
                <a:latin typeface="Courier New"/>
                <a:cs typeface="Courier New"/>
              </a:rPr>
              <a:t>i</a:t>
            </a:r>
            <a:r>
              <a:rPr sz="2100" spc="-23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639428" marR="472148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"Codigo: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scanf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"%d%*c"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 &amp;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"Descricao: 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gets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14842" y="5280733"/>
            <a:ext cx="1150283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2817" y="5280734"/>
            <a:ext cx="4504595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1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639428" marR="161486" indent="-312835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8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"%3d </a:t>
            </a:r>
            <a:r>
              <a:rPr sz="2100" dirty="0">
                <a:solidFill>
                  <a:srgbClr val="0000FF"/>
                </a:solidFill>
                <a:latin typeface="Courier New"/>
                <a:cs typeface="Courier New"/>
              </a:rPr>
              <a:t>-</a:t>
            </a:r>
            <a:r>
              <a:rPr sz="2100" spc="-9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%s\n"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253" y="6792453"/>
            <a:ext cx="4662024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7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2818" y="7100660"/>
            <a:ext cx="190847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103" dirty="0"/>
              <a:t> </a:t>
            </a:r>
            <a:r>
              <a:rPr spc="-6" dirty="0"/>
              <a:t>2</a:t>
            </a:r>
          </a:p>
        </p:txBody>
      </p:sp>
      <p:sp>
        <p:nvSpPr>
          <p:cNvPr id="11" name="object 11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2924" y="1044616"/>
            <a:ext cx="4344194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100" spc="-57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#define TAM</a:t>
            </a:r>
            <a:r>
              <a:rPr sz="2100"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9F00"/>
                </a:solidFill>
                <a:latin typeface="Courier New"/>
                <a:cs typeface="Courier New"/>
              </a:rPr>
              <a:t>4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main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 marR="5793"/>
            <a:r>
              <a:rPr sz="2100" spc="-11" dirty="0">
                <a:latin typeface="Courier New"/>
                <a:cs typeface="Courier New"/>
              </a:rPr>
              <a:t>Produto 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17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8247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91" y="1282505"/>
            <a:ext cx="9729509" cy="5216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0633" indent="-556150">
              <a:lnSpc>
                <a:spcPts val="2714"/>
              </a:lnSpc>
              <a:buClr>
                <a:srgbClr val="C5000A"/>
              </a:buClr>
              <a:buAutoNum type="arabicParenR" startAt="5"/>
              <a:tabLst>
                <a:tab pos="564116" algn="l"/>
                <a:tab pos="564840" algn="l"/>
                <a:tab pos="5159597" algn="l"/>
              </a:tabLst>
            </a:pPr>
            <a:r>
              <a:rPr sz="2500" spc="-6" dirty="0">
                <a:solidFill>
                  <a:srgbClr val="C00000"/>
                </a:solidFill>
                <a:latin typeface="Arial"/>
                <a:cs typeface="Arial"/>
              </a:rPr>
              <a:t>a) </a:t>
            </a:r>
            <a:r>
              <a:rPr sz="2500" spc="-11" dirty="0">
                <a:latin typeface="Arial"/>
                <a:cs typeface="Arial"/>
              </a:rPr>
              <a:t>Crie </a:t>
            </a:r>
            <a:r>
              <a:rPr sz="2500" dirty="0">
                <a:latin typeface="Arial"/>
                <a:cs typeface="Arial"/>
              </a:rPr>
              <a:t>uma</a:t>
            </a:r>
            <a:r>
              <a:rPr sz="2500" spc="7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estrutura</a:t>
            </a:r>
            <a:r>
              <a:rPr sz="2500" spc="11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chamada	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764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contendo apenas as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(inteiros)</a:t>
            </a:r>
            <a:r>
              <a:rPr sz="2500" spc="3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ponto.</a:t>
            </a:r>
            <a:endParaRPr sz="2500">
              <a:latin typeface="Arial"/>
              <a:cs typeface="Arial"/>
            </a:endParaRPr>
          </a:p>
          <a:p>
            <a:pPr marL="570633" lvl="1">
              <a:lnSpc>
                <a:spcPts val="2714"/>
              </a:lnSpc>
              <a:spcBef>
                <a:spcPts val="1825"/>
              </a:spcBef>
              <a:buClr>
                <a:srgbClr val="C00000"/>
              </a:buClr>
              <a:buAutoNum type="alphaLcParenR" startAt="2"/>
              <a:tabLst>
                <a:tab pos="945021" algn="l"/>
              </a:tabLst>
            </a:pPr>
            <a:r>
              <a:rPr sz="2500" spc="-6" dirty="0">
                <a:latin typeface="Arial"/>
                <a:cs typeface="Arial"/>
              </a:rPr>
              <a:t>Faça </a:t>
            </a:r>
            <a:r>
              <a:rPr sz="2500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spc="-11" dirty="0">
                <a:latin typeface="Arial"/>
                <a:cs typeface="Arial"/>
              </a:rPr>
              <a:t>dois </a:t>
            </a:r>
            <a:r>
              <a:rPr sz="2500" spc="-6" dirty="0">
                <a:latin typeface="Arial"/>
                <a:cs typeface="Arial"/>
              </a:rPr>
              <a:t>pontos por </a:t>
            </a:r>
            <a:r>
              <a:rPr sz="2500" dirty="0">
                <a:latin typeface="Arial"/>
                <a:cs typeface="Arial"/>
              </a:rPr>
              <a:t>parâmetro</a:t>
            </a:r>
            <a:r>
              <a:rPr sz="2500" spc="14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dirty="0">
                <a:latin typeface="Arial"/>
                <a:cs typeface="Arial"/>
              </a:rPr>
              <a:t>retorne a </a:t>
            </a:r>
            <a:r>
              <a:rPr sz="2500" spc="-6" dirty="0">
                <a:latin typeface="Arial"/>
                <a:cs typeface="Arial"/>
              </a:rPr>
              <a:t>distância entre eles.</a:t>
            </a:r>
            <a:endParaRPr sz="250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100">
              <a:latin typeface="Times New Roman"/>
              <a:cs typeface="Times New Roman"/>
            </a:endParaRPr>
          </a:p>
          <a:p>
            <a:pPr marL="570633" marR="158590" lvl="1">
              <a:lnSpc>
                <a:spcPct val="80100"/>
              </a:lnSpc>
              <a:buClr>
                <a:srgbClr val="C00000"/>
              </a:buClr>
              <a:buAutoNum type="alphaLcParenR" startAt="3"/>
              <a:tabLst>
                <a:tab pos="927641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declare 2 </a:t>
            </a:r>
            <a:r>
              <a:rPr sz="2500" dirty="0">
                <a:latin typeface="Arial"/>
                <a:cs typeface="Arial"/>
              </a:rPr>
              <a:t>pontos, </a:t>
            </a:r>
            <a:r>
              <a:rPr sz="2500" spc="-11" dirty="0">
                <a:latin typeface="Arial"/>
                <a:cs typeface="Arial"/>
              </a:rPr>
              <a:t>leia </a:t>
            </a:r>
            <a:r>
              <a:rPr sz="2500" spc="-6" dirty="0">
                <a:latin typeface="Arial"/>
                <a:cs typeface="Arial"/>
              </a:rPr>
              <a:t>as  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de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cada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um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chame</a:t>
            </a:r>
            <a:r>
              <a:rPr sz="2500" spc="2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função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criada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para  </a:t>
            </a:r>
            <a:r>
              <a:rPr sz="2500" spc="-6" dirty="0">
                <a:latin typeface="Arial"/>
                <a:cs typeface="Arial"/>
              </a:rPr>
              <a:t>calcular a distância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eles. Apresente no final a distância 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os </a:t>
            </a:r>
            <a:r>
              <a:rPr sz="2500" spc="-11" dirty="0">
                <a:latin typeface="Arial"/>
                <a:cs typeface="Arial"/>
              </a:rPr>
              <a:t>dois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pontos.</a:t>
            </a:r>
            <a:endParaRPr sz="2500">
              <a:latin typeface="Arial"/>
              <a:cs typeface="Arial"/>
            </a:endParaRPr>
          </a:p>
          <a:p>
            <a:pPr lvl="1">
              <a:spcBef>
                <a:spcPts val="6"/>
              </a:spcBef>
              <a:buClr>
                <a:srgbClr val="C00000"/>
              </a:buClr>
              <a:buFont typeface="Arial"/>
              <a:buAutoNum type="alphaLcParenR" startAt="3"/>
            </a:pPr>
            <a:endParaRPr sz="3300">
              <a:latin typeface="Times New Roman"/>
              <a:cs typeface="Times New Roman"/>
            </a:endParaRPr>
          </a:p>
          <a:p>
            <a:pPr marL="570633" marR="5793" indent="-556150">
              <a:lnSpc>
                <a:spcPct val="80300"/>
              </a:lnSpc>
              <a:buClr>
                <a:srgbClr val="C5000A"/>
              </a:buClr>
              <a:buAutoNum type="arabicParenR" startAt="6"/>
              <a:tabLst>
                <a:tab pos="569909" algn="l"/>
                <a:tab pos="570633" algn="l"/>
              </a:tabLst>
            </a:pPr>
            <a:r>
              <a:rPr sz="2500" spc="-6" dirty="0">
                <a:latin typeface="Arial"/>
                <a:cs typeface="Arial"/>
              </a:rPr>
              <a:t>Utilizando a </a:t>
            </a:r>
            <a:r>
              <a:rPr sz="2500" dirty="0">
                <a:latin typeface="Arial"/>
                <a:cs typeface="Arial"/>
              </a:rPr>
              <a:t>estrutura 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667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definida no exercício </a:t>
            </a:r>
            <a:r>
              <a:rPr sz="2500" dirty="0">
                <a:latin typeface="Arial"/>
                <a:cs typeface="Arial"/>
              </a:rPr>
              <a:t>5, faça uma 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dirty="0">
                <a:latin typeface="Arial"/>
                <a:cs typeface="Arial"/>
              </a:rPr>
              <a:t>2 </a:t>
            </a:r>
            <a:r>
              <a:rPr sz="2500" spc="-6" dirty="0">
                <a:latin typeface="Arial"/>
                <a:cs typeface="Arial"/>
              </a:rPr>
              <a:t>pontos </a:t>
            </a:r>
            <a:r>
              <a:rPr sz="2500" dirty="0">
                <a:latin typeface="Arial"/>
                <a:cs typeface="Arial"/>
              </a:rPr>
              <a:t>e retorne o </a:t>
            </a:r>
            <a:r>
              <a:rPr sz="2500" spc="-6" dirty="0">
                <a:latin typeface="Arial"/>
                <a:cs typeface="Arial"/>
              </a:rPr>
              <a:t>ponto mais próximo </a:t>
            </a:r>
            <a:r>
              <a:rPr sz="2500" dirty="0">
                <a:latin typeface="Arial"/>
                <a:cs typeface="Arial"/>
              </a:rPr>
              <a:t>da  </a:t>
            </a:r>
            <a:r>
              <a:rPr sz="2500" spc="-6" dirty="0">
                <a:latin typeface="Arial"/>
                <a:cs typeface="Arial"/>
              </a:rPr>
              <a:t>origem. Em seguida, modifique o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principal para ler 4  pontos e imprimir apenas as coordenadas do ponto mais  próximo </a:t>
            </a:r>
            <a:r>
              <a:rPr sz="2500" dirty="0">
                <a:latin typeface="Arial"/>
                <a:cs typeface="Arial"/>
              </a:rPr>
              <a:t>da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origem.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49948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62" y="1483245"/>
            <a:ext cx="9671586" cy="452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 indent="-553254" algn="just">
              <a:lnSpc>
                <a:spcPts val="2144"/>
              </a:lnSpc>
              <a:buClr>
                <a:srgbClr val="C5000A"/>
              </a:buClr>
              <a:buAutoNum type="arabicParenR" startAt="7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Utilizando </a:t>
            </a:r>
            <a:r>
              <a:rPr sz="2500" dirty="0">
                <a:latin typeface="Arial"/>
                <a:cs typeface="Arial"/>
              </a:rPr>
              <a:t>a  estrutura </a:t>
            </a:r>
            <a:r>
              <a:rPr sz="2500" spc="-6" dirty="0">
                <a:latin typeface="Courier New"/>
                <a:cs typeface="Courier New"/>
              </a:rPr>
              <a:t>medidas </a:t>
            </a:r>
            <a:r>
              <a:rPr sz="2500" dirty="0">
                <a:latin typeface="Arial"/>
                <a:cs typeface="Arial"/>
              </a:rPr>
              <a:t>definida  </a:t>
            </a:r>
            <a:r>
              <a:rPr sz="2500" spc="-6" dirty="0">
                <a:latin typeface="Arial"/>
                <a:cs typeface="Arial"/>
              </a:rPr>
              <a:t>no exercício  2,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faça</a:t>
            </a:r>
            <a:endParaRPr sz="2500">
              <a:latin typeface="Arial"/>
              <a:cs typeface="Arial"/>
            </a:endParaRPr>
          </a:p>
          <a:p>
            <a:pPr marL="567737" marR="10862">
              <a:lnSpc>
                <a:spcPts val="2418"/>
              </a:lnSpc>
              <a:spcBef>
                <a:spcPts val="290"/>
              </a:spcBef>
              <a:tabLst>
                <a:tab pos="1184716" algn="l"/>
                <a:tab pos="2722819" algn="l"/>
                <a:tab pos="3430317" algn="l"/>
                <a:tab pos="4099436" algn="l"/>
                <a:tab pos="4449926" algn="l"/>
                <a:tab pos="5423189" algn="l"/>
                <a:tab pos="5773680" algn="l"/>
                <a:tab pos="6124895" algn="l"/>
                <a:tab pos="6990983" algn="l"/>
                <a:tab pos="7518167" algn="l"/>
                <a:tab pos="7868656" algn="l"/>
                <a:tab pos="9233687" algn="l"/>
              </a:tabLst>
            </a:pPr>
            <a:r>
              <a:rPr sz="2500" spc="-11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m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progra</a:t>
            </a:r>
            <a:r>
              <a:rPr sz="2500" dirty="0">
                <a:latin typeface="Arial"/>
                <a:cs typeface="Arial"/>
              </a:rPr>
              <a:t>m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q</a:t>
            </a:r>
            <a:r>
              <a:rPr sz="2500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l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spc="-23" dirty="0">
                <a:latin typeface="Arial"/>
                <a:cs typeface="Arial"/>
              </a:rPr>
              <a:t>i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l</a:t>
            </a:r>
            <a:r>
              <a:rPr sz="2500" spc="6" dirty="0">
                <a:latin typeface="Arial"/>
                <a:cs typeface="Arial"/>
              </a:rPr>
              <a:t>t</a:t>
            </a:r>
            <a:r>
              <a:rPr sz="2500" spc="-6" dirty="0">
                <a:latin typeface="Arial"/>
                <a:cs typeface="Arial"/>
              </a:rPr>
              <a:t>ura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11" dirty="0">
                <a:latin typeface="Arial"/>
                <a:cs typeface="Arial"/>
              </a:rPr>
              <a:t>d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6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esso</a:t>
            </a:r>
            <a:r>
              <a:rPr sz="2500" spc="-17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s	</a:t>
            </a:r>
            <a:r>
              <a:rPr sz="2500" spc="-6" dirty="0">
                <a:latin typeface="Arial"/>
                <a:cs typeface="Arial"/>
              </a:rPr>
              <a:t>e  imprima a média da altura e a média do peso do</a:t>
            </a:r>
            <a:r>
              <a:rPr sz="2500" spc="18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grupo.</a:t>
            </a:r>
            <a:endParaRPr sz="2500">
              <a:latin typeface="Arial"/>
              <a:cs typeface="Arial"/>
            </a:endParaRPr>
          </a:p>
          <a:p>
            <a:pPr marL="567737" marR="7242" indent="-553254" algn="just">
              <a:lnSpc>
                <a:spcPct val="80100"/>
              </a:lnSpc>
              <a:spcBef>
                <a:spcPts val="2058"/>
              </a:spcBef>
              <a:buClr>
                <a:srgbClr val="C00000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receba </a:t>
            </a:r>
            <a:r>
              <a:rPr sz="2500" dirty="0">
                <a:latin typeface="Arial"/>
                <a:cs typeface="Arial"/>
              </a:rPr>
              <a:t>três </a:t>
            </a:r>
            <a:r>
              <a:rPr sz="2500" spc="-11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(de </a:t>
            </a:r>
            <a:r>
              <a:rPr sz="2500" spc="-6" dirty="0">
                <a:latin typeface="Arial"/>
                <a:cs typeface="Arial"/>
              </a:rPr>
              <a:t>no máximo  100 </a:t>
            </a:r>
            <a:r>
              <a:rPr sz="2500" dirty="0">
                <a:latin typeface="Arial"/>
                <a:cs typeface="Arial"/>
              </a:rPr>
              <a:t>caracteres cada) </a:t>
            </a:r>
            <a:r>
              <a:rPr sz="2500" spc="-6" dirty="0">
                <a:latin typeface="Arial"/>
                <a:cs typeface="Arial"/>
              </a:rPr>
              <a:t>e as idades das </a:t>
            </a:r>
            <a:r>
              <a:rPr sz="2500" dirty="0">
                <a:latin typeface="Arial"/>
                <a:cs typeface="Arial"/>
              </a:rPr>
              <a:t>respectivas pessoas </a:t>
            </a:r>
            <a:r>
              <a:rPr sz="2500" spc="11" dirty="0">
                <a:latin typeface="Arial"/>
                <a:cs typeface="Arial"/>
              </a:rPr>
              <a:t>em 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estruturas. </a:t>
            </a:r>
            <a:r>
              <a:rPr sz="2500" spc="-6" dirty="0">
                <a:latin typeface="Arial"/>
                <a:cs typeface="Arial"/>
              </a:rPr>
              <a:t>Após </a:t>
            </a:r>
            <a:r>
              <a:rPr sz="2500" dirty="0">
                <a:latin typeface="Arial"/>
                <a:cs typeface="Arial"/>
              </a:rPr>
              <a:t>o recebimento, </a:t>
            </a:r>
            <a:r>
              <a:rPr sz="2500" spc="-6" dirty="0">
                <a:latin typeface="Arial"/>
                <a:cs typeface="Arial"/>
              </a:rPr>
              <a:t>listar os </a:t>
            </a:r>
            <a:r>
              <a:rPr sz="2500" dirty="0">
                <a:latin typeface="Arial"/>
                <a:cs typeface="Arial"/>
              </a:rPr>
              <a:t>três  </a:t>
            </a:r>
            <a:r>
              <a:rPr sz="2500" spc="-6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armazenados </a:t>
            </a:r>
            <a:r>
              <a:rPr sz="2500" spc="-6" dirty="0">
                <a:latin typeface="Arial"/>
                <a:cs typeface="Arial"/>
              </a:rPr>
              <a:t>neste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por ordem crescente </a:t>
            </a:r>
            <a:r>
              <a:rPr sz="2500" spc="11" dirty="0">
                <a:latin typeface="Arial"/>
                <a:cs typeface="Arial"/>
              </a:rPr>
              <a:t>de  </a:t>
            </a:r>
            <a:r>
              <a:rPr sz="2500" spc="-6" dirty="0">
                <a:latin typeface="Arial"/>
                <a:cs typeface="Arial"/>
              </a:rPr>
              <a:t>idades.</a:t>
            </a:r>
            <a:endParaRPr sz="2500">
              <a:latin typeface="Arial"/>
              <a:cs typeface="Arial"/>
            </a:endParaRPr>
          </a:p>
          <a:p>
            <a:pPr marL="567737" marR="5793" indent="-553254" algn="just">
              <a:lnSpc>
                <a:spcPct val="80100"/>
              </a:lnSpc>
              <a:spcBef>
                <a:spcPts val="2036"/>
              </a:spcBef>
              <a:buClr>
                <a:srgbClr val="C5000A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armazene informações </a:t>
            </a:r>
            <a:r>
              <a:rPr sz="2500" spc="-6" dirty="0">
                <a:latin typeface="Arial"/>
                <a:cs typeface="Arial"/>
              </a:rPr>
              <a:t>de  </a:t>
            </a:r>
            <a:r>
              <a:rPr sz="2500" dirty="0">
                <a:latin typeface="Arial"/>
                <a:cs typeface="Arial"/>
              </a:rPr>
              <a:t>restaurantes. </a:t>
            </a:r>
            <a:r>
              <a:rPr sz="2500" spc="-6" dirty="0">
                <a:latin typeface="Arial"/>
                <a:cs typeface="Arial"/>
              </a:rPr>
              <a:t>Cada </a:t>
            </a:r>
            <a:r>
              <a:rPr sz="2500" dirty="0">
                <a:latin typeface="Arial"/>
                <a:cs typeface="Arial"/>
              </a:rPr>
              <a:t>restaurante </a:t>
            </a:r>
            <a:r>
              <a:rPr sz="2500" spc="-6" dirty="0">
                <a:latin typeface="Arial"/>
                <a:cs typeface="Arial"/>
              </a:rPr>
              <a:t>é identificado </a:t>
            </a:r>
            <a:r>
              <a:rPr sz="2500" spc="-11" dirty="0">
                <a:latin typeface="Arial"/>
                <a:cs typeface="Arial"/>
              </a:rPr>
              <a:t>pelo </a:t>
            </a:r>
            <a:r>
              <a:rPr sz="2500" spc="-6" dirty="0">
                <a:latin typeface="Arial"/>
                <a:cs typeface="Arial"/>
              </a:rPr>
              <a:t>nome, o  tipo de </a:t>
            </a:r>
            <a:r>
              <a:rPr sz="2500" dirty="0">
                <a:latin typeface="Arial"/>
                <a:cs typeface="Arial"/>
              </a:rPr>
              <a:t>comida </a:t>
            </a:r>
            <a:r>
              <a:rPr sz="2500" spc="-6" dirty="0">
                <a:latin typeface="Arial"/>
                <a:cs typeface="Arial"/>
              </a:rPr>
              <a:t>(brasileira, chinesa, francesa, italiana,  japonesa, </a:t>
            </a:r>
            <a:r>
              <a:rPr sz="2500" dirty="0">
                <a:latin typeface="Arial"/>
                <a:cs typeface="Arial"/>
              </a:rPr>
              <a:t>etc.) e </a:t>
            </a:r>
            <a:r>
              <a:rPr sz="2500" spc="-11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nota para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-6" dirty="0">
                <a:latin typeface="Arial"/>
                <a:cs typeface="Arial"/>
              </a:rPr>
              <a:t>cozinha </a:t>
            </a:r>
            <a:r>
              <a:rPr sz="2500" dirty="0">
                <a:latin typeface="Arial"/>
                <a:cs typeface="Arial"/>
              </a:rPr>
              <a:t>(entre 0 e 5). O  programa deverá ler </a:t>
            </a:r>
            <a:r>
              <a:rPr sz="2500" spc="-6" dirty="0">
                <a:latin typeface="Arial"/>
                <a:cs typeface="Arial"/>
              </a:rPr>
              <a:t>todas as informações e imprimir a </a:t>
            </a:r>
            <a:r>
              <a:rPr sz="2500" spc="-11" dirty="0">
                <a:latin typeface="Arial"/>
                <a:cs typeface="Arial"/>
              </a:rPr>
              <a:t>lista  </a:t>
            </a:r>
            <a:r>
              <a:rPr sz="2500" spc="-6" dirty="0">
                <a:latin typeface="Arial"/>
                <a:cs typeface="Arial"/>
              </a:rPr>
              <a:t>de todos os </a:t>
            </a:r>
            <a:r>
              <a:rPr sz="2500" dirty="0">
                <a:latin typeface="Arial"/>
                <a:cs typeface="Arial"/>
              </a:rPr>
              <a:t>restaurantes </a:t>
            </a:r>
            <a:r>
              <a:rPr sz="2500" spc="-6" dirty="0">
                <a:latin typeface="Arial"/>
                <a:cs typeface="Arial"/>
              </a:rPr>
              <a:t>e, ao final, o tipo de cozinha </a:t>
            </a:r>
            <a:r>
              <a:rPr sz="2500" spc="11" dirty="0">
                <a:latin typeface="Arial"/>
                <a:cs typeface="Arial"/>
              </a:rPr>
              <a:t>do  </a:t>
            </a:r>
            <a:r>
              <a:rPr sz="2500" dirty="0">
                <a:latin typeface="Arial"/>
                <a:cs typeface="Arial"/>
              </a:rPr>
              <a:t>restaurante com </a:t>
            </a:r>
            <a:r>
              <a:rPr sz="2500" spc="-6" dirty="0">
                <a:latin typeface="Arial"/>
                <a:cs typeface="Arial"/>
              </a:rPr>
              <a:t>maior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nota.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5595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4744" y="1125779"/>
            <a:ext cx="9580246" cy="6288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4287" marR="5793" indent="-509804" algn="just">
              <a:lnSpc>
                <a:spcPct val="80000"/>
              </a:lnSpc>
              <a:buClr>
                <a:srgbClr val="C00000"/>
              </a:buClr>
              <a:buAutoNum type="arabicParenR" startAt="10"/>
              <a:tabLst>
                <a:tab pos="625669" algn="l"/>
              </a:tabLst>
            </a:pPr>
            <a:r>
              <a:rPr sz="2500" dirty="0">
                <a:latin typeface="Arial"/>
                <a:cs typeface="Arial"/>
              </a:rPr>
              <a:t>Faça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permita </a:t>
            </a:r>
            <a:r>
              <a:rPr sz="2500" spc="-6" dirty="0">
                <a:latin typeface="Arial"/>
                <a:cs typeface="Arial"/>
              </a:rPr>
              <a:t>o </a:t>
            </a:r>
            <a:r>
              <a:rPr sz="2500" dirty="0">
                <a:latin typeface="Arial"/>
                <a:cs typeface="Arial"/>
              </a:rPr>
              <a:t>cadastro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veículos. A  estrutura veículos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conter </a:t>
            </a:r>
            <a:r>
              <a:rPr sz="2500" spc="-6" dirty="0">
                <a:latin typeface="Arial"/>
                <a:cs typeface="Arial"/>
              </a:rPr>
              <a:t>os campos placa, </a:t>
            </a:r>
            <a:r>
              <a:rPr sz="2500" dirty="0">
                <a:latin typeface="Arial"/>
                <a:cs typeface="Arial"/>
              </a:rPr>
              <a:t>marca,  </a:t>
            </a:r>
            <a:r>
              <a:rPr sz="2500" spc="-6" dirty="0">
                <a:latin typeface="Arial"/>
                <a:cs typeface="Arial"/>
              </a:rPr>
              <a:t>modelo e </a:t>
            </a:r>
            <a:r>
              <a:rPr sz="2500" spc="-11" dirty="0">
                <a:latin typeface="Arial"/>
                <a:cs typeface="Arial"/>
              </a:rPr>
              <a:t>ano. </a:t>
            </a:r>
            <a:r>
              <a:rPr sz="2500" spc="-6" dirty="0">
                <a:latin typeface="Arial"/>
                <a:cs typeface="Arial"/>
              </a:rPr>
              <a:t>Faça um menu </a:t>
            </a:r>
            <a:r>
              <a:rPr sz="2500" dirty="0">
                <a:latin typeface="Arial"/>
                <a:cs typeface="Arial"/>
              </a:rPr>
              <a:t>com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20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opções:</a:t>
            </a:r>
            <a:endParaRPr sz="2500">
              <a:latin typeface="Arial"/>
              <a:cs typeface="Arial"/>
            </a:endParaRPr>
          </a:p>
          <a:p>
            <a:pPr marL="1048575">
              <a:spcBef>
                <a:spcPts val="616"/>
              </a:spcBef>
            </a:pPr>
            <a:r>
              <a:rPr sz="2100" spc="-6" dirty="0">
                <a:latin typeface="Courier New"/>
                <a:cs typeface="Courier New"/>
              </a:rPr>
              <a:t>Menu:</a:t>
            </a:r>
            <a:endParaRPr sz="2100">
              <a:latin typeface="Courier New"/>
              <a:cs typeface="Courier New"/>
            </a:endParaRPr>
          </a:p>
          <a:p>
            <a:pPr marL="1697417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Ler </a:t>
            </a:r>
            <a:r>
              <a:rPr sz="2100" spc="-6" dirty="0">
                <a:latin typeface="Courier New"/>
                <a:cs typeface="Courier New"/>
              </a:rPr>
              <a:t>as </a:t>
            </a:r>
            <a:r>
              <a:rPr sz="2100" spc="-11" dirty="0">
                <a:latin typeface="Courier New"/>
                <a:cs typeface="Courier New"/>
              </a:rPr>
              <a:t>informações </a:t>
            </a:r>
            <a:r>
              <a:rPr sz="2100" spc="-6" dirty="0">
                <a:latin typeface="Courier New"/>
                <a:cs typeface="Courier New"/>
              </a:rPr>
              <a:t>de um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veículo</a:t>
            </a:r>
            <a:endParaRPr sz="2100">
              <a:latin typeface="Courier New"/>
              <a:cs typeface="Courier New"/>
            </a:endParaRPr>
          </a:p>
          <a:p>
            <a:pPr marL="1697417" marR="498218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Verificar </a:t>
            </a:r>
            <a:r>
              <a:rPr sz="2100" spc="-6" dirty="0">
                <a:latin typeface="Courier New"/>
                <a:cs typeface="Courier New"/>
              </a:rPr>
              <a:t>se </a:t>
            </a:r>
            <a:r>
              <a:rPr sz="2100" spc="-17" dirty="0">
                <a:latin typeface="Courier New"/>
                <a:cs typeface="Courier New"/>
              </a:rPr>
              <a:t>uma </a:t>
            </a:r>
            <a:r>
              <a:rPr sz="2100" spc="-11" dirty="0">
                <a:latin typeface="Courier New"/>
                <a:cs typeface="Courier New"/>
              </a:rPr>
              <a:t>placa está no formato correto  (AAADDDD)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Imprimir por</a:t>
            </a:r>
            <a:r>
              <a:rPr sz="2100" spc="-91" dirty="0">
                <a:latin typeface="Courier New"/>
                <a:cs typeface="Courier New"/>
              </a:rPr>
              <a:t> </a:t>
            </a:r>
            <a:r>
              <a:rPr sz="2100" spc="-17" dirty="0">
                <a:latin typeface="Courier New"/>
                <a:cs typeface="Courier New"/>
              </a:rPr>
              <a:t>ano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Pesquisar veículo </a:t>
            </a:r>
            <a:r>
              <a:rPr sz="2100" spc="-6" dirty="0">
                <a:latin typeface="Courier New"/>
                <a:cs typeface="Courier New"/>
              </a:rPr>
              <a:t>por</a:t>
            </a:r>
            <a:r>
              <a:rPr sz="2100" spc="-103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placa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844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6" dirty="0">
                <a:latin typeface="Courier New"/>
                <a:cs typeface="Courier New"/>
              </a:rPr>
              <a:t>Imprimir todos os veículos</a:t>
            </a:r>
            <a:r>
              <a:rPr sz="2100" spc="-268" dirty="0"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cadastrados</a:t>
            </a:r>
            <a:endParaRPr sz="2100">
              <a:latin typeface="Courier New"/>
              <a:cs typeface="Courier New"/>
            </a:endParaRPr>
          </a:p>
          <a:p>
            <a:pPr marL="523563">
              <a:spcBef>
                <a:spcPts val="205"/>
              </a:spcBef>
            </a:pPr>
            <a:r>
              <a:rPr sz="2500" dirty="0">
                <a:latin typeface="Arial"/>
                <a:cs typeface="Arial"/>
              </a:rPr>
              <a:t>O programa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ter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características: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91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primeiro item, peça inicialmente </a:t>
            </a:r>
            <a:r>
              <a:rPr sz="2500" dirty="0">
                <a:latin typeface="Arial"/>
                <a:cs typeface="Arial"/>
              </a:rPr>
              <a:t>o </a:t>
            </a:r>
            <a:r>
              <a:rPr sz="2500" spc="-6" dirty="0">
                <a:latin typeface="Arial"/>
                <a:cs typeface="Arial"/>
              </a:rPr>
              <a:t>índice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14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vetor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que deseja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alterar.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68"/>
              </a:spcBef>
              <a:buClr>
                <a:srgbClr val="808080"/>
              </a:buClr>
              <a:buSzPct val="68181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terceiro </a:t>
            </a:r>
            <a:r>
              <a:rPr sz="2500" dirty="0">
                <a:latin typeface="Arial"/>
                <a:cs typeface="Arial"/>
              </a:rPr>
              <a:t>item, </a:t>
            </a:r>
            <a:r>
              <a:rPr sz="2500" spc="-6" dirty="0">
                <a:latin typeface="Arial"/>
                <a:cs typeface="Arial"/>
              </a:rPr>
              <a:t>peça o ano mínimo e </a:t>
            </a:r>
            <a:r>
              <a:rPr sz="2500" spc="-11" dirty="0">
                <a:latin typeface="Arial"/>
                <a:cs typeface="Arial"/>
              </a:rPr>
              <a:t>máximo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imprima </a:t>
            </a:r>
            <a:r>
              <a:rPr sz="2500" dirty="0">
                <a:latin typeface="Arial"/>
                <a:cs typeface="Arial"/>
              </a:rPr>
              <a:t>os </a:t>
            </a:r>
            <a:r>
              <a:rPr sz="2500" spc="-6" dirty="0">
                <a:latin typeface="Arial"/>
                <a:cs typeface="Arial"/>
              </a:rPr>
              <a:t>veículos que </a:t>
            </a:r>
            <a:r>
              <a:rPr sz="2500" dirty="0">
                <a:latin typeface="Arial"/>
                <a:cs typeface="Arial"/>
              </a:rPr>
              <a:t>estão </a:t>
            </a:r>
            <a:r>
              <a:rPr sz="2500" spc="-6" dirty="0">
                <a:latin typeface="Arial"/>
                <a:cs typeface="Arial"/>
              </a:rPr>
              <a:t>nesse</a:t>
            </a:r>
            <a:r>
              <a:rPr sz="2500" spc="10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intervalo.</a:t>
            </a:r>
            <a:endParaRPr sz="2500">
              <a:latin typeface="Arial"/>
              <a:cs typeface="Arial"/>
            </a:endParaRPr>
          </a:p>
          <a:p>
            <a:pPr marL="1697417" marR="101382" indent="-648842">
              <a:lnSpc>
                <a:spcPts val="2418"/>
              </a:lnSpc>
              <a:spcBef>
                <a:spcPts val="644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6" dirty="0">
                <a:latin typeface="Arial"/>
                <a:cs typeface="Arial"/>
              </a:rPr>
              <a:t>Faça funções para realizar as operações de cada um  dos itens do</a:t>
            </a:r>
            <a:r>
              <a:rPr sz="2500" spc="-2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menu.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272545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109</a:t>
            </a:fld>
            <a:endParaRPr spc="-6" dirty="0"/>
          </a:p>
        </p:txBody>
      </p:sp>
      <p:sp>
        <p:nvSpPr>
          <p:cNvPr id="3" name="object 3"/>
          <p:cNvSpPr txBox="1"/>
          <p:nvPr/>
        </p:nvSpPr>
        <p:spPr>
          <a:xfrm>
            <a:off x="723349" y="1035050"/>
            <a:ext cx="9006962" cy="5963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/>
              <a:t>O </a:t>
            </a:r>
            <a:r>
              <a:rPr lang="pt-BR" sz="3200" i="1" dirty="0" err="1"/>
              <a:t>debugger</a:t>
            </a:r>
            <a:r>
              <a:rPr lang="pt-BR" sz="3200" i="1" dirty="0"/>
              <a:t> </a:t>
            </a:r>
            <a:r>
              <a:rPr lang="pt-BR" sz="3200" dirty="0"/>
              <a:t>ou depurador é uma funcionalidade do </a:t>
            </a:r>
            <a:r>
              <a:rPr lang="pt-BR" sz="3200" dirty="0" err="1"/>
              <a:t>Code</a:t>
            </a:r>
            <a:r>
              <a:rPr lang="pt-BR" sz="3200" dirty="0"/>
              <a:t>::</a:t>
            </a:r>
            <a:r>
              <a:rPr lang="pt-BR" sz="3200" dirty="0" err="1"/>
              <a:t>Blocks</a:t>
            </a:r>
            <a:r>
              <a:rPr lang="pt-BR" sz="3200" dirty="0"/>
              <a:t> e de outras </a:t>
            </a:r>
            <a:r>
              <a:rPr lang="pt-BR" sz="3200" dirty="0" err="1"/>
              <a:t>IDEs</a:t>
            </a:r>
            <a:r>
              <a:rPr lang="pt-BR" sz="3200" dirty="0"/>
              <a:t> que permite a </a:t>
            </a:r>
            <a:r>
              <a:rPr lang="pt-BR" sz="3200" dirty="0" smtClean="0"/>
              <a:t>verificação </a:t>
            </a:r>
            <a:r>
              <a:rPr lang="pt-BR" sz="3200" dirty="0"/>
              <a:t>passo-a-passo da execução de um algoritmo. </a:t>
            </a:r>
          </a:p>
          <a:p>
            <a:pPr>
              <a:spcBef>
                <a:spcPts val="11"/>
              </a:spcBef>
            </a:pPr>
            <a:endParaRPr sz="4300" dirty="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Impressões, leituras de </a:t>
            </a:r>
            <a:r>
              <a:rPr sz="3200" dirty="0">
                <a:latin typeface="Arial"/>
                <a:cs typeface="Arial"/>
              </a:rPr>
              <a:t>dados, variáveis,  vetores, strings </a:t>
            </a:r>
            <a:r>
              <a:rPr sz="3200" spc="-6" dirty="0">
                <a:latin typeface="Arial"/>
                <a:cs typeface="Arial"/>
              </a:rPr>
              <a:t>etc.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ter </a:t>
            </a:r>
            <a:r>
              <a:rPr sz="3200" dirty="0">
                <a:latin typeface="Arial"/>
                <a:cs typeface="Arial"/>
              </a:rPr>
              <a:t>seus valores  verificados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execução de </a:t>
            </a:r>
            <a:r>
              <a:rPr sz="3200" dirty="0">
                <a:latin typeface="Arial"/>
                <a:cs typeface="Arial"/>
              </a:rPr>
              <a:t>uma </a:t>
            </a:r>
            <a:r>
              <a:rPr sz="3200" spc="-6" dirty="0">
                <a:latin typeface="Arial"/>
                <a:cs typeface="Arial"/>
              </a:rPr>
              <a:t>nova  </a:t>
            </a:r>
            <a:r>
              <a:rPr sz="3200" dirty="0">
                <a:latin typeface="Arial"/>
                <a:cs typeface="Arial"/>
              </a:rPr>
              <a:t>instrução.</a:t>
            </a:r>
          </a:p>
          <a:p>
            <a:pPr>
              <a:spcBef>
                <a:spcPts val="40"/>
              </a:spcBef>
              <a:buClr>
                <a:srgbClr val="852B34"/>
              </a:buClr>
              <a:buFont typeface="Arial"/>
              <a:buChar char="•"/>
            </a:pPr>
            <a:endParaRPr sz="4300" dirty="0">
              <a:latin typeface="Times New Roman"/>
              <a:cs typeface="Times New Roman"/>
            </a:endParaRPr>
          </a:p>
          <a:p>
            <a:pPr marL="405526" marR="7966" indent="-391043" algn="just">
              <a:lnSpc>
                <a:spcPts val="3455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Assim, </a:t>
            </a:r>
            <a:r>
              <a:rPr sz="3200" dirty="0">
                <a:latin typeface="Arial"/>
                <a:cs typeface="Arial"/>
              </a:rPr>
              <a:t>possíveis </a:t>
            </a:r>
            <a:r>
              <a:rPr sz="3200" spc="-6" dirty="0">
                <a:latin typeface="Arial"/>
                <a:cs typeface="Arial"/>
              </a:rPr>
              <a:t>falhas no </a:t>
            </a:r>
            <a:r>
              <a:rPr sz="3200" dirty="0">
                <a:latin typeface="Arial"/>
                <a:cs typeface="Arial"/>
              </a:rPr>
              <a:t>algoritmo podem  ser detectadas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facilmente.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329458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9190" cy="553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i="1" dirty="0">
                <a:latin typeface="Arial"/>
                <a:cs typeface="Arial"/>
              </a:rPr>
              <a:t>debugger </a:t>
            </a:r>
            <a:r>
              <a:rPr sz="3200" dirty="0">
                <a:latin typeface="Arial"/>
                <a:cs typeface="Arial"/>
              </a:rPr>
              <a:t>também </a:t>
            </a:r>
            <a:r>
              <a:rPr sz="3200" spc="-6" dirty="0">
                <a:latin typeface="Arial"/>
                <a:cs typeface="Arial"/>
              </a:rPr>
              <a:t>serve como </a:t>
            </a:r>
            <a:r>
              <a:rPr sz="3200" dirty="0">
                <a:latin typeface="Arial"/>
                <a:cs typeface="Arial"/>
              </a:rPr>
              <a:t>uma  importante ferramenta </a:t>
            </a:r>
            <a:r>
              <a:rPr sz="3200" spc="-6" dirty="0">
                <a:latin typeface="Arial"/>
                <a:cs typeface="Arial"/>
              </a:rPr>
              <a:t>para o </a:t>
            </a:r>
            <a:r>
              <a:rPr sz="3200" dirty="0">
                <a:latin typeface="Arial"/>
                <a:cs typeface="Arial"/>
              </a:rPr>
              <a:t>aprendizado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algoritmos, </a:t>
            </a:r>
            <a:r>
              <a:rPr sz="3200" spc="-6" dirty="0">
                <a:latin typeface="Arial"/>
                <a:cs typeface="Arial"/>
              </a:rPr>
              <a:t>permitindo </a:t>
            </a:r>
            <a:r>
              <a:rPr sz="3200" dirty="0">
                <a:latin typeface="Arial"/>
                <a:cs typeface="Arial"/>
              </a:rPr>
              <a:t>que </a:t>
            </a:r>
            <a:r>
              <a:rPr sz="3200" spc="-6" dirty="0">
                <a:latin typeface="Arial"/>
                <a:cs typeface="Arial"/>
              </a:rPr>
              <a:t>seja feito um </a:t>
            </a:r>
            <a:r>
              <a:rPr sz="3200" dirty="0">
                <a:latin typeface="Arial"/>
                <a:cs typeface="Arial"/>
              </a:rPr>
              <a:t>“teste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mesa” </a:t>
            </a:r>
            <a:r>
              <a:rPr sz="3200" spc="-6" dirty="0">
                <a:latin typeface="Arial"/>
                <a:cs typeface="Arial"/>
              </a:rPr>
              <a:t>durante a execução do </a:t>
            </a:r>
            <a:r>
              <a:rPr sz="3200" dirty="0">
                <a:latin typeface="Arial"/>
                <a:cs typeface="Arial"/>
              </a:rPr>
              <a:t>próprio  algoritmo.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Através </a:t>
            </a:r>
            <a:r>
              <a:rPr sz="3200" spc="-11" dirty="0">
                <a:latin typeface="Arial"/>
                <a:cs typeface="Arial"/>
              </a:rPr>
              <a:t>do </a:t>
            </a:r>
            <a:r>
              <a:rPr sz="3200" spc="-6" dirty="0">
                <a:latin typeface="Arial"/>
                <a:cs typeface="Arial"/>
              </a:rPr>
              <a:t>processo de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de  </a:t>
            </a:r>
            <a:r>
              <a:rPr sz="3200" spc="-6" dirty="0">
                <a:latin typeface="Arial"/>
                <a:cs typeface="Arial"/>
              </a:rPr>
              <a:t>execução de um </a:t>
            </a:r>
            <a:r>
              <a:rPr sz="3200" dirty="0">
                <a:latin typeface="Arial"/>
                <a:cs typeface="Arial"/>
              </a:rPr>
              <a:t>código pode </a:t>
            </a:r>
            <a:r>
              <a:rPr sz="3200" spc="-6" dirty="0">
                <a:latin typeface="Arial"/>
                <a:cs typeface="Arial"/>
              </a:rPr>
              <a:t>ser </a:t>
            </a:r>
            <a:r>
              <a:rPr sz="3200" dirty="0">
                <a:latin typeface="Arial"/>
                <a:cs typeface="Arial"/>
              </a:rPr>
              <a:t>verificado  continuamente, por </a:t>
            </a:r>
            <a:r>
              <a:rPr sz="3200" spc="-6" dirty="0">
                <a:latin typeface="Arial"/>
                <a:cs typeface="Arial"/>
              </a:rPr>
              <a:t>meio da </a:t>
            </a:r>
            <a:r>
              <a:rPr sz="3200" dirty="0">
                <a:latin typeface="Arial"/>
                <a:cs typeface="Arial"/>
              </a:rPr>
              <a:t>checagem do  </a:t>
            </a:r>
            <a:r>
              <a:rPr sz="3200" spc="-6" dirty="0">
                <a:latin typeface="Arial"/>
                <a:cs typeface="Arial"/>
              </a:rPr>
              <a:t>resultado de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teste condicional, de </a:t>
            </a:r>
            <a:r>
              <a:rPr sz="3200" dirty="0">
                <a:latin typeface="Arial"/>
                <a:cs typeface="Arial"/>
              </a:rPr>
              <a:t>cada  repetição, </a:t>
            </a:r>
            <a:r>
              <a:rPr sz="3200" spc="-6" dirty="0">
                <a:latin typeface="Arial"/>
                <a:cs typeface="Arial"/>
              </a:rPr>
              <a:t>de cada </a:t>
            </a:r>
            <a:r>
              <a:rPr sz="3200" dirty="0">
                <a:latin typeface="Arial"/>
                <a:cs typeface="Arial"/>
              </a:rPr>
              <a:t>operação </a:t>
            </a:r>
            <a:r>
              <a:rPr sz="3200" spc="-6" dirty="0">
                <a:latin typeface="Arial"/>
                <a:cs typeface="Arial"/>
              </a:rPr>
              <a:t>lógica e  matemática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etc..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110</a:t>
            </a:fld>
            <a:endParaRPr spc="-6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277276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10675" cy="2304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8690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</a:t>
            </a:r>
            <a:r>
              <a:rPr sz="3200" dirty="0">
                <a:latin typeface="Arial"/>
                <a:cs typeface="Arial"/>
              </a:rPr>
              <a:t>abaixo </a:t>
            </a:r>
            <a:r>
              <a:rPr sz="3200" spc="-6" dirty="0">
                <a:latin typeface="Arial"/>
                <a:cs typeface="Arial"/>
              </a:rPr>
              <a:t>será utilizado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 </a:t>
            </a:r>
            <a:r>
              <a:rPr sz="3200" dirty="0">
                <a:latin typeface="Arial"/>
                <a:cs typeface="Arial"/>
              </a:rPr>
              <a:t>explicação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funcionamento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i="1" spc="-6" dirty="0">
                <a:latin typeface="Arial"/>
                <a:cs typeface="Arial"/>
              </a:rPr>
              <a:t>debugger </a:t>
            </a:r>
            <a:r>
              <a:rPr sz="3200" spc="-6" dirty="0">
                <a:latin typeface="Arial"/>
                <a:cs typeface="Arial"/>
              </a:rPr>
              <a:t>do  </a:t>
            </a:r>
            <a:r>
              <a:rPr sz="3200" dirty="0">
                <a:latin typeface="Arial"/>
                <a:cs typeface="Arial"/>
              </a:rPr>
              <a:t>Code::Blocks.</a:t>
            </a:r>
            <a:endParaRPr sz="3200">
              <a:latin typeface="Arial"/>
              <a:cs typeface="Arial"/>
            </a:endParaRPr>
          </a:p>
          <a:p>
            <a:pPr marL="405526" indent="-391043">
              <a:lnSpc>
                <a:spcPts val="3638"/>
              </a:lnSpc>
              <a:spcBef>
                <a:spcPts val="382"/>
              </a:spcBef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algoritmo inverte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ordem dos elementos</a:t>
            </a:r>
            <a:r>
              <a:rPr sz="3200" spc="29" dirty="0">
                <a:latin typeface="Arial"/>
                <a:cs typeface="Arial"/>
              </a:rPr>
              <a:t> </a:t>
            </a:r>
            <a:r>
              <a:rPr sz="3200" spc="11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vetor </a:t>
            </a:r>
            <a:r>
              <a:rPr sz="3200" spc="-6" dirty="0">
                <a:latin typeface="Arial"/>
                <a:cs typeface="Arial"/>
              </a:rPr>
              <a:t>de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inteiros.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2483543" y="3554101"/>
            <a:ext cx="6059742" cy="3741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24581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9190" cy="2352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Antes de dar início ao </a:t>
            </a:r>
            <a:r>
              <a:rPr sz="2700" i="1" dirty="0">
                <a:latin typeface="Arial"/>
                <a:cs typeface="Arial"/>
              </a:rPr>
              <a:t>debugging, </a:t>
            </a:r>
            <a:r>
              <a:rPr sz="2700" spc="-6" dirty="0">
                <a:latin typeface="Arial"/>
                <a:cs typeface="Arial"/>
              </a:rPr>
              <a:t>é necessário  colocar  </a:t>
            </a:r>
            <a:r>
              <a:rPr sz="2700" i="1" spc="-6" dirty="0">
                <a:latin typeface="Arial"/>
                <a:cs typeface="Arial"/>
              </a:rPr>
              <a:t>breakpoints  </a:t>
            </a:r>
            <a:r>
              <a:rPr sz="2700" spc="-6" dirty="0">
                <a:latin typeface="Arial"/>
                <a:cs typeface="Arial"/>
              </a:rPr>
              <a:t>(pontos  de  parada)  nas </a:t>
            </a:r>
            <a:r>
              <a:rPr sz="2700" spc="71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linhas</a:t>
            </a:r>
            <a:endParaRPr sz="2700">
              <a:latin typeface="Arial"/>
              <a:cs typeface="Arial"/>
            </a:endParaRPr>
          </a:p>
          <a:p>
            <a:pPr marL="404802">
              <a:lnSpc>
                <a:spcPts val="2914"/>
              </a:lnSpc>
            </a:pPr>
            <a:r>
              <a:rPr sz="2700" spc="-6" dirty="0">
                <a:latin typeface="Arial"/>
                <a:cs typeface="Arial"/>
              </a:rPr>
              <a:t>cujas execuções devem ser</a:t>
            </a:r>
            <a:r>
              <a:rPr sz="2700" spc="91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verificadas.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ct val="90000"/>
              </a:lnSpc>
              <a:spcBef>
                <a:spcPts val="656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Basta clicar ao lado direito do número de cada </a:t>
            </a:r>
            <a:r>
              <a:rPr sz="2700" dirty="0">
                <a:latin typeface="Arial"/>
                <a:cs typeface="Arial"/>
              </a:rPr>
              <a:t>linha  desejada. Os </a:t>
            </a:r>
            <a:r>
              <a:rPr sz="2700" spc="-6" dirty="0">
                <a:latin typeface="Arial"/>
                <a:cs typeface="Arial"/>
              </a:rPr>
              <a:t>hexágonos em vermelho indicam a  criação de um</a:t>
            </a:r>
            <a:r>
              <a:rPr sz="2700" spc="11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306540" y="3615239"/>
            <a:ext cx="8168272" cy="370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52639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94907"/>
            <a:ext cx="9010675" cy="182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Outras formas </a:t>
            </a:r>
            <a:r>
              <a:rPr sz="2700" spc="-6" dirty="0">
                <a:latin typeface="Arial"/>
                <a:cs typeface="Arial"/>
              </a:rPr>
              <a:t>de se adicionar um</a:t>
            </a:r>
            <a:r>
              <a:rPr sz="2700" spc="17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:</a:t>
            </a:r>
            <a:endParaRPr sz="2700">
              <a:latin typeface="Arial"/>
              <a:cs typeface="Arial"/>
            </a:endParaRPr>
          </a:p>
          <a:p>
            <a:pPr marL="803811" marR="5793" lvl="1" indent="-396836" algn="just">
              <a:lnSpc>
                <a:spcPct val="90100"/>
              </a:lnSpc>
              <a:spcBef>
                <a:spcPts val="547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4535" algn="l"/>
              </a:tabLst>
            </a:pPr>
            <a:r>
              <a:rPr sz="2300" dirty="0">
                <a:latin typeface="Arial"/>
                <a:cs typeface="Arial"/>
              </a:rPr>
              <a:t>Clicar com o botão </a:t>
            </a:r>
            <a:r>
              <a:rPr sz="2300" spc="-6" dirty="0">
                <a:latin typeface="Arial"/>
                <a:cs typeface="Arial"/>
              </a:rPr>
              <a:t>esquerdo </a:t>
            </a:r>
            <a:r>
              <a:rPr sz="2300" dirty="0">
                <a:latin typeface="Arial"/>
                <a:cs typeface="Arial"/>
              </a:rPr>
              <a:t>do mouse ao </a:t>
            </a:r>
            <a:r>
              <a:rPr sz="2300" spc="-6" dirty="0">
                <a:latin typeface="Arial"/>
                <a:cs typeface="Arial"/>
              </a:rPr>
              <a:t>lado </a:t>
            </a:r>
            <a:r>
              <a:rPr sz="2300" dirty="0">
                <a:latin typeface="Arial"/>
                <a:cs typeface="Arial"/>
              </a:rPr>
              <a:t>direito do  número de cada linha desejada e </a:t>
            </a:r>
            <a:r>
              <a:rPr sz="2300" spc="-6" dirty="0">
                <a:latin typeface="Arial"/>
                <a:cs typeface="Arial"/>
              </a:rPr>
              <a:t>escolher </a:t>
            </a:r>
            <a:r>
              <a:rPr sz="2300" dirty="0">
                <a:latin typeface="Arial"/>
                <a:cs typeface="Arial"/>
              </a:rPr>
              <a:t>a opção </a:t>
            </a:r>
            <a:r>
              <a:rPr sz="2300" i="1" dirty="0">
                <a:latin typeface="Arial"/>
                <a:cs typeface="Arial"/>
              </a:rPr>
              <a:t>Add  breakpoint</a:t>
            </a:r>
            <a:r>
              <a:rPr sz="2300" dirty="0">
                <a:latin typeface="Arial"/>
                <a:cs typeface="Arial"/>
              </a:rPr>
              <a:t>;</a:t>
            </a:r>
            <a:endParaRPr sz="2300">
              <a:latin typeface="Arial"/>
              <a:cs typeface="Arial"/>
            </a:endParaRPr>
          </a:p>
          <a:p>
            <a:pPr marL="803811" lvl="1" indent="-396836">
              <a:spcBef>
                <a:spcPts val="274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3811" algn="l"/>
                <a:tab pos="804535" algn="l"/>
                <a:tab pos="3087793" algn="l"/>
              </a:tabLst>
            </a:pPr>
            <a:r>
              <a:rPr sz="2300" dirty="0">
                <a:latin typeface="Arial"/>
                <a:cs typeface="Arial"/>
              </a:rPr>
              <a:t>Colocar</a:t>
            </a:r>
            <a:r>
              <a:rPr sz="2300" spc="-1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-6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cursor	na linha desejada e pressionar a tecla</a:t>
            </a:r>
            <a:r>
              <a:rPr sz="2300" spc="-17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F5.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245974" y="3143461"/>
            <a:ext cx="8260652" cy="3977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42256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993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dirty="0">
                <a:latin typeface="Arial"/>
                <a:cs typeface="Arial"/>
              </a:rPr>
              <a:t>Com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adição dos </a:t>
            </a:r>
            <a:r>
              <a:rPr sz="3200" i="1" dirty="0">
                <a:latin typeface="Arial"/>
                <a:cs typeface="Arial"/>
              </a:rPr>
              <a:t>breakpoints</a:t>
            </a:r>
            <a:r>
              <a:rPr sz="3200" dirty="0">
                <a:latin typeface="Arial"/>
                <a:cs typeface="Arial"/>
              </a:rPr>
              <a:t>, nas </a:t>
            </a:r>
            <a:r>
              <a:rPr sz="3200" spc="-6" dirty="0">
                <a:latin typeface="Arial"/>
                <a:cs typeface="Arial"/>
              </a:rPr>
              <a:t>linhas </a:t>
            </a:r>
            <a:r>
              <a:rPr sz="3200" dirty="0">
                <a:latin typeface="Arial"/>
                <a:cs typeface="Arial"/>
              </a:rPr>
              <a:t>5,  </a:t>
            </a:r>
            <a:r>
              <a:rPr sz="3200" spc="-6" dirty="0">
                <a:latin typeface="Arial"/>
                <a:cs typeface="Arial"/>
              </a:rPr>
              <a:t>6, 8, 9, </a:t>
            </a:r>
            <a:r>
              <a:rPr sz="3200" spc="-11" dirty="0">
                <a:latin typeface="Arial"/>
                <a:cs typeface="Arial"/>
              </a:rPr>
              <a:t>10 </a:t>
            </a:r>
            <a:r>
              <a:rPr sz="3200" spc="-6" dirty="0">
                <a:latin typeface="Arial"/>
                <a:cs typeface="Arial"/>
              </a:rPr>
              <a:t>e 13 do </a:t>
            </a:r>
            <a:r>
              <a:rPr sz="3200" dirty="0">
                <a:latin typeface="Arial"/>
                <a:cs typeface="Arial"/>
              </a:rPr>
              <a:t>algoritmo abaixo, </a:t>
            </a:r>
            <a:r>
              <a:rPr sz="3200" spc="-6" dirty="0">
                <a:latin typeface="Arial"/>
                <a:cs typeface="Arial"/>
              </a:rPr>
              <a:t>ocorrerá  o </a:t>
            </a:r>
            <a:r>
              <a:rPr sz="3200" dirty="0">
                <a:latin typeface="Arial"/>
                <a:cs typeface="Arial"/>
              </a:rPr>
              <a:t>passo-a-passo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88524" y="3492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88524" y="2826145"/>
            <a:ext cx="9558116" cy="4335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2164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185951"/>
            <a:ext cx="9006962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lnSpc>
                <a:spcPts val="3638"/>
              </a:lnSpc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3723600" algn="l"/>
              </a:tabLst>
            </a:pPr>
            <a:r>
              <a:rPr sz="3200" spc="-11" dirty="0">
                <a:latin typeface="Arial"/>
                <a:cs typeface="Arial"/>
              </a:rPr>
              <a:t>No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menu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	</a:t>
            </a:r>
            <a:r>
              <a:rPr sz="3200" spc="-6" dirty="0">
                <a:latin typeface="Arial"/>
                <a:cs typeface="Arial"/>
              </a:rPr>
              <a:t>acesse </a:t>
            </a:r>
            <a:r>
              <a:rPr sz="3200" i="1" spc="-6" dirty="0">
                <a:latin typeface="Arial"/>
                <a:cs typeface="Arial"/>
              </a:rPr>
              <a:t>Debugging</a:t>
            </a:r>
            <a:r>
              <a:rPr sz="3200" i="1" spc="130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windows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e clique em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Watches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46759" y="2270714"/>
            <a:ext cx="9686140" cy="4994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18019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85951"/>
            <a:ext cx="405903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977608" algn="l"/>
                <a:tab pos="2365811" algn="l"/>
              </a:tabLst>
            </a:pPr>
            <a:r>
              <a:rPr sz="3200" spc="-6" dirty="0">
                <a:latin typeface="Arial"/>
                <a:cs typeface="Arial"/>
              </a:rPr>
              <a:t>A	janela	</a:t>
            </a:r>
            <a:r>
              <a:rPr sz="3200" i="1" spc="-6" dirty="0">
                <a:latin typeface="Arial"/>
                <a:cs typeface="Arial"/>
              </a:rPr>
              <a:t>Watches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3771" y="1185951"/>
            <a:ext cx="295702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05782" algn="l"/>
              </a:tabLst>
            </a:pPr>
            <a:r>
              <a:rPr sz="3200" spc="-6" dirty="0">
                <a:latin typeface="Arial"/>
                <a:cs typeface="Arial"/>
              </a:rPr>
              <a:t>s</a:t>
            </a:r>
            <a:r>
              <a:rPr sz="3200" dirty="0">
                <a:latin typeface="Arial"/>
                <a:cs typeface="Arial"/>
              </a:rPr>
              <a:t>e</a:t>
            </a:r>
            <a:r>
              <a:rPr sz="3200" spc="-6" dirty="0">
                <a:latin typeface="Arial"/>
                <a:cs typeface="Arial"/>
              </a:rPr>
              <a:t>rá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o</a:t>
            </a:r>
            <a:r>
              <a:rPr sz="3200" spc="-6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d</a:t>
            </a:r>
            <a:r>
              <a:rPr sz="3200" spc="11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2831" y="1185951"/>
            <a:ext cx="1426529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50681" algn="l"/>
              </a:tabLst>
            </a:pPr>
            <a:r>
              <a:rPr sz="3200" spc="-6" dirty="0">
                <a:latin typeface="Arial"/>
                <a:cs typeface="Arial"/>
              </a:rPr>
              <a:t>Nela	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351" y="1656132"/>
            <a:ext cx="860670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90000"/>
              </a:lnSpc>
            </a:pPr>
            <a:r>
              <a:rPr sz="3200" dirty="0">
                <a:latin typeface="Arial"/>
                <a:cs typeface="Arial"/>
              </a:rPr>
              <a:t>possível acompanhar </a:t>
            </a: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conteúdo das  variáveis, vetores, strings </a:t>
            </a:r>
            <a:r>
              <a:rPr sz="3200" spc="-6" dirty="0">
                <a:latin typeface="Arial"/>
                <a:cs typeface="Arial"/>
              </a:rPr>
              <a:t>etc., a cada </a:t>
            </a:r>
            <a:r>
              <a:rPr sz="3200" dirty="0">
                <a:latin typeface="Arial"/>
                <a:cs typeface="Arial"/>
              </a:rPr>
              <a:t>passo 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algoritmo.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51175" y="6566766"/>
            <a:ext cx="584943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400" spc="-6" dirty="0">
                <a:latin typeface="Arial"/>
                <a:cs typeface="Arial"/>
              </a:rPr>
              <a:t>Inicialmente,</a:t>
            </a:r>
            <a:r>
              <a:rPr sz="1400" spc="-2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 </a:t>
            </a:r>
            <a:r>
              <a:rPr sz="1400" spc="-6" dirty="0">
                <a:latin typeface="Arial"/>
                <a:cs typeface="Arial"/>
              </a:rPr>
              <a:t>variáveis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439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 </a:t>
            </a:r>
            <a:r>
              <a:rPr sz="1400" spc="23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aux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o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vetor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vet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dirty="0">
                <a:latin typeface="Arial"/>
                <a:cs typeface="Arial"/>
              </a:rPr>
              <a:t>contém</a:t>
            </a:r>
            <a:r>
              <a:rPr sz="1400" spc="-34" dirty="0">
                <a:latin typeface="Arial"/>
                <a:cs typeface="Arial"/>
              </a:rPr>
              <a:t> </a:t>
            </a:r>
            <a:r>
              <a:rPr sz="1400" spc="-11" dirty="0">
                <a:latin typeface="Arial"/>
                <a:cs typeface="Arial"/>
              </a:rPr>
              <a:t>lixo</a:t>
            </a:r>
            <a:r>
              <a:rPr sz="1400" dirty="0">
                <a:latin typeface="Arial"/>
                <a:cs typeface="Arial"/>
              </a:rPr>
              <a:t> de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memória.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94067" y="3021577"/>
            <a:ext cx="4210526" cy="3454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11338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696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Para </a:t>
            </a:r>
            <a:r>
              <a:rPr sz="3200" dirty="0">
                <a:latin typeface="Arial"/>
                <a:cs typeface="Arial"/>
              </a:rPr>
              <a:t>dar </a:t>
            </a:r>
            <a:r>
              <a:rPr sz="3200" spc="-6" dirty="0">
                <a:latin typeface="Arial"/>
                <a:cs typeface="Arial"/>
              </a:rPr>
              <a:t>início ao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acesse </a:t>
            </a:r>
            <a:r>
              <a:rPr sz="3200" spc="-6" dirty="0">
                <a:latin typeface="Arial"/>
                <a:cs typeface="Arial"/>
              </a:rPr>
              <a:t>o menu  </a:t>
            </a:r>
            <a:r>
              <a:rPr sz="3200" i="1" dirty="0">
                <a:latin typeface="Arial"/>
                <a:cs typeface="Arial"/>
              </a:rPr>
              <a:t>Debug </a:t>
            </a:r>
            <a:r>
              <a:rPr sz="3200" spc="-6" dirty="0">
                <a:latin typeface="Arial"/>
                <a:cs typeface="Arial"/>
              </a:rPr>
              <a:t>e, em </a:t>
            </a:r>
            <a:r>
              <a:rPr sz="3200" dirty="0">
                <a:latin typeface="Arial"/>
                <a:cs typeface="Arial"/>
              </a:rPr>
              <a:t>seguida, escolha </a:t>
            </a:r>
            <a:r>
              <a:rPr sz="3200" spc="-6" dirty="0">
                <a:latin typeface="Arial"/>
                <a:cs typeface="Arial"/>
              </a:rPr>
              <a:t>a opção  </a:t>
            </a:r>
            <a:r>
              <a:rPr sz="3200" i="1" spc="-6" dirty="0">
                <a:latin typeface="Arial"/>
                <a:cs typeface="Arial"/>
              </a:rPr>
              <a:t>Start/Continue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pressione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tecla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F8.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19754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557226" y="2598806"/>
            <a:ext cx="7747961" cy="46175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62618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6700" y="3193805"/>
            <a:ext cx="6736693" cy="4231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3349" y="1232969"/>
            <a:ext cx="9005477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será </a:t>
            </a:r>
            <a:r>
              <a:rPr sz="3200" dirty="0">
                <a:latin typeface="Arial"/>
                <a:cs typeface="Arial"/>
              </a:rPr>
              <a:t>executado normalmente até  </a:t>
            </a:r>
            <a:r>
              <a:rPr sz="3200" spc="-6" dirty="0">
                <a:latin typeface="Arial"/>
                <a:cs typeface="Arial"/>
              </a:rPr>
              <a:t>que </a:t>
            </a:r>
            <a:r>
              <a:rPr sz="3200" dirty="0">
                <a:latin typeface="Arial"/>
                <a:cs typeface="Arial"/>
              </a:rPr>
              <a:t>seja encontrado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i="1" dirty="0">
                <a:latin typeface="Arial"/>
                <a:cs typeface="Arial"/>
              </a:rPr>
              <a:t>breakpoint</a:t>
            </a:r>
            <a:r>
              <a:rPr sz="3200" dirty="0">
                <a:latin typeface="Arial"/>
                <a:cs typeface="Arial"/>
              </a:rPr>
              <a:t>. </a:t>
            </a:r>
            <a:r>
              <a:rPr sz="3200" spc="-6" dirty="0">
                <a:latin typeface="Arial"/>
                <a:cs typeface="Arial"/>
              </a:rPr>
              <a:t>A seta  em </a:t>
            </a:r>
            <a:r>
              <a:rPr sz="3200" dirty="0">
                <a:latin typeface="Arial"/>
                <a:cs typeface="Arial"/>
              </a:rPr>
              <a:t>amarelo indica </a:t>
            </a:r>
            <a:r>
              <a:rPr sz="3200" b="1" spc="-6" dirty="0">
                <a:latin typeface="Arial"/>
                <a:cs typeface="Arial"/>
              </a:rPr>
              <a:t>a linha </a:t>
            </a:r>
            <a:r>
              <a:rPr sz="3200" b="1" dirty="0">
                <a:latin typeface="Arial"/>
                <a:cs typeface="Arial"/>
              </a:rPr>
              <a:t>que </a:t>
            </a:r>
            <a:r>
              <a:rPr sz="3200" b="1" spc="-6" dirty="0">
                <a:latin typeface="Arial"/>
                <a:cs typeface="Arial"/>
              </a:rPr>
              <a:t>será  executada </a:t>
            </a:r>
            <a:r>
              <a:rPr sz="3200" spc="-6" dirty="0">
                <a:latin typeface="Arial"/>
                <a:cs typeface="Arial"/>
              </a:rPr>
              <a:t>(linha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5).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5" name="object 5"/>
          <p:cNvSpPr/>
          <p:nvPr/>
        </p:nvSpPr>
        <p:spPr>
          <a:xfrm>
            <a:off x="2434529" y="4768990"/>
            <a:ext cx="230442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3543" y="4841758"/>
            <a:ext cx="2105263" cy="94456"/>
          </a:xfrm>
          <a:custGeom>
            <a:avLst/>
            <a:gdLst/>
            <a:ahLst/>
            <a:cxnLst/>
            <a:rect l="l" t="t" r="r" b="b"/>
            <a:pathLst>
              <a:path w="1800225" h="85725">
                <a:moveTo>
                  <a:pt x="1714500" y="0"/>
                </a:moveTo>
                <a:lnTo>
                  <a:pt x="1714500" y="85725"/>
                </a:lnTo>
                <a:lnTo>
                  <a:pt x="1771734" y="57150"/>
                </a:lnTo>
                <a:lnTo>
                  <a:pt x="1728851" y="57150"/>
                </a:lnTo>
                <a:lnTo>
                  <a:pt x="1728851" y="28575"/>
                </a:lnTo>
                <a:lnTo>
                  <a:pt x="1771565" y="28575"/>
                </a:lnTo>
                <a:lnTo>
                  <a:pt x="1714500" y="0"/>
                </a:lnTo>
                <a:close/>
              </a:path>
              <a:path w="1800225" h="85725">
                <a:moveTo>
                  <a:pt x="171450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714500" y="57150"/>
                </a:lnTo>
                <a:lnTo>
                  <a:pt x="1714500" y="28575"/>
                </a:lnTo>
                <a:close/>
              </a:path>
              <a:path w="1800225" h="85725">
                <a:moveTo>
                  <a:pt x="1771565" y="28575"/>
                </a:moveTo>
                <a:lnTo>
                  <a:pt x="1728851" y="28575"/>
                </a:lnTo>
                <a:lnTo>
                  <a:pt x="1728851" y="57150"/>
                </a:lnTo>
                <a:lnTo>
                  <a:pt x="1771734" y="57150"/>
                </a:lnTo>
                <a:lnTo>
                  <a:pt x="1800225" y="42925"/>
                </a:lnTo>
                <a:lnTo>
                  <a:pt x="177156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99332" y="4301019"/>
            <a:ext cx="2105263" cy="474029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2725" rIns="0" bIns="0" rtlCol="0">
            <a:spAutoFit/>
          </a:bodyPr>
          <a:lstStyle/>
          <a:p>
            <a:pPr marL="204211" marR="169452" indent="-28242">
              <a:spcBef>
                <a:spcPts val="336"/>
              </a:spcBef>
            </a:pPr>
            <a:r>
              <a:rPr sz="1400" b="1" spc="-6" dirty="0">
                <a:latin typeface="Arial"/>
                <a:cs typeface="Arial"/>
              </a:rPr>
              <a:t>Execução parada </a:t>
            </a:r>
            <a:r>
              <a:rPr sz="1400" b="1" dirty="0">
                <a:latin typeface="Arial"/>
                <a:cs typeface="Arial"/>
              </a:rPr>
              <a:t>no  primeiro</a:t>
            </a:r>
            <a:r>
              <a:rPr sz="1400" b="1" spc="-1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breakpoint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0975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7704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controle </a:t>
            </a:r>
            <a:r>
              <a:rPr sz="3200" spc="-6" dirty="0">
                <a:latin typeface="Arial"/>
                <a:cs typeface="Arial"/>
              </a:rPr>
              <a:t>do fluxo de </a:t>
            </a:r>
            <a:r>
              <a:rPr sz="3200" dirty="0">
                <a:latin typeface="Arial"/>
                <a:cs typeface="Arial"/>
              </a:rPr>
              <a:t>execução pode ser  feito </a:t>
            </a:r>
            <a:r>
              <a:rPr sz="3200" spc="-6" dirty="0">
                <a:latin typeface="Arial"/>
                <a:cs typeface="Arial"/>
              </a:rPr>
              <a:t>através de alguns </a:t>
            </a:r>
            <a:r>
              <a:rPr sz="3200" dirty="0">
                <a:latin typeface="Arial"/>
                <a:cs typeface="Arial"/>
              </a:rPr>
              <a:t>comandos dispostos  </a:t>
            </a:r>
            <a:r>
              <a:rPr sz="3200" spc="-6" dirty="0">
                <a:latin typeface="Arial"/>
                <a:cs typeface="Arial"/>
              </a:rPr>
              <a:t>no menu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 destacado abaixo, que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exibido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partir </a:t>
            </a:r>
            <a:r>
              <a:rPr sz="3200" spc="-6" dirty="0">
                <a:latin typeface="Arial"/>
                <a:cs typeface="Arial"/>
              </a:rPr>
              <a:t>do início do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</a:t>
            </a:r>
            <a:r>
              <a:rPr spc="-11" dirty="0"/>
              <a:t>da</a:t>
            </a:r>
            <a:r>
              <a:rPr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963017" y="3304709"/>
            <a:ext cx="1885603" cy="2837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13914" y="3377057"/>
            <a:ext cx="1684211" cy="94456"/>
          </a:xfrm>
          <a:custGeom>
            <a:avLst/>
            <a:gdLst/>
            <a:ahLst/>
            <a:cxnLst/>
            <a:rect l="l" t="t" r="r" b="b"/>
            <a:pathLst>
              <a:path w="1440179" h="85725">
                <a:moveTo>
                  <a:pt x="85725" y="0"/>
                </a:moveTo>
                <a:lnTo>
                  <a:pt x="0" y="42925"/>
                </a:lnTo>
                <a:lnTo>
                  <a:pt x="85851" y="85725"/>
                </a:lnTo>
                <a:lnTo>
                  <a:pt x="85809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67" y="28552"/>
                </a:lnTo>
                <a:lnTo>
                  <a:pt x="85725" y="0"/>
                </a:lnTo>
                <a:close/>
              </a:path>
              <a:path w="1440179" h="85725">
                <a:moveTo>
                  <a:pt x="85767" y="28552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809" y="57127"/>
                </a:lnTo>
                <a:lnTo>
                  <a:pt x="85767" y="28552"/>
                </a:lnTo>
                <a:close/>
              </a:path>
              <a:path w="1440179" h="85725">
                <a:moveTo>
                  <a:pt x="85809" y="57127"/>
                </a:moveTo>
                <a:lnTo>
                  <a:pt x="71500" y="57150"/>
                </a:lnTo>
                <a:lnTo>
                  <a:pt x="85809" y="57150"/>
                </a:lnTo>
                <a:close/>
              </a:path>
              <a:path w="1440179" h="85725">
                <a:moveTo>
                  <a:pt x="1440179" y="26416"/>
                </a:moveTo>
                <a:lnTo>
                  <a:pt x="85767" y="28552"/>
                </a:lnTo>
                <a:lnTo>
                  <a:pt x="85809" y="57127"/>
                </a:lnTo>
                <a:lnTo>
                  <a:pt x="1440179" y="54991"/>
                </a:lnTo>
                <a:lnTo>
                  <a:pt x="1440179" y="26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41437" y="2984902"/>
            <a:ext cx="1937435" cy="287170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0553" rIns="0" bIns="0" rtlCol="0">
            <a:spAutoFit/>
          </a:bodyPr>
          <a:lstStyle/>
          <a:p>
            <a:pPr marL="179590">
              <a:spcBef>
                <a:spcPts val="319"/>
              </a:spcBef>
            </a:pPr>
            <a:r>
              <a:rPr sz="1600" dirty="0">
                <a:latin typeface="Arial"/>
                <a:cs typeface="Arial"/>
              </a:rPr>
              <a:t>Atalhos do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6" dirty="0">
                <a:latin typeface="Arial"/>
                <a:cs typeface="Arial"/>
              </a:rPr>
              <a:t>menu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46699" y="3064188"/>
            <a:ext cx="5859835" cy="4327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07430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359" y="1344778"/>
            <a:ext cx="225081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735740" algn="l"/>
              </a:tabLst>
            </a:pPr>
            <a:r>
              <a:rPr sz="3200" spc="-6" dirty="0">
                <a:latin typeface="Arial"/>
                <a:cs typeface="Arial"/>
              </a:rPr>
              <a:t>a	p</a:t>
            </a:r>
            <a:r>
              <a:rPr sz="3200" dirty="0">
                <a:latin typeface="Arial"/>
                <a:cs typeface="Arial"/>
              </a:rPr>
              <a:t>r</a:t>
            </a:r>
            <a:r>
              <a:rPr sz="3200" spc="-6" dirty="0">
                <a:latin typeface="Arial"/>
                <a:cs typeface="Arial"/>
              </a:rPr>
              <a:t>ó</a:t>
            </a:r>
            <a:r>
              <a:rPr sz="3200" dirty="0">
                <a:latin typeface="Arial"/>
                <a:cs typeface="Arial"/>
              </a:rPr>
              <a:t>x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m</a:t>
            </a:r>
            <a:r>
              <a:rPr sz="3200" spc="-6" dirty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348" y="1344778"/>
            <a:ext cx="6273461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151">
              <a:lnSpc>
                <a:spcPts val="3638"/>
              </a:lnSpc>
              <a:tabLst>
                <a:tab pos="1952319" algn="l"/>
                <a:tab pos="4544066" algn="l"/>
              </a:tabLst>
            </a:pPr>
            <a:r>
              <a:rPr sz="3200" b="1" i="1" spc="-6" dirty="0">
                <a:latin typeface="Arial"/>
                <a:cs typeface="Arial"/>
              </a:rPr>
              <a:t>Next	ins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c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ion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6" dirty="0">
                <a:latin typeface="Arial"/>
                <a:cs typeface="Arial"/>
              </a:rPr>
              <a:t>Al</a:t>
            </a:r>
            <a:r>
              <a:rPr sz="3200" b="1" dirty="0">
                <a:latin typeface="Arial"/>
                <a:cs typeface="Arial"/>
              </a:rPr>
              <a:t>t-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spc="6" dirty="0">
                <a:latin typeface="Arial"/>
                <a:cs typeface="Arial"/>
              </a:rPr>
              <a:t>7</a:t>
            </a:r>
            <a:r>
              <a:rPr sz="3200" b="1" dirty="0">
                <a:latin typeface="Arial"/>
                <a:cs typeface="Arial"/>
              </a:rPr>
              <a:t>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dirty="0">
                <a:latin typeface="Arial"/>
                <a:cs typeface="Arial"/>
              </a:rPr>
              <a:t>instrução 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executada.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349" y="2856497"/>
            <a:ext cx="9006962" cy="2405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562668">
              <a:lnSpc>
                <a:spcPts val="3444"/>
              </a:lnSpc>
            </a:pPr>
            <a:r>
              <a:rPr sz="3200" b="1" i="1" spc="-6" dirty="0">
                <a:latin typeface="Arial"/>
                <a:cs typeface="Arial"/>
              </a:rPr>
              <a:t>Next line </a:t>
            </a:r>
            <a:r>
              <a:rPr sz="3200" b="1" dirty="0">
                <a:latin typeface="Arial"/>
                <a:cs typeface="Arial"/>
              </a:rPr>
              <a:t>(F7):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desviada para  </a:t>
            </a:r>
            <a:r>
              <a:rPr sz="3200" spc="-6" dirty="0">
                <a:latin typeface="Arial"/>
                <a:cs typeface="Arial"/>
              </a:rPr>
              <a:t>a próxima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linha.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300">
              <a:latin typeface="Times New Roman"/>
              <a:cs typeface="Times New Roman"/>
            </a:endParaRPr>
          </a:p>
          <a:p>
            <a:pPr marL="14483" marR="8690" indent="562668">
              <a:lnSpc>
                <a:spcPts val="3444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Run </a:t>
            </a:r>
            <a:r>
              <a:rPr sz="3200" b="1" i="1" spc="6" dirty="0">
                <a:latin typeface="Arial"/>
                <a:cs typeface="Arial"/>
              </a:rPr>
              <a:t>to </a:t>
            </a:r>
            <a:r>
              <a:rPr sz="3200" b="1" i="1" dirty="0">
                <a:latin typeface="Arial"/>
                <a:cs typeface="Arial"/>
              </a:rPr>
              <a:t>cursor </a:t>
            </a:r>
            <a:r>
              <a:rPr sz="3200" b="1" dirty="0">
                <a:latin typeface="Arial"/>
                <a:cs typeface="Arial"/>
              </a:rPr>
              <a:t>(F4):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desviada 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linha na </a:t>
            </a:r>
            <a:r>
              <a:rPr sz="3200" dirty="0">
                <a:latin typeface="Arial"/>
                <a:cs typeface="Arial"/>
              </a:rPr>
              <a:t>qual se encontra 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spc="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cursor.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0792" y="5718592"/>
            <a:ext cx="435978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3357178" algn="l"/>
              </a:tabLst>
            </a:pPr>
            <a:r>
              <a:rPr sz="3200" b="1" i="1" spc="-6" dirty="0">
                <a:latin typeface="Arial"/>
                <a:cs typeface="Arial"/>
              </a:rPr>
              <a:t>Sta</a:t>
            </a:r>
            <a:r>
              <a:rPr sz="3200" b="1" i="1" dirty="0">
                <a:latin typeface="Arial"/>
                <a:cs typeface="Arial"/>
              </a:rPr>
              <a:t>r</a:t>
            </a:r>
            <a:r>
              <a:rPr sz="3200" b="1" i="1" spc="-6" dirty="0">
                <a:latin typeface="Arial"/>
                <a:cs typeface="Arial"/>
              </a:rPr>
              <a:t>t/Cont</a:t>
            </a:r>
            <a:r>
              <a:rPr sz="3200" b="1" i="1" spc="6" dirty="0">
                <a:latin typeface="Arial"/>
                <a:cs typeface="Arial"/>
              </a:rPr>
              <a:t>i</a:t>
            </a:r>
            <a:r>
              <a:rPr sz="3200" b="1" i="1" spc="-6" dirty="0">
                <a:latin typeface="Arial"/>
                <a:cs typeface="Arial"/>
              </a:rPr>
              <a:t>n</a:t>
            </a:r>
            <a:r>
              <a:rPr sz="3200" b="1" i="1" spc="-17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e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dirty="0">
                <a:latin typeface="Arial"/>
                <a:cs typeface="Arial"/>
              </a:rPr>
              <a:t>8)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3349" y="6141700"/>
            <a:ext cx="627123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2188393" algn="l"/>
                <a:tab pos="2688060" algn="l"/>
                <a:tab pos="4336958" algn="l"/>
                <a:tab pos="578526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gin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n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17" dirty="0">
                <a:latin typeface="Arial"/>
                <a:cs typeface="Arial"/>
              </a:rPr>
              <a:t>i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d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(</a:t>
            </a:r>
            <a:r>
              <a:rPr sz="3200" i="1" spc="-6" dirty="0">
                <a:latin typeface="Arial"/>
                <a:cs typeface="Arial"/>
              </a:rPr>
              <a:t>s</a:t>
            </a:r>
            <a:r>
              <a:rPr sz="3200" i="1" dirty="0">
                <a:latin typeface="Arial"/>
                <a:cs typeface="Arial"/>
              </a:rPr>
              <a:t>t</a:t>
            </a:r>
            <a:r>
              <a:rPr sz="3200" i="1" spc="-6" dirty="0">
                <a:latin typeface="Arial"/>
                <a:cs typeface="Arial"/>
              </a:rPr>
              <a:t>a</a:t>
            </a:r>
            <a:r>
              <a:rPr sz="3200" i="1" dirty="0">
                <a:latin typeface="Arial"/>
                <a:cs typeface="Arial"/>
              </a:rPr>
              <a:t>rt</a:t>
            </a:r>
            <a:r>
              <a:rPr sz="3200" dirty="0">
                <a:latin typeface="Arial"/>
                <a:cs typeface="Arial"/>
              </a:rPr>
              <a:t>)</a:t>
            </a:r>
            <a:r>
              <a:rPr sz="3200" spc="-6" dirty="0">
                <a:latin typeface="Arial"/>
                <a:cs typeface="Arial"/>
              </a:rPr>
              <a:t>.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4151" y="5718592"/>
            <a:ext cx="3537733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638"/>
              </a:lnSpc>
              <a:tabLst>
                <a:tab pos="787155" algn="l"/>
                <a:tab pos="2982790" algn="l"/>
              </a:tabLst>
            </a:pPr>
            <a:r>
              <a:rPr sz="3200" spc="-6" dirty="0">
                <a:latin typeface="Arial"/>
                <a:cs typeface="Arial"/>
              </a:rPr>
              <a:t>o	pro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-6" dirty="0">
                <a:latin typeface="Arial"/>
                <a:cs typeface="Arial"/>
              </a:rPr>
              <a:t>so</a:t>
            </a:r>
            <a:r>
              <a:rPr sz="3200" dirty="0">
                <a:latin typeface="Arial"/>
                <a:cs typeface="Arial"/>
              </a:rPr>
              <a:t>	de</a:t>
            </a:r>
            <a:endParaRPr sz="3200">
              <a:latin typeface="Arial"/>
              <a:cs typeface="Arial"/>
            </a:endParaRPr>
          </a:p>
          <a:p>
            <a:pPr marL="1036264">
              <a:lnSpc>
                <a:spcPts val="3638"/>
              </a:lnSpc>
              <a:tabLst>
                <a:tab pos="320872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</a:t>
            </a:r>
            <a:r>
              <a:rPr sz="3200" i="1" spc="-6" dirty="0">
                <a:latin typeface="Arial"/>
                <a:cs typeface="Arial"/>
              </a:rPr>
              <a:t>i</a:t>
            </a:r>
            <a:r>
              <a:rPr sz="3200" i="1" dirty="0">
                <a:latin typeface="Arial"/>
                <a:cs typeface="Arial"/>
              </a:rPr>
              <a:t>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349" y="6565200"/>
            <a:ext cx="688907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</a:t>
            </a:r>
            <a:r>
              <a:rPr sz="3200" spc="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</a:t>
            </a:r>
            <a:r>
              <a:rPr sz="3200" i="1" dirty="0">
                <a:latin typeface="Arial"/>
                <a:cs typeface="Arial"/>
              </a:rPr>
              <a:t>continue</a:t>
            </a:r>
            <a:r>
              <a:rPr sz="3200" dirty="0">
                <a:latin typeface="Arial"/>
                <a:cs typeface="Arial"/>
              </a:rPr>
              <a:t>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10" name="object 10"/>
          <p:cNvSpPr/>
          <p:nvPr/>
        </p:nvSpPr>
        <p:spPr>
          <a:xfrm>
            <a:off x="588330" y="1345336"/>
            <a:ext cx="590543" cy="476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9056" y="2826131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0575" y="4333695"/>
            <a:ext cx="406052" cy="3467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7064" y="5761803"/>
            <a:ext cx="349169" cy="3669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415139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454346"/>
            <a:ext cx="9008446" cy="4931562"/>
          </a:xfrm>
          <a:prstGeom prst="rect">
            <a:avLst/>
          </a:prstGeom>
        </p:spPr>
        <p:txBody>
          <a:bodyPr vert="horz" wrap="square" lIns="0" tIns="54312" rIns="0" bIns="0" rtlCol="0">
            <a:spAutoFit/>
          </a:bodyPr>
          <a:lstStyle/>
          <a:p>
            <a:pPr marL="14483" marR="6517" indent="562668" algn="just">
              <a:lnSpc>
                <a:spcPts val="3455"/>
              </a:lnSpc>
              <a:spcBef>
                <a:spcPts val="428"/>
              </a:spcBef>
            </a:pPr>
            <a:r>
              <a:rPr sz="3200" b="1" i="1" spc="-6" dirty="0">
                <a:latin typeface="Arial"/>
                <a:cs typeface="Arial"/>
              </a:rPr>
              <a:t>Step into </a:t>
            </a:r>
            <a:r>
              <a:rPr sz="3200" b="1" dirty="0">
                <a:latin typeface="Arial"/>
                <a:cs typeface="Arial"/>
              </a:rPr>
              <a:t>(Shitf-F7): </a:t>
            </a:r>
            <a:r>
              <a:rPr sz="3200" dirty="0">
                <a:latin typeface="Arial"/>
                <a:cs typeface="Arial"/>
              </a:rPr>
              <a:t>se </a:t>
            </a:r>
            <a:r>
              <a:rPr sz="3200" spc="-6" dirty="0">
                <a:latin typeface="Arial"/>
                <a:cs typeface="Arial"/>
              </a:rPr>
              <a:t>a instrução a </a:t>
            </a:r>
            <a:r>
              <a:rPr sz="3200" dirty="0">
                <a:latin typeface="Arial"/>
                <a:cs typeface="Arial"/>
              </a:rPr>
              <a:t>ser  executada </a:t>
            </a:r>
            <a:r>
              <a:rPr sz="3200" spc="-6" dirty="0">
                <a:latin typeface="Arial"/>
                <a:cs typeface="Arial"/>
              </a:rPr>
              <a:t>for uma </a:t>
            </a:r>
            <a:r>
              <a:rPr sz="3200" dirty="0">
                <a:latin typeface="Arial"/>
                <a:cs typeface="Arial"/>
              </a:rPr>
              <a:t>chamada de função, </a:t>
            </a:r>
            <a:r>
              <a:rPr sz="3200" spc="-6" dirty="0">
                <a:latin typeface="Arial"/>
                <a:cs typeface="Arial"/>
              </a:rPr>
              <a:t>a  execução é </a:t>
            </a:r>
            <a:r>
              <a:rPr sz="3200" dirty="0">
                <a:latin typeface="Arial"/>
                <a:cs typeface="Arial"/>
              </a:rPr>
              <a:t>desviada </a:t>
            </a:r>
            <a:r>
              <a:rPr sz="3200" spc="-6" dirty="0">
                <a:latin typeface="Arial"/>
                <a:cs typeface="Arial"/>
              </a:rPr>
              <a:t>para 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300">
              <a:latin typeface="Times New Roman"/>
              <a:cs typeface="Times New Roman"/>
            </a:endParaRPr>
          </a:p>
          <a:p>
            <a:pPr marL="14483" marR="6517" indent="562668" algn="just">
              <a:lnSpc>
                <a:spcPct val="90000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Step out </a:t>
            </a:r>
            <a:r>
              <a:rPr sz="3200" b="1" dirty="0">
                <a:latin typeface="Arial"/>
                <a:cs typeface="Arial"/>
              </a:rPr>
              <a:t>(Ctrl-F7): </a:t>
            </a:r>
            <a:r>
              <a:rPr sz="3200" spc="-6" dirty="0">
                <a:latin typeface="Arial"/>
                <a:cs typeface="Arial"/>
              </a:rPr>
              <a:t>a função em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interrompida.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retorna </a:t>
            </a:r>
            <a:r>
              <a:rPr sz="3200" spc="-6" dirty="0">
                <a:latin typeface="Arial"/>
                <a:cs typeface="Arial"/>
              </a:rPr>
              <a:t>para a </a:t>
            </a:r>
            <a:r>
              <a:rPr sz="3200" dirty="0">
                <a:latin typeface="Arial"/>
                <a:cs typeface="Arial"/>
              </a:rPr>
              <a:t>instrução  </a:t>
            </a:r>
            <a:r>
              <a:rPr sz="3200" spc="-6" dirty="0">
                <a:latin typeface="Arial"/>
                <a:cs typeface="Arial"/>
              </a:rPr>
              <a:t>seguinte à chamada da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000">
              <a:latin typeface="Times New Roman"/>
              <a:cs typeface="Times New Roman"/>
            </a:endParaRPr>
          </a:p>
          <a:p>
            <a:pPr marL="577151">
              <a:lnSpc>
                <a:spcPts val="3638"/>
              </a:lnSpc>
              <a:spcBef>
                <a:spcPts val="6"/>
              </a:spcBef>
              <a:tabLst>
                <a:tab pos="1698865" algn="l"/>
                <a:tab pos="3772118" algn="l"/>
                <a:tab pos="5910545" algn="l"/>
                <a:tab pos="6447143" algn="l"/>
                <a:tab pos="8317632" algn="l"/>
              </a:tabLst>
            </a:pPr>
            <a:r>
              <a:rPr sz="3200" b="1" i="1" spc="-6" dirty="0">
                <a:latin typeface="Arial"/>
                <a:cs typeface="Arial"/>
              </a:rPr>
              <a:t>Stop	d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bugg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spc="-6" dirty="0">
                <a:latin typeface="Arial"/>
                <a:cs typeface="Arial"/>
              </a:rPr>
              <a:t>(Shif</a:t>
            </a:r>
            <a:r>
              <a:rPr sz="3200" b="1" dirty="0">
                <a:latin typeface="Arial"/>
                <a:cs typeface="Arial"/>
              </a:rPr>
              <a:t>t</a:t>
            </a:r>
            <a:r>
              <a:rPr sz="3200" b="1" spc="-6" dirty="0">
                <a:latin typeface="Arial"/>
                <a:cs typeface="Arial"/>
              </a:rPr>
              <a:t>-</a:t>
            </a:r>
            <a:r>
              <a:rPr sz="3200" b="1" spc="-17" dirty="0">
                <a:latin typeface="Arial"/>
                <a:cs typeface="Arial"/>
              </a:rPr>
              <a:t>F</a:t>
            </a:r>
            <a:r>
              <a:rPr sz="3200" b="1" spc="-6" dirty="0">
                <a:latin typeface="Arial"/>
                <a:cs typeface="Arial"/>
              </a:rPr>
              <a:t>8):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processo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i="1" spc="-6" dirty="0">
                <a:latin typeface="Arial"/>
                <a:cs typeface="Arial"/>
              </a:rPr>
              <a:t>debugging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finalizado.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5179" y="1556611"/>
            <a:ext cx="479227" cy="409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5180" y="3394171"/>
            <a:ext cx="491316" cy="40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1316" y="5285814"/>
            <a:ext cx="413091" cy="427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00319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8446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 seguir, o algoritmo </a:t>
            </a:r>
            <a:r>
              <a:rPr sz="3200" dirty="0">
                <a:latin typeface="Arial"/>
                <a:cs typeface="Arial"/>
              </a:rPr>
              <a:t>descrito anteriormente  </a:t>
            </a:r>
            <a:r>
              <a:rPr sz="3200" spc="-6" dirty="0">
                <a:latin typeface="Arial"/>
                <a:cs typeface="Arial"/>
              </a:rPr>
              <a:t>será </a:t>
            </a:r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 por meio do  comando </a:t>
            </a:r>
            <a:r>
              <a:rPr sz="3200" i="1" spc="-6" dirty="0">
                <a:latin typeface="Arial"/>
                <a:cs typeface="Arial"/>
              </a:rPr>
              <a:t>Next line </a:t>
            </a:r>
            <a:r>
              <a:rPr sz="3200" spc="-6" dirty="0">
                <a:latin typeface="Arial"/>
                <a:cs typeface="Arial"/>
              </a:rPr>
              <a:t>(F7)     </a:t>
            </a:r>
            <a:r>
              <a:rPr sz="3200" spc="86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82876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73075" y="2667500"/>
            <a:ext cx="7832173" cy="47121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97447" y="2032698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66282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2587" y="5007439"/>
            <a:ext cx="1295684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62490" y="5079788"/>
            <a:ext cx="1095331" cy="94456"/>
          </a:xfrm>
          <a:custGeom>
            <a:avLst/>
            <a:gdLst/>
            <a:ahLst/>
            <a:cxnLst/>
            <a:rect l="l" t="t" r="r" b="b"/>
            <a:pathLst>
              <a:path w="936625" h="85725">
                <a:moveTo>
                  <a:pt x="850392" y="0"/>
                </a:moveTo>
                <a:lnTo>
                  <a:pt x="850392" y="85725"/>
                </a:lnTo>
                <a:lnTo>
                  <a:pt x="907626" y="57150"/>
                </a:lnTo>
                <a:lnTo>
                  <a:pt x="864743" y="57150"/>
                </a:lnTo>
                <a:lnTo>
                  <a:pt x="864743" y="28575"/>
                </a:lnTo>
                <a:lnTo>
                  <a:pt x="907457" y="28575"/>
                </a:lnTo>
                <a:lnTo>
                  <a:pt x="850392" y="0"/>
                </a:lnTo>
                <a:close/>
              </a:path>
              <a:path w="936625" h="85725">
                <a:moveTo>
                  <a:pt x="850392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50392" y="57150"/>
                </a:lnTo>
                <a:lnTo>
                  <a:pt x="850392" y="28575"/>
                </a:lnTo>
                <a:close/>
              </a:path>
              <a:path w="936625" h="85725">
                <a:moveTo>
                  <a:pt x="907457" y="28575"/>
                </a:moveTo>
                <a:lnTo>
                  <a:pt x="864743" y="28575"/>
                </a:lnTo>
                <a:lnTo>
                  <a:pt x="864743" y="57150"/>
                </a:lnTo>
                <a:lnTo>
                  <a:pt x="907626" y="57150"/>
                </a:lnTo>
                <a:lnTo>
                  <a:pt x="936117" y="42925"/>
                </a:lnTo>
                <a:lnTo>
                  <a:pt x="907457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46699" y="4918190"/>
            <a:ext cx="2189918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04145" marR="296903" indent="95588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Próxima </a:t>
            </a:r>
            <a:r>
              <a:rPr sz="1600" b="1" spc="-6" dirty="0">
                <a:latin typeface="Arial"/>
                <a:cs typeface="Arial"/>
              </a:rPr>
              <a:t>linha  </a:t>
            </a:r>
            <a:r>
              <a:rPr sz="1600" b="1" dirty="0">
                <a:latin typeface="Arial"/>
                <a:cs typeface="Arial"/>
              </a:rPr>
              <a:t>a ser</a:t>
            </a:r>
            <a:r>
              <a:rPr sz="1600" b="1" spc="-86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executada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7233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3469" y="4382771"/>
            <a:ext cx="1620049" cy="690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4960" y="4408377"/>
            <a:ext cx="1419846" cy="512163"/>
          </a:xfrm>
          <a:custGeom>
            <a:avLst/>
            <a:gdLst/>
            <a:ahLst/>
            <a:cxnLst/>
            <a:rect l="l" t="t" r="r" b="b"/>
            <a:pathLst>
              <a:path w="1214120" h="464820">
                <a:moveTo>
                  <a:pt x="65786" y="384175"/>
                </a:moveTo>
                <a:lnTo>
                  <a:pt x="0" y="453771"/>
                </a:lnTo>
                <a:lnTo>
                  <a:pt x="95123" y="464693"/>
                </a:lnTo>
                <a:lnTo>
                  <a:pt x="87117" y="442722"/>
                </a:lnTo>
                <a:lnTo>
                  <a:pt x="72009" y="442722"/>
                </a:lnTo>
                <a:lnTo>
                  <a:pt x="62230" y="415925"/>
                </a:lnTo>
                <a:lnTo>
                  <a:pt x="75581" y="411060"/>
                </a:lnTo>
                <a:lnTo>
                  <a:pt x="65786" y="384175"/>
                </a:lnTo>
                <a:close/>
              </a:path>
              <a:path w="1214120" h="464820">
                <a:moveTo>
                  <a:pt x="75581" y="411060"/>
                </a:moveTo>
                <a:lnTo>
                  <a:pt x="62230" y="415925"/>
                </a:lnTo>
                <a:lnTo>
                  <a:pt x="72009" y="442722"/>
                </a:lnTo>
                <a:lnTo>
                  <a:pt x="85347" y="437863"/>
                </a:lnTo>
                <a:lnTo>
                  <a:pt x="75581" y="411060"/>
                </a:lnTo>
                <a:close/>
              </a:path>
              <a:path w="1214120" h="464820">
                <a:moveTo>
                  <a:pt x="85347" y="437863"/>
                </a:moveTo>
                <a:lnTo>
                  <a:pt x="72009" y="442722"/>
                </a:lnTo>
                <a:lnTo>
                  <a:pt x="87117" y="442722"/>
                </a:lnTo>
                <a:lnTo>
                  <a:pt x="85347" y="437863"/>
                </a:lnTo>
                <a:close/>
              </a:path>
              <a:path w="1214120" h="464820">
                <a:moveTo>
                  <a:pt x="1203833" y="0"/>
                </a:moveTo>
                <a:lnTo>
                  <a:pt x="75581" y="411060"/>
                </a:lnTo>
                <a:lnTo>
                  <a:pt x="85347" y="437863"/>
                </a:lnTo>
                <a:lnTo>
                  <a:pt x="1213612" y="26924"/>
                </a:lnTo>
                <a:lnTo>
                  <a:pt x="12038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7083" y="3875323"/>
            <a:ext cx="2189918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157141" marR="147726" indent="79657" algn="just">
              <a:spcBef>
                <a:spcPts val="354"/>
              </a:spcBef>
            </a:pPr>
            <a:r>
              <a:rPr sz="1600" b="1" spc="-17" dirty="0">
                <a:latin typeface="Arial"/>
                <a:cs typeface="Arial"/>
              </a:rPr>
              <a:t>Vetor </a:t>
            </a:r>
            <a:r>
              <a:rPr sz="1600" b="1" spc="-6" dirty="0">
                <a:latin typeface="Arial"/>
                <a:cs typeface="Arial"/>
              </a:rPr>
              <a:t>inicializado  pela </a:t>
            </a:r>
            <a:r>
              <a:rPr sz="1600" b="1" dirty="0">
                <a:latin typeface="Arial"/>
                <a:cs typeface="Arial"/>
              </a:rPr>
              <a:t>última </a:t>
            </a:r>
            <a:r>
              <a:rPr sz="1600" b="1" spc="-6" dirty="0">
                <a:latin typeface="Arial"/>
                <a:cs typeface="Arial"/>
              </a:rPr>
              <a:t>linha  executada (linha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5)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5744" y="4552371"/>
            <a:ext cx="283374" cy="755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25646" y="4590992"/>
            <a:ext cx="169312" cy="635306"/>
          </a:xfrm>
          <a:custGeom>
            <a:avLst/>
            <a:gdLst/>
            <a:ahLst/>
            <a:cxnLst/>
            <a:rect l="l" t="t" r="r" b="b"/>
            <a:pathLst>
              <a:path w="144780" h="576579">
                <a:moveTo>
                  <a:pt x="0" y="0"/>
                </a:moveTo>
                <a:lnTo>
                  <a:pt x="28188" y="938"/>
                </a:lnTo>
                <a:lnTo>
                  <a:pt x="51196" y="3508"/>
                </a:lnTo>
                <a:lnTo>
                  <a:pt x="66704" y="7340"/>
                </a:lnTo>
                <a:lnTo>
                  <a:pt x="72390" y="12064"/>
                </a:lnTo>
                <a:lnTo>
                  <a:pt x="72390" y="275970"/>
                </a:lnTo>
                <a:lnTo>
                  <a:pt x="78075" y="280642"/>
                </a:lnTo>
                <a:lnTo>
                  <a:pt x="93583" y="284479"/>
                </a:lnTo>
                <a:lnTo>
                  <a:pt x="116591" y="287079"/>
                </a:lnTo>
                <a:lnTo>
                  <a:pt x="144780" y="288035"/>
                </a:lnTo>
                <a:lnTo>
                  <a:pt x="116591" y="288974"/>
                </a:lnTo>
                <a:lnTo>
                  <a:pt x="93583" y="291544"/>
                </a:lnTo>
                <a:lnTo>
                  <a:pt x="78075" y="295376"/>
                </a:lnTo>
                <a:lnTo>
                  <a:pt x="72390" y="300100"/>
                </a:lnTo>
                <a:lnTo>
                  <a:pt x="72390" y="564006"/>
                </a:lnTo>
                <a:lnTo>
                  <a:pt x="66704" y="568678"/>
                </a:lnTo>
                <a:lnTo>
                  <a:pt x="51196" y="572515"/>
                </a:lnTo>
                <a:lnTo>
                  <a:pt x="28188" y="575115"/>
                </a:lnTo>
                <a:lnTo>
                  <a:pt x="0" y="576071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74186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61040" y="3523007"/>
            <a:ext cx="2573545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1836" y="3595495"/>
            <a:ext cx="2371854" cy="94456"/>
          </a:xfrm>
          <a:custGeom>
            <a:avLst/>
            <a:gdLst/>
            <a:ahLst/>
            <a:cxnLst/>
            <a:rect l="l" t="t" r="r" b="b"/>
            <a:pathLst>
              <a:path w="2028189" h="85725">
                <a:moveTo>
                  <a:pt x="1942338" y="0"/>
                </a:moveTo>
                <a:lnTo>
                  <a:pt x="1942338" y="85725"/>
                </a:lnTo>
                <a:lnTo>
                  <a:pt x="1999572" y="57150"/>
                </a:lnTo>
                <a:lnTo>
                  <a:pt x="1956689" y="57150"/>
                </a:lnTo>
                <a:lnTo>
                  <a:pt x="1956689" y="28575"/>
                </a:lnTo>
                <a:lnTo>
                  <a:pt x="1999403" y="28575"/>
                </a:lnTo>
                <a:lnTo>
                  <a:pt x="1942338" y="0"/>
                </a:lnTo>
                <a:close/>
              </a:path>
              <a:path w="2028189" h="85725">
                <a:moveTo>
                  <a:pt x="1942338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942338" y="57150"/>
                </a:lnTo>
                <a:lnTo>
                  <a:pt x="1942338" y="28575"/>
                </a:lnTo>
                <a:close/>
              </a:path>
              <a:path w="2028189" h="85725">
                <a:moveTo>
                  <a:pt x="1999403" y="28575"/>
                </a:moveTo>
                <a:lnTo>
                  <a:pt x="1956689" y="28575"/>
                </a:lnTo>
                <a:lnTo>
                  <a:pt x="1956689" y="57150"/>
                </a:lnTo>
                <a:lnTo>
                  <a:pt x="1999572" y="57150"/>
                </a:lnTo>
                <a:lnTo>
                  <a:pt x="2028063" y="42925"/>
                </a:lnTo>
                <a:lnTo>
                  <a:pt x="1999403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93223" y="3201661"/>
            <a:ext cx="2209227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75969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execução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41938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28859" y="4854631"/>
            <a:ext cx="1573564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latin typeface="Arial"/>
                <a:cs typeface="Arial"/>
              </a:rPr>
              <a:t>Breakpoints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48453" y="3826948"/>
            <a:ext cx="2721470" cy="1064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88806" y="3926441"/>
            <a:ext cx="2531514" cy="896983"/>
          </a:xfrm>
          <a:custGeom>
            <a:avLst/>
            <a:gdLst/>
            <a:ahLst/>
            <a:cxnLst/>
            <a:rect l="l" t="t" r="r" b="b"/>
            <a:pathLst>
              <a:path w="2164715" h="814070">
                <a:moveTo>
                  <a:pt x="75954" y="23811"/>
                </a:moveTo>
                <a:lnTo>
                  <a:pt x="67177" y="47682"/>
                </a:lnTo>
                <a:lnTo>
                  <a:pt x="2155825" y="813562"/>
                </a:lnTo>
                <a:lnTo>
                  <a:pt x="2164588" y="789686"/>
                </a:lnTo>
                <a:lnTo>
                  <a:pt x="75954" y="23811"/>
                </a:lnTo>
                <a:close/>
              </a:path>
              <a:path w="2164715" h="814070">
                <a:moveTo>
                  <a:pt x="84708" y="0"/>
                </a:moveTo>
                <a:lnTo>
                  <a:pt x="0" y="9525"/>
                </a:lnTo>
                <a:lnTo>
                  <a:pt x="58419" y="71501"/>
                </a:lnTo>
                <a:lnTo>
                  <a:pt x="67177" y="47682"/>
                </a:lnTo>
                <a:lnTo>
                  <a:pt x="55244" y="43307"/>
                </a:lnTo>
                <a:lnTo>
                  <a:pt x="64007" y="19431"/>
                </a:lnTo>
                <a:lnTo>
                  <a:pt x="77564" y="19431"/>
                </a:lnTo>
                <a:lnTo>
                  <a:pt x="84708" y="0"/>
                </a:lnTo>
                <a:close/>
              </a:path>
              <a:path w="2164715" h="814070">
                <a:moveTo>
                  <a:pt x="64007" y="19431"/>
                </a:moveTo>
                <a:lnTo>
                  <a:pt x="55244" y="43307"/>
                </a:lnTo>
                <a:lnTo>
                  <a:pt x="67177" y="47682"/>
                </a:lnTo>
                <a:lnTo>
                  <a:pt x="75954" y="23811"/>
                </a:lnTo>
                <a:lnTo>
                  <a:pt x="64007" y="19431"/>
                </a:lnTo>
                <a:close/>
              </a:path>
              <a:path w="2164715" h="814070">
                <a:moveTo>
                  <a:pt x="77564" y="19431"/>
                </a:moveTo>
                <a:lnTo>
                  <a:pt x="64007" y="19431"/>
                </a:lnTo>
                <a:lnTo>
                  <a:pt x="75954" y="23811"/>
                </a:lnTo>
                <a:lnTo>
                  <a:pt x="77564" y="194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48454" y="4263544"/>
            <a:ext cx="1796490" cy="831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8806" y="4367516"/>
            <a:ext cx="1606238" cy="659095"/>
          </a:xfrm>
          <a:custGeom>
            <a:avLst/>
            <a:gdLst/>
            <a:ahLst/>
            <a:cxnLst/>
            <a:rect l="l" t="t" r="r" b="b"/>
            <a:pathLst>
              <a:path w="1373504" h="598170">
                <a:moveTo>
                  <a:pt x="75126" y="23403"/>
                </a:moveTo>
                <a:lnTo>
                  <a:pt x="65184" y="46756"/>
                </a:lnTo>
                <a:lnTo>
                  <a:pt x="1363217" y="597661"/>
                </a:lnTo>
                <a:lnTo>
                  <a:pt x="1373123" y="574294"/>
                </a:lnTo>
                <a:lnTo>
                  <a:pt x="75126" y="23403"/>
                </a:lnTo>
                <a:close/>
              </a:path>
              <a:path w="1373504" h="598170">
                <a:moveTo>
                  <a:pt x="85089" y="0"/>
                </a:moveTo>
                <a:lnTo>
                  <a:pt x="0" y="5206"/>
                </a:lnTo>
                <a:lnTo>
                  <a:pt x="55244" y="70103"/>
                </a:lnTo>
                <a:lnTo>
                  <a:pt x="65184" y="46756"/>
                </a:lnTo>
                <a:lnTo>
                  <a:pt x="53466" y="41782"/>
                </a:lnTo>
                <a:lnTo>
                  <a:pt x="63372" y="18414"/>
                </a:lnTo>
                <a:lnTo>
                  <a:pt x="77250" y="18414"/>
                </a:lnTo>
                <a:lnTo>
                  <a:pt x="85089" y="0"/>
                </a:lnTo>
                <a:close/>
              </a:path>
              <a:path w="1373504" h="598170">
                <a:moveTo>
                  <a:pt x="63372" y="18414"/>
                </a:moveTo>
                <a:lnTo>
                  <a:pt x="53466" y="41782"/>
                </a:lnTo>
                <a:lnTo>
                  <a:pt x="65184" y="46756"/>
                </a:lnTo>
                <a:lnTo>
                  <a:pt x="75126" y="23403"/>
                </a:lnTo>
                <a:lnTo>
                  <a:pt x="63372" y="18414"/>
                </a:lnTo>
                <a:close/>
              </a:path>
              <a:path w="1373504" h="598170">
                <a:moveTo>
                  <a:pt x="77250" y="18414"/>
                </a:moveTo>
                <a:lnTo>
                  <a:pt x="63372" y="18414"/>
                </a:lnTo>
                <a:lnTo>
                  <a:pt x="75126" y="23403"/>
                </a:lnTo>
                <a:lnTo>
                  <a:pt x="77250" y="184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48454" y="4543976"/>
            <a:ext cx="1709161" cy="552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88805" y="4633393"/>
            <a:ext cx="1519354" cy="393918"/>
          </a:xfrm>
          <a:custGeom>
            <a:avLst/>
            <a:gdLst/>
            <a:ahLst/>
            <a:cxnLst/>
            <a:rect l="l" t="t" r="r" b="b"/>
            <a:pathLst>
              <a:path w="1299210" h="357504">
                <a:moveTo>
                  <a:pt x="77018" y="24579"/>
                </a:moveTo>
                <a:lnTo>
                  <a:pt x="70843" y="49197"/>
                </a:lnTo>
                <a:lnTo>
                  <a:pt x="1293114" y="356996"/>
                </a:lnTo>
                <a:lnTo>
                  <a:pt x="1299209" y="332358"/>
                </a:lnTo>
                <a:lnTo>
                  <a:pt x="77018" y="24579"/>
                </a:lnTo>
                <a:close/>
              </a:path>
              <a:path w="1299210" h="357504">
                <a:moveTo>
                  <a:pt x="83184" y="0"/>
                </a:moveTo>
                <a:lnTo>
                  <a:pt x="0" y="18287"/>
                </a:lnTo>
                <a:lnTo>
                  <a:pt x="64642" y="73913"/>
                </a:lnTo>
                <a:lnTo>
                  <a:pt x="70843" y="49197"/>
                </a:lnTo>
                <a:lnTo>
                  <a:pt x="58546" y="46100"/>
                </a:lnTo>
                <a:lnTo>
                  <a:pt x="64642" y="21462"/>
                </a:lnTo>
                <a:lnTo>
                  <a:pt x="77800" y="21462"/>
                </a:lnTo>
                <a:lnTo>
                  <a:pt x="83184" y="0"/>
                </a:lnTo>
                <a:close/>
              </a:path>
              <a:path w="1299210" h="357504">
                <a:moveTo>
                  <a:pt x="64642" y="21462"/>
                </a:moveTo>
                <a:lnTo>
                  <a:pt x="58546" y="46100"/>
                </a:lnTo>
                <a:lnTo>
                  <a:pt x="70843" y="49197"/>
                </a:lnTo>
                <a:lnTo>
                  <a:pt x="77018" y="24579"/>
                </a:lnTo>
                <a:lnTo>
                  <a:pt x="64642" y="21462"/>
                </a:lnTo>
                <a:close/>
              </a:path>
              <a:path w="1299210" h="357504">
                <a:moveTo>
                  <a:pt x="77800" y="21462"/>
                </a:moveTo>
                <a:lnTo>
                  <a:pt x="64642" y="21462"/>
                </a:lnTo>
                <a:lnTo>
                  <a:pt x="77018" y="24579"/>
                </a:lnTo>
                <a:lnTo>
                  <a:pt x="77800" y="21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48453" y="4779065"/>
            <a:ext cx="1791145" cy="3173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88806" y="4854072"/>
            <a:ext cx="1601782" cy="173520"/>
          </a:xfrm>
          <a:custGeom>
            <a:avLst/>
            <a:gdLst/>
            <a:ahLst/>
            <a:cxnLst/>
            <a:rect l="l" t="t" r="r" b="b"/>
            <a:pathLst>
              <a:path w="1369695" h="157479">
                <a:moveTo>
                  <a:pt x="77005" y="25295"/>
                </a:moveTo>
                <a:lnTo>
                  <a:pt x="74881" y="50698"/>
                </a:lnTo>
                <a:lnTo>
                  <a:pt x="1367154" y="157099"/>
                </a:lnTo>
                <a:lnTo>
                  <a:pt x="1369186" y="131699"/>
                </a:lnTo>
                <a:lnTo>
                  <a:pt x="77005" y="25295"/>
                </a:lnTo>
                <a:close/>
              </a:path>
              <a:path w="1369695" h="157479">
                <a:moveTo>
                  <a:pt x="79120" y="0"/>
                </a:moveTo>
                <a:lnTo>
                  <a:pt x="0" y="31750"/>
                </a:lnTo>
                <a:lnTo>
                  <a:pt x="72770" y="75946"/>
                </a:lnTo>
                <a:lnTo>
                  <a:pt x="74881" y="50698"/>
                </a:lnTo>
                <a:lnTo>
                  <a:pt x="62229" y="49656"/>
                </a:lnTo>
                <a:lnTo>
                  <a:pt x="64388" y="24256"/>
                </a:lnTo>
                <a:lnTo>
                  <a:pt x="77092" y="24256"/>
                </a:lnTo>
                <a:lnTo>
                  <a:pt x="79120" y="0"/>
                </a:lnTo>
                <a:close/>
              </a:path>
              <a:path w="1369695" h="157479">
                <a:moveTo>
                  <a:pt x="64388" y="24256"/>
                </a:moveTo>
                <a:lnTo>
                  <a:pt x="62229" y="49656"/>
                </a:lnTo>
                <a:lnTo>
                  <a:pt x="74881" y="50698"/>
                </a:lnTo>
                <a:lnTo>
                  <a:pt x="77005" y="25295"/>
                </a:lnTo>
                <a:lnTo>
                  <a:pt x="64388" y="24256"/>
                </a:lnTo>
                <a:close/>
              </a:path>
              <a:path w="1369695" h="157479">
                <a:moveTo>
                  <a:pt x="77092" y="24256"/>
                </a:moveTo>
                <a:lnTo>
                  <a:pt x="64388" y="24256"/>
                </a:lnTo>
                <a:lnTo>
                  <a:pt x="77005" y="25295"/>
                </a:lnTo>
                <a:lnTo>
                  <a:pt x="77092" y="242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34000" y="5177041"/>
            <a:ext cx="2548594" cy="5793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73016" y="5202790"/>
            <a:ext cx="2360715" cy="427502"/>
          </a:xfrm>
          <a:custGeom>
            <a:avLst/>
            <a:gdLst/>
            <a:ahLst/>
            <a:cxnLst/>
            <a:rect l="l" t="t" r="r" b="b"/>
            <a:pathLst>
              <a:path w="2018664" h="387985">
                <a:moveTo>
                  <a:pt x="68580" y="312673"/>
                </a:moveTo>
                <a:lnTo>
                  <a:pt x="0" y="363346"/>
                </a:lnTo>
                <a:lnTo>
                  <a:pt x="81661" y="387857"/>
                </a:lnTo>
                <a:lnTo>
                  <a:pt x="77683" y="364997"/>
                </a:lnTo>
                <a:lnTo>
                  <a:pt x="64770" y="364997"/>
                </a:lnTo>
                <a:lnTo>
                  <a:pt x="60325" y="339978"/>
                </a:lnTo>
                <a:lnTo>
                  <a:pt x="72948" y="337782"/>
                </a:lnTo>
                <a:lnTo>
                  <a:pt x="68580" y="312673"/>
                </a:lnTo>
                <a:close/>
              </a:path>
              <a:path w="2018664" h="387985">
                <a:moveTo>
                  <a:pt x="72948" y="337782"/>
                </a:moveTo>
                <a:lnTo>
                  <a:pt x="60325" y="339978"/>
                </a:lnTo>
                <a:lnTo>
                  <a:pt x="64770" y="364997"/>
                </a:lnTo>
                <a:lnTo>
                  <a:pt x="77304" y="362817"/>
                </a:lnTo>
                <a:lnTo>
                  <a:pt x="72948" y="337782"/>
                </a:lnTo>
                <a:close/>
              </a:path>
              <a:path w="2018664" h="387985">
                <a:moveTo>
                  <a:pt x="77304" y="362817"/>
                </a:moveTo>
                <a:lnTo>
                  <a:pt x="64770" y="364997"/>
                </a:lnTo>
                <a:lnTo>
                  <a:pt x="77683" y="364997"/>
                </a:lnTo>
                <a:lnTo>
                  <a:pt x="77304" y="362817"/>
                </a:lnTo>
                <a:close/>
              </a:path>
              <a:path w="2018664" h="387985">
                <a:moveTo>
                  <a:pt x="2014093" y="0"/>
                </a:moveTo>
                <a:lnTo>
                  <a:pt x="72948" y="337782"/>
                </a:lnTo>
                <a:lnTo>
                  <a:pt x="77304" y="362817"/>
                </a:lnTo>
                <a:lnTo>
                  <a:pt x="2018411" y="25145"/>
                </a:lnTo>
                <a:lnTo>
                  <a:pt x="20140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8453" y="3549874"/>
            <a:ext cx="2639488" cy="13416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88805" y="3659305"/>
            <a:ext cx="2449086" cy="1162861"/>
          </a:xfrm>
          <a:custGeom>
            <a:avLst/>
            <a:gdLst/>
            <a:ahLst/>
            <a:cxnLst/>
            <a:rect l="l" t="t" r="r" b="b"/>
            <a:pathLst>
              <a:path w="2094229" h="1055370">
                <a:moveTo>
                  <a:pt x="73863" y="22707"/>
                </a:moveTo>
                <a:lnTo>
                  <a:pt x="62509" y="45414"/>
                </a:lnTo>
                <a:lnTo>
                  <a:pt x="2082545" y="1055370"/>
                </a:lnTo>
                <a:lnTo>
                  <a:pt x="2093976" y="1032637"/>
                </a:lnTo>
                <a:lnTo>
                  <a:pt x="73863" y="22707"/>
                </a:lnTo>
                <a:close/>
              </a:path>
              <a:path w="2094229" h="1055370">
                <a:moveTo>
                  <a:pt x="85216" y="0"/>
                </a:moveTo>
                <a:lnTo>
                  <a:pt x="0" y="0"/>
                </a:lnTo>
                <a:lnTo>
                  <a:pt x="51180" y="68072"/>
                </a:lnTo>
                <a:lnTo>
                  <a:pt x="62509" y="45414"/>
                </a:lnTo>
                <a:lnTo>
                  <a:pt x="51180" y="39750"/>
                </a:lnTo>
                <a:lnTo>
                  <a:pt x="62483" y="17017"/>
                </a:lnTo>
                <a:lnTo>
                  <a:pt x="76707" y="17017"/>
                </a:lnTo>
                <a:lnTo>
                  <a:pt x="85216" y="0"/>
                </a:lnTo>
                <a:close/>
              </a:path>
              <a:path w="2094229" h="1055370">
                <a:moveTo>
                  <a:pt x="62483" y="17017"/>
                </a:moveTo>
                <a:lnTo>
                  <a:pt x="51180" y="39750"/>
                </a:lnTo>
                <a:lnTo>
                  <a:pt x="62509" y="45414"/>
                </a:lnTo>
                <a:lnTo>
                  <a:pt x="73863" y="22707"/>
                </a:lnTo>
                <a:lnTo>
                  <a:pt x="62483" y="17017"/>
                </a:lnTo>
                <a:close/>
              </a:path>
              <a:path w="2094229" h="1055370">
                <a:moveTo>
                  <a:pt x="76707" y="17017"/>
                </a:moveTo>
                <a:lnTo>
                  <a:pt x="62483" y="17017"/>
                </a:lnTo>
                <a:lnTo>
                  <a:pt x="73863" y="22707"/>
                </a:lnTo>
                <a:lnTo>
                  <a:pt x="76707" y="170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67105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826790" y="2465099"/>
            <a:ext cx="1889166" cy="604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78278" y="2490846"/>
            <a:ext cx="1688666" cy="437997"/>
          </a:xfrm>
          <a:custGeom>
            <a:avLst/>
            <a:gdLst/>
            <a:ahLst/>
            <a:cxnLst/>
            <a:rect l="l" t="t" r="r" b="b"/>
            <a:pathLst>
              <a:path w="1443989" h="397510">
                <a:moveTo>
                  <a:pt x="72771" y="313816"/>
                </a:moveTo>
                <a:lnTo>
                  <a:pt x="0" y="376300"/>
                </a:lnTo>
                <a:lnTo>
                  <a:pt x="93599" y="397001"/>
                </a:lnTo>
                <a:lnTo>
                  <a:pt x="87525" y="372745"/>
                </a:lnTo>
                <a:lnTo>
                  <a:pt x="72771" y="372745"/>
                </a:lnTo>
                <a:lnTo>
                  <a:pt x="65786" y="345059"/>
                </a:lnTo>
                <a:lnTo>
                  <a:pt x="79715" y="341553"/>
                </a:lnTo>
                <a:lnTo>
                  <a:pt x="72771" y="313816"/>
                </a:lnTo>
                <a:close/>
              </a:path>
              <a:path w="1443989" h="397510">
                <a:moveTo>
                  <a:pt x="79715" y="341553"/>
                </a:moveTo>
                <a:lnTo>
                  <a:pt x="65786" y="345059"/>
                </a:lnTo>
                <a:lnTo>
                  <a:pt x="72771" y="372745"/>
                </a:lnTo>
                <a:lnTo>
                  <a:pt x="86650" y="369251"/>
                </a:lnTo>
                <a:lnTo>
                  <a:pt x="79715" y="341553"/>
                </a:lnTo>
                <a:close/>
              </a:path>
              <a:path w="1443989" h="397510">
                <a:moveTo>
                  <a:pt x="86650" y="369251"/>
                </a:moveTo>
                <a:lnTo>
                  <a:pt x="72771" y="372745"/>
                </a:lnTo>
                <a:lnTo>
                  <a:pt x="87525" y="372745"/>
                </a:lnTo>
                <a:lnTo>
                  <a:pt x="86650" y="369251"/>
                </a:lnTo>
                <a:close/>
              </a:path>
              <a:path w="1443989" h="397510">
                <a:moveTo>
                  <a:pt x="1436751" y="0"/>
                </a:moveTo>
                <a:lnTo>
                  <a:pt x="79715" y="341553"/>
                </a:lnTo>
                <a:lnTo>
                  <a:pt x="86650" y="369251"/>
                </a:lnTo>
                <a:lnTo>
                  <a:pt x="1443736" y="27686"/>
                </a:lnTo>
                <a:lnTo>
                  <a:pt x="14367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62490" y="2336442"/>
            <a:ext cx="49687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40352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Variáveis </a:t>
            </a:r>
            <a:r>
              <a:rPr sz="1600" b="1" dirty="0">
                <a:latin typeface="Arial"/>
                <a:cs typeface="Arial"/>
              </a:rPr>
              <a:t>e </a:t>
            </a:r>
            <a:r>
              <a:rPr sz="1600" b="1" spc="-6" dirty="0">
                <a:latin typeface="Arial"/>
                <a:cs typeface="Arial"/>
              </a:rPr>
              <a:t>vetor contendo </a:t>
            </a:r>
            <a:r>
              <a:rPr sz="1600" b="1" dirty="0">
                <a:latin typeface="Arial"/>
                <a:cs typeface="Arial"/>
              </a:rPr>
              <a:t>lixo </a:t>
            </a:r>
            <a:r>
              <a:rPr sz="1600" b="1" spc="-6" dirty="0">
                <a:latin typeface="Arial"/>
                <a:cs typeface="Arial"/>
              </a:rPr>
              <a:t>de</a:t>
            </a:r>
            <a:r>
              <a:rPr sz="1600" b="1" spc="-177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memória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8527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0895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912336" y="3024278"/>
            <a:ext cx="1532719" cy="6800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63677" y="3049467"/>
            <a:ext cx="1332219" cy="501668"/>
          </a:xfrm>
          <a:custGeom>
            <a:avLst/>
            <a:gdLst/>
            <a:ahLst/>
            <a:cxnLst/>
            <a:rect l="l" t="t" r="r" b="b"/>
            <a:pathLst>
              <a:path w="1139189" h="455294">
                <a:moveTo>
                  <a:pt x="64897" y="374776"/>
                </a:moveTo>
                <a:lnTo>
                  <a:pt x="0" y="445388"/>
                </a:lnTo>
                <a:lnTo>
                  <a:pt x="95377" y="454913"/>
                </a:lnTo>
                <a:lnTo>
                  <a:pt x="87165" y="433324"/>
                </a:lnTo>
                <a:lnTo>
                  <a:pt x="71882" y="433324"/>
                </a:lnTo>
                <a:lnTo>
                  <a:pt x="61722" y="406653"/>
                </a:lnTo>
                <a:lnTo>
                  <a:pt x="75084" y="401560"/>
                </a:lnTo>
                <a:lnTo>
                  <a:pt x="64897" y="374776"/>
                </a:lnTo>
                <a:close/>
              </a:path>
              <a:path w="1139189" h="455294">
                <a:moveTo>
                  <a:pt x="75084" y="401560"/>
                </a:moveTo>
                <a:lnTo>
                  <a:pt x="61722" y="406653"/>
                </a:lnTo>
                <a:lnTo>
                  <a:pt x="71882" y="433324"/>
                </a:lnTo>
                <a:lnTo>
                  <a:pt x="85230" y="428236"/>
                </a:lnTo>
                <a:lnTo>
                  <a:pt x="75084" y="401560"/>
                </a:lnTo>
                <a:close/>
              </a:path>
              <a:path w="1139189" h="455294">
                <a:moveTo>
                  <a:pt x="85230" y="428236"/>
                </a:moveTo>
                <a:lnTo>
                  <a:pt x="71882" y="433324"/>
                </a:lnTo>
                <a:lnTo>
                  <a:pt x="87165" y="433324"/>
                </a:lnTo>
                <a:lnTo>
                  <a:pt x="85230" y="428236"/>
                </a:lnTo>
                <a:close/>
              </a:path>
              <a:path w="1139189" h="455294">
                <a:moveTo>
                  <a:pt x="1128522" y="0"/>
                </a:moveTo>
                <a:lnTo>
                  <a:pt x="75084" y="401560"/>
                </a:lnTo>
                <a:lnTo>
                  <a:pt x="85230" y="428236"/>
                </a:lnTo>
                <a:lnTo>
                  <a:pt x="1138809" y="26669"/>
                </a:lnTo>
                <a:lnTo>
                  <a:pt x="11285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94773" y="2725042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36074">
              <a:spcBef>
                <a:spcPts val="348"/>
              </a:spcBef>
            </a:pPr>
            <a:r>
              <a:rPr sz="1600" b="1" spc="-17" dirty="0">
                <a:latin typeface="Arial"/>
                <a:cs typeface="Arial"/>
              </a:rPr>
              <a:t>Vetor</a:t>
            </a:r>
            <a:r>
              <a:rPr sz="1600" b="1" spc="-103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80451" y="3025959"/>
            <a:ext cx="285156" cy="1113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30947" y="3064161"/>
            <a:ext cx="169312" cy="992140"/>
          </a:xfrm>
          <a:custGeom>
            <a:avLst/>
            <a:gdLst/>
            <a:ahLst/>
            <a:cxnLst/>
            <a:rect l="l" t="t" r="r" b="b"/>
            <a:pathLst>
              <a:path w="144780" h="900429">
                <a:moveTo>
                  <a:pt x="0" y="0"/>
                </a:moveTo>
                <a:lnTo>
                  <a:pt x="28188" y="956"/>
                </a:lnTo>
                <a:lnTo>
                  <a:pt x="51196" y="3555"/>
                </a:lnTo>
                <a:lnTo>
                  <a:pt x="66704" y="7393"/>
                </a:lnTo>
                <a:lnTo>
                  <a:pt x="72389" y="12064"/>
                </a:lnTo>
                <a:lnTo>
                  <a:pt x="72389" y="438022"/>
                </a:lnTo>
                <a:lnTo>
                  <a:pt x="78075" y="442694"/>
                </a:lnTo>
                <a:lnTo>
                  <a:pt x="93583" y="446531"/>
                </a:lnTo>
                <a:lnTo>
                  <a:pt x="116591" y="449131"/>
                </a:lnTo>
                <a:lnTo>
                  <a:pt x="144780" y="450088"/>
                </a:lnTo>
                <a:lnTo>
                  <a:pt x="116591" y="451026"/>
                </a:lnTo>
                <a:lnTo>
                  <a:pt x="93583" y="453596"/>
                </a:lnTo>
                <a:lnTo>
                  <a:pt x="78075" y="457428"/>
                </a:lnTo>
                <a:lnTo>
                  <a:pt x="72389" y="462152"/>
                </a:lnTo>
                <a:lnTo>
                  <a:pt x="72389" y="888110"/>
                </a:lnTo>
                <a:lnTo>
                  <a:pt x="66704" y="892762"/>
                </a:lnTo>
                <a:lnTo>
                  <a:pt x="51196" y="896556"/>
                </a:lnTo>
                <a:lnTo>
                  <a:pt x="28188" y="899112"/>
                </a:lnTo>
                <a:lnTo>
                  <a:pt x="0" y="90004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7847" y="3751382"/>
            <a:ext cx="6241381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83543" y="377825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67123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61366" y="2623029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12968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4226603"/>
            <a:ext cx="6241381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4254309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7"/>
                </a:moveTo>
                <a:lnTo>
                  <a:pt x="5241544" y="216027"/>
                </a:lnTo>
                <a:lnTo>
                  <a:pt x="5241544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85661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373557"/>
            <a:ext cx="898246" cy="8060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97765"/>
            <a:ext cx="698041" cy="618514"/>
          </a:xfrm>
          <a:custGeom>
            <a:avLst/>
            <a:gdLst/>
            <a:ahLst/>
            <a:cxnLst/>
            <a:rect l="l" t="t" r="r" b="b"/>
            <a:pathLst>
              <a:path w="596900" h="561339">
                <a:moveTo>
                  <a:pt x="33146" y="471424"/>
                </a:moveTo>
                <a:lnTo>
                  <a:pt x="0" y="561339"/>
                </a:lnTo>
                <a:lnTo>
                  <a:pt x="91820" y="533907"/>
                </a:lnTo>
                <a:lnTo>
                  <a:pt x="81445" y="522859"/>
                </a:lnTo>
                <a:lnTo>
                  <a:pt x="61849" y="522859"/>
                </a:lnTo>
                <a:lnTo>
                  <a:pt x="42290" y="502030"/>
                </a:lnTo>
                <a:lnTo>
                  <a:pt x="52706" y="492253"/>
                </a:lnTo>
                <a:lnTo>
                  <a:pt x="33146" y="471424"/>
                </a:lnTo>
                <a:close/>
              </a:path>
              <a:path w="596900" h="561339">
                <a:moveTo>
                  <a:pt x="52706" y="492253"/>
                </a:moveTo>
                <a:lnTo>
                  <a:pt x="42290" y="502030"/>
                </a:lnTo>
                <a:lnTo>
                  <a:pt x="61849" y="522859"/>
                </a:lnTo>
                <a:lnTo>
                  <a:pt x="72264" y="513081"/>
                </a:lnTo>
                <a:lnTo>
                  <a:pt x="52706" y="492253"/>
                </a:lnTo>
                <a:close/>
              </a:path>
              <a:path w="596900" h="561339">
                <a:moveTo>
                  <a:pt x="72264" y="513081"/>
                </a:moveTo>
                <a:lnTo>
                  <a:pt x="61849" y="522859"/>
                </a:lnTo>
                <a:lnTo>
                  <a:pt x="81445" y="522859"/>
                </a:lnTo>
                <a:lnTo>
                  <a:pt x="72264" y="513081"/>
                </a:lnTo>
                <a:close/>
              </a:path>
              <a:path w="596900" h="561339">
                <a:moveTo>
                  <a:pt x="577088" y="0"/>
                </a:moveTo>
                <a:lnTo>
                  <a:pt x="52706" y="492253"/>
                </a:lnTo>
                <a:lnTo>
                  <a:pt x="72264" y="513081"/>
                </a:lnTo>
                <a:lnTo>
                  <a:pt x="596645" y="20827"/>
                </a:lnTo>
                <a:lnTo>
                  <a:pt x="5770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029316"/>
            <a:ext cx="891115" cy="367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5" y="3126432"/>
            <a:ext cx="690615" cy="202206"/>
          </a:xfrm>
          <a:custGeom>
            <a:avLst/>
            <a:gdLst/>
            <a:ahLst/>
            <a:cxnLst/>
            <a:rect l="l" t="t" r="r" b="b"/>
            <a:pathLst>
              <a:path w="590550" h="183514">
                <a:moveTo>
                  <a:pt x="86583" y="27637"/>
                </a:moveTo>
                <a:lnTo>
                  <a:pt x="79551" y="55342"/>
                </a:lnTo>
                <a:lnTo>
                  <a:pt x="583438" y="183261"/>
                </a:lnTo>
                <a:lnTo>
                  <a:pt x="590422" y="155575"/>
                </a:lnTo>
                <a:lnTo>
                  <a:pt x="86583" y="27637"/>
                </a:lnTo>
                <a:close/>
              </a:path>
              <a:path w="590550" h="183514">
                <a:moveTo>
                  <a:pt x="93599" y="0"/>
                </a:moveTo>
                <a:lnTo>
                  <a:pt x="0" y="20446"/>
                </a:lnTo>
                <a:lnTo>
                  <a:pt x="72516" y="83057"/>
                </a:lnTo>
                <a:lnTo>
                  <a:pt x="79551" y="55342"/>
                </a:lnTo>
                <a:lnTo>
                  <a:pt x="65658" y="51815"/>
                </a:lnTo>
                <a:lnTo>
                  <a:pt x="72770" y="24129"/>
                </a:lnTo>
                <a:lnTo>
                  <a:pt x="87474" y="24129"/>
                </a:lnTo>
                <a:lnTo>
                  <a:pt x="93599" y="0"/>
                </a:lnTo>
                <a:close/>
              </a:path>
              <a:path w="590550" h="183514">
                <a:moveTo>
                  <a:pt x="72770" y="24129"/>
                </a:moveTo>
                <a:lnTo>
                  <a:pt x="65658" y="51815"/>
                </a:lnTo>
                <a:lnTo>
                  <a:pt x="79551" y="55342"/>
                </a:lnTo>
                <a:lnTo>
                  <a:pt x="86583" y="27637"/>
                </a:lnTo>
                <a:lnTo>
                  <a:pt x="72770" y="24129"/>
                </a:lnTo>
                <a:close/>
              </a:path>
              <a:path w="590550" h="183514">
                <a:moveTo>
                  <a:pt x="87474" y="24129"/>
                </a:moveTo>
                <a:lnTo>
                  <a:pt x="72770" y="24129"/>
                </a:lnTo>
                <a:lnTo>
                  <a:pt x="86583" y="27637"/>
                </a:lnTo>
                <a:lnTo>
                  <a:pt x="87474" y="241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3002266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84659" marR="174521" algn="ctr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</a:t>
            </a:r>
            <a:r>
              <a:rPr sz="1600" b="1" dirty="0">
                <a:latin typeface="Arial"/>
                <a:cs typeface="Arial"/>
              </a:rPr>
              <a:t>primeiro 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73448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9897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1365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182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02032" y="3529726"/>
            <a:ext cx="1345586" cy="621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2036" y="3554493"/>
            <a:ext cx="1146570" cy="442895"/>
          </a:xfrm>
          <a:custGeom>
            <a:avLst/>
            <a:gdLst/>
            <a:ahLst/>
            <a:cxnLst/>
            <a:rect l="l" t="t" r="r" b="b"/>
            <a:pathLst>
              <a:path w="980439" h="401954">
                <a:moveTo>
                  <a:pt x="64389" y="321818"/>
                </a:moveTo>
                <a:lnTo>
                  <a:pt x="0" y="392811"/>
                </a:lnTo>
                <a:lnTo>
                  <a:pt x="95503" y="401700"/>
                </a:lnTo>
                <a:lnTo>
                  <a:pt x="87144" y="380238"/>
                </a:lnTo>
                <a:lnTo>
                  <a:pt x="71754" y="380238"/>
                </a:lnTo>
                <a:lnTo>
                  <a:pt x="61340" y="353568"/>
                </a:lnTo>
                <a:lnTo>
                  <a:pt x="74726" y="348358"/>
                </a:lnTo>
                <a:lnTo>
                  <a:pt x="64389" y="321818"/>
                </a:lnTo>
                <a:close/>
              </a:path>
              <a:path w="980439" h="401954">
                <a:moveTo>
                  <a:pt x="74726" y="348358"/>
                </a:moveTo>
                <a:lnTo>
                  <a:pt x="61340" y="353568"/>
                </a:lnTo>
                <a:lnTo>
                  <a:pt x="71754" y="380238"/>
                </a:lnTo>
                <a:lnTo>
                  <a:pt x="85117" y="375036"/>
                </a:lnTo>
                <a:lnTo>
                  <a:pt x="74726" y="348358"/>
                </a:lnTo>
                <a:close/>
              </a:path>
              <a:path w="980439" h="401954">
                <a:moveTo>
                  <a:pt x="85117" y="375036"/>
                </a:moveTo>
                <a:lnTo>
                  <a:pt x="71754" y="380238"/>
                </a:lnTo>
                <a:lnTo>
                  <a:pt x="87144" y="380238"/>
                </a:lnTo>
                <a:lnTo>
                  <a:pt x="85117" y="375036"/>
                </a:lnTo>
                <a:close/>
              </a:path>
              <a:path w="980439" h="401954">
                <a:moveTo>
                  <a:pt x="969772" y="0"/>
                </a:moveTo>
                <a:lnTo>
                  <a:pt x="74726" y="348358"/>
                </a:lnTo>
                <a:lnTo>
                  <a:pt x="85117" y="375036"/>
                </a:lnTo>
                <a:lnTo>
                  <a:pt x="980059" y="26670"/>
                </a:lnTo>
                <a:lnTo>
                  <a:pt x="9697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1146"/>
            <a:ext cx="1343804" cy="3929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0705"/>
            <a:ext cx="1143600" cy="235091"/>
          </a:xfrm>
          <a:custGeom>
            <a:avLst/>
            <a:gdLst/>
            <a:ahLst/>
            <a:cxnLst/>
            <a:rect l="l" t="t" r="r" b="b"/>
            <a:pathLst>
              <a:path w="977900" h="213360">
                <a:moveTo>
                  <a:pt x="86870" y="28138"/>
                </a:moveTo>
                <a:lnTo>
                  <a:pt x="81910" y="56328"/>
                </a:lnTo>
                <a:lnTo>
                  <a:pt x="972438" y="213106"/>
                </a:lnTo>
                <a:lnTo>
                  <a:pt x="977391" y="185038"/>
                </a:lnTo>
                <a:lnTo>
                  <a:pt x="86870" y="28138"/>
                </a:lnTo>
                <a:close/>
              </a:path>
              <a:path w="977900" h="213360">
                <a:moveTo>
                  <a:pt x="91820" y="0"/>
                </a:moveTo>
                <a:lnTo>
                  <a:pt x="0" y="27432"/>
                </a:lnTo>
                <a:lnTo>
                  <a:pt x="76962" y="84454"/>
                </a:lnTo>
                <a:lnTo>
                  <a:pt x="81910" y="56328"/>
                </a:lnTo>
                <a:lnTo>
                  <a:pt x="67818" y="53848"/>
                </a:lnTo>
                <a:lnTo>
                  <a:pt x="72770" y="25653"/>
                </a:lnTo>
                <a:lnTo>
                  <a:pt x="87307" y="25653"/>
                </a:lnTo>
                <a:lnTo>
                  <a:pt x="91820" y="0"/>
                </a:lnTo>
                <a:close/>
              </a:path>
              <a:path w="977900" h="213360">
                <a:moveTo>
                  <a:pt x="72770" y="25653"/>
                </a:moveTo>
                <a:lnTo>
                  <a:pt x="67818" y="53848"/>
                </a:lnTo>
                <a:lnTo>
                  <a:pt x="81910" y="56328"/>
                </a:lnTo>
                <a:lnTo>
                  <a:pt x="86870" y="28138"/>
                </a:lnTo>
                <a:lnTo>
                  <a:pt x="72770" y="25653"/>
                </a:lnTo>
                <a:close/>
              </a:path>
              <a:path w="977900" h="213360">
                <a:moveTo>
                  <a:pt x="87307" y="25653"/>
                </a:moveTo>
                <a:lnTo>
                  <a:pt x="72770" y="25653"/>
                </a:lnTo>
                <a:lnTo>
                  <a:pt x="86870" y="28138"/>
                </a:lnTo>
                <a:lnTo>
                  <a:pt x="87307" y="256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92221" y="3265472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6422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959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283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46782" y="3321502"/>
            <a:ext cx="1432916" cy="873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7086" y="3346409"/>
            <a:ext cx="1233454" cy="684283"/>
          </a:xfrm>
          <a:custGeom>
            <a:avLst/>
            <a:gdLst/>
            <a:ahLst/>
            <a:cxnLst/>
            <a:rect l="l" t="t" r="r" b="b"/>
            <a:pathLst>
              <a:path w="1054735" h="621029">
                <a:moveTo>
                  <a:pt x="52578" y="540385"/>
                </a:moveTo>
                <a:lnTo>
                  <a:pt x="0" y="620522"/>
                </a:lnTo>
                <a:lnTo>
                  <a:pt x="95631" y="614553"/>
                </a:lnTo>
                <a:lnTo>
                  <a:pt x="85457" y="597027"/>
                </a:lnTo>
                <a:lnTo>
                  <a:pt x="68961" y="597027"/>
                </a:lnTo>
                <a:lnTo>
                  <a:pt x="54609" y="572262"/>
                </a:lnTo>
                <a:lnTo>
                  <a:pt x="66928" y="565107"/>
                </a:lnTo>
                <a:lnTo>
                  <a:pt x="52578" y="540385"/>
                </a:lnTo>
                <a:close/>
              </a:path>
              <a:path w="1054735" h="621029">
                <a:moveTo>
                  <a:pt x="66928" y="565107"/>
                </a:moveTo>
                <a:lnTo>
                  <a:pt x="54609" y="572262"/>
                </a:lnTo>
                <a:lnTo>
                  <a:pt x="68961" y="597027"/>
                </a:lnTo>
                <a:lnTo>
                  <a:pt x="81298" y="589861"/>
                </a:lnTo>
                <a:lnTo>
                  <a:pt x="66928" y="565107"/>
                </a:lnTo>
                <a:close/>
              </a:path>
              <a:path w="1054735" h="621029">
                <a:moveTo>
                  <a:pt x="81298" y="589861"/>
                </a:moveTo>
                <a:lnTo>
                  <a:pt x="68961" y="597027"/>
                </a:lnTo>
                <a:lnTo>
                  <a:pt x="85457" y="597027"/>
                </a:lnTo>
                <a:lnTo>
                  <a:pt x="81298" y="589861"/>
                </a:lnTo>
                <a:close/>
              </a:path>
              <a:path w="1054735" h="621029">
                <a:moveTo>
                  <a:pt x="1039876" y="0"/>
                </a:moveTo>
                <a:lnTo>
                  <a:pt x="66928" y="565107"/>
                </a:lnTo>
                <a:lnTo>
                  <a:pt x="81298" y="589861"/>
                </a:lnTo>
                <a:lnTo>
                  <a:pt x="1054227" y="24764"/>
                </a:lnTo>
                <a:lnTo>
                  <a:pt x="10398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2826"/>
            <a:ext cx="1343804" cy="3912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2103"/>
            <a:ext cx="1143600" cy="233692"/>
          </a:xfrm>
          <a:custGeom>
            <a:avLst/>
            <a:gdLst/>
            <a:ahLst/>
            <a:cxnLst/>
            <a:rect l="l" t="t" r="r" b="b"/>
            <a:pathLst>
              <a:path w="977900" h="212089">
                <a:moveTo>
                  <a:pt x="86893" y="28247"/>
                </a:moveTo>
                <a:lnTo>
                  <a:pt x="81999" y="56302"/>
                </a:lnTo>
                <a:lnTo>
                  <a:pt x="972438" y="211836"/>
                </a:lnTo>
                <a:lnTo>
                  <a:pt x="977391" y="183768"/>
                </a:lnTo>
                <a:lnTo>
                  <a:pt x="86893" y="28247"/>
                </a:lnTo>
                <a:close/>
              </a:path>
              <a:path w="977900" h="212089">
                <a:moveTo>
                  <a:pt x="91820" y="0"/>
                </a:moveTo>
                <a:lnTo>
                  <a:pt x="0" y="27558"/>
                </a:lnTo>
                <a:lnTo>
                  <a:pt x="77088" y="84454"/>
                </a:lnTo>
                <a:lnTo>
                  <a:pt x="81999" y="56302"/>
                </a:lnTo>
                <a:lnTo>
                  <a:pt x="67944" y="53847"/>
                </a:lnTo>
                <a:lnTo>
                  <a:pt x="72770" y="25780"/>
                </a:lnTo>
                <a:lnTo>
                  <a:pt x="87323" y="25780"/>
                </a:lnTo>
                <a:lnTo>
                  <a:pt x="91820" y="0"/>
                </a:lnTo>
                <a:close/>
              </a:path>
              <a:path w="977900" h="212089">
                <a:moveTo>
                  <a:pt x="72770" y="25780"/>
                </a:moveTo>
                <a:lnTo>
                  <a:pt x="67944" y="53847"/>
                </a:lnTo>
                <a:lnTo>
                  <a:pt x="81999" y="56302"/>
                </a:lnTo>
                <a:lnTo>
                  <a:pt x="86893" y="28247"/>
                </a:lnTo>
                <a:lnTo>
                  <a:pt x="72770" y="25780"/>
                </a:lnTo>
                <a:close/>
              </a:path>
              <a:path w="977900" h="212089">
                <a:moveTo>
                  <a:pt x="87323" y="25780"/>
                </a:moveTo>
                <a:lnTo>
                  <a:pt x="72770" y="25780"/>
                </a:lnTo>
                <a:lnTo>
                  <a:pt x="86893" y="28247"/>
                </a:lnTo>
                <a:lnTo>
                  <a:pt x="87323" y="257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90821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426"/>
            <a:ext cx="9728321" cy="6217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54122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688" y="1093775"/>
            <a:ext cx="9702923" cy="6229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276161"/>
            <a:ext cx="898246" cy="745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741" y="3301070"/>
            <a:ext cx="697299" cy="556941"/>
          </a:xfrm>
          <a:custGeom>
            <a:avLst/>
            <a:gdLst/>
            <a:ahLst/>
            <a:cxnLst/>
            <a:rect l="l" t="t" r="r" b="b"/>
            <a:pathLst>
              <a:path w="596264" h="505460">
                <a:moveTo>
                  <a:pt x="37972" y="417068"/>
                </a:moveTo>
                <a:lnTo>
                  <a:pt x="0" y="505079"/>
                </a:lnTo>
                <a:lnTo>
                  <a:pt x="93217" y="482600"/>
                </a:lnTo>
                <a:lnTo>
                  <a:pt x="82618" y="470027"/>
                </a:lnTo>
                <a:lnTo>
                  <a:pt x="63880" y="470027"/>
                </a:lnTo>
                <a:lnTo>
                  <a:pt x="45465" y="448183"/>
                </a:lnTo>
                <a:lnTo>
                  <a:pt x="56422" y="438952"/>
                </a:lnTo>
                <a:lnTo>
                  <a:pt x="37972" y="417068"/>
                </a:lnTo>
                <a:close/>
              </a:path>
              <a:path w="596264" h="505460">
                <a:moveTo>
                  <a:pt x="56422" y="438952"/>
                </a:moveTo>
                <a:lnTo>
                  <a:pt x="45465" y="448183"/>
                </a:lnTo>
                <a:lnTo>
                  <a:pt x="63880" y="470027"/>
                </a:lnTo>
                <a:lnTo>
                  <a:pt x="74837" y="460796"/>
                </a:lnTo>
                <a:lnTo>
                  <a:pt x="56422" y="438952"/>
                </a:lnTo>
                <a:close/>
              </a:path>
              <a:path w="596264" h="505460">
                <a:moveTo>
                  <a:pt x="74837" y="460796"/>
                </a:moveTo>
                <a:lnTo>
                  <a:pt x="63880" y="470027"/>
                </a:lnTo>
                <a:lnTo>
                  <a:pt x="82618" y="470027"/>
                </a:lnTo>
                <a:lnTo>
                  <a:pt x="74837" y="460796"/>
                </a:lnTo>
                <a:close/>
              </a:path>
              <a:path w="596264" h="505460">
                <a:moveTo>
                  <a:pt x="577468" y="0"/>
                </a:moveTo>
                <a:lnTo>
                  <a:pt x="56422" y="438952"/>
                </a:lnTo>
                <a:lnTo>
                  <a:pt x="74837" y="460796"/>
                </a:lnTo>
                <a:lnTo>
                  <a:pt x="595884" y="21844"/>
                </a:lnTo>
                <a:lnTo>
                  <a:pt x="5774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193881"/>
            <a:ext cx="889334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0" y="3252234"/>
            <a:ext cx="687645" cy="101453"/>
          </a:xfrm>
          <a:custGeom>
            <a:avLst/>
            <a:gdLst/>
            <a:ahLst/>
            <a:cxnLst/>
            <a:rect l="l" t="t" r="r" b="b"/>
            <a:pathLst>
              <a:path w="588010" h="92075">
                <a:moveTo>
                  <a:pt x="82549" y="6476"/>
                </a:moveTo>
                <a:lnTo>
                  <a:pt x="0" y="55244"/>
                </a:lnTo>
                <a:lnTo>
                  <a:pt x="88518" y="91947"/>
                </a:lnTo>
                <a:lnTo>
                  <a:pt x="86603" y="64515"/>
                </a:lnTo>
                <a:lnTo>
                  <a:pt x="72262" y="64515"/>
                </a:lnTo>
                <a:lnTo>
                  <a:pt x="70358" y="35940"/>
                </a:lnTo>
                <a:lnTo>
                  <a:pt x="84538" y="34952"/>
                </a:lnTo>
                <a:lnTo>
                  <a:pt x="82549" y="6476"/>
                </a:lnTo>
                <a:close/>
              </a:path>
              <a:path w="588010" h="92075">
                <a:moveTo>
                  <a:pt x="84538" y="34952"/>
                </a:moveTo>
                <a:lnTo>
                  <a:pt x="70358" y="35940"/>
                </a:lnTo>
                <a:lnTo>
                  <a:pt x="72262" y="64515"/>
                </a:lnTo>
                <a:lnTo>
                  <a:pt x="86533" y="63521"/>
                </a:lnTo>
                <a:lnTo>
                  <a:pt x="84538" y="34952"/>
                </a:lnTo>
                <a:close/>
              </a:path>
              <a:path w="588010" h="92075">
                <a:moveTo>
                  <a:pt x="86533" y="63521"/>
                </a:moveTo>
                <a:lnTo>
                  <a:pt x="72262" y="64515"/>
                </a:lnTo>
                <a:lnTo>
                  <a:pt x="86603" y="64515"/>
                </a:lnTo>
                <a:lnTo>
                  <a:pt x="86533" y="63521"/>
                </a:lnTo>
                <a:close/>
              </a:path>
              <a:path w="588010" h="92075">
                <a:moveTo>
                  <a:pt x="585978" y="0"/>
                </a:moveTo>
                <a:lnTo>
                  <a:pt x="84538" y="34952"/>
                </a:lnTo>
                <a:lnTo>
                  <a:pt x="86533" y="63521"/>
                </a:lnTo>
                <a:lnTo>
                  <a:pt x="588010" y="28575"/>
                </a:lnTo>
                <a:lnTo>
                  <a:pt x="5859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2906131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84659" marR="174521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segundo </a:t>
            </a:r>
            <a:r>
              <a:rPr sz="1600" b="1" dirty="0">
                <a:latin typeface="Arial"/>
                <a:cs typeface="Arial"/>
              </a:rPr>
              <a:t>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penúltimo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76421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3" y="1093804"/>
            <a:ext cx="9702923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3024" y="3319823"/>
            <a:ext cx="1334893" cy="622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4067" y="3345431"/>
            <a:ext cx="1133945" cy="442195"/>
          </a:xfrm>
          <a:custGeom>
            <a:avLst/>
            <a:gdLst/>
            <a:ahLst/>
            <a:cxnLst/>
            <a:rect l="l" t="t" r="r" b="b"/>
            <a:pathLst>
              <a:path w="969644" h="401320">
                <a:moveTo>
                  <a:pt x="64135" y="321563"/>
                </a:moveTo>
                <a:lnTo>
                  <a:pt x="0" y="392811"/>
                </a:lnTo>
                <a:lnTo>
                  <a:pt x="95504" y="401320"/>
                </a:lnTo>
                <a:lnTo>
                  <a:pt x="87112" y="379984"/>
                </a:lnTo>
                <a:lnTo>
                  <a:pt x="71755" y="379984"/>
                </a:lnTo>
                <a:lnTo>
                  <a:pt x="61341" y="353313"/>
                </a:lnTo>
                <a:lnTo>
                  <a:pt x="74573" y="348104"/>
                </a:lnTo>
                <a:lnTo>
                  <a:pt x="64135" y="321563"/>
                </a:lnTo>
                <a:close/>
              </a:path>
              <a:path w="969644" h="401320">
                <a:moveTo>
                  <a:pt x="74573" y="348104"/>
                </a:moveTo>
                <a:lnTo>
                  <a:pt x="61341" y="353313"/>
                </a:lnTo>
                <a:lnTo>
                  <a:pt x="71755" y="379984"/>
                </a:lnTo>
                <a:lnTo>
                  <a:pt x="85052" y="374747"/>
                </a:lnTo>
                <a:lnTo>
                  <a:pt x="74573" y="348104"/>
                </a:lnTo>
                <a:close/>
              </a:path>
              <a:path w="969644" h="401320">
                <a:moveTo>
                  <a:pt x="85052" y="374747"/>
                </a:moveTo>
                <a:lnTo>
                  <a:pt x="71755" y="379984"/>
                </a:lnTo>
                <a:lnTo>
                  <a:pt x="87112" y="379984"/>
                </a:lnTo>
                <a:lnTo>
                  <a:pt x="85052" y="374747"/>
                </a:lnTo>
                <a:close/>
              </a:path>
              <a:path w="969644" h="401320">
                <a:moveTo>
                  <a:pt x="958850" y="0"/>
                </a:moveTo>
                <a:lnTo>
                  <a:pt x="74573" y="348104"/>
                </a:lnTo>
                <a:lnTo>
                  <a:pt x="85052" y="374747"/>
                </a:lnTo>
                <a:lnTo>
                  <a:pt x="969391" y="26543"/>
                </a:lnTo>
                <a:lnTo>
                  <a:pt x="9588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3024" y="3145182"/>
            <a:ext cx="1329546" cy="2989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4068" y="3226765"/>
            <a:ext cx="1129490" cy="149031"/>
          </a:xfrm>
          <a:custGeom>
            <a:avLst/>
            <a:gdLst/>
            <a:ahLst/>
            <a:cxnLst/>
            <a:rect l="l" t="t" r="r" b="b"/>
            <a:pathLst>
              <a:path w="965835" h="135255">
                <a:moveTo>
                  <a:pt x="86745" y="28444"/>
                </a:moveTo>
                <a:lnTo>
                  <a:pt x="84208" y="56895"/>
                </a:lnTo>
                <a:lnTo>
                  <a:pt x="962787" y="135255"/>
                </a:lnTo>
                <a:lnTo>
                  <a:pt x="965326" y="106680"/>
                </a:lnTo>
                <a:lnTo>
                  <a:pt x="86745" y="28444"/>
                </a:lnTo>
                <a:close/>
              </a:path>
              <a:path w="965835" h="135255">
                <a:moveTo>
                  <a:pt x="89281" y="0"/>
                </a:moveTo>
                <a:lnTo>
                  <a:pt x="0" y="35179"/>
                </a:lnTo>
                <a:lnTo>
                  <a:pt x="81661" y="85471"/>
                </a:lnTo>
                <a:lnTo>
                  <a:pt x="84208" y="56895"/>
                </a:lnTo>
                <a:lnTo>
                  <a:pt x="69976" y="55626"/>
                </a:lnTo>
                <a:lnTo>
                  <a:pt x="72517" y="27178"/>
                </a:lnTo>
                <a:lnTo>
                  <a:pt x="86857" y="27178"/>
                </a:lnTo>
                <a:lnTo>
                  <a:pt x="89281" y="0"/>
                </a:lnTo>
                <a:close/>
              </a:path>
              <a:path w="965835" h="135255">
                <a:moveTo>
                  <a:pt x="72517" y="27178"/>
                </a:moveTo>
                <a:lnTo>
                  <a:pt x="69976" y="55626"/>
                </a:lnTo>
                <a:lnTo>
                  <a:pt x="84208" y="56895"/>
                </a:lnTo>
                <a:lnTo>
                  <a:pt x="86745" y="28444"/>
                </a:lnTo>
                <a:lnTo>
                  <a:pt x="72517" y="27178"/>
                </a:lnTo>
                <a:close/>
              </a:path>
              <a:path w="965835" h="135255">
                <a:moveTo>
                  <a:pt x="86857" y="27178"/>
                </a:moveTo>
                <a:lnTo>
                  <a:pt x="72517" y="27178"/>
                </a:lnTo>
                <a:lnTo>
                  <a:pt x="86745" y="28444"/>
                </a:lnTo>
                <a:lnTo>
                  <a:pt x="86857" y="271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08707" y="3170876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7146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16446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8" y="3321502"/>
            <a:ext cx="1347368" cy="700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45710"/>
            <a:ext cx="1147313" cy="515661"/>
          </a:xfrm>
          <a:custGeom>
            <a:avLst/>
            <a:gdLst/>
            <a:ahLst/>
            <a:cxnLst/>
            <a:rect l="l" t="t" r="r" b="b"/>
            <a:pathLst>
              <a:path w="981075" h="467995">
                <a:moveTo>
                  <a:pt x="59689" y="389636"/>
                </a:moveTo>
                <a:lnTo>
                  <a:pt x="0" y="464566"/>
                </a:lnTo>
                <a:lnTo>
                  <a:pt x="95757" y="467487"/>
                </a:lnTo>
                <a:lnTo>
                  <a:pt x="86520" y="447548"/>
                </a:lnTo>
                <a:lnTo>
                  <a:pt x="70738" y="447548"/>
                </a:lnTo>
                <a:lnTo>
                  <a:pt x="58800" y="421513"/>
                </a:lnTo>
                <a:lnTo>
                  <a:pt x="71692" y="415542"/>
                </a:lnTo>
                <a:lnTo>
                  <a:pt x="59689" y="389636"/>
                </a:lnTo>
                <a:close/>
              </a:path>
              <a:path w="981075" h="467995">
                <a:moveTo>
                  <a:pt x="71692" y="415542"/>
                </a:moveTo>
                <a:lnTo>
                  <a:pt x="58800" y="421513"/>
                </a:lnTo>
                <a:lnTo>
                  <a:pt x="70738" y="447548"/>
                </a:lnTo>
                <a:lnTo>
                  <a:pt x="83732" y="441530"/>
                </a:lnTo>
                <a:lnTo>
                  <a:pt x="71692" y="415542"/>
                </a:lnTo>
                <a:close/>
              </a:path>
              <a:path w="981075" h="467995">
                <a:moveTo>
                  <a:pt x="83732" y="441530"/>
                </a:moveTo>
                <a:lnTo>
                  <a:pt x="70738" y="447548"/>
                </a:lnTo>
                <a:lnTo>
                  <a:pt x="86520" y="447548"/>
                </a:lnTo>
                <a:lnTo>
                  <a:pt x="83732" y="441530"/>
                </a:lnTo>
                <a:close/>
              </a:path>
              <a:path w="981075" h="467995">
                <a:moveTo>
                  <a:pt x="968882" y="0"/>
                </a:moveTo>
                <a:lnTo>
                  <a:pt x="71692" y="415542"/>
                </a:lnTo>
                <a:lnTo>
                  <a:pt x="83732" y="441530"/>
                </a:lnTo>
                <a:lnTo>
                  <a:pt x="980947" y="26035"/>
                </a:lnTo>
                <a:lnTo>
                  <a:pt x="9688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200598"/>
            <a:ext cx="1342022" cy="2854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277423"/>
            <a:ext cx="1140629" cy="98654"/>
          </a:xfrm>
          <a:custGeom>
            <a:avLst/>
            <a:gdLst/>
            <a:ahLst/>
            <a:cxnLst/>
            <a:rect l="l" t="t" r="r" b="b"/>
            <a:pathLst>
              <a:path w="975360" h="89535">
                <a:moveTo>
                  <a:pt x="86190" y="28583"/>
                </a:moveTo>
                <a:lnTo>
                  <a:pt x="85132" y="57157"/>
                </a:lnTo>
                <a:lnTo>
                  <a:pt x="974344" y="89281"/>
                </a:lnTo>
                <a:lnTo>
                  <a:pt x="975359" y="60706"/>
                </a:lnTo>
                <a:lnTo>
                  <a:pt x="86190" y="28583"/>
                </a:lnTo>
                <a:close/>
              </a:path>
              <a:path w="975360" h="89535">
                <a:moveTo>
                  <a:pt x="87249" y="0"/>
                </a:moveTo>
                <a:lnTo>
                  <a:pt x="0" y="39750"/>
                </a:lnTo>
                <a:lnTo>
                  <a:pt x="84074" y="85725"/>
                </a:lnTo>
                <a:lnTo>
                  <a:pt x="85132" y="57157"/>
                </a:lnTo>
                <a:lnTo>
                  <a:pt x="70865" y="56642"/>
                </a:lnTo>
                <a:lnTo>
                  <a:pt x="71881" y="28067"/>
                </a:lnTo>
                <a:lnTo>
                  <a:pt x="86209" y="28067"/>
                </a:lnTo>
                <a:lnTo>
                  <a:pt x="87249" y="0"/>
                </a:lnTo>
                <a:close/>
              </a:path>
              <a:path w="975360" h="89535">
                <a:moveTo>
                  <a:pt x="71881" y="28067"/>
                </a:moveTo>
                <a:lnTo>
                  <a:pt x="70865" y="56642"/>
                </a:lnTo>
                <a:lnTo>
                  <a:pt x="85132" y="57157"/>
                </a:lnTo>
                <a:lnTo>
                  <a:pt x="86190" y="28583"/>
                </a:lnTo>
                <a:lnTo>
                  <a:pt x="71881" y="28067"/>
                </a:lnTo>
                <a:close/>
              </a:path>
              <a:path w="975360" h="89535">
                <a:moveTo>
                  <a:pt x="86209" y="28067"/>
                </a:moveTo>
                <a:lnTo>
                  <a:pt x="71881" y="28067"/>
                </a:lnTo>
                <a:lnTo>
                  <a:pt x="86190" y="28583"/>
                </a:lnTo>
                <a:lnTo>
                  <a:pt x="86209" y="2806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58495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093804"/>
            <a:ext cx="9722825" cy="623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59200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732776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475989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00898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7"/>
                </a:lnTo>
                <a:lnTo>
                  <a:pt x="72771" y="112267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7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7"/>
                </a:lnTo>
                <a:lnTo>
                  <a:pt x="87124" y="112267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41652"/>
            <a:ext cx="1014091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20576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6"/>
                </a:lnTo>
                <a:lnTo>
                  <a:pt x="695705" y="72898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8"/>
                </a:lnTo>
                <a:lnTo>
                  <a:pt x="84498" y="57044"/>
                </a:lnTo>
                <a:lnTo>
                  <a:pt x="70230" y="56007"/>
                </a:lnTo>
                <a:lnTo>
                  <a:pt x="72390" y="27559"/>
                </a:lnTo>
                <a:lnTo>
                  <a:pt x="86642" y="27559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9"/>
                </a:moveTo>
                <a:lnTo>
                  <a:pt x="70230" y="56007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9"/>
                </a:lnTo>
                <a:close/>
              </a:path>
              <a:path w="695960" h="101600">
                <a:moveTo>
                  <a:pt x="86642" y="27559"/>
                </a:moveTo>
                <a:lnTo>
                  <a:pt x="72390" y="27559"/>
                </a:lnTo>
                <a:lnTo>
                  <a:pt x="86567" y="28590"/>
                </a:lnTo>
                <a:lnTo>
                  <a:pt x="86642" y="27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94142" y="3109597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09347" marR="101382" indent="724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 do  </a:t>
            </a:r>
            <a:r>
              <a:rPr sz="1600" b="1" dirty="0">
                <a:latin typeface="Arial"/>
                <a:cs typeface="Arial"/>
              </a:rPr>
              <a:t>terceiro elemento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com 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antepenúltimo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13051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32776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116458"/>
            <a:ext cx="9732776" cy="62728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0548" y="3475990"/>
            <a:ext cx="1017655" cy="3744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81741" y="3501178"/>
            <a:ext cx="816114" cy="210602"/>
          </a:xfrm>
          <a:custGeom>
            <a:avLst/>
            <a:gdLst/>
            <a:ahLst/>
            <a:cxnLst/>
            <a:rect l="l" t="t" r="r" b="b"/>
            <a:pathLst>
              <a:path w="697864" h="191135">
                <a:moveTo>
                  <a:pt x="74422" y="107442"/>
                </a:moveTo>
                <a:lnTo>
                  <a:pt x="0" y="167894"/>
                </a:lnTo>
                <a:lnTo>
                  <a:pt x="93090" y="191135"/>
                </a:lnTo>
                <a:lnTo>
                  <a:pt x="87566" y="166370"/>
                </a:lnTo>
                <a:lnTo>
                  <a:pt x="72897" y="166370"/>
                </a:lnTo>
                <a:lnTo>
                  <a:pt x="66674" y="138430"/>
                </a:lnTo>
                <a:lnTo>
                  <a:pt x="80644" y="135335"/>
                </a:lnTo>
                <a:lnTo>
                  <a:pt x="74422" y="107442"/>
                </a:lnTo>
                <a:close/>
              </a:path>
              <a:path w="697864" h="191135">
                <a:moveTo>
                  <a:pt x="80644" y="135335"/>
                </a:moveTo>
                <a:lnTo>
                  <a:pt x="66674" y="138430"/>
                </a:lnTo>
                <a:lnTo>
                  <a:pt x="72897" y="166370"/>
                </a:lnTo>
                <a:lnTo>
                  <a:pt x="86876" y="163273"/>
                </a:lnTo>
                <a:lnTo>
                  <a:pt x="80644" y="135335"/>
                </a:lnTo>
                <a:close/>
              </a:path>
              <a:path w="697864" h="191135">
                <a:moveTo>
                  <a:pt x="86876" y="163273"/>
                </a:moveTo>
                <a:lnTo>
                  <a:pt x="72897" y="166370"/>
                </a:lnTo>
                <a:lnTo>
                  <a:pt x="87566" y="166370"/>
                </a:lnTo>
                <a:lnTo>
                  <a:pt x="86876" y="163273"/>
                </a:lnTo>
                <a:close/>
              </a:path>
              <a:path w="697864" h="191135">
                <a:moveTo>
                  <a:pt x="691515" y="0"/>
                </a:moveTo>
                <a:lnTo>
                  <a:pt x="80644" y="135335"/>
                </a:lnTo>
                <a:lnTo>
                  <a:pt x="86876" y="163273"/>
                </a:lnTo>
                <a:lnTo>
                  <a:pt x="697737" y="27939"/>
                </a:lnTo>
                <a:lnTo>
                  <a:pt x="6915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30547" y="3397065"/>
            <a:ext cx="1014091" cy="2837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81740" y="3469273"/>
            <a:ext cx="812401" cy="94456"/>
          </a:xfrm>
          <a:custGeom>
            <a:avLst/>
            <a:gdLst/>
            <a:ahLst/>
            <a:cxnLst/>
            <a:rect l="l" t="t" r="r" b="b"/>
            <a:pathLst>
              <a:path w="694689" h="85725">
                <a:moveTo>
                  <a:pt x="85724" y="0"/>
                </a:moveTo>
                <a:lnTo>
                  <a:pt x="0" y="42925"/>
                </a:lnTo>
                <a:lnTo>
                  <a:pt x="85724" y="85725"/>
                </a:lnTo>
                <a:lnTo>
                  <a:pt x="85724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4" y="28575"/>
                </a:lnTo>
                <a:lnTo>
                  <a:pt x="85724" y="0"/>
                </a:lnTo>
                <a:close/>
              </a:path>
              <a:path w="694689" h="85725">
                <a:moveTo>
                  <a:pt x="85724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4" y="57150"/>
                </a:lnTo>
                <a:lnTo>
                  <a:pt x="85724" y="28575"/>
                </a:lnTo>
                <a:close/>
              </a:path>
              <a:path w="694689" h="85725">
                <a:moveTo>
                  <a:pt x="694690" y="28575"/>
                </a:moveTo>
                <a:lnTo>
                  <a:pt x="85724" y="28575"/>
                </a:lnTo>
                <a:lnTo>
                  <a:pt x="85724" y="57150"/>
                </a:lnTo>
                <a:lnTo>
                  <a:pt x="694690" y="57150"/>
                </a:lnTo>
                <a:lnTo>
                  <a:pt x="694690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88349" y="3347054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67146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4959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47330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511253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35462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8"/>
                </a:lnTo>
                <a:lnTo>
                  <a:pt x="72771" y="112268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8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8"/>
                </a:lnTo>
                <a:lnTo>
                  <a:pt x="87124" y="112268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75236"/>
            <a:ext cx="1014091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55140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5"/>
                </a:lnTo>
                <a:lnTo>
                  <a:pt x="695705" y="72897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7"/>
                </a:lnTo>
                <a:lnTo>
                  <a:pt x="84498" y="57044"/>
                </a:lnTo>
                <a:lnTo>
                  <a:pt x="70230" y="56006"/>
                </a:lnTo>
                <a:lnTo>
                  <a:pt x="72390" y="27558"/>
                </a:lnTo>
                <a:lnTo>
                  <a:pt x="86642" y="27558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8"/>
                </a:moveTo>
                <a:lnTo>
                  <a:pt x="70230" y="56006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8"/>
                </a:lnTo>
                <a:close/>
              </a:path>
              <a:path w="695960" h="101600">
                <a:moveTo>
                  <a:pt x="86642" y="27558"/>
                </a:moveTo>
                <a:lnTo>
                  <a:pt x="72390" y="27558"/>
                </a:lnTo>
                <a:lnTo>
                  <a:pt x="86567" y="28590"/>
                </a:lnTo>
                <a:lnTo>
                  <a:pt x="86642" y="275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63696" y="3381478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94007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84488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21216"/>
            <a:ext cx="9747330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532481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535126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63607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16"/>
            <a:ext cx="9776738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64022" y="5563262"/>
            <a:ext cx="1933722" cy="3224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13627" y="5588031"/>
            <a:ext cx="1733222" cy="174919"/>
          </a:xfrm>
          <a:custGeom>
            <a:avLst/>
            <a:gdLst/>
            <a:ahLst/>
            <a:cxnLst/>
            <a:rect l="l" t="t" r="r" b="b"/>
            <a:pathLst>
              <a:path w="1482089" h="158750">
                <a:moveTo>
                  <a:pt x="1399539" y="72770"/>
                </a:moveTo>
                <a:lnTo>
                  <a:pt x="1397470" y="101200"/>
                </a:lnTo>
                <a:lnTo>
                  <a:pt x="1411732" y="102234"/>
                </a:lnTo>
                <a:lnTo>
                  <a:pt x="1409700" y="130809"/>
                </a:lnTo>
                <a:lnTo>
                  <a:pt x="1395314" y="130809"/>
                </a:lnTo>
                <a:lnTo>
                  <a:pt x="1393316" y="158241"/>
                </a:lnTo>
                <a:lnTo>
                  <a:pt x="1459801" y="130809"/>
                </a:lnTo>
                <a:lnTo>
                  <a:pt x="1409700" y="130809"/>
                </a:lnTo>
                <a:lnTo>
                  <a:pt x="1395389" y="129772"/>
                </a:lnTo>
                <a:lnTo>
                  <a:pt x="1462316" y="129772"/>
                </a:lnTo>
                <a:lnTo>
                  <a:pt x="1481963" y="121665"/>
                </a:lnTo>
                <a:lnTo>
                  <a:pt x="1399539" y="72770"/>
                </a:lnTo>
                <a:close/>
              </a:path>
              <a:path w="1482089" h="158750">
                <a:moveTo>
                  <a:pt x="1397470" y="101200"/>
                </a:moveTo>
                <a:lnTo>
                  <a:pt x="1395389" y="129772"/>
                </a:lnTo>
                <a:lnTo>
                  <a:pt x="1409700" y="130809"/>
                </a:lnTo>
                <a:lnTo>
                  <a:pt x="1411732" y="102234"/>
                </a:lnTo>
                <a:lnTo>
                  <a:pt x="1397470" y="101200"/>
                </a:lnTo>
                <a:close/>
              </a:path>
              <a:path w="1482089" h="158750">
                <a:moveTo>
                  <a:pt x="2158" y="0"/>
                </a:moveTo>
                <a:lnTo>
                  <a:pt x="0" y="28574"/>
                </a:lnTo>
                <a:lnTo>
                  <a:pt x="1395389" y="129772"/>
                </a:lnTo>
                <a:lnTo>
                  <a:pt x="1397470" y="101200"/>
                </a:lnTo>
                <a:lnTo>
                  <a:pt x="21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5180" y="5027199"/>
            <a:ext cx="2599833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39628" marR="330214" indent="156417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61366" y="2622973"/>
            <a:ext cx="2189918" cy="537047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530081" marR="104278" indent="-417113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 </a:t>
            </a:r>
            <a:r>
              <a:rPr sz="1600" b="1" spc="-6" dirty="0">
                <a:latin typeface="Arial"/>
                <a:cs typeface="Arial"/>
              </a:rPr>
              <a:t>inicializada  novamente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5240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7"/>
            <a:ext cx="9776738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74575" y="5338248"/>
            <a:ext cx="6342968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9824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03230" y="6194650"/>
            <a:ext cx="3516346" cy="9218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2687" y="6220329"/>
            <a:ext cx="3316439" cy="757049"/>
          </a:xfrm>
          <a:custGeom>
            <a:avLst/>
            <a:gdLst/>
            <a:ahLst/>
            <a:cxnLst/>
            <a:rect l="l" t="t" r="r" b="b"/>
            <a:pathLst>
              <a:path w="2835910" h="687070">
                <a:moveTo>
                  <a:pt x="2748829" y="658727"/>
                </a:moveTo>
                <a:lnTo>
                  <a:pt x="2742437" y="686574"/>
                </a:lnTo>
                <a:lnTo>
                  <a:pt x="2835529" y="663981"/>
                </a:lnTo>
                <a:lnTo>
                  <a:pt x="2833034" y="661924"/>
                </a:lnTo>
                <a:lnTo>
                  <a:pt x="2762758" y="661924"/>
                </a:lnTo>
                <a:lnTo>
                  <a:pt x="2748829" y="658727"/>
                </a:lnTo>
                <a:close/>
              </a:path>
              <a:path w="2835910" h="687070">
                <a:moveTo>
                  <a:pt x="2755219" y="630885"/>
                </a:moveTo>
                <a:lnTo>
                  <a:pt x="2748829" y="658727"/>
                </a:lnTo>
                <a:lnTo>
                  <a:pt x="2762758" y="661924"/>
                </a:lnTo>
                <a:lnTo>
                  <a:pt x="2769108" y="634072"/>
                </a:lnTo>
                <a:lnTo>
                  <a:pt x="2755219" y="630885"/>
                </a:lnTo>
                <a:close/>
              </a:path>
              <a:path w="2835910" h="687070">
                <a:moveTo>
                  <a:pt x="2761615" y="603021"/>
                </a:moveTo>
                <a:lnTo>
                  <a:pt x="2755219" y="630885"/>
                </a:lnTo>
                <a:lnTo>
                  <a:pt x="2769108" y="634072"/>
                </a:lnTo>
                <a:lnTo>
                  <a:pt x="2762758" y="661924"/>
                </a:lnTo>
                <a:lnTo>
                  <a:pt x="2833034" y="661924"/>
                </a:lnTo>
                <a:lnTo>
                  <a:pt x="2761615" y="603021"/>
                </a:lnTo>
                <a:close/>
              </a:path>
              <a:path w="2835910" h="687070">
                <a:moveTo>
                  <a:pt x="6476" y="0"/>
                </a:moveTo>
                <a:lnTo>
                  <a:pt x="0" y="27851"/>
                </a:lnTo>
                <a:lnTo>
                  <a:pt x="2748829" y="658727"/>
                </a:lnTo>
                <a:lnTo>
                  <a:pt x="2755219" y="630885"/>
                </a:lnTo>
                <a:lnTo>
                  <a:pt x="64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6752" y="5659174"/>
            <a:ext cx="2599833" cy="53851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5622" rIns="0" bIns="0" rtlCol="0">
            <a:spAutoFit/>
          </a:bodyPr>
          <a:lstStyle/>
          <a:p>
            <a:pPr marL="339628" marR="330214" indent="156417">
              <a:spcBef>
                <a:spcPts val="359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5040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169"/>
            <a:ext cx="9776738" cy="6335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72713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9"/>
            <a:ext cx="9791293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372" y="1136422"/>
            <a:ext cx="9767677" cy="6320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42600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8951" y="1136462"/>
            <a:ext cx="975817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8308" y="1136442"/>
            <a:ext cx="9787283" cy="206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8308" y="1136442"/>
            <a:ext cx="9787283" cy="3748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04594" y="6621047"/>
            <a:ext cx="1161644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413572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6462"/>
            <a:ext cx="978728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51088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8561"/>
            <a:ext cx="9798570" cy="6328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96717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66"/>
            <a:ext cx="9798570" cy="6350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15101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6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28043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50"/>
            <a:ext cx="9798570" cy="6347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48786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4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90968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5"/>
            <a:ext cx="9783718" cy="6330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6633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0986"/>
            <a:ext cx="9783718" cy="6321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813468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84117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04407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0"/>
            <a:ext cx="9783718" cy="6396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512948" y="5828579"/>
            <a:ext cx="1552324" cy="5507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3446" y="5853908"/>
            <a:ext cx="1352270" cy="382023"/>
          </a:xfrm>
          <a:custGeom>
            <a:avLst/>
            <a:gdLst/>
            <a:ahLst/>
            <a:cxnLst/>
            <a:rect l="l" t="t" r="r" b="b"/>
            <a:pathLst>
              <a:path w="1156335" h="346710">
                <a:moveTo>
                  <a:pt x="1069341" y="318560"/>
                </a:moveTo>
                <a:lnTo>
                  <a:pt x="1061846" y="346151"/>
                </a:lnTo>
                <a:lnTo>
                  <a:pt x="1155827" y="327291"/>
                </a:lnTo>
                <a:lnTo>
                  <a:pt x="1150270" y="322326"/>
                </a:lnTo>
                <a:lnTo>
                  <a:pt x="1083183" y="322326"/>
                </a:lnTo>
                <a:lnTo>
                  <a:pt x="1069341" y="318560"/>
                </a:lnTo>
                <a:close/>
              </a:path>
              <a:path w="1156335" h="346710">
                <a:moveTo>
                  <a:pt x="1076831" y="290987"/>
                </a:moveTo>
                <a:lnTo>
                  <a:pt x="1069341" y="318560"/>
                </a:lnTo>
                <a:lnTo>
                  <a:pt x="1083183" y="322326"/>
                </a:lnTo>
                <a:lnTo>
                  <a:pt x="1090676" y="294754"/>
                </a:lnTo>
                <a:lnTo>
                  <a:pt x="1076831" y="290987"/>
                </a:lnTo>
                <a:close/>
              </a:path>
              <a:path w="1156335" h="346710">
                <a:moveTo>
                  <a:pt x="1084326" y="263398"/>
                </a:moveTo>
                <a:lnTo>
                  <a:pt x="1076831" y="290987"/>
                </a:lnTo>
                <a:lnTo>
                  <a:pt x="1090676" y="294754"/>
                </a:lnTo>
                <a:lnTo>
                  <a:pt x="1083183" y="322326"/>
                </a:lnTo>
                <a:lnTo>
                  <a:pt x="1150270" y="322326"/>
                </a:lnTo>
                <a:lnTo>
                  <a:pt x="1084326" y="263398"/>
                </a:lnTo>
                <a:close/>
              </a:path>
              <a:path w="1156335" h="346710">
                <a:moveTo>
                  <a:pt x="7493" y="0"/>
                </a:moveTo>
                <a:lnTo>
                  <a:pt x="0" y="27686"/>
                </a:lnTo>
                <a:lnTo>
                  <a:pt x="1069341" y="318560"/>
                </a:lnTo>
                <a:lnTo>
                  <a:pt x="1076831" y="290987"/>
                </a:lnTo>
                <a:lnTo>
                  <a:pt x="74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7226" y="5654711"/>
            <a:ext cx="1010675" cy="39781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3449" rIns="0" bIns="0" rtlCol="0">
            <a:spAutoFit/>
          </a:bodyPr>
          <a:lstStyle/>
          <a:p>
            <a:pPr marL="241867">
              <a:spcBef>
                <a:spcPts val="342"/>
              </a:spcBef>
            </a:pPr>
            <a:r>
              <a:rPr sz="2300" b="1" dirty="0">
                <a:latin typeface="Arial"/>
                <a:cs typeface="Arial"/>
              </a:rPr>
              <a:t>FIM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390" y="6333558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60318" y="6068708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15120" y="609552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7140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156</a:t>
            </a:fld>
            <a:endParaRPr spc="-6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9500" y="1339850"/>
            <a:ext cx="8686800" cy="3993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pt-BR" b="0" dirty="0"/>
          </a:p>
          <a:p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Para maiores informações sobre 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debugger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 do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Code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::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Blocks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, acesse o endereço abaixo: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3200" u="sng" dirty="0">
              <a:solidFill>
                <a:schemeClr val="accent1"/>
              </a:solidFill>
              <a:latin typeface="Arial"/>
              <a:cs typeface="Arial"/>
            </a:endParaRPr>
          </a:p>
          <a:p>
            <a:r>
              <a:rPr lang="pt-BR" sz="3200" u="sng" dirty="0">
                <a:solidFill>
                  <a:schemeClr val="accent1"/>
                </a:solidFill>
                <a:latin typeface="Arial"/>
                <a:cs typeface="Arial"/>
              </a:rPr>
              <a:t>http://wiki.codeblocks.org/index.php/Debugging_with_Code::Blocks 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Dica</a:t>
            </a:r>
          </a:p>
        </p:txBody>
      </p:sp>
    </p:spTree>
    <p:extLst>
      <p:ext uri="{BB962C8B-B14F-4D97-AF65-F5344CB8AC3E}">
        <p14:creationId xmlns:p14="http://schemas.microsoft.com/office/powerpoint/2010/main" val="285378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7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5726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1149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solidFill>
                  <a:prstClr val="black"/>
                </a:solidFill>
                <a:latin typeface="Times New Roman"/>
                <a:cs typeface="Times New Roman"/>
              </a:rPr>
              <a:t>–	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e </a:t>
            </a:r>
            <a:r>
              <a:rPr sz="20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indent="-262255"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ilizado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proje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35585" indent="-262255" algn="just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upo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070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rá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edian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393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644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la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fic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99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8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397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445770" indent="-262255">
              <a:lnSpc>
                <a:spcPct val="112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definir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eguin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0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-5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lvl="1" indent="-330835">
              <a:lnSpc>
                <a:spcPct val="124500"/>
              </a:lnSpc>
              <a:spcBef>
                <a:spcPts val="700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enha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imei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zia,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ulo;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4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ins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Há 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eficien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(po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anjo).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03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9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933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20256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olhida.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48005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ualque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fica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à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ulada,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ódig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7321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adequad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depend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15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679190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5273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7666" y="862711"/>
            <a:ext cx="6852920" cy="5009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458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8166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liga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definida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39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29400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bó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a, gerên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si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618855" cy="458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efiniçã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654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72" baseline="-12345" dirty="0">
                <a:latin typeface="Verdana"/>
                <a:cs typeface="Verdana"/>
              </a:rPr>
              <a:t>n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8572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225" baseline="-12345" dirty="0">
                <a:latin typeface="Tahoma"/>
                <a:cs typeface="Tahoma"/>
              </a:rPr>
              <a:t>+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265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517" baseline="-12345" dirty="0">
                <a:latin typeface="Arial"/>
                <a:cs typeface="Arial"/>
              </a:rPr>
              <a:t>−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73760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depend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249554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óp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96265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62340" cy="595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-225" dirty="0">
                <a:latin typeface="Arial"/>
                <a:cs typeface="Arial"/>
              </a:rPr>
              <a:t>L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ere(</a:t>
            </a:r>
            <a:r>
              <a:rPr sz="2050" spc="5" dirty="0">
                <a:latin typeface="Arial"/>
                <a:cs typeface="Arial"/>
              </a:rPr>
              <a:t>x,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x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p+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5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23734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3" y="1392146"/>
            <a:ext cx="4481195" cy="2878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qual- 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482" y="1459166"/>
            <a:ext cx="49085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1972" y="1770215"/>
            <a:ext cx="1296035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78740" algn="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9445" y="2889859"/>
            <a:ext cx="101028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Últi</a:t>
            </a:r>
            <a:r>
              <a:rPr sz="1850" spc="25" dirty="0">
                <a:latin typeface="Times New Roman"/>
                <a:cs typeface="Times New Roman"/>
              </a:rPr>
              <a:t>m</a:t>
            </a:r>
            <a:r>
              <a:rPr sz="1850" spc="10" dirty="0">
                <a:latin typeface="Times New Roman"/>
                <a:cs typeface="Times New Roman"/>
              </a:rPr>
              <a:t>o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3918" y="3698646"/>
            <a:ext cx="88391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20" dirty="0">
                <a:latin typeface="Times New Roman"/>
                <a:cs typeface="Times New Roman"/>
              </a:rPr>
              <a:t>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647" y="1468551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5904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1367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54647" y="4096753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21305" y="4318684"/>
            <a:ext cx="8414385" cy="1685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203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preen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893197" y="1778590"/>
          <a:ext cx="1252943" cy="224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943"/>
              </a:tblGrid>
              <a:tr h="315455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80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62672"/>
            <a:ext cx="51517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203" y="1770749"/>
            <a:ext cx="280225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897" y="2719721"/>
            <a:ext cx="3656965" cy="3461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70585">
              <a:lnSpc>
                <a:spcPct val="1332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7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 marR="120014" indent="3175">
              <a:lnSpc>
                <a:spcPts val="2720"/>
              </a:lnSpc>
              <a:spcBef>
                <a:spcPts val="200"/>
              </a:spcBef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536" y="1625204"/>
            <a:ext cx="4170679" cy="4884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-2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- 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y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i="1" spc="-105" dirty="0">
                <a:latin typeface="Verdana"/>
                <a:cs typeface="Verdana"/>
              </a:rPr>
              <a:t>&lt;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770572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40925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949" y="2677452"/>
            <a:ext cx="470344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46170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4229" y="3022410"/>
            <a:ext cx="11747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i="1" spc="-5" dirty="0">
                <a:latin typeface="Arial"/>
                <a:cs typeface="Arial"/>
              </a:rPr>
              <a:t>Vazi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8" y="3712477"/>
            <a:ext cx="514921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 marR="1553845" indent="-424180">
              <a:lnSpc>
                <a:spcPts val="2720"/>
              </a:lnSpc>
              <a:spcBef>
                <a:spcPts val="200"/>
              </a:spcBef>
              <a:tabLst>
                <a:tab pos="257810" algn="l"/>
                <a:tab pos="5594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99314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93140">
              <a:lnSpc>
                <a:spcPct val="100000"/>
              </a:lnSpc>
              <a:spcBef>
                <a:spcPts val="675"/>
              </a:spcBef>
            </a:pP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3500120" algn="ctr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40" dirty="0">
                <a:latin typeface="Arial"/>
                <a:cs typeface="Arial"/>
              </a:rPr>
              <a:t>I</a:t>
            </a:r>
            <a:r>
              <a:rPr sz="1700" i="1" spc="50" dirty="0">
                <a:latin typeface="Arial"/>
                <a:cs typeface="Arial"/>
              </a:rPr>
              <a:t>n</a:t>
            </a:r>
            <a:r>
              <a:rPr sz="1700" i="1" spc="45" dirty="0">
                <a:latin typeface="Arial"/>
                <a:cs typeface="Arial"/>
              </a:rPr>
              <a:t>s</a:t>
            </a:r>
            <a:r>
              <a:rPr sz="1700" i="1" spc="50" dirty="0">
                <a:latin typeface="Arial"/>
                <a:cs typeface="Arial"/>
              </a:rPr>
              <a:t>e</a:t>
            </a:r>
            <a:r>
              <a:rPr sz="1700" i="1" spc="40" dirty="0">
                <a:latin typeface="Arial"/>
                <a:cs typeface="Arial"/>
              </a:rPr>
              <a:t>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67"/>
            <a:ext cx="7102475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7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5474970" algn="ctr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75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  <a:tab pos="668020" algn="l"/>
                <a:tab pos="1423670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0" dirty="0">
                <a:latin typeface="Arial"/>
                <a:cs typeface="Arial"/>
              </a:rPr>
              <a:t>Retir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90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2)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i="1" spc="-30" dirty="0">
                <a:latin typeface="Arial"/>
                <a:cs typeface="Arial"/>
              </a:rPr>
              <a:t>Imprim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606790" cy="4463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4292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ono</a:t>
            </a:r>
            <a:r>
              <a:rPr sz="2050" spc="5" dirty="0">
                <a:latin typeface="Arial"/>
                <a:cs typeface="Arial"/>
              </a:rPr>
              <a:t>mia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a).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4546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o;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linguagen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sse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48" y="862672"/>
            <a:ext cx="8698865" cy="3524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603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cé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cabeç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sim</a:t>
            </a:r>
            <a:r>
              <a:rPr sz="2050" dirty="0">
                <a:latin typeface="Arial"/>
                <a:cs typeface="Arial"/>
              </a:rPr>
              <a:t>plifica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3182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2598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39" y="8295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39" y="41465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74655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8772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8189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947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99064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77008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3620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5024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7700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21121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52" y="248820"/>
                </a:moveTo>
                <a:lnTo>
                  <a:pt x="497652" y="0"/>
                </a:lnTo>
                <a:lnTo>
                  <a:pt x="0" y="0"/>
                </a:lnTo>
                <a:lnTo>
                  <a:pt x="0" y="248820"/>
                </a:lnTo>
                <a:lnTo>
                  <a:pt x="497652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60542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76963" y="4645101"/>
            <a:ext cx="9315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sz="1600" spc="5" dirty="0">
                <a:latin typeface="Times New Roman"/>
                <a:cs typeface="Times New Roman"/>
              </a:rPr>
              <a:t>...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u="sng" spc="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815" y="4707345"/>
            <a:ext cx="44069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4166" y="4707345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7079" y="4668392"/>
            <a:ext cx="2448560" cy="299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1710" algn="l"/>
              </a:tabLst>
            </a:pP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1	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n</a:t>
            </a:r>
            <a:endParaRPr sz="1725" baseline="-9661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9734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901" y="1770749"/>
            <a:ext cx="4398645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2468880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915" y="5565852"/>
            <a:ext cx="354139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7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884" y="1720659"/>
            <a:ext cx="4046220" cy="3193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 e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7179309" cy="5116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5" dirty="0">
                <a:latin typeface="Arial"/>
                <a:cs typeface="Arial"/>
              </a:rPr>
              <a:t>&gt;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71334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59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i="1" spc="15" dirty="0">
                <a:latin typeface="Arial"/>
                <a:cs typeface="Arial"/>
              </a:rPr>
              <a:t>O</a:t>
            </a:r>
            <a:r>
              <a:rPr sz="1700" i="1" spc="14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s</a:t>
            </a:r>
            <a:r>
              <a:rPr sz="1700" i="1" spc="45" dirty="0">
                <a:latin typeface="Arial"/>
                <a:cs typeface="Arial"/>
              </a:rPr>
              <a:t>e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i="1" spc="105" dirty="0">
                <a:latin typeface="Arial"/>
                <a:cs typeface="Arial"/>
              </a:rPr>
              <a:t>retirad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seguint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9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apontad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p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0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  <a:tab pos="3712845" algn="l"/>
                <a:tab pos="399859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  <a:tab pos="206438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  <a:tabLst>
                <a:tab pos="3654425" algn="l"/>
              </a:tabLst>
            </a:pP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13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2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6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852169" marR="39687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pr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i="1" spc="5" dirty="0">
                <a:latin typeface="Times New Roman"/>
                <a:cs typeface="Times New Roman"/>
              </a:rPr>
              <a:t>or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484505" marR="993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432165" cy="6290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lid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2"/>
              </a:spcBef>
              <a:buFont typeface="Times New Roman"/>
              <a:buChar char="–"/>
            </a:pPr>
            <a:endParaRPr sz="2000">
              <a:latin typeface="Times New Roman"/>
              <a:cs typeface="Times New Roman"/>
            </a:endParaRPr>
          </a:p>
          <a:p>
            <a:pPr marL="468630">
              <a:lnSpc>
                <a:spcPct val="100000"/>
              </a:lnSpc>
              <a:tabLst>
                <a:tab pos="1466215" algn="l"/>
              </a:tabLst>
            </a:pP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1..999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87680">
              <a:lnSpc>
                <a:spcPct val="100000"/>
              </a:lnSpc>
              <a:spcBef>
                <a:spcPts val="605"/>
              </a:spcBef>
            </a:pP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spc="18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1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605"/>
              </a:spcBef>
              <a:tabLst>
                <a:tab pos="1479550" algn="l"/>
                <a:tab pos="1669414" algn="l"/>
              </a:tabLst>
            </a:pP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a</a:t>
            </a:r>
            <a:r>
              <a:rPr sz="1700" spc="50" dirty="0">
                <a:latin typeface="Arial"/>
                <a:cs typeface="Arial"/>
              </a:rPr>
              <a:t>rr</a:t>
            </a:r>
            <a:r>
              <a:rPr sz="1700" spc="60" dirty="0">
                <a:latin typeface="Arial"/>
                <a:cs typeface="Arial"/>
              </a:rPr>
              <a:t>a</a:t>
            </a:r>
            <a:r>
              <a:rPr sz="1700" spc="10" dirty="0">
                <a:latin typeface="Arial"/>
                <a:cs typeface="Arial"/>
              </a:rPr>
              <a:t>y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7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2250">
              <a:latin typeface="Times New Roman"/>
              <a:cs typeface="Times New Roman"/>
            </a:endParaRPr>
          </a:p>
          <a:p>
            <a:pPr marL="484505" marR="160020" indent="-262255">
              <a:lnSpc>
                <a:spcPct val="116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uir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final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94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1250" cy="6459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8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í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ve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Soluçã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470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10, 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9,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spc="5" dirty="0">
                <a:latin typeface="Arial"/>
                <a:cs typeface="Arial"/>
              </a:rPr>
              <a:t> 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refina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2500">
              <a:latin typeface="Times New Roman"/>
              <a:cs typeface="Times New Roman"/>
            </a:endParaRPr>
          </a:p>
          <a:p>
            <a:pPr marL="240029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orden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registro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pel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camp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spc="20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605"/>
              </a:spcBef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10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houve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c</a:t>
            </a:r>
            <a:r>
              <a:rPr sz="1700" spc="-17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mesm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no</a:t>
            </a:r>
            <a:r>
              <a:rPr sz="1700" spc="5" dirty="0">
                <a:latin typeface="Arial"/>
                <a:cs typeface="Arial"/>
              </a:rPr>
              <a:t>ta</a:t>
            </a:r>
            <a:endParaRPr sz="1700">
              <a:latin typeface="Arial"/>
              <a:cs typeface="Arial"/>
            </a:endParaRPr>
          </a:p>
          <a:p>
            <a:pPr marL="789305">
              <a:lnSpc>
                <a:spcPct val="100000"/>
              </a:lnSpc>
              <a:spcBef>
                <a:spcPts val="605"/>
              </a:spcBef>
              <a:tabLst>
                <a:tab pos="1003300" algn="l"/>
                <a:tab pos="141541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vag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u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curso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op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-50" dirty="0">
                <a:latin typeface="Arial"/>
                <a:cs typeface="Arial"/>
              </a:rPr>
              <a:t>ã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candidat</a:t>
            </a:r>
            <a:r>
              <a:rPr sz="1700" spc="10" dirty="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993775">
              <a:lnSpc>
                <a:spcPct val="100000"/>
              </a:lnSpc>
              <a:spcBef>
                <a:spcPts val="605"/>
              </a:spcBef>
              <a:tabLst>
                <a:tab pos="1847850" algn="l"/>
              </a:tabLst>
            </a:pPr>
            <a:r>
              <a:rPr sz="1700" spc="5" dirty="0">
                <a:latin typeface="Arial"/>
                <a:cs typeface="Arial"/>
              </a:rPr>
              <a:t>{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5" dirty="0">
                <a:latin typeface="Arial"/>
                <a:cs typeface="Arial"/>
              </a:rPr>
              <a:t>inser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14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conjunt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apro</a:t>
            </a:r>
            <a:r>
              <a:rPr sz="1700" spc="-40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ado</a:t>
            </a:r>
            <a:r>
              <a:rPr sz="1700" spc="100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605"/>
              </a:spcBef>
              <a:tabLst>
                <a:tab pos="227647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55" dirty="0">
                <a:latin typeface="Arial"/>
                <a:cs typeface="Arial"/>
              </a:rPr>
              <a:t>inser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14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conjunt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reprovado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797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</a:pPr>
            <a:r>
              <a:rPr sz="1700" spc="-20" dirty="0">
                <a:latin typeface="Arial"/>
                <a:cs typeface="Arial"/>
              </a:rPr>
              <a:t>imprim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apro</a:t>
            </a:r>
            <a:r>
              <a:rPr sz="1700" spc="-40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po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curso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imprim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reprovado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52" y="862672"/>
            <a:ext cx="8676005" cy="2950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Class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ifi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Alunos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3695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87178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9173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70" y="41473"/>
                </a:lnTo>
                <a:lnTo>
                  <a:pt x="20726" y="8291"/>
                </a:lnTo>
                <a:lnTo>
                  <a:pt x="20726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3"/>
                </a:lnTo>
                <a:lnTo>
                  <a:pt x="20726" y="82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173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70" y="41473"/>
                </a:lnTo>
                <a:lnTo>
                  <a:pt x="0" y="0"/>
                </a:lnTo>
                <a:lnTo>
                  <a:pt x="20726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62757" y="632933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26"/>
                </a:lnTo>
                <a:lnTo>
                  <a:pt x="0" y="248826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16289" y="63293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67" y="248826"/>
                </a:moveTo>
                <a:lnTo>
                  <a:pt x="746467" y="0"/>
                </a:lnTo>
                <a:lnTo>
                  <a:pt x="0" y="0"/>
                </a:lnTo>
                <a:lnTo>
                  <a:pt x="0" y="248826"/>
                </a:lnTo>
                <a:lnTo>
                  <a:pt x="746467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24337" y="6308566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80114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8468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20739" y="8295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3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8468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0" y="0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55705" y="632933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26"/>
                </a:lnTo>
                <a:lnTo>
                  <a:pt x="0" y="248826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09233" y="63293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6"/>
                </a:moveTo>
                <a:lnTo>
                  <a:pt x="746471" y="0"/>
                </a:lnTo>
                <a:lnTo>
                  <a:pt x="0" y="0"/>
                </a:lnTo>
                <a:lnTo>
                  <a:pt x="0" y="248826"/>
                </a:lnTo>
                <a:lnTo>
                  <a:pt x="746471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17342" y="6308566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7178" y="614267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91737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91737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62757" y="6018263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16289" y="6018260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67" y="248820"/>
                </a:moveTo>
                <a:lnTo>
                  <a:pt x="746467" y="0"/>
                </a:lnTo>
                <a:lnTo>
                  <a:pt x="0" y="0"/>
                </a:lnTo>
                <a:lnTo>
                  <a:pt x="0" y="248820"/>
                </a:lnTo>
                <a:lnTo>
                  <a:pt x="746467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24337" y="5997576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94230" y="614267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98866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98866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72171" y="4743743"/>
            <a:ext cx="746760" cy="622300"/>
          </a:xfrm>
          <a:custGeom>
            <a:avLst/>
            <a:gdLst/>
            <a:ahLst/>
            <a:cxnLst/>
            <a:rect l="l" t="t" r="r" b="b"/>
            <a:pathLst>
              <a:path w="746760" h="622300">
                <a:moveTo>
                  <a:pt x="746467" y="622057"/>
                </a:moveTo>
                <a:lnTo>
                  <a:pt x="746467" y="0"/>
                </a:lnTo>
                <a:lnTo>
                  <a:pt x="0" y="0"/>
                </a:lnTo>
                <a:lnTo>
                  <a:pt x="0" y="622057"/>
                </a:lnTo>
                <a:lnTo>
                  <a:pt x="746467" y="622057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442154" y="4948068"/>
            <a:ext cx="269304" cy="212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72171" y="443271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259471" y="4105135"/>
            <a:ext cx="8553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NotaFinal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72935" y="4416159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272171" y="5676860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25"/>
                </a:moveTo>
                <a:lnTo>
                  <a:pt x="746467" y="0"/>
                </a:lnTo>
                <a:lnTo>
                  <a:pt x="0" y="0"/>
                </a:lnTo>
                <a:lnTo>
                  <a:pt x="0" y="311025"/>
                </a:lnTo>
                <a:lnTo>
                  <a:pt x="746467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272171" y="5365793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72171" y="598785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72171" y="629888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94230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98866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20739" y="8295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3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98866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0" y="0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94230" y="5831649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398866" y="579022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98866" y="579022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551700" y="6312753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58734" y="6001677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65793" y="5615826"/>
            <a:ext cx="21209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10718" y="5411419"/>
            <a:ext cx="233045" cy="1189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7</a:t>
            </a:r>
            <a:endParaRPr sz="16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9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10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34370" y="4141343"/>
            <a:ext cx="541464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5" dirty="0">
                <a:latin typeface="Arial"/>
                <a:cs typeface="Arial"/>
              </a:rPr>
              <a:t>-</a:t>
            </a:r>
            <a:endParaRPr sz="2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96688" y="4453862"/>
            <a:ext cx="515239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19700"/>
              </a:lnSpc>
            </a:pPr>
            <a:r>
              <a:rPr sz="2050" dirty="0">
                <a:latin typeface="Arial"/>
                <a:cs typeface="Arial"/>
              </a:rPr>
              <a:t>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tro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79249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3809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20739" y="8296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8"/>
                </a:lnTo>
                <a:lnTo>
                  <a:pt x="20739" y="8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83809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0" y="0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54840" y="348593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8368" y="34859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0"/>
                </a:moveTo>
                <a:lnTo>
                  <a:pt x="746471" y="0"/>
                </a:lnTo>
                <a:lnTo>
                  <a:pt x="0" y="0"/>
                </a:lnTo>
                <a:lnTo>
                  <a:pt x="0" y="248820"/>
                </a:lnTo>
                <a:lnTo>
                  <a:pt x="746471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16476" y="3465234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86313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90950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90950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72197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76783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76783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47775" y="348593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01308" y="34859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59" h="248920">
                <a:moveTo>
                  <a:pt x="746467" y="248820"/>
                </a:moveTo>
                <a:lnTo>
                  <a:pt x="746467" y="0"/>
                </a:lnTo>
                <a:lnTo>
                  <a:pt x="0" y="0"/>
                </a:lnTo>
                <a:lnTo>
                  <a:pt x="0" y="248820"/>
                </a:lnTo>
                <a:lnTo>
                  <a:pt x="746467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734083" y="3383471"/>
            <a:ext cx="21209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09368" y="3465207"/>
            <a:ext cx="728345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  <a:p>
            <a:pPr marL="33020">
              <a:lnSpc>
                <a:spcPts val="2245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579249" y="392137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83809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20739" y="8296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8"/>
                </a:lnTo>
                <a:lnTo>
                  <a:pt x="20739" y="8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83809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0" y="0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54840" y="379699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31"/>
                </a:lnTo>
                <a:lnTo>
                  <a:pt x="0" y="248831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08368" y="379700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6"/>
                </a:moveTo>
                <a:lnTo>
                  <a:pt x="746471" y="0"/>
                </a:lnTo>
                <a:lnTo>
                  <a:pt x="0" y="0"/>
                </a:lnTo>
                <a:lnTo>
                  <a:pt x="0" y="248826"/>
                </a:lnTo>
                <a:lnTo>
                  <a:pt x="746471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086313" y="392137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90950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90950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86313" y="423240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90950" y="419097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90950" y="419097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716476" y="3776230"/>
            <a:ext cx="728345" cy="538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  <a:p>
            <a:pPr marL="53975">
              <a:lnSpc>
                <a:spcPts val="2285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464251" y="532169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25"/>
                </a:moveTo>
                <a:lnTo>
                  <a:pt x="746471" y="0"/>
                </a:lnTo>
                <a:lnTo>
                  <a:pt x="0" y="0"/>
                </a:lnTo>
                <a:lnTo>
                  <a:pt x="0" y="311025"/>
                </a:lnTo>
                <a:lnTo>
                  <a:pt x="746471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64251" y="501070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64251" y="4699678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64251" y="4388604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464251" y="407761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25"/>
                </a:moveTo>
                <a:lnTo>
                  <a:pt x="746471" y="0"/>
                </a:lnTo>
                <a:lnTo>
                  <a:pt x="0" y="0"/>
                </a:lnTo>
                <a:lnTo>
                  <a:pt x="0" y="311025"/>
                </a:lnTo>
                <a:lnTo>
                  <a:pt x="746471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64251" y="3766545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64251" y="345552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264941" y="3501174"/>
            <a:ext cx="129539" cy="2122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6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7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11326" y="851928"/>
            <a:ext cx="8473440" cy="2532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845435" algn="ctr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Class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ifi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Alunos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 10,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eguid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9,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096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aba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aga.</a:t>
            </a:r>
            <a:endParaRPr sz="2050">
              <a:latin typeface="Arial"/>
              <a:cs typeface="Arial"/>
            </a:endParaRPr>
          </a:p>
          <a:p>
            <a:pPr marR="2858770" algn="ctr">
              <a:lnSpc>
                <a:spcPct val="100000"/>
              </a:lnSpc>
              <a:spcBef>
                <a:spcPts val="630"/>
              </a:spcBef>
            </a:pPr>
            <a:r>
              <a:rPr sz="1600" spc="15" dirty="0">
                <a:latin typeface="Times New Roman"/>
                <a:cs typeface="Times New Roman"/>
              </a:rPr>
              <a:t>Cursos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21299" y="5888723"/>
            <a:ext cx="8527415" cy="1186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Se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aga,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1746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á a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04784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gundo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226695" marR="1205230">
              <a:lnSpc>
                <a:spcPct val="129700"/>
              </a:lnSpc>
              <a:spcBef>
                <a:spcPts val="1375"/>
              </a:spcBef>
            </a:pPr>
            <a:r>
              <a:rPr sz="1700" b="1" spc="5" dirty="0">
                <a:latin typeface="Arial"/>
                <a:cs typeface="Arial"/>
              </a:rPr>
              <a:t>int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a; </a:t>
            </a:r>
            <a:r>
              <a:rPr sz="1700" spc="10" dirty="0">
                <a:latin typeface="Arial"/>
                <a:cs typeface="Arial"/>
              </a:rPr>
              <a:t>TipoCh</a:t>
            </a:r>
            <a:r>
              <a:rPr sz="1700" spc="-25" dirty="0">
                <a:latin typeface="Arial"/>
                <a:cs typeface="Arial"/>
              </a:rPr>
              <a:t>a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Ch</a:t>
            </a:r>
            <a:r>
              <a:rPr sz="1700" spc="-25" dirty="0">
                <a:latin typeface="Arial"/>
                <a:cs typeface="Arial"/>
              </a:rPr>
              <a:t>a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5" dirty="0">
                <a:latin typeface="Arial"/>
                <a:cs typeface="Arial"/>
              </a:rPr>
              <a:t>e; lê n</a:t>
            </a:r>
            <a:r>
              <a:rPr sz="1700" spc="10" dirty="0">
                <a:latin typeface="Arial"/>
                <a:cs typeface="Arial"/>
              </a:rPr>
              <a:t>úmero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agas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pa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</a:t>
            </a:r>
            <a:r>
              <a:rPr sz="1700" spc="10" dirty="0">
                <a:latin typeface="Arial"/>
                <a:cs typeface="Arial"/>
              </a:rPr>
              <a:t>ada</a:t>
            </a:r>
            <a:r>
              <a:rPr sz="1700" spc="5" dirty="0">
                <a:latin typeface="Arial"/>
                <a:cs typeface="Arial"/>
              </a:rPr>
              <a:t> curso; inicializ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li</a:t>
            </a:r>
            <a:r>
              <a:rPr sz="1700" spc="5" dirty="0">
                <a:latin typeface="Arial"/>
                <a:cs typeface="Arial"/>
              </a:rPr>
              <a:t>stas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classif</a:t>
            </a:r>
            <a:r>
              <a:rPr sz="1700" dirty="0">
                <a:latin typeface="Arial"/>
                <a:cs typeface="Arial"/>
              </a:rPr>
              <a:t>ic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</a:t>
            </a:r>
            <a:r>
              <a:rPr sz="1700" spc="5" dirty="0">
                <a:latin typeface="Arial"/>
                <a:cs typeface="Arial"/>
              </a:rPr>
              <a:t>o,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repr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lê registro;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b="1" spc="10" dirty="0">
                <a:latin typeface="Arial"/>
                <a:cs typeface="Arial"/>
              </a:rPr>
              <a:t>w</a:t>
            </a:r>
            <a:r>
              <a:rPr sz="1700" b="1" spc="5" dirty="0">
                <a:latin typeface="Arial"/>
                <a:cs typeface="Arial"/>
              </a:rPr>
              <a:t>hile </a:t>
            </a:r>
            <a:r>
              <a:rPr sz="1700" spc="5" dirty="0">
                <a:latin typeface="Arial"/>
                <a:cs typeface="Arial"/>
              </a:rPr>
              <a:t>( </a:t>
            </a:r>
            <a:r>
              <a:rPr sz="1700" spc="10" dirty="0">
                <a:latin typeface="Arial"/>
                <a:cs typeface="Arial"/>
              </a:rPr>
              <a:t>Ch</a:t>
            </a:r>
            <a:r>
              <a:rPr sz="1700" spc="-25" dirty="0">
                <a:latin typeface="Arial"/>
                <a:cs typeface="Arial"/>
              </a:rPr>
              <a:t>a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90" dirty="0">
                <a:latin typeface="Tahoma"/>
                <a:cs typeface="Tahoma"/>
              </a:rPr>
              <a:t>!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100" dirty="0">
                <a:latin typeface="Tahoma"/>
                <a:cs typeface="Tahoma"/>
              </a:rPr>
              <a:t>=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-70" dirty="0">
                <a:latin typeface="Tahoma"/>
                <a:cs typeface="Tahoma"/>
              </a:rPr>
              <a:t>0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ins</a:t>
            </a:r>
            <a:r>
              <a:rPr sz="1700" spc="10" dirty="0">
                <a:latin typeface="Arial"/>
                <a:cs typeface="Arial"/>
              </a:rPr>
              <a:t>ere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nas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</a:t>
            </a:r>
            <a:r>
              <a:rPr sz="1700" spc="5" dirty="0">
                <a:latin typeface="Arial"/>
                <a:cs typeface="Arial"/>
              </a:rPr>
              <a:t>stas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classif</a:t>
            </a:r>
            <a:r>
              <a:rPr sz="1700" dirty="0">
                <a:latin typeface="Arial"/>
                <a:cs typeface="Arial"/>
              </a:rPr>
              <a:t>ic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</a:t>
            </a:r>
            <a:r>
              <a:rPr sz="1700" spc="5" dirty="0">
                <a:latin typeface="Arial"/>
                <a:cs typeface="Arial"/>
              </a:rPr>
              <a:t>o, c</a:t>
            </a:r>
            <a:r>
              <a:rPr sz="1700" spc="10" dirty="0">
                <a:latin typeface="Arial"/>
                <a:cs typeface="Arial"/>
              </a:rPr>
              <a:t>on</a:t>
            </a:r>
            <a:r>
              <a:rPr sz="1700" spc="-50" dirty="0">
                <a:latin typeface="Arial"/>
                <a:cs typeface="Arial"/>
              </a:rPr>
              <a:t>f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4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nota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5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na</a:t>
            </a:r>
            <a:r>
              <a:rPr sz="1700" spc="-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lê registro; }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b="1" spc="-30" dirty="0">
                <a:latin typeface="Arial"/>
                <a:cs typeface="Arial"/>
              </a:rPr>
              <a:t>f</a:t>
            </a:r>
            <a:r>
              <a:rPr sz="1700" b="1" spc="10" dirty="0">
                <a:latin typeface="Arial"/>
                <a:cs typeface="Arial"/>
              </a:rPr>
              <a:t>or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</a:t>
            </a:r>
            <a:r>
              <a:rPr sz="1700" spc="100" dirty="0">
                <a:latin typeface="Tahoma"/>
                <a:cs typeface="Tahoma"/>
              </a:rPr>
              <a:t>=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-75" dirty="0">
                <a:latin typeface="Tahoma"/>
                <a:cs typeface="Tahoma"/>
              </a:rPr>
              <a:t>1</a:t>
            </a:r>
            <a:r>
              <a:rPr sz="1700" spc="-70" dirty="0">
                <a:latin typeface="Tahoma"/>
                <a:cs typeface="Tahoma"/>
              </a:rPr>
              <a:t>0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</a:t>
            </a:r>
            <a:r>
              <a:rPr sz="1700" spc="-55" dirty="0">
                <a:latin typeface="Verdana"/>
                <a:cs typeface="Verdana"/>
              </a:rPr>
              <a:t>&gt;</a:t>
            </a:r>
            <a:r>
              <a:rPr sz="1700" spc="100" dirty="0">
                <a:latin typeface="Tahoma"/>
                <a:cs typeface="Tahoma"/>
              </a:rPr>
              <a:t>=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-75" dirty="0">
                <a:latin typeface="Tahoma"/>
                <a:cs typeface="Tahoma"/>
              </a:rPr>
              <a:t>0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</a:t>
            </a:r>
            <a:r>
              <a:rPr sz="1700" spc="-15" dirty="0">
                <a:latin typeface="Lucida Sans Unicode"/>
                <a:cs typeface="Lucida Sans Unicode"/>
              </a:rPr>
              <a:t>−−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b="1" spc="10" dirty="0">
                <a:latin typeface="Arial"/>
                <a:cs typeface="Arial"/>
              </a:rPr>
              <a:t>w</a:t>
            </a:r>
            <a:r>
              <a:rPr sz="1700" b="1" spc="5" dirty="0">
                <a:latin typeface="Arial"/>
                <a:cs typeface="Arial"/>
              </a:rPr>
              <a:t>hile </a:t>
            </a:r>
            <a:r>
              <a:rPr sz="1700" spc="5" dirty="0">
                <a:latin typeface="Arial"/>
                <a:cs typeface="Arial"/>
              </a:rPr>
              <a:t>( </a:t>
            </a:r>
            <a:r>
              <a:rPr sz="1700" spc="10" dirty="0">
                <a:latin typeface="Arial"/>
                <a:cs typeface="Arial"/>
              </a:rPr>
              <a:t>hou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5" dirty="0">
                <a:latin typeface="Arial"/>
                <a:cs typeface="Arial"/>
              </a:rPr>
              <a:t>er 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ó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mo</a:t>
            </a:r>
            <a:r>
              <a:rPr sz="1700" spc="5" dirty="0">
                <a:latin typeface="Arial"/>
                <a:cs typeface="Arial"/>
              </a:rPr>
              <a:t> 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</a:t>
            </a:r>
            <a:r>
              <a:rPr sz="1700" spc="15" dirty="0">
                <a:latin typeface="Arial"/>
                <a:cs typeface="Arial"/>
              </a:rPr>
              <a:t>om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spc="5" dirty="0">
                <a:latin typeface="Arial"/>
                <a:cs typeface="Arial"/>
              </a:rPr>
              <a:t>sm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NotaFinal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reti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</a:t>
            </a:r>
            <a:r>
              <a:rPr sz="1700" spc="5" dirty="0">
                <a:latin typeface="Arial"/>
                <a:cs typeface="Arial"/>
              </a:rPr>
              <a:t>sta;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sz="1700" b="1" spc="5" dirty="0">
                <a:latin typeface="Arial"/>
                <a:cs typeface="Arial"/>
              </a:rPr>
              <a:t>if 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ste 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aga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em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um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dos</a:t>
            </a:r>
            <a:r>
              <a:rPr sz="1700" spc="5" dirty="0">
                <a:latin typeface="Arial"/>
                <a:cs typeface="Arial"/>
              </a:rPr>
              <a:t> 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pç</a:t>
            </a:r>
            <a:r>
              <a:rPr sz="1700" spc="10" dirty="0">
                <a:latin typeface="Arial"/>
                <a:cs typeface="Arial"/>
              </a:rPr>
              <a:t>ão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do</a:t>
            </a:r>
            <a:r>
              <a:rPr sz="1700" spc="5" dirty="0">
                <a:latin typeface="Arial"/>
                <a:cs typeface="Arial"/>
              </a:rPr>
              <a:t> c</a:t>
            </a:r>
            <a:r>
              <a:rPr sz="1700" spc="10" dirty="0">
                <a:latin typeface="Arial"/>
                <a:cs typeface="Arial"/>
              </a:rPr>
              <a:t>andidato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ins</a:t>
            </a:r>
            <a:r>
              <a:rPr sz="1700" spc="10" dirty="0">
                <a:latin typeface="Arial"/>
                <a:cs typeface="Arial"/>
              </a:rPr>
              <a:t>ere</a:t>
            </a:r>
            <a:r>
              <a:rPr sz="1700" spc="5" dirty="0">
                <a:latin typeface="Arial"/>
                <a:cs typeface="Arial"/>
              </a:rPr>
              <a:t> 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na</a:t>
            </a:r>
            <a:r>
              <a:rPr sz="1700" dirty="0">
                <a:latin typeface="Arial"/>
                <a:cs typeface="Arial"/>
              </a:rPr>
              <a:t> li</a:t>
            </a:r>
            <a:r>
              <a:rPr sz="1700" spc="5" dirty="0">
                <a:latin typeface="Arial"/>
                <a:cs typeface="Arial"/>
              </a:rPr>
              <a:t>sta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</a:t>
            </a:r>
            <a:endParaRPr sz="1700">
              <a:latin typeface="Arial"/>
              <a:cs typeface="Arial"/>
            </a:endParaRPr>
          </a:p>
          <a:p>
            <a:pPr marR="678180" algn="ctr">
              <a:lnSpc>
                <a:spcPct val="100000"/>
              </a:lnSpc>
              <a:spcBef>
                <a:spcPts val="605"/>
              </a:spcBef>
            </a:pP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cre</a:t>
            </a:r>
            <a:r>
              <a:rPr sz="1700" spc="10" dirty="0">
                <a:latin typeface="Arial"/>
                <a:cs typeface="Arial"/>
              </a:rPr>
              <a:t>menta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 n</a:t>
            </a:r>
            <a:r>
              <a:rPr sz="1700" spc="10" dirty="0">
                <a:latin typeface="Arial"/>
                <a:cs typeface="Arial"/>
              </a:rPr>
              <a:t>úmero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agas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pa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aquele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curso;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869315" marR="2524125">
              <a:lnSpc>
                <a:spcPts val="2650"/>
              </a:lnSpc>
              <a:spcBef>
                <a:spcPts val="185"/>
              </a:spcBef>
            </a:pPr>
            <a:r>
              <a:rPr sz="1700" b="1" spc="10" dirty="0">
                <a:latin typeface="Arial"/>
                <a:cs typeface="Arial"/>
              </a:rPr>
              <a:t>else </a:t>
            </a:r>
            <a:r>
              <a:rPr sz="1700" spc="5" dirty="0">
                <a:latin typeface="Arial"/>
                <a:cs typeface="Arial"/>
              </a:rPr>
              <a:t>{ ins</a:t>
            </a:r>
            <a:r>
              <a:rPr sz="1700" spc="10" dirty="0">
                <a:latin typeface="Arial"/>
                <a:cs typeface="Arial"/>
              </a:rPr>
              <a:t>ere</a:t>
            </a:r>
            <a:r>
              <a:rPr sz="1700" spc="5" dirty="0">
                <a:latin typeface="Arial"/>
                <a:cs typeface="Arial"/>
              </a:rPr>
              <a:t> 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</a:t>
            </a:r>
            <a:r>
              <a:rPr sz="1700" spc="5" dirty="0">
                <a:latin typeface="Arial"/>
                <a:cs typeface="Arial"/>
              </a:rPr>
              <a:t>sta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repr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 }</a:t>
            </a:r>
            <a:r>
              <a:rPr sz="1700" spc="10" dirty="0">
                <a:latin typeface="Arial"/>
                <a:cs typeface="Arial"/>
              </a:rPr>
              <a:t> ob</a:t>
            </a:r>
            <a:r>
              <a:rPr sz="17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ém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pró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mo</a:t>
            </a:r>
            <a:r>
              <a:rPr sz="1700" spc="5" dirty="0">
                <a:latin typeface="Arial"/>
                <a:cs typeface="Arial"/>
              </a:rPr>
              <a:t> registro;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mp</a:t>
            </a:r>
            <a:r>
              <a:rPr sz="1700" spc="30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por</a:t>
            </a:r>
            <a:r>
              <a:rPr sz="1700" spc="5" dirty="0">
                <a:latin typeface="Arial"/>
                <a:cs typeface="Arial"/>
              </a:rPr>
              <a:t> curso;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mp</a:t>
            </a:r>
            <a:r>
              <a:rPr sz="1700" spc="30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spc="5" dirty="0">
                <a:latin typeface="Arial"/>
                <a:cs typeface="Arial"/>
              </a:rPr>
              <a:t> repr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34" y="851946"/>
            <a:ext cx="5311775" cy="6029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endParaRPr sz="1700">
              <a:latin typeface="Arial"/>
              <a:cs typeface="Arial"/>
            </a:endParaRPr>
          </a:p>
          <a:p>
            <a:pPr marL="15875" marR="2632075" indent="-3810">
              <a:lnSpc>
                <a:spcPts val="2650"/>
              </a:lnSpc>
              <a:spcBef>
                <a:spcPts val="18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7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shor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41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2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spc="20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4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40" dirty="0">
                <a:latin typeface="Arial"/>
                <a:cs typeface="Arial"/>
              </a:rPr>
              <a:t>a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 marR="2418080" indent="-215265">
              <a:lnSpc>
                <a:spcPts val="2650"/>
              </a:lnSpc>
              <a:spcBef>
                <a:spcPts val="18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 marR="1771650" indent="-215265">
              <a:lnSpc>
                <a:spcPts val="2650"/>
              </a:lnSpc>
              <a:spcBef>
                <a:spcPts val="18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51928"/>
            <a:ext cx="500697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(1)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71610" y="4838522"/>
            <a:ext cx="141478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0" dirty="0">
                <a:latin typeface="Arial"/>
                <a:cs typeface="Arial"/>
              </a:rPr>
              <a:t>13 </a:t>
            </a:r>
            <a:r>
              <a:rPr sz="1700" i="1" spc="-16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spc="-5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1</a:t>
            </a:r>
            <a:r>
              <a:rPr sz="1700" i="1" spc="65" dirty="0">
                <a:latin typeface="Arial"/>
                <a:cs typeface="Arial"/>
              </a:rPr>
              <a:t>4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-4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817" y="2744789"/>
            <a:ext cx="5917565" cy="2732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 marR="1162050" indent="13335">
              <a:lnSpc>
                <a:spcPct val="1297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660" dirty="0">
                <a:latin typeface="Lucida Sans Unicode"/>
                <a:cs typeface="Lucida Sans Unicode"/>
              </a:rPr>
              <a:t>∗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110" dirty="0">
                <a:latin typeface="Lucida Sans Unicode"/>
                <a:cs typeface="Lucida Sans Unicode"/>
              </a:rPr>
              <a:t>−</a:t>
            </a:r>
            <a:r>
              <a:rPr sz="1700" i="1" spc="-60" dirty="0">
                <a:latin typeface="Arial"/>
                <a:cs typeface="Arial"/>
              </a:rPr>
              <a:t>Entra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-35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0" dirty="0">
                <a:latin typeface="Arial"/>
                <a:cs typeface="Arial"/>
              </a:rPr>
              <a:t> </a:t>
            </a:r>
            <a:r>
              <a:rPr sz="1700" i="1" spc="100" dirty="0">
                <a:latin typeface="Arial"/>
                <a:cs typeface="Arial"/>
              </a:rPr>
              <a:t>tipo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i="1" spc="70" dirty="0">
                <a:latin typeface="Arial"/>
                <a:cs typeface="Arial"/>
              </a:rPr>
              <a:t>Slid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65" dirty="0">
                <a:latin typeface="Arial"/>
                <a:cs typeface="Arial"/>
              </a:rPr>
              <a:t>1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-4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 marR="2471420">
              <a:lnSpc>
                <a:spcPts val="2650"/>
              </a:lnSpc>
              <a:spcBef>
                <a:spcPts val="185"/>
              </a:spcBef>
            </a:pP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200" dirty="0">
                <a:latin typeface="Arial"/>
                <a:cs typeface="Arial"/>
              </a:rPr>
              <a:t>o</a:t>
            </a:r>
            <a:r>
              <a:rPr sz="1700" spc="150" dirty="0">
                <a:latin typeface="Arial"/>
                <a:cs typeface="Arial"/>
              </a:rPr>
              <a:t>[11]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10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2717165" algn="l"/>
                <a:tab pos="4319270" algn="l"/>
              </a:tabLst>
            </a:pP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-5" dirty="0">
                <a:latin typeface="Arial"/>
                <a:cs typeface="Arial"/>
              </a:rPr>
              <a:t>shor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50" dirty="0">
                <a:latin typeface="Arial"/>
                <a:cs typeface="Arial"/>
              </a:rPr>
              <a:t>u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660" dirty="0">
                <a:latin typeface="Lucida Sans Unicode"/>
                <a:cs typeface="Lucida Sans Unicode"/>
              </a:rPr>
              <a:t>∗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110" dirty="0">
                <a:latin typeface="Lucida Sans Unicode"/>
                <a:cs typeface="Lucida Sans Unicode"/>
              </a:rPr>
              <a:t>−</a:t>
            </a:r>
            <a:r>
              <a:rPr sz="1700" i="1" spc="-60" dirty="0">
                <a:latin typeface="Arial"/>
                <a:cs typeface="Arial"/>
              </a:rPr>
              <a:t>Entra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-35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75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operadore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sobr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 </a:t>
            </a:r>
            <a:r>
              <a:rPr sz="1700" i="1" dirty="0">
                <a:latin typeface="Arial"/>
                <a:cs typeface="Arial"/>
              </a:rPr>
              <a:t>l</a:t>
            </a:r>
            <a:r>
              <a:rPr sz="1700" i="1" spc="-310" dirty="0">
                <a:latin typeface="Arial"/>
                <a:cs typeface="Arial"/>
              </a:rPr>
              <a:t> </a:t>
            </a:r>
            <a:r>
              <a:rPr sz="1700" i="1" spc="165" dirty="0">
                <a:latin typeface="Arial"/>
                <a:cs typeface="Arial"/>
              </a:rPr>
              <a:t>ista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i="1" spc="-55" dirty="0">
                <a:latin typeface="Arial"/>
                <a:cs typeface="Arial"/>
              </a:rPr>
              <a:t>do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i="1" spc="55" dirty="0">
                <a:latin typeface="Arial"/>
                <a:cs typeface="Arial"/>
              </a:rPr>
              <a:t>Slide</a:t>
            </a:r>
            <a:r>
              <a:rPr sz="1700" i="1" spc="10" dirty="0">
                <a:latin typeface="Arial"/>
                <a:cs typeface="Arial"/>
              </a:rPr>
              <a:t>s</a:t>
            </a:r>
            <a:endParaRPr sz="17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LeR</a:t>
            </a:r>
            <a:r>
              <a:rPr sz="1700" spc="15" dirty="0">
                <a:latin typeface="Arial"/>
                <a:cs typeface="Arial"/>
              </a:rPr>
              <a:t>egistr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8471" y="5510822"/>
            <a:ext cx="7498080" cy="161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225">
              <a:lnSpc>
                <a:spcPct val="100000"/>
              </a:lnSpc>
              <a:tabLst>
                <a:tab pos="22415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805" dirty="0">
                <a:latin typeface="Lucida Sans Unicode"/>
                <a:cs typeface="Lucida Sans Unicode"/>
              </a:rPr>
              <a:t>∗</a:t>
            </a:r>
            <a:r>
              <a:rPr sz="1700" spc="-440" dirty="0">
                <a:latin typeface="Lucida Sans Unicode"/>
                <a:cs typeface="Lucida Sans Unicode"/>
              </a:rPr>
              <a:t>−−</a:t>
            </a:r>
            <a:r>
              <a:rPr sz="1700" spc="-270" dirty="0">
                <a:latin typeface="Lucida Sans Unicode"/>
                <a:cs typeface="Lucida Sans Unicode"/>
              </a:rPr>
              <a:t>−</a:t>
            </a:r>
            <a:r>
              <a:rPr sz="1700" i="1" spc="-35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05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valore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lido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deve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95" dirty="0">
                <a:latin typeface="Arial"/>
                <a:cs typeface="Arial"/>
              </a:rPr>
              <a:t> </a:t>
            </a:r>
            <a:r>
              <a:rPr sz="1700" i="1" spc="75" dirty="0">
                <a:latin typeface="Arial"/>
                <a:cs typeface="Arial"/>
              </a:rPr>
              <a:t>e</a:t>
            </a:r>
            <a:r>
              <a:rPr sz="1700" i="1" spc="70" dirty="0">
                <a:latin typeface="Arial"/>
                <a:cs typeface="Arial"/>
              </a:rPr>
              <a:t>sta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s</a:t>
            </a:r>
            <a:r>
              <a:rPr sz="1700" i="1" spc="-35" dirty="0">
                <a:latin typeface="Arial"/>
                <a:cs typeface="Arial"/>
              </a:rPr>
              <a:t>eparado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0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branco</a:t>
            </a:r>
            <a:r>
              <a:rPr sz="1700" i="1" spc="-290" dirty="0">
                <a:latin typeface="Arial"/>
                <a:cs typeface="Arial"/>
              </a:rPr>
              <a:t>s</a:t>
            </a:r>
            <a:r>
              <a:rPr sz="1700" spc="-509" dirty="0">
                <a:latin typeface="Lucida Sans Unicode"/>
                <a:cs typeface="Lucida Sans Unicode"/>
              </a:rPr>
              <a:t>−−</a:t>
            </a:r>
            <a:r>
              <a:rPr sz="1700" spc="-150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  <a:spcBef>
                <a:spcPts val="605"/>
              </a:spcBef>
              <a:tabLst>
                <a:tab pos="774700" algn="l"/>
              </a:tabLst>
            </a:pP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05"/>
              </a:spcBef>
            </a:pP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405" dirty="0">
                <a:latin typeface="Arial"/>
                <a:cs typeface="Arial"/>
              </a:rPr>
              <a:t>%</a:t>
            </a:r>
            <a:r>
              <a:rPr sz="1700" spc="-70" dirty="0">
                <a:latin typeface="Arial"/>
                <a:cs typeface="Arial"/>
              </a:rPr>
              <a:t>h</a:t>
            </a:r>
            <a:r>
              <a:rPr sz="1700" spc="-409" dirty="0">
                <a:latin typeface="Arial"/>
                <a:cs typeface="Arial"/>
              </a:rPr>
              <a:t>d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65" dirty="0">
                <a:latin typeface="Arial"/>
                <a:cs typeface="Arial"/>
              </a:rPr>
              <a:t>d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Chav</a:t>
            </a:r>
            <a:r>
              <a:rPr sz="1700" spc="-10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  <a:tabLst>
                <a:tab pos="955675" algn="l"/>
                <a:tab pos="1524635" algn="l"/>
                <a:tab pos="1706245" algn="l"/>
                <a:tab pos="326072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65" dirty="0">
                <a:latin typeface="Arial"/>
                <a:cs typeface="Arial"/>
              </a:rPr>
              <a:t>d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94600" y="1452347"/>
          <a:ext cx="3080660" cy="1354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3214"/>
                <a:gridCol w="1576790"/>
                <a:gridCol w="670656"/>
              </a:tblGrid>
              <a:tr h="34089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ES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3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3615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NCURS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3615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spc="-14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ALSE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4089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700" spc="-7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UE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271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681470" cy="5066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(2)</a:t>
            </a:r>
            <a:endParaRPr sz="245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2220"/>
              </a:spcBef>
              <a:tabLst>
                <a:tab pos="24130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805" dirty="0">
                <a:latin typeface="Lucida Sans Unicode"/>
                <a:cs typeface="Lucida Sans Unicode"/>
              </a:rPr>
              <a:t>∗</a:t>
            </a:r>
            <a:r>
              <a:rPr sz="1700" spc="-440" dirty="0">
                <a:latin typeface="Lucida Sans Unicode"/>
                <a:cs typeface="Lucida Sans Unicode"/>
              </a:rPr>
              <a:t>−−</a:t>
            </a:r>
            <a:r>
              <a:rPr sz="1700" spc="-320" dirty="0">
                <a:latin typeface="Lucida Sans Unicode"/>
                <a:cs typeface="Lucida Sans Unicode"/>
              </a:rPr>
              <a:t>−</a:t>
            </a:r>
            <a:r>
              <a:rPr sz="1700" i="1" spc="-80" dirty="0">
                <a:latin typeface="Arial"/>
                <a:cs typeface="Arial"/>
              </a:rPr>
              <a:t>Program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110" dirty="0">
                <a:latin typeface="Arial"/>
                <a:cs typeface="Arial"/>
              </a:rPr>
              <a:t>principa</a:t>
            </a:r>
            <a:r>
              <a:rPr sz="1700" i="1" spc="-35" dirty="0">
                <a:latin typeface="Arial"/>
                <a:cs typeface="Arial"/>
              </a:rPr>
              <a:t>l</a:t>
            </a:r>
            <a:r>
              <a:rPr sz="1700" spc="-509" dirty="0">
                <a:latin typeface="Lucida Sans Unicode"/>
                <a:cs typeface="Lucida Sans Unicode"/>
              </a:rPr>
              <a:t>−−</a:t>
            </a:r>
            <a:r>
              <a:rPr sz="1700" spc="-150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8600" marR="5080" indent="5080">
              <a:lnSpc>
                <a:spcPts val="2720"/>
              </a:lnSpc>
              <a:spcBef>
                <a:spcPts val="200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"%</a:t>
            </a:r>
            <a:r>
              <a:rPr sz="1700" spc="114" dirty="0">
                <a:latin typeface="Arial"/>
                <a:cs typeface="Arial"/>
              </a:rPr>
              <a:t>l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&amp;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0" dirty="0">
                <a:latin typeface="Lucida Sans Unicode"/>
                <a:cs typeface="Lucida Sans Unicode"/>
              </a:rPr>
              <a:t>−</a:t>
            </a:r>
            <a:r>
              <a:rPr sz="1700" spc="70" dirty="0">
                <a:latin typeface="Arial"/>
                <a:cs typeface="Arial"/>
              </a:rPr>
              <a:t>1]</a:t>
            </a:r>
            <a:r>
              <a:rPr sz="1700" spc="6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"</a:t>
            </a:r>
            <a:r>
              <a:rPr sz="1700" spc="20" dirty="0">
                <a:latin typeface="Arial"/>
                <a:cs typeface="Arial"/>
              </a:rPr>
              <a:t>%</a:t>
            </a:r>
            <a:r>
              <a:rPr sz="1700" spc="-490" dirty="0">
                <a:latin typeface="Lucida Sans Unicode"/>
                <a:cs typeface="Lucida Sans Unicode"/>
              </a:rPr>
              <a:t>∗</a:t>
            </a:r>
            <a:r>
              <a:rPr sz="1700" spc="15" dirty="0">
                <a:latin typeface="Arial"/>
                <a:cs typeface="Arial"/>
              </a:rPr>
              <a:t>[^</a:t>
            </a:r>
            <a:r>
              <a:rPr sz="1700" spc="-40" dirty="0">
                <a:latin typeface="Arial"/>
                <a:cs typeface="Arial"/>
              </a:rPr>
              <a:t>\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470"/>
              </a:spcBef>
            </a:pPr>
            <a:r>
              <a:rPr sz="1700" spc="25" dirty="0">
                <a:latin typeface="Arial"/>
                <a:cs typeface="Arial"/>
              </a:rPr>
              <a:t>getcha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675"/>
              </a:spcBef>
              <a:tabLst>
                <a:tab pos="972819" algn="l"/>
                <a:tab pos="154178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10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-5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50" dirty="0">
                <a:latin typeface="Arial"/>
                <a:cs typeface="Arial"/>
              </a:rPr>
              <a:t>&amp;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345" marR="111760" indent="13335">
              <a:lnSpc>
                <a:spcPts val="2720"/>
              </a:lnSpc>
              <a:spcBef>
                <a:spcPts val="200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-5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-65" dirty="0">
                <a:latin typeface="Arial"/>
                <a:cs typeface="Arial"/>
              </a:rPr>
              <a:t>&amp;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0" dirty="0">
                <a:latin typeface="Lucida Sans Unicode"/>
                <a:cs typeface="Lucida Sans Unicode"/>
              </a:rPr>
              <a:t>−</a:t>
            </a:r>
            <a:r>
              <a:rPr sz="1700" spc="70" dirty="0">
                <a:latin typeface="Arial"/>
                <a:cs typeface="Arial"/>
              </a:rPr>
              <a:t>1]</a:t>
            </a:r>
            <a:r>
              <a:rPr sz="1700" spc="6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-5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&amp;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40" dirty="0">
                <a:latin typeface="Arial"/>
                <a:cs typeface="Arial"/>
              </a:rPr>
              <a:t>s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470"/>
              </a:spcBef>
            </a:pPr>
            <a:r>
              <a:rPr sz="1700" spc="20" dirty="0">
                <a:latin typeface="Arial"/>
                <a:cs typeface="Arial"/>
              </a:rPr>
              <a:t>LeR</a:t>
            </a:r>
            <a:r>
              <a:rPr sz="1700" spc="15" dirty="0">
                <a:latin typeface="Arial"/>
                <a:cs typeface="Arial"/>
              </a:rPr>
              <a:t>egistr</a:t>
            </a:r>
            <a:r>
              <a:rPr sz="1700" spc="5" dirty="0">
                <a:latin typeface="Arial"/>
                <a:cs typeface="Arial"/>
              </a:rPr>
              <a:t>o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656590" marR="371475" indent="3175">
              <a:lnSpc>
                <a:spcPts val="2720"/>
              </a:lnSpc>
              <a:spcBef>
                <a:spcPts val="200"/>
              </a:spcBef>
            </a:pP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20" dirty="0">
                <a:latin typeface="Arial"/>
                <a:cs typeface="Arial"/>
              </a:rPr>
              <a:t>LeR</a:t>
            </a:r>
            <a:r>
              <a:rPr sz="1700" spc="15" dirty="0">
                <a:latin typeface="Arial"/>
                <a:cs typeface="Arial"/>
              </a:rPr>
              <a:t>egistr</a:t>
            </a:r>
            <a:r>
              <a:rPr sz="1700" spc="5" dirty="0">
                <a:latin typeface="Arial"/>
                <a:cs typeface="Arial"/>
              </a:rPr>
              <a:t>o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80120" cy="6564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(3)</a:t>
            </a:r>
            <a:endParaRPr sz="245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1850"/>
              </a:spcBef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10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Not</a:t>
            </a:r>
            <a:r>
              <a:rPr sz="1700" spc="-225" dirty="0">
                <a:latin typeface="Arial"/>
                <a:cs typeface="Arial"/>
              </a:rPr>
              <a:t>a</a:t>
            </a:r>
            <a:r>
              <a:rPr sz="1700" spc="-305" dirty="0">
                <a:latin typeface="Lucida Sans Unicode"/>
                <a:cs typeface="Lucida Sans Unicode"/>
              </a:rPr>
              <a:t>−</a:t>
            </a:r>
            <a:r>
              <a:rPr sz="1700" spc="-16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113155" marR="15240" indent="-217170">
              <a:lnSpc>
                <a:spcPct val="121900"/>
              </a:lnSpc>
              <a:tabLst>
                <a:tab pos="1294765" algn="l"/>
                <a:tab pos="192849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[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i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F</a:t>
            </a:r>
            <a:r>
              <a:rPr sz="1700" spc="10" dirty="0">
                <a:latin typeface="Arial"/>
                <a:cs typeface="Arial"/>
              </a:rPr>
              <a:t>ALSE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67410">
              <a:lnSpc>
                <a:spcPct val="100000"/>
              </a:lnSpc>
              <a:spcBef>
                <a:spcPts val="44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!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45" dirty="0">
                <a:latin typeface="Arial"/>
                <a:cs typeface="Arial"/>
              </a:rPr>
              <a:t>u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110615">
              <a:lnSpc>
                <a:spcPct val="100000"/>
              </a:lnSpc>
              <a:spcBef>
                <a:spcPts val="445"/>
              </a:spcBef>
              <a:tabLst>
                <a:tab pos="1324610" algn="l"/>
                <a:tab pos="162687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.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45" dirty="0">
                <a:latin typeface="Lucida Sans Unicode"/>
                <a:cs typeface="Lucida Sans Unicode"/>
              </a:rPr>
              <a:t>−</a:t>
            </a:r>
            <a:r>
              <a:rPr sz="1700" spc="7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60" dirty="0">
                <a:latin typeface="Lucida Sans Unicode"/>
                <a:cs typeface="Lucida Sans Unicode"/>
              </a:rPr>
              <a:t> </a:t>
            </a:r>
            <a:r>
              <a:rPr sz="1700" spc="7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497965" marR="1283335" indent="-173990">
              <a:lnSpc>
                <a:spcPct val="121900"/>
              </a:lnSpc>
              <a:tabLst>
                <a:tab pos="524954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&amp;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.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50" dirty="0">
                <a:latin typeface="Lucida Sans Unicode"/>
                <a:cs typeface="Lucida Sans Unicode"/>
              </a:rPr>
              <a:t>−</a:t>
            </a:r>
            <a:r>
              <a:rPr sz="1700" spc="7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85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1])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.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1]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6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1]</a:t>
            </a:r>
            <a:r>
              <a:rPr sz="1700" spc="-20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</a:t>
            </a:r>
            <a:r>
              <a:rPr sz="1700" spc="-55" dirty="0">
                <a:latin typeface="Arial"/>
                <a:cs typeface="Arial"/>
              </a:rPr>
              <a:t>R</a:t>
            </a:r>
            <a:r>
              <a:rPr sz="1700" spc="15" dirty="0">
                <a:latin typeface="Arial"/>
                <a:cs typeface="Arial"/>
              </a:rPr>
              <a:t>U</a:t>
            </a:r>
            <a:r>
              <a:rPr sz="1700" spc="1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508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327150">
              <a:lnSpc>
                <a:spcPct val="100000"/>
              </a:lnSpc>
              <a:spcBef>
                <a:spcPts val="445"/>
              </a:spcBef>
            </a:pPr>
            <a:r>
              <a:rPr sz="1700" dirty="0">
                <a:latin typeface="Arial"/>
                <a:cs typeface="Arial"/>
              </a:rPr>
              <a:t>i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10045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896619">
              <a:lnSpc>
                <a:spcPct val="100000"/>
              </a:lnSpc>
              <a:spcBef>
                <a:spcPts val="445"/>
              </a:spcBef>
              <a:tabLst>
                <a:tab pos="120777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20" dirty="0">
                <a:latin typeface="Arial"/>
                <a:cs typeface="Arial"/>
              </a:rPr>
              <a:t>u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&amp;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40" dirty="0">
                <a:latin typeface="Arial"/>
                <a:cs typeface="Arial"/>
              </a:rPr>
              <a:t>s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6460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445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 marR="5080" indent="111125">
              <a:lnSpc>
                <a:spcPct val="121900"/>
              </a:lnSpc>
              <a:tabLst>
                <a:tab pos="570230" algn="l"/>
                <a:tab pos="418592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"</a:t>
            </a:r>
            <a:r>
              <a:rPr sz="1700" spc="-45" dirty="0">
                <a:latin typeface="Arial"/>
                <a:cs typeface="Arial"/>
              </a:rPr>
              <a:t>Relaca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apro</a:t>
            </a:r>
            <a:r>
              <a:rPr sz="1700" spc="-40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Curs</a:t>
            </a:r>
            <a:r>
              <a:rPr sz="1700" spc="-400" dirty="0">
                <a:latin typeface="Arial"/>
                <a:cs typeface="Arial"/>
              </a:rPr>
              <a:t>o</a:t>
            </a:r>
            <a:r>
              <a:rPr sz="1700" spc="-215" dirty="0">
                <a:latin typeface="Arial"/>
                <a:cs typeface="Arial"/>
              </a:rPr>
              <a:t>%</a:t>
            </a:r>
            <a:r>
              <a:rPr sz="1700" spc="114" dirty="0">
                <a:latin typeface="Arial"/>
                <a:cs typeface="Arial"/>
              </a:rPr>
              <a:t>l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75" dirty="0">
                <a:latin typeface="Arial"/>
                <a:cs typeface="Arial"/>
              </a:rPr>
              <a:t>(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10" dirty="0">
                <a:latin typeface="Lucida Sans Unicode"/>
                <a:cs typeface="Lucida Sans Unicode"/>
              </a:rPr>
              <a:t>−</a:t>
            </a:r>
            <a:r>
              <a:rPr sz="1700" spc="130" dirty="0">
                <a:latin typeface="Arial"/>
                <a:cs typeface="Arial"/>
              </a:rPr>
              <a:t>1])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"</a:t>
            </a:r>
            <a:r>
              <a:rPr sz="1700" spc="-45" dirty="0">
                <a:latin typeface="Arial"/>
                <a:cs typeface="Arial"/>
              </a:rPr>
              <a:t>Relaca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reprovado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35" dirty="0">
                <a:latin typeface="Arial"/>
                <a:cs typeface="Arial"/>
              </a:rPr>
              <a:t>s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44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251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1920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8763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po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abst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ato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dado</a:t>
            </a:r>
            <a:r>
              <a:rPr sz="2050" b="1" spc="5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a-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apida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dire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à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ódig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Esse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00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50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0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24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reqüen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ô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ep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176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Aplicaç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5080" indent="-250825">
              <a:lnSpc>
                <a:spcPct val="120900"/>
              </a:lnSpc>
              <a:spcBef>
                <a:spcPts val="13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iedade:</a:t>
            </a:r>
            <a:r>
              <a:rPr sz="1850" spc="12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úl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(“</a:t>
            </a:r>
            <a:r>
              <a:rPr sz="1850" spc="10" dirty="0">
                <a:latin typeface="Arial"/>
                <a:cs typeface="Arial"/>
              </a:rPr>
              <a:t>las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in, </a:t>
            </a:r>
            <a:r>
              <a:rPr sz="1850" spc="5" dirty="0">
                <a:latin typeface="Arial"/>
                <a:cs typeface="Arial"/>
              </a:rPr>
              <a:t>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”).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linear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menos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”.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ideal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undidade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 marL="484505" marR="28257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ém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iga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adiada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20" dirty="0">
                <a:latin typeface="Arial"/>
                <a:cs typeface="Arial"/>
              </a:rPr>
              <a:t>emo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 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0" dirty="0">
                <a:latin typeface="Arial"/>
                <a:cs typeface="Arial"/>
              </a:rPr>
              <a:t>Aplic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852169" marR="102235" lvl="1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aminhar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gua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cois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ole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ubp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sin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mé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43510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v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024"/>
            <a:ext cx="8731250" cy="586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3975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anho(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3464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ar</a:t>
            </a:r>
            <a:r>
              <a:rPr sz="2050" i="1" spc="-20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anjo</a:t>
            </a:r>
            <a:r>
              <a:rPr sz="2050" i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apon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adore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1353" y="862672"/>
            <a:ext cx="8689975" cy="5581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613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top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850">
              <a:latin typeface="Times New Roman"/>
              <a:cs typeface="Times New Roman"/>
            </a:endParaRPr>
          </a:p>
          <a:p>
            <a:pPr marL="1323975" algn="ctr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  <a:p>
            <a:pPr marR="1384300" algn="ct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382270" algn="ctr">
              <a:lnSpc>
                <a:spcPct val="100000"/>
              </a:lnSpc>
              <a:spcBef>
                <a:spcPts val="229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  <a:p>
            <a:pPr marL="3405504" marR="4416425" indent="372745">
              <a:lnSpc>
                <a:spcPct val="2868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 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4965" y="3864038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935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2398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4965" y="6492260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551" y="4173963"/>
          <a:ext cx="1252829" cy="2248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29"/>
              </a:tblGrid>
              <a:tr h="315468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74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716010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marR="2279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15875" marR="5925820" indent="-3810">
              <a:lnSpc>
                <a:spcPct val="129800"/>
              </a:lnSpc>
              <a:spcBef>
                <a:spcPts val="182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1140" marR="588137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240780" cy="2396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30" y="3618408"/>
            <a:ext cx="4514215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31457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MaxTa</a:t>
            </a:r>
            <a:r>
              <a:rPr sz="1700" spc="-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419" y="3954526"/>
            <a:ext cx="22364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302" y="4290721"/>
            <a:ext cx="6988175" cy="262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  <a:tabLst>
                <a:tab pos="988060" algn="l"/>
                <a:tab pos="27019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9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2288540" algn="l"/>
                <a:tab pos="37782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51657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10" dirty="0">
                <a:latin typeface="Lucida Sans Unicode"/>
                <a:cs typeface="Lucida Sans Unicode"/>
              </a:rPr>
              <a:t> </a:t>
            </a:r>
            <a:r>
              <a:rPr sz="1700" spc="14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68858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0" y="1828390"/>
            <a:ext cx="4294505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Há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baseline="-12345" dirty="0">
                <a:latin typeface="Verdana"/>
                <a:cs typeface="Verdana"/>
              </a:rPr>
              <a:t> </a:t>
            </a:r>
            <a:r>
              <a:rPr sz="2025" i="1" spc="-15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82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- 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38045" y="5656376"/>
            <a:ext cx="73025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Ca</a:t>
            </a:r>
            <a:r>
              <a:rPr sz="1850" spc="10" dirty="0">
                <a:latin typeface="Times New Roman"/>
                <a:cs typeface="Times New Roman"/>
              </a:rPr>
              <a:t>b</a:t>
            </a:r>
            <a:r>
              <a:rPr sz="1850" spc="15" dirty="0">
                <a:latin typeface="Times New Roman"/>
                <a:cs typeface="Times New Roman"/>
              </a:rPr>
              <a:t>eça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5075" y="5251970"/>
            <a:ext cx="51180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7079" y="5208854"/>
            <a:ext cx="33655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u="sng" spc="5" dirty="0">
                <a:latin typeface="Times New Roman"/>
                <a:cs typeface="Times New Roman"/>
              </a:rPr>
              <a:t> </a:t>
            </a:r>
            <a:r>
              <a:rPr sz="1700" u="sng" spc="-130" dirty="0">
                <a:latin typeface="Times New Roman"/>
                <a:cs typeface="Times New Roman"/>
              </a:rPr>
              <a:t> </a:t>
            </a:r>
            <a:r>
              <a:rPr sz="1700" u="sng" spc="210" dirty="0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2879" y="2763672"/>
            <a:ext cx="102108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10" dirty="0">
                <a:latin typeface="Times New Roman"/>
                <a:cs typeface="Times New Roman"/>
              </a:rPr>
              <a:t>und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2550" u="sng" spc="7" baseline="16339" dirty="0">
                <a:latin typeface="Times New Roman"/>
                <a:cs typeface="Times New Roman"/>
              </a:rPr>
              <a:t> </a:t>
            </a:r>
            <a:r>
              <a:rPr sz="2550" u="sng" spc="-195" baseline="16339" dirty="0">
                <a:latin typeface="Times New Roman"/>
                <a:cs typeface="Times New Roman"/>
              </a:rPr>
              <a:t> </a:t>
            </a:r>
            <a:r>
              <a:rPr sz="2550" u="sng" spc="315" baseline="16339" dirty="0">
                <a:latin typeface="Meiryo UI"/>
                <a:cs typeface="Meiryo UI"/>
              </a:rPr>
              <a:t>✲</a:t>
            </a:r>
            <a:endParaRPr sz="2550" baseline="16339">
              <a:latin typeface="Meiryo UI"/>
              <a:cs typeface="Meiryo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68755" y="4331652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73149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69136" y="4290302"/>
            <a:ext cx="27495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endParaRPr sz="2025" baseline="-12345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26004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68755" y="4651578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10638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66098" y="4180484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99654" y="4180547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>
                <a:moveTo>
                  <a:pt x="0" y="0"/>
                </a:moveTo>
                <a:lnTo>
                  <a:pt x="46657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99627" y="3931767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386954" y="3934562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55864" y="3428555"/>
            <a:ext cx="85725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470" dirty="0">
                <a:latin typeface="Times New Roman"/>
                <a:cs typeface="Times New Roman"/>
              </a:rPr>
              <a:t>.</a:t>
            </a:r>
            <a:r>
              <a:rPr sz="2775" spc="7" baseline="-21021" dirty="0">
                <a:latin typeface="Times New Roman"/>
                <a:cs typeface="Times New Roman"/>
              </a:rPr>
              <a:t>.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5864" y="3603434"/>
            <a:ext cx="8572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99627" y="3247453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86954" y="3250248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68755" y="2776473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73149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169135" y="2735098"/>
            <a:ext cx="255270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endParaRPr sz="2025" baseline="-12345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026004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68755" y="3096285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10638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66098" y="2438780"/>
            <a:ext cx="0" cy="497840"/>
          </a:xfrm>
          <a:custGeom>
            <a:avLst/>
            <a:gdLst/>
            <a:ahLst/>
            <a:cxnLst/>
            <a:rect l="l" t="t" r="r" b="b"/>
            <a:pathLst>
              <a:path h="497839">
                <a:moveTo>
                  <a:pt x="0" y="49766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853527" y="244157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97964" y="2079358"/>
            <a:ext cx="27876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nil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54647" y="208885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5904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1367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54647" y="596122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768749" y="4802504"/>
          <a:ext cx="1252853" cy="1088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478"/>
                <a:gridCol w="311010"/>
                <a:gridCol w="155460"/>
                <a:gridCol w="159905"/>
              </a:tblGrid>
              <a:tr h="311175">
                <a:tc>
                  <a:txBody>
                    <a:bodyPr/>
                    <a:lstStyle/>
                    <a:p>
                      <a:endParaRPr sz="2600" baseline="16339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✻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9080">
                <a:tc gridSpan="3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rowSpan="2" gridSpan="2">
                  <a:txBody>
                    <a:bodyPr/>
                    <a:lstStyle/>
                    <a:p>
                      <a:pPr>
                        <a:lnSpc>
                          <a:spcPts val="1964"/>
                        </a:lnSpc>
                      </a:pP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dirty="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908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1" y="851928"/>
            <a:ext cx="599122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8" y="1619221"/>
            <a:ext cx="3548379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142" y="1738402"/>
            <a:ext cx="4398645" cy="475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7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39763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Fund</a:t>
            </a:r>
            <a:r>
              <a:rPr sz="1700" spc="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28"/>
            <a:ext cx="6887845" cy="6492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8125" marR="570865" indent="-19494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70" dirty="0">
                <a:latin typeface="Arial"/>
                <a:cs typeface="Arial"/>
              </a:rPr>
              <a:t>&gt;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3993515">
              <a:lnSpc>
                <a:spcPct val="129700"/>
              </a:lnSpc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1427480" indent="-20955">
              <a:lnSpc>
                <a:spcPts val="2650"/>
              </a:lnSpc>
              <a:spcBef>
                <a:spcPts val="18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4743450">
              <a:lnSpc>
                <a:spcPts val="2650"/>
              </a:lnSpc>
              <a:spcBef>
                <a:spcPts val="18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15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688784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894" y="2332380"/>
            <a:ext cx="51244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l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st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2301" y="2332380"/>
            <a:ext cx="21323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425" y="2246365"/>
            <a:ext cx="3660140" cy="173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3655">
              <a:lnSpc>
                <a:spcPct val="133200"/>
              </a:lnSpc>
              <a:tabLst>
                <a:tab pos="348615" algn="l"/>
                <a:tab pos="229171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7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85" dirty="0">
                <a:latin typeface="Arial"/>
                <a:cs typeface="Arial"/>
              </a:rPr>
              <a:t>&gt;</a:t>
            </a:r>
            <a:r>
              <a:rPr sz="1700" spc="-20" dirty="0">
                <a:latin typeface="Arial"/>
                <a:cs typeface="Arial"/>
              </a:rPr>
              <a:t>Pro</a:t>
            </a:r>
            <a:r>
              <a:rPr sz="1700" spc="-21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  <a:tabLst>
                <a:tab pos="1097915" algn="l"/>
              </a:tabLst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20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0" dirty="0">
                <a:latin typeface="Arial"/>
                <a:cs typeface="Arial"/>
              </a:rPr>
              <a:t>&gt;</a:t>
            </a:r>
            <a:r>
              <a:rPr sz="1700" spc="-145" dirty="0">
                <a:latin typeface="Arial"/>
                <a:cs typeface="Arial"/>
              </a:rPr>
              <a:t>Tamanh</a:t>
            </a:r>
            <a:r>
              <a:rPr sz="1700" spc="-420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915" y="4057435"/>
            <a:ext cx="2994660" cy="1305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.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50"/>
            <a:ext cx="8737600" cy="5981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Edi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or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-2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xt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(E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T)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8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”: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spc="10" dirty="0">
                <a:latin typeface="Arial"/>
                <a:cs typeface="Arial"/>
              </a:rPr>
              <a:t>celar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UEM##FMB#G</a:t>
            </a:r>
            <a:endParaRPr sz="18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59"/>
              </a:spcBef>
            </a:pPr>
            <a:r>
              <a:rPr sz="1850" spc="145" dirty="0">
                <a:latin typeface="Lucida Sans Unicode"/>
                <a:cs typeface="Lucida Sans Unicode"/>
              </a:rPr>
              <a:t>→</a:t>
            </a:r>
            <a:r>
              <a:rPr sz="1850" spc="-65" dirty="0">
                <a:latin typeface="Lucida Sans Unicode"/>
                <a:cs typeface="Lucida Sans Unicode"/>
              </a:rPr>
              <a:t> </a:t>
            </a:r>
            <a:r>
              <a:rPr sz="1850" spc="20" dirty="0">
                <a:latin typeface="Arial"/>
                <a:cs typeface="Arial"/>
              </a:rPr>
              <a:t>UFMG.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20" dirty="0">
                <a:latin typeface="Courier New"/>
                <a:cs typeface="Courier New"/>
              </a:rPr>
              <a:t>\</a:t>
            </a:r>
            <a:r>
              <a:rPr sz="1850" spc="5" dirty="0">
                <a:latin typeface="Arial"/>
                <a:cs typeface="Arial"/>
              </a:rPr>
              <a:t>”: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484505" marR="206375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0" dirty="0">
                <a:latin typeface="Arial"/>
                <a:cs typeface="Arial"/>
              </a:rPr>
              <a:t>*</a:t>
            </a:r>
            <a:r>
              <a:rPr sz="1850" spc="5" dirty="0">
                <a:latin typeface="Arial"/>
                <a:cs typeface="Arial"/>
              </a:rPr>
              <a:t>”: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linha.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20" dirty="0">
                <a:latin typeface="Arial"/>
                <a:cs typeface="Arial"/>
              </a:rPr>
              <a:t>mp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10" dirty="0">
                <a:latin typeface="Arial"/>
                <a:cs typeface="Arial"/>
              </a:rPr>
              <a:t> 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inic</a:t>
            </a:r>
            <a:r>
              <a:rPr sz="1850" spc="15" dirty="0">
                <a:latin typeface="Arial"/>
                <a:cs typeface="Arial"/>
              </a:rPr>
              <a:t>iando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-15" dirty="0">
                <a:latin typeface="Arial"/>
                <a:cs typeface="Arial"/>
              </a:rPr>
              <a:t>o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ir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 imedia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eguin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linha.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DCC</a:t>
            </a:r>
            <a:r>
              <a:rPr sz="1850" spc="10" dirty="0">
                <a:latin typeface="Arial"/>
                <a:cs typeface="Arial"/>
              </a:rPr>
              <a:t>*</a:t>
            </a: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FMG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10" dirty="0">
                <a:latin typeface="Arial"/>
                <a:cs typeface="Arial"/>
              </a:rPr>
              <a:t>*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45" dirty="0">
                <a:latin typeface="Lucida Sans Unicode"/>
                <a:cs typeface="Lucida Sans Unicode"/>
              </a:rPr>
              <a:t>→</a:t>
            </a:r>
            <a:r>
              <a:rPr sz="1850" spc="-65" dirty="0">
                <a:latin typeface="Lucida Sans Unicode"/>
                <a:cs typeface="Lucida Sans Unicode"/>
              </a:rPr>
              <a:t> </a:t>
            </a:r>
            <a:r>
              <a:rPr sz="1850" spc="20" dirty="0">
                <a:latin typeface="Arial"/>
                <a:cs typeface="Arial"/>
              </a:rPr>
              <a:t>DC</a:t>
            </a:r>
            <a:r>
              <a:rPr sz="1850" spc="25" dirty="0">
                <a:latin typeface="Arial"/>
                <a:cs typeface="Arial"/>
              </a:rPr>
              <a:t>C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UFMG.</a:t>
            </a:r>
            <a:endParaRPr sz="1850">
              <a:latin typeface="Arial"/>
              <a:cs typeface="Arial"/>
            </a:endParaRPr>
          </a:p>
          <a:p>
            <a:pPr marL="484505" marR="832485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-114" dirty="0">
                <a:latin typeface="Arial"/>
                <a:cs typeface="Arial"/>
              </a:rPr>
              <a:t>V</a:t>
            </a:r>
            <a:r>
              <a:rPr sz="1850" spc="20" dirty="0">
                <a:latin typeface="Arial"/>
                <a:cs typeface="Arial"/>
              </a:rPr>
              <a:t>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10" dirty="0">
                <a:latin typeface="Arial"/>
                <a:cs typeface="Arial"/>
              </a:rPr>
              <a:t>T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ET)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cei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ês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20" dirty="0">
                <a:latin typeface="Arial"/>
                <a:cs typeface="Arial"/>
              </a:rPr>
              <a:t>omandos</a:t>
            </a:r>
            <a:r>
              <a:rPr sz="1850" spc="15" dirty="0">
                <a:latin typeface="Arial"/>
                <a:cs typeface="Arial"/>
              </a:rPr>
              <a:t> 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ima.</a:t>
            </a:r>
            <a:endParaRPr sz="1850">
              <a:latin typeface="Arial"/>
              <a:cs typeface="Arial"/>
            </a:endParaRPr>
          </a:p>
          <a:p>
            <a:pPr marL="484505" marR="304800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ET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ez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odu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5" dirty="0">
                <a:latin typeface="Arial"/>
                <a:cs typeface="Arial"/>
              </a:rPr>
              <a:t>ir </a:t>
            </a:r>
            <a:r>
              <a:rPr sz="1850" spc="15" dirty="0">
                <a:latin typeface="Arial"/>
                <a:cs typeface="Arial"/>
              </a:rPr>
              <a:t>a 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linha,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má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70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 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8859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ET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po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abs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ra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de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dados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5" dirty="0">
                <a:latin typeface="Arial"/>
                <a:cs typeface="Arial"/>
              </a:rPr>
              <a:t> 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anj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1168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8546" y="862711"/>
            <a:ext cx="7249159" cy="441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2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xt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 marR="5080">
              <a:lnSpc>
                <a:spcPct val="173100"/>
              </a:lnSpc>
              <a:spcBef>
                <a:spcPts val="869"/>
              </a:spcBef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-21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xt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10" dirty="0">
                <a:latin typeface="Arial"/>
                <a:cs typeface="Arial"/>
              </a:rPr>
              <a:t>P</a:t>
            </a:r>
            <a:r>
              <a:rPr sz="1850" spc="20" dirty="0">
                <a:latin typeface="Arial"/>
                <a:cs typeface="Arial"/>
              </a:rPr>
              <a:t>ASCAL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15" dirty="0">
                <a:latin typeface="Arial"/>
                <a:cs typeface="Arial"/>
              </a:rPr>
              <a:t>*A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abamos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apa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ET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linha, 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eus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xt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(c</a:t>
            </a:r>
            <a:r>
              <a:rPr sz="1850" spc="15" dirty="0">
                <a:latin typeface="Arial"/>
                <a:cs typeface="Arial"/>
              </a:rPr>
              <a:t>uidad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pois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ago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20" dirty="0">
                <a:latin typeface="Arial"/>
                <a:cs typeface="Arial"/>
              </a:rPr>
              <a:t>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a c</a:t>
            </a:r>
            <a:r>
              <a:rPr sz="1850" spc="15" dirty="0">
                <a:latin typeface="Arial"/>
                <a:cs typeface="Arial"/>
              </a:rPr>
              <a:t>apa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má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70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ct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.)</a:t>
            </a:r>
            <a:r>
              <a:rPr sz="1850" spc="20" dirty="0">
                <a:latin typeface="Arial"/>
                <a:cs typeface="Arial"/>
              </a:rPr>
              <a:t>*O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k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rs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dh#e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D</a:t>
            </a:r>
            <a:r>
              <a:rPr sz="1850" spc="15" dirty="0">
                <a:latin typeface="Arial"/>
                <a:cs typeface="Arial"/>
              </a:rPr>
              <a:t>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h#um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uu#</a:t>
            </a:r>
            <a:r>
              <a:rPr sz="1850" spc="5" dirty="0">
                <a:latin typeface="Arial"/>
                <a:cs typeface="Arial"/>
              </a:rPr>
              <a:t>rs</a:t>
            </a:r>
            <a:r>
              <a:rPr sz="1850" spc="15" dirty="0">
                <a:latin typeface="Arial"/>
                <a:cs typeface="Arial"/>
              </a:rPr>
              <a:t>h#o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?*</a:t>
            </a:r>
            <a:r>
              <a:rPr sz="1850" dirty="0">
                <a:latin typeface="Arial"/>
                <a:cs typeface="Arial"/>
              </a:rPr>
              <a:t>!</a:t>
            </a:r>
            <a:r>
              <a:rPr sz="1850" spc="15" dirty="0">
                <a:latin typeface="Arial"/>
                <a:cs typeface="Arial"/>
              </a:rPr>
              <a:t>#?</a:t>
            </a:r>
            <a:r>
              <a:rPr sz="1850" dirty="0">
                <a:latin typeface="Arial"/>
                <a:cs typeface="Arial"/>
              </a:rPr>
              <a:t>!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+.*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Como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bom</a:t>
            </a:r>
            <a:endParaRPr sz="1850">
              <a:latin typeface="Arial"/>
              <a:cs typeface="Arial"/>
            </a:endParaRPr>
          </a:p>
          <a:p>
            <a:pPr marL="12700" marR="603250">
              <a:lnSpc>
                <a:spcPct val="173100"/>
              </a:lnSpc>
            </a:pPr>
            <a:r>
              <a:rPr sz="1850" spc="15" dirty="0">
                <a:latin typeface="Arial"/>
                <a:cs typeface="Arial"/>
              </a:rPr>
              <a:t>n#n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#ao###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#e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dirty="0">
                <a:latin typeface="Arial"/>
                <a:cs typeface="Arial"/>
              </a:rPr>
              <a:t>tt</a:t>
            </a:r>
            <a:r>
              <a:rPr sz="1850" spc="15" dirty="0">
                <a:latin typeface="Arial"/>
                <a:cs typeface="Arial"/>
              </a:rPr>
              <a:t>#ar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mb#aa#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ull#ado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nn#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#ele</a:t>
            </a:r>
            <a:r>
              <a:rPr sz="1850" dirty="0">
                <a:latin typeface="Arial"/>
                <a:cs typeface="Arial"/>
              </a:rPr>
              <a:t>!</a:t>
            </a:r>
            <a:r>
              <a:rPr sz="1850" spc="20" dirty="0">
                <a:latin typeface="Courier New"/>
                <a:cs typeface="Courier New"/>
              </a:rPr>
              <a:t>\</a:t>
            </a:r>
            <a:r>
              <a:rPr sz="1850" spc="-590" dirty="0">
                <a:latin typeface="Courier New"/>
                <a:cs typeface="Courier New"/>
              </a:rPr>
              <a:t> </a:t>
            </a:r>
            <a:r>
              <a:rPr sz="1850" spc="20" dirty="0">
                <a:latin typeface="Arial"/>
                <a:cs typeface="Arial"/>
              </a:rPr>
              <a:t>Se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 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iona</a:t>
            </a:r>
            <a:r>
              <a:rPr sz="1850" spc="20" dirty="0">
                <a:latin typeface="Courier New"/>
                <a:cs typeface="Courier New"/>
              </a:rPr>
              <a:t>\\\</a:t>
            </a:r>
            <a:r>
              <a:rPr sz="1850" spc="15" dirty="0">
                <a:latin typeface="Arial"/>
                <a:cs typeface="Arial"/>
              </a:rPr>
              <a:t>?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sinal?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não###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fic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r!</a:t>
            </a:r>
            <a:r>
              <a:rPr sz="1850" spc="135" dirty="0">
                <a:latin typeface="Arial"/>
                <a:cs typeface="Arial"/>
              </a:rPr>
              <a:t> </a:t>
            </a:r>
            <a:r>
              <a:rPr sz="1850" spc="20" dirty="0">
                <a:latin typeface="Courier New"/>
                <a:cs typeface="Courier New"/>
              </a:rPr>
              <a:t>~</a:t>
            </a:r>
            <a:endParaRPr sz="185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688070" cy="2206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91186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 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6413" y="3330372"/>
            <a:ext cx="4935220" cy="329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7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3067050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15" dirty="0">
                <a:latin typeface="Arial"/>
                <a:cs typeface="Arial"/>
              </a:rPr>
              <a:t>CAR</a:t>
            </a:r>
            <a:r>
              <a:rPr sz="1700" spc="-200" dirty="0">
                <a:latin typeface="Arial"/>
                <a:cs typeface="Arial"/>
              </a:rPr>
              <a:t>A</a:t>
            </a:r>
            <a:r>
              <a:rPr sz="1700" spc="10" dirty="0">
                <a:latin typeface="Arial"/>
                <a:cs typeface="Arial"/>
              </a:rPr>
              <a:t>TER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5" dirty="0">
                <a:latin typeface="Arial"/>
                <a:cs typeface="Arial"/>
              </a:rPr>
              <a:t>’</a:t>
            </a:r>
            <a:r>
              <a:rPr sz="1700" spc="10" dirty="0">
                <a:latin typeface="Arial"/>
                <a:cs typeface="Arial"/>
              </a:rPr>
              <a:t>#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26993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CANCELALINHA</a:t>
            </a:r>
            <a:r>
              <a:rPr sz="1700" dirty="0">
                <a:latin typeface="Arial"/>
                <a:cs typeface="Arial"/>
              </a:rPr>
              <a:t>	’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\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\</a:t>
            </a:r>
            <a:r>
              <a:rPr sz="1700" dirty="0">
                <a:latin typeface="Arial"/>
                <a:cs typeface="Arial"/>
              </a:rPr>
              <a:t> ’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2308860" algn="l"/>
              </a:tabLst>
            </a:pPr>
            <a:r>
              <a:rPr sz="1700" spc="5" dirty="0">
                <a:latin typeface="Arial"/>
                <a:cs typeface="Arial"/>
              </a:rPr>
              <a:t>#</a:t>
            </a:r>
            <a:r>
              <a:rPr sz="1700" spc="55" dirty="0">
                <a:latin typeface="Arial"/>
                <a:cs typeface="Arial"/>
              </a:rPr>
              <a:t>defin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SA</a:t>
            </a:r>
            <a:r>
              <a:rPr sz="1700" spc="-180" dirty="0">
                <a:latin typeface="Arial"/>
                <a:cs typeface="Arial"/>
              </a:rPr>
              <a:t>L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ALINHA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40" dirty="0">
                <a:latin typeface="Arial"/>
                <a:cs typeface="Arial"/>
              </a:rPr>
              <a:t>’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4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endParaRPr sz="1700">
              <a:latin typeface="Arial"/>
              <a:cs typeface="Arial"/>
            </a:endParaRPr>
          </a:p>
          <a:p>
            <a:pPr marL="23495" marR="2402840" indent="-11430">
              <a:lnSpc>
                <a:spcPts val="2650"/>
              </a:lnSpc>
              <a:spcBef>
                <a:spcPts val="185"/>
              </a:spcBef>
              <a:tabLst>
                <a:tab pos="2261870" algn="l"/>
              </a:tabLst>
            </a:pPr>
            <a:r>
              <a:rPr sz="1700" spc="5" dirty="0">
                <a:latin typeface="Arial"/>
                <a:cs typeface="Arial"/>
              </a:rPr>
              <a:t>#</a:t>
            </a:r>
            <a:r>
              <a:rPr sz="1700" spc="55" dirty="0">
                <a:latin typeface="Arial"/>
                <a:cs typeface="Arial"/>
              </a:rPr>
              <a:t>defin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MARCAEOF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’</a:t>
            </a:r>
            <a:r>
              <a:rPr sz="1700" spc="10" dirty="0">
                <a:latin typeface="Arial"/>
                <a:cs typeface="Arial"/>
              </a:rPr>
              <a:t>~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typede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225" dirty="0">
                <a:latin typeface="Lucida Sans Unicode"/>
                <a:cs typeface="Lucida Sans Unicode"/>
              </a:rPr>
              <a:t> </a:t>
            </a:r>
            <a:r>
              <a:rPr sz="1700" spc="-60" dirty="0">
                <a:latin typeface="Arial"/>
                <a:cs typeface="Arial"/>
              </a:rPr>
              <a:t>Entra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aqu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tipo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transpa</a:t>
            </a:r>
            <a:r>
              <a:rPr sz="1700" spc="45" dirty="0">
                <a:latin typeface="Arial"/>
                <a:cs typeface="Arial"/>
              </a:rPr>
              <a:t>rênci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30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spc="-320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47040" marR="2680335" indent="-423545">
              <a:lnSpc>
                <a:spcPct val="129700"/>
              </a:lnSpc>
              <a:tabLst>
                <a:tab pos="1014730" algn="l"/>
                <a:tab pos="1203325" algn="l"/>
              </a:tabLst>
            </a:pPr>
            <a:r>
              <a:rPr sz="1700" spc="40" dirty="0">
                <a:latin typeface="Arial"/>
                <a:cs typeface="Arial"/>
              </a:rPr>
              <a:t>v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x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225" dirty="0">
                <a:latin typeface="Lucida Sans Unicode"/>
                <a:cs typeface="Lucida Sans Unicode"/>
              </a:rPr>
              <a:t> </a:t>
            </a:r>
            <a:r>
              <a:rPr sz="1700" spc="-60" dirty="0">
                <a:latin typeface="Arial"/>
                <a:cs typeface="Arial"/>
              </a:rPr>
              <a:t>Entra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aqu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operadore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transpa</a:t>
            </a:r>
            <a:r>
              <a:rPr sz="1700" spc="45" dirty="0">
                <a:latin typeface="Arial"/>
                <a:cs typeface="Arial"/>
              </a:rPr>
              <a:t>rênci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6943" y="6355739"/>
            <a:ext cx="56769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0" dirty="0">
                <a:latin typeface="Arial"/>
                <a:cs typeface="Arial"/>
              </a:rPr>
              <a:t>31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spc="-320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6310" y="6691935"/>
            <a:ext cx="553148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spc="20" dirty="0">
                <a:latin typeface="Arial"/>
                <a:cs typeface="Arial"/>
              </a:rPr>
              <a:t>Entr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aqu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procediment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tr</a:t>
            </a:r>
            <a:r>
              <a:rPr sz="1700" spc="50" dirty="0">
                <a:latin typeface="Arial"/>
                <a:cs typeface="Arial"/>
              </a:rPr>
              <a:t>an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40</a:t>
            </a:r>
            <a:r>
              <a:rPr sz="1700" i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9"/>
            <a:ext cx="7442834" cy="6001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9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mai</a:t>
            </a:r>
            <a:r>
              <a:rPr sz="1700" spc="7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15" dirty="0">
                <a:latin typeface="Arial"/>
                <a:cs typeface="Arial"/>
              </a:rPr>
              <a:t>g</a:t>
            </a:r>
            <a:r>
              <a:rPr sz="1700" spc="10" dirty="0">
                <a:latin typeface="Arial"/>
                <a:cs typeface="Arial"/>
              </a:rPr>
              <a:t>c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cha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spc="180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5" dirty="0">
                <a:latin typeface="Arial"/>
                <a:cs typeface="Arial"/>
              </a:rPr>
              <a:t>arg</a:t>
            </a:r>
            <a:r>
              <a:rPr sz="1700" spc="10" dirty="0">
                <a:latin typeface="Arial"/>
                <a:cs typeface="Arial"/>
              </a:rPr>
              <a:t>v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7170" marR="3165475" indent="-178435">
              <a:lnSpc>
                <a:spcPts val="2650"/>
              </a:lnSpc>
              <a:spcBef>
                <a:spcPts val="185"/>
              </a:spcBef>
              <a:tabLst>
                <a:tab pos="518795" algn="l"/>
                <a:tab pos="2153920" algn="l"/>
                <a:tab pos="3550920" algn="l"/>
                <a:tab pos="376555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-80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getcha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 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	’	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MARCAEO</a:t>
            </a:r>
            <a:r>
              <a:rPr sz="1700" spc="14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415"/>
              </a:spcBef>
              <a:tabLst>
                <a:tab pos="467995" algn="l"/>
                <a:tab pos="76962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15" dirty="0">
                <a:latin typeface="Arial"/>
                <a:cs typeface="Arial"/>
              </a:rPr>
              <a:t>CAR</a:t>
            </a:r>
            <a:r>
              <a:rPr sz="1700" spc="-200" dirty="0">
                <a:latin typeface="Arial"/>
                <a:cs typeface="Arial"/>
              </a:rPr>
              <a:t>A</a:t>
            </a:r>
            <a:r>
              <a:rPr sz="1700" spc="10" dirty="0">
                <a:latin typeface="Arial"/>
                <a:cs typeface="Arial"/>
              </a:rPr>
              <a:t>TE</a:t>
            </a:r>
            <a:r>
              <a:rPr sz="1700" spc="15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605"/>
              </a:spcBef>
              <a:tabLst>
                <a:tab pos="681990" algn="l"/>
                <a:tab pos="9937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-6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50" dirty="0">
                <a:latin typeface="Arial"/>
                <a:cs typeface="Arial"/>
              </a:rPr>
              <a:t>&amp;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  <a:tabLst>
                <a:tab pos="1003300" algn="l"/>
                <a:tab pos="130556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CANCELALINH</a:t>
            </a:r>
            <a:r>
              <a:rPr sz="1700" spc="22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-80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605"/>
              </a:spcBef>
              <a:tabLst>
                <a:tab pos="1539240" algn="l"/>
                <a:tab pos="1840864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SA</a:t>
            </a:r>
            <a:r>
              <a:rPr sz="1700" spc="-180" dirty="0">
                <a:latin typeface="Arial"/>
                <a:cs typeface="Arial"/>
              </a:rPr>
              <a:t>L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ALINHA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57425" marR="5080" indent="-744855">
              <a:lnSpc>
                <a:spcPts val="2650"/>
              </a:lnSpc>
              <a:spcBef>
                <a:spcPts val="185"/>
              </a:spcBef>
              <a:tabLst>
                <a:tab pos="2289175" algn="l"/>
                <a:tab pos="259080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0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6502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055">
              <a:lnSpc>
                <a:spcPct val="100000"/>
              </a:lnSpc>
              <a:spcBef>
                <a:spcPts val="605"/>
              </a:spcBef>
              <a:tabLst>
                <a:tab pos="2717800" algn="l"/>
                <a:tab pos="3019425" algn="l"/>
                <a:tab pos="6051550" algn="l"/>
                <a:tab pos="6265545" algn="l"/>
              </a:tabLst>
            </a:pP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getcha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 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	’	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  <a:tabLst>
                <a:tab pos="56515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711"/>
            <a:ext cx="6706234" cy="4902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20979" marR="4133215" indent="-178435">
              <a:lnSpc>
                <a:spcPts val="2720"/>
              </a:lnSpc>
              <a:spcBef>
                <a:spcPts val="20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-80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2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50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0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22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-6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25" dirty="0">
                <a:latin typeface="Arial"/>
                <a:cs typeface="Arial"/>
              </a:rPr>
              <a:t>&amp;</a:t>
            </a:r>
            <a:r>
              <a:rPr sz="1700" spc="35" dirty="0">
                <a:latin typeface="Arial"/>
                <a:cs typeface="Arial"/>
              </a:rPr>
              <a:t>Pilhau</a:t>
            </a:r>
            <a:r>
              <a:rPr sz="1700" spc="17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putcha</a:t>
            </a:r>
            <a:r>
              <a:rPr sz="1700" spc="155" dirty="0">
                <a:latin typeface="Arial"/>
                <a:cs typeface="Arial"/>
              </a:rPr>
              <a:t>r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700" spc="25" dirty="0">
                <a:latin typeface="Arial"/>
                <a:cs typeface="Arial"/>
              </a:rPr>
              <a:t>putcha</a:t>
            </a:r>
            <a:r>
              <a:rPr sz="1700" spc="155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70290" cy="602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endParaRPr sz="2450">
              <a:latin typeface="Arial"/>
              <a:cs typeface="Arial"/>
            </a:endParaRPr>
          </a:p>
          <a:p>
            <a:pPr marL="484505" marR="265430" indent="-262255" algn="just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99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fim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f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-in”,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”).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“orde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hegada”.</a:t>
            </a:r>
            <a:endParaRPr sz="2050">
              <a:latin typeface="Arial"/>
              <a:cs typeface="Arial"/>
            </a:endParaRPr>
          </a:p>
          <a:p>
            <a:pPr marL="484505" marR="3759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eiro-que-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endido”.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451215" cy="369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FF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a(Fila,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  <a:p>
            <a:pPr marL="852169" marR="28194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654415" cy="457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pandir-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60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27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ela.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7905" y="6789454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5743356"/>
            <a:ext cx="1254485" cy="1254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1730" y="6042990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5096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704" y="6976075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668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8238" y="5810745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78"/>
                </a:moveTo>
                <a:lnTo>
                  <a:pt x="103682" y="82943"/>
                </a:lnTo>
                <a:lnTo>
                  <a:pt x="82943" y="41478"/>
                </a:lnTo>
                <a:lnTo>
                  <a:pt x="82943" y="8296"/>
                </a:lnTo>
                <a:lnTo>
                  <a:pt x="0" y="41478"/>
                </a:lnTo>
                <a:close/>
              </a:path>
              <a:path w="104139" h="83185">
                <a:moveTo>
                  <a:pt x="82943" y="8296"/>
                </a:moveTo>
                <a:lnTo>
                  <a:pt x="82943" y="41478"/>
                </a:lnTo>
                <a:lnTo>
                  <a:pt x="103682" y="0"/>
                </a:lnTo>
                <a:lnTo>
                  <a:pt x="82943" y="8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78"/>
                </a:lnTo>
                <a:lnTo>
                  <a:pt x="103682" y="82943"/>
                </a:lnTo>
                <a:lnTo>
                  <a:pt x="82943" y="41478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8244" y="693044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20726" y="829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  <a:path w="104139" h="83184">
                <a:moveTo>
                  <a:pt x="0" y="0"/>
                </a:moveTo>
                <a:lnTo>
                  <a:pt x="20726" y="41468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0" y="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46499" y="5483174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5094" y="5669750"/>
            <a:ext cx="136398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sz="1600" spc="15" dirty="0">
                <a:latin typeface="Times New Roman"/>
                <a:cs typeface="Times New Roman"/>
              </a:rPr>
              <a:t>2	</a:t>
            </a: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777" y="6209332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683133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7905" y="2776613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1730551"/>
            <a:ext cx="1254485" cy="125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63771" y="1656918"/>
            <a:ext cx="55562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30" y="2030145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5096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704" y="2963258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7668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8238" y="1797900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65"/>
                </a:moveTo>
                <a:lnTo>
                  <a:pt x="103682" y="82931"/>
                </a:lnTo>
                <a:lnTo>
                  <a:pt x="82943" y="41465"/>
                </a:lnTo>
                <a:lnTo>
                  <a:pt x="82943" y="8294"/>
                </a:lnTo>
                <a:lnTo>
                  <a:pt x="0" y="41465"/>
                </a:lnTo>
                <a:close/>
              </a:path>
              <a:path w="104139" h="83185">
                <a:moveTo>
                  <a:pt x="82943" y="8294"/>
                </a:moveTo>
                <a:lnTo>
                  <a:pt x="82943" y="41465"/>
                </a:lnTo>
                <a:lnTo>
                  <a:pt x="103682" y="0"/>
                </a:lnTo>
                <a:lnTo>
                  <a:pt x="82943" y="8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65"/>
                </a:lnTo>
                <a:lnTo>
                  <a:pt x="103682" y="82931"/>
                </a:lnTo>
                <a:lnTo>
                  <a:pt x="82943" y="41465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8244" y="291760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46499" y="1470291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5096" y="1656918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777" y="2196488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1320" y="3397654"/>
            <a:ext cx="8354059" cy="2611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8481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se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de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476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90" y="851928"/>
            <a:ext cx="8391525" cy="577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5875" marR="5601335" indent="-3810">
              <a:lnSpc>
                <a:spcPct val="129700"/>
              </a:lnSpc>
              <a:tabLst>
                <a:tab pos="19881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27939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 err="1">
                <a:latin typeface="Arial"/>
                <a:cs typeface="Arial"/>
              </a:rPr>
              <a:t>Tra</a:t>
            </a:r>
            <a:r>
              <a:rPr sz="1700" spc="175" dirty="0" err="1">
                <a:latin typeface="Arial"/>
                <a:cs typeface="Arial"/>
              </a:rPr>
              <a:t>s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23884" cy="561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1689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inguir 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dua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 si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é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ix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siç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zia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n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 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srgbClr val="FF0000"/>
                </a:solidFill>
                <a:latin typeface="Arial"/>
                <a:cs typeface="Arial"/>
              </a:rPr>
              <a:t>rr</a:t>
            </a:r>
            <a:r>
              <a:rPr sz="2050" b="1" spc="-4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11835" marR="4754245" indent="-200660">
              <a:lnSpc>
                <a:spcPct val="133100"/>
              </a:lnSpc>
              <a:tabLst>
                <a:tab pos="7118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1435"/>
              </a:spcBef>
              <a:tabLst>
                <a:tab pos="253555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6254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al).</a:t>
            </a: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 err="1" smtClean="0">
                <a:latin typeface="Arial"/>
                <a:cs typeface="Arial"/>
              </a:rPr>
              <a:t>print</a:t>
            </a:r>
            <a:r>
              <a:rPr sz="1700" spc="5" dirty="0" err="1" smtClean="0">
                <a:latin typeface="Arial"/>
                <a:cs typeface="Arial"/>
              </a:rPr>
              <a:t>f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es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2121535" indent="-762635">
              <a:lnSpc>
                <a:spcPct val="129700"/>
              </a:lnSpc>
              <a:tabLst>
                <a:tab pos="146177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25805" algn="l"/>
                <a:tab pos="102806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>
              <a:lnSpc>
                <a:spcPct val="100000"/>
              </a:lnSpc>
              <a:spcBef>
                <a:spcPts val="605"/>
              </a:spcBef>
              <a:tabLst>
                <a:tab pos="2121535" algn="l"/>
                <a:tab pos="2630170" algn="l"/>
              </a:tabLst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1692910" indent="-762635">
              <a:lnSpc>
                <a:spcPct val="129700"/>
              </a:lnSpc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2182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 smtClean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 </a:t>
            </a:r>
            <a:r>
              <a:rPr lang="pt-BR" sz="1700" spc="140" dirty="0" smtClean="0">
                <a:latin typeface="Arial"/>
                <a:cs typeface="Arial"/>
              </a:rPr>
              <a:t>Imprime</a:t>
            </a:r>
            <a:r>
              <a:rPr sz="1700" spc="-204" dirty="0" smtClean="0">
                <a:latin typeface="Arial"/>
                <a:cs typeface="Arial"/>
              </a:rPr>
              <a:t> </a:t>
            </a:r>
            <a:r>
              <a:rPr sz="1700" spc="145" dirty="0" smtClean="0">
                <a:latin typeface="Arial"/>
                <a:cs typeface="Arial"/>
              </a:rPr>
              <a:t>(</a:t>
            </a:r>
            <a:r>
              <a:rPr sz="1700" spc="70" dirty="0" err="1" smtClean="0">
                <a:latin typeface="Arial"/>
                <a:cs typeface="Arial"/>
              </a:rPr>
              <a:t>TipoFil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mtClean="0">
                <a:latin typeface="Arial"/>
                <a:cs typeface="Arial"/>
              </a:rPr>
              <a:t> </a:t>
            </a:r>
            <a:r>
              <a:rPr sz="1700" spc="-165" smtClean="0">
                <a:latin typeface="Arial"/>
                <a:cs typeface="Arial"/>
              </a:rPr>
              <a:t> </a:t>
            </a:r>
            <a:r>
              <a:rPr sz="1700" spc="125" smtClean="0">
                <a:latin typeface="Arial"/>
                <a:cs typeface="Arial"/>
              </a:rPr>
              <a:t>Fil</a:t>
            </a:r>
            <a:r>
              <a:rPr sz="1700" spc="10" smtClean="0">
                <a:latin typeface="Arial"/>
                <a:cs typeface="Arial"/>
              </a:rPr>
              <a:t>a</a:t>
            </a:r>
            <a:r>
              <a:rPr sz="1700" spc="-225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endParaRPr lang="pt-BR" sz="1700" spc="5" dirty="0" smtClean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endParaRPr lang="pt-BR" sz="1700" spc="5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2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737600" cy="421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ligá-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la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93359" y="5496053"/>
            <a:ext cx="30480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650" dirty="0">
                <a:latin typeface="Lucida Sans Unicode"/>
                <a:cs typeface="Lucida Sans Unicode"/>
              </a:rPr>
              <a:t>·</a:t>
            </a:r>
            <a:r>
              <a:rPr sz="1850" spc="-270" dirty="0">
                <a:latin typeface="Lucida Sans Unicode"/>
                <a:cs typeface="Lucida Sans Unicode"/>
              </a:rPr>
              <a:t> </a:t>
            </a:r>
            <a:r>
              <a:rPr sz="1850" spc="-650" dirty="0">
                <a:latin typeface="Lucida Sans Unicode"/>
                <a:cs typeface="Lucida Sans Unicode"/>
              </a:rPr>
              <a:t>·</a:t>
            </a:r>
            <a:r>
              <a:rPr sz="1850" spc="-270" dirty="0">
                <a:latin typeface="Lucida Sans Unicode"/>
                <a:cs typeface="Lucida Sans Unicode"/>
              </a:rPr>
              <a:t> </a:t>
            </a:r>
            <a:r>
              <a:rPr sz="1850" spc="-650" dirty="0">
                <a:latin typeface="Lucida Sans Unicode"/>
                <a:cs typeface="Lucida Sans Unicode"/>
              </a:rPr>
              <a:t>·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3183" y="5464657"/>
            <a:ext cx="58547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3695" algn="l"/>
              </a:tabLst>
            </a:pPr>
            <a:r>
              <a:rPr sz="1700" u="sng" spc="5" dirty="0">
                <a:latin typeface="Times New Roman"/>
                <a:cs typeface="Times New Roman"/>
              </a:rPr>
              <a:t> 	</a:t>
            </a:r>
            <a:r>
              <a:rPr sz="1700" u="sng" spc="210" dirty="0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12787" y="5501614"/>
            <a:ext cx="27876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nil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86595" y="5904357"/>
            <a:ext cx="0" cy="280035"/>
          </a:xfrm>
          <a:custGeom>
            <a:avLst/>
            <a:gdLst/>
            <a:ahLst/>
            <a:cxnLst/>
            <a:rect l="l" t="t" r="r" b="b"/>
            <a:pathLst>
              <a:path h="280035">
                <a:moveTo>
                  <a:pt x="0" y="280035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73964" y="590726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33941" y="6145466"/>
            <a:ext cx="63754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5" dirty="0">
                <a:latin typeface="Times New Roman"/>
                <a:cs typeface="Times New Roman"/>
              </a:rPr>
              <a:t>r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5" dirty="0">
                <a:latin typeface="Times New Roman"/>
                <a:cs typeface="Times New Roman"/>
              </a:rPr>
              <a:t>nt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05726" y="5904357"/>
            <a:ext cx="0" cy="280035"/>
          </a:xfrm>
          <a:custGeom>
            <a:avLst/>
            <a:gdLst/>
            <a:ahLst/>
            <a:cxnLst/>
            <a:rect l="l" t="t" r="r" b="b"/>
            <a:pathLst>
              <a:path h="280035">
                <a:moveTo>
                  <a:pt x="0" y="280035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92963" y="590726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08961" y="6145466"/>
            <a:ext cx="44259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50" dirty="0">
                <a:latin typeface="Times New Roman"/>
                <a:cs typeface="Times New Roman"/>
              </a:rPr>
              <a:t>T</a:t>
            </a:r>
            <a:r>
              <a:rPr sz="1850" spc="5" dirty="0">
                <a:latin typeface="Times New Roman"/>
                <a:cs typeface="Times New Roman"/>
              </a:rPr>
              <a:t>r</a:t>
            </a:r>
            <a:r>
              <a:rPr sz="1850" spc="10" dirty="0">
                <a:latin typeface="Times New Roman"/>
                <a:cs typeface="Times New Roman"/>
              </a:rPr>
              <a:t>ás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65806" y="5470525"/>
            <a:ext cx="5761990" cy="0"/>
          </a:xfrm>
          <a:custGeom>
            <a:avLst/>
            <a:gdLst/>
            <a:ahLst/>
            <a:cxnLst/>
            <a:rect l="l" t="t" r="r" b="b"/>
            <a:pathLst>
              <a:path w="5761990">
                <a:moveTo>
                  <a:pt x="0" y="0"/>
                </a:moveTo>
                <a:lnTo>
                  <a:pt x="576186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70200" y="5470627"/>
            <a:ext cx="0" cy="979805"/>
          </a:xfrm>
          <a:custGeom>
            <a:avLst/>
            <a:gdLst/>
            <a:ahLst/>
            <a:cxnLst/>
            <a:rect l="l" t="t" r="r" b="b"/>
            <a:pathLst>
              <a:path h="979804">
                <a:moveTo>
                  <a:pt x="0" y="9797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23275" y="5470627"/>
            <a:ext cx="0" cy="979805"/>
          </a:xfrm>
          <a:custGeom>
            <a:avLst/>
            <a:gdLst/>
            <a:ahLst/>
            <a:cxnLst/>
            <a:rect l="l" t="t" r="r" b="b"/>
            <a:pathLst>
              <a:path h="979804">
                <a:moveTo>
                  <a:pt x="0" y="9797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65806" y="6450309"/>
            <a:ext cx="5761990" cy="0"/>
          </a:xfrm>
          <a:custGeom>
            <a:avLst/>
            <a:gdLst/>
            <a:ahLst/>
            <a:cxnLst/>
            <a:rect l="l" t="t" r="r" b="b"/>
            <a:pathLst>
              <a:path w="5761990">
                <a:moveTo>
                  <a:pt x="0" y="0"/>
                </a:moveTo>
                <a:lnTo>
                  <a:pt x="576186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97943" y="5531771"/>
          <a:ext cx="1264093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72"/>
                <a:gridCol w="139966"/>
                <a:gridCol w="144424"/>
                <a:gridCol w="415531"/>
              </a:tblGrid>
              <a:tr h="259080">
                <a:tc rowSpan="2">
                  <a:txBody>
                    <a:bodyPr/>
                    <a:lstStyle/>
                    <a:p>
                      <a:pPr>
                        <a:lnSpc>
                          <a:spcPts val="1975"/>
                        </a:lnSpc>
                      </a:pPr>
                      <a:r>
                        <a:rPr sz="2600" spc="-1725" baseline="-1797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325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732" baseline="-1797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325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732" baseline="-1797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dirty="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7661" y="5531771"/>
          <a:ext cx="1264093" cy="46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72"/>
                <a:gridCol w="139966"/>
                <a:gridCol w="144297"/>
                <a:gridCol w="415658"/>
              </a:tblGrid>
              <a:tr h="205740">
                <a:tc rowSpan="2">
                  <a:txBody>
                    <a:bodyPr/>
                    <a:lstStyle/>
                    <a:p>
                      <a:pPr marL="248285">
                        <a:lnSpc>
                          <a:spcPts val="173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517049" y="5531771"/>
          <a:ext cx="1264106" cy="46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97"/>
                <a:gridCol w="139954"/>
                <a:gridCol w="144297"/>
                <a:gridCol w="415658"/>
              </a:tblGrid>
              <a:tr h="205740">
                <a:tc rowSpan="2">
                  <a:txBody>
                    <a:bodyPr/>
                    <a:lstStyle/>
                    <a:p>
                      <a:pPr marL="248285">
                        <a:lnSpc>
                          <a:spcPts val="173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7810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5" y="1703271"/>
            <a:ext cx="3237230" cy="4391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TipoF</a:t>
            </a:r>
            <a:r>
              <a:rPr sz="2050" spc="5" dirty="0">
                <a:latin typeface="Arial"/>
                <a:cs typeface="Arial"/>
              </a:rPr>
              <a:t>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440" y="1803743"/>
            <a:ext cx="4398645" cy="4410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1722755" indent="-20891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290320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58000" cy="5800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605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  <a:tabLst>
                <a:tab pos="206692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91782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6961505" cy="3501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3520" marR="5080" indent="3365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2395855" algn="l"/>
                <a:tab pos="3796029" algn="l"/>
                <a:tab pos="430466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470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3853179" indent="-12065">
              <a:lnSpc>
                <a:spcPct val="1331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Ordenação</a:t>
            </a:r>
            <a:r>
              <a:rPr sz="5325" spc="-1560" baseline="24256" dirty="0">
                <a:solidFill>
                  <a:srgbClr val="000000"/>
                </a:solidFill>
                <a:latin typeface="Lucida Sans Unicode"/>
                <a:cs typeface="Lucida Sans Unicode"/>
              </a:rPr>
              <a:t>∗</a:t>
            </a:r>
            <a:endParaRPr sz="5325" baseline="24256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08197" y="5228285"/>
            <a:ext cx="3878579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Últi</a:t>
            </a:r>
            <a:r>
              <a:rPr sz="1700" spc="10" dirty="0">
                <a:latin typeface="Arial"/>
                <a:cs typeface="Arial"/>
              </a:rPr>
              <a:t>ma</a:t>
            </a:r>
            <a:r>
              <a:rPr sz="1700" spc="5" dirty="0">
                <a:latin typeface="Arial"/>
                <a:cs typeface="Arial"/>
              </a:rPr>
              <a:t> alte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ão: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31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Ago</a:t>
            </a:r>
            <a:r>
              <a:rPr sz="1700" spc="5" dirty="0">
                <a:latin typeface="Arial"/>
                <a:cs typeface="Arial"/>
              </a:rPr>
              <a:t>sto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2010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5669" y="6434995"/>
            <a:ext cx="3545840" cy="0"/>
          </a:xfrm>
          <a:custGeom>
            <a:avLst/>
            <a:gdLst/>
            <a:ahLst/>
            <a:cxnLst/>
            <a:rect l="l" t="t" r="r" b="b"/>
            <a:pathLst>
              <a:path w="3545840">
                <a:moveTo>
                  <a:pt x="0" y="0"/>
                </a:moveTo>
                <a:lnTo>
                  <a:pt x="354524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3111" y="6470257"/>
            <a:ext cx="6162040" cy="218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82" baseline="27777" dirty="0">
                <a:latin typeface="Lucida Sans Unicode"/>
                <a:cs typeface="Lucida Sans Unicode"/>
              </a:rPr>
              <a:t>∗</a:t>
            </a:r>
            <a:r>
              <a:rPr sz="1350" spc="-35" dirty="0">
                <a:latin typeface="Times New Roman"/>
                <a:cs typeface="Times New Roman"/>
              </a:rPr>
              <a:t>T</a:t>
            </a:r>
            <a:r>
              <a:rPr sz="1350" spc="5" dirty="0">
                <a:latin typeface="Times New Roman"/>
                <a:cs typeface="Times New Roman"/>
              </a:rPr>
              <a:t>ransparência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elaborada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por </a:t>
            </a:r>
            <a:r>
              <a:rPr sz="1350" spc="15" dirty="0">
                <a:latin typeface="Times New Roman"/>
                <a:cs typeface="Times New Roman"/>
              </a:rPr>
              <a:t>C</a:t>
            </a:r>
            <a:r>
              <a:rPr sz="1350" spc="5" dirty="0">
                <a:latin typeface="Times New Roman"/>
                <a:cs typeface="Times New Roman"/>
              </a:rPr>
              <a:t>har</a:t>
            </a:r>
            <a:r>
              <a:rPr sz="1350" dirty="0">
                <a:latin typeface="Times New Roman"/>
                <a:cs typeface="Times New Roman"/>
              </a:rPr>
              <a:t>le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Or</a:t>
            </a:r>
            <a:r>
              <a:rPr sz="1350" spc="5" dirty="0">
                <a:latin typeface="Times New Roman"/>
                <a:cs typeface="Times New Roman"/>
              </a:rPr>
              <a:t>nela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A</a:t>
            </a:r>
            <a:r>
              <a:rPr sz="1350" dirty="0">
                <a:latin typeface="Times New Roman"/>
                <a:cs typeface="Times New Roman"/>
              </a:rPr>
              <a:t>l</a:t>
            </a:r>
            <a:r>
              <a:rPr sz="1350" spc="20" dirty="0">
                <a:latin typeface="Times New Roman"/>
                <a:cs typeface="Times New Roman"/>
              </a:rPr>
              <a:t>m</a:t>
            </a:r>
            <a:r>
              <a:rPr sz="1350" spc="5" dirty="0">
                <a:latin typeface="Times New Roman"/>
                <a:cs typeface="Times New Roman"/>
              </a:rPr>
              <a:t>eida, Israel </a:t>
            </a:r>
            <a:r>
              <a:rPr sz="1350" spc="15" dirty="0">
                <a:latin typeface="Times New Roman"/>
                <a:cs typeface="Times New Roman"/>
              </a:rPr>
              <a:t>G</a:t>
            </a:r>
            <a:r>
              <a:rPr sz="1350" spc="5" dirty="0">
                <a:latin typeface="Times New Roman"/>
                <a:cs typeface="Times New Roman"/>
              </a:rPr>
              <a:t>ue</a:t>
            </a:r>
            <a:r>
              <a:rPr sz="1350" spc="10" dirty="0">
                <a:latin typeface="Times New Roman"/>
                <a:cs typeface="Times New Roman"/>
              </a:rPr>
              <a:t>rra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e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N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Z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viani</a:t>
            </a:r>
            <a:endParaRPr sz="13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623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7643"/>
            <a:ext cx="33140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7394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7666" y="1414564"/>
            <a:ext cx="3477260" cy="5157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9369" y="1508975"/>
            <a:ext cx="4279265" cy="3909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5665" lvl="2" indent="-715010">
              <a:lnSpc>
                <a:spcPct val="100000"/>
              </a:lnSpc>
              <a:buAutoNum type="arabicPeriod" startAt="7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ixs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eiro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1137920" marR="5080" lvl="3" indent="-262255">
              <a:lnSpc>
                <a:spcPct val="119700"/>
              </a:lnSpc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ixs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508000" lvl="1" indent="-495300">
              <a:lnSpc>
                <a:spcPct val="100000"/>
              </a:lnSpc>
              <a:spcBef>
                <a:spcPts val="1350"/>
              </a:spcBef>
              <a:buAutoNum type="arabicPeriod" startAt="2"/>
              <a:tabLst>
                <a:tab pos="508634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Ex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75665" marR="5080" lvl="2" indent="-715010">
              <a:lnSpc>
                <a:spcPct val="119700"/>
              </a:lnSpc>
              <a:spcBef>
                <a:spcPts val="430"/>
              </a:spcBef>
              <a:buAutoNum type="arabicPeriod"/>
              <a:tabLst>
                <a:tab pos="876300" algn="l"/>
                <a:tab pos="2446655" algn="l"/>
                <a:tab pos="397446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	d</a:t>
            </a:r>
            <a:r>
              <a:rPr sz="2050" spc="5" dirty="0">
                <a:latin typeface="Arial"/>
                <a:cs typeface="Arial"/>
              </a:rPr>
              <a:t>e 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marR="5080" lvl="2" indent="-715010">
              <a:lnSpc>
                <a:spcPct val="119700"/>
              </a:lnSpc>
              <a:spcBef>
                <a:spcPts val="430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4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608320" y="5572088"/>
          <a:ext cx="4149678" cy="1183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290"/>
                <a:gridCol w="2998854"/>
                <a:gridCol w="479534"/>
              </a:tblGrid>
              <a:tr h="345665">
                <a:tc>
                  <a:txBody>
                    <a:bodyPr/>
                    <a:lstStyle/>
                    <a:p>
                      <a:pPr marL="22225">
                        <a:lnSpc>
                          <a:spcPts val="2085"/>
                        </a:lnSpc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4.2.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3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2085"/>
                        </a:lnSpc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si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õe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rát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ic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428967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4.2.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Inter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ã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10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li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fá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sica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40916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4.2.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5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Q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2050" spc="-4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8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t Ex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te</a:t>
                      </a:r>
                      <a:r>
                        <a:rPr sz="2050" spc="5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88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6800" cy="550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6178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obje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visa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2923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ificuldad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álog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ôn</a:t>
            </a:r>
            <a:r>
              <a:rPr sz="2050" spc="5" dirty="0">
                <a:latin typeface="Arial"/>
                <a:cs typeface="Arial"/>
              </a:rPr>
              <a:t>ico se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abé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108394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spc="-2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-3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582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1405" cy="6467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Font typeface="Lucida Sans Unicode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439545" marR="4806315" indent="-208915">
              <a:lnSpc>
                <a:spcPct val="1297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463675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6174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84505" marR="299720" indent="-262255">
              <a:lnSpc>
                <a:spcPct val="116300"/>
              </a:lnSpc>
              <a:spcBef>
                <a:spcPts val="11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qual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be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-definid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estável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não-e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1282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 (1988</a:t>
            </a:r>
            <a:r>
              <a:rPr sz="2050" spc="5" dirty="0">
                <a:latin typeface="Arial"/>
                <a:cs typeface="Arial"/>
              </a:rPr>
              <a:t>) s</a:t>
            </a:r>
            <a:r>
              <a:rPr sz="2050" dirty="0">
                <a:latin typeface="Arial"/>
                <a:cs typeface="Arial"/>
              </a:rPr>
              <a:t>uger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rega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pequen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240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85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592820" cy="580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la</a:t>
            </a:r>
            <a:r>
              <a:rPr sz="2050" spc="5" dirty="0">
                <a:latin typeface="Arial"/>
                <a:cs typeface="Arial"/>
              </a:rPr>
              <a:t>ssific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186055" lvl="1" indent="-262255">
              <a:lnSpc>
                <a:spcPct val="117600"/>
              </a:lnSpc>
              <a:spcBef>
                <a:spcPts val="6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7500"/>
              </a:lnSpc>
              <a:spcBef>
                <a:spcPts val="6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eqüen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pa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açõe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sz="2050" b="1" dirty="0">
                <a:latin typeface="Arial"/>
                <a:cs typeface="Arial"/>
              </a:rPr>
              <a:t>dist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uição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987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93405" cy="5699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1493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alh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5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5" dirty="0">
                <a:latin typeface="Arial"/>
                <a:cs typeface="Arial"/>
              </a:rPr>
              <a:t>m:</a:t>
            </a:r>
            <a:endParaRPr sz="2050">
              <a:latin typeface="Arial"/>
              <a:cs typeface="Arial"/>
            </a:endParaRPr>
          </a:p>
          <a:p>
            <a:pPr marL="1016000" algn="ctr">
              <a:lnSpc>
                <a:spcPct val="100000"/>
              </a:lnSpc>
              <a:spcBef>
                <a:spcPts val="1350"/>
              </a:spcBef>
            </a:pPr>
            <a:r>
              <a:rPr sz="2050" spc="-35" dirty="0">
                <a:latin typeface="Arial"/>
                <a:cs typeface="Arial"/>
              </a:rPr>
              <a:t>A </a:t>
            </a:r>
            <a:r>
              <a:rPr sz="2050" i="1" spc="375" dirty="0">
                <a:latin typeface="Arial"/>
                <a:cs typeface="Arial"/>
              </a:rPr>
              <a:t>&lt;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50" dirty="0">
                <a:latin typeface="Georgia"/>
                <a:cs typeface="Georgia"/>
              </a:rPr>
              <a:t>0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80" dirty="0">
                <a:latin typeface="Arial"/>
                <a:cs typeface="Arial"/>
              </a:rPr>
              <a:t>J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05" dirty="0">
                <a:latin typeface="Arial"/>
                <a:cs typeface="Arial"/>
              </a:rPr>
              <a:t>Q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K</a:t>
            </a:r>
            <a:endParaRPr sz="2050">
              <a:latin typeface="Arial"/>
              <a:cs typeface="Arial"/>
            </a:endParaRPr>
          </a:p>
          <a:p>
            <a:pPr marL="1016000" algn="ctr">
              <a:lnSpc>
                <a:spcPct val="100000"/>
              </a:lnSpc>
              <a:spcBef>
                <a:spcPts val="1670"/>
              </a:spcBef>
            </a:pP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1016000" algn="ctr">
              <a:lnSpc>
                <a:spcPct val="100000"/>
              </a:lnSpc>
              <a:spcBef>
                <a:spcPts val="1350"/>
              </a:spcBef>
            </a:pPr>
            <a:r>
              <a:rPr sz="2050" spc="-125" dirty="0">
                <a:latin typeface="Lucida Sans Unicode"/>
                <a:cs typeface="Lucida Sans Unicode"/>
              </a:rPr>
              <a:t>♣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25" dirty="0">
                <a:latin typeface="Lucida Sans Unicode"/>
                <a:cs typeface="Lucida Sans Unicode"/>
              </a:rPr>
              <a:t>♦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25" dirty="0">
                <a:latin typeface="Lucida Sans Unicode"/>
                <a:cs typeface="Lucida Sans Unicode"/>
              </a:rPr>
              <a:t>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25" dirty="0">
                <a:latin typeface="Lucida Sans Unicode"/>
                <a:cs typeface="Lucida Sans Unicode"/>
              </a:rPr>
              <a:t>♠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uir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doi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cific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pau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ouro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opa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cific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546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3470" cy="4774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9367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 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g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tal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xso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t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-40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ketso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168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dificuldade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lida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área,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nar-</a:t>
            </a: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proibi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é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055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829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2385"/>
            <a:ext cx="8562340" cy="5819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 marL="484505" marR="1175385" indent="-262255">
              <a:lnSpc>
                <a:spcPct val="116500"/>
              </a:lnSpc>
              <a:spcBef>
                <a:spcPts val="18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25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onô</a:t>
            </a:r>
            <a:r>
              <a:rPr sz="2050" spc="5" dirty="0">
                <a:latin typeface="Arial"/>
                <a:cs typeface="Arial"/>
              </a:rPr>
              <a:t>mico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requ</a:t>
            </a:r>
            <a:r>
              <a:rPr sz="2050" spc="5" dirty="0">
                <a:latin typeface="Arial"/>
                <a:cs typeface="Arial"/>
              </a:rPr>
              <a:t>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ordial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spc="5" dirty="0">
                <a:latin typeface="Arial"/>
                <a:cs typeface="Arial"/>
              </a:rPr>
              <a:t>n</a:t>
            </a:r>
            <a:r>
              <a:rPr sz="2050" b="1" i="1" dirty="0">
                <a:latin typeface="Arial"/>
                <a:cs typeface="Arial"/>
              </a:rPr>
              <a:t> s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dirty="0">
                <a:latin typeface="Arial"/>
                <a:cs typeface="Arial"/>
              </a:rPr>
              <a:t>t</a:t>
            </a:r>
            <a:r>
              <a:rPr sz="2050" b="1" i="1" spc="5" dirty="0">
                <a:latin typeface="Arial"/>
                <a:cs typeface="Arial"/>
              </a:rPr>
              <a:t>u</a:t>
            </a:r>
            <a:r>
              <a:rPr sz="2050" b="1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242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ópia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682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47075" cy="5055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la</a:t>
            </a:r>
            <a:r>
              <a:rPr sz="2050" spc="5" dirty="0">
                <a:latin typeface="Arial"/>
                <a:cs typeface="Arial"/>
              </a:rPr>
              <a:t>ssific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rodu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960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9655" cy="432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38784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Lucida Sans Unicode"/>
              <a:buChar char="•"/>
            </a:pPr>
            <a:endParaRPr sz="195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4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31265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20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4904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+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9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1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8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55" dirty="0">
                <a:latin typeface="Arial"/>
                <a:cs typeface="Arial"/>
              </a:rPr>
              <a:t>caus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spc="229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0" dirty="0">
                <a:latin typeface="Arial"/>
                <a:cs typeface="Arial"/>
              </a:rPr>
              <a:t> </a:t>
            </a:r>
            <a:r>
              <a:rPr sz="1700" i="1" spc="75" dirty="0">
                <a:latin typeface="Arial"/>
                <a:cs typeface="Arial"/>
              </a:rPr>
              <a:t>sentinel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spc="200" dirty="0">
                <a:latin typeface="Arial"/>
                <a:cs typeface="Arial"/>
              </a:rPr>
              <a:t> </a:t>
            </a:r>
            <a:r>
              <a:rPr sz="1700" i="1" spc="-225" dirty="0">
                <a:latin typeface="Arial"/>
                <a:cs typeface="Arial"/>
              </a:rPr>
              <a:t>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spc="150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Inserca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36345">
              <a:lnSpc>
                <a:spcPct val="100000"/>
              </a:lnSpc>
              <a:spcBef>
                <a:spcPts val="675"/>
              </a:spcBef>
            </a:pP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spcBef>
                <a:spcPts val="14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d</a:t>
            </a:r>
            <a:r>
              <a:rPr sz="2050" spc="5" dirty="0">
                <a:latin typeface="Arial"/>
                <a:cs typeface="Arial"/>
              </a:rPr>
              <a:t>e 0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455" dirty="0">
                <a:latin typeface="Arial"/>
                <a:cs typeface="Arial"/>
              </a:rPr>
              <a:t>M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210" dirty="0">
                <a:latin typeface="Arial"/>
                <a:cs typeface="Arial"/>
              </a:rPr>
              <a:t>T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à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1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796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6790" cy="3384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93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59785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00226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1295" y="5204180"/>
            <a:ext cx="615124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si.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7684" y="304008"/>
          <a:ext cx="9638834" cy="44724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6274"/>
                <a:gridCol w="316027"/>
                <a:gridCol w="420224"/>
                <a:gridCol w="420229"/>
                <a:gridCol w="420211"/>
                <a:gridCol w="432466"/>
                <a:gridCol w="3123403"/>
              </a:tblGrid>
              <a:tr h="56703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ojet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 A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lgo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 – C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ap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4 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denaçã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–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Seçã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80">
                <a:tc>
                  <a:txBody>
                    <a:bodyPr/>
                    <a:lstStyle/>
                    <a:p>
                      <a:pPr marL="495934">
                        <a:lnSpc>
                          <a:spcPts val="2790"/>
                        </a:lnSpc>
                      </a:pP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-5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açã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sz="2450" b="1" spc="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(2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7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68375" indent="-262255">
                        <a:lnSpc>
                          <a:spcPct val="100000"/>
                        </a:lnSpc>
                        <a:buFont typeface="Lucida Sans Unicode"/>
                        <a:buChar char="•"/>
                        <a:tabLst>
                          <a:tab pos="969010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172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915">
                <a:tc>
                  <a:txBody>
                    <a:bodyPr/>
                    <a:lstStyle/>
                    <a:p>
                      <a:pPr marL="2887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34354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93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53631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211" y="1770710"/>
            <a:ext cx="5041900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Seleca</a:t>
            </a:r>
            <a:r>
              <a:rPr sz="1700" spc="100" dirty="0">
                <a:latin typeface="Arial"/>
                <a:cs typeface="Arial"/>
              </a:rPr>
              <a:t>o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60" dirty="0">
                <a:latin typeface="Lucida Sans Unicode"/>
                <a:cs typeface="Lucida Sans Unicode"/>
              </a:rPr>
              <a:t>∗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576195" indent="-188595">
              <a:lnSpc>
                <a:spcPts val="2720"/>
              </a:lnSpc>
              <a:spcBef>
                <a:spcPts val="200"/>
              </a:spcBef>
              <a:tabLst>
                <a:tab pos="1428750" algn="l"/>
                <a:tab pos="1750060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2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470"/>
              </a:spcBef>
              <a:tabLst>
                <a:tab pos="977265" algn="l"/>
                <a:tab pos="154559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66750">
              <a:lnSpc>
                <a:spcPct val="100000"/>
              </a:lnSpc>
              <a:spcBef>
                <a:spcPts val="675"/>
              </a:spcBef>
              <a:tabLst>
                <a:tab pos="1834514" algn="l"/>
                <a:tab pos="2402840" algn="l"/>
                <a:tab pos="326009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8495" marR="5080" indent="241935">
              <a:lnSpc>
                <a:spcPts val="2720"/>
              </a:lnSpc>
              <a:spcBef>
                <a:spcPts val="200"/>
              </a:spcBef>
              <a:tabLst>
                <a:tab pos="120269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9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6188" y="1772041"/>
            <a:ext cx="367284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8141" y="2863202"/>
            <a:ext cx="85407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18386" y="3058007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39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05686" y="2787167"/>
            <a:ext cx="218440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945" indent="-55880">
              <a:lnSpc>
                <a:spcPct val="100000"/>
              </a:lnSpc>
            </a:pPr>
            <a:r>
              <a:rPr sz="2025" i="1" spc="217" baseline="-20576" dirty="0">
                <a:latin typeface="Trebuchet MS"/>
                <a:cs typeface="Trebuchet MS"/>
              </a:rPr>
              <a:t>n</a:t>
            </a: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  <a:p>
            <a:pPr marL="67945">
              <a:lnSpc>
                <a:spcPct val="100000"/>
              </a:lnSpc>
              <a:spcBef>
                <a:spcPts val="390"/>
              </a:spcBef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82786" y="2848889"/>
            <a:ext cx="13843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94179" y="2863202"/>
            <a:ext cx="417195" cy="402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95" dirty="0">
                <a:latin typeface="Lucida Sans Unicode"/>
                <a:cs typeface="Lucida Sans Unicode"/>
              </a:rPr>
              <a:t> </a:t>
            </a:r>
            <a:r>
              <a:rPr sz="2025" spc="142" baseline="-28806" dirty="0">
                <a:latin typeface="PMingLiU"/>
                <a:cs typeface="PMingLiU"/>
              </a:rPr>
              <a:t>2</a:t>
            </a:r>
            <a:endParaRPr sz="2025" baseline="-28806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78141" y="3312172"/>
            <a:ext cx="193103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1295" y="5706818"/>
            <a:ext cx="788225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455" dirty="0">
                <a:latin typeface="Arial"/>
                <a:cs typeface="Arial"/>
              </a:rPr>
              <a:t>M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34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09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antagen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480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2865120" indent="209550">
              <a:lnSpc>
                <a:spcPct val="1768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ajud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quadrá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73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1695" cy="322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jogadore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i=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marR="5080" lvl="2" indent="-262255">
              <a:lnSpc>
                <a:spcPct val="119700"/>
              </a:lnSpc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oloque-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luga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537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6347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41370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21295" y="5204180"/>
            <a:ext cx="68141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11770" y="1576211"/>
          <a:ext cx="6406841" cy="32002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383"/>
                <a:gridCol w="398736"/>
                <a:gridCol w="432446"/>
                <a:gridCol w="432447"/>
                <a:gridCol w="432454"/>
                <a:gridCol w="432453"/>
                <a:gridCol w="544922"/>
              </a:tblGrid>
              <a:tr h="459827">
                <a:tc>
                  <a:txBody>
                    <a:bodyPr/>
                    <a:lstStyle/>
                    <a:p>
                      <a:pPr marL="284480" marR="89535" indent="-262255" algn="r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Lucida Sans Unicode"/>
                        <a:buChar char="•"/>
                        <a:tabLst>
                          <a:tab pos="285115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4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15684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34354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24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320" y="3712438"/>
            <a:ext cx="300990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4298315" cy="2085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Inserca</a:t>
            </a:r>
            <a:r>
              <a:rPr sz="1700" spc="160" dirty="0">
                <a:latin typeface="Arial"/>
                <a:cs typeface="Arial"/>
              </a:rPr>
              <a:t>o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367915" indent="-188595">
              <a:lnSpc>
                <a:spcPct val="133100"/>
              </a:lnSpc>
              <a:tabLst>
                <a:tab pos="1428750" algn="l"/>
                <a:tab pos="175958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75"/>
              </a:spcBef>
              <a:tabLst>
                <a:tab pos="977265" algn="l"/>
                <a:tab pos="1545590" algn="l"/>
                <a:tab pos="240284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6697" y="3022409"/>
            <a:ext cx="1162050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  <a:spcBef>
                <a:spcPts val="675"/>
              </a:spcBef>
            </a:pP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7339" y="3022409"/>
            <a:ext cx="2118361" cy="612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80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27660" algn="l"/>
                <a:tab pos="1405255" algn="l"/>
              </a:tabLst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5" dirty="0">
                <a:latin typeface="Arial"/>
                <a:cs typeface="Arial"/>
              </a:rPr>
              <a:t>sentinel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155" dirty="0" smtClean="0">
                <a:latin typeface="Lucida Sans Unicode"/>
                <a:cs typeface="Lucida Sans Unicode"/>
              </a:rPr>
              <a:t>∗</a:t>
            </a:r>
            <a:r>
              <a:rPr lang="pt-BR" sz="1700" spc="-155" dirty="0" smtClean="0">
                <a:latin typeface="Lucida Sans Unicode"/>
                <a:cs typeface="Lucida Sans Unicode"/>
              </a:rPr>
              <a:t>/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6366" y="4057396"/>
            <a:ext cx="4508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j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4832" y="4057396"/>
            <a:ext cx="195008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289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471" y="5092496"/>
            <a:ext cx="527050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169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83525" cy="374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dirty="0">
                <a:latin typeface="Arial"/>
                <a:cs typeface="Arial"/>
              </a:rPr>
              <a:t>Con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559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094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50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100"/>
            <a:ext cx="7216140" cy="157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No </a:t>
            </a:r>
            <a:r>
              <a:rPr sz="2050" dirty="0">
                <a:latin typeface="Arial"/>
                <a:cs typeface="Arial"/>
              </a:rPr>
              <a:t>anel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120" baseline="-12345" dirty="0">
                <a:latin typeface="Trebuchet MS"/>
                <a:cs typeface="Trebuchet MS"/>
              </a:rPr>
              <a:t>i</a:t>
            </a:r>
            <a:r>
              <a:rPr sz="2025" i="1" baseline="-12345" dirty="0">
                <a:latin typeface="Trebuchet MS"/>
                <a:cs typeface="Trebuchet MS"/>
              </a:rPr>
              <a:t> </a:t>
            </a:r>
            <a:r>
              <a:rPr sz="2025" i="1" spc="-232" baseline="-12345" dirty="0">
                <a:latin typeface="Trebuchet MS"/>
                <a:cs typeface="Trebuchet MS"/>
              </a:rPr>
              <a:t>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9019" y="2716441"/>
            <a:ext cx="1254760" cy="800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3054" y="257991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0991" y="3793578"/>
            <a:ext cx="8890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80" dirty="0">
                <a:latin typeface="Trebuchet MS"/>
                <a:cs typeface="Trebuchet MS"/>
              </a:rPr>
              <a:t>i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9032" y="3614153"/>
            <a:ext cx="3344545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26819" y="3615842"/>
            <a:ext cx="326390" cy="40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 marR="5080" indent="-104139">
              <a:lnSpc>
                <a:spcPts val="1530"/>
              </a:lnSpc>
            </a:pPr>
            <a:r>
              <a:rPr sz="1350" i="1" u="sng" spc="80" dirty="0">
                <a:latin typeface="Trebuchet MS"/>
                <a:cs typeface="Trebuchet MS"/>
              </a:rPr>
              <a:t>i</a:t>
            </a:r>
            <a:r>
              <a:rPr sz="1350" u="sng" spc="420" dirty="0">
                <a:latin typeface="PMingLiU"/>
                <a:cs typeface="PMingLiU"/>
              </a:rPr>
              <a:t>+</a:t>
            </a:r>
            <a:r>
              <a:rPr sz="1350" u="sng" spc="95" dirty="0">
                <a:latin typeface="PMingLiU"/>
                <a:cs typeface="PMingLiU"/>
              </a:rPr>
              <a:t>1</a:t>
            </a:r>
            <a:r>
              <a:rPr sz="1350" spc="75" dirty="0">
                <a:latin typeface="PMingLiU"/>
                <a:cs typeface="PMingLiU"/>
              </a:rPr>
              <a:t> 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1295" y="4205061"/>
            <a:ext cx="8382000" cy="749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8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7961" y="5242471"/>
            <a:ext cx="3859529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R="362585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6208" y="5870752"/>
            <a:ext cx="64579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39750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7967" y="5691327"/>
            <a:ext cx="446913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u="sng" baseline="32921" dirty="0">
                <a:latin typeface="Trebuchet MS"/>
                <a:cs typeface="Trebuchet MS"/>
              </a:rPr>
              <a:t> </a:t>
            </a:r>
            <a:r>
              <a:rPr sz="2025" i="1" u="sng" spc="-142" baseline="32921" dirty="0">
                <a:latin typeface="Trebuchet MS"/>
                <a:cs typeface="Trebuchet MS"/>
              </a:rPr>
              <a:t> 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17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1997" y="510594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9753" y="6319608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7961" y="6140296"/>
            <a:ext cx="379920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03832" y="6108598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46453" y="6319608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91018" y="6036969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3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187" baseline="-21680" dirty="0">
                <a:latin typeface="Georgia"/>
                <a:cs typeface="Georgia"/>
              </a:rPr>
              <a:t>1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6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46059" cy="329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264033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4884" y="4920031"/>
            <a:ext cx="372745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4878" y="4471060"/>
            <a:ext cx="4260850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R="246379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1234" y="5099342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5811" y="4816703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5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8900" y="4334532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0038" y="5548312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4865" y="5368887"/>
            <a:ext cx="387286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94002" y="5337187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36623" y="5548312"/>
            <a:ext cx="73850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2460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81188" y="5265559"/>
            <a:ext cx="137223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11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4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760" cy="440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0193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4972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”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86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61655" cy="438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1959.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89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557009" cy="272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58464" y="3746436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287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4249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58464" y="5743828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6171614"/>
            <a:ext cx="75634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96373" y="3837040"/>
          <a:ext cx="3912564" cy="1831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461"/>
                <a:gridCol w="420239"/>
                <a:gridCol w="420167"/>
                <a:gridCol w="420224"/>
                <a:gridCol w="408210"/>
                <a:gridCol w="420237"/>
                <a:gridCol w="287026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52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74440" cy="153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2024" y="2707640"/>
            <a:ext cx="240220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7434" y="2707640"/>
            <a:ext cx="122872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8554" y="3280968"/>
            <a:ext cx="7726045" cy="2195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5840">
              <a:lnSpc>
                <a:spcPct val="100000"/>
              </a:lnSpc>
              <a:tabLst>
                <a:tab pos="4871085" algn="l"/>
              </a:tabLst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dirty="0">
                <a:latin typeface="Arial"/>
                <a:cs typeface="Arial"/>
              </a:rPr>
              <a:t>	</a:t>
            </a: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274955" marR="49530" indent="-262255">
              <a:lnSpc>
                <a:spcPct val="119700"/>
              </a:lnSpc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95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eficiên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4, 13,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40, 121,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364,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093, 3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280,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426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Shellsor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040255" indent="-188595">
              <a:lnSpc>
                <a:spcPct val="129700"/>
              </a:lnSpc>
              <a:tabLst>
                <a:tab pos="244475" algn="l"/>
                <a:tab pos="678815" algn="l"/>
                <a:tab pos="1009650" algn="l"/>
                <a:tab pos="142303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n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175895" algn="ctr">
              <a:lnSpc>
                <a:spcPct val="100000"/>
              </a:lnSpc>
              <a:spcBef>
                <a:spcPts val="605"/>
              </a:spcBef>
              <a:tabLst>
                <a:tab pos="1735455" algn="l"/>
                <a:tab pos="259270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0430">
              <a:lnSpc>
                <a:spcPct val="100000"/>
              </a:lnSpc>
              <a:spcBef>
                <a:spcPts val="605"/>
              </a:spcBef>
              <a:tabLst>
                <a:tab pos="229552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085850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0" dirty="0">
                <a:latin typeface="Lucida Sans Unicode"/>
                <a:cs typeface="Lucida Sans Unicode"/>
              </a:rPr>
              <a:t> </a:t>
            </a:r>
            <a:r>
              <a:rPr sz="1700" spc="19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329055">
              <a:lnSpc>
                <a:spcPct val="100000"/>
              </a:lnSpc>
              <a:spcBef>
                <a:spcPts val="605"/>
              </a:spcBef>
              <a:tabLst>
                <a:tab pos="33667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1380" algn="ctr">
              <a:lnSpc>
                <a:spcPct val="100000"/>
              </a:lnSpc>
              <a:spcBef>
                <a:spcPts val="605"/>
              </a:spcBef>
              <a:tabLst>
                <a:tab pos="118364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95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88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9032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909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85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05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617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 err="1">
                <a:latin typeface="Arial"/>
                <a:cs typeface="Arial"/>
              </a:rPr>
              <a:t>void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shellSort</a:t>
            </a:r>
            <a:r>
              <a:rPr lang="pt-BR" sz="2000" b="1" spc="-25" dirty="0">
                <a:latin typeface="Arial"/>
                <a:cs typeface="Arial"/>
              </a:rPr>
              <a:t>(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[],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i , j ,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gap = 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(gap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= 3*gap+1;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 gap &gt; 1)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/= 3;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for(i = gap; i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; i++)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[i];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j = i -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(j &gt;= 0 &amp;&amp;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&lt;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j -=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822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755255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inela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139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29625" cy="553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eficiên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ingué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apa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ana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dif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próp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15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h:</a:t>
            </a:r>
            <a:endParaRPr sz="2050">
              <a:latin typeface="Arial"/>
              <a:cs typeface="Arial"/>
            </a:endParaRPr>
          </a:p>
          <a:p>
            <a:pPr marL="2636520">
              <a:lnSpc>
                <a:spcPct val="100000"/>
              </a:lnSpc>
              <a:spcBef>
                <a:spcPts val="590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1</a:t>
            </a:r>
            <a:r>
              <a:rPr sz="2025" i="1" spc="-135" baseline="30864" dirty="0">
                <a:latin typeface="Trebuchet MS"/>
                <a:cs typeface="Trebuchet MS"/>
              </a:rPr>
              <a:t>,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spc="262" baseline="30864" dirty="0">
                <a:latin typeface="PMingLiU"/>
                <a:cs typeface="PMingLiU"/>
              </a:rPr>
              <a:t>5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2636520">
              <a:lnSpc>
                <a:spcPct val="100000"/>
              </a:lnSpc>
              <a:spcBef>
                <a:spcPts val="2055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0" dirty="0">
                <a:latin typeface="Georgia"/>
                <a:cs typeface="Georgia"/>
              </a:rPr>
              <a:t>n</a:t>
            </a:r>
            <a:r>
              <a:rPr sz="2050" spc="-15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66035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5840" cy="420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ódig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pequena.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7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17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578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oar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</a:t>
            </a:r>
            <a:r>
              <a:rPr sz="2050" spc="5" dirty="0">
                <a:latin typeface="Arial"/>
                <a:cs typeface="Arial"/>
              </a:rPr>
              <a:t>0 e</a:t>
            </a:r>
            <a:r>
              <a:rPr sz="2050" dirty="0">
                <a:latin typeface="Arial"/>
                <a:cs typeface="Arial"/>
              </a:rPr>
              <a:t> pu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spc="5" dirty="0">
                <a:latin typeface="Arial"/>
                <a:cs typeface="Arial"/>
              </a:rPr>
              <a:t>licc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1962.</a:t>
            </a:r>
            <a:endParaRPr sz="2050">
              <a:latin typeface="Arial"/>
              <a:cs typeface="Arial"/>
            </a:endParaRPr>
          </a:p>
          <a:p>
            <a:pPr marL="484505" marR="1866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rápid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idé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bá</a:t>
            </a:r>
            <a:r>
              <a:rPr sz="2050" spc="5" dirty="0">
                <a:latin typeface="Arial"/>
                <a:cs typeface="Arial"/>
              </a:rPr>
              <a:t>sica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dir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produ</a:t>
            </a:r>
            <a:r>
              <a:rPr sz="2050" spc="5" dirty="0">
                <a:latin typeface="Arial"/>
                <a:cs typeface="Arial"/>
              </a:rPr>
              <a:t>zir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583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1400" cy="3474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b="1" dirty="0">
                <a:latin typeface="Arial"/>
                <a:cs typeface="Arial"/>
              </a:rPr>
              <a:t>piv</a:t>
            </a:r>
            <a:r>
              <a:rPr sz="2050" b="1" spc="5" dirty="0">
                <a:latin typeface="Arial"/>
                <a:cs typeface="Arial"/>
              </a:rPr>
              <a:t>ô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591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46795" cy="4864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ô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que: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47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589145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08399" y="208908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2793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7078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8399" y="3715003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4142676"/>
            <a:ext cx="7938134" cy="144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5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46435" y="2179690"/>
          <a:ext cx="2267024" cy="1460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36"/>
                <a:gridCol w="420223"/>
                <a:gridCol w="420223"/>
                <a:gridCol w="395919"/>
                <a:gridCol w="408174"/>
                <a:gridCol w="311249"/>
              </a:tblGrid>
              <a:tr h="357939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229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52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275272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1050" y="1964791"/>
            <a:ext cx="16116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5215" y="1964791"/>
            <a:ext cx="150431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 </a:t>
            </a:r>
            <a:r>
              <a:rPr sz="1700" dirty="0" smtClean="0">
                <a:latin typeface="Arial"/>
                <a:cs typeface="Arial"/>
              </a:rPr>
              <a:t>i</a:t>
            </a:r>
            <a:r>
              <a:rPr lang="pt-BR" sz="1700" dirty="0" smtClean="0">
                <a:latin typeface="Arial"/>
                <a:cs typeface="Arial"/>
              </a:rPr>
              <a:t>,</a:t>
            </a:r>
            <a:r>
              <a:rPr sz="1700" spc="7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7900" y="1955891"/>
            <a:ext cx="3119854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7211" y="1964791"/>
            <a:ext cx="3121025" cy="955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Partica</a:t>
            </a:r>
            <a:r>
              <a:rPr sz="1700" spc="18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w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67030" indent="-137160">
              <a:lnSpc>
                <a:spcPct val="100000"/>
              </a:lnSpc>
              <a:spcBef>
                <a:spcPts val="605"/>
              </a:spcBef>
              <a:buFont typeface="Lucida Sans Unicode"/>
              <a:buChar char="·"/>
              <a:tabLst>
                <a:tab pos="367665" algn="l"/>
                <a:tab pos="1408430" algn="l"/>
              </a:tabLst>
            </a:pPr>
            <a:r>
              <a:rPr sz="1700" dirty="0">
                <a:latin typeface="Arial"/>
                <a:cs typeface="Arial"/>
              </a:rPr>
              <a:t>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4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32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95" dirty="0">
                <a:latin typeface="Arial"/>
                <a:cs typeface="Arial"/>
              </a:rPr>
              <a:t>D</a:t>
            </a:r>
            <a:r>
              <a:rPr sz="1700" spc="8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8446" y="2973260"/>
            <a:ext cx="9499854" cy="4354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79">
              <a:lnSpc>
                <a:spcPct val="100000"/>
              </a:lnSpc>
              <a:tabLst>
                <a:tab pos="2581275" algn="l"/>
              </a:tabLst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60" dirty="0">
                <a:latin typeface="Arial"/>
                <a:cs typeface="Arial"/>
              </a:rPr>
              <a:t>[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210" dirty="0">
                <a:latin typeface="Lucida Sans Unicode"/>
                <a:cs typeface="Lucida Sans Unicode"/>
              </a:rPr>
              <a:t> </a:t>
            </a:r>
            <a:r>
              <a:rPr sz="1700" i="1" spc="-85" dirty="0">
                <a:latin typeface="Arial"/>
                <a:cs typeface="Arial"/>
              </a:rPr>
              <a:t>obte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spc="21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i="1" spc="45" dirty="0">
                <a:latin typeface="Arial"/>
                <a:cs typeface="Arial"/>
              </a:rPr>
              <a:t>piv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x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endParaRPr sz="1700" dirty="0">
              <a:latin typeface="Arial"/>
              <a:cs typeface="Arial"/>
            </a:endParaRPr>
          </a:p>
          <a:p>
            <a:pPr marL="636270" marR="3572510" indent="-186055" algn="just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lang="pt-BR" sz="1700" spc="-180" dirty="0" smtClean="0">
                <a:latin typeface="Arial"/>
                <a:cs typeface="Arial"/>
              </a:rPr>
              <a:t>) </a:t>
            </a:r>
            <a:r>
              <a:rPr sz="1700" spc="70" dirty="0" smtClean="0">
                <a:latin typeface="Arial"/>
                <a:cs typeface="Arial"/>
              </a:rPr>
              <a:t>++</a:t>
            </a:r>
            <a:r>
              <a:rPr sz="1700" spc="5" dirty="0" smtClean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636270" marR="3572510" indent="-186055" algn="just">
              <a:lnSpc>
                <a:spcPct val="129700"/>
              </a:lnSpc>
            </a:pPr>
            <a:r>
              <a:rPr sz="1700" b="1" spc="-5" dirty="0" smtClean="0">
                <a:latin typeface="Arial"/>
                <a:cs typeface="Arial"/>
              </a:rPr>
              <a:t>whil</a:t>
            </a:r>
            <a:r>
              <a:rPr sz="1700" b="1" spc="10" dirty="0" smtClean="0">
                <a:latin typeface="Arial"/>
                <a:cs typeface="Arial"/>
              </a:rPr>
              <a:t>e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-6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)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636270" marR="3572510" indent="-186055" algn="just">
              <a:lnSpc>
                <a:spcPct val="129700"/>
              </a:lnSpc>
            </a:pPr>
            <a:r>
              <a:rPr sz="1700" b="1" spc="5" dirty="0" smtClean="0">
                <a:latin typeface="Arial"/>
                <a:cs typeface="Arial"/>
              </a:rPr>
              <a:t>i</a:t>
            </a:r>
            <a:r>
              <a:rPr sz="1700" b="1" spc="-265" dirty="0" smtClean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54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w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w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lang="pt-BR" sz="1700" spc="-130" dirty="0" smtClean="0">
                <a:latin typeface="Arial"/>
                <a:cs typeface="Arial"/>
              </a:rPr>
              <a:t>)</a:t>
            </a:r>
            <a:r>
              <a:rPr sz="1700" spc="125" dirty="0" smtClean="0">
                <a:latin typeface="Arial"/>
                <a:cs typeface="Arial"/>
              </a:rPr>
              <a:t>++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lang="pt-BR" sz="1700" spc="5" dirty="0" smtClean="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lang="pt-BR" sz="1700" spc="-114" dirty="0">
                <a:latin typeface="Arial"/>
                <a:cs typeface="Arial"/>
              </a:rPr>
              <a:t> </a:t>
            </a:r>
            <a:r>
              <a:rPr lang="pt-BR" sz="1700" spc="5" dirty="0">
                <a:latin typeface="Arial"/>
                <a:cs typeface="Arial"/>
              </a:rPr>
              <a:t>(</a:t>
            </a:r>
            <a:r>
              <a:rPr lang="pt-BR" sz="1700" spc="-300" dirty="0">
                <a:latin typeface="Arial"/>
                <a:cs typeface="Arial"/>
              </a:rPr>
              <a:t> </a:t>
            </a:r>
            <a:r>
              <a:rPr lang="pt-BR" sz="1700" spc="-270" dirty="0">
                <a:latin typeface="Lucida Sans Unicode"/>
                <a:cs typeface="Lucida Sans Unicode"/>
              </a:rPr>
              <a:t>∗</a:t>
            </a:r>
            <a:r>
              <a:rPr lang="pt-BR" sz="1700" spc="-130" dirty="0">
                <a:latin typeface="Lucida Sans Unicode"/>
                <a:cs typeface="Lucida Sans Unicode"/>
              </a:rPr>
              <a:t> </a:t>
            </a:r>
            <a:r>
              <a:rPr lang="pt-BR" sz="1700" dirty="0">
                <a:latin typeface="Arial"/>
                <a:cs typeface="Arial"/>
              </a:rPr>
              <a:t>i</a:t>
            </a:r>
            <a:r>
              <a:rPr lang="pt-BR" sz="1700" spc="-180" dirty="0">
                <a:latin typeface="Arial"/>
                <a:cs typeface="Arial"/>
              </a:rPr>
              <a:t> </a:t>
            </a:r>
            <a:r>
              <a:rPr lang="pt-BR" sz="1700" spc="-180">
                <a:latin typeface="Arial"/>
                <a:cs typeface="Arial"/>
              </a:rPr>
              <a:t>) </a:t>
            </a:r>
            <a:r>
              <a:rPr lang="pt-BR" sz="1700" spc="70" smtClean="0">
                <a:latin typeface="Arial"/>
                <a:cs typeface="Arial"/>
              </a:rPr>
              <a:t>++</a:t>
            </a:r>
            <a:r>
              <a:rPr lang="pt-BR" sz="1700" spc="5" smtClean="0">
                <a:latin typeface="Arial"/>
                <a:cs typeface="Arial"/>
              </a:rPr>
              <a:t>; </a:t>
            </a:r>
            <a:r>
              <a:rPr lang="pt-BR" sz="1700" spc="5">
                <a:latin typeface="Arial"/>
                <a:cs typeface="Arial"/>
              </a:rPr>
              <a:t>(</a:t>
            </a:r>
            <a:r>
              <a:rPr lang="pt-BR" sz="1700" spc="-300">
                <a:latin typeface="Arial"/>
                <a:cs typeface="Arial"/>
              </a:rPr>
              <a:t> </a:t>
            </a:r>
            <a:r>
              <a:rPr lang="pt-BR" sz="1700" spc="-270">
                <a:latin typeface="Lucida Sans Unicode"/>
                <a:cs typeface="Lucida Sans Unicode"/>
              </a:rPr>
              <a:t>∗</a:t>
            </a:r>
            <a:r>
              <a:rPr lang="pt-BR" sz="1700" spc="-130">
                <a:latin typeface="Lucida Sans Unicode"/>
                <a:cs typeface="Lucida Sans Unicode"/>
              </a:rPr>
              <a:t> </a:t>
            </a:r>
            <a:r>
              <a:rPr lang="pt-BR" sz="1700">
                <a:latin typeface="Arial"/>
                <a:cs typeface="Arial"/>
              </a:rPr>
              <a:t>j</a:t>
            </a:r>
            <a:r>
              <a:rPr lang="pt-BR" sz="1700" spc="-295">
                <a:latin typeface="Arial"/>
                <a:cs typeface="Arial"/>
              </a:rPr>
              <a:t> </a:t>
            </a:r>
            <a:r>
              <a:rPr lang="pt-BR" sz="1700" spc="-100">
                <a:latin typeface="Arial"/>
                <a:cs typeface="Arial"/>
              </a:rPr>
              <a:t>)</a:t>
            </a:r>
            <a:r>
              <a:rPr lang="pt-BR" sz="1700" spc="-120">
                <a:latin typeface="Lucida Sans Unicode"/>
                <a:cs typeface="Lucida Sans Unicode"/>
              </a:rPr>
              <a:t>−</a:t>
            </a:r>
            <a:r>
              <a:rPr lang="pt-BR" sz="1700" spc="-65">
                <a:latin typeface="Lucida Sans Unicode"/>
                <a:cs typeface="Lucida Sans Unicode"/>
              </a:rPr>
              <a:t>−</a:t>
            </a:r>
            <a:r>
              <a:rPr lang="pt-BR" sz="1700" spc="5">
                <a:latin typeface="Arial"/>
                <a:cs typeface="Arial"/>
              </a:rPr>
              <a:t>;</a:t>
            </a:r>
            <a:endParaRPr lang="pt-BR" sz="1700" spc="5" dirty="0" smtClean="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508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54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467359" indent="-262255">
              <a:lnSpc>
                <a:spcPct val="1000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67359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6799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rápid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464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900545" cy="452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39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9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365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Lucida Sans Unicode"/>
                <a:cs typeface="Lucida Sans Unicode"/>
              </a:rPr>
              <a:t> </a:t>
            </a:r>
            <a:r>
              <a:rPr sz="1700" i="1" spc="20" dirty="0">
                <a:latin typeface="Arial"/>
                <a:cs typeface="Arial"/>
              </a:rPr>
              <a:t>Entr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85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procediment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Partica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transparenci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32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3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1428750" algn="l"/>
                <a:tab pos="175958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 marR="3366770" indent="-20955">
              <a:lnSpc>
                <a:spcPct val="133100"/>
              </a:lnSpc>
              <a:tabLst>
                <a:tab pos="559435" algn="l"/>
                <a:tab pos="870585" algn="l"/>
                <a:tab pos="1739264" algn="l"/>
                <a:tab pos="2703195" algn="l"/>
                <a:tab pos="2928620" algn="l"/>
              </a:tabLst>
            </a:pPr>
            <a:r>
              <a:rPr sz="1700" spc="50" dirty="0">
                <a:latin typeface="Arial"/>
                <a:cs typeface="Arial"/>
              </a:rPr>
              <a:t>Partica</a:t>
            </a:r>
            <a:r>
              <a:rPr sz="1700" spc="185" dirty="0">
                <a:latin typeface="Arial"/>
                <a:cs typeface="Arial"/>
              </a:rPr>
              <a:t>o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QuickSor</a:t>
            </a:r>
            <a:r>
              <a:rPr sz="1700" spc="140" dirty="0">
                <a:latin typeface="Arial"/>
                <a:cs typeface="Arial"/>
              </a:rPr>
              <a:t>t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60" dirty="0">
                <a:latin typeface="Arial"/>
                <a:cs typeface="Arial"/>
              </a:rPr>
              <a:t>a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260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476490" cy="142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7608" y="2459989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72002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7983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7608" y="5571921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405530" y="2550593"/>
          <a:ext cx="3948832" cy="2946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518"/>
                <a:gridCol w="420181"/>
                <a:gridCol w="420225"/>
                <a:gridCol w="420223"/>
                <a:gridCol w="420223"/>
                <a:gridCol w="420225"/>
                <a:gridCol w="311237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29290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1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014"/>
            <a:ext cx="8736965" cy="581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Pi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472440" algn="ctr">
              <a:lnSpc>
                <a:spcPct val="100000"/>
              </a:lnSpc>
              <a:spcBef>
                <a:spcPts val="484"/>
              </a:spcBef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4979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484505" marR="5080" indent="-262255">
              <a:lnSpc>
                <a:spcPct val="117300"/>
              </a:lnSpc>
              <a:spcBef>
                <a:spcPts val="13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54100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dirty="0">
                <a:latin typeface="Arial"/>
                <a:cs typeface="Arial"/>
              </a:rPr>
              <a:t>nand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marR="158115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pregand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pequena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odifica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isso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2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edian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ê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099818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78520" cy="4963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iguai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Flajolet (1996,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17):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≈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0" dirty="0">
                <a:latin typeface="Georgia"/>
                <a:cs typeface="Georgi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2491561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94700" cy="554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dirty="0">
                <a:latin typeface="Arial"/>
                <a:cs typeface="Arial"/>
              </a:rPr>
              <a:t>cil:</a:t>
            </a:r>
            <a:endParaRPr sz="2050">
              <a:latin typeface="Arial"/>
              <a:cs typeface="Arial"/>
            </a:endParaRPr>
          </a:p>
          <a:p>
            <a:pPr marL="1114425" marR="386715" lvl="2" indent="-262255">
              <a:lnSpc>
                <a:spcPct val="119700"/>
              </a:lnSpc>
              <a:spcBef>
                <a:spcPts val="27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engan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729668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4895" cy="523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099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14629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(o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redu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0314191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2675" cy="4865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marR="53721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refle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habilidad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abandona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apida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63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SOs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repetid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4381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gerên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726262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320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Tip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Abst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Dado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9652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qualque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170996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387590" cy="570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9198450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054975" cy="4775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2774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bse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ação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9700"/>
              </a:lnSpc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Aj</a:t>
            </a:r>
            <a:r>
              <a:rPr sz="2050" dirty="0">
                <a:latin typeface="Arial"/>
                <a:cs typeface="Arial"/>
              </a:rPr>
              <a:t>unt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eficient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logarít</a:t>
            </a:r>
            <a:r>
              <a:rPr sz="2050" spc="5" dirty="0">
                <a:latin typeface="Arial"/>
                <a:cs typeface="Arial"/>
              </a:rPr>
              <a:t>mico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itui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utiliza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utu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fis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ta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bino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uille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n, 1978).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3573411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8806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604250" cy="582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Algo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it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657225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43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5306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6360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203809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686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1986"/>
            <a:ext cx="8223250" cy="3688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que: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Font typeface="Lucida Sans Unicode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541020" algn="ctr">
              <a:lnSpc>
                <a:spcPct val="100000"/>
              </a:lnSpc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986155" algn="ctr">
              <a:lnSpc>
                <a:spcPct val="100000"/>
              </a:lnSpc>
              <a:spcBef>
                <a:spcPts val="1075"/>
              </a:spcBef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tod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500"/>
              </a:lnSpc>
              <a:spcBef>
                <a:spcPts val="13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63675" y="4919960"/>
            <a:ext cx="2379307" cy="1483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09669" y="6142469"/>
            <a:ext cx="35052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4828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4	</a:t>
            </a: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378" y="6142469"/>
            <a:ext cx="3524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3177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5	</a:t>
            </a: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58030" y="5545289"/>
            <a:ext cx="3511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3939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2	</a:t>
            </a: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4739" y="4948110"/>
            <a:ext cx="34925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55904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1	</a:t>
            </a: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1428" y="5545289"/>
            <a:ext cx="3905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307340" algn="l"/>
              </a:tabLst>
            </a:pPr>
            <a:r>
              <a:rPr sz="1300" dirty="0">
                <a:latin typeface="Times New Roman"/>
                <a:cs typeface="Times New Roman"/>
              </a:rPr>
              <a:t>O	</a:t>
            </a:r>
            <a:r>
              <a:rPr sz="1950" baseline="2136" dirty="0">
                <a:latin typeface="Times New Roman"/>
                <a:cs typeface="Times New Roman"/>
              </a:rPr>
              <a:t>3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5332" y="6142469"/>
            <a:ext cx="109537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314960" algn="l"/>
                <a:tab pos="704215" algn="l"/>
                <a:tab pos="1011555" algn="l"/>
              </a:tabLst>
            </a:pPr>
            <a:r>
              <a:rPr sz="1300" dirty="0">
                <a:latin typeface="Times New Roman"/>
                <a:cs typeface="Times New Roman"/>
              </a:rPr>
              <a:t>A	</a:t>
            </a:r>
            <a:r>
              <a:rPr sz="1950" baseline="2136" dirty="0">
                <a:latin typeface="Times New Roman"/>
                <a:cs typeface="Times New Roman"/>
              </a:rPr>
              <a:t>6	</a:t>
            </a:r>
            <a:r>
              <a:rPr sz="1300" dirty="0">
                <a:latin typeface="Times New Roman"/>
                <a:cs typeface="Times New Roman"/>
              </a:rPr>
              <a:t>D	</a:t>
            </a:r>
            <a:r>
              <a:rPr sz="1950" baseline="2136" dirty="0">
                <a:latin typeface="Times New Roman"/>
                <a:cs typeface="Times New Roman"/>
              </a:rPr>
              <a:t>7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36161" y="48280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4055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1931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36161" y="64777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250758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329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Á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re 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ná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eta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-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11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55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9572029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63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243"/>
            <a:ext cx="8206105" cy="256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filho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y: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46893" y="3539197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5130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0871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46893" y="4430852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792243"/>
            <a:ext cx="6269355" cy="188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1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75823" y="3629814"/>
          <a:ext cx="2808233" cy="725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727"/>
                <a:gridCol w="395955"/>
                <a:gridCol w="420244"/>
                <a:gridCol w="395975"/>
                <a:gridCol w="408174"/>
                <a:gridCol w="395930"/>
                <a:gridCol w="420228"/>
              </a:tblGrid>
              <a:tr h="355267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644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657854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6170" cy="5790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01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 propo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Fl</a:t>
            </a:r>
            <a:r>
              <a:rPr sz="2050" spc="-6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yd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1964.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282813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956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7814" y="1976729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2208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67777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7814" y="3974122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401908"/>
            <a:ext cx="8059420" cy="126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engloband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pai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iten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25736" y="2067333"/>
          <a:ext cx="4308426" cy="1846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469"/>
                <a:gridCol w="420229"/>
                <a:gridCol w="395918"/>
                <a:gridCol w="432478"/>
                <a:gridCol w="395970"/>
                <a:gridCol w="408174"/>
                <a:gridCol w="395926"/>
                <a:gridCol w="311262"/>
              </a:tblGrid>
              <a:tr h="358555"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i="1" dirty="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17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823767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02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13" y="856500"/>
            <a:ext cx="8709660" cy="561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vi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4"/>
              </a:spcBef>
            </a:pP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400685">
              <a:lnSpc>
                <a:spcPct val="117800"/>
              </a:lnSpc>
              <a:spcBef>
                <a:spcPts val="1215"/>
              </a:spcBef>
            </a:pPr>
            <a:r>
              <a:rPr sz="2050" spc="10" dirty="0">
                <a:latin typeface="Arial"/>
                <a:cs typeface="Arial"/>
              </a:rPr>
              <a:t>O 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-40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9356724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904865" cy="4855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4475" marR="3653154" indent="-201295">
              <a:lnSpc>
                <a:spcPct val="129700"/>
              </a:lnSpc>
              <a:tabLst>
                <a:tab pos="688340" algn="l"/>
                <a:tab pos="852169" algn="l"/>
                <a:tab pos="143827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j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605"/>
              </a:spcBef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6435" algn="l"/>
                <a:tab pos="988060" algn="l"/>
                <a:tab pos="12992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2969" marR="1826260" indent="-217170">
              <a:lnSpc>
                <a:spcPct val="129700"/>
              </a:lnSpc>
              <a:tabLst>
                <a:tab pos="900430" algn="l"/>
                <a:tab pos="12026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+1]</a:t>
            </a:r>
            <a:r>
              <a:rPr sz="1700" spc="-35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j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7627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86435">
              <a:lnSpc>
                <a:spcPct val="100000"/>
              </a:lnSpc>
              <a:spcBef>
                <a:spcPts val="605"/>
              </a:spcBef>
              <a:tabLst>
                <a:tab pos="98806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0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3283" y="5773153"/>
            <a:ext cx="10471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20395" algn="l"/>
              </a:tabLst>
            </a:pP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4094" y="5773153"/>
            <a:ext cx="2486025" cy="942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070">
              <a:lnSpc>
                <a:spcPct val="100000"/>
              </a:lnSpc>
              <a:tabLst>
                <a:tab pos="1874520" algn="l"/>
              </a:tabLst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527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781619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6817187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98570" cy="1011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9645" y="2154644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211" y="2154644"/>
            <a:ext cx="2799715" cy="2685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217170" marR="869315" indent="-173990">
              <a:lnSpc>
                <a:spcPts val="2720"/>
              </a:lnSpc>
              <a:spcBef>
                <a:spcPts val="200"/>
              </a:spcBef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-290" dirty="0">
                <a:latin typeface="Arial"/>
                <a:cs typeface="Arial"/>
              </a:rPr>
              <a:t>q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53415">
              <a:lnSpc>
                <a:spcPct val="100000"/>
              </a:lnSpc>
              <a:spcBef>
                <a:spcPts val="675"/>
              </a:spcBef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4154454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33130" cy="432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tabLst>
                <a:tab pos="3446145" algn="l"/>
              </a:tabLst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-20" dirty="0">
                <a:latin typeface="Arial"/>
                <a:cs typeface="Arial"/>
              </a:rPr>
              <a:t>eti</a:t>
            </a:r>
            <a:r>
              <a:rPr sz="1700" spc="-25" dirty="0">
                <a:latin typeface="Arial"/>
                <a:cs typeface="Arial"/>
              </a:rPr>
              <a:t>r</a:t>
            </a:r>
            <a:r>
              <a:rPr sz="1700" spc="-15" dirty="0">
                <a:latin typeface="Arial"/>
                <a:cs typeface="Arial"/>
              </a:rPr>
              <a:t>aMa</a:t>
            </a:r>
            <a:r>
              <a:rPr sz="1700" spc="114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60" dirty="0">
                <a:latin typeface="Lucida Sans Unicode"/>
                <a:cs typeface="Lucida Sans Unicode"/>
              </a:rPr>
              <a:t>∗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75"/>
              </a:spcBef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75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hea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0915" marR="3470275" indent="-743585">
              <a:lnSpc>
                <a:spcPts val="2720"/>
              </a:lnSpc>
              <a:spcBef>
                <a:spcPts val="200"/>
              </a:spcBef>
              <a:tabLst>
                <a:tab pos="2671445" algn="l"/>
                <a:tab pos="430847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45" dirty="0">
                <a:latin typeface="Lucida Sans Unicode"/>
                <a:cs typeface="Lucida Sans Unicode"/>
              </a:rPr>
              <a:t>∗</a:t>
            </a:r>
            <a:r>
              <a:rPr sz="1700" spc="-100" dirty="0">
                <a:latin typeface="Arial"/>
                <a:cs typeface="Arial"/>
              </a:rPr>
              <a:t>n)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85" dirty="0">
                <a:latin typeface="Arial"/>
                <a:cs typeface="Arial"/>
              </a:rPr>
              <a:t>z</a:t>
            </a:r>
            <a:r>
              <a:rPr sz="1700" spc="12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∗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6892290" algn="ctr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67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0527167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732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5471"/>
            <a:ext cx="8388350" cy="4255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 marR="5080">
              <a:lnSpc>
                <a:spcPct val="117400"/>
              </a:lnSpc>
              <a:spcBef>
                <a:spcPts val="173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4261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spc="2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5" dirty="0">
                <a:latin typeface="Arial"/>
                <a:cs typeface="Arial"/>
              </a:rPr>
              <a:t>e(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ChaveNov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(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meno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qu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atua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30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30"/>
              </a:spcBef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30"/>
              </a:spcBef>
              <a:tabLst>
                <a:tab pos="2389505" algn="l"/>
              </a:tabLst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1785" y="5179580"/>
            <a:ext cx="29146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7995" algn="l"/>
                <a:tab pos="1940560" algn="l"/>
              </a:tabLst>
            </a:pP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6982" y="5099525"/>
            <a:ext cx="1595755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760" marR="5080" indent="-217170">
              <a:lnSpc>
                <a:spcPct val="130900"/>
              </a:lnSpc>
              <a:tabLst>
                <a:tab pos="420370" algn="l"/>
                <a:tab pos="10864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i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196627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776288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62570" cy="1358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64770" y="4200543"/>
            <a:ext cx="2379307" cy="1483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1594" y="4200543"/>
            <a:ext cx="2379307" cy="14835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64770" y="2508547"/>
            <a:ext cx="2379307" cy="14835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1594" y="2508547"/>
            <a:ext cx="2379307" cy="14835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10776" y="4148289"/>
            <a:ext cx="220979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(c)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0776" y="2456281"/>
            <a:ext cx="3019425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  <a:tabLst>
                <a:tab pos="2786380" algn="l"/>
              </a:tabLst>
            </a:pPr>
            <a:r>
              <a:rPr sz="1550" spc="5" dirty="0">
                <a:latin typeface="Times New Roman"/>
                <a:cs typeface="Times New Roman"/>
              </a:rPr>
              <a:t>(a)	(b)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7601" y="4148289"/>
            <a:ext cx="23241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(d)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371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053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0180" y="4596168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4416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959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39709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12400" y="423754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4776" y="4834725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087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4642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46419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40871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36427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39718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9595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99104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12400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92510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85923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99211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79334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27683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23239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26530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4891" y="4205795"/>
            <a:ext cx="37084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5"/>
              </a:lnSpc>
              <a:tabLst>
                <a:tab pos="314960" algn="l"/>
              </a:tabLst>
            </a:pPr>
            <a:r>
              <a:rPr sz="1300" dirty="0">
                <a:latin typeface="Times New Roman"/>
                <a:cs typeface="Times New Roman"/>
              </a:rPr>
              <a:t>U	</a:t>
            </a:r>
            <a:r>
              <a:rPr sz="2325" i="1" baseline="1792" dirty="0">
                <a:latin typeface="Times New Roman"/>
                <a:cs typeface="Times New Roman"/>
              </a:rPr>
              <a:t>i</a:t>
            </a:r>
            <a:endParaRPr sz="2325" baseline="1792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95920" y="483472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85916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26530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30977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2768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99091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637027" y="242385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641422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18564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637027" y="575901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221295" y="6132294"/>
            <a:ext cx="8527415" cy="702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00"/>
              </a:spcBef>
            </a:pP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625511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8385175" cy="259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09321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16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3995" marR="3452495" indent="-180975">
              <a:lnSpc>
                <a:spcPts val="2720"/>
              </a:lnSpc>
              <a:spcBef>
                <a:spcPts val="200"/>
              </a:spcBef>
              <a:tabLst>
                <a:tab pos="1068705" algn="l"/>
                <a:tab pos="2461260" algn="l"/>
              </a:tabLst>
            </a:pPr>
            <a:r>
              <a:rPr sz="1700" spc="135" dirty="0">
                <a:latin typeface="Arial"/>
                <a:cs typeface="Arial"/>
              </a:rPr>
              <a:t>{(</a:t>
            </a:r>
            <a:r>
              <a:rPr sz="1700" spc="-200" dirty="0">
                <a:latin typeface="Lucida Sans Unicode"/>
                <a:cs typeface="Lucida Sans Unicode"/>
              </a:rPr>
              <a:t>∗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120" dirty="0">
                <a:latin typeface="Arial"/>
                <a:cs typeface="Arial"/>
              </a:rPr>
              <a:t>)++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IN</a:t>
            </a:r>
            <a:r>
              <a:rPr sz="1700" spc="-50" dirty="0">
                <a:latin typeface="Arial"/>
                <a:cs typeface="Arial"/>
              </a:rPr>
              <a:t>T_</a:t>
            </a:r>
            <a:r>
              <a:rPr sz="1700" spc="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I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2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Chav</a:t>
            </a:r>
            <a:r>
              <a:rPr sz="1700" spc="3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5950469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4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30607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 startAt="4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3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, at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0819448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4641850" cy="995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6200" y="2075129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0606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69391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6200" y="5186946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5468266"/>
            <a:ext cx="8485505" cy="160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79057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linh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Figu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5, apó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2.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024121" y="2165745"/>
          <a:ext cx="2711652" cy="2946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529"/>
                <a:gridCol w="420218"/>
                <a:gridCol w="420224"/>
                <a:gridCol w="420222"/>
                <a:gridCol w="420224"/>
                <a:gridCol w="395979"/>
                <a:gridCol w="311256"/>
              </a:tblGrid>
              <a:tr h="35855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091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506486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6210935" cy="951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11" y="2218309"/>
            <a:ext cx="27997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6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Heapsor</a:t>
            </a:r>
            <a:r>
              <a:rPr sz="1700" spc="110" dirty="0">
                <a:latin typeface="Arial"/>
                <a:cs typeface="Arial"/>
              </a:rPr>
              <a:t>t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9632" y="2218309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0327" y="2563266"/>
            <a:ext cx="4203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186" y="2477251"/>
            <a:ext cx="1804670" cy="104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660" marR="5080" indent="-188595">
              <a:lnSpc>
                <a:spcPct val="133200"/>
              </a:lnSpc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35" dirty="0">
                <a:latin typeface="Arial"/>
                <a:cs typeface="Arial"/>
              </a:rPr>
              <a:t>(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2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1639" y="3253295"/>
            <a:ext cx="224599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8930" algn="l"/>
              </a:tabLst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85" dirty="0">
                <a:latin typeface="Arial"/>
                <a:cs typeface="Arial"/>
              </a:rPr>
              <a:t>c</a:t>
            </a:r>
            <a:r>
              <a:rPr sz="1700" i="1" spc="90" dirty="0">
                <a:latin typeface="Arial"/>
                <a:cs typeface="Arial"/>
              </a:rPr>
              <a:t>on</a:t>
            </a:r>
            <a:r>
              <a:rPr sz="1700" i="1" spc="85" dirty="0">
                <a:latin typeface="Arial"/>
                <a:cs typeface="Arial"/>
              </a:rPr>
              <a:t>stro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spc="220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hea</a:t>
            </a:r>
            <a:r>
              <a:rPr sz="1700" i="1" spc="10" dirty="0">
                <a:latin typeface="Arial"/>
                <a:cs typeface="Arial"/>
              </a:rPr>
              <a:t>p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7428" y="4633353"/>
            <a:ext cx="12077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7948" y="4633353"/>
            <a:ext cx="676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10" dirty="0">
                <a:latin typeface="Arial"/>
                <a:cs typeface="Arial"/>
              </a:rPr>
              <a:t>r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1808" y="3598252"/>
            <a:ext cx="3122930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08075" algn="l"/>
              </a:tabLst>
            </a:pP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67335">
              <a:lnSpc>
                <a:spcPct val="100000"/>
              </a:lnSpc>
              <a:spcBef>
                <a:spcPts val="675"/>
              </a:spcBef>
              <a:tabLst>
                <a:tab pos="469265" algn="l"/>
                <a:tab pos="239776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60" dirty="0">
                <a:latin typeface="Lucida Sans Unicode"/>
                <a:cs typeface="Lucida Sans Unicode"/>
              </a:rPr>
              <a:t> </a:t>
            </a:r>
            <a:r>
              <a:rPr sz="1700" i="1" spc="-35" dirty="0">
                <a:latin typeface="Arial"/>
                <a:cs typeface="Arial"/>
              </a:rPr>
              <a:t>orden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04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95" dirty="0">
                <a:latin typeface="Arial"/>
                <a:cs typeface="Arial"/>
              </a:rPr>
              <a:t> </a:t>
            </a:r>
            <a:r>
              <a:rPr sz="1700" i="1" spc="70" dirty="0">
                <a:latin typeface="Arial"/>
                <a:cs typeface="Arial"/>
              </a:rPr>
              <a:t>v</a:t>
            </a:r>
            <a:r>
              <a:rPr sz="1700" i="1" spc="75" dirty="0">
                <a:latin typeface="Arial"/>
                <a:cs typeface="Arial"/>
              </a:rPr>
              <a:t>eto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53390">
              <a:lnSpc>
                <a:spcPct val="100000"/>
              </a:lnSpc>
              <a:spcBef>
                <a:spcPts val="675"/>
              </a:spcBef>
              <a:tabLst>
                <a:tab pos="1613535" algn="l"/>
              </a:tabLst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8945">
              <a:lnSpc>
                <a:spcPct val="100000"/>
              </a:lnSpc>
              <a:spcBef>
                <a:spcPts val="675"/>
              </a:spcBef>
              <a:tabLst>
                <a:tab pos="1641475" algn="l"/>
              </a:tabLst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8471" y="5668340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0691" y="2130196"/>
            <a:ext cx="958850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dirty="0">
                <a:latin typeface="Arial"/>
                <a:cs typeface="Arial"/>
              </a:rPr>
              <a:t>Anális</a:t>
            </a:r>
            <a:r>
              <a:rPr sz="2050" b="1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1578" y="2614028"/>
            <a:ext cx="268732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96439" algn="l"/>
              </a:tabLst>
            </a:pP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5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62979" y="2926585"/>
            <a:ext cx="328549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1295" y="6552624"/>
            <a:ext cx="852741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7719132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7986"/>
            <a:ext cx="8737600" cy="580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208279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48387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endado:</a:t>
            </a:r>
            <a:endParaRPr sz="2050">
              <a:latin typeface="Arial"/>
              <a:cs typeface="Arial"/>
            </a:endParaRPr>
          </a:p>
          <a:p>
            <a:pPr marL="852169" marR="46990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9044401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874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5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xidade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295" y="4851397"/>
            <a:ext cx="775017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anali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e).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01852" y="1902250"/>
          <a:ext cx="3080841" cy="2578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903"/>
                <a:gridCol w="1793938"/>
              </a:tblGrid>
              <a:tr h="429768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ompl</a:t>
                      </a:r>
                      <a:r>
                        <a:rPr sz="1850" spc="-6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idade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050044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10220" cy="2369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 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el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3426440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355567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125821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066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619673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44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499925"/>
          <a:ext cx="4900382" cy="2578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575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29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417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303669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37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850" b="1" spc="20" dirty="0">
                <a:latin typeface="Arial"/>
                <a:cs typeface="Arial"/>
              </a:rPr>
              <a:t>Obse</a:t>
            </a:r>
            <a:r>
              <a:rPr sz="1850" b="1" spc="25" dirty="0">
                <a:latin typeface="Arial"/>
                <a:cs typeface="Arial"/>
              </a:rPr>
              <a:t>r</a:t>
            </a:r>
            <a:r>
              <a:rPr sz="1850" b="1" spc="-25" dirty="0">
                <a:latin typeface="Arial"/>
                <a:cs typeface="Arial"/>
              </a:rPr>
              <a:t>v</a:t>
            </a:r>
            <a:r>
              <a:rPr sz="1850" b="1" spc="15" dirty="0">
                <a:latin typeface="Arial"/>
                <a:cs typeface="Arial"/>
              </a:rPr>
              <a:t>ações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sobre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5" dirty="0">
                <a:latin typeface="Arial"/>
                <a:cs typeface="Arial"/>
              </a:rPr>
              <a:t>mé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odos: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êm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ande</a:t>
            </a:r>
            <a:r>
              <a:rPr sz="1850" spc="10" dirty="0">
                <a:latin typeface="Arial"/>
                <a:cs typeface="Arial"/>
              </a:rPr>
              <a:t>za.</a:t>
            </a:r>
            <a:endParaRPr sz="1850">
              <a:latin typeface="Arial"/>
              <a:cs typeface="Arial"/>
            </a:endParaRPr>
          </a:p>
          <a:p>
            <a:pPr marL="484505" marR="153225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42862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pequenos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500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Se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1620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10" dirty="0">
                <a:latin typeface="Arial"/>
                <a:cs typeface="Arial"/>
              </a:rPr>
              <a:t> 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753745" indent="-330835">
              <a:lnSpc>
                <a:spcPct val="120900"/>
              </a:lnSpc>
              <a:spcBef>
                <a:spcPts val="1019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30" dirty="0">
                <a:latin typeface="Palatino Linotype"/>
                <a:cs typeface="Palatino Linotype"/>
              </a:rPr>
              <a:t>O</a:t>
            </a:r>
            <a:r>
              <a:rPr sz="1850" spc="130" dirty="0">
                <a:latin typeface="Lucida Sans Unicode"/>
                <a:cs typeface="Lucida Sans Unicode"/>
              </a:rPr>
              <a:t>(</a:t>
            </a:r>
            <a:r>
              <a:rPr sz="1850" spc="50" dirty="0">
                <a:latin typeface="Palatino Linotype"/>
                <a:cs typeface="Palatino Linotype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30" dirty="0">
                <a:latin typeface="Lucida Sans Unicode"/>
                <a:cs typeface="Lucida Sans Unicode"/>
              </a:rPr>
              <a:t>)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3681889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513270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In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luênci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inicial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r</a:t>
            </a:r>
            <a:r>
              <a:rPr sz="2050" b="1" dirty="0">
                <a:latin typeface="Arial"/>
                <a:cs typeface="Arial"/>
              </a:rPr>
              <a:t>egist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os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2829" y="3596515"/>
            <a:ext cx="8453755" cy="344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233679" indent="-330200">
              <a:lnSpc>
                <a:spcPct val="120900"/>
              </a:lnSpc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ba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 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9372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1879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marR="5080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10" dirty="0">
                <a:latin typeface="Arial"/>
                <a:cs typeface="Arial"/>
              </a:rPr>
              <a:t> asc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79175" y="1809095"/>
          <a:ext cx="7544139" cy="1523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142"/>
                <a:gridCol w="708774"/>
                <a:gridCol w="805916"/>
                <a:gridCol w="805929"/>
                <a:gridCol w="708774"/>
                <a:gridCol w="805929"/>
                <a:gridCol w="806043"/>
                <a:gridCol w="708660"/>
                <a:gridCol w="806043"/>
                <a:gridCol w="805929"/>
              </a:tblGrid>
              <a:tr h="302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Heap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2895">
                <a:tc>
                  <a:txBody>
                    <a:bodyPr/>
                    <a:lstStyle/>
                    <a:p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780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c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Des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Ale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973314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31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Inse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14674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bo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(</a:t>
            </a:r>
            <a:r>
              <a:rPr sz="2050" b="1" spc="5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ub</a:t>
            </a:r>
            <a:r>
              <a:rPr sz="2050" b="1" spc="-20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)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6915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b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262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9567494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6010" cy="272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eleção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ajo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qu</a:t>
            </a:r>
            <a:r>
              <a:rPr sz="2050" spc="5" dirty="0">
                <a:latin typeface="Arial"/>
                <a:cs typeface="Arial"/>
              </a:rPr>
              <a:t>e 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00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532865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24240" cy="458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hellso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4032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930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3471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im e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57408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0731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064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rágil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err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38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uidad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é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  <a:p>
            <a:pPr marL="484505" marR="3130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probabilidad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5179689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8710" cy="5132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ligei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65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ubarqui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683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238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si</a:t>
            </a:r>
            <a:r>
              <a:rPr sz="2050" dirty="0">
                <a:latin typeface="Arial"/>
                <a:cs typeface="Arial"/>
              </a:rPr>
              <a:t>gnifica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podend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k, </a:t>
            </a:r>
            <a:r>
              <a:rPr sz="2050" dirty="0">
                <a:latin typeface="Arial"/>
                <a:cs typeface="Arial"/>
              </a:rPr>
              <a:t>1988).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844318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1885" cy="3832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Heapso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 marR="7194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3347268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2675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Conside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açõe</a:t>
            </a:r>
            <a:r>
              <a:rPr sz="2050" b="1" spc="5" dirty="0">
                <a:latin typeface="Arial"/>
                <a:cs typeface="Arial"/>
              </a:rPr>
              <a:t>s f</a:t>
            </a:r>
            <a:r>
              <a:rPr sz="2050" b="1" dirty="0">
                <a:latin typeface="Arial"/>
                <a:cs typeface="Arial"/>
              </a:rPr>
              <a:t>inais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143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é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reali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eguir </a:t>
            </a:r>
            <a:r>
              <a:rPr sz="2050" spc="5" dirty="0">
                <a:latin typeface="Arial"/>
                <a:cs typeface="Arial"/>
              </a:rPr>
              <a:t>iss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uponh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a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780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57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Essa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ég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21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1042</TotalTime>
  <Words>18550</Words>
  <Application>Microsoft Office PowerPoint</Application>
  <PresentationFormat>Personalizar</PresentationFormat>
  <Paragraphs>4220</Paragraphs>
  <Slides>285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7</vt:i4>
      </vt:variant>
      <vt:variant>
        <vt:lpstr>Títulos de slides</vt:lpstr>
      </vt:variant>
      <vt:variant>
        <vt:i4>285</vt:i4>
      </vt:variant>
    </vt:vector>
  </HeadingPairs>
  <TitlesOfParts>
    <vt:vector size="292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7_Office Theme</vt:lpstr>
      <vt:lpstr>Estruturas de Dados</vt:lpstr>
      <vt:lpstr>Apresentação da Disciplina</vt:lpstr>
      <vt:lpstr>Pré-requisitos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REVISÃO: Tipos de Subrotinas</vt:lpstr>
      <vt:lpstr>Parâmetros de uma subrotina em C 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Exercícios</vt:lpstr>
      <vt:lpstr>Exercícios</vt:lpstr>
      <vt:lpstr>Exercícios</vt:lpstr>
      <vt:lpstr>Exercícios</vt:lpstr>
      <vt:lpstr>Vetores</vt:lpstr>
      <vt:lpstr>Vetores: Declaração</vt:lpstr>
      <vt:lpstr>Vetores: Referência (Manipulação)</vt:lpstr>
      <vt:lpstr>Vetores: Inicialização</vt:lpstr>
      <vt:lpstr>Vetores: Inicialização</vt:lpstr>
      <vt:lpstr>Vetores: Exemplo</vt:lpstr>
      <vt:lpstr>Vetores e Subrotinas</vt:lpstr>
      <vt:lpstr>Exercícios</vt:lpstr>
      <vt:lpstr>Exercícios</vt:lpstr>
      <vt:lpstr>Exercícios</vt:lpstr>
      <vt:lpstr>Declaração de matrizes</vt:lpstr>
      <vt:lpstr>Declaração de matrizes</vt:lpstr>
      <vt:lpstr>Matrizes: inicialização</vt:lpstr>
      <vt:lpstr>Matrizes: inicialização</vt:lpstr>
      <vt:lpstr>Matrizes: exemplos</vt:lpstr>
      <vt:lpstr>Matrizes e subrotinas</vt:lpstr>
      <vt:lpstr>Exercícios</vt:lpstr>
      <vt:lpstr>Exercícios</vt:lpstr>
      <vt:lpstr>Exercícios</vt:lpstr>
      <vt:lpstr>Exercícios</vt:lpstr>
      <vt:lpstr>Estruturas heterogêneas</vt:lpstr>
      <vt:lpstr>Estruturas heterogêneas</vt:lpstr>
      <vt:lpstr>Variáveis compostas</vt:lpstr>
      <vt:lpstr>Definição de estrutura</vt:lpstr>
      <vt:lpstr>Estruturas - Definição</vt:lpstr>
      <vt:lpstr>Estruturas - Declaração</vt:lpstr>
      <vt:lpstr>Estruturas - Declaração</vt:lpstr>
      <vt:lpstr>Comando typedef</vt:lpstr>
      <vt:lpstr>Estruturas - Declaração</vt:lpstr>
      <vt:lpstr>Estruturas - Declaração</vt:lpstr>
      <vt:lpstr>Definição e Declaração</vt:lpstr>
      <vt:lpstr>Estruturas: Manipulação</vt:lpstr>
      <vt:lpstr>Estruturas: Manipulação</vt:lpstr>
      <vt:lpstr>Estruturas: Manipulação</vt:lpstr>
      <vt:lpstr>Exercícios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com vetor</vt:lpstr>
      <vt:lpstr>Exercício</vt:lpstr>
      <vt:lpstr>Atribuição de estruturas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Estruturas e funções</vt:lpstr>
      <vt:lpstr>Estruturas e funções</vt:lpstr>
      <vt:lpstr>Estruturas e funções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Inicialização de estruturas</vt:lpstr>
      <vt:lpstr>Inicialização de estruturas</vt:lpstr>
      <vt:lpstr>Vetores de estruturas</vt:lpstr>
      <vt:lpstr>Vetores de estruturas</vt:lpstr>
      <vt:lpstr>Vetores de estruturas</vt:lpstr>
      <vt:lpstr>Vetores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Impressão de vetor de estruturas</vt:lpstr>
      <vt:lpstr>Programa completo</vt:lpstr>
      <vt:lpstr>Exemplo 2</vt:lpstr>
      <vt:lpstr>Exercícios</vt:lpstr>
      <vt:lpstr>Exercícios</vt:lpstr>
      <vt:lpstr>Exercícios</vt:lpstr>
      <vt:lpstr>Debugger (Depurador)</vt:lpstr>
      <vt:lpstr>Debugger (Depurador)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Controle da execução</vt:lpstr>
      <vt:lpstr>Controle da execução</vt:lpstr>
      <vt:lpstr>Controle da 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Dica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Ordenação∗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</cp:lastModifiedBy>
  <cp:revision>35</cp:revision>
  <dcterms:created xsi:type="dcterms:W3CDTF">2015-06-18T03:37:37Z</dcterms:created>
  <dcterms:modified xsi:type="dcterms:W3CDTF">2017-03-14T14:58:37Z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