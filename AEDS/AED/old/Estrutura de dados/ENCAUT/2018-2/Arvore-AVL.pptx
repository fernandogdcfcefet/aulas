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</p:sldIdLst>
  <p:sldSz cx="9144000" cy="6858000" type="screen4x3"/>
  <p:notesSz cx="9144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6" d="100"/>
          <a:sy n="76" d="100"/>
        </p:scale>
        <p:origin x="-1206" y="-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50539" y="2175509"/>
            <a:ext cx="3042920" cy="670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54710" y="320040"/>
            <a:ext cx="7434579" cy="6851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69" y="1644650"/>
            <a:ext cx="8074660" cy="4518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11/22/2018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10" dirty="0"/>
              <a:t>Árvores</a:t>
            </a:r>
            <a:r>
              <a:rPr spc="-60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50770" y="3095081"/>
            <a:ext cx="4439285" cy="5994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71780">
              <a:lnSpc>
                <a:spcPct val="136700"/>
              </a:lnSpc>
            </a:pPr>
            <a:r>
              <a:rPr sz="3200" spc="35" dirty="0">
                <a:latin typeface="Arial"/>
                <a:cs typeface="Arial"/>
              </a:rPr>
              <a:t>Estrutura </a:t>
            </a:r>
            <a:r>
              <a:rPr sz="3200" spc="15" dirty="0">
                <a:latin typeface="Arial"/>
                <a:cs typeface="Arial"/>
              </a:rPr>
              <a:t>de </a:t>
            </a:r>
            <a:r>
              <a:rPr sz="3200" spc="-40" dirty="0" smtClean="0">
                <a:latin typeface="Arial"/>
                <a:cs typeface="Arial"/>
              </a:rPr>
              <a:t>Dados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68550">
              <a:lnSpc>
                <a:spcPct val="100000"/>
              </a:lnSpc>
            </a:pPr>
            <a:r>
              <a:rPr spc="35" dirty="0"/>
              <a:t>Introdução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8014970" cy="44526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16205">
              <a:lnSpc>
                <a:spcPct val="100000"/>
              </a:lnSpc>
            </a:pPr>
            <a:r>
              <a:rPr sz="2800" spc="-125" dirty="0">
                <a:latin typeface="Arial"/>
                <a:cs typeface="Arial"/>
              </a:rPr>
              <a:t>As </a:t>
            </a:r>
            <a:r>
              <a:rPr sz="2800" spc="5" dirty="0">
                <a:latin typeface="Arial"/>
                <a:cs typeface="Arial"/>
              </a:rPr>
              <a:t>árvores </a:t>
            </a:r>
            <a:r>
              <a:rPr sz="2800" spc="20" dirty="0">
                <a:latin typeface="Arial"/>
                <a:cs typeface="Arial"/>
              </a:rPr>
              <a:t>binárias </a:t>
            </a:r>
            <a:r>
              <a:rPr sz="2800" spc="15" dirty="0">
                <a:latin typeface="Arial"/>
                <a:cs typeface="Arial"/>
              </a:rPr>
              <a:t>de </a:t>
            </a:r>
            <a:r>
              <a:rPr sz="2800" spc="-5" dirty="0">
                <a:latin typeface="Arial"/>
                <a:cs typeface="Arial"/>
              </a:rPr>
              <a:t>pesquisa </a:t>
            </a:r>
            <a:r>
              <a:rPr sz="2800" spc="-50" dirty="0">
                <a:latin typeface="Arial"/>
                <a:cs typeface="Arial"/>
              </a:rPr>
              <a:t>são </a:t>
            </a:r>
            <a:r>
              <a:rPr sz="2800" spc="20" dirty="0">
                <a:latin typeface="Arial"/>
                <a:cs typeface="Arial"/>
              </a:rPr>
              <a:t>projetadas  para </a:t>
            </a:r>
            <a:r>
              <a:rPr sz="2800" spc="75" dirty="0">
                <a:latin typeface="Arial"/>
                <a:cs typeface="Arial"/>
              </a:rPr>
              <a:t>um </a:t>
            </a:r>
            <a:r>
              <a:rPr sz="2800" spc="-45" dirty="0">
                <a:latin typeface="Arial"/>
                <a:cs typeface="Arial"/>
              </a:rPr>
              <a:t>acesso </a:t>
            </a:r>
            <a:r>
              <a:rPr sz="2800" spc="30" dirty="0">
                <a:latin typeface="Arial"/>
                <a:cs typeface="Arial"/>
              </a:rPr>
              <a:t>rápido </a:t>
            </a:r>
            <a:r>
              <a:rPr sz="2800" spc="-15" dirty="0">
                <a:latin typeface="Arial"/>
                <a:cs typeface="Arial"/>
              </a:rPr>
              <a:t>à </a:t>
            </a:r>
            <a:r>
              <a:rPr sz="2800" spc="20" dirty="0">
                <a:latin typeface="Arial"/>
                <a:cs typeface="Arial"/>
              </a:rPr>
              <a:t>informação. </a:t>
            </a:r>
            <a:r>
              <a:rPr sz="2800" spc="35" dirty="0">
                <a:latin typeface="Arial"/>
                <a:cs typeface="Arial"/>
              </a:rPr>
              <a:t>Idealmente  </a:t>
            </a:r>
            <a:r>
              <a:rPr sz="2800" spc="-15" dirty="0">
                <a:latin typeface="Arial"/>
                <a:cs typeface="Arial"/>
              </a:rPr>
              <a:t>a </a:t>
            </a:r>
            <a:r>
              <a:rPr sz="2800" spc="25" dirty="0">
                <a:latin typeface="Arial"/>
                <a:cs typeface="Arial"/>
              </a:rPr>
              <a:t>árvore </a:t>
            </a:r>
            <a:r>
              <a:rPr sz="2800" spc="20" dirty="0">
                <a:latin typeface="Arial"/>
                <a:cs typeface="Arial"/>
              </a:rPr>
              <a:t>deve </a:t>
            </a:r>
            <a:r>
              <a:rPr sz="2800" spc="-5" dirty="0">
                <a:latin typeface="Arial"/>
                <a:cs typeface="Arial"/>
              </a:rPr>
              <a:t>ser </a:t>
            </a:r>
            <a:r>
              <a:rPr sz="2800" spc="30" dirty="0">
                <a:latin typeface="Arial"/>
                <a:cs typeface="Arial"/>
              </a:rPr>
              <a:t>razoavelmente </a:t>
            </a:r>
            <a:r>
              <a:rPr sz="2800" spc="35" dirty="0">
                <a:latin typeface="Arial"/>
                <a:cs typeface="Arial"/>
              </a:rPr>
              <a:t>equilibrada </a:t>
            </a:r>
            <a:r>
              <a:rPr sz="2800" spc="-10" dirty="0">
                <a:latin typeface="Arial"/>
                <a:cs typeface="Arial"/>
              </a:rPr>
              <a:t>e </a:t>
            </a:r>
            <a:r>
              <a:rPr sz="2800" spc="-15" dirty="0">
                <a:latin typeface="Arial"/>
                <a:cs typeface="Arial"/>
              </a:rPr>
              <a:t>a  </a:t>
            </a:r>
            <a:r>
              <a:rPr sz="2800" spc="-30" dirty="0">
                <a:latin typeface="Arial"/>
                <a:cs typeface="Arial"/>
              </a:rPr>
              <a:t>sua </a:t>
            </a:r>
            <a:r>
              <a:rPr sz="2800" spc="60" dirty="0">
                <a:latin typeface="Arial"/>
                <a:cs typeface="Arial"/>
              </a:rPr>
              <a:t>altura </a:t>
            </a:r>
            <a:r>
              <a:rPr sz="2800" spc="-10" dirty="0">
                <a:latin typeface="Arial"/>
                <a:cs typeface="Arial"/>
              </a:rPr>
              <a:t>será </a:t>
            </a:r>
            <a:r>
              <a:rPr sz="2800" spc="5" dirty="0">
                <a:latin typeface="Arial"/>
                <a:cs typeface="Arial"/>
              </a:rPr>
              <a:t>dada </a:t>
            </a:r>
            <a:r>
              <a:rPr sz="2800" spc="20" dirty="0">
                <a:latin typeface="Arial"/>
                <a:cs typeface="Arial"/>
              </a:rPr>
              <a:t>(no </a:t>
            </a:r>
            <a:r>
              <a:rPr sz="2800" spc="-40" dirty="0">
                <a:latin typeface="Arial"/>
                <a:cs typeface="Arial"/>
              </a:rPr>
              <a:t>caso </a:t>
            </a:r>
            <a:r>
              <a:rPr sz="2800" spc="10" dirty="0">
                <a:latin typeface="Arial"/>
                <a:cs typeface="Arial"/>
              </a:rPr>
              <a:t>de </a:t>
            </a:r>
            <a:r>
              <a:rPr sz="2800" spc="30" dirty="0">
                <a:latin typeface="Arial"/>
                <a:cs typeface="Arial"/>
              </a:rPr>
              <a:t>estar </a:t>
            </a:r>
            <a:r>
              <a:rPr sz="2800" spc="40" dirty="0">
                <a:latin typeface="Arial"/>
                <a:cs typeface="Arial"/>
              </a:rPr>
              <a:t>completa)  </a:t>
            </a:r>
            <a:r>
              <a:rPr sz="2800" spc="35" dirty="0">
                <a:latin typeface="Arial"/>
                <a:cs typeface="Arial"/>
              </a:rPr>
              <a:t>por </a:t>
            </a:r>
            <a:r>
              <a:rPr sz="2800" spc="114" dirty="0">
                <a:latin typeface="Arial"/>
                <a:cs typeface="Arial"/>
              </a:rPr>
              <a:t>h=log</a:t>
            </a:r>
            <a:r>
              <a:rPr sz="2800" spc="-315" dirty="0">
                <a:latin typeface="Arial"/>
                <a:cs typeface="Arial"/>
              </a:rPr>
              <a:t> </a:t>
            </a:r>
            <a:r>
              <a:rPr sz="2800" spc="125" dirty="0">
                <a:latin typeface="Arial"/>
                <a:cs typeface="Arial"/>
              </a:rPr>
              <a:t>(n+1)</a:t>
            </a:r>
            <a:endParaRPr sz="2800">
              <a:latin typeface="Arial"/>
              <a:cs typeface="Arial"/>
            </a:endParaRPr>
          </a:p>
          <a:p>
            <a:pPr marL="1600200">
              <a:lnSpc>
                <a:spcPts val="940"/>
              </a:lnSpc>
            </a:pPr>
            <a:r>
              <a:rPr sz="1600" spc="-35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ts val="2865"/>
              </a:lnSpc>
              <a:spcBef>
                <a:spcPts val="1420"/>
              </a:spcBef>
            </a:pPr>
            <a:r>
              <a:rPr sz="2800" spc="-200" dirty="0">
                <a:latin typeface="Arial"/>
                <a:cs typeface="Arial"/>
              </a:rPr>
              <a:t>O </a:t>
            </a:r>
            <a:r>
              <a:rPr sz="2800" spc="65" dirty="0">
                <a:latin typeface="Arial"/>
                <a:cs typeface="Arial"/>
              </a:rPr>
              <a:t>tempo </a:t>
            </a:r>
            <a:r>
              <a:rPr sz="2800" spc="15" dirty="0">
                <a:latin typeface="Arial"/>
                <a:cs typeface="Arial"/>
              </a:rPr>
              <a:t>de </a:t>
            </a:r>
            <a:r>
              <a:rPr sz="2800" spc="-5" dirty="0">
                <a:latin typeface="Arial"/>
                <a:cs typeface="Arial"/>
              </a:rPr>
              <a:t>pesquisa </a:t>
            </a:r>
            <a:r>
              <a:rPr sz="2800" spc="50" dirty="0">
                <a:latin typeface="Arial"/>
                <a:cs typeface="Arial"/>
              </a:rPr>
              <a:t>tende </a:t>
            </a:r>
            <a:r>
              <a:rPr sz="2800" spc="-15" dirty="0">
                <a:latin typeface="Arial"/>
                <a:cs typeface="Arial"/>
              </a:rPr>
              <a:t>a O(log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spc="-45" dirty="0">
                <a:latin typeface="Arial"/>
                <a:cs typeface="Arial"/>
              </a:rPr>
              <a:t>N)</a:t>
            </a:r>
            <a:endParaRPr sz="2800">
              <a:latin typeface="Arial"/>
              <a:cs typeface="Arial"/>
            </a:endParaRPr>
          </a:p>
          <a:p>
            <a:pPr marR="2230755" algn="r">
              <a:lnSpc>
                <a:spcPts val="1425"/>
              </a:lnSpc>
            </a:pPr>
            <a:r>
              <a:rPr sz="1600" spc="-35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2800" spc="-55" dirty="0">
                <a:latin typeface="Arial"/>
                <a:cs typeface="Arial"/>
              </a:rPr>
              <a:t>Porém, </a:t>
            </a:r>
            <a:r>
              <a:rPr sz="2800" spc="20" dirty="0">
                <a:latin typeface="Arial"/>
                <a:cs typeface="Arial"/>
              </a:rPr>
              <a:t>com </a:t>
            </a:r>
            <a:r>
              <a:rPr sz="2800" spc="-25" dirty="0">
                <a:latin typeface="Arial"/>
                <a:cs typeface="Arial"/>
              </a:rPr>
              <a:t>sucessivas </a:t>
            </a:r>
            <a:r>
              <a:rPr sz="2800" spc="-15" dirty="0">
                <a:latin typeface="Arial"/>
                <a:cs typeface="Arial"/>
              </a:rPr>
              <a:t>inserções </a:t>
            </a:r>
            <a:r>
              <a:rPr sz="2800" spc="15" dirty="0">
                <a:latin typeface="Arial"/>
                <a:cs typeface="Arial"/>
              </a:rPr>
              <a:t>de </a:t>
            </a:r>
            <a:r>
              <a:rPr sz="2800" spc="-15" dirty="0">
                <a:latin typeface="Arial"/>
                <a:cs typeface="Arial"/>
              </a:rPr>
              <a:t>dados  </a:t>
            </a:r>
            <a:r>
              <a:rPr sz="2800" spc="45" dirty="0">
                <a:latin typeface="Arial"/>
                <a:cs typeface="Arial"/>
              </a:rPr>
              <a:t>principalmente </a:t>
            </a:r>
            <a:r>
              <a:rPr sz="2800" spc="-5" dirty="0">
                <a:latin typeface="Arial"/>
                <a:cs typeface="Arial"/>
              </a:rPr>
              <a:t>ordenados, </a:t>
            </a:r>
            <a:r>
              <a:rPr sz="2800" spc="10" dirty="0">
                <a:latin typeface="Arial"/>
                <a:cs typeface="Arial"/>
              </a:rPr>
              <a:t>ela </a:t>
            </a:r>
            <a:r>
              <a:rPr sz="2800" spc="5" dirty="0">
                <a:latin typeface="Arial"/>
                <a:cs typeface="Arial"/>
              </a:rPr>
              <a:t>pode </a:t>
            </a:r>
            <a:r>
              <a:rPr sz="2800" spc="-50" dirty="0">
                <a:latin typeface="Arial"/>
                <a:cs typeface="Arial"/>
              </a:rPr>
              <a:t>se </a:t>
            </a:r>
            <a:r>
              <a:rPr sz="2800" spc="25" dirty="0">
                <a:latin typeface="Arial"/>
                <a:cs typeface="Arial"/>
              </a:rPr>
              <a:t>degenerar  </a:t>
            </a:r>
            <a:r>
              <a:rPr sz="2800" spc="20" dirty="0">
                <a:latin typeface="Arial"/>
                <a:cs typeface="Arial"/>
              </a:rPr>
              <a:t>para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-20" dirty="0">
                <a:latin typeface="Arial"/>
                <a:cs typeface="Arial"/>
              </a:rPr>
              <a:t>O(n)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8063865" cy="3608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800" b="1" spc="130" dirty="0">
                <a:latin typeface="Trebuchet MS"/>
                <a:cs typeface="Trebuchet MS"/>
              </a:rPr>
              <a:t>Árvores </a:t>
            </a:r>
            <a:r>
              <a:rPr sz="2800" b="1" spc="140" dirty="0">
                <a:latin typeface="Trebuchet MS"/>
                <a:cs typeface="Trebuchet MS"/>
              </a:rPr>
              <a:t>completas </a:t>
            </a:r>
            <a:r>
              <a:rPr sz="2800" spc="-50" dirty="0">
                <a:latin typeface="Arial"/>
                <a:cs typeface="Arial"/>
              </a:rPr>
              <a:t>são </a:t>
            </a:r>
            <a:r>
              <a:rPr sz="2800" spc="-5" dirty="0">
                <a:latin typeface="Arial"/>
                <a:cs typeface="Arial"/>
              </a:rPr>
              <a:t>aquelas </a:t>
            </a:r>
            <a:r>
              <a:rPr sz="2800" spc="20" dirty="0">
                <a:latin typeface="Arial"/>
                <a:cs typeface="Arial"/>
              </a:rPr>
              <a:t>que </a:t>
            </a:r>
            <a:r>
              <a:rPr sz="2800" spc="55" dirty="0">
                <a:latin typeface="Arial"/>
                <a:cs typeface="Arial"/>
              </a:rPr>
              <a:t>minimizam  </a:t>
            </a:r>
            <a:r>
              <a:rPr sz="2800" spc="-20" dirty="0">
                <a:latin typeface="Arial"/>
                <a:cs typeface="Arial"/>
              </a:rPr>
              <a:t>o </a:t>
            </a:r>
            <a:r>
              <a:rPr sz="2800" spc="30" dirty="0">
                <a:latin typeface="Arial"/>
                <a:cs typeface="Arial"/>
              </a:rPr>
              <a:t>número </a:t>
            </a:r>
            <a:r>
              <a:rPr sz="2800" spc="15" dirty="0">
                <a:latin typeface="Arial"/>
                <a:cs typeface="Arial"/>
              </a:rPr>
              <a:t>de </a:t>
            </a:r>
            <a:r>
              <a:rPr sz="2800" spc="-5" dirty="0">
                <a:latin typeface="Arial"/>
                <a:cs typeface="Arial"/>
              </a:rPr>
              <a:t>comparações </a:t>
            </a:r>
            <a:r>
              <a:rPr sz="2800" spc="20" dirty="0">
                <a:latin typeface="Arial"/>
                <a:cs typeface="Arial"/>
              </a:rPr>
              <a:t>efetuadas </a:t>
            </a:r>
            <a:r>
              <a:rPr sz="2800" spc="5" dirty="0">
                <a:latin typeface="Arial"/>
                <a:cs typeface="Arial"/>
              </a:rPr>
              <a:t>no </a:t>
            </a:r>
            <a:r>
              <a:rPr sz="2800" spc="45" dirty="0">
                <a:latin typeface="Arial"/>
                <a:cs typeface="Arial"/>
              </a:rPr>
              <a:t>pior </a:t>
            </a:r>
            <a:r>
              <a:rPr sz="2800" spc="-40" dirty="0">
                <a:latin typeface="Arial"/>
                <a:cs typeface="Arial"/>
              </a:rPr>
              <a:t>caso  </a:t>
            </a:r>
            <a:r>
              <a:rPr sz="2800" spc="20" dirty="0">
                <a:latin typeface="Arial"/>
                <a:cs typeface="Arial"/>
              </a:rPr>
              <a:t>para </a:t>
            </a:r>
            <a:r>
              <a:rPr sz="2800" spc="45" dirty="0">
                <a:latin typeface="Arial"/>
                <a:cs typeface="Arial"/>
              </a:rPr>
              <a:t>uma </a:t>
            </a:r>
            <a:r>
              <a:rPr sz="2800" spc="-15" dirty="0">
                <a:latin typeface="Arial"/>
                <a:cs typeface="Arial"/>
              </a:rPr>
              <a:t>busca </a:t>
            </a:r>
            <a:r>
              <a:rPr sz="2800" spc="20" dirty="0">
                <a:latin typeface="Arial"/>
                <a:cs typeface="Arial"/>
              </a:rPr>
              <a:t>com </a:t>
            </a:r>
            <a:r>
              <a:rPr sz="2800" spc="-5" dirty="0">
                <a:latin typeface="Arial"/>
                <a:cs typeface="Arial"/>
              </a:rPr>
              <a:t>chaves </a:t>
            </a:r>
            <a:r>
              <a:rPr sz="2800" spc="15" dirty="0">
                <a:latin typeface="Arial"/>
                <a:cs typeface="Arial"/>
              </a:rPr>
              <a:t>de probabilidades </a:t>
            </a:r>
            <a:r>
              <a:rPr sz="2800" spc="10" dirty="0">
                <a:latin typeface="Arial"/>
                <a:cs typeface="Arial"/>
              </a:rPr>
              <a:t>de  </a:t>
            </a:r>
            <a:r>
              <a:rPr sz="2800" spc="-5" dirty="0">
                <a:latin typeface="Arial"/>
                <a:cs typeface="Arial"/>
              </a:rPr>
              <a:t>ocorrências</a:t>
            </a:r>
            <a:r>
              <a:rPr sz="2800" spc="-55" dirty="0">
                <a:latin typeface="Arial"/>
                <a:cs typeface="Arial"/>
              </a:rPr>
              <a:t> </a:t>
            </a:r>
            <a:r>
              <a:rPr sz="2800" spc="30" dirty="0">
                <a:latin typeface="Arial"/>
                <a:cs typeface="Arial"/>
              </a:rPr>
              <a:t>idênticas.</a:t>
            </a:r>
            <a:endParaRPr sz="2800">
              <a:latin typeface="Arial"/>
              <a:cs typeface="Arial"/>
            </a:endParaRPr>
          </a:p>
          <a:p>
            <a:pPr marL="12700" marR="713105">
              <a:lnSpc>
                <a:spcPct val="100000"/>
              </a:lnSpc>
              <a:spcBef>
                <a:spcPts val="1420"/>
              </a:spcBef>
            </a:pPr>
            <a:r>
              <a:rPr sz="2800" dirty="0">
                <a:latin typeface="Arial"/>
                <a:cs typeface="Arial"/>
              </a:rPr>
              <a:t>Contudo, </a:t>
            </a:r>
            <a:r>
              <a:rPr sz="2800" spc="20" dirty="0">
                <a:latin typeface="Arial"/>
                <a:cs typeface="Arial"/>
              </a:rPr>
              <a:t>para </a:t>
            </a:r>
            <a:r>
              <a:rPr sz="2800" spc="60" dirty="0">
                <a:latin typeface="Arial"/>
                <a:cs typeface="Arial"/>
              </a:rPr>
              <a:t>garantir </a:t>
            </a:r>
            <a:r>
              <a:rPr sz="2800" spc="-60" dirty="0">
                <a:latin typeface="Arial"/>
                <a:cs typeface="Arial"/>
              </a:rPr>
              <a:t>essa </a:t>
            </a:r>
            <a:r>
              <a:rPr sz="2800" spc="25" dirty="0">
                <a:latin typeface="Arial"/>
                <a:cs typeface="Arial"/>
              </a:rPr>
              <a:t>propriedade </a:t>
            </a:r>
            <a:r>
              <a:rPr sz="2800" spc="50" dirty="0">
                <a:latin typeface="Arial"/>
                <a:cs typeface="Arial"/>
              </a:rPr>
              <a:t>em  </a:t>
            </a:r>
            <a:r>
              <a:rPr sz="2800" spc="-5" dirty="0">
                <a:latin typeface="Arial"/>
                <a:cs typeface="Arial"/>
              </a:rPr>
              <a:t>aplicações </a:t>
            </a:r>
            <a:r>
              <a:rPr sz="2800" spc="15" dirty="0">
                <a:latin typeface="Arial"/>
                <a:cs typeface="Arial"/>
              </a:rPr>
              <a:t>dinâmicas, </a:t>
            </a:r>
            <a:r>
              <a:rPr sz="2800" spc="-10" dirty="0">
                <a:latin typeface="Arial"/>
                <a:cs typeface="Arial"/>
              </a:rPr>
              <a:t>é </a:t>
            </a:r>
            <a:r>
              <a:rPr sz="2800" dirty="0">
                <a:latin typeface="Arial"/>
                <a:cs typeface="Arial"/>
              </a:rPr>
              <a:t>preciso </a:t>
            </a:r>
            <a:r>
              <a:rPr sz="2800" spc="35" dirty="0">
                <a:latin typeface="Arial"/>
                <a:cs typeface="Arial"/>
              </a:rPr>
              <a:t>reconstruir </a:t>
            </a:r>
            <a:r>
              <a:rPr sz="2800" spc="-15" dirty="0">
                <a:latin typeface="Arial"/>
                <a:cs typeface="Arial"/>
              </a:rPr>
              <a:t>a  </a:t>
            </a:r>
            <a:r>
              <a:rPr sz="2800" spc="25" dirty="0">
                <a:latin typeface="Arial"/>
                <a:cs typeface="Arial"/>
              </a:rPr>
              <a:t>árvore para </a:t>
            </a:r>
            <a:r>
              <a:rPr sz="2800" spc="-25" dirty="0">
                <a:latin typeface="Arial"/>
                <a:cs typeface="Arial"/>
              </a:rPr>
              <a:t>seu </a:t>
            </a:r>
            <a:r>
              <a:rPr sz="2800" spc="15" dirty="0">
                <a:latin typeface="Arial"/>
                <a:cs typeface="Arial"/>
              </a:rPr>
              <a:t>estado </a:t>
            </a:r>
            <a:r>
              <a:rPr sz="2800" spc="25" dirty="0">
                <a:latin typeface="Arial"/>
                <a:cs typeface="Arial"/>
              </a:rPr>
              <a:t>ideal </a:t>
            </a:r>
            <a:r>
              <a:rPr sz="2800" spc="-15" dirty="0">
                <a:latin typeface="Arial"/>
                <a:cs typeface="Arial"/>
              </a:rPr>
              <a:t>a </a:t>
            </a:r>
            <a:r>
              <a:rPr sz="2800" spc="-5" dirty="0">
                <a:latin typeface="Arial"/>
                <a:cs typeface="Arial"/>
              </a:rPr>
              <a:t>cada </a:t>
            </a:r>
            <a:r>
              <a:rPr sz="2800" dirty="0">
                <a:latin typeface="Arial"/>
                <a:cs typeface="Arial"/>
              </a:rPr>
              <a:t>operação  </a:t>
            </a:r>
            <a:r>
              <a:rPr sz="2800" spc="-15" dirty="0">
                <a:latin typeface="Arial"/>
                <a:cs typeface="Arial"/>
              </a:rPr>
              <a:t>sobre </a:t>
            </a:r>
            <a:r>
              <a:rPr sz="2800" spc="-40" dirty="0">
                <a:latin typeface="Arial"/>
                <a:cs typeface="Arial"/>
              </a:rPr>
              <a:t>seus </a:t>
            </a:r>
            <a:r>
              <a:rPr sz="2800" spc="-30" dirty="0">
                <a:latin typeface="Arial"/>
                <a:cs typeface="Arial"/>
              </a:rPr>
              <a:t>nós </a:t>
            </a:r>
            <a:r>
              <a:rPr sz="2800" spc="5" dirty="0">
                <a:latin typeface="Arial"/>
                <a:cs typeface="Arial"/>
              </a:rPr>
              <a:t>(inclusão ou</a:t>
            </a:r>
            <a:r>
              <a:rPr sz="2800" spc="14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exclusão).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150622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Exemplo: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669" y="5891529"/>
            <a:ext cx="613791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30" dirty="0">
                <a:latin typeface="Arial"/>
                <a:cs typeface="Arial"/>
              </a:rPr>
              <a:t>Suponha </a:t>
            </a:r>
            <a:r>
              <a:rPr sz="2800" spc="-15" dirty="0">
                <a:latin typeface="Arial"/>
                <a:cs typeface="Arial"/>
              </a:rPr>
              <a:t>a </a:t>
            </a:r>
            <a:r>
              <a:rPr sz="2800" spc="5" dirty="0">
                <a:latin typeface="Arial"/>
                <a:cs typeface="Arial"/>
              </a:rPr>
              <a:t>inclusão </a:t>
            </a:r>
            <a:r>
              <a:rPr sz="2800" spc="10" dirty="0">
                <a:latin typeface="Arial"/>
                <a:cs typeface="Arial"/>
              </a:rPr>
              <a:t>da chave </a:t>
            </a:r>
            <a:r>
              <a:rPr sz="2800" spc="45" dirty="0">
                <a:latin typeface="Arial"/>
                <a:cs typeface="Arial"/>
              </a:rPr>
              <a:t>0</a:t>
            </a:r>
            <a:r>
              <a:rPr sz="2800" spc="95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(zero).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785110" y="3091179"/>
            <a:ext cx="571500" cy="355600"/>
          </a:xfrm>
          <a:custGeom>
            <a:avLst/>
            <a:gdLst/>
            <a:ahLst/>
            <a:cxnLst/>
            <a:rect l="l" t="t" r="r" b="b"/>
            <a:pathLst>
              <a:path w="571500" h="35560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4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10"/>
                </a:lnTo>
                <a:lnTo>
                  <a:pt x="523949" y="278705"/>
                </a:lnTo>
                <a:lnTo>
                  <a:pt x="489584" y="304800"/>
                </a:lnTo>
                <a:lnTo>
                  <a:pt x="447600" y="326132"/>
                </a:lnTo>
                <a:lnTo>
                  <a:pt x="398978" y="342106"/>
                </a:lnTo>
                <a:lnTo>
                  <a:pt x="344700" y="352127"/>
                </a:lnTo>
                <a:lnTo>
                  <a:pt x="285750" y="355600"/>
                </a:lnTo>
                <a:lnTo>
                  <a:pt x="227163" y="352127"/>
                </a:lnTo>
                <a:lnTo>
                  <a:pt x="173057" y="342106"/>
                </a:lnTo>
                <a:lnTo>
                  <a:pt x="124457" y="326132"/>
                </a:lnTo>
                <a:lnTo>
                  <a:pt x="82391" y="304800"/>
                </a:lnTo>
                <a:lnTo>
                  <a:pt x="47885" y="278705"/>
                </a:lnTo>
                <a:lnTo>
                  <a:pt x="21967" y="248443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785110" y="3091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57879" y="34480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001010" y="314705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285740" y="3018789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4"/>
                </a:lnTo>
                <a:lnTo>
                  <a:pt x="398442" y="13672"/>
                </a:lnTo>
                <a:lnTo>
                  <a:pt x="447042" y="29802"/>
                </a:lnTo>
                <a:lnTo>
                  <a:pt x="489108" y="51276"/>
                </a:lnTo>
                <a:lnTo>
                  <a:pt x="523614" y="77452"/>
                </a:lnTo>
                <a:lnTo>
                  <a:pt x="549532" y="107692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5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70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1354"/>
                </a:lnTo>
                <a:lnTo>
                  <a:pt x="47550" y="77452"/>
                </a:lnTo>
                <a:lnTo>
                  <a:pt x="81915" y="51276"/>
                </a:lnTo>
                <a:lnTo>
                  <a:pt x="123899" y="29802"/>
                </a:lnTo>
                <a:lnTo>
                  <a:pt x="172521" y="13672"/>
                </a:lnTo>
                <a:lnTo>
                  <a:pt x="226799" y="3524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285740" y="301878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57240" y="33756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64809" y="309880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856990" y="259080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69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5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70"/>
                </a:lnTo>
                <a:lnTo>
                  <a:pt x="227163" y="353342"/>
                </a:lnTo>
                <a:lnTo>
                  <a:pt x="173057" y="343177"/>
                </a:lnTo>
                <a:lnTo>
                  <a:pt x="124457" y="327000"/>
                </a:lnTo>
                <a:lnTo>
                  <a:pt x="82391" y="305435"/>
                </a:lnTo>
                <a:lnTo>
                  <a:pt x="47885" y="279107"/>
                </a:lnTo>
                <a:lnTo>
                  <a:pt x="21967" y="248642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856990" y="25908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428490" y="29476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072890" y="264667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072129" y="2768600"/>
            <a:ext cx="784860" cy="322580"/>
          </a:xfrm>
          <a:custGeom>
            <a:avLst/>
            <a:gdLst/>
            <a:ahLst/>
            <a:cxnLst/>
            <a:rect l="l" t="t" r="r" b="b"/>
            <a:pathLst>
              <a:path w="784860" h="322580">
                <a:moveTo>
                  <a:pt x="0" y="322579"/>
                </a:moveTo>
                <a:lnTo>
                  <a:pt x="78485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428490" y="2768600"/>
            <a:ext cx="1143000" cy="250190"/>
          </a:xfrm>
          <a:custGeom>
            <a:avLst/>
            <a:gdLst/>
            <a:ahLst/>
            <a:cxnLst/>
            <a:rect l="l" t="t" r="r" b="b"/>
            <a:pathLst>
              <a:path w="1143000" h="250189">
                <a:moveTo>
                  <a:pt x="1143000" y="250189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7137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5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4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07137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264287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286000" y="36474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2357120" y="3395979"/>
            <a:ext cx="511809" cy="194310"/>
          </a:xfrm>
          <a:custGeom>
            <a:avLst/>
            <a:gdLst/>
            <a:ahLst/>
            <a:cxnLst/>
            <a:rect l="l" t="t" r="r" b="b"/>
            <a:pathLst>
              <a:path w="511810" h="194310">
                <a:moveTo>
                  <a:pt x="0" y="194310"/>
                </a:moveTo>
                <a:lnTo>
                  <a:pt x="5118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4312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4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5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64312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521462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4820920" y="367030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4928870" y="3324859"/>
            <a:ext cx="440690" cy="265430"/>
          </a:xfrm>
          <a:custGeom>
            <a:avLst/>
            <a:gdLst/>
            <a:ahLst/>
            <a:cxnLst/>
            <a:rect l="l" t="t" r="r" b="b"/>
            <a:pathLst>
              <a:path w="440689" h="265429">
                <a:moveTo>
                  <a:pt x="0" y="265429"/>
                </a:moveTo>
                <a:lnTo>
                  <a:pt x="44068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57879" y="3590290"/>
            <a:ext cx="570230" cy="356870"/>
          </a:xfrm>
          <a:custGeom>
            <a:avLst/>
            <a:gdLst/>
            <a:ahLst/>
            <a:cxnLst/>
            <a:rect l="l" t="t" r="r" b="b"/>
            <a:pathLst>
              <a:path w="570229" h="356870">
                <a:moveTo>
                  <a:pt x="284480" y="0"/>
                </a:moveTo>
                <a:lnTo>
                  <a:pt x="343430" y="3527"/>
                </a:lnTo>
                <a:lnTo>
                  <a:pt x="397708" y="13692"/>
                </a:lnTo>
                <a:lnTo>
                  <a:pt x="446330" y="29869"/>
                </a:lnTo>
                <a:lnTo>
                  <a:pt x="488315" y="51435"/>
                </a:lnTo>
                <a:lnTo>
                  <a:pt x="522679" y="77762"/>
                </a:lnTo>
                <a:lnTo>
                  <a:pt x="548441" y="108227"/>
                </a:lnTo>
                <a:lnTo>
                  <a:pt x="570230" y="179070"/>
                </a:lnTo>
                <a:lnTo>
                  <a:pt x="564619" y="215515"/>
                </a:lnTo>
                <a:lnTo>
                  <a:pt x="522679" y="279417"/>
                </a:lnTo>
                <a:lnTo>
                  <a:pt x="488314" y="305593"/>
                </a:lnTo>
                <a:lnTo>
                  <a:pt x="446330" y="327067"/>
                </a:lnTo>
                <a:lnTo>
                  <a:pt x="397708" y="343197"/>
                </a:lnTo>
                <a:lnTo>
                  <a:pt x="343430" y="353345"/>
                </a:lnTo>
                <a:lnTo>
                  <a:pt x="284480" y="356870"/>
                </a:lnTo>
                <a:lnTo>
                  <a:pt x="225948" y="353345"/>
                </a:lnTo>
                <a:lnTo>
                  <a:pt x="171985" y="343197"/>
                </a:lnTo>
                <a:lnTo>
                  <a:pt x="123589" y="327067"/>
                </a:lnTo>
                <a:lnTo>
                  <a:pt x="81756" y="305593"/>
                </a:lnTo>
                <a:lnTo>
                  <a:pt x="47483" y="279417"/>
                </a:lnTo>
                <a:lnTo>
                  <a:pt x="21768" y="249177"/>
                </a:lnTo>
                <a:lnTo>
                  <a:pt x="0" y="179070"/>
                </a:lnTo>
                <a:lnTo>
                  <a:pt x="5608" y="142205"/>
                </a:lnTo>
                <a:lnTo>
                  <a:pt x="47483" y="77762"/>
                </a:lnTo>
                <a:lnTo>
                  <a:pt x="81756" y="51435"/>
                </a:lnTo>
                <a:lnTo>
                  <a:pt x="123589" y="29869"/>
                </a:lnTo>
                <a:lnTo>
                  <a:pt x="171985" y="13692"/>
                </a:lnTo>
                <a:lnTo>
                  <a:pt x="225948" y="3527"/>
                </a:lnTo>
                <a:lnTo>
                  <a:pt x="28448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357879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929379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3572509" y="36474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274059" y="3395979"/>
            <a:ext cx="369570" cy="194310"/>
          </a:xfrm>
          <a:custGeom>
            <a:avLst/>
            <a:gdLst/>
            <a:ahLst/>
            <a:cxnLst/>
            <a:rect l="l" t="t" r="r" b="b"/>
            <a:pathLst>
              <a:path w="369570" h="194310">
                <a:moveTo>
                  <a:pt x="0" y="0"/>
                </a:moveTo>
                <a:lnTo>
                  <a:pt x="369569" y="1943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0075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4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5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00075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657225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6178550" y="367030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14</a:t>
            </a:r>
            <a:endParaRPr sz="13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5773420" y="3324859"/>
            <a:ext cx="513080" cy="265430"/>
          </a:xfrm>
          <a:custGeom>
            <a:avLst/>
            <a:gdLst/>
            <a:ahLst/>
            <a:cxnLst/>
            <a:rect l="l" t="t" r="r" b="b"/>
            <a:pathLst>
              <a:path w="513079" h="265429">
                <a:moveTo>
                  <a:pt x="0" y="0"/>
                </a:moveTo>
                <a:lnTo>
                  <a:pt x="513079" y="26542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14500" y="4286250"/>
            <a:ext cx="570230" cy="356870"/>
          </a:xfrm>
          <a:custGeom>
            <a:avLst/>
            <a:gdLst/>
            <a:ahLst/>
            <a:cxnLst/>
            <a:rect l="l" t="t" r="r" b="b"/>
            <a:pathLst>
              <a:path w="570230" h="356870">
                <a:moveTo>
                  <a:pt x="284480" y="0"/>
                </a:moveTo>
                <a:lnTo>
                  <a:pt x="343430" y="3472"/>
                </a:lnTo>
                <a:lnTo>
                  <a:pt x="397708" y="13493"/>
                </a:lnTo>
                <a:lnTo>
                  <a:pt x="446330" y="29467"/>
                </a:lnTo>
                <a:lnTo>
                  <a:pt x="488314" y="50800"/>
                </a:lnTo>
                <a:lnTo>
                  <a:pt x="522679" y="76894"/>
                </a:lnTo>
                <a:lnTo>
                  <a:pt x="548441" y="107156"/>
                </a:lnTo>
                <a:lnTo>
                  <a:pt x="570230" y="177800"/>
                </a:lnTo>
                <a:lnTo>
                  <a:pt x="564619" y="214664"/>
                </a:lnTo>
                <a:lnTo>
                  <a:pt x="522679" y="279107"/>
                </a:lnTo>
                <a:lnTo>
                  <a:pt x="488315" y="305434"/>
                </a:lnTo>
                <a:lnTo>
                  <a:pt x="446330" y="327000"/>
                </a:lnTo>
                <a:lnTo>
                  <a:pt x="397708" y="343177"/>
                </a:lnTo>
                <a:lnTo>
                  <a:pt x="343430" y="353342"/>
                </a:lnTo>
                <a:lnTo>
                  <a:pt x="284480" y="356869"/>
                </a:lnTo>
                <a:lnTo>
                  <a:pt x="225948" y="353342"/>
                </a:lnTo>
                <a:lnTo>
                  <a:pt x="171985" y="343177"/>
                </a:lnTo>
                <a:lnTo>
                  <a:pt x="123589" y="327000"/>
                </a:lnTo>
                <a:lnTo>
                  <a:pt x="81756" y="305435"/>
                </a:lnTo>
                <a:lnTo>
                  <a:pt x="47483" y="279107"/>
                </a:lnTo>
                <a:lnTo>
                  <a:pt x="21768" y="248642"/>
                </a:lnTo>
                <a:lnTo>
                  <a:pt x="0" y="177800"/>
                </a:lnTo>
                <a:lnTo>
                  <a:pt x="5608" y="140989"/>
                </a:lnTo>
                <a:lnTo>
                  <a:pt x="47483" y="76894"/>
                </a:lnTo>
                <a:lnTo>
                  <a:pt x="81756" y="50800"/>
                </a:lnTo>
                <a:lnTo>
                  <a:pt x="123589" y="29467"/>
                </a:lnTo>
                <a:lnTo>
                  <a:pt x="171985" y="13493"/>
                </a:lnTo>
                <a:lnTo>
                  <a:pt x="225948" y="3472"/>
                </a:lnTo>
                <a:lnTo>
                  <a:pt x="28448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71450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228600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192912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2000250" y="3895090"/>
            <a:ext cx="154940" cy="391160"/>
          </a:xfrm>
          <a:custGeom>
            <a:avLst/>
            <a:gdLst/>
            <a:ahLst/>
            <a:cxnLst/>
            <a:rect l="l" t="t" r="r" b="b"/>
            <a:pathLst>
              <a:path w="154939" h="391160">
                <a:moveTo>
                  <a:pt x="0" y="391160"/>
                </a:moveTo>
                <a:lnTo>
                  <a:pt x="15493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99739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2999739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57124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/>
          <p:nvPr/>
        </p:nvSpPr>
        <p:spPr>
          <a:xfrm>
            <a:off x="321563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285490" y="3895090"/>
            <a:ext cx="156210" cy="391160"/>
          </a:xfrm>
          <a:custGeom>
            <a:avLst/>
            <a:gdLst/>
            <a:ahLst/>
            <a:cxnLst/>
            <a:rect l="l" t="t" r="r" b="b"/>
            <a:pathLst>
              <a:path w="156210" h="391160">
                <a:moveTo>
                  <a:pt x="0" y="391160"/>
                </a:moveTo>
                <a:lnTo>
                  <a:pt x="1562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35712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35712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292862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2571750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559050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19" h="391160">
                <a:moveTo>
                  <a:pt x="0" y="0"/>
                </a:moveTo>
                <a:lnTo>
                  <a:pt x="83819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642359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4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69"/>
                </a:lnTo>
                <a:lnTo>
                  <a:pt x="227163" y="353342"/>
                </a:lnTo>
                <a:lnTo>
                  <a:pt x="173057" y="343177"/>
                </a:lnTo>
                <a:lnTo>
                  <a:pt x="124457" y="327000"/>
                </a:lnTo>
                <a:lnTo>
                  <a:pt x="82391" y="305435"/>
                </a:lnTo>
                <a:lnTo>
                  <a:pt x="47885" y="279107"/>
                </a:lnTo>
                <a:lnTo>
                  <a:pt x="21967" y="248642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3642359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215129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85825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845559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20" h="391160">
                <a:moveTo>
                  <a:pt x="0" y="0"/>
                </a:moveTo>
                <a:lnTo>
                  <a:pt x="83819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28625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4479" y="0"/>
                </a:moveTo>
                <a:lnTo>
                  <a:pt x="343485" y="3472"/>
                </a:lnTo>
                <a:lnTo>
                  <a:pt x="397906" y="13493"/>
                </a:lnTo>
                <a:lnTo>
                  <a:pt x="446732" y="29467"/>
                </a:lnTo>
                <a:lnTo>
                  <a:pt x="488949" y="50800"/>
                </a:lnTo>
                <a:lnTo>
                  <a:pt x="523547" y="76894"/>
                </a:lnTo>
                <a:lnTo>
                  <a:pt x="549513" y="107156"/>
                </a:lnTo>
                <a:lnTo>
                  <a:pt x="571500" y="177800"/>
                </a:lnTo>
                <a:lnTo>
                  <a:pt x="565834" y="214664"/>
                </a:lnTo>
                <a:lnTo>
                  <a:pt x="523547" y="279107"/>
                </a:lnTo>
                <a:lnTo>
                  <a:pt x="488950" y="305434"/>
                </a:lnTo>
                <a:lnTo>
                  <a:pt x="446732" y="327000"/>
                </a:lnTo>
                <a:lnTo>
                  <a:pt x="397906" y="343177"/>
                </a:lnTo>
                <a:lnTo>
                  <a:pt x="343485" y="353342"/>
                </a:lnTo>
                <a:lnTo>
                  <a:pt x="284479" y="356869"/>
                </a:lnTo>
                <a:lnTo>
                  <a:pt x="225948" y="353342"/>
                </a:lnTo>
                <a:lnTo>
                  <a:pt x="171985" y="343177"/>
                </a:lnTo>
                <a:lnTo>
                  <a:pt x="123589" y="327000"/>
                </a:lnTo>
                <a:lnTo>
                  <a:pt x="81756" y="305435"/>
                </a:lnTo>
                <a:lnTo>
                  <a:pt x="47483" y="279107"/>
                </a:lnTo>
                <a:lnTo>
                  <a:pt x="21768" y="248642"/>
                </a:lnTo>
                <a:lnTo>
                  <a:pt x="0" y="177800"/>
                </a:lnTo>
                <a:lnTo>
                  <a:pt x="5608" y="140989"/>
                </a:lnTo>
                <a:lnTo>
                  <a:pt x="47483" y="76894"/>
                </a:lnTo>
                <a:lnTo>
                  <a:pt x="81756" y="50800"/>
                </a:lnTo>
                <a:lnTo>
                  <a:pt x="123589" y="29467"/>
                </a:lnTo>
                <a:lnTo>
                  <a:pt x="171985" y="13493"/>
                </a:lnTo>
                <a:lnTo>
                  <a:pt x="225948" y="3472"/>
                </a:lnTo>
                <a:lnTo>
                  <a:pt x="284479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28625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85775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450087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4572000" y="3895090"/>
            <a:ext cx="154940" cy="391160"/>
          </a:xfrm>
          <a:custGeom>
            <a:avLst/>
            <a:gdLst/>
            <a:ahLst/>
            <a:cxnLst/>
            <a:rect l="l" t="t" r="r" b="b"/>
            <a:pathLst>
              <a:path w="154939" h="391160">
                <a:moveTo>
                  <a:pt x="0" y="391160"/>
                </a:moveTo>
                <a:lnTo>
                  <a:pt x="15493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57149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4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5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57149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614299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5750559" y="436499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5857240" y="3895090"/>
            <a:ext cx="227329" cy="391160"/>
          </a:xfrm>
          <a:custGeom>
            <a:avLst/>
            <a:gdLst/>
            <a:ahLst/>
            <a:cxnLst/>
            <a:rect l="l" t="t" r="r" b="b"/>
            <a:pathLst>
              <a:path w="227329" h="391160">
                <a:moveTo>
                  <a:pt x="0" y="391160"/>
                </a:moveTo>
                <a:lnTo>
                  <a:pt x="22733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92887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5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92887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550037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5106670" y="436499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11</a:t>
            </a:r>
            <a:endParaRPr sz="1300">
              <a:latin typeface="Arial"/>
              <a:cs typeface="Arial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5130800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20" h="391160">
                <a:moveTo>
                  <a:pt x="0" y="0"/>
                </a:moveTo>
                <a:lnTo>
                  <a:pt x="83820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150622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Exemplo: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785110" y="3091179"/>
            <a:ext cx="571500" cy="355600"/>
          </a:xfrm>
          <a:custGeom>
            <a:avLst/>
            <a:gdLst/>
            <a:ahLst/>
            <a:cxnLst/>
            <a:rect l="l" t="t" r="r" b="b"/>
            <a:pathLst>
              <a:path w="571500" h="35560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4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10"/>
                </a:lnTo>
                <a:lnTo>
                  <a:pt x="523949" y="278705"/>
                </a:lnTo>
                <a:lnTo>
                  <a:pt x="489584" y="304800"/>
                </a:lnTo>
                <a:lnTo>
                  <a:pt x="447600" y="326132"/>
                </a:lnTo>
                <a:lnTo>
                  <a:pt x="398978" y="342106"/>
                </a:lnTo>
                <a:lnTo>
                  <a:pt x="344700" y="352127"/>
                </a:lnTo>
                <a:lnTo>
                  <a:pt x="285750" y="355600"/>
                </a:lnTo>
                <a:lnTo>
                  <a:pt x="227163" y="352127"/>
                </a:lnTo>
                <a:lnTo>
                  <a:pt x="173057" y="342106"/>
                </a:lnTo>
                <a:lnTo>
                  <a:pt x="124457" y="326132"/>
                </a:lnTo>
                <a:lnTo>
                  <a:pt x="82391" y="304800"/>
                </a:lnTo>
                <a:lnTo>
                  <a:pt x="47885" y="278705"/>
                </a:lnTo>
                <a:lnTo>
                  <a:pt x="21967" y="248443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85110" y="309117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57879" y="34480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01010" y="314705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285740" y="3018789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4"/>
                </a:lnTo>
                <a:lnTo>
                  <a:pt x="398442" y="13672"/>
                </a:lnTo>
                <a:lnTo>
                  <a:pt x="447042" y="29802"/>
                </a:lnTo>
                <a:lnTo>
                  <a:pt x="489108" y="51276"/>
                </a:lnTo>
                <a:lnTo>
                  <a:pt x="523614" y="77452"/>
                </a:lnTo>
                <a:lnTo>
                  <a:pt x="549532" y="107692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5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70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1354"/>
                </a:lnTo>
                <a:lnTo>
                  <a:pt x="47550" y="77452"/>
                </a:lnTo>
                <a:lnTo>
                  <a:pt x="81915" y="51276"/>
                </a:lnTo>
                <a:lnTo>
                  <a:pt x="123899" y="29802"/>
                </a:lnTo>
                <a:lnTo>
                  <a:pt x="172521" y="13672"/>
                </a:lnTo>
                <a:lnTo>
                  <a:pt x="226799" y="3524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285740" y="301878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857240" y="33756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464809" y="309880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856990" y="259080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69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5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70"/>
                </a:lnTo>
                <a:lnTo>
                  <a:pt x="227163" y="353342"/>
                </a:lnTo>
                <a:lnTo>
                  <a:pt x="173057" y="343177"/>
                </a:lnTo>
                <a:lnTo>
                  <a:pt x="124457" y="327000"/>
                </a:lnTo>
                <a:lnTo>
                  <a:pt x="82391" y="305435"/>
                </a:lnTo>
                <a:lnTo>
                  <a:pt x="47885" y="279107"/>
                </a:lnTo>
                <a:lnTo>
                  <a:pt x="21967" y="248642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856990" y="259080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428490" y="29476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4072890" y="264667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072129" y="2768600"/>
            <a:ext cx="784860" cy="322580"/>
          </a:xfrm>
          <a:custGeom>
            <a:avLst/>
            <a:gdLst/>
            <a:ahLst/>
            <a:cxnLst/>
            <a:rect l="l" t="t" r="r" b="b"/>
            <a:pathLst>
              <a:path w="784860" h="322580">
                <a:moveTo>
                  <a:pt x="0" y="322579"/>
                </a:moveTo>
                <a:lnTo>
                  <a:pt x="78485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28490" y="2768600"/>
            <a:ext cx="1143000" cy="250190"/>
          </a:xfrm>
          <a:custGeom>
            <a:avLst/>
            <a:gdLst/>
            <a:ahLst/>
            <a:cxnLst/>
            <a:rect l="l" t="t" r="r" b="b"/>
            <a:pathLst>
              <a:path w="1143000" h="250189">
                <a:moveTo>
                  <a:pt x="1143000" y="250189"/>
                </a:moveTo>
                <a:lnTo>
                  <a:pt x="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207137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5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4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207137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64287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286000" y="36474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57120" y="3395979"/>
            <a:ext cx="511809" cy="194310"/>
          </a:xfrm>
          <a:custGeom>
            <a:avLst/>
            <a:gdLst/>
            <a:ahLst/>
            <a:cxnLst/>
            <a:rect l="l" t="t" r="r" b="b"/>
            <a:pathLst>
              <a:path w="511810" h="194310">
                <a:moveTo>
                  <a:pt x="0" y="194310"/>
                </a:moveTo>
                <a:lnTo>
                  <a:pt x="5118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64312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4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5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64312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521462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4820920" y="367030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10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928870" y="3324859"/>
            <a:ext cx="440690" cy="265430"/>
          </a:xfrm>
          <a:custGeom>
            <a:avLst/>
            <a:gdLst/>
            <a:ahLst/>
            <a:cxnLst/>
            <a:rect l="l" t="t" r="r" b="b"/>
            <a:pathLst>
              <a:path w="440689" h="265429">
                <a:moveTo>
                  <a:pt x="0" y="265429"/>
                </a:moveTo>
                <a:lnTo>
                  <a:pt x="44068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357879" y="3590290"/>
            <a:ext cx="570230" cy="356870"/>
          </a:xfrm>
          <a:custGeom>
            <a:avLst/>
            <a:gdLst/>
            <a:ahLst/>
            <a:cxnLst/>
            <a:rect l="l" t="t" r="r" b="b"/>
            <a:pathLst>
              <a:path w="570229" h="356870">
                <a:moveTo>
                  <a:pt x="284480" y="0"/>
                </a:moveTo>
                <a:lnTo>
                  <a:pt x="343430" y="3527"/>
                </a:lnTo>
                <a:lnTo>
                  <a:pt x="397708" y="13692"/>
                </a:lnTo>
                <a:lnTo>
                  <a:pt x="446330" y="29869"/>
                </a:lnTo>
                <a:lnTo>
                  <a:pt x="488315" y="51435"/>
                </a:lnTo>
                <a:lnTo>
                  <a:pt x="522679" y="77762"/>
                </a:lnTo>
                <a:lnTo>
                  <a:pt x="548441" y="108227"/>
                </a:lnTo>
                <a:lnTo>
                  <a:pt x="570230" y="179070"/>
                </a:lnTo>
                <a:lnTo>
                  <a:pt x="564619" y="215515"/>
                </a:lnTo>
                <a:lnTo>
                  <a:pt x="522679" y="279417"/>
                </a:lnTo>
                <a:lnTo>
                  <a:pt x="488314" y="305593"/>
                </a:lnTo>
                <a:lnTo>
                  <a:pt x="446330" y="327067"/>
                </a:lnTo>
                <a:lnTo>
                  <a:pt x="397708" y="343197"/>
                </a:lnTo>
                <a:lnTo>
                  <a:pt x="343430" y="353345"/>
                </a:lnTo>
                <a:lnTo>
                  <a:pt x="284480" y="356870"/>
                </a:lnTo>
                <a:lnTo>
                  <a:pt x="225948" y="353345"/>
                </a:lnTo>
                <a:lnTo>
                  <a:pt x="171985" y="343197"/>
                </a:lnTo>
                <a:lnTo>
                  <a:pt x="123589" y="327067"/>
                </a:lnTo>
                <a:lnTo>
                  <a:pt x="81756" y="305593"/>
                </a:lnTo>
                <a:lnTo>
                  <a:pt x="47483" y="279417"/>
                </a:lnTo>
                <a:lnTo>
                  <a:pt x="21768" y="249177"/>
                </a:lnTo>
                <a:lnTo>
                  <a:pt x="0" y="179070"/>
                </a:lnTo>
                <a:lnTo>
                  <a:pt x="5608" y="142205"/>
                </a:lnTo>
                <a:lnTo>
                  <a:pt x="47483" y="77762"/>
                </a:lnTo>
                <a:lnTo>
                  <a:pt x="81756" y="51435"/>
                </a:lnTo>
                <a:lnTo>
                  <a:pt x="123589" y="29869"/>
                </a:lnTo>
                <a:lnTo>
                  <a:pt x="171985" y="13692"/>
                </a:lnTo>
                <a:lnTo>
                  <a:pt x="225948" y="3527"/>
                </a:lnTo>
                <a:lnTo>
                  <a:pt x="28448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357879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929379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572509" y="36474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3274059" y="3395979"/>
            <a:ext cx="369570" cy="194310"/>
          </a:xfrm>
          <a:custGeom>
            <a:avLst/>
            <a:gdLst/>
            <a:ahLst/>
            <a:cxnLst/>
            <a:rect l="l" t="t" r="r" b="b"/>
            <a:pathLst>
              <a:path w="369570" h="194310">
                <a:moveTo>
                  <a:pt x="0" y="0"/>
                </a:moveTo>
                <a:lnTo>
                  <a:pt x="369569" y="19431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000750" y="359029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527"/>
                </a:lnTo>
                <a:lnTo>
                  <a:pt x="398442" y="13692"/>
                </a:lnTo>
                <a:lnTo>
                  <a:pt x="447042" y="29869"/>
                </a:lnTo>
                <a:lnTo>
                  <a:pt x="489108" y="51435"/>
                </a:lnTo>
                <a:lnTo>
                  <a:pt x="523614" y="77762"/>
                </a:lnTo>
                <a:lnTo>
                  <a:pt x="549532" y="108227"/>
                </a:lnTo>
                <a:lnTo>
                  <a:pt x="571500" y="179070"/>
                </a:lnTo>
                <a:lnTo>
                  <a:pt x="565837" y="215515"/>
                </a:lnTo>
                <a:lnTo>
                  <a:pt x="523614" y="279417"/>
                </a:lnTo>
                <a:lnTo>
                  <a:pt x="489108" y="305593"/>
                </a:lnTo>
                <a:lnTo>
                  <a:pt x="447042" y="327067"/>
                </a:lnTo>
                <a:lnTo>
                  <a:pt x="398442" y="343197"/>
                </a:lnTo>
                <a:lnTo>
                  <a:pt x="344336" y="353345"/>
                </a:lnTo>
                <a:lnTo>
                  <a:pt x="285750" y="356870"/>
                </a:lnTo>
                <a:lnTo>
                  <a:pt x="226799" y="353345"/>
                </a:lnTo>
                <a:lnTo>
                  <a:pt x="172521" y="343197"/>
                </a:lnTo>
                <a:lnTo>
                  <a:pt x="123899" y="327067"/>
                </a:lnTo>
                <a:lnTo>
                  <a:pt x="81914" y="305593"/>
                </a:lnTo>
                <a:lnTo>
                  <a:pt x="47550" y="279417"/>
                </a:lnTo>
                <a:lnTo>
                  <a:pt x="21788" y="249177"/>
                </a:lnTo>
                <a:lnTo>
                  <a:pt x="0" y="179070"/>
                </a:lnTo>
                <a:lnTo>
                  <a:pt x="5610" y="142205"/>
                </a:lnTo>
                <a:lnTo>
                  <a:pt x="47550" y="77762"/>
                </a:lnTo>
                <a:lnTo>
                  <a:pt x="81915" y="51435"/>
                </a:lnTo>
                <a:lnTo>
                  <a:pt x="123899" y="29869"/>
                </a:lnTo>
                <a:lnTo>
                  <a:pt x="172521" y="13692"/>
                </a:lnTo>
                <a:lnTo>
                  <a:pt x="226799" y="3527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6000750" y="359029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6572250" y="3947159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6178550" y="367030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14</a:t>
            </a:r>
            <a:endParaRPr sz="13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5773420" y="3324859"/>
            <a:ext cx="513080" cy="265430"/>
          </a:xfrm>
          <a:custGeom>
            <a:avLst/>
            <a:gdLst/>
            <a:ahLst/>
            <a:cxnLst/>
            <a:rect l="l" t="t" r="r" b="b"/>
            <a:pathLst>
              <a:path w="513079" h="265429">
                <a:moveTo>
                  <a:pt x="0" y="0"/>
                </a:moveTo>
                <a:lnTo>
                  <a:pt x="513079" y="265429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714500" y="4286250"/>
            <a:ext cx="570230" cy="356870"/>
          </a:xfrm>
          <a:custGeom>
            <a:avLst/>
            <a:gdLst/>
            <a:ahLst/>
            <a:cxnLst/>
            <a:rect l="l" t="t" r="r" b="b"/>
            <a:pathLst>
              <a:path w="570230" h="356870">
                <a:moveTo>
                  <a:pt x="284480" y="0"/>
                </a:moveTo>
                <a:lnTo>
                  <a:pt x="343430" y="3472"/>
                </a:lnTo>
                <a:lnTo>
                  <a:pt x="397708" y="13493"/>
                </a:lnTo>
                <a:lnTo>
                  <a:pt x="446330" y="29467"/>
                </a:lnTo>
                <a:lnTo>
                  <a:pt x="488314" y="50800"/>
                </a:lnTo>
                <a:lnTo>
                  <a:pt x="522679" y="76894"/>
                </a:lnTo>
                <a:lnTo>
                  <a:pt x="548441" y="107156"/>
                </a:lnTo>
                <a:lnTo>
                  <a:pt x="570230" y="177800"/>
                </a:lnTo>
                <a:lnTo>
                  <a:pt x="564619" y="214664"/>
                </a:lnTo>
                <a:lnTo>
                  <a:pt x="522679" y="279107"/>
                </a:lnTo>
                <a:lnTo>
                  <a:pt x="488315" y="305434"/>
                </a:lnTo>
                <a:lnTo>
                  <a:pt x="446330" y="327000"/>
                </a:lnTo>
                <a:lnTo>
                  <a:pt x="397708" y="343177"/>
                </a:lnTo>
                <a:lnTo>
                  <a:pt x="343430" y="353342"/>
                </a:lnTo>
                <a:lnTo>
                  <a:pt x="284480" y="356869"/>
                </a:lnTo>
                <a:lnTo>
                  <a:pt x="225948" y="353342"/>
                </a:lnTo>
                <a:lnTo>
                  <a:pt x="171985" y="343177"/>
                </a:lnTo>
                <a:lnTo>
                  <a:pt x="123589" y="327000"/>
                </a:lnTo>
                <a:lnTo>
                  <a:pt x="81756" y="305435"/>
                </a:lnTo>
                <a:lnTo>
                  <a:pt x="47483" y="279107"/>
                </a:lnTo>
                <a:lnTo>
                  <a:pt x="21768" y="248642"/>
                </a:lnTo>
                <a:lnTo>
                  <a:pt x="0" y="177800"/>
                </a:lnTo>
                <a:lnTo>
                  <a:pt x="5608" y="140989"/>
                </a:lnTo>
                <a:lnTo>
                  <a:pt x="47483" y="76894"/>
                </a:lnTo>
                <a:lnTo>
                  <a:pt x="81756" y="50800"/>
                </a:lnTo>
                <a:lnTo>
                  <a:pt x="123589" y="29467"/>
                </a:lnTo>
                <a:lnTo>
                  <a:pt x="171985" y="13493"/>
                </a:lnTo>
                <a:lnTo>
                  <a:pt x="225948" y="3472"/>
                </a:lnTo>
                <a:lnTo>
                  <a:pt x="28448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71450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228600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92912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000250" y="3895090"/>
            <a:ext cx="154940" cy="391160"/>
          </a:xfrm>
          <a:custGeom>
            <a:avLst/>
            <a:gdLst/>
            <a:ahLst/>
            <a:cxnLst/>
            <a:rect l="l" t="t" r="r" b="b"/>
            <a:pathLst>
              <a:path w="154939" h="391160">
                <a:moveTo>
                  <a:pt x="0" y="391160"/>
                </a:moveTo>
                <a:lnTo>
                  <a:pt x="15493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999739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2999739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57124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321563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3285490" y="3895090"/>
            <a:ext cx="156210" cy="391160"/>
          </a:xfrm>
          <a:custGeom>
            <a:avLst/>
            <a:gdLst/>
            <a:ahLst/>
            <a:cxnLst/>
            <a:rect l="l" t="t" r="r" b="b"/>
            <a:pathLst>
              <a:path w="156210" h="391160">
                <a:moveTo>
                  <a:pt x="0" y="391160"/>
                </a:moveTo>
                <a:lnTo>
                  <a:pt x="15621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235712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235712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2862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2571750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559050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19" h="391160">
                <a:moveTo>
                  <a:pt x="0" y="0"/>
                </a:moveTo>
                <a:lnTo>
                  <a:pt x="83819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3642359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4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69"/>
                </a:lnTo>
                <a:lnTo>
                  <a:pt x="227163" y="353342"/>
                </a:lnTo>
                <a:lnTo>
                  <a:pt x="173057" y="343177"/>
                </a:lnTo>
                <a:lnTo>
                  <a:pt x="124457" y="327000"/>
                </a:lnTo>
                <a:lnTo>
                  <a:pt x="82391" y="305435"/>
                </a:lnTo>
                <a:lnTo>
                  <a:pt x="47885" y="279107"/>
                </a:lnTo>
                <a:lnTo>
                  <a:pt x="21967" y="248642"/>
                </a:lnTo>
                <a:lnTo>
                  <a:pt x="0" y="177800"/>
                </a:lnTo>
                <a:lnTo>
                  <a:pt x="5662" y="140989"/>
                </a:lnTo>
                <a:lnTo>
                  <a:pt x="47885" y="76894"/>
                </a:lnTo>
                <a:lnTo>
                  <a:pt x="82391" y="50800"/>
                </a:lnTo>
                <a:lnTo>
                  <a:pt x="124457" y="29467"/>
                </a:lnTo>
                <a:lnTo>
                  <a:pt x="173057" y="13493"/>
                </a:lnTo>
                <a:lnTo>
                  <a:pt x="227163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3642359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215129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385825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3845559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20" h="391160">
                <a:moveTo>
                  <a:pt x="0" y="0"/>
                </a:moveTo>
                <a:lnTo>
                  <a:pt x="83819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28625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4479" y="0"/>
                </a:moveTo>
                <a:lnTo>
                  <a:pt x="343485" y="3472"/>
                </a:lnTo>
                <a:lnTo>
                  <a:pt x="397906" y="13493"/>
                </a:lnTo>
                <a:lnTo>
                  <a:pt x="446732" y="29467"/>
                </a:lnTo>
                <a:lnTo>
                  <a:pt x="488949" y="50800"/>
                </a:lnTo>
                <a:lnTo>
                  <a:pt x="523547" y="76894"/>
                </a:lnTo>
                <a:lnTo>
                  <a:pt x="549513" y="107156"/>
                </a:lnTo>
                <a:lnTo>
                  <a:pt x="571500" y="177800"/>
                </a:lnTo>
                <a:lnTo>
                  <a:pt x="565834" y="214664"/>
                </a:lnTo>
                <a:lnTo>
                  <a:pt x="523547" y="279107"/>
                </a:lnTo>
                <a:lnTo>
                  <a:pt x="488950" y="305434"/>
                </a:lnTo>
                <a:lnTo>
                  <a:pt x="446732" y="327000"/>
                </a:lnTo>
                <a:lnTo>
                  <a:pt x="397906" y="343177"/>
                </a:lnTo>
                <a:lnTo>
                  <a:pt x="343485" y="353342"/>
                </a:lnTo>
                <a:lnTo>
                  <a:pt x="284479" y="356869"/>
                </a:lnTo>
                <a:lnTo>
                  <a:pt x="225948" y="353342"/>
                </a:lnTo>
                <a:lnTo>
                  <a:pt x="171985" y="343177"/>
                </a:lnTo>
                <a:lnTo>
                  <a:pt x="123589" y="327000"/>
                </a:lnTo>
                <a:lnTo>
                  <a:pt x="81756" y="305435"/>
                </a:lnTo>
                <a:lnTo>
                  <a:pt x="47483" y="279107"/>
                </a:lnTo>
                <a:lnTo>
                  <a:pt x="21768" y="248642"/>
                </a:lnTo>
                <a:lnTo>
                  <a:pt x="0" y="177800"/>
                </a:lnTo>
                <a:lnTo>
                  <a:pt x="5608" y="140989"/>
                </a:lnTo>
                <a:lnTo>
                  <a:pt x="47483" y="76894"/>
                </a:lnTo>
                <a:lnTo>
                  <a:pt x="81756" y="50800"/>
                </a:lnTo>
                <a:lnTo>
                  <a:pt x="123589" y="29467"/>
                </a:lnTo>
                <a:lnTo>
                  <a:pt x="171985" y="13493"/>
                </a:lnTo>
                <a:lnTo>
                  <a:pt x="225948" y="3472"/>
                </a:lnTo>
                <a:lnTo>
                  <a:pt x="284479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28625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85775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4500879" y="4342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4572000" y="3895090"/>
            <a:ext cx="154940" cy="391160"/>
          </a:xfrm>
          <a:custGeom>
            <a:avLst/>
            <a:gdLst/>
            <a:ahLst/>
            <a:cxnLst/>
            <a:rect l="l" t="t" r="r" b="b"/>
            <a:pathLst>
              <a:path w="154939" h="391160">
                <a:moveTo>
                  <a:pt x="0" y="391160"/>
                </a:moveTo>
                <a:lnTo>
                  <a:pt x="15493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557149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700" y="3472"/>
                </a:lnTo>
                <a:lnTo>
                  <a:pt x="398978" y="13493"/>
                </a:lnTo>
                <a:lnTo>
                  <a:pt x="447600" y="29467"/>
                </a:lnTo>
                <a:lnTo>
                  <a:pt x="489585" y="50800"/>
                </a:lnTo>
                <a:lnTo>
                  <a:pt x="523949" y="76894"/>
                </a:lnTo>
                <a:lnTo>
                  <a:pt x="549711" y="107156"/>
                </a:lnTo>
                <a:lnTo>
                  <a:pt x="571500" y="177800"/>
                </a:lnTo>
                <a:lnTo>
                  <a:pt x="565889" y="214664"/>
                </a:lnTo>
                <a:lnTo>
                  <a:pt x="523949" y="279107"/>
                </a:lnTo>
                <a:lnTo>
                  <a:pt x="489584" y="305434"/>
                </a:lnTo>
                <a:lnTo>
                  <a:pt x="447600" y="327000"/>
                </a:lnTo>
                <a:lnTo>
                  <a:pt x="398978" y="343177"/>
                </a:lnTo>
                <a:lnTo>
                  <a:pt x="344700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5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557149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614299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5750559" y="436499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857240" y="3895090"/>
            <a:ext cx="227329" cy="391160"/>
          </a:xfrm>
          <a:custGeom>
            <a:avLst/>
            <a:gdLst/>
            <a:ahLst/>
            <a:cxnLst/>
            <a:rect l="l" t="t" r="r" b="b"/>
            <a:pathLst>
              <a:path w="227329" h="391160">
                <a:moveTo>
                  <a:pt x="0" y="391160"/>
                </a:moveTo>
                <a:lnTo>
                  <a:pt x="227330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928870" y="42862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4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5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928870" y="42862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5500370" y="46431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5106670" y="436499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11</a:t>
            </a:r>
            <a:endParaRPr sz="1300">
              <a:latin typeface="Arial"/>
              <a:cs typeface="Aria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5130800" y="3895090"/>
            <a:ext cx="83820" cy="391160"/>
          </a:xfrm>
          <a:custGeom>
            <a:avLst/>
            <a:gdLst/>
            <a:ahLst/>
            <a:cxnLst/>
            <a:rect l="l" t="t" r="r" b="b"/>
            <a:pathLst>
              <a:path w="83820" h="391160">
                <a:moveTo>
                  <a:pt x="0" y="0"/>
                </a:moveTo>
                <a:lnTo>
                  <a:pt x="83820" y="39116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1428750" y="48577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226799" y="3472"/>
                </a:lnTo>
                <a:lnTo>
                  <a:pt x="172521" y="13493"/>
                </a:lnTo>
                <a:lnTo>
                  <a:pt x="123899" y="29467"/>
                </a:lnTo>
                <a:lnTo>
                  <a:pt x="81914" y="50800"/>
                </a:lnTo>
                <a:lnTo>
                  <a:pt x="47550" y="76894"/>
                </a:lnTo>
                <a:lnTo>
                  <a:pt x="21788" y="107156"/>
                </a:lnTo>
                <a:lnTo>
                  <a:pt x="0" y="177800"/>
                </a:lnTo>
                <a:lnTo>
                  <a:pt x="5610" y="214664"/>
                </a:lnTo>
                <a:lnTo>
                  <a:pt x="47550" y="279107"/>
                </a:lnTo>
                <a:lnTo>
                  <a:pt x="81915" y="305435"/>
                </a:lnTo>
                <a:lnTo>
                  <a:pt x="123899" y="327000"/>
                </a:lnTo>
                <a:lnTo>
                  <a:pt x="172521" y="343177"/>
                </a:lnTo>
                <a:lnTo>
                  <a:pt x="226799" y="353342"/>
                </a:lnTo>
                <a:lnTo>
                  <a:pt x="285750" y="356869"/>
                </a:lnTo>
                <a:lnTo>
                  <a:pt x="344336" y="353342"/>
                </a:lnTo>
                <a:lnTo>
                  <a:pt x="398442" y="343177"/>
                </a:lnTo>
                <a:lnTo>
                  <a:pt x="447042" y="327000"/>
                </a:lnTo>
                <a:lnTo>
                  <a:pt x="489108" y="305434"/>
                </a:lnTo>
                <a:lnTo>
                  <a:pt x="523614" y="279107"/>
                </a:lnTo>
                <a:lnTo>
                  <a:pt x="549532" y="248642"/>
                </a:lnTo>
                <a:lnTo>
                  <a:pt x="571500" y="177800"/>
                </a:lnTo>
                <a:lnTo>
                  <a:pt x="565837" y="140989"/>
                </a:lnTo>
                <a:lnTo>
                  <a:pt x="523614" y="76894"/>
                </a:lnTo>
                <a:lnTo>
                  <a:pt x="489108" y="50800"/>
                </a:lnTo>
                <a:lnTo>
                  <a:pt x="447042" y="29467"/>
                </a:lnTo>
                <a:lnTo>
                  <a:pt x="398442" y="13493"/>
                </a:lnTo>
                <a:lnTo>
                  <a:pt x="344336" y="3472"/>
                </a:lnTo>
                <a:lnTo>
                  <a:pt x="285750" y="0"/>
                </a:lnTo>
                <a:close/>
              </a:path>
            </a:pathLst>
          </a:custGeom>
          <a:solidFill>
            <a:srgbClr val="FFB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1428750" y="4857750"/>
            <a:ext cx="571500" cy="356870"/>
          </a:xfrm>
          <a:custGeom>
            <a:avLst/>
            <a:gdLst/>
            <a:ahLst/>
            <a:cxnLst/>
            <a:rect l="l" t="t" r="r" b="b"/>
            <a:pathLst>
              <a:path w="571500" h="356870">
                <a:moveTo>
                  <a:pt x="285750" y="0"/>
                </a:moveTo>
                <a:lnTo>
                  <a:pt x="344336" y="3472"/>
                </a:lnTo>
                <a:lnTo>
                  <a:pt x="398442" y="13493"/>
                </a:lnTo>
                <a:lnTo>
                  <a:pt x="447042" y="29467"/>
                </a:lnTo>
                <a:lnTo>
                  <a:pt x="489108" y="50800"/>
                </a:lnTo>
                <a:lnTo>
                  <a:pt x="523614" y="76894"/>
                </a:lnTo>
                <a:lnTo>
                  <a:pt x="549532" y="107156"/>
                </a:lnTo>
                <a:lnTo>
                  <a:pt x="571500" y="177800"/>
                </a:lnTo>
                <a:lnTo>
                  <a:pt x="565837" y="214664"/>
                </a:lnTo>
                <a:lnTo>
                  <a:pt x="523614" y="279107"/>
                </a:lnTo>
                <a:lnTo>
                  <a:pt x="489108" y="305434"/>
                </a:lnTo>
                <a:lnTo>
                  <a:pt x="447042" y="327000"/>
                </a:lnTo>
                <a:lnTo>
                  <a:pt x="398442" y="343177"/>
                </a:lnTo>
                <a:lnTo>
                  <a:pt x="344336" y="353342"/>
                </a:lnTo>
                <a:lnTo>
                  <a:pt x="285750" y="356869"/>
                </a:lnTo>
                <a:lnTo>
                  <a:pt x="226799" y="353342"/>
                </a:lnTo>
                <a:lnTo>
                  <a:pt x="172521" y="343177"/>
                </a:lnTo>
                <a:lnTo>
                  <a:pt x="123899" y="327000"/>
                </a:lnTo>
                <a:lnTo>
                  <a:pt x="81915" y="305435"/>
                </a:lnTo>
                <a:lnTo>
                  <a:pt x="47550" y="279107"/>
                </a:lnTo>
                <a:lnTo>
                  <a:pt x="21788" y="248642"/>
                </a:lnTo>
                <a:lnTo>
                  <a:pt x="0" y="177800"/>
                </a:lnTo>
                <a:lnTo>
                  <a:pt x="5610" y="140989"/>
                </a:lnTo>
                <a:lnTo>
                  <a:pt x="47550" y="76894"/>
                </a:lnTo>
                <a:lnTo>
                  <a:pt x="81914" y="50800"/>
                </a:lnTo>
                <a:lnTo>
                  <a:pt x="123899" y="29467"/>
                </a:lnTo>
                <a:lnTo>
                  <a:pt x="172521" y="13493"/>
                </a:lnTo>
                <a:lnTo>
                  <a:pt x="226799" y="3472"/>
                </a:lnTo>
                <a:lnTo>
                  <a:pt x="285750" y="0"/>
                </a:lnTo>
                <a:close/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1428750" y="4857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2000250" y="521462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 txBox="1"/>
          <p:nvPr/>
        </p:nvSpPr>
        <p:spPr>
          <a:xfrm>
            <a:off x="1643379" y="49136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1714500" y="4591050"/>
            <a:ext cx="83820" cy="266700"/>
          </a:xfrm>
          <a:custGeom>
            <a:avLst/>
            <a:gdLst/>
            <a:ahLst/>
            <a:cxnLst/>
            <a:rect l="l" t="t" r="r" b="b"/>
            <a:pathLst>
              <a:path w="83819" h="266700">
                <a:moveTo>
                  <a:pt x="0" y="266700"/>
                </a:moveTo>
                <a:lnTo>
                  <a:pt x="83819" y="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1506220" cy="44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0" dirty="0">
                <a:latin typeface="Arial"/>
                <a:cs typeface="Arial"/>
              </a:rPr>
              <a:t>Exemplo: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72860" y="1487110"/>
            <a:ext cx="5598278" cy="47397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357879" y="20561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821679" y="200787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2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29759" y="155702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44139" y="255650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179059" y="257937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29379" y="255650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36690" y="257937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286000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72509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29889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5129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7750" y="32524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9</a:t>
            </a:r>
            <a:endParaRPr sz="1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107429" y="3275329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464809" y="3275329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1</a:t>
            </a:r>
            <a:endParaRPr sz="13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000250" y="382397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29000" y="471932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3</a:t>
            </a:r>
            <a:endParaRPr sz="1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892800" y="466979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11</a:t>
            </a:r>
            <a:endParaRPr sz="13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500879" y="421894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7</a:t>
            </a:r>
            <a:endParaRPr sz="1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15260" y="52184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97170" y="5241290"/>
            <a:ext cx="120014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9</a:t>
            </a:r>
            <a:endParaRPr sz="13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000500" y="5218429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5</a:t>
            </a:r>
            <a:endParaRPr sz="1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07809" y="524129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3</a:t>
            </a:r>
            <a:endParaRPr sz="13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58389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43629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4</a:t>
            </a:r>
            <a:endParaRPr sz="1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01010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2</a:t>
            </a:r>
            <a:endParaRPr sz="1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286250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6</a:t>
            </a:r>
            <a:endParaRPr sz="1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30140" y="5914390"/>
            <a:ext cx="142240" cy="2571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25" dirty="0">
                <a:latin typeface="Arial"/>
                <a:cs typeface="Arial"/>
              </a:rPr>
              <a:t>8</a:t>
            </a:r>
            <a:endParaRPr sz="1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178550" y="5937250"/>
            <a:ext cx="21526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20" dirty="0">
                <a:latin typeface="Arial"/>
                <a:cs typeface="Arial"/>
              </a:rPr>
              <a:t>12</a:t>
            </a:r>
            <a:endParaRPr sz="13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535929" y="593725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0</a:t>
            </a:r>
            <a:endParaRPr sz="13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964680" y="5937250"/>
            <a:ext cx="213995" cy="2114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300" spc="15" dirty="0">
                <a:latin typeface="Arial"/>
                <a:cs typeface="Arial"/>
              </a:rPr>
              <a:t>1</a:t>
            </a:r>
            <a:r>
              <a:rPr sz="1300" spc="20" dirty="0">
                <a:latin typeface="Arial"/>
                <a:cs typeface="Arial"/>
              </a:rPr>
              <a:t>4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436880">
              <a:lnSpc>
                <a:spcPct val="100000"/>
              </a:lnSpc>
            </a:pPr>
            <a:r>
              <a:rPr sz="2800" spc="-105" dirty="0"/>
              <a:t>Para </a:t>
            </a:r>
            <a:r>
              <a:rPr sz="2800" spc="10" dirty="0"/>
              <a:t>reorganizar </a:t>
            </a:r>
            <a:r>
              <a:rPr sz="2800" spc="-15" dirty="0"/>
              <a:t>a </a:t>
            </a:r>
            <a:r>
              <a:rPr sz="2800" spc="25" dirty="0"/>
              <a:t>árvore </a:t>
            </a:r>
            <a:r>
              <a:rPr sz="2800" spc="50" dirty="0"/>
              <a:t>anterior, foi </a:t>
            </a:r>
            <a:r>
              <a:rPr sz="2800" spc="40" dirty="0"/>
              <a:t>utilizada  uma </a:t>
            </a:r>
            <a:r>
              <a:rPr sz="2800" spc="20" dirty="0"/>
              <a:t>abordagem </a:t>
            </a:r>
            <a:r>
              <a:rPr sz="2800" spc="-10" dirty="0"/>
              <a:t>O(n), </a:t>
            </a:r>
            <a:r>
              <a:rPr sz="2800" spc="5" dirty="0"/>
              <a:t>no </a:t>
            </a:r>
            <a:r>
              <a:rPr sz="2800" spc="45" dirty="0"/>
              <a:t>pior</a:t>
            </a:r>
            <a:r>
              <a:rPr sz="2800" spc="-10" dirty="0"/>
              <a:t> </a:t>
            </a:r>
            <a:r>
              <a:rPr sz="2800" spc="-40" dirty="0"/>
              <a:t>caso.</a:t>
            </a:r>
            <a:endParaRPr sz="2800"/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2800" spc="40" dirty="0"/>
              <a:t>Naturalmente, </a:t>
            </a:r>
            <a:r>
              <a:rPr sz="2800" spc="-55" dirty="0"/>
              <a:t>essa </a:t>
            </a:r>
            <a:r>
              <a:rPr sz="2800" spc="-10" dirty="0"/>
              <a:t>é </a:t>
            </a:r>
            <a:r>
              <a:rPr sz="2800" spc="40" dirty="0"/>
              <a:t>uma </a:t>
            </a:r>
            <a:r>
              <a:rPr sz="2800" dirty="0"/>
              <a:t>péssima </a:t>
            </a:r>
            <a:r>
              <a:rPr sz="2800" spc="-10" dirty="0"/>
              <a:t>solução, </a:t>
            </a:r>
            <a:r>
              <a:rPr sz="2800" spc="45" dirty="0"/>
              <a:t>uma  </a:t>
            </a:r>
            <a:r>
              <a:rPr sz="2800" spc="-5" dirty="0"/>
              <a:t>vez </a:t>
            </a:r>
            <a:r>
              <a:rPr sz="2800" spc="20" dirty="0"/>
              <a:t>que </a:t>
            </a:r>
            <a:r>
              <a:rPr sz="2800" spc="-10" dirty="0"/>
              <a:t>operações </a:t>
            </a:r>
            <a:r>
              <a:rPr sz="2800" spc="10" dirty="0"/>
              <a:t>como </a:t>
            </a:r>
            <a:r>
              <a:rPr sz="2800" spc="-5" dirty="0"/>
              <a:t>inserção </a:t>
            </a:r>
            <a:r>
              <a:rPr sz="2800" spc="-10" dirty="0"/>
              <a:t>e </a:t>
            </a:r>
            <a:r>
              <a:rPr sz="2800" spc="5" dirty="0"/>
              <a:t>remoção  </a:t>
            </a:r>
            <a:r>
              <a:rPr sz="2800" spc="45" dirty="0"/>
              <a:t>geralmente </a:t>
            </a:r>
            <a:r>
              <a:rPr sz="2800" spc="-45" dirty="0"/>
              <a:t>são </a:t>
            </a:r>
            <a:r>
              <a:rPr sz="2800" spc="20" dirty="0"/>
              <a:t>efetuados </a:t>
            </a:r>
            <a:r>
              <a:rPr sz="2800" spc="55" dirty="0"/>
              <a:t>em </a:t>
            </a:r>
            <a:r>
              <a:rPr sz="2800" dirty="0"/>
              <a:t>O(logn)</a:t>
            </a:r>
            <a:r>
              <a:rPr sz="2800" spc="40" dirty="0"/>
              <a:t> </a:t>
            </a:r>
            <a:r>
              <a:rPr sz="2800" spc="-45" dirty="0"/>
              <a:t>passos.</a:t>
            </a:r>
            <a:endParaRPr sz="2800"/>
          </a:p>
          <a:p>
            <a:pPr marL="12700" marR="490220">
              <a:lnSpc>
                <a:spcPct val="100000"/>
              </a:lnSpc>
              <a:spcBef>
                <a:spcPts val="1410"/>
              </a:spcBef>
            </a:pPr>
            <a:r>
              <a:rPr sz="2800" spc="-130" dirty="0"/>
              <a:t>Por </a:t>
            </a:r>
            <a:r>
              <a:rPr sz="2800" spc="-55" dirty="0"/>
              <a:t>esse </a:t>
            </a:r>
            <a:r>
              <a:rPr sz="2800" spc="60" dirty="0"/>
              <a:t>motivo, </a:t>
            </a:r>
            <a:r>
              <a:rPr sz="2800" spc="5" dirty="0"/>
              <a:t>árvores </a:t>
            </a:r>
            <a:r>
              <a:rPr sz="2800" spc="30" dirty="0"/>
              <a:t>completas </a:t>
            </a:r>
            <a:r>
              <a:rPr sz="2800" spc="-5" dirty="0"/>
              <a:t>não </a:t>
            </a:r>
            <a:r>
              <a:rPr sz="2800" spc="-45" dirty="0"/>
              <a:t>são  </a:t>
            </a:r>
            <a:r>
              <a:rPr sz="2800" dirty="0"/>
              <a:t>recomendadas </a:t>
            </a:r>
            <a:r>
              <a:rPr sz="2800" spc="20" dirty="0"/>
              <a:t>para </a:t>
            </a:r>
            <a:r>
              <a:rPr sz="2800" spc="-5" dirty="0"/>
              <a:t>aplicações </a:t>
            </a:r>
            <a:r>
              <a:rPr sz="2800" spc="20" dirty="0"/>
              <a:t>que </a:t>
            </a:r>
            <a:r>
              <a:rPr sz="2800" spc="35" dirty="0"/>
              <a:t>requeiram  </a:t>
            </a:r>
            <a:r>
              <a:rPr sz="2800" spc="45" dirty="0"/>
              <a:t>estruturas</a:t>
            </a:r>
            <a:r>
              <a:rPr sz="2800" spc="-55" dirty="0"/>
              <a:t> </a:t>
            </a:r>
            <a:r>
              <a:rPr sz="2800" spc="15" dirty="0"/>
              <a:t>dinâmicas.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81610">
              <a:lnSpc>
                <a:spcPct val="100000"/>
              </a:lnSpc>
            </a:pPr>
            <a:r>
              <a:rPr spc="-5" dirty="0"/>
              <a:t>Conceito </a:t>
            </a:r>
            <a:r>
              <a:rPr spc="25" dirty="0"/>
              <a:t>de</a:t>
            </a:r>
            <a:r>
              <a:rPr spc="-5" dirty="0"/>
              <a:t> </a:t>
            </a:r>
            <a:r>
              <a:rPr spc="50" dirty="0"/>
              <a:t>balanceamento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51790">
              <a:lnSpc>
                <a:spcPct val="100000"/>
              </a:lnSpc>
            </a:pPr>
            <a:r>
              <a:rPr sz="2800" spc="45" dirty="0"/>
              <a:t>Alternativa: </a:t>
            </a:r>
            <a:r>
              <a:rPr sz="2800" spc="55" dirty="0"/>
              <a:t>utilizar </a:t>
            </a:r>
            <a:r>
              <a:rPr sz="2800" spc="75" dirty="0"/>
              <a:t>um </a:t>
            </a:r>
            <a:r>
              <a:rPr sz="2800" spc="40" dirty="0"/>
              <a:t>determinado </a:t>
            </a:r>
            <a:r>
              <a:rPr sz="2800" spc="75" dirty="0"/>
              <a:t>tipo </a:t>
            </a:r>
            <a:r>
              <a:rPr sz="2800" spc="10" dirty="0"/>
              <a:t>de  </a:t>
            </a:r>
            <a:r>
              <a:rPr sz="2800" spc="25" dirty="0"/>
              <a:t>árvore </a:t>
            </a:r>
            <a:r>
              <a:rPr sz="2800" spc="40" dirty="0"/>
              <a:t>binária </a:t>
            </a:r>
            <a:r>
              <a:rPr sz="2800" spc="15" dirty="0"/>
              <a:t>cujo </a:t>
            </a:r>
            <a:r>
              <a:rPr sz="2800" spc="45" dirty="0"/>
              <a:t>pior </a:t>
            </a:r>
            <a:r>
              <a:rPr sz="2800" spc="-40" dirty="0"/>
              <a:t>caso </a:t>
            </a:r>
            <a:r>
              <a:rPr sz="2800" spc="20" dirty="0"/>
              <a:t>para </a:t>
            </a:r>
            <a:r>
              <a:rPr sz="2800" spc="-15" dirty="0"/>
              <a:t>a busca </a:t>
            </a:r>
            <a:r>
              <a:rPr sz="2800" spc="-5" dirty="0"/>
              <a:t>não  </a:t>
            </a:r>
            <a:r>
              <a:rPr sz="2800" spc="-15" dirty="0"/>
              <a:t>seja </a:t>
            </a:r>
            <a:r>
              <a:rPr sz="2800" spc="15" dirty="0"/>
              <a:t>necessariamente </a:t>
            </a:r>
            <a:r>
              <a:rPr sz="2800" spc="50" dirty="0"/>
              <a:t>tão </a:t>
            </a:r>
            <a:r>
              <a:rPr sz="2800" spc="10" dirty="0"/>
              <a:t>pequeno </a:t>
            </a:r>
            <a:r>
              <a:rPr sz="2800" spc="45" dirty="0"/>
              <a:t>quanto </a:t>
            </a:r>
            <a:r>
              <a:rPr sz="2800" spc="-20" dirty="0"/>
              <a:t>o  </a:t>
            </a:r>
            <a:r>
              <a:rPr sz="2800" spc="35" dirty="0"/>
              <a:t>mínimo </a:t>
            </a:r>
            <a:r>
              <a:rPr sz="2800" spc="45" dirty="0"/>
              <a:t>1 </a:t>
            </a:r>
            <a:r>
              <a:rPr sz="2800" spc="475" dirty="0"/>
              <a:t>+ </a:t>
            </a:r>
            <a:r>
              <a:rPr sz="2800" spc="10" dirty="0"/>
              <a:t>lower_bound(logn) </a:t>
            </a:r>
            <a:r>
              <a:rPr sz="2800" spc="-50" dirty="0"/>
              <a:t>passos </a:t>
            </a:r>
            <a:r>
              <a:rPr sz="2800" spc="20" dirty="0"/>
              <a:t>pela  </a:t>
            </a:r>
            <a:r>
              <a:rPr sz="2800" spc="25" dirty="0"/>
              <a:t>árvore</a:t>
            </a:r>
            <a:r>
              <a:rPr sz="2800" spc="-75" dirty="0"/>
              <a:t> </a:t>
            </a:r>
            <a:r>
              <a:rPr sz="2800" spc="40" dirty="0"/>
              <a:t>completa.</a:t>
            </a:r>
            <a:endParaRPr sz="2800"/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2800" dirty="0"/>
              <a:t>Contudo, </a:t>
            </a:r>
            <a:r>
              <a:rPr sz="2800" spc="-15" dirty="0"/>
              <a:t>a </a:t>
            </a:r>
            <a:r>
              <a:rPr sz="2800" spc="60" dirty="0"/>
              <a:t>altura </a:t>
            </a:r>
            <a:r>
              <a:rPr sz="2800" spc="-40" dirty="0"/>
              <a:t>dessa </a:t>
            </a:r>
            <a:r>
              <a:rPr sz="2800" spc="25" dirty="0"/>
              <a:t>árvore deve </a:t>
            </a:r>
            <a:r>
              <a:rPr sz="2800" spc="-5" dirty="0"/>
              <a:t>ser </a:t>
            </a:r>
            <a:r>
              <a:rPr sz="2800" spc="5" dirty="0"/>
              <a:t>da  </a:t>
            </a:r>
            <a:r>
              <a:rPr sz="2800" spc="20" dirty="0"/>
              <a:t>mesma </a:t>
            </a:r>
            <a:r>
              <a:rPr sz="2800" spc="30" dirty="0"/>
              <a:t>ordem </a:t>
            </a:r>
            <a:r>
              <a:rPr sz="2800" spc="10" dirty="0"/>
              <a:t>de </a:t>
            </a:r>
            <a:r>
              <a:rPr sz="2800" spc="5" dirty="0"/>
              <a:t>grandeza </a:t>
            </a:r>
            <a:r>
              <a:rPr sz="2800" spc="20" dirty="0"/>
              <a:t>que </a:t>
            </a:r>
            <a:r>
              <a:rPr sz="2800" spc="-15" dirty="0"/>
              <a:t>a </a:t>
            </a:r>
            <a:r>
              <a:rPr sz="2800" spc="60" dirty="0"/>
              <a:t>altura </a:t>
            </a:r>
            <a:r>
              <a:rPr sz="2800" spc="10" dirty="0"/>
              <a:t>de </a:t>
            </a:r>
            <a:r>
              <a:rPr sz="2800" spc="40" dirty="0"/>
              <a:t>uma  </a:t>
            </a:r>
            <a:r>
              <a:rPr sz="2800" spc="25" dirty="0"/>
              <a:t>árvore </a:t>
            </a:r>
            <a:r>
              <a:rPr sz="2800" spc="40" dirty="0"/>
              <a:t>completa </a:t>
            </a:r>
            <a:r>
              <a:rPr sz="2800" spc="25" dirty="0"/>
              <a:t>com </a:t>
            </a:r>
            <a:r>
              <a:rPr sz="2800" spc="-20" dirty="0"/>
              <a:t>o </a:t>
            </a:r>
            <a:r>
              <a:rPr sz="2800" spc="15" dirty="0"/>
              <a:t>mesmo </a:t>
            </a:r>
            <a:r>
              <a:rPr sz="2800" spc="25" dirty="0"/>
              <a:t>número </a:t>
            </a:r>
            <a:r>
              <a:rPr sz="2800" spc="15" dirty="0"/>
              <a:t>de</a:t>
            </a:r>
            <a:r>
              <a:rPr sz="2800" spc="-5" dirty="0"/>
              <a:t> </a:t>
            </a:r>
            <a:r>
              <a:rPr sz="2800" spc="-20" dirty="0"/>
              <a:t>nós.</a:t>
            </a:r>
            <a:endParaRPr sz="2800"/>
          </a:p>
          <a:p>
            <a:pPr marL="12700" marR="140970">
              <a:lnSpc>
                <a:spcPct val="100000"/>
              </a:lnSpc>
              <a:spcBef>
                <a:spcPts val="1410"/>
              </a:spcBef>
            </a:pPr>
            <a:r>
              <a:rPr sz="2400" spc="-70" dirty="0"/>
              <a:t>Ou </a:t>
            </a:r>
            <a:r>
              <a:rPr sz="2400" spc="-5" dirty="0"/>
              <a:t>seja, </a:t>
            </a:r>
            <a:r>
              <a:rPr sz="2400" spc="20" dirty="0"/>
              <a:t>deve </a:t>
            </a:r>
            <a:r>
              <a:rPr sz="2400" spc="5" dirty="0"/>
              <a:t>possuir </a:t>
            </a:r>
            <a:r>
              <a:rPr sz="2400" spc="55" dirty="0"/>
              <a:t>altura </a:t>
            </a:r>
            <a:r>
              <a:rPr sz="2400" spc="5" dirty="0"/>
              <a:t>O(logn) </a:t>
            </a:r>
            <a:r>
              <a:rPr sz="2400" spc="20" dirty="0"/>
              <a:t>para todas </a:t>
            </a:r>
            <a:r>
              <a:rPr sz="2400" spc="-50" dirty="0"/>
              <a:t>as </a:t>
            </a:r>
            <a:r>
              <a:rPr sz="2400" spc="-40" dirty="0"/>
              <a:t>suas  </a:t>
            </a:r>
            <a:r>
              <a:rPr sz="2400" spc="5" dirty="0"/>
              <a:t>subárvores.</a:t>
            </a:r>
            <a:endParaRPr sz="2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39340">
              <a:lnSpc>
                <a:spcPct val="100000"/>
              </a:lnSpc>
            </a:pPr>
            <a:r>
              <a:rPr spc="15" dirty="0"/>
              <a:t>Árvore</a:t>
            </a:r>
            <a:r>
              <a:rPr spc="-75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1169" y="1350009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71169" y="3364229"/>
            <a:ext cx="10858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5019" y="1259840"/>
            <a:ext cx="7842884" cy="24041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125" dirty="0">
                <a:latin typeface="Arial"/>
                <a:cs typeface="Arial"/>
              </a:rPr>
              <a:t>A </a:t>
            </a:r>
            <a:r>
              <a:rPr sz="2400" spc="-185" dirty="0">
                <a:latin typeface="Arial"/>
                <a:cs typeface="Arial"/>
              </a:rPr>
              <a:t>AVL </a:t>
            </a:r>
            <a:r>
              <a:rPr sz="2400" spc="-30" dirty="0">
                <a:latin typeface="Arial"/>
                <a:cs typeface="Arial"/>
              </a:rPr>
              <a:t>(Adelson-Velskii </a:t>
            </a:r>
            <a:r>
              <a:rPr sz="2400" spc="-10" dirty="0">
                <a:latin typeface="Arial"/>
                <a:cs typeface="Arial"/>
              </a:rPr>
              <a:t>e </a:t>
            </a:r>
            <a:r>
              <a:rPr sz="2400" spc="-20" dirty="0">
                <a:latin typeface="Arial"/>
                <a:cs typeface="Arial"/>
              </a:rPr>
              <a:t>Landis </a:t>
            </a:r>
            <a:r>
              <a:rPr sz="2400" spc="-260" dirty="0">
                <a:latin typeface="Arial"/>
                <a:cs typeface="Arial"/>
              </a:rPr>
              <a:t>– </a:t>
            </a:r>
            <a:r>
              <a:rPr sz="2400" spc="30" dirty="0">
                <a:latin typeface="Arial"/>
                <a:cs typeface="Arial"/>
              </a:rPr>
              <a:t>1962) </a:t>
            </a:r>
            <a:r>
              <a:rPr sz="2400" spc="-10" dirty="0">
                <a:latin typeface="Arial"/>
                <a:cs typeface="Arial"/>
              </a:rPr>
              <a:t>é </a:t>
            </a:r>
            <a:r>
              <a:rPr sz="2400" spc="35" dirty="0">
                <a:latin typeface="Arial"/>
                <a:cs typeface="Arial"/>
              </a:rPr>
              <a:t>uma </a:t>
            </a:r>
            <a:r>
              <a:rPr sz="2400" spc="25" dirty="0">
                <a:latin typeface="Arial"/>
                <a:cs typeface="Arial"/>
              </a:rPr>
              <a:t>árvore  </a:t>
            </a:r>
            <a:r>
              <a:rPr sz="2400" spc="55" dirty="0">
                <a:latin typeface="Arial"/>
                <a:cs typeface="Arial"/>
              </a:rPr>
              <a:t>altamente </a:t>
            </a:r>
            <a:r>
              <a:rPr sz="2400" spc="5" dirty="0">
                <a:latin typeface="Arial"/>
                <a:cs typeface="Arial"/>
              </a:rPr>
              <a:t>balanceada, </a:t>
            </a:r>
            <a:r>
              <a:rPr sz="2400" spc="35" dirty="0">
                <a:latin typeface="Arial"/>
                <a:cs typeface="Arial"/>
              </a:rPr>
              <a:t>isto </a:t>
            </a:r>
            <a:r>
              <a:rPr sz="2400" dirty="0">
                <a:latin typeface="Arial"/>
                <a:cs typeface="Arial"/>
              </a:rPr>
              <a:t>é, </a:t>
            </a:r>
            <a:r>
              <a:rPr sz="2400" spc="-25" dirty="0">
                <a:latin typeface="Arial"/>
                <a:cs typeface="Arial"/>
              </a:rPr>
              <a:t>nas </a:t>
            </a:r>
            <a:r>
              <a:rPr sz="2400" spc="-10" dirty="0">
                <a:latin typeface="Arial"/>
                <a:cs typeface="Arial"/>
              </a:rPr>
              <a:t>inserções e </a:t>
            </a:r>
            <a:r>
              <a:rPr sz="2400" spc="-15" dirty="0">
                <a:latin typeface="Arial"/>
                <a:cs typeface="Arial"/>
              </a:rPr>
              <a:t>exclusões,  </a:t>
            </a:r>
            <a:r>
              <a:rPr sz="2400" dirty="0">
                <a:latin typeface="Arial"/>
                <a:cs typeface="Arial"/>
              </a:rPr>
              <a:t>procura-se </a:t>
            </a:r>
            <a:r>
              <a:rPr sz="2400" spc="20" dirty="0">
                <a:latin typeface="Arial"/>
                <a:cs typeface="Arial"/>
              </a:rPr>
              <a:t>executar </a:t>
            </a:r>
            <a:r>
              <a:rPr sz="2400" spc="35" dirty="0">
                <a:latin typeface="Arial"/>
                <a:cs typeface="Arial"/>
              </a:rPr>
              <a:t>uma </a:t>
            </a:r>
            <a:r>
              <a:rPr sz="2400" spc="45" dirty="0">
                <a:latin typeface="Arial"/>
                <a:cs typeface="Arial"/>
              </a:rPr>
              <a:t>rotina </a:t>
            </a:r>
            <a:r>
              <a:rPr sz="2400" spc="10" dirty="0">
                <a:latin typeface="Arial"/>
                <a:cs typeface="Arial"/>
              </a:rPr>
              <a:t>de </a:t>
            </a:r>
            <a:r>
              <a:rPr sz="2400" spc="25" dirty="0">
                <a:latin typeface="Arial"/>
                <a:cs typeface="Arial"/>
              </a:rPr>
              <a:t>balanceamento </a:t>
            </a:r>
            <a:r>
              <a:rPr sz="2400" spc="75" dirty="0">
                <a:latin typeface="Arial"/>
                <a:cs typeface="Arial"/>
              </a:rPr>
              <a:t>tal  </a:t>
            </a:r>
            <a:r>
              <a:rPr sz="2400" spc="15" dirty="0">
                <a:latin typeface="Arial"/>
                <a:cs typeface="Arial"/>
              </a:rPr>
              <a:t>que </a:t>
            </a:r>
            <a:r>
              <a:rPr sz="2400" spc="-50" dirty="0">
                <a:latin typeface="Arial"/>
                <a:cs typeface="Arial"/>
              </a:rPr>
              <a:t>as </a:t>
            </a:r>
            <a:r>
              <a:rPr sz="2400" spc="35" dirty="0">
                <a:latin typeface="Arial"/>
                <a:cs typeface="Arial"/>
              </a:rPr>
              <a:t>alturas </a:t>
            </a:r>
            <a:r>
              <a:rPr sz="2400" spc="-25" dirty="0">
                <a:latin typeface="Arial"/>
                <a:cs typeface="Arial"/>
              </a:rPr>
              <a:t>das </a:t>
            </a:r>
            <a:r>
              <a:rPr sz="2400" dirty="0">
                <a:latin typeface="Arial"/>
                <a:cs typeface="Arial"/>
              </a:rPr>
              <a:t>sub-árvores esquerda </a:t>
            </a:r>
            <a:r>
              <a:rPr sz="2400" spc="-1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sub-árvores  </a:t>
            </a:r>
            <a:r>
              <a:rPr sz="2400" spc="50" dirty="0">
                <a:latin typeface="Arial"/>
                <a:cs typeface="Arial"/>
              </a:rPr>
              <a:t>direita tenham </a:t>
            </a:r>
            <a:r>
              <a:rPr sz="2400" spc="35" dirty="0">
                <a:latin typeface="Arial"/>
                <a:cs typeface="Arial"/>
              </a:rPr>
              <a:t>alturas </a:t>
            </a:r>
            <a:r>
              <a:rPr sz="2400" b="1" spc="135" dirty="0">
                <a:latin typeface="Trebuchet MS"/>
                <a:cs typeface="Trebuchet MS"/>
              </a:rPr>
              <a:t>bem</a:t>
            </a:r>
            <a:r>
              <a:rPr sz="2400" b="1" spc="-105" dirty="0">
                <a:latin typeface="Trebuchet MS"/>
                <a:cs typeface="Trebuchet MS"/>
              </a:rPr>
              <a:t> </a:t>
            </a:r>
            <a:r>
              <a:rPr sz="2400" b="1" spc="125" dirty="0">
                <a:latin typeface="Trebuchet MS"/>
                <a:cs typeface="Trebuchet MS"/>
              </a:rPr>
              <a:t>próximas</a:t>
            </a:r>
            <a:endParaRPr sz="2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600" spc="10" dirty="0">
                <a:latin typeface="Arial"/>
                <a:cs typeface="Arial"/>
              </a:rPr>
              <a:t>Definição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969" y="3934459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5176520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5685790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6819" y="3844290"/>
            <a:ext cx="7301865" cy="2496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400" spc="-20" dirty="0">
                <a:latin typeface="Arial"/>
                <a:cs typeface="Arial"/>
              </a:rPr>
              <a:t>Uma </a:t>
            </a:r>
            <a:r>
              <a:rPr sz="2400" spc="25" dirty="0">
                <a:latin typeface="Arial"/>
                <a:cs typeface="Arial"/>
              </a:rPr>
              <a:t>árvore </a:t>
            </a:r>
            <a:r>
              <a:rPr sz="2400" spc="-185" dirty="0">
                <a:latin typeface="Arial"/>
                <a:cs typeface="Arial"/>
              </a:rPr>
              <a:t>AVL </a:t>
            </a:r>
            <a:r>
              <a:rPr sz="2400" spc="-10" dirty="0">
                <a:latin typeface="Arial"/>
                <a:cs typeface="Arial"/>
              </a:rPr>
              <a:t>é </a:t>
            </a:r>
            <a:r>
              <a:rPr sz="2400" spc="35" dirty="0">
                <a:latin typeface="Arial"/>
                <a:cs typeface="Arial"/>
              </a:rPr>
              <a:t>uma </a:t>
            </a:r>
            <a:r>
              <a:rPr sz="2400" spc="25" dirty="0">
                <a:latin typeface="Arial"/>
                <a:cs typeface="Arial"/>
              </a:rPr>
              <a:t>árvore </a:t>
            </a:r>
            <a:r>
              <a:rPr sz="2400" spc="5" dirty="0">
                <a:latin typeface="Arial"/>
                <a:cs typeface="Arial"/>
              </a:rPr>
              <a:t>na </a:t>
            </a:r>
            <a:r>
              <a:rPr sz="2400" spc="25" dirty="0">
                <a:latin typeface="Arial"/>
                <a:cs typeface="Arial"/>
              </a:rPr>
              <a:t>qual </a:t>
            </a:r>
            <a:r>
              <a:rPr sz="2400" spc="-50" dirty="0">
                <a:latin typeface="Arial"/>
                <a:cs typeface="Arial"/>
              </a:rPr>
              <a:t>as </a:t>
            </a:r>
            <a:r>
              <a:rPr sz="2400" spc="35" dirty="0">
                <a:latin typeface="Arial"/>
                <a:cs typeface="Arial"/>
              </a:rPr>
              <a:t>alturas </a:t>
            </a:r>
            <a:r>
              <a:rPr sz="2400" spc="-25" dirty="0">
                <a:latin typeface="Arial"/>
                <a:cs typeface="Arial"/>
              </a:rPr>
              <a:t>das  </a:t>
            </a:r>
            <a:r>
              <a:rPr sz="2400" spc="5" dirty="0">
                <a:latin typeface="Arial"/>
                <a:cs typeface="Arial"/>
              </a:rPr>
              <a:t>subárvores </a:t>
            </a:r>
            <a:r>
              <a:rPr sz="2400" dirty="0">
                <a:latin typeface="Arial"/>
                <a:cs typeface="Arial"/>
              </a:rPr>
              <a:t>esquerda </a:t>
            </a:r>
            <a:r>
              <a:rPr sz="2400" spc="-10" dirty="0">
                <a:latin typeface="Arial"/>
                <a:cs typeface="Arial"/>
              </a:rPr>
              <a:t>e </a:t>
            </a:r>
            <a:r>
              <a:rPr sz="2400" spc="50" dirty="0">
                <a:latin typeface="Arial"/>
                <a:cs typeface="Arial"/>
              </a:rPr>
              <a:t>direita </a:t>
            </a:r>
            <a:r>
              <a:rPr sz="2400" spc="10" dirty="0">
                <a:latin typeface="Arial"/>
                <a:cs typeface="Arial"/>
              </a:rPr>
              <a:t>de </a:t>
            </a:r>
            <a:r>
              <a:rPr sz="2400" spc="-5" dirty="0">
                <a:latin typeface="Arial"/>
                <a:cs typeface="Arial"/>
              </a:rPr>
              <a:t>cada </a:t>
            </a:r>
            <a:r>
              <a:rPr sz="2400" spc="5" dirty="0">
                <a:latin typeface="Arial"/>
                <a:cs typeface="Arial"/>
              </a:rPr>
              <a:t>nó </a:t>
            </a:r>
            <a:r>
              <a:rPr sz="2400" spc="40" dirty="0">
                <a:latin typeface="Arial"/>
                <a:cs typeface="Arial"/>
              </a:rPr>
              <a:t>diferem </a:t>
            </a:r>
            <a:r>
              <a:rPr sz="2400" spc="5" dirty="0">
                <a:latin typeface="Arial"/>
                <a:cs typeface="Arial"/>
              </a:rPr>
              <a:t>no  </a:t>
            </a:r>
            <a:r>
              <a:rPr sz="2400" spc="50" dirty="0">
                <a:latin typeface="Arial"/>
                <a:cs typeface="Arial"/>
              </a:rPr>
              <a:t>máximo </a:t>
            </a:r>
            <a:r>
              <a:rPr sz="2400" spc="30" dirty="0">
                <a:latin typeface="Arial"/>
                <a:cs typeface="Arial"/>
              </a:rPr>
              <a:t>por </a:t>
            </a:r>
            <a:r>
              <a:rPr sz="2400" spc="35" dirty="0">
                <a:latin typeface="Arial"/>
                <a:cs typeface="Arial"/>
              </a:rPr>
              <a:t>uma</a:t>
            </a:r>
            <a:r>
              <a:rPr sz="2400" spc="-105" dirty="0">
                <a:latin typeface="Arial"/>
                <a:cs typeface="Arial"/>
              </a:rPr>
              <a:t> </a:t>
            </a:r>
            <a:r>
              <a:rPr sz="2400" spc="20" dirty="0">
                <a:latin typeface="Arial"/>
                <a:cs typeface="Arial"/>
              </a:rPr>
              <a:t>unidade.</a:t>
            </a:r>
            <a:endParaRPr sz="24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130"/>
              </a:spcBef>
            </a:pPr>
            <a:r>
              <a:rPr sz="2400" spc="-45" dirty="0">
                <a:latin typeface="Arial"/>
                <a:cs typeface="Arial"/>
              </a:rPr>
              <a:t>Fator </a:t>
            </a:r>
            <a:r>
              <a:rPr sz="2400" spc="10" dirty="0">
                <a:latin typeface="Arial"/>
                <a:cs typeface="Arial"/>
              </a:rPr>
              <a:t>de</a:t>
            </a:r>
            <a:r>
              <a:rPr sz="2400" spc="5" dirty="0">
                <a:latin typeface="Arial"/>
                <a:cs typeface="Arial"/>
              </a:rPr>
              <a:t> </a:t>
            </a:r>
            <a:r>
              <a:rPr sz="2400" spc="25" dirty="0">
                <a:latin typeface="Arial"/>
                <a:cs typeface="Arial"/>
              </a:rPr>
              <a:t>balanceamento</a:t>
            </a:r>
            <a:endParaRPr sz="2400">
              <a:latin typeface="Arial"/>
              <a:cs typeface="Arial"/>
            </a:endParaRPr>
          </a:p>
          <a:p>
            <a:pPr marL="12700" marR="634365">
              <a:lnSpc>
                <a:spcPct val="100000"/>
              </a:lnSpc>
              <a:spcBef>
                <a:spcPts val="1140"/>
              </a:spcBef>
            </a:pPr>
            <a:r>
              <a:rPr sz="2400" spc="35" dirty="0">
                <a:latin typeface="Arial"/>
                <a:cs typeface="Arial"/>
              </a:rPr>
              <a:t>Altura </a:t>
            </a:r>
            <a:r>
              <a:rPr sz="2400" spc="5" dirty="0">
                <a:latin typeface="Arial"/>
                <a:cs typeface="Arial"/>
              </a:rPr>
              <a:t>da </a:t>
            </a:r>
            <a:r>
              <a:rPr sz="2400" spc="10" dirty="0">
                <a:latin typeface="Arial"/>
                <a:cs typeface="Arial"/>
              </a:rPr>
              <a:t>subárvore </a:t>
            </a:r>
            <a:r>
              <a:rPr sz="2400" spc="50" dirty="0">
                <a:latin typeface="Arial"/>
                <a:cs typeface="Arial"/>
              </a:rPr>
              <a:t>direita </a:t>
            </a:r>
            <a:r>
              <a:rPr sz="2400" spc="-20" dirty="0">
                <a:latin typeface="Arial"/>
                <a:cs typeface="Arial"/>
              </a:rPr>
              <a:t>- </a:t>
            </a:r>
            <a:r>
              <a:rPr sz="2400" spc="55" dirty="0">
                <a:latin typeface="Arial"/>
                <a:cs typeface="Arial"/>
              </a:rPr>
              <a:t>altura </a:t>
            </a:r>
            <a:r>
              <a:rPr sz="2400" spc="5" dirty="0">
                <a:latin typeface="Arial"/>
                <a:cs typeface="Arial"/>
              </a:rPr>
              <a:t>da </a:t>
            </a:r>
            <a:r>
              <a:rPr sz="2400" spc="10" dirty="0">
                <a:latin typeface="Arial"/>
                <a:cs typeface="Arial"/>
              </a:rPr>
              <a:t>subárvore  </a:t>
            </a:r>
            <a:r>
              <a:rPr sz="2400" dirty="0">
                <a:latin typeface="Arial"/>
                <a:cs typeface="Arial"/>
              </a:rPr>
              <a:t>esquerda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633980">
              <a:lnSpc>
                <a:spcPct val="100000"/>
              </a:lnSpc>
            </a:pPr>
            <a:r>
              <a:rPr spc="-434" dirty="0"/>
              <a:t>E</a:t>
            </a:r>
            <a:r>
              <a:rPr spc="-5" dirty="0"/>
              <a:t>x</a:t>
            </a:r>
            <a:r>
              <a:rPr spc="-15" dirty="0"/>
              <a:t>e</a:t>
            </a:r>
            <a:r>
              <a:rPr spc="145" dirty="0"/>
              <a:t>m</a:t>
            </a:r>
            <a:r>
              <a:rPr spc="100" dirty="0"/>
              <a:t>p</a:t>
            </a:r>
            <a:r>
              <a:rPr spc="120" dirty="0"/>
              <a:t>l</a:t>
            </a:r>
            <a:r>
              <a:rPr spc="-30" dirty="0"/>
              <a:t>o</a:t>
            </a:r>
          </a:p>
        </p:txBody>
      </p:sp>
      <p:sp>
        <p:nvSpPr>
          <p:cNvPr id="3" name="object 3"/>
          <p:cNvSpPr/>
          <p:nvPr/>
        </p:nvSpPr>
        <p:spPr>
          <a:xfrm>
            <a:off x="571500" y="2214879"/>
            <a:ext cx="8072120" cy="4138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31720" y="3500120"/>
            <a:ext cx="4786630" cy="1270"/>
          </a:xfrm>
          <a:custGeom>
            <a:avLst/>
            <a:gdLst/>
            <a:ahLst/>
            <a:cxnLst/>
            <a:rect l="l" t="t" r="r" b="b"/>
            <a:pathLst>
              <a:path w="4786630" h="1270">
                <a:moveTo>
                  <a:pt x="0" y="0"/>
                </a:moveTo>
                <a:lnTo>
                  <a:pt x="4786630" y="1269"/>
                </a:lnTo>
              </a:path>
            </a:pathLst>
          </a:custGeom>
          <a:ln w="93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285239" y="4141470"/>
            <a:ext cx="6786880" cy="1270"/>
          </a:xfrm>
          <a:custGeom>
            <a:avLst/>
            <a:gdLst/>
            <a:ahLst/>
            <a:cxnLst/>
            <a:rect l="l" t="t" r="r" b="b"/>
            <a:pathLst>
              <a:path w="6786880" h="1270">
                <a:moveTo>
                  <a:pt x="0" y="0"/>
                </a:moveTo>
                <a:lnTo>
                  <a:pt x="6786880" y="1269"/>
                </a:lnTo>
              </a:path>
            </a:pathLst>
          </a:custGeom>
          <a:ln w="93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86130" y="4842509"/>
            <a:ext cx="7857490" cy="2540"/>
          </a:xfrm>
          <a:custGeom>
            <a:avLst/>
            <a:gdLst/>
            <a:ahLst/>
            <a:cxnLst/>
            <a:rect l="l" t="t" r="r" b="b"/>
            <a:pathLst>
              <a:path w="7857490" h="2539">
                <a:moveTo>
                  <a:pt x="0" y="0"/>
                </a:moveTo>
                <a:lnTo>
                  <a:pt x="7857490" y="2539"/>
                </a:lnTo>
              </a:path>
            </a:pathLst>
          </a:custGeom>
          <a:ln w="93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86130" y="5539740"/>
            <a:ext cx="7928609" cy="1270"/>
          </a:xfrm>
          <a:custGeom>
            <a:avLst/>
            <a:gdLst/>
            <a:ahLst/>
            <a:cxnLst/>
            <a:rect l="l" t="t" r="r" b="b"/>
            <a:pathLst>
              <a:path w="7928609" h="1270">
                <a:moveTo>
                  <a:pt x="0" y="0"/>
                </a:moveTo>
                <a:lnTo>
                  <a:pt x="7928610" y="1270"/>
                </a:lnTo>
              </a:path>
            </a:pathLst>
          </a:custGeom>
          <a:ln w="9344">
            <a:solidFill>
              <a:srgbClr val="497DB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0970" y="2901950"/>
            <a:ext cx="3104515" cy="3061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080" algn="r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700">
              <a:latin typeface="Times New Roman"/>
              <a:cs typeface="Times New Roman"/>
            </a:endParaRPr>
          </a:p>
          <a:p>
            <a:pPr marL="101981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161925">
              <a:lnSpc>
                <a:spcPct val="100000"/>
              </a:lnSpc>
              <a:spcBef>
                <a:spcPts val="1390"/>
              </a:spcBef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6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Nível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88639" y="259079"/>
            <a:ext cx="277749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Árvore</a:t>
            </a:r>
            <a:r>
              <a:rPr spc="-45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5459" y="1187450"/>
            <a:ext cx="7854950" cy="1521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200" spc="-65" dirty="0">
                <a:latin typeface="Arial"/>
                <a:cs typeface="Arial"/>
              </a:rPr>
              <a:t>Em </a:t>
            </a:r>
            <a:r>
              <a:rPr sz="2200" spc="30" dirty="0">
                <a:latin typeface="Arial"/>
                <a:cs typeface="Arial"/>
              </a:rPr>
              <a:t>uma </a:t>
            </a:r>
            <a:r>
              <a:rPr sz="2200" spc="20" dirty="0">
                <a:latin typeface="Arial"/>
                <a:cs typeface="Arial"/>
              </a:rPr>
              <a:t>árvore </a:t>
            </a:r>
            <a:r>
              <a:rPr sz="2200" spc="-125" dirty="0">
                <a:latin typeface="Arial"/>
                <a:cs typeface="Arial"/>
              </a:rPr>
              <a:t>AVL, </a:t>
            </a:r>
            <a:r>
              <a:rPr sz="2200" spc="20" dirty="0">
                <a:latin typeface="Arial"/>
                <a:cs typeface="Arial"/>
              </a:rPr>
              <a:t>para </a:t>
            </a:r>
            <a:r>
              <a:rPr sz="2200" spc="40" dirty="0">
                <a:latin typeface="Arial"/>
                <a:cs typeface="Arial"/>
              </a:rPr>
              <a:t>todo </a:t>
            </a:r>
            <a:r>
              <a:rPr sz="2200" spc="5" dirty="0">
                <a:latin typeface="Arial"/>
                <a:cs typeface="Arial"/>
              </a:rPr>
              <a:t>nó, </a:t>
            </a:r>
            <a:r>
              <a:rPr sz="2200" spc="-10" dirty="0">
                <a:latin typeface="Arial"/>
                <a:cs typeface="Arial"/>
              </a:rPr>
              <a:t>seja </a:t>
            </a:r>
            <a:r>
              <a:rPr sz="2200" spc="25" dirty="0">
                <a:latin typeface="Arial"/>
                <a:cs typeface="Arial"/>
              </a:rPr>
              <a:t>hd </a:t>
            </a:r>
            <a:r>
              <a:rPr sz="2200" spc="-15" dirty="0">
                <a:latin typeface="Arial"/>
                <a:cs typeface="Arial"/>
              </a:rPr>
              <a:t>a </a:t>
            </a:r>
            <a:r>
              <a:rPr sz="2200" spc="50" dirty="0">
                <a:latin typeface="Arial"/>
                <a:cs typeface="Arial"/>
              </a:rPr>
              <a:t>altura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30" dirty="0">
                <a:latin typeface="Arial"/>
                <a:cs typeface="Arial"/>
              </a:rPr>
              <a:t>uma  </a:t>
            </a:r>
            <a:r>
              <a:rPr sz="2200" spc="10" dirty="0">
                <a:latin typeface="Arial"/>
                <a:cs typeface="Arial"/>
              </a:rPr>
              <a:t>subárvore </a:t>
            </a:r>
            <a:r>
              <a:rPr sz="2200" spc="45" dirty="0">
                <a:latin typeface="Arial"/>
                <a:cs typeface="Arial"/>
              </a:rPr>
              <a:t>direita </a:t>
            </a:r>
            <a:r>
              <a:rPr sz="2200" spc="-10" dirty="0">
                <a:latin typeface="Arial"/>
                <a:cs typeface="Arial"/>
              </a:rPr>
              <a:t>e </a:t>
            </a:r>
            <a:r>
              <a:rPr sz="2200" spc="10" dirty="0">
                <a:latin typeface="Arial"/>
                <a:cs typeface="Arial"/>
              </a:rPr>
              <a:t>he </a:t>
            </a:r>
            <a:r>
              <a:rPr sz="2200" spc="-15" dirty="0">
                <a:latin typeface="Arial"/>
                <a:cs typeface="Arial"/>
              </a:rPr>
              <a:t>a </a:t>
            </a:r>
            <a:r>
              <a:rPr sz="2200" spc="50" dirty="0">
                <a:latin typeface="Arial"/>
                <a:cs typeface="Arial"/>
              </a:rPr>
              <a:t>altura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30" dirty="0">
                <a:latin typeface="Arial"/>
                <a:cs typeface="Arial"/>
              </a:rPr>
              <a:t>uma </a:t>
            </a:r>
            <a:r>
              <a:rPr sz="2200" spc="10" dirty="0">
                <a:latin typeface="Arial"/>
                <a:cs typeface="Arial"/>
              </a:rPr>
              <a:t>subárvore </a:t>
            </a:r>
            <a:r>
              <a:rPr sz="2200" dirty="0">
                <a:latin typeface="Arial"/>
                <a:cs typeface="Arial"/>
              </a:rPr>
              <a:t>esquerda </a:t>
            </a:r>
            <a:r>
              <a:rPr sz="2200" spc="10" dirty="0">
                <a:latin typeface="Arial"/>
                <a:cs typeface="Arial"/>
              </a:rPr>
              <a:t>de  </a:t>
            </a:r>
            <a:r>
              <a:rPr sz="2200" spc="60" dirty="0">
                <a:latin typeface="Arial"/>
                <a:cs typeface="Arial"/>
              </a:rPr>
              <a:t>um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nó: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dirty="0">
                <a:latin typeface="Courier New"/>
                <a:cs typeface="Courier New"/>
              </a:rPr>
              <a:t>hd – </a:t>
            </a:r>
            <a:r>
              <a:rPr sz="2200" spc="-5" dirty="0">
                <a:latin typeface="Courier New"/>
                <a:cs typeface="Courier New"/>
              </a:rPr>
              <a:t>he </a:t>
            </a:r>
            <a:r>
              <a:rPr sz="2200" dirty="0">
                <a:latin typeface="Courier New"/>
                <a:cs typeface="Courier New"/>
              </a:rPr>
              <a:t>є </a:t>
            </a:r>
            <a:r>
              <a:rPr sz="2200" spc="-10" dirty="0">
                <a:latin typeface="Courier New"/>
                <a:cs typeface="Courier New"/>
              </a:rPr>
              <a:t>{0, </a:t>
            </a:r>
            <a:r>
              <a:rPr sz="2200" spc="-5" dirty="0">
                <a:latin typeface="Courier New"/>
                <a:cs typeface="Courier New"/>
              </a:rPr>
              <a:t>1,</a:t>
            </a:r>
            <a:r>
              <a:rPr sz="2200" spc="-90" dirty="0">
                <a:latin typeface="Courier New"/>
                <a:cs typeface="Courier New"/>
              </a:rPr>
              <a:t> </a:t>
            </a:r>
            <a:r>
              <a:rPr sz="2200" dirty="0">
                <a:latin typeface="Courier New"/>
                <a:cs typeface="Courier New"/>
              </a:rPr>
              <a:t>-1}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05459" y="5464809"/>
            <a:ext cx="1701164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Se o</a:t>
            </a:r>
            <a:r>
              <a:rPr sz="2200" spc="-114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fator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48382" y="5464809"/>
            <a:ext cx="270637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Courier New"/>
                <a:cs typeface="Courier New"/>
              </a:rPr>
              <a:t>de</a:t>
            </a:r>
            <a:r>
              <a:rPr sz="2200" spc="-95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balanceamento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05459" y="5800090"/>
            <a:ext cx="864869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5" dirty="0">
                <a:latin typeface="Courier New"/>
                <a:cs typeface="Courier New"/>
              </a:rPr>
              <a:t>m</a:t>
            </a:r>
            <a:r>
              <a:rPr sz="2200" spc="-15" dirty="0">
                <a:latin typeface="Courier New"/>
                <a:cs typeface="Courier New"/>
              </a:rPr>
              <a:t>e</a:t>
            </a:r>
            <a:r>
              <a:rPr sz="2200" spc="-5" dirty="0">
                <a:latin typeface="Courier New"/>
                <a:cs typeface="Courier New"/>
              </a:rPr>
              <a:t>n</a:t>
            </a:r>
            <a:r>
              <a:rPr sz="2200" spc="5" dirty="0">
                <a:latin typeface="Courier New"/>
                <a:cs typeface="Courier New"/>
              </a:rPr>
              <a:t>o</a:t>
            </a:r>
            <a:r>
              <a:rPr sz="2200" dirty="0">
                <a:latin typeface="Courier New"/>
                <a:cs typeface="Courier New"/>
              </a:rPr>
              <a:t>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10741" y="5800090"/>
            <a:ext cx="304165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do </a:t>
            </a:r>
            <a:r>
              <a:rPr sz="2200" spc="-5" dirty="0">
                <a:latin typeface="Courier New"/>
                <a:cs typeface="Courier New"/>
              </a:rPr>
              <a:t>que </a:t>
            </a:r>
            <a:r>
              <a:rPr sz="2200" spc="-10" dirty="0">
                <a:latin typeface="Courier New"/>
                <a:cs typeface="Courier New"/>
              </a:rPr>
              <a:t>-1 ou</a:t>
            </a:r>
            <a:r>
              <a:rPr sz="2200" spc="-4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maior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5342" y="5464809"/>
            <a:ext cx="2370455" cy="701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02284">
              <a:lnSpc>
                <a:spcPct val="100000"/>
              </a:lnSpc>
            </a:pPr>
            <a:r>
              <a:rPr sz="2200" spc="-10" dirty="0">
                <a:latin typeface="Courier New"/>
                <a:cs typeface="Courier New"/>
              </a:rPr>
              <a:t>de</a:t>
            </a:r>
            <a:r>
              <a:rPr sz="2200" spc="-5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qualquer  do que </a:t>
            </a:r>
            <a:r>
              <a:rPr sz="2200" dirty="0">
                <a:latin typeface="Courier New"/>
                <a:cs typeface="Courier New"/>
              </a:rPr>
              <a:t>1</a:t>
            </a:r>
            <a:r>
              <a:rPr sz="2200" spc="-4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então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08546" y="5464809"/>
            <a:ext cx="1364615" cy="7016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200" spc="-10" dirty="0">
                <a:latin typeface="Courier New"/>
                <a:cs typeface="Courier New"/>
              </a:rPr>
              <a:t>nó</a:t>
            </a:r>
            <a:r>
              <a:rPr sz="2200" spc="-70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ficar  </a:t>
            </a:r>
            <a:r>
              <a:rPr sz="2200" dirty="0">
                <a:latin typeface="Courier New"/>
                <a:cs typeface="Courier New"/>
              </a:rPr>
              <a:t>a</a:t>
            </a:r>
            <a:r>
              <a:rPr sz="2200" spc="-110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árvore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05459" y="6134100"/>
            <a:ext cx="1198880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spc="-5" dirty="0">
                <a:latin typeface="Courier New"/>
                <a:cs typeface="Courier New"/>
              </a:rPr>
              <a:t>tem</a:t>
            </a:r>
            <a:r>
              <a:rPr sz="2200" spc="-85" dirty="0">
                <a:latin typeface="Courier New"/>
                <a:cs typeface="Courier New"/>
              </a:rPr>
              <a:t> </a:t>
            </a:r>
            <a:r>
              <a:rPr sz="2200" spc="-10" dirty="0">
                <a:latin typeface="Courier New"/>
                <a:cs typeface="Courier New"/>
              </a:rPr>
              <a:t>que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45741" y="6134100"/>
            <a:ext cx="254063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200" dirty="0">
                <a:latin typeface="Courier New"/>
                <a:cs typeface="Courier New"/>
              </a:rPr>
              <a:t>ser</a:t>
            </a:r>
            <a:r>
              <a:rPr sz="2200" spc="-100" dirty="0">
                <a:latin typeface="Courier New"/>
                <a:cs typeface="Courier New"/>
              </a:rPr>
              <a:t> </a:t>
            </a:r>
            <a:r>
              <a:rPr sz="2200" spc="-5" dirty="0">
                <a:latin typeface="Courier New"/>
                <a:cs typeface="Courier New"/>
              </a:rPr>
              <a:t>balanceada.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34137" y="2776627"/>
            <a:ext cx="7638234" cy="23740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543050">
              <a:lnSpc>
                <a:spcPct val="100000"/>
              </a:lnSpc>
            </a:pPr>
            <a:r>
              <a:rPr spc="-70" dirty="0"/>
              <a:t>Rotações </a:t>
            </a:r>
            <a:r>
              <a:rPr spc="90" dirty="0"/>
              <a:t>em</a:t>
            </a:r>
            <a:r>
              <a:rPr spc="30" dirty="0"/>
              <a:t> </a:t>
            </a:r>
            <a:r>
              <a:rPr spc="-325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7435215" cy="35674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157605">
              <a:lnSpc>
                <a:spcPct val="100000"/>
              </a:lnSpc>
            </a:pPr>
            <a:r>
              <a:rPr sz="2750" spc="-80" dirty="0">
                <a:latin typeface="Arial"/>
                <a:cs typeface="Arial"/>
              </a:rPr>
              <a:t>Na </a:t>
            </a:r>
            <a:r>
              <a:rPr sz="2750" spc="-5" dirty="0">
                <a:latin typeface="Arial"/>
                <a:cs typeface="Arial"/>
              </a:rPr>
              <a:t>inserção </a:t>
            </a:r>
            <a:r>
              <a:rPr sz="2750" spc="20" dirty="0">
                <a:latin typeface="Arial"/>
                <a:cs typeface="Arial"/>
              </a:rPr>
              <a:t>utiliza-se </a:t>
            </a:r>
            <a:r>
              <a:rPr sz="2750" spc="80" dirty="0">
                <a:latin typeface="Arial"/>
                <a:cs typeface="Arial"/>
              </a:rPr>
              <a:t>um </a:t>
            </a:r>
            <a:r>
              <a:rPr sz="2750" spc="-25" dirty="0">
                <a:latin typeface="Arial"/>
                <a:cs typeface="Arial"/>
              </a:rPr>
              <a:t>processo </a:t>
            </a:r>
            <a:r>
              <a:rPr sz="2750" spc="10" dirty="0">
                <a:latin typeface="Arial"/>
                <a:cs typeface="Arial"/>
              </a:rPr>
              <a:t>de  </a:t>
            </a:r>
            <a:r>
              <a:rPr sz="2750" spc="25" dirty="0">
                <a:latin typeface="Arial"/>
                <a:cs typeface="Arial"/>
              </a:rPr>
              <a:t>balanceamento </a:t>
            </a:r>
            <a:r>
              <a:rPr sz="2750" spc="20" dirty="0">
                <a:latin typeface="Arial"/>
                <a:cs typeface="Arial"/>
              </a:rPr>
              <a:t>que </a:t>
            </a:r>
            <a:r>
              <a:rPr sz="2750" spc="10" dirty="0">
                <a:latin typeface="Arial"/>
                <a:cs typeface="Arial"/>
              </a:rPr>
              <a:t>pode </a:t>
            </a:r>
            <a:r>
              <a:rPr sz="2750" spc="-5" dirty="0">
                <a:latin typeface="Arial"/>
                <a:cs typeface="Arial"/>
              </a:rPr>
              <a:t>ser </a:t>
            </a:r>
            <a:r>
              <a:rPr sz="2750" spc="15" dirty="0">
                <a:latin typeface="Arial"/>
                <a:cs typeface="Arial"/>
              </a:rPr>
              <a:t>de </a:t>
            </a:r>
            <a:r>
              <a:rPr sz="2750" spc="40" dirty="0">
                <a:latin typeface="Arial"/>
                <a:cs typeface="Arial"/>
              </a:rPr>
              <a:t>4 tipos  </a:t>
            </a:r>
            <a:r>
              <a:rPr sz="2750" spc="-10" dirty="0">
                <a:latin typeface="Arial"/>
                <a:cs typeface="Arial"/>
              </a:rPr>
              <a:t>específicos:</a:t>
            </a:r>
            <a:endParaRPr sz="2750" dirty="0">
              <a:latin typeface="Arial"/>
              <a:cs typeface="Arial"/>
            </a:endParaRPr>
          </a:p>
          <a:p>
            <a:pPr marL="12700" marR="550545">
              <a:lnSpc>
                <a:spcPct val="137000"/>
              </a:lnSpc>
              <a:tabLst>
                <a:tab pos="923290" algn="l"/>
              </a:tabLst>
            </a:pPr>
            <a:r>
              <a:rPr sz="2750" spc="-275" dirty="0">
                <a:latin typeface="Arial"/>
                <a:cs typeface="Arial"/>
              </a:rPr>
              <a:t>RR </a:t>
            </a:r>
            <a:r>
              <a:rPr sz="2750" spc="-680" dirty="0">
                <a:latin typeface="Arial"/>
                <a:cs typeface="Arial"/>
              </a:rPr>
              <a:t>→ </a:t>
            </a:r>
            <a:r>
              <a:rPr lang="pt-BR" sz="2750" spc="-680" dirty="0" smtClean="0">
                <a:latin typeface="Arial"/>
                <a:cs typeface="Arial"/>
              </a:rPr>
              <a:t>       </a:t>
            </a:r>
            <a:r>
              <a:rPr sz="2750" spc="-40" dirty="0" err="1" smtClean="0">
                <a:latin typeface="Arial"/>
                <a:cs typeface="Arial"/>
              </a:rPr>
              <a:t>caso</a:t>
            </a:r>
            <a:r>
              <a:rPr sz="2750" spc="-40" dirty="0" smtClean="0">
                <a:latin typeface="Arial"/>
                <a:cs typeface="Arial"/>
              </a:rPr>
              <a:t> </a:t>
            </a:r>
            <a:r>
              <a:rPr sz="2750" spc="10" dirty="0">
                <a:latin typeface="Arial"/>
                <a:cs typeface="Arial"/>
              </a:rPr>
              <a:t>Right-Right </a:t>
            </a:r>
            <a:r>
              <a:rPr sz="2750" spc="20" dirty="0">
                <a:latin typeface="Arial"/>
                <a:cs typeface="Arial"/>
              </a:rPr>
              <a:t>(rotação </a:t>
            </a:r>
            <a:r>
              <a:rPr sz="2750" spc="-15" dirty="0">
                <a:latin typeface="Arial"/>
                <a:cs typeface="Arial"/>
              </a:rPr>
              <a:t>a </a:t>
            </a:r>
            <a:r>
              <a:rPr sz="2750" spc="5" dirty="0">
                <a:latin typeface="Arial"/>
                <a:cs typeface="Arial"/>
              </a:rPr>
              <a:t>esquerda)  </a:t>
            </a:r>
            <a:r>
              <a:rPr sz="2750" spc="-155" dirty="0">
                <a:latin typeface="Arial"/>
                <a:cs typeface="Arial"/>
              </a:rPr>
              <a:t>LL  </a:t>
            </a:r>
            <a:r>
              <a:rPr sz="2750" spc="-680" dirty="0" smtClean="0">
                <a:latin typeface="Arial"/>
                <a:cs typeface="Arial"/>
              </a:rPr>
              <a:t>→</a:t>
            </a:r>
            <a:r>
              <a:rPr sz="2750" spc="-680" dirty="0">
                <a:latin typeface="Arial"/>
                <a:cs typeface="Arial"/>
              </a:rPr>
              <a:t>	</a:t>
            </a:r>
            <a:r>
              <a:rPr sz="2750" spc="-40" dirty="0">
                <a:latin typeface="Arial"/>
                <a:cs typeface="Arial"/>
              </a:rPr>
              <a:t>caso </a:t>
            </a:r>
            <a:r>
              <a:rPr sz="2750" spc="5" dirty="0">
                <a:latin typeface="Arial"/>
                <a:cs typeface="Arial"/>
              </a:rPr>
              <a:t>Left-Left </a:t>
            </a:r>
            <a:r>
              <a:rPr sz="2750" spc="20" dirty="0">
                <a:latin typeface="Arial"/>
                <a:cs typeface="Arial"/>
              </a:rPr>
              <a:t>(rotação </a:t>
            </a:r>
            <a:r>
              <a:rPr sz="2750" spc="-15" dirty="0">
                <a:latin typeface="Arial"/>
                <a:cs typeface="Arial"/>
              </a:rPr>
              <a:t>a</a:t>
            </a:r>
            <a:r>
              <a:rPr sz="2750" spc="-10" dirty="0">
                <a:latin typeface="Arial"/>
                <a:cs typeface="Arial"/>
              </a:rPr>
              <a:t> </a:t>
            </a:r>
            <a:r>
              <a:rPr sz="2750" spc="55" dirty="0">
                <a:latin typeface="Arial"/>
                <a:cs typeface="Arial"/>
              </a:rPr>
              <a:t>direita)</a:t>
            </a:r>
            <a:endParaRPr sz="2750" dirty="0">
              <a:latin typeface="Arial"/>
              <a:cs typeface="Arial"/>
            </a:endParaRPr>
          </a:p>
          <a:p>
            <a:pPr marL="12700" marR="5080">
              <a:lnSpc>
                <a:spcPct val="137000"/>
              </a:lnSpc>
            </a:pPr>
            <a:r>
              <a:rPr sz="2750" spc="-210" dirty="0">
                <a:latin typeface="Arial"/>
                <a:cs typeface="Arial"/>
              </a:rPr>
              <a:t>LR </a:t>
            </a:r>
            <a:r>
              <a:rPr sz="2750" spc="-680" dirty="0">
                <a:latin typeface="Arial"/>
                <a:cs typeface="Arial"/>
              </a:rPr>
              <a:t>→ </a:t>
            </a:r>
            <a:r>
              <a:rPr lang="pt-BR" sz="2750" spc="-680" dirty="0" smtClean="0">
                <a:latin typeface="Arial"/>
                <a:cs typeface="Arial"/>
              </a:rPr>
              <a:t>            </a:t>
            </a:r>
            <a:r>
              <a:rPr sz="2750" spc="-40" dirty="0" err="1" smtClean="0">
                <a:latin typeface="Arial"/>
                <a:cs typeface="Arial"/>
              </a:rPr>
              <a:t>caso</a:t>
            </a:r>
            <a:r>
              <a:rPr sz="2750" spc="-40" dirty="0" smtClean="0">
                <a:latin typeface="Arial"/>
                <a:cs typeface="Arial"/>
              </a:rPr>
              <a:t> </a:t>
            </a:r>
            <a:r>
              <a:rPr sz="2750" spc="10" dirty="0">
                <a:latin typeface="Arial"/>
                <a:cs typeface="Arial"/>
              </a:rPr>
              <a:t>Left-Right </a:t>
            </a:r>
            <a:r>
              <a:rPr sz="2750" spc="20" dirty="0">
                <a:latin typeface="Arial"/>
                <a:cs typeface="Arial"/>
              </a:rPr>
              <a:t>(rotação </a:t>
            </a:r>
            <a:r>
              <a:rPr sz="2750" spc="25" dirty="0">
                <a:latin typeface="Arial"/>
                <a:cs typeface="Arial"/>
              </a:rPr>
              <a:t>esquerda-direita)  </a:t>
            </a:r>
            <a:r>
              <a:rPr sz="2750" spc="-215" dirty="0">
                <a:latin typeface="Arial"/>
                <a:cs typeface="Arial"/>
              </a:rPr>
              <a:t>RL </a:t>
            </a:r>
            <a:r>
              <a:rPr sz="2750" spc="-680" dirty="0">
                <a:latin typeface="Arial"/>
                <a:cs typeface="Arial"/>
              </a:rPr>
              <a:t>→         </a:t>
            </a:r>
            <a:r>
              <a:rPr lang="pt-BR" sz="2750" spc="-680" dirty="0" smtClean="0">
                <a:latin typeface="Arial"/>
                <a:cs typeface="Arial"/>
              </a:rPr>
              <a:t>    </a:t>
            </a:r>
            <a:r>
              <a:rPr sz="2750" spc="-40" dirty="0" err="1" smtClean="0">
                <a:latin typeface="Arial"/>
                <a:cs typeface="Arial"/>
              </a:rPr>
              <a:t>caso</a:t>
            </a:r>
            <a:r>
              <a:rPr sz="2750" spc="-40" dirty="0" smtClean="0">
                <a:latin typeface="Arial"/>
                <a:cs typeface="Arial"/>
              </a:rPr>
              <a:t> </a:t>
            </a:r>
            <a:r>
              <a:rPr sz="2750" spc="10" dirty="0">
                <a:latin typeface="Arial"/>
                <a:cs typeface="Arial"/>
              </a:rPr>
              <a:t>Right-Left </a:t>
            </a:r>
            <a:r>
              <a:rPr sz="2750" spc="20" dirty="0">
                <a:latin typeface="Arial"/>
                <a:cs typeface="Arial"/>
              </a:rPr>
              <a:t>(rotação</a:t>
            </a:r>
            <a:r>
              <a:rPr sz="2750" spc="285" dirty="0">
                <a:latin typeface="Arial"/>
                <a:cs typeface="Arial"/>
              </a:rPr>
              <a:t> </a:t>
            </a:r>
            <a:r>
              <a:rPr sz="2750" spc="25" dirty="0">
                <a:latin typeface="Arial"/>
                <a:cs typeface="Arial"/>
              </a:rPr>
              <a:t>direita-esquerda)</a:t>
            </a:r>
            <a:endParaRPr sz="27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25320" y="343408"/>
            <a:ext cx="5287010" cy="133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24510">
              <a:lnSpc>
                <a:spcPts val="5270"/>
              </a:lnSpc>
            </a:pPr>
            <a:r>
              <a:rPr spc="-155" dirty="0"/>
              <a:t>Caso </a:t>
            </a:r>
            <a:r>
              <a:rPr spc="20" dirty="0"/>
              <a:t>Right-Right  </a:t>
            </a:r>
            <a:r>
              <a:rPr spc="40" dirty="0"/>
              <a:t>(rotação </a:t>
            </a:r>
            <a:r>
              <a:rPr spc="-25" dirty="0"/>
              <a:t>a</a:t>
            </a:r>
            <a:r>
              <a:rPr spc="-45" dirty="0"/>
              <a:t> </a:t>
            </a:r>
            <a:r>
              <a:rPr spc="15" dirty="0"/>
              <a:t>esquerda)</a:t>
            </a:r>
          </a:p>
        </p:txBody>
      </p:sp>
      <p:sp>
        <p:nvSpPr>
          <p:cNvPr id="3" name="object 3"/>
          <p:cNvSpPr/>
          <p:nvPr/>
        </p:nvSpPr>
        <p:spPr>
          <a:xfrm>
            <a:off x="713740" y="2387600"/>
            <a:ext cx="8001000" cy="3755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93620" y="343408"/>
            <a:ext cx="4551045" cy="133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534670">
              <a:lnSpc>
                <a:spcPts val="5270"/>
              </a:lnSpc>
            </a:pPr>
            <a:r>
              <a:rPr spc="-155" dirty="0"/>
              <a:t>Caso </a:t>
            </a:r>
            <a:r>
              <a:rPr spc="15" dirty="0"/>
              <a:t>Left-Left  </a:t>
            </a:r>
            <a:r>
              <a:rPr spc="40" dirty="0"/>
              <a:t>(rotação </a:t>
            </a:r>
            <a:r>
              <a:rPr spc="-25" dirty="0"/>
              <a:t>a</a:t>
            </a:r>
            <a:r>
              <a:rPr spc="-60" dirty="0"/>
              <a:t> </a:t>
            </a:r>
            <a:r>
              <a:rPr spc="90" dirty="0"/>
              <a:t>direita)</a:t>
            </a:r>
          </a:p>
        </p:txBody>
      </p:sp>
      <p:sp>
        <p:nvSpPr>
          <p:cNvPr id="3" name="object 3"/>
          <p:cNvSpPr/>
          <p:nvPr/>
        </p:nvSpPr>
        <p:spPr>
          <a:xfrm>
            <a:off x="285750" y="2214879"/>
            <a:ext cx="8224520" cy="32143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3650" y="343408"/>
            <a:ext cx="6608445" cy="133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2070100">
              <a:lnSpc>
                <a:spcPts val="5270"/>
              </a:lnSpc>
            </a:pPr>
            <a:r>
              <a:rPr spc="15" dirty="0"/>
              <a:t>Left-Right  </a:t>
            </a:r>
            <a:r>
              <a:rPr spc="40" dirty="0"/>
              <a:t>(rotação</a:t>
            </a:r>
            <a:r>
              <a:rPr spc="-50" dirty="0"/>
              <a:t> </a:t>
            </a:r>
            <a:r>
              <a:rPr spc="45" dirty="0"/>
              <a:t>esquerda-direita)</a:t>
            </a:r>
          </a:p>
        </p:txBody>
      </p:sp>
      <p:sp>
        <p:nvSpPr>
          <p:cNvPr id="3" name="object 3"/>
          <p:cNvSpPr/>
          <p:nvPr/>
        </p:nvSpPr>
        <p:spPr>
          <a:xfrm>
            <a:off x="674369" y="2284729"/>
            <a:ext cx="7827009" cy="36436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3650" y="343408"/>
            <a:ext cx="6607809" cy="1330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indent="1375410">
              <a:lnSpc>
                <a:spcPts val="5270"/>
              </a:lnSpc>
            </a:pPr>
            <a:r>
              <a:rPr spc="-155" dirty="0"/>
              <a:t>Caso </a:t>
            </a:r>
            <a:r>
              <a:rPr spc="15" dirty="0"/>
              <a:t>Right-Left  </a:t>
            </a:r>
            <a:r>
              <a:rPr spc="40" dirty="0"/>
              <a:t>(rotação</a:t>
            </a:r>
            <a:r>
              <a:rPr spc="25" dirty="0"/>
              <a:t> </a:t>
            </a:r>
            <a:r>
              <a:rPr spc="40" dirty="0"/>
              <a:t>direita-esquerda)</a:t>
            </a:r>
          </a:p>
        </p:txBody>
      </p:sp>
      <p:sp>
        <p:nvSpPr>
          <p:cNvPr id="3" name="object 3"/>
          <p:cNvSpPr/>
          <p:nvPr/>
        </p:nvSpPr>
        <p:spPr>
          <a:xfrm>
            <a:off x="500380" y="1998979"/>
            <a:ext cx="7644130" cy="36588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45160">
              <a:lnSpc>
                <a:spcPct val="100000"/>
              </a:lnSpc>
            </a:pPr>
            <a:r>
              <a:rPr spc="-80" dirty="0"/>
              <a:t>Fator </a:t>
            </a:r>
            <a:r>
              <a:rPr spc="25" dirty="0"/>
              <a:t>de</a:t>
            </a:r>
            <a:r>
              <a:rPr spc="95" dirty="0"/>
              <a:t> </a:t>
            </a:r>
            <a:r>
              <a:rPr spc="25" dirty="0"/>
              <a:t>Balanceamento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789"/>
            <a:ext cx="7958455" cy="44088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499"/>
              </a:lnSpc>
            </a:pPr>
            <a:r>
              <a:rPr sz="3150" spc="25" dirty="0">
                <a:latin typeface="Arial"/>
                <a:cs typeface="Arial"/>
              </a:rPr>
              <a:t>Coeficiente </a:t>
            </a:r>
            <a:r>
              <a:rPr sz="3150" spc="35" dirty="0">
                <a:latin typeface="Arial"/>
                <a:cs typeface="Arial"/>
              </a:rPr>
              <a:t>que </a:t>
            </a:r>
            <a:r>
              <a:rPr sz="3150" spc="25" dirty="0">
                <a:latin typeface="Arial"/>
                <a:cs typeface="Arial"/>
              </a:rPr>
              <a:t>serve como </a:t>
            </a:r>
            <a:r>
              <a:rPr sz="3150" spc="35" dirty="0">
                <a:latin typeface="Arial"/>
                <a:cs typeface="Arial"/>
              </a:rPr>
              <a:t>referência</a:t>
            </a:r>
            <a:r>
              <a:rPr sz="3150" spc="-80" dirty="0">
                <a:latin typeface="Arial"/>
                <a:cs typeface="Arial"/>
              </a:rPr>
              <a:t> </a:t>
            </a:r>
            <a:r>
              <a:rPr sz="3150" spc="40" dirty="0">
                <a:latin typeface="Arial"/>
                <a:cs typeface="Arial"/>
              </a:rPr>
              <a:t>para  </a:t>
            </a:r>
            <a:r>
              <a:rPr sz="3150" spc="70" dirty="0">
                <a:latin typeface="Arial"/>
                <a:cs typeface="Arial"/>
              </a:rPr>
              <a:t>verificar </a:t>
            </a:r>
            <a:r>
              <a:rPr sz="3150" spc="-45" dirty="0">
                <a:latin typeface="Arial"/>
                <a:cs typeface="Arial"/>
              </a:rPr>
              <a:t>se </a:t>
            </a:r>
            <a:r>
              <a:rPr sz="3150" spc="65" dirty="0">
                <a:latin typeface="Arial"/>
                <a:cs typeface="Arial"/>
              </a:rPr>
              <a:t>uma </a:t>
            </a:r>
            <a:r>
              <a:rPr sz="3150" spc="40" dirty="0">
                <a:latin typeface="Arial"/>
                <a:cs typeface="Arial"/>
              </a:rPr>
              <a:t>árvore </a:t>
            </a:r>
            <a:r>
              <a:rPr sz="3150" spc="-229" dirty="0">
                <a:latin typeface="Arial"/>
                <a:cs typeface="Arial"/>
              </a:rPr>
              <a:t>AVL </a:t>
            </a:r>
            <a:r>
              <a:rPr sz="3150" spc="30" dirty="0">
                <a:latin typeface="Arial"/>
                <a:cs typeface="Arial"/>
              </a:rPr>
              <a:t>está </a:t>
            </a:r>
            <a:r>
              <a:rPr sz="3150" spc="20" dirty="0">
                <a:latin typeface="Arial"/>
                <a:cs typeface="Arial"/>
              </a:rPr>
              <a:t>ou </a:t>
            </a:r>
            <a:r>
              <a:rPr sz="3150" spc="5" dirty="0">
                <a:latin typeface="Arial"/>
                <a:cs typeface="Arial"/>
              </a:rPr>
              <a:t>não  </a:t>
            </a:r>
            <a:r>
              <a:rPr sz="3150" spc="20" dirty="0">
                <a:latin typeface="Arial"/>
                <a:cs typeface="Arial"/>
              </a:rPr>
              <a:t>balanceada</a:t>
            </a:r>
            <a:endParaRPr sz="3150" dirty="0">
              <a:latin typeface="Arial"/>
              <a:cs typeface="Arial"/>
            </a:endParaRPr>
          </a:p>
          <a:p>
            <a:pPr marL="12700" marR="510540">
              <a:lnSpc>
                <a:spcPct val="100499"/>
              </a:lnSpc>
              <a:spcBef>
                <a:spcPts val="1400"/>
              </a:spcBef>
            </a:pPr>
            <a:r>
              <a:rPr sz="3150" spc="-210" dirty="0">
                <a:latin typeface="Arial"/>
                <a:cs typeface="Arial"/>
              </a:rPr>
              <a:t>O </a:t>
            </a:r>
            <a:r>
              <a:rPr sz="3150" spc="90" dirty="0">
                <a:latin typeface="Arial"/>
                <a:cs typeface="Arial"/>
              </a:rPr>
              <a:t>fator </a:t>
            </a:r>
            <a:r>
              <a:rPr sz="3150" dirty="0">
                <a:latin typeface="Arial"/>
                <a:cs typeface="Arial"/>
              </a:rPr>
              <a:t>é </a:t>
            </a:r>
            <a:r>
              <a:rPr sz="3150" spc="25" dirty="0">
                <a:latin typeface="Arial"/>
                <a:cs typeface="Arial"/>
              </a:rPr>
              <a:t>calculado </a:t>
            </a:r>
            <a:r>
              <a:rPr sz="3150" spc="20" dirty="0">
                <a:latin typeface="Arial"/>
                <a:cs typeface="Arial"/>
              </a:rPr>
              <a:t>nó </a:t>
            </a:r>
            <a:r>
              <a:rPr sz="3150" spc="-5" dirty="0">
                <a:latin typeface="Arial"/>
                <a:cs typeface="Arial"/>
              </a:rPr>
              <a:t>a </a:t>
            </a:r>
            <a:r>
              <a:rPr sz="3150" spc="20" dirty="0">
                <a:latin typeface="Arial"/>
                <a:cs typeface="Arial"/>
              </a:rPr>
              <a:t>nó </a:t>
            </a:r>
            <a:r>
              <a:rPr sz="3150" dirty="0">
                <a:latin typeface="Arial"/>
                <a:cs typeface="Arial"/>
              </a:rPr>
              <a:t>e </a:t>
            </a:r>
            <a:r>
              <a:rPr sz="3150" spc="45" dirty="0">
                <a:latin typeface="Arial"/>
                <a:cs typeface="Arial"/>
              </a:rPr>
              <a:t>leva </a:t>
            </a:r>
            <a:r>
              <a:rPr sz="3150" spc="70" dirty="0">
                <a:latin typeface="Arial"/>
                <a:cs typeface="Arial"/>
              </a:rPr>
              <a:t>em  </a:t>
            </a:r>
            <a:r>
              <a:rPr sz="3150" spc="10" dirty="0">
                <a:latin typeface="Arial"/>
                <a:cs typeface="Arial"/>
              </a:rPr>
              <a:t>consideração </a:t>
            </a:r>
            <a:r>
              <a:rPr sz="3150" spc="-5" dirty="0">
                <a:latin typeface="Arial"/>
                <a:cs typeface="Arial"/>
              </a:rPr>
              <a:t>a </a:t>
            </a:r>
            <a:r>
              <a:rPr sz="3150" spc="35" dirty="0">
                <a:latin typeface="Arial"/>
                <a:cs typeface="Arial"/>
              </a:rPr>
              <a:t>diferença </a:t>
            </a:r>
            <a:r>
              <a:rPr sz="3150" spc="-15" dirty="0">
                <a:latin typeface="Arial"/>
                <a:cs typeface="Arial"/>
              </a:rPr>
              <a:t>das </a:t>
            </a:r>
            <a:r>
              <a:rPr sz="3150" spc="55" dirty="0">
                <a:latin typeface="Arial"/>
                <a:cs typeface="Arial"/>
              </a:rPr>
              <a:t>alturas </a:t>
            </a:r>
            <a:r>
              <a:rPr sz="3150" spc="-20" dirty="0">
                <a:latin typeface="Arial"/>
                <a:cs typeface="Arial"/>
              </a:rPr>
              <a:t>das  </a:t>
            </a:r>
            <a:r>
              <a:rPr sz="3150" spc="15" dirty="0">
                <a:latin typeface="Arial"/>
                <a:cs typeface="Arial"/>
              </a:rPr>
              <a:t>sub-árvores </a:t>
            </a:r>
            <a:r>
              <a:rPr sz="3150" spc="20" dirty="0">
                <a:latin typeface="Arial"/>
                <a:cs typeface="Arial"/>
              </a:rPr>
              <a:t>da </a:t>
            </a:r>
            <a:r>
              <a:rPr sz="3150" spc="70" dirty="0">
                <a:latin typeface="Arial"/>
                <a:cs typeface="Arial"/>
              </a:rPr>
              <a:t>direita </a:t>
            </a:r>
            <a:r>
              <a:rPr sz="3150" dirty="0">
                <a:latin typeface="Arial"/>
                <a:cs typeface="Arial"/>
              </a:rPr>
              <a:t>e </a:t>
            </a:r>
            <a:r>
              <a:rPr sz="3150" spc="25" dirty="0">
                <a:latin typeface="Arial"/>
                <a:cs typeface="Arial"/>
              </a:rPr>
              <a:t>da</a:t>
            </a:r>
            <a:r>
              <a:rPr sz="3150" spc="-20" dirty="0">
                <a:latin typeface="Arial"/>
                <a:cs typeface="Arial"/>
              </a:rPr>
              <a:t> </a:t>
            </a:r>
            <a:r>
              <a:rPr sz="3150" spc="10" dirty="0">
                <a:latin typeface="Arial"/>
                <a:cs typeface="Arial"/>
              </a:rPr>
              <a:t>esquerda</a:t>
            </a:r>
            <a:endParaRPr sz="3150" dirty="0">
              <a:latin typeface="Arial"/>
              <a:cs typeface="Arial"/>
            </a:endParaRPr>
          </a:p>
          <a:p>
            <a:pPr marL="12700" marR="5143500">
              <a:lnSpc>
                <a:spcPts val="5200"/>
              </a:lnSpc>
              <a:spcBef>
                <a:spcPts val="409"/>
              </a:spcBef>
            </a:pPr>
            <a:r>
              <a:rPr sz="3150" spc="-145" dirty="0">
                <a:latin typeface="Arial"/>
                <a:cs typeface="Arial"/>
              </a:rPr>
              <a:t>G</a:t>
            </a:r>
            <a:r>
              <a:rPr sz="3150" spc="-110" dirty="0">
                <a:latin typeface="Arial"/>
                <a:cs typeface="Arial"/>
              </a:rPr>
              <a:t>e</a:t>
            </a:r>
            <a:r>
              <a:rPr sz="3150" spc="20" dirty="0">
                <a:latin typeface="Arial"/>
                <a:cs typeface="Arial"/>
              </a:rPr>
              <a:t>n</a:t>
            </a:r>
            <a:r>
              <a:rPr sz="3150" spc="15" dirty="0">
                <a:latin typeface="Arial"/>
                <a:cs typeface="Arial"/>
              </a:rPr>
              <a:t>e</a:t>
            </a:r>
            <a:r>
              <a:rPr sz="3150" spc="120" dirty="0">
                <a:latin typeface="Arial"/>
                <a:cs typeface="Arial"/>
              </a:rPr>
              <a:t>r</a:t>
            </a:r>
            <a:r>
              <a:rPr sz="3150" spc="85" dirty="0">
                <a:latin typeface="Arial"/>
                <a:cs typeface="Arial"/>
              </a:rPr>
              <a:t>i</a:t>
            </a:r>
            <a:r>
              <a:rPr sz="3150" spc="30" dirty="0">
                <a:latin typeface="Arial"/>
                <a:cs typeface="Arial"/>
              </a:rPr>
              <a:t>came</a:t>
            </a:r>
            <a:r>
              <a:rPr sz="3150" spc="85" dirty="0">
                <a:latin typeface="Arial"/>
                <a:cs typeface="Arial"/>
              </a:rPr>
              <a:t>nte </a:t>
            </a:r>
            <a:r>
              <a:rPr sz="3150" spc="55" dirty="0">
                <a:latin typeface="Arial"/>
                <a:cs typeface="Arial"/>
              </a:rPr>
              <a:t> </a:t>
            </a:r>
            <a:r>
              <a:rPr sz="3150" spc="-220" dirty="0">
                <a:latin typeface="Arial"/>
                <a:cs typeface="Arial"/>
              </a:rPr>
              <a:t>FB </a:t>
            </a:r>
            <a:r>
              <a:rPr sz="3150" spc="550" dirty="0">
                <a:latin typeface="Arial"/>
                <a:cs typeface="Arial"/>
              </a:rPr>
              <a:t>= </a:t>
            </a:r>
            <a:r>
              <a:rPr sz="3150" spc="25" dirty="0" smtClean="0">
                <a:latin typeface="Arial"/>
                <a:cs typeface="Arial"/>
              </a:rPr>
              <a:t>h</a:t>
            </a:r>
            <a:r>
              <a:rPr lang="pt-BR" sz="3150" spc="25" dirty="0" smtClean="0">
                <a:latin typeface="Arial"/>
                <a:cs typeface="Arial"/>
              </a:rPr>
              <a:t>d</a:t>
            </a:r>
            <a:r>
              <a:rPr sz="3150" spc="25" dirty="0" smtClean="0">
                <a:latin typeface="Arial"/>
                <a:cs typeface="Arial"/>
              </a:rPr>
              <a:t> </a:t>
            </a:r>
            <a:r>
              <a:rPr sz="3150" spc="-20" dirty="0">
                <a:latin typeface="Arial"/>
                <a:cs typeface="Arial"/>
              </a:rPr>
              <a:t>-</a:t>
            </a:r>
            <a:r>
              <a:rPr sz="3150" spc="-360" dirty="0">
                <a:latin typeface="Arial"/>
                <a:cs typeface="Arial"/>
              </a:rPr>
              <a:t> </a:t>
            </a:r>
            <a:r>
              <a:rPr sz="3150" spc="50" dirty="0" smtClean="0">
                <a:latin typeface="Arial"/>
                <a:cs typeface="Arial"/>
              </a:rPr>
              <a:t>h</a:t>
            </a:r>
            <a:r>
              <a:rPr lang="pt-BR" sz="3150" spc="50" dirty="0" smtClean="0">
                <a:latin typeface="Arial"/>
                <a:cs typeface="Arial"/>
              </a:rPr>
              <a:t>e</a:t>
            </a:r>
            <a:endParaRPr sz="31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56260">
              <a:lnSpc>
                <a:spcPct val="100000"/>
              </a:lnSpc>
            </a:pPr>
            <a:r>
              <a:rPr spc="-15" dirty="0"/>
              <a:t>Exemplo </a:t>
            </a:r>
            <a:r>
              <a:rPr spc="-470" dirty="0"/>
              <a:t>–  </a:t>
            </a:r>
            <a:r>
              <a:rPr spc="-320" dirty="0"/>
              <a:t>FB </a:t>
            </a:r>
            <a:r>
              <a:rPr spc="25" dirty="0"/>
              <a:t>de </a:t>
            </a:r>
            <a:r>
              <a:rPr spc="-5" dirty="0"/>
              <a:t>cada</a:t>
            </a:r>
            <a:r>
              <a:rPr spc="110" dirty="0"/>
              <a:t> </a:t>
            </a:r>
            <a:r>
              <a:rPr spc="10" dirty="0"/>
              <a:t>nó</a:t>
            </a:r>
          </a:p>
        </p:txBody>
      </p:sp>
      <p:sp>
        <p:nvSpPr>
          <p:cNvPr id="3" name="object 3"/>
          <p:cNvSpPr/>
          <p:nvPr/>
        </p:nvSpPr>
        <p:spPr>
          <a:xfrm>
            <a:off x="2071370" y="2000250"/>
            <a:ext cx="4286250" cy="4286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999990" y="2642870"/>
            <a:ext cx="571500" cy="50038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359"/>
              </a:spcBef>
            </a:pPr>
            <a:r>
              <a:rPr sz="2400" spc="215" dirty="0">
                <a:solidFill>
                  <a:srgbClr val="FF0000"/>
                </a:solidFill>
                <a:latin typeface="Arial"/>
                <a:cs typeface="Arial"/>
              </a:rPr>
              <a:t>+2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46220" y="3572509"/>
            <a:ext cx="57023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42875">
              <a:lnSpc>
                <a:spcPct val="100000"/>
              </a:lnSpc>
              <a:spcBef>
                <a:spcPts val="250"/>
              </a:spcBef>
            </a:pPr>
            <a:r>
              <a:rPr sz="2400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03879" y="4500879"/>
            <a:ext cx="57150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810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300"/>
              </a:spcBef>
            </a:pP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058920" y="5429250"/>
            <a:ext cx="57150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250"/>
              </a:spcBef>
            </a:pP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99990" y="4500879"/>
            <a:ext cx="57150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6835">
              <a:lnSpc>
                <a:spcPct val="100000"/>
              </a:lnSpc>
              <a:spcBef>
                <a:spcPts val="250"/>
              </a:spcBef>
            </a:pPr>
            <a:r>
              <a:rPr sz="2400" spc="215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928359" y="3572509"/>
            <a:ext cx="57150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50"/>
              </a:spcBef>
            </a:pP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1270">
              <a:lnSpc>
                <a:spcPct val="100000"/>
              </a:lnSpc>
            </a:pPr>
            <a:r>
              <a:rPr spc="-30" dirty="0"/>
              <a:t>Quando</a:t>
            </a:r>
            <a:r>
              <a:rPr spc="-45" dirty="0"/>
              <a:t> </a:t>
            </a:r>
            <a:r>
              <a:rPr spc="-10" dirty="0"/>
              <a:t>balancear?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2619" y="1741170"/>
            <a:ext cx="10858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2619" y="2713990"/>
            <a:ext cx="10858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42619" y="4081779"/>
            <a:ext cx="108585" cy="1968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50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1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6469" y="1644650"/>
            <a:ext cx="7384415" cy="2750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09880">
              <a:lnSpc>
                <a:spcPct val="100000"/>
              </a:lnSpc>
            </a:pPr>
            <a:r>
              <a:rPr sz="2600" spc="-15" dirty="0">
                <a:latin typeface="Arial"/>
                <a:cs typeface="Arial"/>
              </a:rPr>
              <a:t>Sempre </a:t>
            </a:r>
            <a:r>
              <a:rPr sz="2600" spc="20" dirty="0">
                <a:latin typeface="Arial"/>
                <a:cs typeface="Arial"/>
              </a:rPr>
              <a:t>que </a:t>
            </a:r>
            <a:r>
              <a:rPr sz="2600" spc="50" dirty="0">
                <a:latin typeface="Arial"/>
                <a:cs typeface="Arial"/>
              </a:rPr>
              <a:t>existir </a:t>
            </a:r>
            <a:r>
              <a:rPr sz="2600" spc="75" dirty="0">
                <a:latin typeface="Arial"/>
                <a:cs typeface="Arial"/>
              </a:rPr>
              <a:t>um </a:t>
            </a:r>
            <a:r>
              <a:rPr sz="2600" spc="70" dirty="0">
                <a:latin typeface="Arial"/>
                <a:cs typeface="Arial"/>
              </a:rPr>
              <a:t>fator </a:t>
            </a:r>
            <a:r>
              <a:rPr sz="2600" spc="15" dirty="0">
                <a:latin typeface="Arial"/>
                <a:cs typeface="Arial"/>
              </a:rPr>
              <a:t>de</a:t>
            </a:r>
            <a:r>
              <a:rPr sz="2600" spc="-155" dirty="0">
                <a:latin typeface="Arial"/>
                <a:cs typeface="Arial"/>
              </a:rPr>
              <a:t> </a:t>
            </a:r>
            <a:r>
              <a:rPr sz="2600" spc="30" dirty="0">
                <a:latin typeface="Arial"/>
                <a:cs typeface="Arial"/>
              </a:rPr>
              <a:t>balanceamento  </a:t>
            </a:r>
            <a:r>
              <a:rPr sz="2600" spc="25" dirty="0">
                <a:latin typeface="Arial"/>
                <a:cs typeface="Arial"/>
              </a:rPr>
              <a:t>superior </a:t>
            </a:r>
            <a:r>
              <a:rPr sz="2600" spc="-15" dirty="0">
                <a:latin typeface="Arial"/>
                <a:cs typeface="Arial"/>
              </a:rPr>
              <a:t>a </a:t>
            </a:r>
            <a:r>
              <a:rPr sz="2600" spc="240" dirty="0">
                <a:latin typeface="Arial"/>
                <a:cs typeface="Arial"/>
              </a:rPr>
              <a:t>+1 </a:t>
            </a:r>
            <a:r>
              <a:rPr sz="2600" spc="5" dirty="0">
                <a:latin typeface="Arial"/>
                <a:cs typeface="Arial"/>
              </a:rPr>
              <a:t>ou </a:t>
            </a:r>
            <a:r>
              <a:rPr sz="2600" spc="50" dirty="0">
                <a:latin typeface="Arial"/>
                <a:cs typeface="Arial"/>
              </a:rPr>
              <a:t>inferior </a:t>
            </a:r>
            <a:r>
              <a:rPr sz="2600" spc="-15" dirty="0">
                <a:latin typeface="Arial"/>
                <a:cs typeface="Arial"/>
              </a:rPr>
              <a:t>a</a:t>
            </a:r>
            <a:r>
              <a:rPr sz="2600" spc="-225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-1</a:t>
            </a:r>
            <a:endParaRPr sz="260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1420"/>
              </a:spcBef>
            </a:pPr>
            <a:r>
              <a:rPr sz="2600" spc="-90" dirty="0">
                <a:latin typeface="Arial"/>
                <a:cs typeface="Arial"/>
              </a:rPr>
              <a:t>Caso </a:t>
            </a:r>
            <a:r>
              <a:rPr sz="2600" spc="30" dirty="0">
                <a:latin typeface="Arial"/>
                <a:cs typeface="Arial"/>
              </a:rPr>
              <a:t>exista </a:t>
            </a:r>
            <a:r>
              <a:rPr sz="2600" spc="20" dirty="0">
                <a:latin typeface="Arial"/>
                <a:cs typeface="Arial"/>
              </a:rPr>
              <a:t>mais </a:t>
            </a:r>
            <a:r>
              <a:rPr sz="2600" spc="15" dirty="0">
                <a:latin typeface="Arial"/>
                <a:cs typeface="Arial"/>
              </a:rPr>
              <a:t>de </a:t>
            </a:r>
            <a:r>
              <a:rPr sz="2600" spc="75" dirty="0">
                <a:latin typeface="Arial"/>
                <a:cs typeface="Arial"/>
              </a:rPr>
              <a:t>um </a:t>
            </a:r>
            <a:r>
              <a:rPr sz="2600" spc="10" dirty="0">
                <a:latin typeface="Arial"/>
                <a:cs typeface="Arial"/>
              </a:rPr>
              <a:t>nó </a:t>
            </a:r>
            <a:r>
              <a:rPr sz="2600" spc="20" dirty="0">
                <a:latin typeface="Arial"/>
                <a:cs typeface="Arial"/>
              </a:rPr>
              <a:t>que </a:t>
            </a:r>
            <a:r>
              <a:rPr sz="2600" spc="-45" dirty="0">
                <a:latin typeface="Arial"/>
                <a:cs typeface="Arial"/>
              </a:rPr>
              <a:t>se </a:t>
            </a:r>
            <a:r>
              <a:rPr sz="2600" spc="5" dirty="0">
                <a:latin typeface="Arial"/>
                <a:cs typeface="Arial"/>
              </a:rPr>
              <a:t>encaixe </a:t>
            </a:r>
            <a:r>
              <a:rPr sz="2600" spc="25" dirty="0">
                <a:latin typeface="Arial"/>
                <a:cs typeface="Arial"/>
              </a:rPr>
              <a:t>neste  </a:t>
            </a:r>
            <a:r>
              <a:rPr sz="2600" spc="55" dirty="0">
                <a:latin typeface="Arial"/>
                <a:cs typeface="Arial"/>
              </a:rPr>
              <a:t>perfil </a:t>
            </a:r>
            <a:r>
              <a:rPr sz="2600" spc="-5" dirty="0">
                <a:latin typeface="Arial"/>
                <a:cs typeface="Arial"/>
              </a:rPr>
              <a:t>deve-se </a:t>
            </a:r>
            <a:r>
              <a:rPr sz="2600" spc="10" dirty="0">
                <a:latin typeface="Arial"/>
                <a:cs typeface="Arial"/>
              </a:rPr>
              <a:t>sempre </a:t>
            </a:r>
            <a:r>
              <a:rPr sz="2600" spc="15" dirty="0">
                <a:latin typeface="Arial"/>
                <a:cs typeface="Arial"/>
              </a:rPr>
              <a:t>balancear </a:t>
            </a:r>
            <a:r>
              <a:rPr sz="2600" spc="-20" dirty="0">
                <a:latin typeface="Arial"/>
                <a:cs typeface="Arial"/>
              </a:rPr>
              <a:t>o </a:t>
            </a:r>
            <a:r>
              <a:rPr sz="2600" spc="10" dirty="0">
                <a:latin typeface="Arial"/>
                <a:cs typeface="Arial"/>
              </a:rPr>
              <a:t>nó </a:t>
            </a:r>
            <a:r>
              <a:rPr sz="2600" spc="25" dirty="0">
                <a:latin typeface="Arial"/>
                <a:cs typeface="Arial"/>
              </a:rPr>
              <a:t>com </a:t>
            </a:r>
            <a:r>
              <a:rPr sz="2600" spc="-20" dirty="0">
                <a:latin typeface="Arial"/>
                <a:cs typeface="Arial"/>
              </a:rPr>
              <a:t>o </a:t>
            </a:r>
            <a:r>
              <a:rPr sz="2600" spc="20" dirty="0">
                <a:latin typeface="Arial"/>
                <a:cs typeface="Arial"/>
              </a:rPr>
              <a:t>nível  mais</a:t>
            </a:r>
            <a:r>
              <a:rPr sz="2600" spc="-60" dirty="0">
                <a:latin typeface="Arial"/>
                <a:cs typeface="Arial"/>
              </a:rPr>
              <a:t> </a:t>
            </a:r>
            <a:r>
              <a:rPr sz="2600" spc="55" dirty="0">
                <a:latin typeface="Arial"/>
                <a:cs typeface="Arial"/>
              </a:rPr>
              <a:t>alto</a:t>
            </a:r>
            <a:endParaRPr sz="2600">
              <a:latin typeface="Arial"/>
              <a:cs typeface="Arial"/>
            </a:endParaRPr>
          </a:p>
          <a:p>
            <a:pPr marL="12700" algn="just">
              <a:lnSpc>
                <a:spcPct val="100000"/>
              </a:lnSpc>
              <a:spcBef>
                <a:spcPts val="1420"/>
              </a:spcBef>
            </a:pPr>
            <a:r>
              <a:rPr sz="2600" spc="-45" dirty="0">
                <a:latin typeface="Arial"/>
                <a:cs typeface="Arial"/>
              </a:rPr>
              <a:t>Como </a:t>
            </a:r>
            <a:r>
              <a:rPr sz="2600" spc="-5" dirty="0">
                <a:latin typeface="Arial"/>
                <a:cs typeface="Arial"/>
              </a:rPr>
              <a:t>balancear? </a:t>
            </a:r>
            <a:r>
              <a:rPr sz="2600" spc="20" dirty="0">
                <a:latin typeface="Arial"/>
                <a:cs typeface="Arial"/>
              </a:rPr>
              <a:t>Utilizando </a:t>
            </a:r>
            <a:r>
              <a:rPr sz="2600" spc="-55" dirty="0">
                <a:latin typeface="Arial"/>
                <a:cs typeface="Arial"/>
              </a:rPr>
              <a:t>os</a:t>
            </a:r>
            <a:r>
              <a:rPr sz="2600" spc="40" dirty="0">
                <a:latin typeface="Arial"/>
                <a:cs typeface="Arial"/>
              </a:rPr>
              <a:t> </a:t>
            </a:r>
            <a:r>
              <a:rPr sz="2600" spc="-20" dirty="0">
                <a:latin typeface="Arial"/>
                <a:cs typeface="Arial"/>
              </a:rPr>
              <a:t>processos: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74419" y="4652009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4419" y="5161279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74419" y="5671820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74419" y="6181090"/>
            <a:ext cx="102235" cy="1809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-450" dirty="0">
                <a:solidFill>
                  <a:srgbClr val="3B3B3B"/>
                </a:solidFill>
                <a:latin typeface="Calibri"/>
                <a:cs typeface="Calibri"/>
              </a:rPr>
              <a:t>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8269" y="4417730"/>
            <a:ext cx="1567815" cy="20529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39400"/>
              </a:lnSpc>
            </a:pPr>
            <a:r>
              <a:rPr sz="2400" spc="15" dirty="0">
                <a:latin typeface="Arial"/>
                <a:cs typeface="Arial"/>
              </a:rPr>
              <a:t>Righ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" dirty="0">
                <a:latin typeface="Arial"/>
                <a:cs typeface="Arial"/>
              </a:rPr>
              <a:t>-Right </a:t>
            </a:r>
            <a:r>
              <a:rPr sz="2400" dirty="0">
                <a:latin typeface="Arial"/>
                <a:cs typeface="Arial"/>
              </a:rPr>
              <a:t> Left-Left  </a:t>
            </a:r>
            <a:r>
              <a:rPr sz="2400" spc="5" dirty="0">
                <a:latin typeface="Arial"/>
                <a:cs typeface="Arial"/>
              </a:rPr>
              <a:t>Left-Right  Right-Left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90" dirty="0"/>
              <a:t> </a:t>
            </a:r>
            <a:r>
              <a:rPr spc="-430" dirty="0"/>
              <a:t>RR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8030209" cy="989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-25" dirty="0">
                <a:latin typeface="Arial"/>
                <a:cs typeface="Arial"/>
              </a:rPr>
              <a:t>Suponha </a:t>
            </a:r>
            <a:r>
              <a:rPr sz="3200" spc="10" dirty="0">
                <a:latin typeface="Arial"/>
                <a:cs typeface="Arial"/>
              </a:rPr>
              <a:t>na </a:t>
            </a:r>
            <a:r>
              <a:rPr sz="3200" spc="65" dirty="0">
                <a:latin typeface="Arial"/>
                <a:cs typeface="Arial"/>
              </a:rPr>
              <a:t>figura </a:t>
            </a:r>
            <a:r>
              <a:rPr sz="3200" spc="25" dirty="0">
                <a:latin typeface="Arial"/>
                <a:cs typeface="Arial"/>
              </a:rPr>
              <a:t>que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95" dirty="0">
                <a:latin typeface="Arial"/>
                <a:cs typeface="Arial"/>
              </a:rPr>
              <a:t>última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ser  </a:t>
            </a:r>
            <a:r>
              <a:rPr sz="3200" spc="30" dirty="0">
                <a:latin typeface="Arial"/>
                <a:cs typeface="Arial"/>
              </a:rPr>
              <a:t>inserida </a:t>
            </a:r>
            <a:r>
              <a:rPr sz="3200" spc="60" dirty="0">
                <a:latin typeface="Arial"/>
                <a:cs typeface="Arial"/>
              </a:rPr>
              <a:t>foi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15" dirty="0">
                <a:latin typeface="Arial"/>
                <a:cs typeface="Arial"/>
              </a:rPr>
              <a:t>de chave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45" dirty="0">
                <a:latin typeface="Arial"/>
                <a:cs typeface="Arial"/>
              </a:rPr>
              <a:t>90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500629" y="2786379"/>
            <a:ext cx="4857750" cy="40093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357370" y="285750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52069" rIns="0" bIns="0" rtlCol="0">
            <a:spAutoFit/>
          </a:bodyPr>
          <a:lstStyle/>
          <a:p>
            <a:pPr marL="154305">
              <a:lnSpc>
                <a:spcPct val="100000"/>
              </a:lnSpc>
              <a:spcBef>
                <a:spcPts val="409"/>
              </a:spcBef>
            </a:pPr>
            <a:r>
              <a:rPr sz="3200" spc="15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29000" y="4201159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509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4159" y="385064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509"/>
              </a:spcBef>
            </a:pPr>
            <a:r>
              <a:rPr sz="3200" spc="5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95190" y="519557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52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214109" y="4857750"/>
            <a:ext cx="71501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509"/>
              </a:spcBef>
            </a:pPr>
            <a:r>
              <a:rPr sz="3200" spc="5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45959" y="605155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604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52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90" dirty="0"/>
              <a:t> </a:t>
            </a:r>
            <a:r>
              <a:rPr spc="-430" dirty="0"/>
              <a:t>RR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7798434" cy="39674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67945">
              <a:lnSpc>
                <a:spcPct val="100000"/>
              </a:lnSpc>
            </a:pPr>
            <a:r>
              <a:rPr sz="3200" spc="-225" dirty="0">
                <a:latin typeface="Arial"/>
                <a:cs typeface="Arial"/>
              </a:rPr>
              <a:t>O </a:t>
            </a:r>
            <a:r>
              <a:rPr sz="3200" spc="10" dirty="0">
                <a:latin typeface="Arial"/>
                <a:cs typeface="Arial"/>
              </a:rPr>
              <a:t>nó </a:t>
            </a:r>
            <a:r>
              <a:rPr sz="3200" spc="-165" dirty="0">
                <a:latin typeface="Arial"/>
                <a:cs typeface="Arial"/>
              </a:rPr>
              <a:t>X </a:t>
            </a:r>
            <a:r>
              <a:rPr sz="3200" spc="25" dirty="0">
                <a:latin typeface="Arial"/>
                <a:cs typeface="Arial"/>
              </a:rPr>
              <a:t>que está </a:t>
            </a:r>
            <a:r>
              <a:rPr sz="3200" spc="10" dirty="0">
                <a:latin typeface="Arial"/>
                <a:cs typeface="Arial"/>
              </a:rPr>
              <a:t>no </a:t>
            </a:r>
            <a:r>
              <a:rPr sz="3200" spc="25" dirty="0">
                <a:latin typeface="Arial"/>
                <a:cs typeface="Arial"/>
              </a:rPr>
              <a:t>nível </a:t>
            </a:r>
            <a:r>
              <a:rPr sz="3200" spc="15" dirty="0">
                <a:latin typeface="Arial"/>
                <a:cs typeface="Arial"/>
              </a:rPr>
              <a:t>do </a:t>
            </a:r>
            <a:r>
              <a:rPr sz="3200" spc="50" dirty="0">
                <a:latin typeface="Arial"/>
                <a:cs typeface="Arial"/>
              </a:rPr>
              <a:t>meio </a:t>
            </a:r>
            <a:r>
              <a:rPr sz="3200" spc="-25" dirty="0">
                <a:latin typeface="Arial"/>
                <a:cs typeface="Arial"/>
              </a:rPr>
              <a:t>dos </a:t>
            </a:r>
            <a:r>
              <a:rPr sz="3200" spc="40" dirty="0">
                <a:latin typeface="Arial"/>
                <a:cs typeface="Arial"/>
              </a:rPr>
              <a:t>três  </a:t>
            </a:r>
            <a:r>
              <a:rPr sz="3200" spc="30" dirty="0">
                <a:latin typeface="Arial"/>
                <a:cs typeface="Arial"/>
              </a:rPr>
              <a:t>envolvidos </a:t>
            </a:r>
            <a:r>
              <a:rPr sz="3200" spc="80" dirty="0">
                <a:latin typeface="Arial"/>
                <a:cs typeface="Arial"/>
              </a:rPr>
              <a:t>toma </a:t>
            </a:r>
            <a:r>
              <a:rPr sz="3200" spc="-20" dirty="0">
                <a:latin typeface="Arial"/>
                <a:cs typeface="Arial"/>
              </a:rPr>
              <a:t>o </a:t>
            </a:r>
            <a:r>
              <a:rPr sz="3200" spc="55" dirty="0">
                <a:latin typeface="Arial"/>
                <a:cs typeface="Arial"/>
              </a:rPr>
              <a:t>lugar </a:t>
            </a:r>
            <a:r>
              <a:rPr sz="3200" spc="15" dirty="0">
                <a:latin typeface="Arial"/>
                <a:cs typeface="Arial"/>
              </a:rPr>
              <a:t>do </a:t>
            </a:r>
            <a:r>
              <a:rPr sz="3200" spc="10" dirty="0">
                <a:latin typeface="Arial"/>
                <a:cs typeface="Arial"/>
              </a:rPr>
              <a:t>nó </a:t>
            </a:r>
            <a:r>
              <a:rPr sz="3200" spc="30" dirty="0">
                <a:latin typeface="Arial"/>
                <a:cs typeface="Arial"/>
              </a:rPr>
              <a:t>com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15" dirty="0">
                <a:latin typeface="Arial"/>
                <a:cs typeface="Arial"/>
              </a:rPr>
              <a:t>FB=-2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170" dirty="0">
                <a:latin typeface="Arial"/>
                <a:cs typeface="Arial"/>
              </a:rPr>
              <a:t>A </a:t>
            </a:r>
            <a:r>
              <a:rPr sz="3200" spc="15" dirty="0">
                <a:latin typeface="Arial"/>
                <a:cs typeface="Arial"/>
              </a:rPr>
              <a:t>sub-árvore </a:t>
            </a:r>
            <a:r>
              <a:rPr sz="3200" spc="65" dirty="0">
                <a:latin typeface="Arial"/>
                <a:cs typeface="Arial"/>
              </a:rPr>
              <a:t>direita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-165" dirty="0">
                <a:latin typeface="Arial"/>
                <a:cs typeface="Arial"/>
              </a:rPr>
              <a:t>X</a:t>
            </a:r>
            <a:r>
              <a:rPr sz="3200" spc="170" dirty="0">
                <a:latin typeface="Arial"/>
                <a:cs typeface="Arial"/>
              </a:rPr>
              <a:t> </a:t>
            </a:r>
            <a:r>
              <a:rPr sz="3200" spc="25" dirty="0">
                <a:latin typeface="Arial"/>
                <a:cs typeface="Arial"/>
              </a:rPr>
              <a:t>permanece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10"/>
              </a:spcBef>
            </a:pPr>
            <a:r>
              <a:rPr sz="3200" spc="-170" dirty="0">
                <a:latin typeface="Arial"/>
                <a:cs typeface="Arial"/>
              </a:rPr>
              <a:t>A </a:t>
            </a:r>
            <a:r>
              <a:rPr sz="3200" spc="15" dirty="0">
                <a:latin typeface="Arial"/>
                <a:cs typeface="Arial"/>
              </a:rPr>
              <a:t>sub-árvore </a:t>
            </a:r>
            <a:r>
              <a:rPr sz="3200" spc="5" dirty="0">
                <a:latin typeface="Arial"/>
                <a:cs typeface="Arial"/>
              </a:rPr>
              <a:t>esquerda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-165" dirty="0">
                <a:latin typeface="Arial"/>
                <a:cs typeface="Arial"/>
              </a:rPr>
              <a:t>X </a:t>
            </a:r>
            <a:r>
              <a:rPr sz="3200" spc="-5" dirty="0">
                <a:latin typeface="Arial"/>
                <a:cs typeface="Arial"/>
              </a:rPr>
              <a:t>será  </a:t>
            </a:r>
            <a:r>
              <a:rPr sz="3200" dirty="0">
                <a:latin typeface="Arial"/>
                <a:cs typeface="Arial"/>
              </a:rPr>
              <a:t>colocada </a:t>
            </a:r>
            <a:r>
              <a:rPr sz="3200" spc="15" dirty="0">
                <a:latin typeface="Arial"/>
                <a:cs typeface="Arial"/>
              </a:rPr>
              <a:t>como sub-árvore </a:t>
            </a:r>
            <a:r>
              <a:rPr sz="3200" spc="70" dirty="0">
                <a:latin typeface="Arial"/>
                <a:cs typeface="Arial"/>
              </a:rPr>
              <a:t>direita </a:t>
            </a:r>
            <a:r>
              <a:rPr sz="3200" spc="15" dirty="0">
                <a:latin typeface="Arial"/>
                <a:cs typeface="Arial"/>
              </a:rPr>
              <a:t>do </a:t>
            </a:r>
            <a:r>
              <a:rPr sz="3200" spc="10" dirty="0">
                <a:latin typeface="Arial"/>
                <a:cs typeface="Arial"/>
              </a:rPr>
              <a:t>nó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-380" dirty="0">
                <a:latin typeface="Arial"/>
                <a:cs typeface="Arial"/>
              </a:rPr>
              <a:t>Y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3200" spc="-225" dirty="0">
                <a:latin typeface="Arial"/>
                <a:cs typeface="Arial"/>
              </a:rPr>
              <a:t>O </a:t>
            </a:r>
            <a:r>
              <a:rPr sz="3200" spc="60" dirty="0">
                <a:latin typeface="Arial"/>
                <a:cs typeface="Arial"/>
              </a:rPr>
              <a:t>filho </a:t>
            </a:r>
            <a:r>
              <a:rPr sz="3200" spc="5" dirty="0">
                <a:latin typeface="Arial"/>
                <a:cs typeface="Arial"/>
              </a:rPr>
              <a:t>esquerdo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-165" dirty="0">
                <a:latin typeface="Arial"/>
                <a:cs typeface="Arial"/>
              </a:rPr>
              <a:t>X </a:t>
            </a:r>
            <a:r>
              <a:rPr sz="3200" spc="45" dirty="0">
                <a:latin typeface="Arial"/>
                <a:cs typeface="Arial"/>
              </a:rPr>
              <a:t>aponta </a:t>
            </a:r>
            <a:r>
              <a:rPr sz="3200" spc="30" dirty="0">
                <a:latin typeface="Arial"/>
                <a:cs typeface="Arial"/>
              </a:rPr>
              <a:t>para </a:t>
            </a:r>
            <a:r>
              <a:rPr sz="3200" spc="-20" dirty="0">
                <a:latin typeface="Arial"/>
                <a:cs typeface="Arial"/>
              </a:rPr>
              <a:t>o </a:t>
            </a:r>
            <a:r>
              <a:rPr sz="3200" spc="10" dirty="0">
                <a:latin typeface="Arial"/>
                <a:cs typeface="Arial"/>
              </a:rPr>
              <a:t>nó  </a:t>
            </a:r>
            <a:r>
              <a:rPr sz="3200" spc="-380" dirty="0">
                <a:latin typeface="Arial"/>
                <a:cs typeface="Arial"/>
              </a:rPr>
              <a:t>Y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90" dirty="0"/>
              <a:t> </a:t>
            </a:r>
            <a:r>
              <a:rPr spc="-430" dirty="0"/>
              <a:t>RR</a:t>
            </a:r>
          </a:p>
        </p:txBody>
      </p:sp>
      <p:sp>
        <p:nvSpPr>
          <p:cNvPr id="3" name="object 3"/>
          <p:cNvSpPr/>
          <p:nvPr/>
        </p:nvSpPr>
        <p:spPr>
          <a:xfrm>
            <a:off x="5072379" y="2786379"/>
            <a:ext cx="3858260" cy="2857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85750" y="2286000"/>
            <a:ext cx="3858260" cy="321437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00500" y="3714750"/>
            <a:ext cx="1570990" cy="642620"/>
          </a:xfrm>
          <a:custGeom>
            <a:avLst/>
            <a:gdLst/>
            <a:ahLst/>
            <a:cxnLst/>
            <a:rect l="l" t="t" r="r" b="b"/>
            <a:pathLst>
              <a:path w="1570989" h="642620">
                <a:moveTo>
                  <a:pt x="1178560" y="0"/>
                </a:moveTo>
                <a:lnTo>
                  <a:pt x="1178560" y="160019"/>
                </a:lnTo>
                <a:lnTo>
                  <a:pt x="0" y="160019"/>
                </a:lnTo>
                <a:lnTo>
                  <a:pt x="0" y="481330"/>
                </a:lnTo>
                <a:lnTo>
                  <a:pt x="1178560" y="481330"/>
                </a:lnTo>
                <a:lnTo>
                  <a:pt x="1178560" y="642619"/>
                </a:lnTo>
                <a:lnTo>
                  <a:pt x="1570989" y="321310"/>
                </a:lnTo>
                <a:lnTo>
                  <a:pt x="117856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00500" y="3714750"/>
            <a:ext cx="1570990" cy="642620"/>
          </a:xfrm>
          <a:custGeom>
            <a:avLst/>
            <a:gdLst/>
            <a:ahLst/>
            <a:cxnLst/>
            <a:rect l="l" t="t" r="r" b="b"/>
            <a:pathLst>
              <a:path w="1570989" h="642620">
                <a:moveTo>
                  <a:pt x="0" y="160019"/>
                </a:moveTo>
                <a:lnTo>
                  <a:pt x="1178560" y="160019"/>
                </a:lnTo>
                <a:lnTo>
                  <a:pt x="1178560" y="0"/>
                </a:lnTo>
                <a:lnTo>
                  <a:pt x="1570989" y="321310"/>
                </a:lnTo>
                <a:lnTo>
                  <a:pt x="1178560" y="642619"/>
                </a:lnTo>
                <a:lnTo>
                  <a:pt x="1178560" y="481330"/>
                </a:lnTo>
                <a:lnTo>
                  <a:pt x="0" y="481330"/>
                </a:lnTo>
                <a:lnTo>
                  <a:pt x="0" y="16001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000500" y="3714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71490" y="43573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90" dirty="0"/>
              <a:t> </a:t>
            </a:r>
            <a:r>
              <a:rPr spc="-430" dirty="0"/>
              <a:t>RR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7339" y="2044700"/>
            <a:ext cx="5203825" cy="3914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static </a:t>
            </a: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-40" dirty="0">
                <a:latin typeface="Arial"/>
                <a:cs typeface="Arial"/>
              </a:rPr>
              <a:t>rotacaoRR(Node  </a:t>
            </a:r>
            <a:r>
              <a:rPr sz="3200" spc="75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</a:pPr>
            <a:r>
              <a:rPr sz="3200" spc="76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912494" marR="1200150">
              <a:lnSpc>
                <a:spcPct val="100000"/>
              </a:lnSpc>
            </a:pP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100" dirty="0">
                <a:latin typeface="Arial"/>
                <a:cs typeface="Arial"/>
              </a:rPr>
              <a:t>x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spc="-65" dirty="0">
                <a:latin typeface="Arial"/>
                <a:cs typeface="Arial"/>
              </a:rPr>
              <a:t> </a:t>
            </a:r>
            <a:r>
              <a:rPr sz="3200" spc="30" dirty="0">
                <a:latin typeface="Arial"/>
                <a:cs typeface="Arial"/>
              </a:rPr>
              <a:t>y.right;  </a:t>
            </a:r>
            <a:r>
              <a:rPr sz="3200" spc="25" dirty="0">
                <a:latin typeface="Arial"/>
                <a:cs typeface="Arial"/>
              </a:rPr>
              <a:t>y.right </a:t>
            </a:r>
            <a:r>
              <a:rPr sz="3200" spc="540" dirty="0">
                <a:latin typeface="Arial"/>
                <a:cs typeface="Arial"/>
              </a:rPr>
              <a:t>= </a:t>
            </a:r>
            <a:r>
              <a:rPr sz="3200" spc="80" dirty="0">
                <a:latin typeface="Arial"/>
                <a:cs typeface="Arial"/>
              </a:rPr>
              <a:t>x.left;  x.left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spc="-114" dirty="0">
                <a:latin typeface="Arial"/>
                <a:cs typeface="Arial"/>
              </a:rPr>
              <a:t> </a:t>
            </a:r>
            <a:r>
              <a:rPr sz="3200" spc="85" dirty="0">
                <a:latin typeface="Arial"/>
                <a:cs typeface="Arial"/>
              </a:rPr>
              <a:t>y;</a:t>
            </a:r>
            <a:endParaRPr sz="3200">
              <a:latin typeface="Arial"/>
              <a:cs typeface="Arial"/>
            </a:endParaRPr>
          </a:p>
          <a:p>
            <a:pPr marL="912494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return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85" dirty="0">
                <a:latin typeface="Arial"/>
                <a:cs typeface="Arial"/>
              </a:rPr>
              <a:t>x;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</a:pPr>
            <a:r>
              <a:rPr sz="3200" spc="760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86510" y="2213610"/>
            <a:ext cx="4819650" cy="4358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0" dirty="0"/>
              <a:t> </a:t>
            </a:r>
            <a:r>
              <a:rPr spc="-245" dirty="0"/>
              <a:t>LL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4669" y="1644650"/>
            <a:ext cx="8030209" cy="989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-25" dirty="0">
                <a:latin typeface="Arial"/>
                <a:cs typeface="Arial"/>
              </a:rPr>
              <a:t>Suponha </a:t>
            </a:r>
            <a:r>
              <a:rPr sz="3200" spc="10" dirty="0">
                <a:latin typeface="Arial"/>
                <a:cs typeface="Arial"/>
              </a:rPr>
              <a:t>na </a:t>
            </a:r>
            <a:r>
              <a:rPr sz="3200" spc="65" dirty="0">
                <a:latin typeface="Arial"/>
                <a:cs typeface="Arial"/>
              </a:rPr>
              <a:t>figura </a:t>
            </a:r>
            <a:r>
              <a:rPr sz="3200" spc="25" dirty="0">
                <a:latin typeface="Arial"/>
                <a:cs typeface="Arial"/>
              </a:rPr>
              <a:t>que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95" dirty="0">
                <a:latin typeface="Arial"/>
                <a:cs typeface="Arial"/>
              </a:rPr>
              <a:t>última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ser  </a:t>
            </a:r>
            <a:r>
              <a:rPr sz="3200" spc="30" dirty="0">
                <a:latin typeface="Arial"/>
                <a:cs typeface="Arial"/>
              </a:rPr>
              <a:t>inserida </a:t>
            </a:r>
            <a:r>
              <a:rPr sz="3200" spc="60" dirty="0">
                <a:latin typeface="Arial"/>
                <a:cs typeface="Arial"/>
              </a:rPr>
              <a:t>foi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15" dirty="0">
                <a:latin typeface="Arial"/>
                <a:cs typeface="Arial"/>
              </a:rPr>
              <a:t>de chave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5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85359" y="2557779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04140" rIns="0" bIns="0" rtlCol="0">
            <a:spAutoFit/>
          </a:bodyPr>
          <a:lstStyle/>
          <a:p>
            <a:pPr marL="113664">
              <a:lnSpc>
                <a:spcPct val="100000"/>
              </a:lnSpc>
              <a:spcBef>
                <a:spcPts val="820"/>
              </a:spcBef>
            </a:pPr>
            <a:r>
              <a:rPr sz="3200" spc="295" dirty="0">
                <a:solidFill>
                  <a:srgbClr val="FF0000"/>
                </a:solidFill>
                <a:latin typeface="Arial"/>
                <a:cs typeface="Arial"/>
              </a:rPr>
              <a:t>+2</a:t>
            </a:r>
            <a:endParaRPr sz="3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786120" y="378587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1684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92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98570" y="3858259"/>
            <a:ext cx="655320" cy="53086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L="48895">
              <a:lnSpc>
                <a:spcPts val="3779"/>
              </a:lnSpc>
              <a:spcBef>
                <a:spcPts val="200"/>
              </a:spcBef>
            </a:pPr>
            <a:r>
              <a:rPr sz="3200" spc="295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85359" y="4785359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10490" rIns="0" bIns="0" rtlCol="0">
            <a:spAutoFit/>
          </a:bodyPr>
          <a:lstStyle/>
          <a:p>
            <a:pPr marL="221615">
              <a:lnSpc>
                <a:spcPct val="100000"/>
              </a:lnSpc>
              <a:spcBef>
                <a:spcPts val="87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0829" y="4928870"/>
            <a:ext cx="71501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04140" rIns="0" bIns="0" rtlCol="0">
            <a:spAutoFit/>
          </a:bodyPr>
          <a:lstStyle/>
          <a:p>
            <a:pPr marL="84455">
              <a:lnSpc>
                <a:spcPct val="100000"/>
              </a:lnSpc>
              <a:spcBef>
                <a:spcPts val="820"/>
              </a:spcBef>
            </a:pPr>
            <a:r>
              <a:rPr sz="3200" spc="290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4879" y="5857240"/>
            <a:ext cx="713740" cy="64262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2446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98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0" dirty="0"/>
              <a:t> </a:t>
            </a:r>
            <a:r>
              <a:rPr spc="-245" dirty="0"/>
              <a:t>LL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225" dirty="0"/>
              <a:t>O </a:t>
            </a:r>
            <a:r>
              <a:rPr spc="10" dirty="0"/>
              <a:t>nó </a:t>
            </a:r>
            <a:r>
              <a:rPr spc="-165" dirty="0"/>
              <a:t>X </a:t>
            </a:r>
            <a:r>
              <a:rPr spc="25" dirty="0"/>
              <a:t>que está </a:t>
            </a:r>
            <a:r>
              <a:rPr spc="10" dirty="0"/>
              <a:t>no </a:t>
            </a:r>
            <a:r>
              <a:rPr spc="25" dirty="0"/>
              <a:t>nível </a:t>
            </a:r>
            <a:r>
              <a:rPr spc="15" dirty="0"/>
              <a:t>do </a:t>
            </a:r>
            <a:r>
              <a:rPr spc="50" dirty="0"/>
              <a:t>meio </a:t>
            </a:r>
            <a:r>
              <a:rPr spc="-25" dirty="0"/>
              <a:t>dos </a:t>
            </a:r>
            <a:r>
              <a:rPr spc="40" dirty="0"/>
              <a:t>três  </a:t>
            </a:r>
            <a:r>
              <a:rPr spc="30" dirty="0"/>
              <a:t>envolvidos </a:t>
            </a:r>
            <a:r>
              <a:rPr spc="80" dirty="0"/>
              <a:t>toma </a:t>
            </a:r>
            <a:r>
              <a:rPr spc="-20" dirty="0"/>
              <a:t>o </a:t>
            </a:r>
            <a:r>
              <a:rPr spc="55" dirty="0"/>
              <a:t>lugar </a:t>
            </a:r>
            <a:r>
              <a:rPr spc="15" dirty="0"/>
              <a:t>do </a:t>
            </a:r>
            <a:r>
              <a:rPr spc="10" dirty="0"/>
              <a:t>nó </a:t>
            </a:r>
            <a:r>
              <a:rPr spc="30" dirty="0"/>
              <a:t>com</a:t>
            </a:r>
            <a:r>
              <a:rPr spc="-60" dirty="0"/>
              <a:t> </a:t>
            </a:r>
            <a:r>
              <a:rPr spc="15" dirty="0"/>
              <a:t>FB=-2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pc="-170" dirty="0"/>
              <a:t>A </a:t>
            </a:r>
            <a:r>
              <a:rPr spc="15" dirty="0"/>
              <a:t>sub-árvore </a:t>
            </a:r>
            <a:r>
              <a:rPr spc="5" dirty="0"/>
              <a:t>esquerda </a:t>
            </a:r>
            <a:r>
              <a:rPr spc="10" dirty="0"/>
              <a:t>do nó </a:t>
            </a:r>
            <a:r>
              <a:rPr spc="-165" dirty="0"/>
              <a:t>X</a:t>
            </a:r>
            <a:r>
              <a:rPr spc="215" dirty="0"/>
              <a:t> </a:t>
            </a:r>
            <a:r>
              <a:rPr spc="25" dirty="0"/>
              <a:t>permanece</a:t>
            </a:r>
          </a:p>
          <a:p>
            <a:pPr marL="12700" marR="66040">
              <a:lnSpc>
                <a:spcPct val="100000"/>
              </a:lnSpc>
              <a:spcBef>
                <a:spcPts val="1410"/>
              </a:spcBef>
            </a:pPr>
            <a:r>
              <a:rPr spc="-170" dirty="0"/>
              <a:t>A </a:t>
            </a:r>
            <a:r>
              <a:rPr spc="15" dirty="0"/>
              <a:t>sub-árvore </a:t>
            </a:r>
            <a:r>
              <a:rPr spc="65" dirty="0"/>
              <a:t>direita </a:t>
            </a:r>
            <a:r>
              <a:rPr spc="10" dirty="0"/>
              <a:t>do nó </a:t>
            </a:r>
            <a:r>
              <a:rPr spc="-165" dirty="0"/>
              <a:t>X </a:t>
            </a:r>
            <a:r>
              <a:rPr spc="-5" dirty="0"/>
              <a:t>será </a:t>
            </a:r>
            <a:r>
              <a:rPr dirty="0"/>
              <a:t>colocada  </a:t>
            </a:r>
            <a:r>
              <a:rPr spc="20" dirty="0"/>
              <a:t>como </a:t>
            </a:r>
            <a:r>
              <a:rPr spc="15" dirty="0"/>
              <a:t>sub-árvore </a:t>
            </a:r>
            <a:r>
              <a:rPr spc="5" dirty="0"/>
              <a:t>esquerda </a:t>
            </a:r>
            <a:r>
              <a:rPr spc="15" dirty="0"/>
              <a:t>do </a:t>
            </a:r>
            <a:r>
              <a:rPr spc="10" dirty="0"/>
              <a:t>nó</a:t>
            </a:r>
            <a:r>
              <a:rPr spc="-15" dirty="0"/>
              <a:t> </a:t>
            </a:r>
            <a:r>
              <a:rPr spc="-380" dirty="0"/>
              <a:t>Y</a:t>
            </a: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pc="-225" dirty="0"/>
              <a:t>O </a:t>
            </a:r>
            <a:r>
              <a:rPr spc="60" dirty="0"/>
              <a:t>filho </a:t>
            </a:r>
            <a:r>
              <a:rPr spc="70" dirty="0"/>
              <a:t>direito </a:t>
            </a:r>
            <a:r>
              <a:rPr spc="15" dirty="0"/>
              <a:t>do </a:t>
            </a:r>
            <a:r>
              <a:rPr spc="10" dirty="0"/>
              <a:t>nó </a:t>
            </a:r>
            <a:r>
              <a:rPr spc="-165" dirty="0"/>
              <a:t>X </a:t>
            </a:r>
            <a:r>
              <a:rPr spc="45" dirty="0"/>
              <a:t>aponta </a:t>
            </a:r>
            <a:r>
              <a:rPr spc="30" dirty="0"/>
              <a:t>para </a:t>
            </a:r>
            <a:r>
              <a:rPr spc="-20" dirty="0"/>
              <a:t>o </a:t>
            </a:r>
            <a:r>
              <a:rPr spc="10" dirty="0"/>
              <a:t>nó</a:t>
            </a:r>
            <a:r>
              <a:rPr spc="330" dirty="0"/>
              <a:t> </a:t>
            </a:r>
            <a:r>
              <a:rPr spc="-380" dirty="0"/>
              <a:t>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0" dirty="0"/>
              <a:t> </a:t>
            </a:r>
            <a:r>
              <a:rPr spc="-245" dirty="0"/>
              <a:t>LL</a:t>
            </a:r>
          </a:p>
        </p:txBody>
      </p:sp>
      <p:sp>
        <p:nvSpPr>
          <p:cNvPr id="3" name="object 3"/>
          <p:cNvSpPr/>
          <p:nvPr/>
        </p:nvSpPr>
        <p:spPr>
          <a:xfrm>
            <a:off x="4000500" y="3714750"/>
            <a:ext cx="1570990" cy="642620"/>
          </a:xfrm>
          <a:custGeom>
            <a:avLst/>
            <a:gdLst/>
            <a:ahLst/>
            <a:cxnLst/>
            <a:rect l="l" t="t" r="r" b="b"/>
            <a:pathLst>
              <a:path w="1570989" h="642620">
                <a:moveTo>
                  <a:pt x="1178560" y="0"/>
                </a:moveTo>
                <a:lnTo>
                  <a:pt x="1178560" y="160019"/>
                </a:lnTo>
                <a:lnTo>
                  <a:pt x="0" y="160019"/>
                </a:lnTo>
                <a:lnTo>
                  <a:pt x="0" y="481330"/>
                </a:lnTo>
                <a:lnTo>
                  <a:pt x="1178560" y="481330"/>
                </a:lnTo>
                <a:lnTo>
                  <a:pt x="1178560" y="642619"/>
                </a:lnTo>
                <a:lnTo>
                  <a:pt x="1570989" y="321310"/>
                </a:lnTo>
                <a:lnTo>
                  <a:pt x="117856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000500" y="3714750"/>
            <a:ext cx="1570990" cy="642620"/>
          </a:xfrm>
          <a:custGeom>
            <a:avLst/>
            <a:gdLst/>
            <a:ahLst/>
            <a:cxnLst/>
            <a:rect l="l" t="t" r="r" b="b"/>
            <a:pathLst>
              <a:path w="1570989" h="642620">
                <a:moveTo>
                  <a:pt x="0" y="160019"/>
                </a:moveTo>
                <a:lnTo>
                  <a:pt x="1178560" y="160019"/>
                </a:lnTo>
                <a:lnTo>
                  <a:pt x="1178560" y="0"/>
                </a:lnTo>
                <a:lnTo>
                  <a:pt x="1570989" y="321310"/>
                </a:lnTo>
                <a:lnTo>
                  <a:pt x="1178560" y="642619"/>
                </a:lnTo>
                <a:lnTo>
                  <a:pt x="1178560" y="481330"/>
                </a:lnTo>
                <a:lnTo>
                  <a:pt x="0" y="481330"/>
                </a:lnTo>
                <a:lnTo>
                  <a:pt x="0" y="16001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000500" y="3714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571490" y="43573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3510" y="2571750"/>
            <a:ext cx="3816350" cy="29997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643879" y="2713989"/>
            <a:ext cx="3369310" cy="25717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8128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0" dirty="0"/>
              <a:t> </a:t>
            </a:r>
            <a:r>
              <a:rPr spc="-245" dirty="0"/>
              <a:t>LL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77339" y="2148840"/>
            <a:ext cx="5102860" cy="39141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static </a:t>
            </a: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-20" dirty="0">
                <a:latin typeface="Arial"/>
                <a:cs typeface="Arial"/>
              </a:rPr>
              <a:t>rotacaoLL(Node  </a:t>
            </a:r>
            <a:r>
              <a:rPr sz="3200" spc="75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ts val="3835"/>
              </a:lnSpc>
            </a:pPr>
            <a:r>
              <a:rPr sz="3200" spc="76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912494" marR="1369060">
              <a:lnSpc>
                <a:spcPts val="3840"/>
              </a:lnSpc>
              <a:spcBef>
                <a:spcPts val="120"/>
              </a:spcBef>
            </a:pP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100" dirty="0">
                <a:latin typeface="Arial"/>
                <a:cs typeface="Arial"/>
              </a:rPr>
              <a:t>x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spc="-60" dirty="0">
                <a:latin typeface="Arial"/>
                <a:cs typeface="Arial"/>
              </a:rPr>
              <a:t> </a:t>
            </a:r>
            <a:r>
              <a:rPr sz="3200" spc="10" dirty="0">
                <a:latin typeface="Arial"/>
                <a:cs typeface="Arial"/>
              </a:rPr>
              <a:t>y.left;  </a:t>
            </a:r>
            <a:r>
              <a:rPr sz="3200" spc="5" dirty="0">
                <a:latin typeface="Arial"/>
                <a:cs typeface="Arial"/>
              </a:rPr>
              <a:t>y.left </a:t>
            </a:r>
            <a:r>
              <a:rPr sz="3200" spc="540" dirty="0">
                <a:latin typeface="Arial"/>
                <a:cs typeface="Arial"/>
              </a:rPr>
              <a:t>= </a:t>
            </a:r>
            <a:r>
              <a:rPr sz="3200" spc="90" dirty="0">
                <a:latin typeface="Arial"/>
                <a:cs typeface="Arial"/>
              </a:rPr>
              <a:t>x.right;  x.right </a:t>
            </a:r>
            <a:r>
              <a:rPr sz="3200" spc="540" dirty="0">
                <a:latin typeface="Arial"/>
                <a:cs typeface="Arial"/>
              </a:rPr>
              <a:t>= </a:t>
            </a:r>
            <a:r>
              <a:rPr sz="3200" spc="85" dirty="0">
                <a:latin typeface="Arial"/>
                <a:cs typeface="Arial"/>
              </a:rPr>
              <a:t>y;  </a:t>
            </a:r>
            <a:r>
              <a:rPr sz="3200" spc="65" dirty="0">
                <a:latin typeface="Arial"/>
                <a:cs typeface="Arial"/>
              </a:rPr>
              <a:t>return</a:t>
            </a:r>
            <a:r>
              <a:rPr sz="3200" spc="-40" dirty="0">
                <a:latin typeface="Arial"/>
                <a:cs typeface="Arial"/>
              </a:rPr>
              <a:t> </a:t>
            </a:r>
            <a:r>
              <a:rPr sz="3200" spc="85" dirty="0">
                <a:latin typeface="Arial"/>
                <a:cs typeface="Arial"/>
              </a:rPr>
              <a:t>x;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ts val="3710"/>
              </a:lnSpc>
            </a:pPr>
            <a:r>
              <a:rPr sz="3200" spc="760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99739" y="2571750"/>
            <a:ext cx="3572510" cy="38684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LR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4669" y="1644650"/>
            <a:ext cx="8030209" cy="9893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-25" dirty="0">
                <a:latin typeface="Arial"/>
                <a:cs typeface="Arial"/>
              </a:rPr>
              <a:t>Suponha </a:t>
            </a:r>
            <a:r>
              <a:rPr sz="3200" spc="10" dirty="0">
                <a:latin typeface="Arial"/>
                <a:cs typeface="Arial"/>
              </a:rPr>
              <a:t>na </a:t>
            </a:r>
            <a:r>
              <a:rPr sz="3200" spc="65" dirty="0">
                <a:latin typeface="Arial"/>
                <a:cs typeface="Arial"/>
              </a:rPr>
              <a:t>figura </a:t>
            </a:r>
            <a:r>
              <a:rPr sz="3200" spc="25" dirty="0">
                <a:latin typeface="Arial"/>
                <a:cs typeface="Arial"/>
              </a:rPr>
              <a:t>que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95" dirty="0">
                <a:latin typeface="Arial"/>
                <a:cs typeface="Arial"/>
              </a:rPr>
              <a:t>última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dirty="0">
                <a:latin typeface="Arial"/>
                <a:cs typeface="Arial"/>
              </a:rPr>
              <a:t>ser  </a:t>
            </a:r>
            <a:r>
              <a:rPr sz="3200" spc="30" dirty="0">
                <a:latin typeface="Arial"/>
                <a:cs typeface="Arial"/>
              </a:rPr>
              <a:t>inserida </a:t>
            </a:r>
            <a:r>
              <a:rPr sz="3200" spc="60" dirty="0">
                <a:latin typeface="Arial"/>
                <a:cs typeface="Arial"/>
              </a:rPr>
              <a:t>foi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25" dirty="0">
                <a:latin typeface="Arial"/>
                <a:cs typeface="Arial"/>
              </a:rPr>
              <a:t>célula </a:t>
            </a:r>
            <a:r>
              <a:rPr sz="3200" spc="15" dirty="0">
                <a:latin typeface="Arial"/>
                <a:cs typeface="Arial"/>
              </a:rPr>
              <a:t>de chave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45" dirty="0">
                <a:latin typeface="Arial"/>
                <a:cs typeface="Arial"/>
              </a:rPr>
              <a:t>35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77459" y="4545329"/>
            <a:ext cx="255270" cy="7454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265" dirty="0">
                <a:solidFill>
                  <a:srgbClr val="FFFFFF"/>
                </a:solidFill>
                <a:latin typeface="Arial"/>
                <a:cs typeface="Arial"/>
              </a:rPr>
              <a:t>+  </a:t>
            </a:r>
            <a:r>
              <a:rPr sz="2400" spc="3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9250" y="3143250"/>
            <a:ext cx="642620" cy="57150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19050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50"/>
              </a:spcBef>
            </a:pPr>
            <a:r>
              <a:rPr sz="3200" spc="290" dirty="0">
                <a:solidFill>
                  <a:srgbClr val="FF0000"/>
                </a:solidFill>
                <a:latin typeface="Arial"/>
                <a:cs typeface="Arial"/>
              </a:rPr>
              <a:t>+2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48400" y="4071620"/>
            <a:ext cx="680720" cy="50673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16535">
              <a:lnSpc>
                <a:spcPts val="3790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10100" y="4038600"/>
            <a:ext cx="500380" cy="45974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06045">
              <a:lnSpc>
                <a:spcPts val="3420"/>
              </a:lnSpc>
            </a:pPr>
            <a:r>
              <a:rPr sz="3200" spc="5" dirty="0">
                <a:solidFill>
                  <a:srgbClr val="FFFFFF"/>
                </a:solidFill>
                <a:latin typeface="Arial"/>
                <a:cs typeface="Arial"/>
              </a:rPr>
              <a:t>-1</a:t>
            </a:r>
            <a:endParaRPr sz="3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97400" y="5715000"/>
            <a:ext cx="546100" cy="49784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5575">
              <a:lnSpc>
                <a:spcPts val="3529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415279" y="5001259"/>
            <a:ext cx="656590" cy="427990"/>
          </a:xfrm>
          <a:custGeom>
            <a:avLst/>
            <a:gdLst/>
            <a:ahLst/>
            <a:cxnLst/>
            <a:rect l="l" t="t" r="r" b="b"/>
            <a:pathLst>
              <a:path w="656589" h="427989">
                <a:moveTo>
                  <a:pt x="656590" y="0"/>
                </a:moveTo>
                <a:lnTo>
                  <a:pt x="0" y="0"/>
                </a:lnTo>
                <a:lnTo>
                  <a:pt x="0" y="427989"/>
                </a:lnTo>
                <a:lnTo>
                  <a:pt x="656590" y="427989"/>
                </a:lnTo>
                <a:lnTo>
                  <a:pt x="65659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415279" y="5001259"/>
            <a:ext cx="656590" cy="427990"/>
          </a:xfrm>
          <a:custGeom>
            <a:avLst/>
            <a:gdLst/>
            <a:ahLst/>
            <a:cxnLst/>
            <a:rect l="l" t="t" r="r" b="b"/>
            <a:pathLst>
              <a:path w="656589" h="427989">
                <a:moveTo>
                  <a:pt x="328930" y="427989"/>
                </a:moveTo>
                <a:lnTo>
                  <a:pt x="0" y="427989"/>
                </a:lnTo>
                <a:lnTo>
                  <a:pt x="0" y="0"/>
                </a:lnTo>
                <a:lnTo>
                  <a:pt x="656590" y="0"/>
                </a:lnTo>
                <a:lnTo>
                  <a:pt x="656590" y="427989"/>
                </a:lnTo>
                <a:lnTo>
                  <a:pt x="328930" y="42798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467350" y="4973320"/>
            <a:ext cx="56388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290" dirty="0">
                <a:solidFill>
                  <a:srgbClr val="FFFFFF"/>
                </a:solidFill>
                <a:latin typeface="Arial"/>
                <a:cs typeface="Arial"/>
              </a:rPr>
              <a:t>+1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773170" y="4916170"/>
            <a:ext cx="642620" cy="55118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55575">
              <a:lnSpc>
                <a:spcPct val="100000"/>
              </a:lnSpc>
              <a:spcBef>
                <a:spcPts val="50"/>
              </a:spcBef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LR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2700" marR="375920">
              <a:lnSpc>
                <a:spcPct val="100000"/>
              </a:lnSpc>
            </a:pPr>
            <a:r>
              <a:rPr sz="2000" spc="-140" dirty="0"/>
              <a:t>O </a:t>
            </a:r>
            <a:r>
              <a:rPr sz="2000" spc="5" dirty="0"/>
              <a:t>nó </a:t>
            </a:r>
            <a:r>
              <a:rPr sz="2000" spc="10" dirty="0"/>
              <a:t>que </a:t>
            </a:r>
            <a:r>
              <a:rPr sz="2000" spc="15" dirty="0"/>
              <a:t>está </a:t>
            </a:r>
            <a:r>
              <a:rPr sz="2000" spc="5" dirty="0"/>
              <a:t>no </a:t>
            </a:r>
            <a:r>
              <a:rPr sz="2000" spc="15" dirty="0"/>
              <a:t>nível mais </a:t>
            </a:r>
            <a:r>
              <a:rPr sz="2000" spc="40" dirty="0"/>
              <a:t>alto </a:t>
            </a:r>
            <a:r>
              <a:rPr sz="2000" spc="-15" dirty="0"/>
              <a:t>das </a:t>
            </a:r>
            <a:r>
              <a:rPr sz="2000" spc="25" dirty="0"/>
              <a:t>três </a:t>
            </a:r>
            <a:r>
              <a:rPr sz="2000" spc="15" dirty="0"/>
              <a:t>envolvidas (nó </a:t>
            </a:r>
            <a:r>
              <a:rPr sz="2000" spc="-35" dirty="0"/>
              <a:t>X) </a:t>
            </a:r>
            <a:r>
              <a:rPr sz="2000" spc="50" dirty="0"/>
              <a:t>toma </a:t>
            </a:r>
            <a:r>
              <a:rPr sz="2000" spc="-15" dirty="0"/>
              <a:t>o  </a:t>
            </a:r>
            <a:r>
              <a:rPr sz="2000" spc="35" dirty="0"/>
              <a:t>lugar </a:t>
            </a:r>
            <a:r>
              <a:rPr sz="2000" spc="5" dirty="0"/>
              <a:t>da </a:t>
            </a:r>
            <a:r>
              <a:rPr sz="2000" spc="15" dirty="0"/>
              <a:t>célula cujo </a:t>
            </a:r>
            <a:r>
              <a:rPr sz="2000" spc="55" dirty="0"/>
              <a:t>fator </a:t>
            </a:r>
            <a:r>
              <a:rPr sz="2000" spc="10" dirty="0"/>
              <a:t>de </a:t>
            </a:r>
            <a:r>
              <a:rPr sz="2000" spc="20" dirty="0"/>
              <a:t>balanceamento </a:t>
            </a:r>
            <a:r>
              <a:rPr sz="2000" spc="-5" dirty="0"/>
              <a:t>é </a:t>
            </a:r>
            <a:r>
              <a:rPr sz="2000" spc="185" dirty="0"/>
              <a:t>+2 </a:t>
            </a:r>
            <a:r>
              <a:rPr sz="2000" spc="10" dirty="0"/>
              <a:t>(nó</a:t>
            </a:r>
            <a:r>
              <a:rPr sz="2000" spc="-170" dirty="0"/>
              <a:t> </a:t>
            </a:r>
            <a:r>
              <a:rPr sz="2000" spc="-105" dirty="0"/>
              <a:t>Y)</a:t>
            </a:r>
            <a:endParaRPr sz="2000"/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2000" spc="-105" dirty="0"/>
              <a:t>A </a:t>
            </a:r>
            <a:r>
              <a:rPr sz="2000" spc="10" dirty="0"/>
              <a:t>sub-árvore </a:t>
            </a:r>
            <a:r>
              <a:rPr sz="2000" spc="40" dirty="0"/>
              <a:t>direita </a:t>
            </a:r>
            <a:r>
              <a:rPr sz="2000" spc="5" dirty="0"/>
              <a:t>do nó </a:t>
            </a:r>
            <a:r>
              <a:rPr sz="2000" spc="-105" dirty="0"/>
              <a:t>X </a:t>
            </a:r>
            <a:r>
              <a:rPr sz="2000" spc="-5" dirty="0"/>
              <a:t>será </a:t>
            </a:r>
            <a:r>
              <a:rPr sz="2000" dirty="0"/>
              <a:t>colocada </a:t>
            </a:r>
            <a:r>
              <a:rPr sz="2000" spc="10" dirty="0"/>
              <a:t>como </a:t>
            </a:r>
            <a:r>
              <a:rPr sz="2000" spc="5" dirty="0"/>
              <a:t>sub-árvore </a:t>
            </a:r>
            <a:r>
              <a:rPr sz="2000" dirty="0"/>
              <a:t>esquerda  </a:t>
            </a:r>
            <a:r>
              <a:rPr sz="2000" spc="5" dirty="0"/>
              <a:t>do nó</a:t>
            </a:r>
            <a:r>
              <a:rPr sz="2000" spc="-60" dirty="0"/>
              <a:t> </a:t>
            </a:r>
            <a:r>
              <a:rPr sz="2000" spc="-240" dirty="0"/>
              <a:t>Y</a:t>
            </a:r>
            <a:endParaRPr sz="2000"/>
          </a:p>
          <a:p>
            <a:pPr marL="12700" marR="5080">
              <a:lnSpc>
                <a:spcPct val="100400"/>
              </a:lnSpc>
              <a:spcBef>
                <a:spcPts val="1400"/>
              </a:spcBef>
            </a:pPr>
            <a:r>
              <a:rPr sz="2000" spc="-105" dirty="0"/>
              <a:t>A </a:t>
            </a:r>
            <a:r>
              <a:rPr sz="2000" spc="10" dirty="0"/>
              <a:t>sub-árvore </a:t>
            </a:r>
            <a:r>
              <a:rPr sz="2000" dirty="0"/>
              <a:t>esquerda </a:t>
            </a:r>
            <a:r>
              <a:rPr sz="2000" spc="5" dirty="0"/>
              <a:t>do nó </a:t>
            </a:r>
            <a:r>
              <a:rPr sz="2000" spc="-105" dirty="0"/>
              <a:t>X </a:t>
            </a:r>
            <a:r>
              <a:rPr sz="2000" spc="-5" dirty="0"/>
              <a:t>será </a:t>
            </a:r>
            <a:r>
              <a:rPr sz="2000" dirty="0"/>
              <a:t>colocada </a:t>
            </a:r>
            <a:r>
              <a:rPr sz="2000" spc="10" dirty="0"/>
              <a:t>como </a:t>
            </a:r>
            <a:r>
              <a:rPr sz="2000" spc="5" dirty="0"/>
              <a:t>sub-árvore </a:t>
            </a:r>
            <a:r>
              <a:rPr sz="2000" spc="40" dirty="0"/>
              <a:t>direita  </a:t>
            </a:r>
            <a:r>
              <a:rPr sz="2000" spc="5" dirty="0"/>
              <a:t>do nó</a:t>
            </a:r>
            <a:r>
              <a:rPr sz="2000" spc="-60" dirty="0"/>
              <a:t> </a:t>
            </a:r>
            <a:r>
              <a:rPr sz="2000" spc="10" dirty="0"/>
              <a:t>Z</a:t>
            </a:r>
            <a:endParaRPr sz="2000"/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2000" spc="-140" dirty="0"/>
              <a:t>O </a:t>
            </a:r>
            <a:r>
              <a:rPr sz="2000" spc="40" dirty="0"/>
              <a:t>filho direito </a:t>
            </a:r>
            <a:r>
              <a:rPr sz="2000" spc="5" dirty="0"/>
              <a:t>do nó </a:t>
            </a:r>
            <a:r>
              <a:rPr sz="2000" spc="-105" dirty="0"/>
              <a:t>X </a:t>
            </a:r>
            <a:r>
              <a:rPr sz="2000" spc="25" dirty="0"/>
              <a:t>aponta </a:t>
            </a:r>
            <a:r>
              <a:rPr sz="2000" spc="15" dirty="0"/>
              <a:t>para </a:t>
            </a:r>
            <a:r>
              <a:rPr sz="2000" spc="-15" dirty="0"/>
              <a:t>o </a:t>
            </a:r>
            <a:r>
              <a:rPr sz="2000" spc="5" dirty="0"/>
              <a:t>nó</a:t>
            </a:r>
            <a:r>
              <a:rPr sz="2000" spc="290" dirty="0"/>
              <a:t> </a:t>
            </a:r>
            <a:r>
              <a:rPr sz="2000" spc="-240" dirty="0"/>
              <a:t>Y</a:t>
            </a:r>
            <a:endParaRPr sz="2000"/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000" spc="-140" dirty="0"/>
              <a:t>O </a:t>
            </a:r>
            <a:r>
              <a:rPr sz="2000" spc="40" dirty="0"/>
              <a:t>filho </a:t>
            </a:r>
            <a:r>
              <a:rPr sz="2000" dirty="0"/>
              <a:t>esquerdo </a:t>
            </a:r>
            <a:r>
              <a:rPr sz="2000" spc="5" dirty="0"/>
              <a:t>do nó </a:t>
            </a:r>
            <a:r>
              <a:rPr sz="2000" spc="-105" dirty="0"/>
              <a:t>X </a:t>
            </a:r>
            <a:r>
              <a:rPr sz="2000" spc="25" dirty="0"/>
              <a:t>aponta </a:t>
            </a:r>
            <a:r>
              <a:rPr sz="2000" spc="15" dirty="0"/>
              <a:t>para </a:t>
            </a:r>
            <a:r>
              <a:rPr sz="2000" spc="-15" dirty="0"/>
              <a:t>o </a:t>
            </a:r>
            <a:r>
              <a:rPr sz="2000" spc="5" dirty="0"/>
              <a:t>nó</a:t>
            </a:r>
            <a:r>
              <a:rPr sz="2000" spc="320" dirty="0"/>
              <a:t> </a:t>
            </a:r>
            <a:r>
              <a:rPr sz="2000" spc="10" dirty="0"/>
              <a:t>Z</a:t>
            </a:r>
            <a:endParaRPr sz="2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LR</a:t>
            </a:r>
          </a:p>
        </p:txBody>
      </p:sp>
      <p:sp>
        <p:nvSpPr>
          <p:cNvPr id="3" name="object 3"/>
          <p:cNvSpPr/>
          <p:nvPr/>
        </p:nvSpPr>
        <p:spPr>
          <a:xfrm>
            <a:off x="3928109" y="3714750"/>
            <a:ext cx="643890" cy="642620"/>
          </a:xfrm>
          <a:custGeom>
            <a:avLst/>
            <a:gdLst/>
            <a:ahLst/>
            <a:cxnLst/>
            <a:rect l="l" t="t" r="r" b="b"/>
            <a:pathLst>
              <a:path w="643889" h="642620">
                <a:moveTo>
                  <a:pt x="482600" y="0"/>
                </a:moveTo>
                <a:lnTo>
                  <a:pt x="482600" y="160019"/>
                </a:lnTo>
                <a:lnTo>
                  <a:pt x="0" y="160019"/>
                </a:lnTo>
                <a:lnTo>
                  <a:pt x="0" y="481330"/>
                </a:lnTo>
                <a:lnTo>
                  <a:pt x="482600" y="481330"/>
                </a:lnTo>
                <a:lnTo>
                  <a:pt x="482600" y="642619"/>
                </a:lnTo>
                <a:lnTo>
                  <a:pt x="643889" y="321310"/>
                </a:lnTo>
                <a:lnTo>
                  <a:pt x="48260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8109" y="3714750"/>
            <a:ext cx="643890" cy="642620"/>
          </a:xfrm>
          <a:custGeom>
            <a:avLst/>
            <a:gdLst/>
            <a:ahLst/>
            <a:cxnLst/>
            <a:rect l="l" t="t" r="r" b="b"/>
            <a:pathLst>
              <a:path w="643889" h="642620">
                <a:moveTo>
                  <a:pt x="0" y="160019"/>
                </a:moveTo>
                <a:lnTo>
                  <a:pt x="482600" y="160019"/>
                </a:lnTo>
                <a:lnTo>
                  <a:pt x="482600" y="0"/>
                </a:lnTo>
                <a:lnTo>
                  <a:pt x="643889" y="321310"/>
                </a:lnTo>
                <a:lnTo>
                  <a:pt x="482600" y="642619"/>
                </a:lnTo>
                <a:lnTo>
                  <a:pt x="482600" y="481330"/>
                </a:lnTo>
                <a:lnTo>
                  <a:pt x="0" y="481330"/>
                </a:lnTo>
                <a:lnTo>
                  <a:pt x="0" y="16001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8109" y="3714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0" y="43573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85750" y="2071370"/>
            <a:ext cx="3469640" cy="3714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36770" y="2428239"/>
            <a:ext cx="4507230" cy="31432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LR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9360" y="2024379"/>
            <a:ext cx="5627370" cy="2451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static </a:t>
            </a: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-30" dirty="0">
                <a:latin typeface="Arial"/>
                <a:cs typeface="Arial"/>
              </a:rPr>
              <a:t>rotacaoLR(Node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75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ct val="100000"/>
              </a:lnSpc>
            </a:pPr>
            <a:r>
              <a:rPr sz="3200" spc="76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912494" marR="140335">
              <a:lnSpc>
                <a:spcPct val="100000"/>
              </a:lnSpc>
            </a:pPr>
            <a:r>
              <a:rPr sz="3200" spc="5" dirty="0">
                <a:latin typeface="Arial"/>
                <a:cs typeface="Arial"/>
              </a:rPr>
              <a:t>y.left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-15" dirty="0">
                <a:latin typeface="Arial"/>
                <a:cs typeface="Arial"/>
              </a:rPr>
              <a:t>rotacaoRR(y.left);  </a:t>
            </a:r>
            <a:r>
              <a:rPr sz="3200" spc="65" dirty="0">
                <a:latin typeface="Arial"/>
                <a:cs typeface="Arial"/>
              </a:rPr>
              <a:t>return</a:t>
            </a:r>
            <a:r>
              <a:rPr sz="3200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rotacaoLL(y);</a:t>
            </a:r>
            <a:endParaRPr sz="3200">
              <a:latin typeface="Arial"/>
              <a:cs typeface="Arial"/>
            </a:endParaRPr>
          </a:p>
          <a:p>
            <a:pPr marL="461645">
              <a:lnSpc>
                <a:spcPts val="3829"/>
              </a:lnSpc>
            </a:pPr>
            <a:r>
              <a:rPr sz="3200" spc="760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785870" y="2494279"/>
            <a:ext cx="3643629" cy="43637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RL</a:t>
            </a:r>
          </a:p>
        </p:txBody>
      </p:sp>
      <p:sp>
        <p:nvSpPr>
          <p:cNvPr id="4" name="object 4"/>
          <p:cNvSpPr/>
          <p:nvPr/>
        </p:nvSpPr>
        <p:spPr>
          <a:xfrm>
            <a:off x="5643879" y="2843529"/>
            <a:ext cx="642620" cy="571500"/>
          </a:xfrm>
          <a:custGeom>
            <a:avLst/>
            <a:gdLst/>
            <a:ahLst/>
            <a:cxnLst/>
            <a:rect l="l" t="t" r="r" b="b"/>
            <a:pathLst>
              <a:path w="642620" h="571500">
                <a:moveTo>
                  <a:pt x="642620" y="0"/>
                </a:moveTo>
                <a:lnTo>
                  <a:pt x="0" y="0"/>
                </a:lnTo>
                <a:lnTo>
                  <a:pt x="0" y="571500"/>
                </a:lnTo>
                <a:lnTo>
                  <a:pt x="642620" y="571500"/>
                </a:lnTo>
                <a:lnTo>
                  <a:pt x="64262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643879" y="2843529"/>
            <a:ext cx="642620" cy="571500"/>
          </a:xfrm>
          <a:custGeom>
            <a:avLst/>
            <a:gdLst/>
            <a:ahLst/>
            <a:cxnLst/>
            <a:rect l="l" t="t" r="r" b="b"/>
            <a:pathLst>
              <a:path w="642620" h="571500">
                <a:moveTo>
                  <a:pt x="321310" y="571500"/>
                </a:moveTo>
                <a:lnTo>
                  <a:pt x="0" y="571500"/>
                </a:lnTo>
                <a:lnTo>
                  <a:pt x="0" y="0"/>
                </a:lnTo>
                <a:lnTo>
                  <a:pt x="642620" y="0"/>
                </a:lnTo>
                <a:lnTo>
                  <a:pt x="642620" y="571500"/>
                </a:lnTo>
                <a:lnTo>
                  <a:pt x="321310" y="571500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pc="-25" dirty="0"/>
              <a:t>Suponha </a:t>
            </a:r>
            <a:r>
              <a:rPr spc="10" dirty="0"/>
              <a:t>na </a:t>
            </a:r>
            <a:r>
              <a:rPr spc="65" dirty="0"/>
              <a:t>figura </a:t>
            </a:r>
            <a:r>
              <a:rPr spc="25" dirty="0"/>
              <a:t>que </a:t>
            </a:r>
            <a:r>
              <a:rPr spc="-20" dirty="0"/>
              <a:t>a </a:t>
            </a:r>
            <a:r>
              <a:rPr spc="95" dirty="0"/>
              <a:t>última </a:t>
            </a:r>
            <a:r>
              <a:rPr spc="25" dirty="0"/>
              <a:t>célula </a:t>
            </a:r>
            <a:r>
              <a:rPr spc="-20" dirty="0"/>
              <a:t>a </a:t>
            </a:r>
            <a:r>
              <a:rPr dirty="0"/>
              <a:t>ser  </a:t>
            </a:r>
            <a:r>
              <a:rPr spc="30" dirty="0"/>
              <a:t>inserida </a:t>
            </a:r>
            <a:r>
              <a:rPr spc="60" dirty="0"/>
              <a:t>foi </a:t>
            </a:r>
            <a:r>
              <a:rPr spc="-20" dirty="0"/>
              <a:t>a </a:t>
            </a:r>
            <a:r>
              <a:rPr spc="25" dirty="0"/>
              <a:t>célula </a:t>
            </a:r>
            <a:r>
              <a:rPr spc="15" dirty="0"/>
              <a:t>de chave</a:t>
            </a:r>
            <a:r>
              <a:rPr spc="-5" dirty="0"/>
              <a:t> </a:t>
            </a:r>
            <a:r>
              <a:rPr spc="45" dirty="0"/>
              <a:t>75</a:t>
            </a:r>
          </a:p>
          <a:p>
            <a:pPr marL="5264150">
              <a:lnSpc>
                <a:spcPct val="100000"/>
              </a:lnSpc>
              <a:spcBef>
                <a:spcPts val="2680"/>
              </a:spcBef>
            </a:pPr>
            <a:r>
              <a:rPr spc="5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559550" y="6201409"/>
            <a:ext cx="680720" cy="50673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0345">
              <a:lnSpc>
                <a:spcPts val="3790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715000" y="4999990"/>
            <a:ext cx="499109" cy="459740"/>
          </a:xfrm>
          <a:custGeom>
            <a:avLst/>
            <a:gdLst/>
            <a:ahLst/>
            <a:cxnLst/>
            <a:rect l="l" t="t" r="r" b="b"/>
            <a:pathLst>
              <a:path w="499110" h="459739">
                <a:moveTo>
                  <a:pt x="499110" y="0"/>
                </a:moveTo>
                <a:lnTo>
                  <a:pt x="0" y="0"/>
                </a:lnTo>
                <a:lnTo>
                  <a:pt x="0" y="459740"/>
                </a:lnTo>
                <a:lnTo>
                  <a:pt x="499110" y="459740"/>
                </a:lnTo>
                <a:lnTo>
                  <a:pt x="49911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715000" y="4999990"/>
            <a:ext cx="499109" cy="459740"/>
          </a:xfrm>
          <a:custGeom>
            <a:avLst/>
            <a:gdLst/>
            <a:ahLst/>
            <a:cxnLst/>
            <a:rect l="l" t="t" r="r" b="b"/>
            <a:pathLst>
              <a:path w="499110" h="459739">
                <a:moveTo>
                  <a:pt x="250189" y="459740"/>
                </a:moveTo>
                <a:lnTo>
                  <a:pt x="0" y="459740"/>
                </a:lnTo>
                <a:lnTo>
                  <a:pt x="0" y="0"/>
                </a:lnTo>
                <a:lnTo>
                  <a:pt x="499110" y="0"/>
                </a:lnTo>
                <a:lnTo>
                  <a:pt x="499110" y="459740"/>
                </a:lnTo>
                <a:lnTo>
                  <a:pt x="250189" y="459740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806440" y="4999990"/>
            <a:ext cx="391160" cy="5016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29500" y="4928870"/>
            <a:ext cx="544830" cy="49910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115">
              <a:lnSpc>
                <a:spcPts val="3529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2250" y="3856990"/>
            <a:ext cx="642620" cy="571500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33019" rIns="0" bIns="0" rtlCol="0">
            <a:spAutoFit/>
          </a:bodyPr>
          <a:lstStyle/>
          <a:p>
            <a:pPr marL="147955">
              <a:lnSpc>
                <a:spcPct val="100000"/>
              </a:lnSpc>
              <a:spcBef>
                <a:spcPts val="259"/>
              </a:spcBef>
            </a:pPr>
            <a:r>
              <a:rPr sz="3200" spc="540" dirty="0">
                <a:solidFill>
                  <a:srgbClr val="FFFFFF"/>
                </a:solidFill>
                <a:latin typeface="Arial"/>
                <a:cs typeface="Arial"/>
              </a:rPr>
              <a:t>+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857750" y="4071620"/>
            <a:ext cx="571500" cy="505459"/>
          </a:xfrm>
          <a:prstGeom prst="rect">
            <a:avLst/>
          </a:prstGeom>
          <a:solidFill>
            <a:srgbClr val="4E80BC"/>
          </a:solidFill>
          <a:ln w="25518">
            <a:solidFill>
              <a:srgbClr val="395E8A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5575">
              <a:lnSpc>
                <a:spcPts val="3529"/>
              </a:lnSpc>
            </a:pPr>
            <a:r>
              <a:rPr sz="3200" spc="50" dirty="0">
                <a:solidFill>
                  <a:srgbClr val="FFFFFF"/>
                </a:solidFill>
                <a:latin typeface="Arial"/>
                <a:cs typeface="Arial"/>
              </a:rPr>
              <a:t>0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644650"/>
            <a:ext cx="7934325" cy="3416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200" spc="-155" dirty="0">
                <a:latin typeface="Arial"/>
                <a:cs typeface="Arial"/>
              </a:rPr>
              <a:t>O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10" dirty="0">
                <a:latin typeface="Arial"/>
                <a:cs typeface="Arial"/>
              </a:rPr>
              <a:t>que </a:t>
            </a:r>
            <a:r>
              <a:rPr sz="2200" spc="15" dirty="0">
                <a:latin typeface="Arial"/>
                <a:cs typeface="Arial"/>
              </a:rPr>
              <a:t>está </a:t>
            </a:r>
            <a:r>
              <a:rPr sz="2200" spc="5" dirty="0">
                <a:latin typeface="Arial"/>
                <a:cs typeface="Arial"/>
              </a:rPr>
              <a:t>no </a:t>
            </a:r>
            <a:r>
              <a:rPr sz="2200" spc="15" dirty="0">
                <a:latin typeface="Arial"/>
                <a:cs typeface="Arial"/>
              </a:rPr>
              <a:t>nível mais </a:t>
            </a:r>
            <a:r>
              <a:rPr sz="2200" spc="45" dirty="0">
                <a:latin typeface="Arial"/>
                <a:cs typeface="Arial"/>
              </a:rPr>
              <a:t>alto </a:t>
            </a:r>
            <a:r>
              <a:rPr sz="2200" spc="-20" dirty="0">
                <a:latin typeface="Arial"/>
                <a:cs typeface="Arial"/>
              </a:rPr>
              <a:t>das </a:t>
            </a:r>
            <a:r>
              <a:rPr sz="2200" spc="25" dirty="0">
                <a:latin typeface="Arial"/>
                <a:cs typeface="Arial"/>
              </a:rPr>
              <a:t>três </a:t>
            </a:r>
            <a:r>
              <a:rPr sz="2200" spc="15" dirty="0">
                <a:latin typeface="Arial"/>
                <a:cs typeface="Arial"/>
              </a:rPr>
              <a:t>envolvidas (nó </a:t>
            </a:r>
            <a:r>
              <a:rPr sz="2200" spc="-40" dirty="0">
                <a:latin typeface="Arial"/>
                <a:cs typeface="Arial"/>
              </a:rPr>
              <a:t>X)  </a:t>
            </a:r>
            <a:r>
              <a:rPr sz="2200" spc="55" dirty="0">
                <a:latin typeface="Arial"/>
                <a:cs typeface="Arial"/>
              </a:rPr>
              <a:t>toma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spc="35" dirty="0">
                <a:latin typeface="Arial"/>
                <a:cs typeface="Arial"/>
              </a:rPr>
              <a:t>lugar </a:t>
            </a:r>
            <a:r>
              <a:rPr sz="2200" spc="5" dirty="0">
                <a:latin typeface="Arial"/>
                <a:cs typeface="Arial"/>
              </a:rPr>
              <a:t>da </a:t>
            </a:r>
            <a:r>
              <a:rPr sz="2200" spc="15" dirty="0">
                <a:latin typeface="Arial"/>
                <a:cs typeface="Arial"/>
              </a:rPr>
              <a:t>célula </a:t>
            </a:r>
            <a:r>
              <a:rPr sz="2200" spc="10" dirty="0">
                <a:latin typeface="Arial"/>
                <a:cs typeface="Arial"/>
              </a:rPr>
              <a:t>cujo </a:t>
            </a:r>
            <a:r>
              <a:rPr sz="2200" spc="55" dirty="0">
                <a:latin typeface="Arial"/>
                <a:cs typeface="Arial"/>
              </a:rPr>
              <a:t>fator </a:t>
            </a:r>
            <a:r>
              <a:rPr sz="2200" spc="10" dirty="0">
                <a:latin typeface="Arial"/>
                <a:cs typeface="Arial"/>
              </a:rPr>
              <a:t>de </a:t>
            </a:r>
            <a:r>
              <a:rPr sz="2200" spc="20" dirty="0">
                <a:latin typeface="Arial"/>
                <a:cs typeface="Arial"/>
              </a:rPr>
              <a:t>balanceamento </a:t>
            </a:r>
            <a:r>
              <a:rPr sz="2200" spc="-10" dirty="0">
                <a:latin typeface="Arial"/>
                <a:cs typeface="Arial"/>
              </a:rPr>
              <a:t>é </a:t>
            </a:r>
            <a:r>
              <a:rPr sz="2200" spc="5" dirty="0">
                <a:latin typeface="Arial"/>
                <a:cs typeface="Arial"/>
              </a:rPr>
              <a:t>-2 </a:t>
            </a:r>
            <a:r>
              <a:rPr sz="2200" spc="15" dirty="0">
                <a:latin typeface="Arial"/>
                <a:cs typeface="Arial"/>
              </a:rPr>
              <a:t>(nó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-105" dirty="0">
                <a:latin typeface="Arial"/>
                <a:cs typeface="Arial"/>
              </a:rPr>
              <a:t>Y)</a:t>
            </a:r>
            <a:endParaRPr sz="2200">
              <a:latin typeface="Arial"/>
              <a:cs typeface="Arial"/>
            </a:endParaRPr>
          </a:p>
          <a:p>
            <a:pPr marL="12700" marR="372110">
              <a:lnSpc>
                <a:spcPct val="100000"/>
              </a:lnSpc>
              <a:spcBef>
                <a:spcPts val="1420"/>
              </a:spcBef>
            </a:pPr>
            <a:r>
              <a:rPr sz="2200" spc="-114" dirty="0">
                <a:latin typeface="Arial"/>
                <a:cs typeface="Arial"/>
              </a:rPr>
              <a:t>A </a:t>
            </a:r>
            <a:r>
              <a:rPr sz="2200" spc="10" dirty="0">
                <a:latin typeface="Arial"/>
                <a:cs typeface="Arial"/>
              </a:rPr>
              <a:t>sub-árvore </a:t>
            </a:r>
            <a:r>
              <a:rPr sz="2200" spc="45" dirty="0">
                <a:latin typeface="Arial"/>
                <a:cs typeface="Arial"/>
              </a:rPr>
              <a:t>direita </a:t>
            </a:r>
            <a:r>
              <a:rPr sz="2200" spc="5" dirty="0">
                <a:latin typeface="Arial"/>
                <a:cs typeface="Arial"/>
              </a:rPr>
              <a:t>do nó </a:t>
            </a:r>
            <a:r>
              <a:rPr sz="2200" spc="-114" dirty="0">
                <a:latin typeface="Arial"/>
                <a:cs typeface="Arial"/>
              </a:rPr>
              <a:t>X </a:t>
            </a:r>
            <a:r>
              <a:rPr sz="2200" spc="-5" dirty="0">
                <a:latin typeface="Arial"/>
                <a:cs typeface="Arial"/>
              </a:rPr>
              <a:t>será </a:t>
            </a:r>
            <a:r>
              <a:rPr sz="2200" dirty="0">
                <a:latin typeface="Arial"/>
                <a:cs typeface="Arial"/>
              </a:rPr>
              <a:t>colocada </a:t>
            </a:r>
            <a:r>
              <a:rPr sz="2200" spc="5" dirty="0">
                <a:latin typeface="Arial"/>
                <a:cs typeface="Arial"/>
              </a:rPr>
              <a:t>como </a:t>
            </a:r>
            <a:r>
              <a:rPr sz="2200" spc="10" dirty="0">
                <a:latin typeface="Arial"/>
                <a:cs typeface="Arial"/>
              </a:rPr>
              <a:t>sub-árvore  </a:t>
            </a:r>
            <a:r>
              <a:rPr sz="2200" dirty="0">
                <a:latin typeface="Arial"/>
                <a:cs typeface="Arial"/>
              </a:rPr>
              <a:t>esquerda </a:t>
            </a:r>
            <a:r>
              <a:rPr sz="2200" spc="10" dirty="0">
                <a:latin typeface="Arial"/>
                <a:cs typeface="Arial"/>
              </a:rPr>
              <a:t>do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-45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Z</a:t>
            </a:r>
            <a:endParaRPr sz="2200">
              <a:latin typeface="Arial"/>
              <a:cs typeface="Arial"/>
            </a:endParaRPr>
          </a:p>
          <a:p>
            <a:pPr marL="12700" marR="6350">
              <a:lnSpc>
                <a:spcPct val="100000"/>
              </a:lnSpc>
              <a:spcBef>
                <a:spcPts val="1410"/>
              </a:spcBef>
            </a:pPr>
            <a:r>
              <a:rPr sz="2200" spc="-114" dirty="0">
                <a:latin typeface="Arial"/>
                <a:cs typeface="Arial"/>
              </a:rPr>
              <a:t>A </a:t>
            </a:r>
            <a:r>
              <a:rPr sz="2200" spc="10" dirty="0">
                <a:latin typeface="Arial"/>
                <a:cs typeface="Arial"/>
              </a:rPr>
              <a:t>sub-árvore </a:t>
            </a:r>
            <a:r>
              <a:rPr sz="2200" dirty="0">
                <a:latin typeface="Arial"/>
                <a:cs typeface="Arial"/>
              </a:rPr>
              <a:t>esquerda </a:t>
            </a:r>
            <a:r>
              <a:rPr sz="2200" spc="5" dirty="0">
                <a:latin typeface="Arial"/>
                <a:cs typeface="Arial"/>
              </a:rPr>
              <a:t>do nó </a:t>
            </a:r>
            <a:r>
              <a:rPr sz="2200" spc="-114" dirty="0">
                <a:latin typeface="Arial"/>
                <a:cs typeface="Arial"/>
              </a:rPr>
              <a:t>X </a:t>
            </a:r>
            <a:r>
              <a:rPr sz="2200" spc="-5" dirty="0">
                <a:latin typeface="Arial"/>
                <a:cs typeface="Arial"/>
              </a:rPr>
              <a:t>será </a:t>
            </a:r>
            <a:r>
              <a:rPr sz="2200" dirty="0">
                <a:latin typeface="Arial"/>
                <a:cs typeface="Arial"/>
              </a:rPr>
              <a:t>colocada </a:t>
            </a:r>
            <a:r>
              <a:rPr sz="2200" spc="5" dirty="0">
                <a:latin typeface="Arial"/>
                <a:cs typeface="Arial"/>
              </a:rPr>
              <a:t>como </a:t>
            </a:r>
            <a:r>
              <a:rPr sz="2200" spc="10" dirty="0">
                <a:latin typeface="Arial"/>
                <a:cs typeface="Arial"/>
              </a:rPr>
              <a:t>sub-árvore  </a:t>
            </a:r>
            <a:r>
              <a:rPr sz="2200" spc="45" dirty="0">
                <a:latin typeface="Arial"/>
                <a:cs typeface="Arial"/>
              </a:rPr>
              <a:t>direita </a:t>
            </a:r>
            <a:r>
              <a:rPr sz="2200" spc="10" dirty="0">
                <a:latin typeface="Arial"/>
                <a:cs typeface="Arial"/>
              </a:rPr>
              <a:t>do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-260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155" dirty="0">
                <a:latin typeface="Arial"/>
                <a:cs typeface="Arial"/>
              </a:rPr>
              <a:t>O </a:t>
            </a:r>
            <a:r>
              <a:rPr sz="2200" spc="40" dirty="0">
                <a:latin typeface="Arial"/>
                <a:cs typeface="Arial"/>
              </a:rPr>
              <a:t>filho </a:t>
            </a:r>
            <a:r>
              <a:rPr sz="2200" spc="45" dirty="0">
                <a:latin typeface="Arial"/>
                <a:cs typeface="Arial"/>
              </a:rPr>
              <a:t>direito </a:t>
            </a:r>
            <a:r>
              <a:rPr sz="2200" spc="10" dirty="0">
                <a:latin typeface="Arial"/>
                <a:cs typeface="Arial"/>
              </a:rPr>
              <a:t>do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-114" dirty="0">
                <a:latin typeface="Arial"/>
                <a:cs typeface="Arial"/>
              </a:rPr>
              <a:t>X </a:t>
            </a:r>
            <a:r>
              <a:rPr sz="2200" spc="30" dirty="0">
                <a:latin typeface="Arial"/>
                <a:cs typeface="Arial"/>
              </a:rPr>
              <a:t>aponta </a:t>
            </a:r>
            <a:r>
              <a:rPr sz="2200" spc="20" dirty="0">
                <a:latin typeface="Arial"/>
                <a:cs typeface="Arial"/>
              </a:rPr>
              <a:t>para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204" dirty="0">
                <a:latin typeface="Arial"/>
                <a:cs typeface="Arial"/>
              </a:rPr>
              <a:t> </a:t>
            </a:r>
            <a:r>
              <a:rPr sz="2200" spc="-260" dirty="0">
                <a:latin typeface="Arial"/>
                <a:cs typeface="Arial"/>
              </a:rPr>
              <a:t>Y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155" dirty="0">
                <a:latin typeface="Arial"/>
                <a:cs typeface="Arial"/>
              </a:rPr>
              <a:t>O </a:t>
            </a:r>
            <a:r>
              <a:rPr sz="2200" spc="40" dirty="0">
                <a:latin typeface="Arial"/>
                <a:cs typeface="Arial"/>
              </a:rPr>
              <a:t>filho </a:t>
            </a:r>
            <a:r>
              <a:rPr sz="2200" dirty="0">
                <a:latin typeface="Arial"/>
                <a:cs typeface="Arial"/>
              </a:rPr>
              <a:t>esquerdo </a:t>
            </a:r>
            <a:r>
              <a:rPr sz="2200" spc="10" dirty="0">
                <a:latin typeface="Arial"/>
                <a:cs typeface="Arial"/>
              </a:rPr>
              <a:t>do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-114" dirty="0">
                <a:latin typeface="Arial"/>
                <a:cs typeface="Arial"/>
              </a:rPr>
              <a:t>X </a:t>
            </a:r>
            <a:r>
              <a:rPr sz="2200" spc="30" dirty="0">
                <a:latin typeface="Arial"/>
                <a:cs typeface="Arial"/>
              </a:rPr>
              <a:t>aponta </a:t>
            </a:r>
            <a:r>
              <a:rPr sz="2200" spc="20" dirty="0">
                <a:latin typeface="Arial"/>
                <a:cs typeface="Arial"/>
              </a:rPr>
              <a:t>para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dirty="0">
                <a:latin typeface="Arial"/>
                <a:cs typeface="Arial"/>
              </a:rPr>
              <a:t>nó</a:t>
            </a:r>
            <a:r>
              <a:rPr sz="2200" spc="260" dirty="0">
                <a:latin typeface="Arial"/>
                <a:cs typeface="Arial"/>
              </a:rPr>
              <a:t> </a:t>
            </a:r>
            <a:r>
              <a:rPr sz="2200" spc="10" dirty="0">
                <a:latin typeface="Arial"/>
                <a:cs typeface="Arial"/>
              </a:rPr>
              <a:t>Z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RL</a:t>
            </a:r>
          </a:p>
        </p:txBody>
      </p:sp>
      <p:sp>
        <p:nvSpPr>
          <p:cNvPr id="3" name="object 3"/>
          <p:cNvSpPr/>
          <p:nvPr/>
        </p:nvSpPr>
        <p:spPr>
          <a:xfrm>
            <a:off x="3928109" y="3714750"/>
            <a:ext cx="643890" cy="642620"/>
          </a:xfrm>
          <a:custGeom>
            <a:avLst/>
            <a:gdLst/>
            <a:ahLst/>
            <a:cxnLst/>
            <a:rect l="l" t="t" r="r" b="b"/>
            <a:pathLst>
              <a:path w="643889" h="642620">
                <a:moveTo>
                  <a:pt x="482600" y="0"/>
                </a:moveTo>
                <a:lnTo>
                  <a:pt x="482600" y="160019"/>
                </a:lnTo>
                <a:lnTo>
                  <a:pt x="0" y="160019"/>
                </a:lnTo>
                <a:lnTo>
                  <a:pt x="0" y="481330"/>
                </a:lnTo>
                <a:lnTo>
                  <a:pt x="482600" y="481330"/>
                </a:lnTo>
                <a:lnTo>
                  <a:pt x="482600" y="642619"/>
                </a:lnTo>
                <a:lnTo>
                  <a:pt x="643889" y="321310"/>
                </a:lnTo>
                <a:lnTo>
                  <a:pt x="482600" y="0"/>
                </a:lnTo>
                <a:close/>
              </a:path>
            </a:pathLst>
          </a:custGeom>
          <a:solidFill>
            <a:srgbClr val="4E80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928109" y="3714750"/>
            <a:ext cx="643890" cy="642620"/>
          </a:xfrm>
          <a:custGeom>
            <a:avLst/>
            <a:gdLst/>
            <a:ahLst/>
            <a:cxnLst/>
            <a:rect l="l" t="t" r="r" b="b"/>
            <a:pathLst>
              <a:path w="643889" h="642620">
                <a:moveTo>
                  <a:pt x="0" y="160019"/>
                </a:moveTo>
                <a:lnTo>
                  <a:pt x="482600" y="160019"/>
                </a:lnTo>
                <a:lnTo>
                  <a:pt x="482600" y="0"/>
                </a:lnTo>
                <a:lnTo>
                  <a:pt x="643889" y="321310"/>
                </a:lnTo>
                <a:lnTo>
                  <a:pt x="482600" y="642619"/>
                </a:lnTo>
                <a:lnTo>
                  <a:pt x="482600" y="481330"/>
                </a:lnTo>
                <a:lnTo>
                  <a:pt x="0" y="481330"/>
                </a:lnTo>
                <a:lnTo>
                  <a:pt x="0" y="160019"/>
                </a:lnTo>
                <a:close/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928109" y="371475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572000" y="4357370"/>
            <a:ext cx="0" cy="0"/>
          </a:xfrm>
          <a:custGeom>
            <a:avLst/>
            <a:gdLst/>
            <a:ahLst/>
            <a:cxnLst/>
            <a:rect l="l" t="t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ln w="25518">
            <a:solidFill>
              <a:srgbClr val="395E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4629" y="2142489"/>
            <a:ext cx="3399790" cy="40716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43120" y="2499360"/>
            <a:ext cx="4224020" cy="3429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46990">
              <a:lnSpc>
                <a:spcPct val="100000"/>
              </a:lnSpc>
            </a:pPr>
            <a:r>
              <a:rPr spc="-75" dirty="0"/>
              <a:t>Tipos </a:t>
            </a:r>
            <a:r>
              <a:rPr spc="25" dirty="0"/>
              <a:t>de Balanceamento </a:t>
            </a:r>
            <a:r>
              <a:rPr spc="-40" dirty="0"/>
              <a:t>-</a:t>
            </a:r>
            <a:r>
              <a:rPr spc="105" dirty="0"/>
              <a:t> </a:t>
            </a:r>
            <a:r>
              <a:rPr spc="-340" dirty="0"/>
              <a:t>RL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92530" y="2044700"/>
            <a:ext cx="5929630" cy="2451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65" dirty="0">
                <a:latin typeface="Arial"/>
                <a:cs typeface="Arial"/>
              </a:rPr>
              <a:t>static </a:t>
            </a:r>
            <a:r>
              <a:rPr sz="3200" spc="-35" dirty="0">
                <a:latin typeface="Arial"/>
                <a:cs typeface="Arial"/>
              </a:rPr>
              <a:t>Node </a:t>
            </a:r>
            <a:r>
              <a:rPr sz="3200" spc="-30" dirty="0">
                <a:latin typeface="Arial"/>
                <a:cs typeface="Arial"/>
              </a:rPr>
              <a:t>rotacaoRL(Node</a:t>
            </a:r>
            <a:r>
              <a:rPr sz="3200" spc="-10" dirty="0">
                <a:latin typeface="Arial"/>
                <a:cs typeface="Arial"/>
              </a:rPr>
              <a:t> </a:t>
            </a:r>
            <a:r>
              <a:rPr sz="3200" spc="80" dirty="0">
                <a:latin typeface="Arial"/>
                <a:cs typeface="Arial"/>
              </a:rPr>
              <a:t>y)</a:t>
            </a:r>
            <a:endParaRPr sz="3200">
              <a:latin typeface="Arial"/>
              <a:cs typeface="Arial"/>
            </a:endParaRPr>
          </a:p>
          <a:p>
            <a:pPr marL="463550">
              <a:lnSpc>
                <a:spcPct val="100000"/>
              </a:lnSpc>
            </a:pPr>
            <a:r>
              <a:rPr sz="3200" spc="760" dirty="0">
                <a:latin typeface="Arial"/>
                <a:cs typeface="Arial"/>
              </a:rPr>
              <a:t>{</a:t>
            </a:r>
            <a:endParaRPr sz="3200">
              <a:latin typeface="Arial"/>
              <a:cs typeface="Arial"/>
            </a:endParaRPr>
          </a:p>
          <a:p>
            <a:pPr marL="913130" marR="5080">
              <a:lnSpc>
                <a:spcPct val="100000"/>
              </a:lnSpc>
            </a:pPr>
            <a:r>
              <a:rPr sz="3200" spc="25" dirty="0">
                <a:latin typeface="Arial"/>
                <a:cs typeface="Arial"/>
              </a:rPr>
              <a:t>y.right </a:t>
            </a:r>
            <a:r>
              <a:rPr sz="3200" spc="540" dirty="0">
                <a:latin typeface="Arial"/>
                <a:cs typeface="Arial"/>
              </a:rPr>
              <a:t>=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10" dirty="0">
                <a:latin typeface="Arial"/>
                <a:cs typeface="Arial"/>
              </a:rPr>
              <a:t>rotacaoLL(y.right);  </a:t>
            </a:r>
            <a:r>
              <a:rPr sz="3200" spc="70" dirty="0">
                <a:latin typeface="Arial"/>
                <a:cs typeface="Arial"/>
              </a:rPr>
              <a:t>return</a:t>
            </a:r>
            <a:r>
              <a:rPr sz="3200" spc="-35" dirty="0">
                <a:latin typeface="Arial"/>
                <a:cs typeface="Arial"/>
              </a:rPr>
              <a:t> </a:t>
            </a:r>
            <a:r>
              <a:rPr sz="3200" spc="-15" dirty="0">
                <a:latin typeface="Arial"/>
                <a:cs typeface="Arial"/>
              </a:rPr>
              <a:t>rotacaoRR(y);</a:t>
            </a:r>
            <a:endParaRPr sz="3200">
              <a:latin typeface="Arial"/>
              <a:cs typeface="Arial"/>
            </a:endParaRPr>
          </a:p>
          <a:p>
            <a:pPr marL="463550">
              <a:lnSpc>
                <a:spcPts val="3829"/>
              </a:lnSpc>
            </a:pPr>
            <a:r>
              <a:rPr sz="3200" spc="760" dirty="0">
                <a:latin typeface="Arial"/>
                <a:cs typeface="Arial"/>
              </a:rPr>
              <a:t>}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159469"/>
            <a:ext cx="5850890" cy="15608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3266440">
              <a:lnSpc>
                <a:spcPct val="153800"/>
              </a:lnSpc>
            </a:pPr>
            <a:r>
              <a:rPr sz="2200" spc="-40" dirty="0">
                <a:latin typeface="Arial"/>
                <a:cs typeface="Arial"/>
              </a:rPr>
              <a:t>Mais </a:t>
            </a:r>
            <a:r>
              <a:rPr sz="2200" spc="5" dirty="0">
                <a:latin typeface="Arial"/>
                <a:cs typeface="Arial"/>
              </a:rPr>
              <a:t>exemplos...  </a:t>
            </a:r>
            <a:r>
              <a:rPr sz="2200" spc="-15" dirty="0">
                <a:latin typeface="Arial"/>
                <a:cs typeface="Arial"/>
              </a:rPr>
              <a:t>Inserção </a:t>
            </a:r>
            <a:r>
              <a:rPr sz="2200" spc="5" dirty="0">
                <a:latin typeface="Arial"/>
                <a:cs typeface="Arial"/>
              </a:rPr>
              <a:t>de </a:t>
            </a:r>
            <a:r>
              <a:rPr sz="2200" spc="20" dirty="0">
                <a:latin typeface="Arial"/>
                <a:cs typeface="Arial"/>
              </a:rPr>
              <a:t>1, </a:t>
            </a:r>
            <a:r>
              <a:rPr sz="2200" spc="35" dirty="0">
                <a:latin typeface="Arial"/>
                <a:cs typeface="Arial"/>
              </a:rPr>
              <a:t>2 </a:t>
            </a:r>
            <a:r>
              <a:rPr sz="2200" spc="-10" dirty="0">
                <a:latin typeface="Arial"/>
                <a:cs typeface="Arial"/>
              </a:rPr>
              <a:t>e</a:t>
            </a:r>
            <a:r>
              <a:rPr sz="2200" spc="-65" dirty="0">
                <a:latin typeface="Arial"/>
                <a:cs typeface="Arial"/>
              </a:rPr>
              <a:t> </a:t>
            </a:r>
            <a:r>
              <a:rPr sz="2200" spc="20" dirty="0">
                <a:latin typeface="Arial"/>
                <a:cs typeface="Arial"/>
              </a:rPr>
              <a:t>3.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2200" spc="-85" dirty="0">
                <a:latin typeface="Arial"/>
                <a:cs typeface="Arial"/>
              </a:rPr>
              <a:t>Ao </a:t>
            </a:r>
            <a:r>
              <a:rPr sz="2200" spc="30" dirty="0">
                <a:latin typeface="Arial"/>
                <a:cs typeface="Arial"/>
              </a:rPr>
              <a:t>inserir </a:t>
            </a:r>
            <a:r>
              <a:rPr sz="2200" spc="20" dirty="0">
                <a:latin typeface="Arial"/>
                <a:cs typeface="Arial"/>
              </a:rPr>
              <a:t>3, </a:t>
            </a:r>
            <a:r>
              <a:rPr sz="2200" spc="-15" dirty="0">
                <a:latin typeface="Arial"/>
                <a:cs typeface="Arial"/>
              </a:rPr>
              <a:t>o </a:t>
            </a:r>
            <a:r>
              <a:rPr sz="2200" spc="5" dirty="0">
                <a:latin typeface="Arial"/>
                <a:cs typeface="Arial"/>
              </a:rPr>
              <a:t>nó </a:t>
            </a:r>
            <a:r>
              <a:rPr sz="2200" spc="15" dirty="0">
                <a:latin typeface="Arial"/>
                <a:cs typeface="Arial"/>
              </a:rPr>
              <a:t>raiz </a:t>
            </a:r>
            <a:r>
              <a:rPr sz="2200" spc="30" dirty="0">
                <a:latin typeface="Arial"/>
                <a:cs typeface="Arial"/>
              </a:rPr>
              <a:t>fica </a:t>
            </a:r>
            <a:r>
              <a:rPr sz="2200" dirty="0">
                <a:latin typeface="Arial"/>
                <a:cs typeface="Arial"/>
              </a:rPr>
              <a:t>desbalanceado</a:t>
            </a:r>
            <a:r>
              <a:rPr sz="2200" spc="25" dirty="0">
                <a:latin typeface="Arial"/>
                <a:cs typeface="Arial"/>
              </a:rPr>
              <a:t> </a:t>
            </a:r>
            <a:r>
              <a:rPr sz="2200" spc="114" dirty="0">
                <a:latin typeface="Arial"/>
                <a:cs typeface="Arial"/>
              </a:rPr>
              <a:t>(+2)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3427729"/>
            <a:ext cx="8752840" cy="30962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589020" y="3930650"/>
            <a:ext cx="207137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Rotação </a:t>
            </a:r>
            <a:r>
              <a:rPr sz="1800" spc="-10" dirty="0">
                <a:latin typeface="Arial"/>
                <a:cs typeface="Arial"/>
              </a:rPr>
              <a:t>à</a:t>
            </a:r>
            <a:r>
              <a:rPr sz="1800" spc="3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esquerda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6421755" cy="1836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 </a:t>
            </a:r>
            <a:r>
              <a:rPr sz="3200" spc="50" dirty="0">
                <a:latin typeface="Arial"/>
                <a:cs typeface="Arial"/>
              </a:rPr>
              <a:t>4 </a:t>
            </a:r>
            <a:r>
              <a:rPr sz="3200" spc="-10" dirty="0">
                <a:latin typeface="Arial"/>
                <a:cs typeface="Arial"/>
              </a:rPr>
              <a:t>e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30" dirty="0">
                <a:latin typeface="Arial"/>
                <a:cs typeface="Arial"/>
              </a:rPr>
              <a:t>5.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60" dirty="0">
                <a:latin typeface="Arial"/>
                <a:cs typeface="Arial"/>
              </a:rPr>
              <a:t>4: </a:t>
            </a:r>
            <a:r>
              <a:rPr sz="3200" spc="5" dirty="0">
                <a:latin typeface="Arial"/>
                <a:cs typeface="Arial"/>
              </a:rPr>
              <a:t>sem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spc="25" dirty="0">
                <a:latin typeface="Arial"/>
                <a:cs typeface="Arial"/>
              </a:rPr>
              <a:t>problemas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10"/>
              </a:spcBef>
            </a:pPr>
            <a:r>
              <a:rPr sz="3200" spc="60" dirty="0">
                <a:latin typeface="Arial"/>
                <a:cs typeface="Arial"/>
              </a:rPr>
              <a:t>5: </a:t>
            </a:r>
            <a:r>
              <a:rPr sz="3200" spc="25" dirty="0">
                <a:latin typeface="Arial"/>
                <a:cs typeface="Arial"/>
              </a:rPr>
              <a:t>desbalanceamento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50" dirty="0">
                <a:latin typeface="Arial"/>
                <a:cs typeface="Arial"/>
              </a:rPr>
              <a:t>3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spc="175" dirty="0">
                <a:latin typeface="Arial"/>
                <a:cs typeface="Arial"/>
              </a:rPr>
              <a:t>(+2)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3429000"/>
            <a:ext cx="8496300" cy="3219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65220" y="4006850"/>
            <a:ext cx="207137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Rotação </a:t>
            </a:r>
            <a:r>
              <a:rPr sz="1800" spc="-10" dirty="0">
                <a:latin typeface="Arial"/>
                <a:cs typeface="Arial"/>
              </a:rPr>
              <a:t>à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esquerda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467350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</a:t>
            </a:r>
            <a:r>
              <a:rPr sz="3200" spc="-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6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90" dirty="0">
                <a:latin typeface="Arial"/>
                <a:cs typeface="Arial"/>
              </a:rPr>
              <a:t>Nó </a:t>
            </a:r>
            <a:r>
              <a:rPr sz="3200" spc="50" dirty="0">
                <a:latin typeface="Arial"/>
                <a:cs typeface="Arial"/>
              </a:rPr>
              <a:t>2 </a:t>
            </a:r>
            <a:r>
              <a:rPr sz="3200" spc="40" dirty="0">
                <a:latin typeface="Arial"/>
                <a:cs typeface="Arial"/>
              </a:rPr>
              <a:t>fica </a:t>
            </a:r>
            <a:r>
              <a:rPr sz="3200" dirty="0">
                <a:latin typeface="Arial"/>
                <a:cs typeface="Arial"/>
              </a:rPr>
              <a:t>desbalanceado</a:t>
            </a:r>
            <a:r>
              <a:rPr sz="3200" spc="55" dirty="0">
                <a:latin typeface="Arial"/>
                <a:cs typeface="Arial"/>
              </a:rPr>
              <a:t> </a:t>
            </a:r>
            <a:r>
              <a:rPr sz="3200" spc="175" dirty="0">
                <a:latin typeface="Arial"/>
                <a:cs typeface="Arial"/>
              </a:rPr>
              <a:t>(+2)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714750"/>
            <a:ext cx="8295640" cy="3143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665220" y="4006850"/>
            <a:ext cx="207137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Rotação </a:t>
            </a:r>
            <a:r>
              <a:rPr sz="1800" spc="-10" dirty="0">
                <a:latin typeface="Arial"/>
                <a:cs typeface="Arial"/>
              </a:rPr>
              <a:t>à</a:t>
            </a:r>
            <a:r>
              <a:rPr sz="1800" spc="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esquerda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467350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 nó </a:t>
            </a:r>
            <a:r>
              <a:rPr sz="3200" spc="50" dirty="0">
                <a:latin typeface="Arial"/>
                <a:cs typeface="Arial"/>
              </a:rPr>
              <a:t>7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90" dirty="0">
                <a:latin typeface="Arial"/>
                <a:cs typeface="Arial"/>
              </a:rPr>
              <a:t>Nó </a:t>
            </a:r>
            <a:r>
              <a:rPr sz="3200" spc="50" dirty="0">
                <a:latin typeface="Arial"/>
                <a:cs typeface="Arial"/>
              </a:rPr>
              <a:t>5 </a:t>
            </a:r>
            <a:r>
              <a:rPr sz="3200" spc="40" dirty="0">
                <a:latin typeface="Arial"/>
                <a:cs typeface="Arial"/>
              </a:rPr>
              <a:t>fica </a:t>
            </a:r>
            <a:r>
              <a:rPr sz="3200" dirty="0">
                <a:latin typeface="Arial"/>
                <a:cs typeface="Arial"/>
              </a:rPr>
              <a:t>desbalanceado</a:t>
            </a:r>
            <a:r>
              <a:rPr sz="3200" spc="55" dirty="0">
                <a:latin typeface="Arial"/>
                <a:cs typeface="Arial"/>
              </a:rPr>
              <a:t> </a:t>
            </a:r>
            <a:r>
              <a:rPr sz="3200" spc="175" dirty="0">
                <a:latin typeface="Arial"/>
                <a:cs typeface="Arial"/>
              </a:rPr>
              <a:t>(+2)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3657600"/>
            <a:ext cx="8515350" cy="301879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785870" y="4348479"/>
            <a:ext cx="207137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30" dirty="0">
                <a:latin typeface="Arial"/>
                <a:cs typeface="Arial"/>
              </a:rPr>
              <a:t>Rotação </a:t>
            </a:r>
            <a:r>
              <a:rPr sz="1800" spc="-10" dirty="0">
                <a:latin typeface="Arial"/>
                <a:cs typeface="Arial"/>
              </a:rPr>
              <a:t>à</a:t>
            </a:r>
            <a:r>
              <a:rPr sz="1800" dirty="0">
                <a:latin typeface="Arial"/>
                <a:cs typeface="Arial"/>
              </a:rPr>
              <a:t> esquerda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705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8243570" cy="16433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5" dirty="0">
                <a:latin typeface="Arial"/>
                <a:cs typeface="Arial"/>
              </a:rPr>
              <a:t>de </a:t>
            </a:r>
            <a:r>
              <a:rPr sz="3200" spc="45" dirty="0">
                <a:latin typeface="Arial"/>
                <a:cs typeface="Arial"/>
              </a:rPr>
              <a:t>15 </a:t>
            </a:r>
            <a:r>
              <a:rPr sz="3200" spc="-10" dirty="0">
                <a:latin typeface="Arial"/>
                <a:cs typeface="Arial"/>
              </a:rPr>
              <a:t>e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45" dirty="0">
                <a:latin typeface="Arial"/>
                <a:cs typeface="Arial"/>
              </a:rPr>
              <a:t>14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45" dirty="0">
                <a:latin typeface="Arial"/>
                <a:cs typeface="Arial"/>
              </a:rPr>
              <a:t>dupla: </a:t>
            </a:r>
            <a:r>
              <a:rPr sz="3200" spc="50" dirty="0">
                <a:latin typeface="Arial"/>
                <a:cs typeface="Arial"/>
              </a:rPr>
              <a:t>14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45" dirty="0">
                <a:latin typeface="Arial"/>
                <a:cs typeface="Arial"/>
              </a:rPr>
              <a:t>15 </a:t>
            </a:r>
            <a:r>
              <a:rPr sz="3200" spc="-20" dirty="0">
                <a:latin typeface="Arial"/>
                <a:cs typeface="Arial"/>
              </a:rPr>
              <a:t>à </a:t>
            </a:r>
            <a:r>
              <a:rPr sz="3200" spc="70" dirty="0">
                <a:latin typeface="Arial"/>
                <a:cs typeface="Arial"/>
              </a:rPr>
              <a:t>direita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10" dirty="0">
                <a:latin typeface="Arial"/>
                <a:cs typeface="Arial"/>
              </a:rPr>
              <a:t>depois </a:t>
            </a:r>
            <a:r>
              <a:rPr sz="3200" spc="50" dirty="0">
                <a:latin typeface="Arial"/>
                <a:cs typeface="Arial"/>
              </a:rPr>
              <a:t>7 </a:t>
            </a:r>
            <a:r>
              <a:rPr sz="3200" spc="-10" dirty="0">
                <a:latin typeface="Arial"/>
                <a:cs typeface="Arial"/>
              </a:rPr>
              <a:t>e  </a:t>
            </a:r>
            <a:r>
              <a:rPr sz="3200" spc="45" dirty="0">
                <a:latin typeface="Arial"/>
                <a:cs typeface="Arial"/>
              </a:rPr>
              <a:t>14 </a:t>
            </a:r>
            <a:r>
              <a:rPr sz="3200" spc="-20" dirty="0">
                <a:latin typeface="Arial"/>
                <a:cs typeface="Arial"/>
              </a:rPr>
              <a:t>à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esquerda.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247389"/>
            <a:ext cx="8153400" cy="36106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273040" cy="18364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13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36700"/>
              </a:lnSpc>
              <a:spcBef>
                <a:spcPts val="10"/>
              </a:spcBef>
            </a:pP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15" dirty="0">
                <a:latin typeface="Arial"/>
                <a:cs typeface="Arial"/>
              </a:rPr>
              <a:t>do </a:t>
            </a:r>
            <a:r>
              <a:rPr sz="3200" spc="50" dirty="0">
                <a:latin typeface="Arial"/>
                <a:cs typeface="Arial"/>
              </a:rPr>
              <a:t>7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50" dirty="0">
                <a:latin typeface="Arial"/>
                <a:cs typeface="Arial"/>
              </a:rPr>
              <a:t>14 </a:t>
            </a:r>
            <a:r>
              <a:rPr sz="3200" spc="-20" dirty="0">
                <a:latin typeface="Arial"/>
                <a:cs typeface="Arial"/>
              </a:rPr>
              <a:t>à </a:t>
            </a:r>
            <a:r>
              <a:rPr sz="3200" spc="70" dirty="0">
                <a:latin typeface="Arial"/>
                <a:cs typeface="Arial"/>
              </a:rPr>
              <a:t>direita  </a:t>
            </a: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20" dirty="0">
                <a:latin typeface="Arial"/>
                <a:cs typeface="Arial"/>
              </a:rPr>
              <a:t>de </a:t>
            </a:r>
            <a:r>
              <a:rPr sz="3200" spc="50" dirty="0">
                <a:latin typeface="Arial"/>
                <a:cs typeface="Arial"/>
              </a:rPr>
              <a:t>6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50" dirty="0">
                <a:latin typeface="Arial"/>
                <a:cs typeface="Arial"/>
              </a:rPr>
              <a:t>7 </a:t>
            </a:r>
            <a:r>
              <a:rPr sz="3200" spc="-20" dirty="0">
                <a:latin typeface="Arial"/>
                <a:cs typeface="Arial"/>
              </a:rPr>
              <a:t>à</a:t>
            </a:r>
            <a:r>
              <a:rPr sz="3200" spc="30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esquerda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3400" y="3134360"/>
            <a:ext cx="8172450" cy="37236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017770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12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15" dirty="0">
                <a:latin typeface="Arial"/>
                <a:cs typeface="Arial"/>
              </a:rPr>
              <a:t>da </a:t>
            </a:r>
            <a:r>
              <a:rPr sz="3200" spc="25" dirty="0">
                <a:latin typeface="Arial"/>
                <a:cs typeface="Arial"/>
              </a:rPr>
              <a:t>raiz </a:t>
            </a:r>
            <a:r>
              <a:rPr sz="3200" spc="-20" dirty="0">
                <a:latin typeface="Arial"/>
                <a:cs typeface="Arial"/>
              </a:rPr>
              <a:t>à</a:t>
            </a:r>
            <a:r>
              <a:rPr sz="3200" spc="40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esquerda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04800" y="3285490"/>
            <a:ext cx="8458200" cy="35725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03320" y="259079"/>
            <a:ext cx="2776220" cy="6851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Árvore</a:t>
            </a:r>
            <a:r>
              <a:rPr spc="-70" dirty="0"/>
              <a:t> </a:t>
            </a:r>
            <a:r>
              <a:rPr spc="-330" dirty="0"/>
              <a:t>AVL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9870" y="1339850"/>
            <a:ext cx="5205095" cy="11696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20" dirty="0">
                <a:latin typeface="Arial"/>
                <a:cs typeface="Arial"/>
              </a:rPr>
              <a:t>Inserção </a:t>
            </a:r>
            <a:r>
              <a:rPr sz="3200" spc="10" dirty="0">
                <a:latin typeface="Arial"/>
                <a:cs typeface="Arial"/>
              </a:rPr>
              <a:t>do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11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-50" dirty="0">
                <a:latin typeface="Arial"/>
                <a:cs typeface="Arial"/>
              </a:rPr>
              <a:t>Rotação </a:t>
            </a:r>
            <a:r>
              <a:rPr sz="3200" spc="20" dirty="0">
                <a:latin typeface="Arial"/>
                <a:cs typeface="Arial"/>
              </a:rPr>
              <a:t>de </a:t>
            </a:r>
            <a:r>
              <a:rPr sz="3200" spc="50" dirty="0">
                <a:latin typeface="Arial"/>
                <a:cs typeface="Arial"/>
              </a:rPr>
              <a:t>12 </a:t>
            </a:r>
            <a:r>
              <a:rPr sz="3200" spc="-10" dirty="0">
                <a:latin typeface="Arial"/>
                <a:cs typeface="Arial"/>
              </a:rPr>
              <a:t>e </a:t>
            </a:r>
            <a:r>
              <a:rPr sz="3200" spc="50" dirty="0">
                <a:latin typeface="Arial"/>
                <a:cs typeface="Arial"/>
              </a:rPr>
              <a:t>13 </a:t>
            </a:r>
            <a:r>
              <a:rPr sz="3200" spc="-20" dirty="0">
                <a:latin typeface="Arial"/>
                <a:cs typeface="Arial"/>
              </a:rPr>
              <a:t>à</a:t>
            </a:r>
            <a:r>
              <a:rPr sz="3200" spc="20" dirty="0">
                <a:latin typeface="Arial"/>
                <a:cs typeface="Arial"/>
              </a:rPr>
              <a:t> </a:t>
            </a:r>
            <a:r>
              <a:rPr sz="3200" spc="70" dirty="0">
                <a:latin typeface="Arial"/>
                <a:cs typeface="Arial"/>
              </a:rPr>
              <a:t>direita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2857500"/>
            <a:ext cx="8714740" cy="4000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90470">
              <a:lnSpc>
                <a:spcPct val="100000"/>
              </a:lnSpc>
            </a:pPr>
            <a:r>
              <a:rPr spc="75" dirty="0"/>
              <a:t>Algoritmo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159" y="1418590"/>
            <a:ext cx="13144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0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0730" y="1304290"/>
            <a:ext cx="2709545" cy="3657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40" dirty="0">
                <a:latin typeface="Arial"/>
                <a:cs typeface="Arial"/>
              </a:rPr>
              <a:t>Algoritmo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15" dirty="0">
                <a:latin typeface="Arial"/>
                <a:cs typeface="Arial"/>
              </a:rPr>
              <a:t>recursivo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2010" y="1896109"/>
            <a:ext cx="10541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spc="17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85850" y="1805940"/>
            <a:ext cx="397954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15" dirty="0">
                <a:latin typeface="Arial"/>
                <a:cs typeface="Arial"/>
              </a:rPr>
              <a:t>Inserir </a:t>
            </a:r>
            <a:r>
              <a:rPr sz="1800" spc="5" dirty="0">
                <a:latin typeface="Arial"/>
                <a:cs typeface="Arial"/>
              </a:rPr>
              <a:t>nó </a:t>
            </a:r>
            <a:r>
              <a:rPr sz="1800" spc="15" dirty="0">
                <a:latin typeface="Arial"/>
                <a:cs typeface="Arial"/>
              </a:rPr>
              <a:t>com </a:t>
            </a:r>
            <a:r>
              <a:rPr sz="1800" spc="10" dirty="0">
                <a:latin typeface="Arial"/>
                <a:cs typeface="Arial"/>
              </a:rPr>
              <a:t>chave </a:t>
            </a:r>
            <a:r>
              <a:rPr sz="1800" spc="-95" dirty="0">
                <a:latin typeface="Arial"/>
                <a:cs typeface="Arial"/>
              </a:rPr>
              <a:t>X </a:t>
            </a:r>
            <a:r>
              <a:rPr sz="1800" spc="25" dirty="0">
                <a:latin typeface="Arial"/>
                <a:cs typeface="Arial"/>
              </a:rPr>
              <a:t>numa </a:t>
            </a:r>
            <a:r>
              <a:rPr sz="1800" spc="15" dirty="0">
                <a:latin typeface="Arial"/>
                <a:cs typeface="Arial"/>
              </a:rPr>
              <a:t>árvore</a:t>
            </a:r>
            <a:r>
              <a:rPr sz="1800" spc="65" dirty="0">
                <a:latin typeface="Arial"/>
                <a:cs typeface="Arial"/>
              </a:rPr>
              <a:t> </a:t>
            </a:r>
            <a:r>
              <a:rPr sz="1800" spc="-95" dirty="0">
                <a:latin typeface="Arial"/>
                <a:cs typeface="Arial"/>
              </a:rPr>
              <a:t>A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3800" y="2259329"/>
            <a:ext cx="92075" cy="116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3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3800" y="2569209"/>
            <a:ext cx="92075" cy="116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3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93800" y="2877820"/>
            <a:ext cx="92075" cy="116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3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09700" y="2108199"/>
            <a:ext cx="6786245" cy="1167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708150">
              <a:lnSpc>
                <a:spcPct val="135000"/>
              </a:lnSpc>
            </a:pPr>
            <a:r>
              <a:rPr sz="1500" spc="15" dirty="0">
                <a:latin typeface="Arial"/>
                <a:cs typeface="Arial"/>
              </a:rPr>
              <a:t>recursivamente, </a:t>
            </a:r>
            <a:r>
              <a:rPr sz="1500" spc="20" dirty="0">
                <a:latin typeface="Arial"/>
                <a:cs typeface="Arial"/>
              </a:rPr>
              <a:t>inserir </a:t>
            </a:r>
            <a:r>
              <a:rPr sz="1500" dirty="0">
                <a:latin typeface="Arial"/>
                <a:cs typeface="Arial"/>
              </a:rPr>
              <a:t>na </a:t>
            </a:r>
            <a:r>
              <a:rPr sz="1500" spc="5" dirty="0">
                <a:latin typeface="Arial"/>
                <a:cs typeface="Arial"/>
              </a:rPr>
              <a:t>subárvore </a:t>
            </a:r>
            <a:r>
              <a:rPr sz="1500" spc="15" dirty="0">
                <a:latin typeface="Arial"/>
                <a:cs typeface="Arial"/>
              </a:rPr>
              <a:t>conveniente </a:t>
            </a:r>
            <a:r>
              <a:rPr sz="1500" dirty="0">
                <a:latin typeface="Arial"/>
                <a:cs typeface="Arial"/>
              </a:rPr>
              <a:t>de </a:t>
            </a:r>
            <a:r>
              <a:rPr sz="1500" spc="-40" dirty="0">
                <a:latin typeface="Arial"/>
                <a:cs typeface="Arial"/>
              </a:rPr>
              <a:t>A, </a:t>
            </a:r>
            <a:r>
              <a:rPr sz="1500" spc="-105" dirty="0">
                <a:latin typeface="Arial"/>
                <a:cs typeface="Arial"/>
              </a:rPr>
              <a:t>SA  </a:t>
            </a:r>
            <a:r>
              <a:rPr sz="1500" spc="-30" dirty="0">
                <a:latin typeface="Arial"/>
                <a:cs typeface="Arial"/>
              </a:rPr>
              <a:t>se </a:t>
            </a:r>
            <a:r>
              <a:rPr sz="1500" spc="-10" dirty="0">
                <a:latin typeface="Arial"/>
                <a:cs typeface="Arial"/>
              </a:rPr>
              <a:t>a </a:t>
            </a:r>
            <a:r>
              <a:rPr sz="1500" spc="30" dirty="0">
                <a:latin typeface="Arial"/>
                <a:cs typeface="Arial"/>
              </a:rPr>
              <a:t>altura </a:t>
            </a:r>
            <a:r>
              <a:rPr sz="1500" dirty="0">
                <a:latin typeface="Arial"/>
                <a:cs typeface="Arial"/>
              </a:rPr>
              <a:t>de </a:t>
            </a:r>
            <a:r>
              <a:rPr sz="1500" spc="-110" dirty="0">
                <a:latin typeface="Arial"/>
                <a:cs typeface="Arial"/>
              </a:rPr>
              <a:t>SA </a:t>
            </a:r>
            <a:r>
              <a:rPr sz="1500" dirty="0">
                <a:latin typeface="Arial"/>
                <a:cs typeface="Arial"/>
              </a:rPr>
              <a:t>não </a:t>
            </a:r>
            <a:r>
              <a:rPr sz="1500" spc="-30" dirty="0">
                <a:latin typeface="Arial"/>
                <a:cs typeface="Arial"/>
              </a:rPr>
              <a:t>se </a:t>
            </a:r>
            <a:r>
              <a:rPr sz="1500" spc="25" dirty="0">
                <a:latin typeface="Arial"/>
                <a:cs typeface="Arial"/>
              </a:rPr>
              <a:t>modifica:</a:t>
            </a:r>
            <a:r>
              <a:rPr sz="1500" spc="190" dirty="0">
                <a:latin typeface="Arial"/>
                <a:cs typeface="Arial"/>
              </a:rPr>
              <a:t> </a:t>
            </a:r>
            <a:r>
              <a:rPr sz="1500" spc="35" dirty="0">
                <a:latin typeface="Arial"/>
                <a:cs typeface="Arial"/>
              </a:rPr>
              <a:t>terminar</a:t>
            </a:r>
            <a:endParaRPr sz="1500">
              <a:latin typeface="Arial"/>
              <a:cs typeface="Arial"/>
            </a:endParaRPr>
          </a:p>
          <a:p>
            <a:pPr marL="12700" marR="5080">
              <a:lnSpc>
                <a:spcPts val="1789"/>
              </a:lnSpc>
              <a:spcBef>
                <a:spcPts val="705"/>
              </a:spcBef>
            </a:pPr>
            <a:r>
              <a:rPr sz="1500" spc="-30" dirty="0">
                <a:latin typeface="Arial"/>
                <a:cs typeface="Arial"/>
              </a:rPr>
              <a:t>se </a:t>
            </a:r>
            <a:r>
              <a:rPr sz="1500" spc="-10" dirty="0">
                <a:latin typeface="Arial"/>
                <a:cs typeface="Arial"/>
              </a:rPr>
              <a:t>a </a:t>
            </a:r>
            <a:r>
              <a:rPr sz="1500" spc="30" dirty="0">
                <a:latin typeface="Arial"/>
                <a:cs typeface="Arial"/>
              </a:rPr>
              <a:t>altura </a:t>
            </a:r>
            <a:r>
              <a:rPr sz="1500" dirty="0">
                <a:latin typeface="Arial"/>
                <a:cs typeface="Arial"/>
              </a:rPr>
              <a:t>de </a:t>
            </a:r>
            <a:r>
              <a:rPr sz="1500" spc="-110" dirty="0">
                <a:latin typeface="Arial"/>
                <a:cs typeface="Arial"/>
              </a:rPr>
              <a:t>SA </a:t>
            </a:r>
            <a:r>
              <a:rPr sz="1500" spc="-5" dirty="0">
                <a:latin typeface="Arial"/>
                <a:cs typeface="Arial"/>
              </a:rPr>
              <a:t>é </a:t>
            </a:r>
            <a:r>
              <a:rPr sz="1500" spc="20" dirty="0">
                <a:latin typeface="Arial"/>
                <a:cs typeface="Arial"/>
              </a:rPr>
              <a:t>modificada: </a:t>
            </a:r>
            <a:r>
              <a:rPr sz="1500" spc="-30" dirty="0">
                <a:latin typeface="Arial"/>
                <a:cs typeface="Arial"/>
              </a:rPr>
              <a:t>se </a:t>
            </a:r>
            <a:r>
              <a:rPr sz="1500" dirty="0">
                <a:latin typeface="Arial"/>
                <a:cs typeface="Arial"/>
              </a:rPr>
              <a:t>ocorre </a:t>
            </a:r>
            <a:r>
              <a:rPr sz="1500" spc="5" dirty="0">
                <a:latin typeface="Arial"/>
                <a:cs typeface="Arial"/>
              </a:rPr>
              <a:t>desequilíbrio </a:t>
            </a:r>
            <a:r>
              <a:rPr sz="1500" spc="25" dirty="0">
                <a:latin typeface="Arial"/>
                <a:cs typeface="Arial"/>
              </a:rPr>
              <a:t>em </a:t>
            </a:r>
            <a:r>
              <a:rPr sz="1500" spc="-40" dirty="0">
                <a:latin typeface="Arial"/>
                <a:cs typeface="Arial"/>
              </a:rPr>
              <a:t>A, </a:t>
            </a:r>
            <a:r>
              <a:rPr sz="1500" spc="5" dirty="0">
                <a:latin typeface="Arial"/>
                <a:cs typeface="Arial"/>
              </a:rPr>
              <a:t>fazer </a:t>
            </a:r>
            <a:r>
              <a:rPr sz="1500" spc="-30" dirty="0">
                <a:latin typeface="Arial"/>
                <a:cs typeface="Arial"/>
              </a:rPr>
              <a:t>as </a:t>
            </a:r>
            <a:r>
              <a:rPr sz="1500" dirty="0">
                <a:latin typeface="Arial"/>
                <a:cs typeface="Arial"/>
              </a:rPr>
              <a:t>rotações  </a:t>
            </a:r>
            <a:r>
              <a:rPr sz="1500" spc="-10" dirty="0">
                <a:latin typeface="Arial"/>
                <a:cs typeface="Arial"/>
              </a:rPr>
              <a:t>necessárias </a:t>
            </a:r>
            <a:r>
              <a:rPr sz="1500" spc="10" dirty="0">
                <a:latin typeface="Arial"/>
                <a:cs typeface="Arial"/>
              </a:rPr>
              <a:t>para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20" dirty="0">
                <a:latin typeface="Arial"/>
                <a:cs typeface="Arial"/>
              </a:rPr>
              <a:t>reequilibrar</a:t>
            </a:r>
            <a:endParaRPr sz="15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2010" y="3434079"/>
            <a:ext cx="10541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spc="17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5850" y="3343909"/>
            <a:ext cx="2428240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10" dirty="0">
                <a:latin typeface="Arial"/>
                <a:cs typeface="Arial"/>
              </a:rPr>
              <a:t>Comparação </a:t>
            </a:r>
            <a:r>
              <a:rPr sz="1800" spc="5" dirty="0">
                <a:latin typeface="Arial"/>
                <a:cs typeface="Arial"/>
              </a:rPr>
              <a:t>de</a:t>
            </a:r>
            <a:r>
              <a:rPr sz="1800" spc="-10" dirty="0">
                <a:latin typeface="Arial"/>
                <a:cs typeface="Arial"/>
              </a:rPr>
              <a:t> </a:t>
            </a:r>
            <a:r>
              <a:rPr sz="1800" spc="25" dirty="0">
                <a:latin typeface="Arial"/>
                <a:cs typeface="Arial"/>
              </a:rPr>
              <a:t>alturas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3800" y="3797300"/>
            <a:ext cx="92075" cy="1168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650" spc="13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6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09700" y="3726179"/>
            <a:ext cx="7059295" cy="4705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1500" spc="10" dirty="0">
                <a:latin typeface="Arial"/>
                <a:cs typeface="Arial"/>
              </a:rPr>
              <a:t>para </a:t>
            </a:r>
            <a:r>
              <a:rPr sz="1500" spc="35" dirty="0">
                <a:latin typeface="Arial"/>
                <a:cs typeface="Arial"/>
              </a:rPr>
              <a:t>evitar </a:t>
            </a:r>
            <a:r>
              <a:rPr sz="1500" spc="-10" dirty="0">
                <a:latin typeface="Arial"/>
                <a:cs typeface="Arial"/>
              </a:rPr>
              <a:t>o </a:t>
            </a:r>
            <a:r>
              <a:rPr sz="1500" spc="5" dirty="0">
                <a:latin typeface="Arial"/>
                <a:cs typeface="Arial"/>
              </a:rPr>
              <a:t>cálculo </a:t>
            </a:r>
            <a:r>
              <a:rPr sz="1500" spc="20" dirty="0">
                <a:latin typeface="Arial"/>
                <a:cs typeface="Arial"/>
              </a:rPr>
              <a:t>repetido </a:t>
            </a:r>
            <a:r>
              <a:rPr sz="1500" dirty="0">
                <a:latin typeface="Arial"/>
                <a:cs typeface="Arial"/>
              </a:rPr>
              <a:t>de </a:t>
            </a:r>
            <a:r>
              <a:rPr sz="1500" spc="20" dirty="0">
                <a:latin typeface="Arial"/>
                <a:cs typeface="Arial"/>
              </a:rPr>
              <a:t>alturas </a:t>
            </a:r>
            <a:r>
              <a:rPr sz="1500" spc="5" dirty="0">
                <a:latin typeface="Arial"/>
                <a:cs typeface="Arial"/>
              </a:rPr>
              <a:t>de </a:t>
            </a:r>
            <a:r>
              <a:rPr sz="1500" dirty="0">
                <a:latin typeface="Arial"/>
                <a:cs typeface="Arial"/>
              </a:rPr>
              <a:t>sub-árvores, </a:t>
            </a:r>
            <a:r>
              <a:rPr sz="1500" spc="-10" dirty="0">
                <a:latin typeface="Arial"/>
                <a:cs typeface="Arial"/>
              </a:rPr>
              <a:t>pode-se </a:t>
            </a:r>
            <a:r>
              <a:rPr sz="1500" spc="35" dirty="0">
                <a:latin typeface="Arial"/>
                <a:cs typeface="Arial"/>
              </a:rPr>
              <a:t>manter </a:t>
            </a:r>
            <a:r>
              <a:rPr sz="1500" spc="25" dirty="0">
                <a:latin typeface="Arial"/>
                <a:cs typeface="Arial"/>
              </a:rPr>
              <a:t>em </a:t>
            </a:r>
            <a:r>
              <a:rPr sz="1500" spc="-5" dirty="0">
                <a:latin typeface="Arial"/>
                <a:cs typeface="Arial"/>
              </a:rPr>
              <a:t>cada  </a:t>
            </a:r>
            <a:r>
              <a:rPr sz="1500" dirty="0">
                <a:latin typeface="Arial"/>
                <a:cs typeface="Arial"/>
              </a:rPr>
              <a:t>nó </a:t>
            </a:r>
            <a:r>
              <a:rPr sz="1500" spc="-10" dirty="0">
                <a:latin typeface="Arial"/>
                <a:cs typeface="Arial"/>
              </a:rPr>
              <a:t>o </a:t>
            </a:r>
            <a:r>
              <a:rPr sz="1500" spc="10" dirty="0">
                <a:latin typeface="Arial"/>
                <a:cs typeface="Arial"/>
              </a:rPr>
              <a:t>resultado </a:t>
            </a:r>
            <a:r>
              <a:rPr sz="1500" dirty="0">
                <a:latin typeface="Arial"/>
                <a:cs typeface="Arial"/>
              </a:rPr>
              <a:t>da </a:t>
            </a:r>
            <a:r>
              <a:rPr sz="1500" spc="5" dirty="0">
                <a:latin typeface="Arial"/>
                <a:cs typeface="Arial"/>
              </a:rPr>
              <a:t>comparação </a:t>
            </a:r>
            <a:r>
              <a:rPr sz="1500" spc="-15" dirty="0">
                <a:latin typeface="Arial"/>
                <a:cs typeface="Arial"/>
              </a:rPr>
              <a:t>das </a:t>
            </a:r>
            <a:r>
              <a:rPr sz="1500" spc="20" dirty="0">
                <a:latin typeface="Arial"/>
                <a:cs typeface="Arial"/>
              </a:rPr>
              <a:t>alturas </a:t>
            </a:r>
            <a:r>
              <a:rPr sz="1500" spc="-15" dirty="0">
                <a:latin typeface="Arial"/>
                <a:cs typeface="Arial"/>
              </a:rPr>
              <a:t>das</a:t>
            </a:r>
            <a:r>
              <a:rPr sz="1500" spc="7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sub-árvores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159" y="4377690"/>
            <a:ext cx="13144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0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0730" y="4263390"/>
            <a:ext cx="2595880" cy="3797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400" spc="40" dirty="0">
                <a:latin typeface="Arial"/>
                <a:cs typeface="Arial"/>
              </a:rPr>
              <a:t>Algoritmo</a:t>
            </a:r>
            <a:r>
              <a:rPr sz="2400" spc="-45" dirty="0">
                <a:latin typeface="Arial"/>
                <a:cs typeface="Arial"/>
              </a:rPr>
              <a:t> </a:t>
            </a:r>
            <a:r>
              <a:rPr sz="2400" spc="65" dirty="0">
                <a:latin typeface="Arial"/>
                <a:cs typeface="Arial"/>
              </a:rPr>
              <a:t>iterativo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2010" y="4853940"/>
            <a:ext cx="105410" cy="133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750" spc="17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7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85850" y="4763770"/>
            <a:ext cx="5454015" cy="287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5" dirty="0">
                <a:latin typeface="Arial"/>
                <a:cs typeface="Arial"/>
              </a:rPr>
              <a:t>Especificar </a:t>
            </a:r>
            <a:r>
              <a:rPr sz="1800" spc="10" dirty="0">
                <a:latin typeface="Arial"/>
                <a:cs typeface="Arial"/>
              </a:rPr>
              <a:t>parada logo </a:t>
            </a:r>
            <a:r>
              <a:rPr sz="1800" spc="15" dirty="0">
                <a:latin typeface="Arial"/>
                <a:cs typeface="Arial"/>
              </a:rPr>
              <a:t>que </a:t>
            </a:r>
            <a:r>
              <a:rPr sz="1800" spc="25" dirty="0">
                <a:latin typeface="Arial"/>
                <a:cs typeface="Arial"/>
              </a:rPr>
              <a:t>uma </a:t>
            </a:r>
            <a:r>
              <a:rPr sz="1800" spc="10" dirty="0">
                <a:latin typeface="Arial"/>
                <a:cs typeface="Arial"/>
              </a:rPr>
              <a:t>rotação </a:t>
            </a:r>
            <a:r>
              <a:rPr sz="1800" spc="-5" dirty="0">
                <a:latin typeface="Arial"/>
                <a:cs typeface="Arial"/>
              </a:rPr>
              <a:t>é</a:t>
            </a:r>
            <a:r>
              <a:rPr sz="1800" spc="50" dirty="0">
                <a:latin typeface="Arial"/>
                <a:cs typeface="Arial"/>
              </a:rPr>
              <a:t> </a:t>
            </a:r>
            <a:r>
              <a:rPr sz="1800" spc="5" dirty="0">
                <a:latin typeface="Arial"/>
                <a:cs typeface="Arial"/>
              </a:rPr>
              <a:t>realizada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18159" y="5260340"/>
            <a:ext cx="131445" cy="1803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200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0730" y="5146040"/>
            <a:ext cx="7729855" cy="14757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2400" spc="-60" dirty="0">
                <a:latin typeface="Arial"/>
                <a:cs typeface="Arial"/>
              </a:rPr>
              <a:t>Na </a:t>
            </a:r>
            <a:r>
              <a:rPr sz="2400" spc="40" dirty="0">
                <a:latin typeface="Arial"/>
                <a:cs typeface="Arial"/>
              </a:rPr>
              <a:t>prática, </a:t>
            </a:r>
            <a:r>
              <a:rPr sz="2400" spc="-40" dirty="0">
                <a:latin typeface="Arial"/>
                <a:cs typeface="Arial"/>
              </a:rPr>
              <a:t>são </a:t>
            </a:r>
            <a:r>
              <a:rPr sz="2400" spc="-25" dirty="0">
                <a:latin typeface="Arial"/>
                <a:cs typeface="Arial"/>
              </a:rPr>
              <a:t>usadas </a:t>
            </a:r>
            <a:r>
              <a:rPr sz="2400" spc="30" dirty="0">
                <a:latin typeface="Arial"/>
                <a:cs typeface="Arial"/>
              </a:rPr>
              <a:t>outras </a:t>
            </a:r>
            <a:r>
              <a:rPr sz="2400" spc="10" dirty="0">
                <a:latin typeface="Arial"/>
                <a:cs typeface="Arial"/>
              </a:rPr>
              <a:t>árvores </a:t>
            </a:r>
            <a:r>
              <a:rPr sz="2400" spc="20" dirty="0">
                <a:latin typeface="Arial"/>
                <a:cs typeface="Arial"/>
              </a:rPr>
              <a:t>binárias  </a:t>
            </a:r>
            <a:r>
              <a:rPr sz="2400" spc="25" dirty="0">
                <a:latin typeface="Arial"/>
                <a:cs typeface="Arial"/>
              </a:rPr>
              <a:t>equilibradas </a:t>
            </a:r>
            <a:r>
              <a:rPr sz="2400" spc="15" dirty="0">
                <a:latin typeface="Arial"/>
                <a:cs typeface="Arial"/>
              </a:rPr>
              <a:t>(como </a:t>
            </a:r>
            <a:r>
              <a:rPr sz="2400" spc="-50" dirty="0">
                <a:latin typeface="Arial"/>
                <a:cs typeface="Arial"/>
              </a:rPr>
              <a:t>as </a:t>
            </a:r>
            <a:r>
              <a:rPr sz="2400" spc="10" dirty="0">
                <a:latin typeface="Arial"/>
                <a:cs typeface="Arial"/>
              </a:rPr>
              <a:t>árvores </a:t>
            </a:r>
            <a:r>
              <a:rPr sz="2400" spc="35" dirty="0">
                <a:latin typeface="Arial"/>
                <a:cs typeface="Arial"/>
              </a:rPr>
              <a:t>vermelho-preto) </a:t>
            </a:r>
            <a:r>
              <a:rPr sz="2400" spc="50" dirty="0">
                <a:latin typeface="Arial"/>
                <a:cs typeface="Arial"/>
              </a:rPr>
              <a:t>em </a:t>
            </a:r>
            <a:r>
              <a:rPr sz="2400" spc="15" dirty="0">
                <a:latin typeface="Arial"/>
                <a:cs typeface="Arial"/>
              </a:rPr>
              <a:t>que  </a:t>
            </a:r>
            <a:r>
              <a:rPr sz="2400" spc="-15" dirty="0">
                <a:latin typeface="Arial"/>
                <a:cs typeface="Arial"/>
              </a:rPr>
              <a:t>a </a:t>
            </a:r>
            <a:r>
              <a:rPr sz="2400" dirty="0">
                <a:latin typeface="Arial"/>
                <a:cs typeface="Arial"/>
              </a:rPr>
              <a:t>inserção </a:t>
            </a:r>
            <a:r>
              <a:rPr sz="2400" spc="5" dirty="0">
                <a:latin typeface="Arial"/>
                <a:cs typeface="Arial"/>
              </a:rPr>
              <a:t>ou remoção </a:t>
            </a:r>
            <a:r>
              <a:rPr sz="2400" spc="-10" dirty="0">
                <a:latin typeface="Arial"/>
                <a:cs typeface="Arial"/>
              </a:rPr>
              <a:t>e </a:t>
            </a:r>
            <a:r>
              <a:rPr sz="2400" spc="-15" dirty="0">
                <a:latin typeface="Arial"/>
                <a:cs typeface="Arial"/>
              </a:rPr>
              <a:t>a </a:t>
            </a:r>
            <a:r>
              <a:rPr sz="2400" spc="15" dirty="0">
                <a:latin typeface="Arial"/>
                <a:cs typeface="Arial"/>
              </a:rPr>
              <a:t>correspondente </a:t>
            </a:r>
            <a:r>
              <a:rPr sz="2400" spc="-5" dirty="0">
                <a:latin typeface="Arial"/>
                <a:cs typeface="Arial"/>
              </a:rPr>
              <a:t>reposição </a:t>
            </a:r>
            <a:r>
              <a:rPr sz="2400" spc="5" dirty="0">
                <a:latin typeface="Arial"/>
                <a:cs typeface="Arial"/>
              </a:rPr>
              <a:t>do  </a:t>
            </a:r>
            <a:r>
              <a:rPr sz="2400" spc="25" dirty="0">
                <a:latin typeface="Arial"/>
                <a:cs typeface="Arial"/>
              </a:rPr>
              <a:t>equilíbrio </a:t>
            </a:r>
            <a:r>
              <a:rPr sz="2400" spc="5" dirty="0">
                <a:latin typeface="Arial"/>
                <a:cs typeface="Arial"/>
              </a:rPr>
              <a:t>pode </a:t>
            </a:r>
            <a:r>
              <a:rPr sz="2400" dirty="0">
                <a:latin typeface="Arial"/>
                <a:cs typeface="Arial"/>
              </a:rPr>
              <a:t>ser </a:t>
            </a:r>
            <a:r>
              <a:rPr sz="2400" spc="60" dirty="0">
                <a:latin typeface="Arial"/>
                <a:cs typeface="Arial"/>
              </a:rPr>
              <a:t>feito </a:t>
            </a:r>
            <a:r>
              <a:rPr sz="2400" spc="15" dirty="0">
                <a:latin typeface="Arial"/>
                <a:cs typeface="Arial"/>
              </a:rPr>
              <a:t>mais</a:t>
            </a:r>
            <a:r>
              <a:rPr sz="2400" spc="20" dirty="0">
                <a:latin typeface="Arial"/>
                <a:cs typeface="Arial"/>
              </a:rPr>
              <a:t> </a:t>
            </a:r>
            <a:r>
              <a:rPr sz="2400" spc="45" dirty="0">
                <a:latin typeface="Arial"/>
                <a:cs typeface="Arial"/>
              </a:rPr>
              <a:t>eficientemente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316480">
              <a:lnSpc>
                <a:spcPct val="100000"/>
              </a:lnSpc>
            </a:pPr>
            <a:r>
              <a:rPr spc="95" dirty="0"/>
              <a:t>Importante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830" y="1418590"/>
            <a:ext cx="17081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26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4830" y="3060700"/>
            <a:ext cx="17081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26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8680" y="1305559"/>
            <a:ext cx="7408545" cy="3103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9270" algn="just">
              <a:lnSpc>
                <a:spcPct val="100000"/>
              </a:lnSpc>
            </a:pPr>
            <a:r>
              <a:rPr sz="3200" spc="-90" dirty="0">
                <a:latin typeface="Arial"/>
                <a:cs typeface="Arial"/>
              </a:rPr>
              <a:t>Na </a:t>
            </a:r>
            <a:r>
              <a:rPr sz="3200" dirty="0">
                <a:latin typeface="Arial"/>
                <a:cs typeface="Arial"/>
              </a:rPr>
              <a:t>inserção, </a:t>
            </a:r>
            <a:r>
              <a:rPr sz="3200" spc="-45" dirty="0">
                <a:latin typeface="Arial"/>
                <a:cs typeface="Arial"/>
              </a:rPr>
              <a:t>caso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35" dirty="0">
                <a:latin typeface="Arial"/>
                <a:cs typeface="Arial"/>
              </a:rPr>
              <a:t>árvore </a:t>
            </a:r>
            <a:r>
              <a:rPr sz="3200" spc="-245" dirty="0">
                <a:latin typeface="Arial"/>
                <a:cs typeface="Arial"/>
              </a:rPr>
              <a:t>AVL </a:t>
            </a:r>
            <a:r>
              <a:rPr sz="3200" spc="30" dirty="0">
                <a:latin typeface="Arial"/>
                <a:cs typeface="Arial"/>
              </a:rPr>
              <a:t>esteja  </a:t>
            </a:r>
            <a:r>
              <a:rPr sz="3200" spc="5" dirty="0">
                <a:latin typeface="Arial"/>
                <a:cs typeface="Arial"/>
              </a:rPr>
              <a:t>desbalanceada, </a:t>
            </a:r>
            <a:r>
              <a:rPr sz="3200" spc="25" dirty="0">
                <a:latin typeface="Arial"/>
                <a:cs typeface="Arial"/>
              </a:rPr>
              <a:t>basta </a:t>
            </a:r>
            <a:r>
              <a:rPr sz="3200" spc="50" dirty="0">
                <a:latin typeface="Arial"/>
                <a:cs typeface="Arial"/>
              </a:rPr>
              <a:t>1 </a:t>
            </a:r>
            <a:r>
              <a:rPr sz="3200" spc="5" dirty="0">
                <a:latin typeface="Arial"/>
                <a:cs typeface="Arial"/>
              </a:rPr>
              <a:t>operação </a:t>
            </a:r>
            <a:r>
              <a:rPr sz="3200" spc="20" dirty="0">
                <a:latin typeface="Arial"/>
                <a:cs typeface="Arial"/>
              </a:rPr>
              <a:t>de  </a:t>
            </a:r>
            <a:r>
              <a:rPr sz="3200" spc="25" dirty="0">
                <a:latin typeface="Arial"/>
                <a:cs typeface="Arial"/>
              </a:rPr>
              <a:t>rotação </a:t>
            </a:r>
            <a:r>
              <a:rPr sz="3200" spc="30" dirty="0">
                <a:latin typeface="Arial"/>
                <a:cs typeface="Arial"/>
              </a:rPr>
              <a:t>para</a:t>
            </a:r>
            <a:r>
              <a:rPr sz="3200" spc="5" dirty="0">
                <a:latin typeface="Arial"/>
                <a:cs typeface="Arial"/>
              </a:rPr>
              <a:t> </a:t>
            </a:r>
            <a:r>
              <a:rPr sz="3200" spc="10" dirty="0">
                <a:latin typeface="Arial"/>
                <a:cs typeface="Arial"/>
              </a:rPr>
              <a:t>rebalanceá-la.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20"/>
              </a:spcBef>
            </a:pPr>
            <a:r>
              <a:rPr sz="3200" spc="-90" dirty="0">
                <a:latin typeface="Arial"/>
                <a:cs typeface="Arial"/>
              </a:rPr>
              <a:t>Na </a:t>
            </a:r>
            <a:r>
              <a:rPr sz="3200" spc="15" dirty="0">
                <a:latin typeface="Arial"/>
                <a:cs typeface="Arial"/>
              </a:rPr>
              <a:t>remoção, </a:t>
            </a:r>
            <a:r>
              <a:rPr sz="3200" spc="-45" dirty="0">
                <a:latin typeface="Arial"/>
                <a:cs typeface="Arial"/>
              </a:rPr>
              <a:t>caso </a:t>
            </a:r>
            <a:r>
              <a:rPr sz="3200" spc="-20" dirty="0">
                <a:latin typeface="Arial"/>
                <a:cs typeface="Arial"/>
              </a:rPr>
              <a:t>a </a:t>
            </a:r>
            <a:r>
              <a:rPr sz="3200" spc="35" dirty="0">
                <a:latin typeface="Arial"/>
                <a:cs typeface="Arial"/>
              </a:rPr>
              <a:t>árvore </a:t>
            </a:r>
            <a:r>
              <a:rPr sz="3200" spc="30" dirty="0">
                <a:latin typeface="Arial"/>
                <a:cs typeface="Arial"/>
              </a:rPr>
              <a:t>esteja  </a:t>
            </a:r>
            <a:r>
              <a:rPr sz="3200" spc="5" dirty="0">
                <a:latin typeface="Arial"/>
                <a:cs typeface="Arial"/>
              </a:rPr>
              <a:t>desbalanceada, </a:t>
            </a:r>
            <a:r>
              <a:rPr sz="3200" spc="15" dirty="0">
                <a:latin typeface="Arial"/>
                <a:cs typeface="Arial"/>
              </a:rPr>
              <a:t>pode </a:t>
            </a:r>
            <a:r>
              <a:rPr sz="3200" dirty="0">
                <a:latin typeface="Arial"/>
                <a:cs typeface="Arial"/>
              </a:rPr>
              <a:t>ser </a:t>
            </a:r>
            <a:r>
              <a:rPr sz="3200" spc="-5" dirty="0">
                <a:latin typeface="Arial"/>
                <a:cs typeface="Arial"/>
              </a:rPr>
              <a:t>necessário </a:t>
            </a:r>
            <a:r>
              <a:rPr sz="3200" spc="65" dirty="0">
                <a:latin typeface="Arial"/>
                <a:cs typeface="Arial"/>
              </a:rPr>
              <a:t>até  </a:t>
            </a:r>
            <a:r>
              <a:rPr sz="3200" spc="45" dirty="0">
                <a:latin typeface="Arial"/>
                <a:cs typeface="Arial"/>
              </a:rPr>
              <a:t>log(n) </a:t>
            </a:r>
            <a:r>
              <a:rPr sz="3200" spc="-5" dirty="0">
                <a:latin typeface="Arial"/>
                <a:cs typeface="Arial"/>
              </a:rPr>
              <a:t>operações </a:t>
            </a:r>
            <a:r>
              <a:rPr sz="3200" spc="20" dirty="0">
                <a:latin typeface="Arial"/>
                <a:cs typeface="Arial"/>
              </a:rPr>
              <a:t>de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15" dirty="0">
                <a:latin typeface="Arial"/>
                <a:cs typeface="Arial"/>
              </a:rPr>
              <a:t>rotação.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20750" y="320040"/>
            <a:ext cx="7291070" cy="1341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05230" marR="5080" indent="-1192530">
              <a:lnSpc>
                <a:spcPct val="100000"/>
              </a:lnSpc>
            </a:pPr>
            <a:r>
              <a:rPr spc="-70" dirty="0"/>
              <a:t>Como </a:t>
            </a:r>
            <a:r>
              <a:rPr spc="35" dirty="0"/>
              <a:t>descobrir </a:t>
            </a:r>
            <a:r>
              <a:rPr spc="50" dirty="0"/>
              <a:t>qual </a:t>
            </a:r>
            <a:r>
              <a:rPr spc="35" dirty="0"/>
              <a:t>rotação  </a:t>
            </a:r>
            <a:r>
              <a:rPr spc="40" dirty="0"/>
              <a:t>deve </a:t>
            </a:r>
            <a:r>
              <a:rPr dirty="0"/>
              <a:t>ser</a:t>
            </a:r>
            <a:r>
              <a:rPr spc="-25" dirty="0"/>
              <a:t> realizada?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4830" y="1958340"/>
            <a:ext cx="170815" cy="2438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450" spc="265" dirty="0">
                <a:solidFill>
                  <a:srgbClr val="3B3B3B"/>
                </a:solidFill>
                <a:latin typeface="Calibri"/>
                <a:cs typeface="Calibri"/>
              </a:rPr>
              <a:t>●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8680" y="1845309"/>
            <a:ext cx="7348220" cy="9753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sz="3200" spc="-90" dirty="0">
                <a:latin typeface="Arial"/>
                <a:cs typeface="Arial"/>
              </a:rPr>
              <a:t>Processo </a:t>
            </a:r>
            <a:r>
              <a:rPr sz="3200" spc="20" dirty="0">
                <a:latin typeface="Arial"/>
                <a:cs typeface="Arial"/>
              </a:rPr>
              <a:t>simples </a:t>
            </a:r>
            <a:r>
              <a:rPr sz="3200" spc="10" dirty="0">
                <a:latin typeface="Arial"/>
                <a:cs typeface="Arial"/>
              </a:rPr>
              <a:t>(supondo </a:t>
            </a:r>
            <a:r>
              <a:rPr sz="3200" spc="25" dirty="0">
                <a:latin typeface="Arial"/>
                <a:cs typeface="Arial"/>
              </a:rPr>
              <a:t>que </a:t>
            </a:r>
            <a:r>
              <a:rPr sz="3200" spc="-5" dirty="0">
                <a:latin typeface="Arial"/>
                <a:cs typeface="Arial"/>
              </a:rPr>
              <a:t>cada </a:t>
            </a:r>
            <a:r>
              <a:rPr sz="3200" spc="10" dirty="0">
                <a:latin typeface="Arial"/>
                <a:cs typeface="Arial"/>
              </a:rPr>
              <a:t>nó  </a:t>
            </a:r>
            <a:r>
              <a:rPr sz="3200" spc="25" dirty="0">
                <a:latin typeface="Arial"/>
                <a:cs typeface="Arial"/>
              </a:rPr>
              <a:t>guarda </a:t>
            </a:r>
            <a:r>
              <a:rPr sz="3200" spc="-25" dirty="0">
                <a:latin typeface="Arial"/>
                <a:cs typeface="Arial"/>
              </a:rPr>
              <a:t>seu </a:t>
            </a:r>
            <a:r>
              <a:rPr sz="3200" spc="85" dirty="0">
                <a:latin typeface="Arial"/>
                <a:cs typeface="Arial"/>
              </a:rPr>
              <a:t>fator </a:t>
            </a:r>
            <a:r>
              <a:rPr sz="3200" spc="20" dirty="0">
                <a:latin typeface="Arial"/>
                <a:cs typeface="Arial"/>
              </a:rPr>
              <a:t>de</a:t>
            </a:r>
            <a:r>
              <a:rPr sz="3200" spc="-55" dirty="0">
                <a:latin typeface="Arial"/>
                <a:cs typeface="Arial"/>
              </a:rPr>
              <a:t> </a:t>
            </a:r>
            <a:r>
              <a:rPr sz="3200" spc="40" dirty="0">
                <a:latin typeface="Arial"/>
                <a:cs typeface="Arial"/>
              </a:rPr>
              <a:t>balanceamento):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37310" y="3067050"/>
            <a:ext cx="574040" cy="3022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void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3110" y="3088385"/>
            <a:ext cx="5238115" cy="3131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560705" marR="5080" indent="-548640">
              <a:lnSpc>
                <a:spcPts val="2039"/>
              </a:lnSpc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AVLTree&lt;tipo&gt;::balanceia(Celula *&amp;x) </a:t>
            </a: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{ 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if (x-&gt;b == 2)</a:t>
            </a:r>
            <a:r>
              <a:rPr sz="1800" b="1" spc="-8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{</a:t>
            </a:r>
            <a:endParaRPr sz="1800">
              <a:latin typeface="Courier New"/>
              <a:cs typeface="Courier New"/>
            </a:endParaRPr>
          </a:p>
          <a:p>
            <a:pPr marL="1521460" marR="1102360" indent="-548640">
              <a:lnSpc>
                <a:spcPts val="2039"/>
              </a:lnSpc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if (x-&gt;esq-&gt;b == -1)  rotateLeft(x-&gt;esq);</a:t>
            </a:r>
            <a:endParaRPr sz="1800">
              <a:latin typeface="Courier New"/>
              <a:cs typeface="Courier New"/>
            </a:endParaRPr>
          </a:p>
          <a:p>
            <a:pPr marL="972819">
              <a:lnSpc>
                <a:spcPts val="1930"/>
              </a:lnSpc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rotateRight(x);</a:t>
            </a:r>
            <a:endParaRPr sz="1800">
              <a:latin typeface="Courier New"/>
              <a:cs typeface="Courier New"/>
            </a:endParaRPr>
          </a:p>
          <a:p>
            <a:pPr marL="560705">
              <a:lnSpc>
                <a:spcPts val="2039"/>
              </a:lnSpc>
            </a:pP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46505" marR="1376680" indent="-685800">
              <a:lnSpc>
                <a:spcPts val="2039"/>
              </a:lnSpc>
              <a:spcBef>
                <a:spcPts val="105"/>
              </a:spcBef>
              <a:tabLst>
                <a:tab pos="3441065" algn="l"/>
              </a:tabLst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else if (x-&gt;b</a:t>
            </a:r>
            <a:r>
              <a:rPr sz="1800" b="1" spc="78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==</a:t>
            </a:r>
            <a:r>
              <a:rPr sz="1800" b="1" spc="254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-2)	</a:t>
            </a: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{ 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if (x-&gt;dir-&gt;b ==</a:t>
            </a:r>
            <a:r>
              <a:rPr sz="1800" b="1" spc="-8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1)</a:t>
            </a:r>
            <a:endParaRPr sz="1800">
              <a:latin typeface="Courier New"/>
              <a:cs typeface="Courier New"/>
            </a:endParaRPr>
          </a:p>
          <a:p>
            <a:pPr marL="1246505" marR="690880" indent="548640">
              <a:lnSpc>
                <a:spcPts val="2039"/>
              </a:lnSpc>
              <a:spcBef>
                <a:spcPts val="10"/>
              </a:spcBef>
            </a:pPr>
            <a:r>
              <a:rPr sz="1800" b="1" spc="-5" dirty="0">
                <a:solidFill>
                  <a:srgbClr val="3B3B3B"/>
                </a:solidFill>
                <a:latin typeface="Courier New"/>
                <a:cs typeface="Courier New"/>
              </a:rPr>
              <a:t>rotateRight(x-&gt;dir);  rotateLeft(x);</a:t>
            </a:r>
            <a:endParaRPr sz="1800">
              <a:latin typeface="Courier New"/>
              <a:cs typeface="Courier New"/>
            </a:endParaRPr>
          </a:p>
          <a:p>
            <a:pPr marL="560705">
              <a:lnSpc>
                <a:spcPts val="1930"/>
              </a:lnSpc>
            </a:pP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ts val="2100"/>
              </a:lnSpc>
            </a:pPr>
            <a:r>
              <a:rPr sz="1800" b="1" dirty="0">
                <a:solidFill>
                  <a:srgbClr val="3B3B3B"/>
                </a:solidFill>
                <a:latin typeface="Courier New"/>
                <a:cs typeface="Courier New"/>
              </a:rPr>
              <a:t>}</a:t>
            </a:r>
            <a:endParaRPr sz="18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462530">
              <a:lnSpc>
                <a:spcPct val="100000"/>
              </a:lnSpc>
            </a:pPr>
            <a:r>
              <a:rPr spc="-65" dirty="0"/>
              <a:t>Exercícios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464208"/>
            <a:ext cx="7675880" cy="31724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1094105">
              <a:lnSpc>
                <a:spcPct val="137000"/>
              </a:lnSpc>
            </a:pPr>
            <a:r>
              <a:rPr sz="3200" spc="25" dirty="0">
                <a:latin typeface="Arial"/>
                <a:cs typeface="Arial"/>
              </a:rPr>
              <a:t>Construir </a:t>
            </a:r>
            <a:r>
              <a:rPr sz="3200" spc="50" dirty="0">
                <a:latin typeface="Arial"/>
                <a:cs typeface="Arial"/>
              </a:rPr>
              <a:t>uma </a:t>
            </a:r>
            <a:r>
              <a:rPr sz="3200" spc="-240" dirty="0">
                <a:latin typeface="Arial"/>
                <a:cs typeface="Arial"/>
              </a:rPr>
              <a:t>AVL </a:t>
            </a:r>
            <a:r>
              <a:rPr sz="3200" spc="30" dirty="0">
                <a:latin typeface="Arial"/>
                <a:cs typeface="Arial"/>
              </a:rPr>
              <a:t>com </a:t>
            </a:r>
            <a:r>
              <a:rPr sz="3200" spc="-60" dirty="0">
                <a:latin typeface="Arial"/>
                <a:cs typeface="Arial"/>
              </a:rPr>
              <a:t>as </a:t>
            </a:r>
            <a:r>
              <a:rPr sz="3200" spc="5" dirty="0">
                <a:latin typeface="Arial"/>
                <a:cs typeface="Arial"/>
              </a:rPr>
              <a:t>chaves:  </a:t>
            </a:r>
            <a:r>
              <a:rPr sz="3200" spc="45" dirty="0">
                <a:latin typeface="Arial"/>
                <a:cs typeface="Arial"/>
              </a:rPr>
              <a:t>(10, </a:t>
            </a:r>
            <a:r>
              <a:rPr sz="3200" spc="40" dirty="0">
                <a:latin typeface="Arial"/>
                <a:cs typeface="Arial"/>
              </a:rPr>
              <a:t>20, 30, </a:t>
            </a:r>
            <a:r>
              <a:rPr sz="3200" spc="35" dirty="0">
                <a:latin typeface="Arial"/>
                <a:cs typeface="Arial"/>
              </a:rPr>
              <a:t>5, 3, </a:t>
            </a:r>
            <a:r>
              <a:rPr sz="3200" spc="40" dirty="0">
                <a:latin typeface="Arial"/>
                <a:cs typeface="Arial"/>
              </a:rPr>
              <a:t>50, 40, 70, </a:t>
            </a:r>
            <a:r>
              <a:rPr sz="3200" spc="45" dirty="0">
                <a:latin typeface="Arial"/>
                <a:cs typeface="Arial"/>
              </a:rPr>
              <a:t>60,</a:t>
            </a:r>
            <a:r>
              <a:rPr sz="3200" spc="-215" dirty="0">
                <a:latin typeface="Arial"/>
                <a:cs typeface="Arial"/>
              </a:rPr>
              <a:t> </a:t>
            </a:r>
            <a:r>
              <a:rPr sz="3200" spc="50" dirty="0">
                <a:latin typeface="Arial"/>
                <a:cs typeface="Arial"/>
              </a:rPr>
              <a:t>90)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3200" spc="25" dirty="0">
                <a:latin typeface="Arial"/>
                <a:cs typeface="Arial"/>
              </a:rPr>
              <a:t>Construir </a:t>
            </a:r>
            <a:r>
              <a:rPr sz="3200" spc="50" dirty="0">
                <a:latin typeface="Arial"/>
                <a:cs typeface="Arial"/>
              </a:rPr>
              <a:t>uma </a:t>
            </a:r>
            <a:r>
              <a:rPr sz="3200" spc="-240" dirty="0">
                <a:latin typeface="Arial"/>
                <a:cs typeface="Arial"/>
              </a:rPr>
              <a:t>AVL </a:t>
            </a:r>
            <a:r>
              <a:rPr sz="3200" spc="30" dirty="0">
                <a:latin typeface="Arial"/>
                <a:cs typeface="Arial"/>
              </a:rPr>
              <a:t>com </a:t>
            </a:r>
            <a:r>
              <a:rPr sz="3200" spc="-60" dirty="0">
                <a:latin typeface="Arial"/>
                <a:cs typeface="Arial"/>
              </a:rPr>
              <a:t>as</a:t>
            </a:r>
            <a:r>
              <a:rPr sz="3200" spc="195" dirty="0">
                <a:latin typeface="Arial"/>
                <a:cs typeface="Arial"/>
              </a:rPr>
              <a:t> </a:t>
            </a:r>
            <a:r>
              <a:rPr sz="3200" spc="5" dirty="0">
                <a:latin typeface="Arial"/>
                <a:cs typeface="Arial"/>
              </a:rPr>
              <a:t>chaves:</a:t>
            </a:r>
            <a:endParaRPr sz="3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1410"/>
              </a:spcBef>
            </a:pPr>
            <a:r>
              <a:rPr sz="3200" spc="-185" dirty="0">
                <a:latin typeface="Arial"/>
                <a:cs typeface="Arial"/>
              </a:rPr>
              <a:t>(PSC, </a:t>
            </a:r>
            <a:r>
              <a:rPr sz="3200" spc="-120" dirty="0">
                <a:latin typeface="Arial"/>
                <a:cs typeface="Arial"/>
              </a:rPr>
              <a:t>INF, </a:t>
            </a:r>
            <a:r>
              <a:rPr sz="3200" spc="-180" dirty="0">
                <a:latin typeface="Arial"/>
                <a:cs typeface="Arial"/>
              </a:rPr>
              <a:t>ENG, </a:t>
            </a:r>
            <a:r>
              <a:rPr sz="3200" spc="-114" dirty="0">
                <a:latin typeface="Arial"/>
                <a:cs typeface="Arial"/>
              </a:rPr>
              <a:t>QUI, </a:t>
            </a:r>
            <a:r>
              <a:rPr sz="3200" spc="-195" dirty="0">
                <a:latin typeface="Arial"/>
                <a:cs typeface="Arial"/>
              </a:rPr>
              <a:t>MAT, </a:t>
            </a:r>
            <a:r>
              <a:rPr sz="3200" spc="-170" dirty="0">
                <a:latin typeface="Arial"/>
                <a:cs typeface="Arial"/>
              </a:rPr>
              <a:t>LET, </a:t>
            </a:r>
            <a:r>
              <a:rPr sz="3200" spc="-145" dirty="0">
                <a:latin typeface="Arial"/>
                <a:cs typeface="Arial"/>
              </a:rPr>
              <a:t>MED, </a:t>
            </a:r>
            <a:r>
              <a:rPr sz="3200" spc="-210" dirty="0">
                <a:latin typeface="Arial"/>
                <a:cs typeface="Arial"/>
              </a:rPr>
              <a:t>ECO,  </a:t>
            </a:r>
            <a:r>
              <a:rPr sz="3200" spc="-100" dirty="0">
                <a:latin typeface="Arial"/>
                <a:cs typeface="Arial"/>
              </a:rPr>
              <a:t>ADM)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1654</Words>
  <Application>Microsoft Office PowerPoint</Application>
  <PresentationFormat>Apresentação na tela (4:3)</PresentationFormat>
  <Paragraphs>299</Paragraphs>
  <Slides>47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47</vt:i4>
      </vt:variant>
    </vt:vector>
  </HeadingPairs>
  <TitlesOfParts>
    <vt:vector size="48" baseType="lpstr">
      <vt:lpstr>Office Theme</vt:lpstr>
      <vt:lpstr>Árvores AVL</vt:lpstr>
      <vt:lpstr>Introdução</vt:lpstr>
      <vt:lpstr>Conceito de balanceamento</vt:lpstr>
      <vt:lpstr>Conceito de balanceamento</vt:lpstr>
      <vt:lpstr>Conceito de balanceamento</vt:lpstr>
      <vt:lpstr>Conceito de balanceamento</vt:lpstr>
      <vt:lpstr>Conceito de balanceamento</vt:lpstr>
      <vt:lpstr>Conceito de balanceamento</vt:lpstr>
      <vt:lpstr>Árvore AVL</vt:lpstr>
      <vt:lpstr>Exemplo</vt:lpstr>
      <vt:lpstr>Árvore AVL</vt:lpstr>
      <vt:lpstr>Rotações em AVL</vt:lpstr>
      <vt:lpstr>Caso Right-Right  (rotação a esquerda)</vt:lpstr>
      <vt:lpstr>Caso Left-Left  (rotação a direita)</vt:lpstr>
      <vt:lpstr>Left-Right  (rotação esquerda-direita)</vt:lpstr>
      <vt:lpstr>Caso Right-Left  (rotação direita-esquerda)</vt:lpstr>
      <vt:lpstr>Fator de Balanceamento</vt:lpstr>
      <vt:lpstr>Exemplo –  FB de cada nó</vt:lpstr>
      <vt:lpstr>Quando balancear?</vt:lpstr>
      <vt:lpstr>Tipos de Balanceamento - RR</vt:lpstr>
      <vt:lpstr>Tipos de Balanceamento - RR</vt:lpstr>
      <vt:lpstr>Tipos de Balanceamento - RR</vt:lpstr>
      <vt:lpstr>Tipos de Balanceamento - RR</vt:lpstr>
      <vt:lpstr>Tipos de Balanceamento - LL</vt:lpstr>
      <vt:lpstr>Tipos de Balanceamento - LL</vt:lpstr>
      <vt:lpstr>Tipos de Balanceamento - LL</vt:lpstr>
      <vt:lpstr>Tipos de Balanceamento - LL</vt:lpstr>
      <vt:lpstr>Tipos de Balanceamento - LR</vt:lpstr>
      <vt:lpstr>Tipos de Balanceamento - LR</vt:lpstr>
      <vt:lpstr>Tipos de Balanceamento - LR</vt:lpstr>
      <vt:lpstr>Tipos de Balanceamento - LR</vt:lpstr>
      <vt:lpstr>Tipos de Balanceamento - RL</vt:lpstr>
      <vt:lpstr>Tipos de Balanceamento - RL</vt:lpstr>
      <vt:lpstr>Tipos de Balanceamento - RL</vt:lpstr>
      <vt:lpstr>Tipos de Balanceamento - RL</vt:lpstr>
      <vt:lpstr>Árvore AVL</vt:lpstr>
      <vt:lpstr>Árvore AVL</vt:lpstr>
      <vt:lpstr>Árvore AVL</vt:lpstr>
      <vt:lpstr>Árvore AVL</vt:lpstr>
      <vt:lpstr>Árvore AVL</vt:lpstr>
      <vt:lpstr>Árvore AVL</vt:lpstr>
      <vt:lpstr>Árvore AVL</vt:lpstr>
      <vt:lpstr>Árvore AVL</vt:lpstr>
      <vt:lpstr>Algoritmo</vt:lpstr>
      <vt:lpstr>Importante</vt:lpstr>
      <vt:lpstr>Como descobrir qual rotação  deve ser realizada?</vt:lpstr>
      <vt:lpstr>Exercícios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Árvores AVL</dc:title>
  <dc:creator>Samuel Basilio</dc:creator>
  <cp:lastModifiedBy>Samuel Basilio</cp:lastModifiedBy>
  <cp:revision>4</cp:revision>
  <dcterms:created xsi:type="dcterms:W3CDTF">2015-11-06T19:16:24Z</dcterms:created>
  <dcterms:modified xsi:type="dcterms:W3CDTF">2018-11-22T12:32:49Z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2011-05-31T00:00:00Z</vt:filetime>
  </property>
  <property fmtid="{D5CDD505-2E9C-101B-9397-08002B2CF9AE}" pid="3" name="Creator">
    <vt:lpwstr>Impress</vt:lpwstr>
  </property>
  <property fmtid="{D5CDD505-2E9C-101B-9397-08002B2CF9AE}" pid="4" name="LastSaved">
    <vt:filetime>2015-11-06T00:00:00Z</vt:filetime>
  </property>
</Properties>
</file>