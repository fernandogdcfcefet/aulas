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1" r:id="rId1"/>
  </p:sldMasterIdLst>
  <p:sldIdLst>
    <p:sldId id="256" r:id="rId2"/>
    <p:sldId id="257" r:id="rId3"/>
    <p:sldId id="258" r:id="rId4"/>
    <p:sldId id="259" r:id="rId5"/>
    <p:sldId id="284" r:id="rId6"/>
    <p:sldId id="260" r:id="rId7"/>
    <p:sldId id="268" r:id="rId8"/>
    <p:sldId id="261" r:id="rId9"/>
    <p:sldId id="262" r:id="rId10"/>
    <p:sldId id="263" r:id="rId11"/>
    <p:sldId id="293" r:id="rId12"/>
    <p:sldId id="288" r:id="rId13"/>
    <p:sldId id="289" r:id="rId14"/>
    <p:sldId id="294" r:id="rId15"/>
    <p:sldId id="270" r:id="rId16"/>
    <p:sldId id="265" r:id="rId17"/>
    <p:sldId id="266" r:id="rId18"/>
    <p:sldId id="290" r:id="rId19"/>
    <p:sldId id="274" r:id="rId20"/>
    <p:sldId id="295" r:id="rId21"/>
    <p:sldId id="291" r:id="rId22"/>
    <p:sldId id="272" r:id="rId23"/>
    <p:sldId id="282" r:id="rId24"/>
    <p:sldId id="278" r:id="rId25"/>
    <p:sldId id="285" r:id="rId26"/>
    <p:sldId id="280" r:id="rId27"/>
    <p:sldId id="292" r:id="rId28"/>
    <p:sldId id="281" r:id="rId29"/>
    <p:sldId id="283" r:id="rId30"/>
    <p:sldId id="296" r:id="rId31"/>
    <p:sldId id="297" r:id="rId32"/>
    <p:sldId id="298" r:id="rId33"/>
    <p:sldId id="287" r:id="rId34"/>
  </p:sldIdLst>
  <p:sldSz cx="9144000" cy="6858000" type="screen4x3"/>
  <p:notesSz cx="6858000" cy="9144000"/>
  <p:defaultTextStyle>
    <a:defPPr>
      <a:defRPr lang="pt-BR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84E427A-3D55-4303-BF80-6455036E1DE7}" styleName="Estilo com Tema 1 - Ênfase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Estilo Médio 2 - Ênfas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37CE84F3-28C3-443E-9E96-99CF82512B78}" styleName="Estilo Escuro 1 - Ênfase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9DCAF9ED-07DC-4A11-8D7F-57B35C25682E}" styleName="Estilo Médio 1 - Ênfase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81" d="100"/>
          <a:sy n="81" d="100"/>
        </p:scale>
        <p:origin x="-1056" y="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7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1722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kumimoji="0" lang="pt-BR" smtClean="0"/>
              <a:t>Clique para editar o título mestre</a:t>
            </a:r>
            <a:endParaRPr kumimoji="0" lang="en-US"/>
          </a:p>
        </p:txBody>
      </p:sp>
      <p:sp>
        <p:nvSpPr>
          <p:cNvPr id="9" name="Subtítulo 8"/>
          <p:cNvSpPr>
            <a:spLocks noGrp="1"/>
          </p:cNvSpPr>
          <p:nvPr>
            <p:ph type="subTitle" idx="1"/>
          </p:nvPr>
        </p:nvSpPr>
        <p:spPr>
          <a:xfrm>
            <a:off x="2286000" y="5003322"/>
            <a:ext cx="61722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pt-BR" smtClean="0"/>
              <a:t>Clique para editar o estilo do subtítulo mestre</a:t>
            </a:r>
            <a:endParaRPr kumimoji="0" lang="en-US"/>
          </a:p>
        </p:txBody>
      </p:sp>
      <p:sp>
        <p:nvSpPr>
          <p:cNvPr id="28" name="Espaço Reservado para Data 27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4621" y="1174097"/>
            <a:ext cx="2286000" cy="381000"/>
          </a:xfrm>
        </p:spPr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17" name="Espaço Reservado para Rodapé 16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269" y="4181669"/>
            <a:ext cx="3657600" cy="384048"/>
          </a:xfrm>
        </p:spPr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10" name="Retângulo 9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tângulo 11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Retângulo 13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Retângulo 18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Conector reto 10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Conector reto 17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0" name="Conector reto 19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Conector reto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Conector reto 14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2" name="Conector reto 21"/>
          <p:cNvSpPr>
            <a:spLocks noChangeShapeType="1"/>
          </p:cNvSpPr>
          <p:nvPr/>
        </p:nvSpPr>
        <p:spPr bwMode="auto">
          <a:xfrm>
            <a:off x="9113856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7" name="Retângulo 26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Elipse 20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Elipse 22"/>
          <p:cNvSpPr/>
          <p:nvPr/>
        </p:nvSpPr>
        <p:spPr bwMode="auto">
          <a:xfrm>
            <a:off x="1309632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4" name="Elipse 23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Elipse 25"/>
          <p:cNvSpPr/>
          <p:nvPr/>
        </p:nvSpPr>
        <p:spPr bwMode="auto">
          <a:xfrm>
            <a:off x="1664208" y="5788152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5" name="Elipse 24"/>
          <p:cNvSpPr/>
          <p:nvPr/>
        </p:nvSpPr>
        <p:spPr>
          <a:xfrm>
            <a:off x="1905000" y="4495800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9" name="Espaço Reservado para Número de Slide 28"/>
          <p:cNvSpPr>
            <a:spLocks noGrp="1"/>
          </p:cNvSpPr>
          <p:nvPr>
            <p:ph type="sldNum" sz="quarter" idx="12"/>
          </p:nvPr>
        </p:nvSpPr>
        <p:spPr bwMode="auto">
          <a:xfrm>
            <a:off x="1325544" y="4928702"/>
            <a:ext cx="609600" cy="517524"/>
          </a:xfrm>
        </p:spPr>
        <p:txBody>
          <a:bodyPr/>
          <a:lstStyle/>
          <a:p>
            <a:pPr>
              <a:defRPr/>
            </a:pPr>
            <a:fld id="{8A94938C-543C-455F-86E3-8667A33BFA2D}" type="slidenum">
              <a:rPr lang="pt-BR" smtClean="0"/>
              <a:pPr>
                <a:defRPr/>
              </a:pPr>
              <a:t>‹nº›</a:t>
            </a:fld>
            <a:endParaRPr lang="pt-B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 smtClean="0"/>
              <a:t>Clique para editar o título mestre</a:t>
            </a:r>
            <a:endParaRPr kumimoji="0" lang="en-US"/>
          </a:p>
        </p:txBody>
      </p:sp>
      <p:sp>
        <p:nvSpPr>
          <p:cNvPr id="8" name="Espaço Reservado para Conteúdo 7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752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pPr>
              <a:defRPr/>
            </a:pPr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pPr>
              <a:defRPr/>
            </a:pPr>
            <a:fld id="{674287D3-7D76-4A8E-BCD3-FB06FB629BA9}" type="slidenum">
              <a:rPr lang="pt-BR" smtClean="0"/>
              <a:pPr>
                <a:defRPr/>
              </a:pPr>
              <a:t>‹nº›</a:t>
            </a:fld>
            <a:endParaRPr lang="pt-BR"/>
          </a:p>
        </p:txBody>
      </p:sp>
      <p:sp>
        <p:nvSpPr>
          <p:cNvPr id="10" name="Espaço Reservado para Rodapé 9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pPr>
              <a:defRPr/>
            </a:pPr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286000" y="2895600"/>
            <a:ext cx="61722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kumimoji="0" lang="pt-BR" smtClean="0"/>
              <a:t>Clique para editar 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2286000" y="5010150"/>
            <a:ext cx="6172200" cy="1371600"/>
          </a:xfrm>
        </p:spPr>
        <p:txBody>
          <a:bodyPr anchor="t"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pt-BR" smtClean="0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3256" y="1170432"/>
            <a:ext cx="2286000" cy="381000"/>
          </a:xfrm>
        </p:spPr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456" y="4178808"/>
            <a:ext cx="3657600" cy="384048"/>
          </a:xfrm>
        </p:spPr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9" name="Retângulo 8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tângulo 9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tângulo 10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tângulo 11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Conector reto 12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Conector reto 13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Conector reto 14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Conector reto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7" name="Conector reto 16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Retângulo 17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9" name="Elipse 18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0" name="Elipse 19"/>
          <p:cNvSpPr/>
          <p:nvPr/>
        </p:nvSpPr>
        <p:spPr bwMode="auto">
          <a:xfrm>
            <a:off x="1324704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Elipse 20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Elipse 21"/>
          <p:cNvSpPr/>
          <p:nvPr/>
        </p:nvSpPr>
        <p:spPr bwMode="auto">
          <a:xfrm>
            <a:off x="1664208" y="5791200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Elipse 22"/>
          <p:cNvSpPr/>
          <p:nvPr/>
        </p:nvSpPr>
        <p:spPr bwMode="auto">
          <a:xfrm>
            <a:off x="1879040" y="4479888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Conector reto 25"/>
          <p:cNvSpPr>
            <a:spLocks noChangeShapeType="1"/>
          </p:cNvSpPr>
          <p:nvPr/>
        </p:nvSpPr>
        <p:spPr bwMode="auto">
          <a:xfrm>
            <a:off x="9097944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 bwMode="auto">
          <a:xfrm>
            <a:off x="1340616" y="4928702"/>
            <a:ext cx="609600" cy="517524"/>
          </a:xfrm>
        </p:spPr>
        <p:txBody>
          <a:bodyPr/>
          <a:lstStyle/>
          <a:p>
            <a:pPr>
              <a:defRPr/>
            </a:pPr>
            <a:fld id="{F85E9983-31B5-4787-AF15-36E88209F308}" type="slidenum">
              <a:rPr lang="pt-BR" smtClean="0"/>
              <a:pPr>
                <a:defRPr/>
              </a:pPr>
              <a:t>‹nº›</a:t>
            </a:fld>
            <a:endParaRPr lang="pt-BR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 smtClean="0"/>
              <a:t>Clique para editar o título mestre</a:t>
            </a:r>
            <a:endParaRPr kumimoji="0"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2685686-9DC8-4BA8-8B98-A1523F2FC0BF}" type="slidenum">
              <a:rPr lang="pt-BR" smtClean="0"/>
              <a:pPr>
                <a:defRPr/>
              </a:pPr>
              <a:t>‹nº›</a:t>
            </a:fld>
            <a:endParaRPr lang="pt-BR"/>
          </a:p>
        </p:txBody>
      </p:sp>
      <p:sp>
        <p:nvSpPr>
          <p:cNvPr id="9" name="Espaço Reservado para Conteúdo 8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11" name="Espaço Reservado para Conteúdo 10"/>
          <p:cNvSpPr>
            <a:spLocks noGrp="1"/>
          </p:cNvSpPr>
          <p:nvPr>
            <p:ph sz="quarter" idx="2"/>
          </p:nvPr>
        </p:nvSpPr>
        <p:spPr>
          <a:xfrm>
            <a:off x="4270248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7543800" cy="1143000"/>
          </a:xfrm>
        </p:spPr>
        <p:txBody>
          <a:bodyPr anchor="b"/>
          <a:lstStyle>
            <a:lvl1pPr>
              <a:defRPr/>
            </a:lvl1pPr>
          </a:lstStyle>
          <a:p>
            <a:r>
              <a:rPr kumimoji="0" lang="pt-BR" smtClean="0"/>
              <a:t>Clique para editar o título mestre</a:t>
            </a:r>
            <a:endParaRPr kumimoji="0" lang="en-US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A3F58C-E5C4-41CF-BCEC-4FD91A1DC806}" type="slidenum">
              <a:rPr lang="pt-BR" smtClean="0"/>
              <a:pPr>
                <a:defRPr/>
              </a:pPr>
              <a:t>‹nº›</a:t>
            </a:fld>
            <a:endParaRPr lang="pt-BR"/>
          </a:p>
        </p:txBody>
      </p:sp>
      <p:sp>
        <p:nvSpPr>
          <p:cNvPr id="11" name="Espaço Reservado para Conteúdo 10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13" name="Espaço Reservado para Conteúdo 12"/>
          <p:cNvSpPr>
            <a:spLocks noGrp="1"/>
          </p:cNvSpPr>
          <p:nvPr>
            <p:ph sz="quarter" idx="4"/>
          </p:nvPr>
        </p:nvSpPr>
        <p:spPr>
          <a:xfrm>
            <a:off x="4371975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12" name="Espaço Reservado para Texto 11"/>
          <p:cNvSpPr>
            <a:spLocks noGrp="1"/>
          </p:cNvSpPr>
          <p:nvPr>
            <p:ph type="body" sz="quarter" idx="1"/>
          </p:nvPr>
        </p:nvSpPr>
        <p:spPr>
          <a:xfrm>
            <a:off x="4572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pt-BR" smtClean="0"/>
              <a:t>Clique para editar o texto mestre</a:t>
            </a:r>
          </a:p>
        </p:txBody>
      </p:sp>
      <p:sp>
        <p:nvSpPr>
          <p:cNvPr id="14" name="Espaço Reservado para Texto 13"/>
          <p:cNvSpPr>
            <a:spLocks noGrp="1"/>
          </p:cNvSpPr>
          <p:nvPr>
            <p:ph type="body" sz="quarter" idx="3"/>
          </p:nvPr>
        </p:nvSpPr>
        <p:spPr>
          <a:xfrm>
            <a:off x="43434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pt-BR" smtClean="0"/>
              <a:t>Clique para editar o texto mestre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 smtClean="0"/>
              <a:t>Clique para editar o título mestre</a:t>
            </a:r>
            <a:endParaRPr kumimoji="0" lang="en-US"/>
          </a:p>
        </p:txBody>
      </p:sp>
      <p:sp>
        <p:nvSpPr>
          <p:cNvPr id="6" name="Espaço Reservado para Data 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pPr>
              <a:defRPr/>
            </a:pPr>
            <a:fld id="{F714C22C-644E-4291-9F22-AD230428BE99}" type="slidenum">
              <a:rPr lang="pt-BR" smtClean="0"/>
              <a:pPr>
                <a:defRPr/>
              </a:pPr>
              <a:t>‹nº›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pPr>
              <a:defRPr/>
            </a:pPr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0DDA7EA-5352-4F74-B4FA-FF6ABB87138B}" type="slidenum">
              <a:rPr lang="pt-BR" smtClean="0"/>
              <a:pPr>
                <a:defRPr/>
              </a:pPr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ector reto 9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 rot="5400000">
            <a:off x="3371850" y="3200400"/>
            <a:ext cx="6309360" cy="457200"/>
          </a:xfrm>
        </p:spPr>
        <p:txBody>
          <a:bodyPr anchor="b"/>
          <a:lstStyle>
            <a:lvl1pPr algn="l">
              <a:buNone/>
              <a:defRPr sz="2000" b="1" cap="small" baseline="0"/>
            </a:lvl1pPr>
          </a:lstStyle>
          <a:p>
            <a:r>
              <a:rPr kumimoji="0" lang="pt-BR" smtClean="0"/>
              <a:t>Clique para editar 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2"/>
          </p:nvPr>
        </p:nvSpPr>
        <p:spPr>
          <a:xfrm>
            <a:off x="6812280" y="274320"/>
            <a:ext cx="1527048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pt-BR" smtClean="0"/>
              <a:t>Clique para editar o texto mestre</a:t>
            </a:r>
          </a:p>
        </p:txBody>
      </p:sp>
      <p:sp>
        <p:nvSpPr>
          <p:cNvPr id="8" name="Conector reto 7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Conector reto 8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1" name="Conector reto 10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Retângulo 11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Conector reto 12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Elipse 13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8" name="Espaço Reservado para Conteúdo 17"/>
          <p:cNvSpPr>
            <a:spLocks noGrp="1"/>
          </p:cNvSpPr>
          <p:nvPr>
            <p:ph sz="quarter" idx="1"/>
          </p:nvPr>
        </p:nvSpPr>
        <p:spPr>
          <a:xfrm>
            <a:off x="304800" y="274320"/>
            <a:ext cx="5638800" cy="6327648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21" name="Espaço Reservado para Data 20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pPr>
              <a:defRPr/>
            </a:pPr>
            <a:endParaRPr lang="pt-BR"/>
          </a:p>
        </p:txBody>
      </p:sp>
      <p:sp>
        <p:nvSpPr>
          <p:cNvPr id="22" name="Espaço Reservado para Número de Slide 21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pPr>
              <a:defRPr/>
            </a:pPr>
            <a:fld id="{B128A52C-0245-445F-A738-070E13559E48}" type="slidenum">
              <a:rPr lang="pt-BR" smtClean="0"/>
              <a:pPr>
                <a:defRPr/>
              </a:pPr>
              <a:t>‹nº›</a:t>
            </a:fld>
            <a:endParaRPr lang="pt-BR"/>
          </a:p>
        </p:txBody>
      </p:sp>
      <p:sp>
        <p:nvSpPr>
          <p:cNvPr id="23" name="Espaço Reservado para Rodapé 22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pPr>
              <a:defRPr/>
            </a:pPr>
            <a:endParaRPr lang="pt-B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ector reto 8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3" name="Elipse 12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 rot="5400000">
            <a:off x="3350133" y="3200400"/>
            <a:ext cx="6309360" cy="45720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kumimoji="0" lang="pt-BR" smtClean="0"/>
              <a:t>Clique para editar o título mestre</a:t>
            </a:r>
            <a:endParaRPr kumimoji="0" lang="en-US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0" y="0"/>
            <a:ext cx="61722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 sz="3200"/>
            </a:lvl1pPr>
          </a:lstStyle>
          <a:p>
            <a:pPr algn="ctr" eaLnBrk="1" latinLnBrk="0" hangingPunct="1">
              <a:buFontTx/>
              <a:buNone/>
            </a:pPr>
            <a:r>
              <a:rPr kumimoji="0" lang="pt-BR" smtClean="0"/>
              <a:t>Clique no ícone para adicionar uma imagem</a:t>
            </a:r>
            <a:endParaRPr kumimoji="0" lang="en-US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6765798" y="264795"/>
            <a:ext cx="1524000" cy="4956048"/>
          </a:xfrm>
        </p:spPr>
        <p:txBody>
          <a:bodyPr rot="0" spcFirstLastPara="0" vertOverflow="overflow" horzOverflow="overflow" vert="horz" wrap="square" lIns="91440" tIns="45720" rIns="91440" bIns="45720" numCol="1" spcCol="274320" rtlCol="0" fromWordArt="0" anchor="t" anchorCtr="0" forceAA="0" compatLnSpc="1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pt-BR" smtClean="0"/>
              <a:t>Clique para editar o texto mestre</a:t>
            </a:r>
          </a:p>
        </p:txBody>
      </p:sp>
      <p:sp>
        <p:nvSpPr>
          <p:cNvPr id="10" name="Conector reto 9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1" name="Retângulo 10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Conector reto 11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9" name="Conector reto 18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0" name="Conector reto 19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7" name="Espaço Reservado para Data 1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>
              <a:defRPr/>
            </a:pPr>
            <a:endParaRPr lang="pt-BR"/>
          </a:p>
        </p:txBody>
      </p:sp>
      <p:sp>
        <p:nvSpPr>
          <p:cNvPr id="18" name="Espaço Reservado para Número de Slide 17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pPr>
              <a:defRPr/>
            </a:pPr>
            <a:fld id="{D7ADF37E-8641-479A-9686-6C6051FDC75F}" type="slidenum">
              <a:rPr lang="pt-BR" smtClean="0"/>
              <a:pPr>
                <a:defRPr/>
              </a:pPr>
              <a:t>‹nº›</a:t>
            </a:fld>
            <a:endParaRPr lang="pt-BR"/>
          </a:p>
        </p:txBody>
      </p:sp>
      <p:sp>
        <p:nvSpPr>
          <p:cNvPr id="21" name="Espaço Reservado para Rodapé 20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pPr>
              <a:defRPr/>
            </a:pPr>
            <a:endParaRPr lang="pt-B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 smtClean="0"/>
              <a:t>Clique para editar 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pt-BR" smtClean="0"/>
              <a:t>Clique para editar 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41F0063-B334-4118-8010-614A514285B7}" type="slidenum">
              <a:rPr lang="pt-BR" smtClean="0"/>
              <a:pPr>
                <a:defRPr/>
              </a:pPr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676400" cy="5851525"/>
          </a:xfrm>
        </p:spPr>
        <p:txBody>
          <a:bodyPr vert="eaVert"/>
          <a:lstStyle/>
          <a:p>
            <a:r>
              <a:rPr kumimoji="0" lang="pt-BR" smtClean="0"/>
              <a:t>Clique para editar 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pt-BR" smtClean="0"/>
              <a:t>Clique para editar 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88736A4-6F1C-42AF-9CC5-F5F7AAC36DF8}" type="slidenum">
              <a:rPr lang="pt-BR" smtClean="0"/>
              <a:pPr>
                <a:defRPr/>
              </a:pPr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>
  <p:cSld name="Título e texto em cima do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95263" y="228600"/>
            <a:ext cx="8015287" cy="914400"/>
          </a:xfrm>
        </p:spPr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7924800" cy="2133600"/>
          </a:xfrm>
        </p:spPr>
        <p:txBody>
          <a:bodyPr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09600" y="3886200"/>
            <a:ext cx="7924800" cy="2133600"/>
          </a:xfrm>
        </p:spPr>
        <p:txBody>
          <a:bodyPr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BB2F09D-FD30-4A06-8626-54D1419027DF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934593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onector reto 15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2" name="Espaço Reservado para Título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pt-BR" smtClean="0"/>
              <a:t>Clique para editar o título mestre</a:t>
            </a:r>
            <a:endParaRPr kumimoji="0" lang="en-US"/>
          </a:p>
        </p:txBody>
      </p:sp>
      <p:sp>
        <p:nvSpPr>
          <p:cNvPr id="13" name="Espaço Reservado para Texto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87375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pt-BR" smtClean="0"/>
              <a:t>Clique para editar o texto mestre</a:t>
            </a:r>
          </a:p>
          <a:p>
            <a:pPr lvl="1" eaLnBrk="1" latinLnBrk="0" hangingPunct="1"/>
            <a:r>
              <a:rPr kumimoji="0" lang="pt-BR" smtClean="0"/>
              <a:t>Segundo nível</a:t>
            </a:r>
          </a:p>
          <a:p>
            <a:pPr lvl="2" eaLnBrk="1" latinLnBrk="0" hangingPunct="1"/>
            <a:r>
              <a:rPr kumimoji="0" lang="pt-BR" smtClean="0"/>
              <a:t>Terceiro nível</a:t>
            </a:r>
          </a:p>
          <a:p>
            <a:pPr lvl="3" eaLnBrk="1" latinLnBrk="0" hangingPunct="1"/>
            <a:r>
              <a:rPr kumimoji="0" lang="pt-BR" smtClean="0"/>
              <a:t>Quarto nível</a:t>
            </a:r>
          </a:p>
          <a:p>
            <a:pPr lvl="4" eaLnBrk="1" latinLnBrk="0" hangingPunct="1"/>
            <a:r>
              <a:rPr kumimoji="0" lang="pt-BR" smtClean="0"/>
              <a:t>Quinto nível</a:t>
            </a:r>
            <a:endParaRPr kumimoji="0" lang="en-US"/>
          </a:p>
        </p:txBody>
      </p:sp>
      <p:sp>
        <p:nvSpPr>
          <p:cNvPr id="14" name="Espaço Reservado para Data 13"/>
          <p:cNvSpPr>
            <a:spLocks noGrp="1"/>
          </p:cNvSpPr>
          <p:nvPr>
            <p:ph type="dt" sz="half" idx="2"/>
          </p:nvPr>
        </p:nvSpPr>
        <p:spPr>
          <a:xfrm rot="5400000">
            <a:off x="7589520" y="1081851"/>
            <a:ext cx="201168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3"/>
          </p:nvPr>
        </p:nvSpPr>
        <p:spPr>
          <a:xfrm rot="5400000">
            <a:off x="6990186" y="3737240"/>
            <a:ext cx="3200400" cy="365760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Conector reto 6"/>
          <p:cNvSpPr>
            <a:spLocks noChangeShapeType="1"/>
          </p:cNvSpPr>
          <p:nvPr/>
        </p:nvSpPr>
        <p:spPr bwMode="auto">
          <a:xfrm>
            <a:off x="762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Conector reto 8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Retângulo 9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Conector reto 10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Elipse 11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Espaço Reservado para Número de Slide 22"/>
          <p:cNvSpPr>
            <a:spLocks noGrp="1"/>
          </p:cNvSpPr>
          <p:nvPr>
            <p:ph type="sldNum" sz="quarter" idx="4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</p:spPr>
        <p:txBody>
          <a:bodyPr vert="horz" anchor="ctr"/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90472C33-1C97-4362-A932-6B8AACB0283A}" type="slidenum">
              <a:rPr lang="pt-BR" smtClean="0"/>
              <a:pPr>
                <a:defRPr/>
              </a:pPr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  <p:sldLayoutId id="2147483713" r:id="rId12"/>
  </p:sldLayoutIdLst>
  <p:txStyles>
    <p:titleStyle>
      <a:lvl1pPr algn="l" rtl="0" eaLnBrk="1" latinLnBrk="0" hangingPunct="1">
        <a:spcBef>
          <a:spcPct val="0"/>
        </a:spcBef>
        <a:buNone/>
        <a:defRPr kumimoji="0" sz="3000" b="0" kern="1200" cap="sm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0000"/>
        <a:buFont typeface="Wingdings"/>
        <a:buChar char="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182880" algn="l" rtl="0" eaLnBrk="1" latinLnBrk="0" hangingPunct="1">
        <a:spcBef>
          <a:spcPct val="20000"/>
        </a:spcBef>
        <a:buClr>
          <a:schemeClr val="accent2">
            <a:tint val="60000"/>
          </a:schemeClr>
        </a:buClr>
        <a:buSzPct val="68000"/>
        <a:buFont typeface="Wingdings 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pt-BR" dirty="0" smtClean="0"/>
              <a:t>Linguagem C:</a:t>
            </a:r>
            <a:br>
              <a:rPr lang="pt-BR" dirty="0" smtClean="0"/>
            </a:br>
            <a:r>
              <a:rPr lang="pt-BR" dirty="0" smtClean="0"/>
              <a:t>Alocação Dinâmica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pt-BR" smtClean="0"/>
              <a:t>Prof. André Backes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dirty="0" smtClean="0"/>
              <a:t>Definição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 eaLnBrk="1" hangingPunct="1"/>
            <a:r>
              <a:rPr lang="pt-BR" dirty="0" smtClean="0"/>
              <a:t>Sempre que escrevemos um programa, é preciso reservar espaço para as informações que serão processadas.</a:t>
            </a:r>
          </a:p>
          <a:p>
            <a:pPr eaLnBrk="1" hangingPunct="1"/>
            <a:r>
              <a:rPr lang="pt-BR" dirty="0" smtClean="0"/>
              <a:t>Para isso utilizamos as variáveis</a:t>
            </a:r>
          </a:p>
          <a:p>
            <a:pPr lvl="1" eaLnBrk="1" hangingPunct="1"/>
            <a:r>
              <a:rPr lang="pt-BR" dirty="0" smtClean="0"/>
              <a:t>Uma variável é uma posição de memória que armazena uma informação que pode ser modificada pelo programa.</a:t>
            </a:r>
          </a:p>
          <a:p>
            <a:pPr lvl="1" eaLnBrk="1" hangingPunct="1"/>
            <a:r>
              <a:rPr lang="pt-BR" dirty="0" smtClean="0"/>
              <a:t>Ela deve ser definida antes de ser usada.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smtClean="0"/>
              <a:t>Definição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/>
              <a:t>Infelizmente, nem sempre é possível </a:t>
            </a:r>
            <a:r>
              <a:rPr lang="pt-BR" dirty="0"/>
              <a:t>saber, em tempo de </a:t>
            </a:r>
            <a:r>
              <a:rPr lang="pt-BR" dirty="0" smtClean="0"/>
              <a:t>execução, o quanto de memória um programa irá precisar.</a:t>
            </a:r>
          </a:p>
          <a:p>
            <a:pPr eaLnBrk="1" hangingPunct="1"/>
            <a:r>
              <a:rPr lang="pt-BR" dirty="0" smtClean="0"/>
              <a:t>Exemplo</a:t>
            </a:r>
          </a:p>
          <a:p>
            <a:pPr lvl="1"/>
            <a:r>
              <a:rPr lang="pt-BR" dirty="0"/>
              <a:t>Faça um programa para cadastrar o preço de </a:t>
            </a:r>
            <a:r>
              <a:rPr lang="pt-BR" b="1" dirty="0"/>
              <a:t>N </a:t>
            </a:r>
            <a:r>
              <a:rPr lang="pt-BR" dirty="0"/>
              <a:t>produtos, em que </a:t>
            </a:r>
            <a:r>
              <a:rPr lang="pt-BR" b="1" dirty="0"/>
              <a:t>N</a:t>
            </a:r>
            <a:r>
              <a:rPr lang="pt-BR" dirty="0"/>
              <a:t> é um valor informado pelo usuário</a:t>
            </a:r>
            <a:endParaRPr lang="pt-BR" dirty="0" smtClean="0"/>
          </a:p>
        </p:txBody>
      </p:sp>
      <p:grpSp>
        <p:nvGrpSpPr>
          <p:cNvPr id="3" name="Grupo 2"/>
          <p:cNvGrpSpPr/>
          <p:nvPr/>
        </p:nvGrpSpPr>
        <p:grpSpPr>
          <a:xfrm>
            <a:off x="1600200" y="4133850"/>
            <a:ext cx="6019800" cy="2419350"/>
            <a:chOff x="2209800" y="3962400"/>
            <a:chExt cx="6019800" cy="2419350"/>
          </a:xfrm>
        </p:grpSpPr>
        <p:pic>
          <p:nvPicPr>
            <p:cNvPr id="7170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09800" y="3962400"/>
              <a:ext cx="2771775" cy="24193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2" name="CaixaDeTexto 1"/>
            <p:cNvSpPr txBox="1"/>
            <p:nvPr/>
          </p:nvSpPr>
          <p:spPr>
            <a:xfrm>
              <a:off x="5486400" y="3962400"/>
              <a:ext cx="27432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b="1" dirty="0" smtClean="0"/>
                <a:t>Errado!</a:t>
              </a:r>
              <a:r>
                <a:rPr lang="pt-BR" dirty="0" smtClean="0"/>
                <a:t> Não sabemos o valor de </a:t>
              </a:r>
              <a:r>
                <a:rPr lang="pt-BR" b="1" dirty="0" smtClean="0"/>
                <a:t>N</a:t>
              </a:r>
              <a:endParaRPr lang="en-US" b="1" dirty="0"/>
            </a:p>
          </p:txBody>
        </p:sp>
        <p:sp>
          <p:nvSpPr>
            <p:cNvPr id="6" name="CaixaDeTexto 5"/>
            <p:cNvSpPr txBox="1"/>
            <p:nvPr/>
          </p:nvSpPr>
          <p:spPr>
            <a:xfrm>
              <a:off x="5486400" y="5410200"/>
              <a:ext cx="27432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smtClean="0"/>
                <a:t>Funciona, mas não é o mais indicado</a:t>
              </a:r>
              <a:endParaRPr lang="en-US" dirty="0"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smtClean="0"/>
              <a:t>Definição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pt-BR" dirty="0" smtClean="0"/>
              <a:t>A </a:t>
            </a:r>
            <a:r>
              <a:rPr lang="pt-BR" i="1" dirty="0" smtClean="0"/>
              <a:t>alocação dinâmica</a:t>
            </a:r>
            <a:r>
              <a:rPr lang="pt-BR" dirty="0" smtClean="0"/>
              <a:t> permite ao programador criar “variáveis” em tempo de execução, ou seja, alocar memória para novas variáveis quando o programa está sendo executado, e não apenas quando se está escrevendo o programa.</a:t>
            </a:r>
          </a:p>
          <a:p>
            <a:pPr lvl="1"/>
            <a:r>
              <a:rPr lang="pt-BR" dirty="0" smtClean="0"/>
              <a:t>Quantidade </a:t>
            </a:r>
            <a:r>
              <a:rPr lang="pt-BR" dirty="0"/>
              <a:t>de memória é alocada sob demanda, ou seja, quando o programa precisa</a:t>
            </a:r>
          </a:p>
          <a:p>
            <a:pPr lvl="1"/>
            <a:r>
              <a:rPr lang="pt-BR" dirty="0" smtClean="0"/>
              <a:t>Menos </a:t>
            </a:r>
            <a:r>
              <a:rPr lang="pt-BR" dirty="0"/>
              <a:t>desperdício de memória</a:t>
            </a:r>
          </a:p>
          <a:p>
            <a:pPr lvl="2"/>
            <a:r>
              <a:rPr lang="pt-BR" dirty="0"/>
              <a:t>Espaço é reservado até liberação explícita</a:t>
            </a:r>
          </a:p>
          <a:p>
            <a:pPr lvl="2"/>
            <a:r>
              <a:rPr lang="pt-BR" dirty="0"/>
              <a:t>Depois de liberado, estará disponibilizado para outros usos e não pode mais ser acessado</a:t>
            </a:r>
          </a:p>
          <a:p>
            <a:pPr lvl="2"/>
            <a:r>
              <a:rPr lang="pt-BR" dirty="0"/>
              <a:t>Espaço alocado e não liberado explicitamente é automaticamente liberado ao final da execução</a:t>
            </a:r>
            <a:endParaRPr lang="pt-BR" dirty="0" smtClean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smtClean="0"/>
              <a:t>Alocando memória</a:t>
            </a:r>
          </a:p>
        </p:txBody>
      </p:sp>
      <p:sp>
        <p:nvSpPr>
          <p:cNvPr id="7" name="Seta para a direita 6"/>
          <p:cNvSpPr/>
          <p:nvPr/>
        </p:nvSpPr>
        <p:spPr>
          <a:xfrm>
            <a:off x="3429000" y="4038600"/>
            <a:ext cx="1981200" cy="381000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7291" name="CaixaDeTexto 7"/>
          <p:cNvSpPr txBox="1">
            <a:spLocks noChangeArrowheads="1"/>
          </p:cNvSpPr>
          <p:nvPr/>
        </p:nvSpPr>
        <p:spPr bwMode="auto">
          <a:xfrm>
            <a:off x="3276600" y="2971800"/>
            <a:ext cx="2286000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pt-BR" b="1" dirty="0"/>
              <a:t>Alocando 5 posições de memória em </a:t>
            </a:r>
            <a:r>
              <a:rPr lang="pt-BR" b="1" dirty="0" err="1"/>
              <a:t>int</a:t>
            </a:r>
            <a:r>
              <a:rPr lang="pt-BR" b="1" dirty="0"/>
              <a:t> </a:t>
            </a:r>
            <a:r>
              <a:rPr lang="pt-BR" b="1" dirty="0" smtClean="0"/>
              <a:t>*p</a:t>
            </a:r>
            <a:endParaRPr lang="pt-BR" b="1" dirty="0"/>
          </a:p>
        </p:txBody>
      </p:sp>
      <p:graphicFrame>
        <p:nvGraphicFramePr>
          <p:cNvPr id="8" name="Tabela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7661825"/>
              </p:ext>
            </p:extLst>
          </p:nvPr>
        </p:nvGraphicFramePr>
        <p:xfrm>
          <a:off x="270850" y="1950720"/>
          <a:ext cx="2971800" cy="44500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909735"/>
                <a:gridCol w="956279"/>
                <a:gridCol w="1105786"/>
              </a:tblGrid>
              <a:tr h="370840">
                <a:tc gridSpan="3">
                  <a:txBody>
                    <a:bodyPr/>
                    <a:lstStyle/>
                    <a:p>
                      <a:pPr algn="ctr"/>
                      <a:r>
                        <a:rPr lang="pt-BR" sz="1600" dirty="0" smtClean="0"/>
                        <a:t>Memória</a:t>
                      </a:r>
                      <a:endParaRPr 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600" b="0" dirty="0" smtClean="0">
                          <a:solidFill>
                            <a:schemeClr val="bg1"/>
                          </a:solidFill>
                        </a:rPr>
                        <a:t>posição</a:t>
                      </a:r>
                      <a:endParaRPr lang="en-US" sz="16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0" dirty="0" smtClean="0">
                          <a:solidFill>
                            <a:schemeClr val="bg1"/>
                          </a:solidFill>
                        </a:rPr>
                        <a:t>variável</a:t>
                      </a:r>
                      <a:endParaRPr lang="en-US" sz="16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0" dirty="0" smtClean="0">
                          <a:solidFill>
                            <a:schemeClr val="bg1"/>
                          </a:solidFill>
                        </a:rPr>
                        <a:t>conteúdo</a:t>
                      </a:r>
                      <a:endParaRPr lang="en-US" sz="16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600" dirty="0" smtClean="0"/>
                        <a:t>119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600" dirty="0" smtClean="0"/>
                        <a:t>120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600" dirty="0" smtClean="0"/>
                        <a:t>121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600" dirty="0" err="1" smtClean="0"/>
                        <a:t>int</a:t>
                      </a:r>
                      <a:r>
                        <a:rPr lang="pt-BR" sz="1600" dirty="0" smtClean="0"/>
                        <a:t> *p</a:t>
                      </a:r>
                      <a:endParaRPr lang="en-US" sz="16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 smtClean="0"/>
                        <a:t>NULL</a:t>
                      </a:r>
                      <a:endParaRPr lang="en-US" sz="16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600" dirty="0" smtClean="0"/>
                        <a:t>122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600" dirty="0" smtClean="0"/>
                        <a:t>123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600" dirty="0" smtClean="0"/>
                        <a:t>124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600" dirty="0" smtClean="0"/>
                        <a:t>125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600" dirty="0" smtClean="0"/>
                        <a:t>126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600" dirty="0" smtClean="0"/>
                        <a:t>127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600" dirty="0" smtClean="0"/>
                        <a:t>128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9" name="Tabela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5613833"/>
              </p:ext>
            </p:extLst>
          </p:nvPr>
        </p:nvGraphicFramePr>
        <p:xfrm>
          <a:off x="5562600" y="1950720"/>
          <a:ext cx="2971800" cy="44500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909735"/>
                <a:gridCol w="956279"/>
                <a:gridCol w="1105786"/>
              </a:tblGrid>
              <a:tr h="370840">
                <a:tc gridSpan="3">
                  <a:txBody>
                    <a:bodyPr/>
                    <a:lstStyle/>
                    <a:p>
                      <a:pPr algn="ctr"/>
                      <a:r>
                        <a:rPr lang="pt-BR" sz="1600" dirty="0" smtClean="0"/>
                        <a:t>Memória</a:t>
                      </a:r>
                      <a:endParaRPr 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600" b="0" dirty="0" smtClean="0">
                          <a:solidFill>
                            <a:schemeClr val="bg1"/>
                          </a:solidFill>
                        </a:rPr>
                        <a:t>posição</a:t>
                      </a:r>
                      <a:endParaRPr lang="en-US" sz="16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0" dirty="0" smtClean="0">
                          <a:solidFill>
                            <a:schemeClr val="bg1"/>
                          </a:solidFill>
                        </a:rPr>
                        <a:t>variável</a:t>
                      </a:r>
                      <a:endParaRPr lang="en-US" sz="16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0" dirty="0" smtClean="0">
                          <a:solidFill>
                            <a:schemeClr val="bg1"/>
                          </a:solidFill>
                        </a:rPr>
                        <a:t>conteúdo</a:t>
                      </a:r>
                      <a:endParaRPr lang="en-US" sz="16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600" dirty="0" smtClean="0"/>
                        <a:t>119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600" dirty="0" smtClean="0"/>
                        <a:t>120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600" dirty="0" smtClean="0"/>
                        <a:t>121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600" dirty="0" err="1" smtClean="0"/>
                        <a:t>int</a:t>
                      </a:r>
                      <a:r>
                        <a:rPr lang="pt-BR" sz="1600" dirty="0" smtClean="0"/>
                        <a:t> *p</a:t>
                      </a:r>
                      <a:endParaRPr lang="en-US" sz="16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 smtClean="0"/>
                        <a:t>123</a:t>
                      </a:r>
                      <a:endParaRPr lang="en-US" sz="16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600" dirty="0" smtClean="0"/>
                        <a:t>122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600" dirty="0" smtClean="0"/>
                        <a:t>123</a:t>
                      </a:r>
                      <a:endParaRPr lang="en-US" sz="1600" dirty="0"/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 smtClean="0"/>
                        <a:t>p[0]</a:t>
                      </a:r>
                      <a:endParaRPr lang="en-US" sz="1600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 smtClean="0"/>
                        <a:t>11</a:t>
                      </a:r>
                      <a:endParaRPr lang="en-US" sz="1600" dirty="0"/>
                    </a:p>
                  </a:txBody>
                  <a:tcPr>
                    <a:lnL w="12700" cmpd="sng"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600" dirty="0" smtClean="0"/>
                        <a:t>124</a:t>
                      </a:r>
                      <a:endParaRPr lang="en-US" sz="1600" dirty="0"/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 smtClean="0"/>
                        <a:t>p[1]</a:t>
                      </a:r>
                      <a:endParaRPr lang="en-US" sz="1600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 smtClean="0"/>
                        <a:t>25</a:t>
                      </a:r>
                      <a:endParaRPr lang="en-US" sz="1600" dirty="0"/>
                    </a:p>
                  </a:txBody>
                  <a:tcPr>
                    <a:lnL w="12700" cmpd="sng"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600" dirty="0" smtClean="0"/>
                        <a:t>125</a:t>
                      </a:r>
                      <a:endParaRPr lang="en-US" sz="1600" dirty="0"/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600" dirty="0" smtClean="0"/>
                        <a:t>p[2]</a:t>
                      </a:r>
                      <a:endParaRPr lang="en-US" sz="1600" dirty="0" smtClean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 smtClean="0"/>
                        <a:t>32</a:t>
                      </a:r>
                      <a:endParaRPr lang="en-US" sz="1600" dirty="0"/>
                    </a:p>
                  </a:txBody>
                  <a:tcPr>
                    <a:lnL w="12700" cmpd="sng"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600" dirty="0" smtClean="0"/>
                        <a:t>126</a:t>
                      </a:r>
                      <a:endParaRPr lang="en-US" sz="1600" dirty="0"/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600" dirty="0" smtClean="0"/>
                        <a:t>p[3]</a:t>
                      </a:r>
                      <a:endParaRPr lang="en-US" sz="1600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 smtClean="0"/>
                        <a:t>44</a:t>
                      </a:r>
                      <a:endParaRPr lang="en-US" sz="1600" dirty="0"/>
                    </a:p>
                  </a:txBody>
                  <a:tcPr>
                    <a:lnL w="12700" cmpd="sng"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600" dirty="0" smtClean="0"/>
                        <a:t>127</a:t>
                      </a:r>
                      <a:endParaRPr lang="en-US" sz="1600" dirty="0"/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600" dirty="0" smtClean="0"/>
                        <a:t>p[4]</a:t>
                      </a:r>
                      <a:endParaRPr lang="en-US" sz="1600" dirty="0" smtClean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 smtClean="0"/>
                        <a:t>52</a:t>
                      </a:r>
                      <a:endParaRPr lang="en-US" sz="1600" dirty="0"/>
                    </a:p>
                  </a:txBody>
                  <a:tcPr>
                    <a:lnL w="12700" cmpd="sng"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600" dirty="0" smtClean="0"/>
                        <a:t>128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</a:tbl>
          </a:graphicData>
        </a:graphic>
      </p:graphicFrame>
      <p:cxnSp>
        <p:nvCxnSpPr>
          <p:cNvPr id="5" name="Conector angulado 4"/>
          <p:cNvCxnSpPr/>
          <p:nvPr/>
        </p:nvCxnSpPr>
        <p:spPr>
          <a:xfrm>
            <a:off x="8304212" y="3657600"/>
            <a:ext cx="1588" cy="685800"/>
          </a:xfrm>
          <a:prstGeom prst="bentConnector3">
            <a:avLst>
              <a:gd name="adj1" fmla="val 45401148"/>
            </a:avLst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smtClean="0"/>
              <a:t>Alocação Dinâmica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 eaLnBrk="1" hangingPunct="1"/>
            <a:r>
              <a:rPr lang="pt-BR" smtClean="0"/>
              <a:t>A linguagem C ANSI usa apenas 4 funções para o sistema de alocação dinâmica, disponíveis na stdlib.h:</a:t>
            </a:r>
          </a:p>
          <a:p>
            <a:pPr lvl="1" eaLnBrk="1" hangingPunct="1"/>
            <a:r>
              <a:rPr lang="pt-BR" smtClean="0"/>
              <a:t>malloc</a:t>
            </a:r>
          </a:p>
          <a:p>
            <a:pPr lvl="1" eaLnBrk="1" hangingPunct="1"/>
            <a:r>
              <a:rPr lang="pt-BR" smtClean="0"/>
              <a:t>calloc</a:t>
            </a:r>
          </a:p>
          <a:p>
            <a:pPr lvl="1" eaLnBrk="1" hangingPunct="1"/>
            <a:r>
              <a:rPr lang="pt-BR" smtClean="0"/>
              <a:t>realloc</a:t>
            </a:r>
          </a:p>
          <a:p>
            <a:pPr lvl="1" eaLnBrk="1" hangingPunct="1"/>
            <a:r>
              <a:rPr lang="pt-BR" smtClean="0"/>
              <a:t>free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smtClean="0"/>
              <a:t>Alocação Dinâmica - malloc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 eaLnBrk="1" hangingPunct="1"/>
            <a:r>
              <a:rPr lang="pt-BR" b="1" dirty="0" err="1" smtClean="0"/>
              <a:t>malloc</a:t>
            </a:r>
            <a:endParaRPr lang="pt-BR" b="1" dirty="0" smtClean="0"/>
          </a:p>
          <a:p>
            <a:pPr lvl="1" eaLnBrk="1" hangingPunct="1"/>
            <a:r>
              <a:rPr lang="pt-BR" dirty="0" smtClean="0"/>
              <a:t>A função </a:t>
            </a:r>
            <a:r>
              <a:rPr lang="pt-BR" dirty="0" err="1" smtClean="0"/>
              <a:t>malloc</a:t>
            </a:r>
            <a:r>
              <a:rPr lang="pt-BR" dirty="0" smtClean="0"/>
              <a:t>() serve para alocar memória e tem o seguinte protótipo:</a:t>
            </a:r>
          </a:p>
          <a:p>
            <a:pPr eaLnBrk="1" hangingPunct="1"/>
            <a:endParaRPr lang="pt-BR" dirty="0" smtClean="0"/>
          </a:p>
          <a:p>
            <a:pPr eaLnBrk="1" hangingPunct="1"/>
            <a:endParaRPr lang="pt-BR" dirty="0" smtClean="0"/>
          </a:p>
          <a:p>
            <a:pPr eaLnBrk="1" hangingPunct="1"/>
            <a:r>
              <a:rPr lang="pt-BR" dirty="0" smtClean="0"/>
              <a:t>Funcionalidade</a:t>
            </a:r>
          </a:p>
          <a:p>
            <a:pPr lvl="1" eaLnBrk="1" hangingPunct="1"/>
            <a:r>
              <a:rPr lang="pt-BR" dirty="0" smtClean="0"/>
              <a:t>Dado o número de bytes que queremos alocar (</a:t>
            </a:r>
            <a:r>
              <a:rPr lang="pt-BR" b="1" dirty="0" smtClean="0"/>
              <a:t>num</a:t>
            </a:r>
            <a:r>
              <a:rPr lang="pt-BR" dirty="0" smtClean="0"/>
              <a:t>), ela aloca na memória e retorna um ponteiro </a:t>
            </a:r>
            <a:r>
              <a:rPr lang="pt-BR" b="1" dirty="0" err="1" smtClean="0"/>
              <a:t>void</a:t>
            </a:r>
            <a:r>
              <a:rPr lang="pt-BR" b="1" dirty="0" smtClean="0"/>
              <a:t>*</a:t>
            </a:r>
            <a:r>
              <a:rPr lang="pt-BR" dirty="0" smtClean="0"/>
              <a:t> para o primeiro byte alocado.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386013" y="3157538"/>
            <a:ext cx="4371975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smtClean="0"/>
              <a:t>Alocação Dinâmica - malloc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 eaLnBrk="1" hangingPunct="1"/>
            <a:r>
              <a:rPr lang="pt-BR" smtClean="0"/>
              <a:t>O ponteiro </a:t>
            </a:r>
            <a:r>
              <a:rPr lang="pt-BR" b="1" smtClean="0"/>
              <a:t>void*</a:t>
            </a:r>
            <a:r>
              <a:rPr lang="pt-BR" smtClean="0"/>
              <a:t> pode ser atribuído a qualquer tipo de ponteiro via </a:t>
            </a:r>
            <a:r>
              <a:rPr lang="pt-BR" i="1" smtClean="0"/>
              <a:t>type cast</a:t>
            </a:r>
            <a:r>
              <a:rPr lang="pt-BR" smtClean="0"/>
              <a:t>. Se não houver memória suficiente para alocar a memória requisitada a função malloc() retorna um ponteiro nulo.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386013" y="3514728"/>
            <a:ext cx="4371975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smtClean="0"/>
              <a:t>Alocação Dinâmica - malloc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 eaLnBrk="1" hangingPunct="1"/>
            <a:r>
              <a:rPr lang="pt-BR" dirty="0" smtClean="0"/>
              <a:t>Alocar 1000 bytes de memória livre.</a:t>
            </a:r>
          </a:p>
          <a:p>
            <a:pPr lvl="1" eaLnBrk="1" hangingPunct="1">
              <a:buFont typeface="Wingdings" pitchFamily="2" charset="2"/>
              <a:buNone/>
            </a:pPr>
            <a:endParaRPr lang="pt-BR" dirty="0" smtClean="0"/>
          </a:p>
          <a:p>
            <a:pPr lvl="1" eaLnBrk="1" hangingPunct="1">
              <a:buFont typeface="Wingdings" pitchFamily="2" charset="2"/>
              <a:buNone/>
            </a:pPr>
            <a:endParaRPr lang="pt-BR" dirty="0" smtClean="0"/>
          </a:p>
          <a:p>
            <a:pPr eaLnBrk="1" hangingPunct="1"/>
            <a:endParaRPr lang="pt-BR" dirty="0" smtClean="0"/>
          </a:p>
          <a:p>
            <a:pPr eaLnBrk="1" hangingPunct="1"/>
            <a:r>
              <a:rPr lang="pt-BR" dirty="0" smtClean="0"/>
              <a:t>Alocar espaço para 50 inteiros:</a:t>
            </a:r>
          </a:p>
          <a:p>
            <a:pPr lvl="1" eaLnBrk="1" hangingPunct="1">
              <a:buFont typeface="Wingdings" pitchFamily="2" charset="2"/>
              <a:buNone/>
            </a:pPr>
            <a:endParaRPr lang="pt-BR" dirty="0" smtClean="0"/>
          </a:p>
          <a:p>
            <a:pPr eaLnBrk="1" hangingPunct="1"/>
            <a:endParaRPr lang="pt-BR" dirty="0" smtClean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66947" y="2200271"/>
            <a:ext cx="3762375" cy="657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195513" y="3786190"/>
            <a:ext cx="4752975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smtClean="0"/>
              <a:t>Alocação Dinâmica - malloc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 eaLnBrk="1" hangingPunct="1"/>
            <a:r>
              <a:rPr lang="pt-BR" dirty="0" smtClean="0"/>
              <a:t>Operador </a:t>
            </a:r>
            <a:r>
              <a:rPr lang="pt-BR" b="1" dirty="0" err="1" smtClean="0"/>
              <a:t>sizeof</a:t>
            </a:r>
            <a:r>
              <a:rPr lang="pt-BR" b="1" dirty="0" smtClean="0"/>
              <a:t>()</a:t>
            </a:r>
          </a:p>
          <a:p>
            <a:pPr lvl="1" eaLnBrk="1" hangingPunct="1"/>
            <a:r>
              <a:rPr lang="pt-BR" dirty="0" smtClean="0"/>
              <a:t>Retorna o número de </a:t>
            </a:r>
            <a:r>
              <a:rPr lang="pt-BR" b="1" i="1" dirty="0" smtClean="0"/>
              <a:t>bytes</a:t>
            </a:r>
            <a:r>
              <a:rPr lang="pt-BR" dirty="0" smtClean="0"/>
              <a:t> de um dado tipo de dado. Ex.: </a:t>
            </a:r>
            <a:r>
              <a:rPr lang="pt-BR" dirty="0" err="1" smtClean="0"/>
              <a:t>int</a:t>
            </a:r>
            <a:r>
              <a:rPr lang="pt-BR" dirty="0" smtClean="0"/>
              <a:t>, </a:t>
            </a:r>
            <a:r>
              <a:rPr lang="pt-BR" dirty="0" err="1" smtClean="0"/>
              <a:t>float</a:t>
            </a:r>
            <a:r>
              <a:rPr lang="pt-BR" dirty="0" smtClean="0"/>
              <a:t>, char, </a:t>
            </a:r>
            <a:r>
              <a:rPr lang="pt-BR" dirty="0" err="1" smtClean="0"/>
              <a:t>struct</a:t>
            </a:r>
            <a:r>
              <a:rPr lang="pt-BR" dirty="0" smtClean="0"/>
              <a:t>...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325" y="2895600"/>
            <a:ext cx="6991350" cy="3400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smtClean="0"/>
              <a:t>Alocação Dinâmica - malloc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 eaLnBrk="1" hangingPunct="1"/>
            <a:r>
              <a:rPr lang="pt-BR" dirty="0" smtClean="0"/>
              <a:t>Operador </a:t>
            </a:r>
            <a:r>
              <a:rPr lang="pt-BR" b="1" dirty="0" err="1" smtClean="0"/>
              <a:t>sizeof</a:t>
            </a:r>
            <a:r>
              <a:rPr lang="pt-BR" b="1" dirty="0" smtClean="0"/>
              <a:t>()</a:t>
            </a:r>
          </a:p>
          <a:p>
            <a:pPr lvl="1" eaLnBrk="1" hangingPunct="1"/>
            <a:r>
              <a:rPr lang="pt-BR" dirty="0" smtClean="0"/>
              <a:t>No exemplo anterior, 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pt-BR" dirty="0" smtClean="0"/>
              <a:t>	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pt-BR" b="1" dirty="0" smtClean="0">
                <a:latin typeface="Courier New" pitchFamily="49" charset="0"/>
                <a:cs typeface="Courier New" pitchFamily="49" charset="0"/>
              </a:rPr>
              <a:t>p = (</a:t>
            </a:r>
            <a:r>
              <a:rPr lang="pt-BR" b="1" dirty="0" err="1" smtClean="0">
                <a:latin typeface="Courier New" pitchFamily="49" charset="0"/>
                <a:cs typeface="Courier New" pitchFamily="49" charset="0"/>
              </a:rPr>
              <a:t>int</a:t>
            </a:r>
            <a:r>
              <a:rPr lang="pt-BR" b="1" dirty="0" smtClean="0">
                <a:latin typeface="Courier New" pitchFamily="49" charset="0"/>
                <a:cs typeface="Courier New" pitchFamily="49" charset="0"/>
              </a:rPr>
              <a:t> *) </a:t>
            </a:r>
            <a:r>
              <a:rPr lang="pt-BR" b="1" dirty="0" err="1" smtClean="0">
                <a:latin typeface="Courier New" pitchFamily="49" charset="0"/>
                <a:cs typeface="Courier New" pitchFamily="49" charset="0"/>
              </a:rPr>
              <a:t>malloc</a:t>
            </a:r>
            <a:r>
              <a:rPr lang="pt-BR" b="1" dirty="0" smtClean="0">
                <a:latin typeface="Courier New" pitchFamily="49" charset="0"/>
                <a:cs typeface="Courier New" pitchFamily="49" charset="0"/>
              </a:rPr>
              <a:t>(50*</a:t>
            </a:r>
            <a:r>
              <a:rPr lang="pt-BR" b="1" dirty="0" err="1" smtClean="0">
                <a:latin typeface="Courier New" pitchFamily="49" charset="0"/>
                <a:cs typeface="Courier New" pitchFamily="49" charset="0"/>
              </a:rPr>
              <a:t>sizeof</a:t>
            </a:r>
            <a:r>
              <a:rPr lang="pt-BR" b="1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pt-BR" b="1" dirty="0" err="1" smtClean="0">
                <a:latin typeface="Courier New" pitchFamily="49" charset="0"/>
                <a:cs typeface="Courier New" pitchFamily="49" charset="0"/>
              </a:rPr>
              <a:t>int</a:t>
            </a:r>
            <a:r>
              <a:rPr lang="pt-BR" b="1" dirty="0" smtClean="0">
                <a:latin typeface="Courier New" pitchFamily="49" charset="0"/>
                <a:cs typeface="Courier New" pitchFamily="49" charset="0"/>
              </a:rPr>
              <a:t>));</a:t>
            </a:r>
          </a:p>
          <a:p>
            <a:pPr lvl="1" eaLnBrk="1" hangingPunct="1"/>
            <a:endParaRPr lang="pt-BR" b="1" dirty="0" smtClean="0"/>
          </a:p>
          <a:p>
            <a:pPr lvl="1"/>
            <a:r>
              <a:rPr lang="pt-BR" b="1" dirty="0" err="1" smtClean="0"/>
              <a:t>sizeof</a:t>
            </a:r>
            <a:r>
              <a:rPr lang="pt-BR" b="1" dirty="0" smtClean="0"/>
              <a:t>(</a:t>
            </a:r>
            <a:r>
              <a:rPr lang="pt-BR" b="1" dirty="0" err="1" smtClean="0"/>
              <a:t>int</a:t>
            </a:r>
            <a:r>
              <a:rPr lang="pt-BR" b="1" dirty="0" smtClean="0"/>
              <a:t>) </a:t>
            </a:r>
            <a:r>
              <a:rPr lang="pt-BR" dirty="0" smtClean="0"/>
              <a:t>retorna 4 </a:t>
            </a:r>
          </a:p>
          <a:p>
            <a:pPr lvl="2"/>
            <a:r>
              <a:rPr lang="pt-BR" dirty="0" smtClean="0"/>
              <a:t>número de bytes do tipo </a:t>
            </a:r>
            <a:r>
              <a:rPr lang="pt-BR" b="1" dirty="0" err="1" smtClean="0"/>
              <a:t>int</a:t>
            </a:r>
            <a:r>
              <a:rPr lang="pt-BR" dirty="0" smtClean="0"/>
              <a:t> na memória</a:t>
            </a:r>
          </a:p>
          <a:p>
            <a:pPr lvl="1" eaLnBrk="1" hangingPunct="1"/>
            <a:r>
              <a:rPr lang="pt-BR" dirty="0" smtClean="0"/>
              <a:t>Portanto, são alocados 200 bytes (50 * 4)</a:t>
            </a:r>
          </a:p>
          <a:p>
            <a:pPr lvl="1"/>
            <a:r>
              <a:rPr lang="pt-BR" dirty="0"/>
              <a:t>200 </a:t>
            </a:r>
            <a:r>
              <a:rPr lang="pt-BR" dirty="0" smtClean="0"/>
              <a:t>bytes = 50 posições do tipo </a:t>
            </a:r>
            <a:r>
              <a:rPr lang="pt-BR" b="1" dirty="0" err="1" smtClean="0"/>
              <a:t>int</a:t>
            </a:r>
            <a:r>
              <a:rPr lang="pt-BR" b="1" dirty="0" smtClean="0"/>
              <a:t> </a:t>
            </a:r>
            <a:r>
              <a:rPr lang="pt-BR" dirty="0" smtClean="0"/>
              <a:t>na memória</a:t>
            </a:r>
          </a:p>
        </p:txBody>
      </p:sp>
    </p:spTree>
    <p:extLst>
      <p:ext uri="{BB962C8B-B14F-4D97-AF65-F5344CB8AC3E}">
        <p14:creationId xmlns:p14="http://schemas.microsoft.com/office/powerpoint/2010/main" val="39653855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smtClean="0"/>
              <a:t>Alocação Dinâmica - malloc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/>
              <a:t>Se não houver memória suficiente para alocar a memória requisitada, a função </a:t>
            </a:r>
            <a:r>
              <a:rPr lang="pt-BR" b="1" dirty="0" err="1"/>
              <a:t>malloc</a:t>
            </a:r>
            <a:r>
              <a:rPr lang="pt-BR" b="1" dirty="0"/>
              <a:t>()</a:t>
            </a:r>
            <a:r>
              <a:rPr lang="pt-BR" dirty="0"/>
              <a:t> retorna um ponteiro nulo</a:t>
            </a:r>
            <a:endParaRPr lang="pt-BR" dirty="0" smtClean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28726" y="2786058"/>
            <a:ext cx="6343670" cy="38398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42874186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dirty="0" smtClean="0"/>
              <a:t>Alocação Dinâmica - </a:t>
            </a:r>
            <a:r>
              <a:rPr lang="pt-BR" dirty="0" err="1" smtClean="0"/>
              <a:t>calloc</a:t>
            </a:r>
            <a:endParaRPr lang="pt-BR" dirty="0" smtClean="0"/>
          </a:p>
        </p:txBody>
      </p:sp>
      <p:sp>
        <p:nvSpPr>
          <p:cNvPr id="12291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b="1" dirty="0" err="1"/>
              <a:t>calloc</a:t>
            </a:r>
            <a:endParaRPr lang="pt-BR" b="1" dirty="0"/>
          </a:p>
          <a:p>
            <a:pPr lvl="1"/>
            <a:r>
              <a:rPr lang="pt-BR" dirty="0"/>
              <a:t>A função </a:t>
            </a:r>
            <a:r>
              <a:rPr lang="pt-BR" dirty="0" err="1"/>
              <a:t>calloc</a:t>
            </a:r>
            <a:r>
              <a:rPr lang="pt-BR" dirty="0"/>
              <a:t>() também serve para alocar memória, mas possui um protótipo um pouco diferente:</a:t>
            </a:r>
          </a:p>
          <a:p>
            <a:pPr marL="365760" lvl="1" indent="0">
              <a:buNone/>
            </a:pPr>
            <a:endParaRPr lang="pt-BR" b="1" dirty="0" smtClean="0"/>
          </a:p>
          <a:p>
            <a:endParaRPr lang="pt-BR" dirty="0" smtClean="0"/>
          </a:p>
          <a:p>
            <a:endParaRPr lang="pt-BR" dirty="0"/>
          </a:p>
          <a:p>
            <a:r>
              <a:rPr lang="pt-BR" dirty="0"/>
              <a:t>Funcionalidade</a:t>
            </a:r>
          </a:p>
          <a:p>
            <a:pPr lvl="1"/>
            <a:r>
              <a:rPr lang="pt-BR" dirty="0"/>
              <a:t>Basicamente, a função </a:t>
            </a:r>
            <a:r>
              <a:rPr lang="pt-BR" dirty="0" err="1"/>
              <a:t>calloc</a:t>
            </a:r>
            <a:r>
              <a:rPr lang="pt-BR" dirty="0"/>
              <a:t>() faz o mesmo que a função </a:t>
            </a:r>
            <a:r>
              <a:rPr lang="pt-BR" dirty="0" err="1"/>
              <a:t>malloc</a:t>
            </a:r>
            <a:r>
              <a:rPr lang="pt-BR" dirty="0"/>
              <a:t>(). A diferença é que agora passamos a quantidade de posições a serem alocadas e o tamanho do tipo de dado alocado como parâmetros distintos da função.</a:t>
            </a:r>
            <a:endParaRPr lang="pt-BR" dirty="0" smtClean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9188" y="3140968"/>
            <a:ext cx="6905625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474672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dirty="0" smtClean="0"/>
              <a:t>Alocação Dinâmica - </a:t>
            </a:r>
            <a:r>
              <a:rPr lang="pt-BR" dirty="0" err="1" smtClean="0"/>
              <a:t>calloc</a:t>
            </a:r>
            <a:endParaRPr lang="pt-BR" dirty="0" smtClean="0"/>
          </a:p>
        </p:txBody>
      </p:sp>
      <p:sp>
        <p:nvSpPr>
          <p:cNvPr id="12291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/>
              <a:t>Exemplo da função </a:t>
            </a:r>
            <a:r>
              <a:rPr lang="pt-BR" b="1" dirty="0" err="1" smtClean="0"/>
              <a:t>calloc</a:t>
            </a:r>
            <a:endParaRPr lang="pt-BR" b="1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62075" y="2285992"/>
            <a:ext cx="6419850" cy="4171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9474672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smtClean="0"/>
              <a:t>Alocação Dinâmica - realloc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609600" y="1600200"/>
            <a:ext cx="8305800" cy="44196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pt-BR" b="1" dirty="0" err="1" smtClean="0"/>
              <a:t>realloc</a:t>
            </a:r>
            <a:endParaRPr lang="pt-BR" b="1" dirty="0" smtClean="0"/>
          </a:p>
          <a:p>
            <a:pPr lvl="1" eaLnBrk="1" hangingPunct="1">
              <a:lnSpc>
                <a:spcPct val="90000"/>
              </a:lnSpc>
            </a:pPr>
            <a:r>
              <a:rPr lang="pt-BR" dirty="0" smtClean="0"/>
              <a:t>A função </a:t>
            </a:r>
            <a:r>
              <a:rPr lang="pt-BR" dirty="0" err="1" smtClean="0"/>
              <a:t>realloc</a:t>
            </a:r>
            <a:r>
              <a:rPr lang="pt-BR" dirty="0" smtClean="0"/>
              <a:t>() serve para realocar memória e tem o seguinte protótipo: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endParaRPr lang="pt-BR" b="1" dirty="0" smtClean="0"/>
          </a:p>
          <a:p>
            <a:pPr eaLnBrk="1" hangingPunct="1">
              <a:lnSpc>
                <a:spcPct val="90000"/>
              </a:lnSpc>
            </a:pPr>
            <a:endParaRPr lang="pt-BR" dirty="0" smtClean="0"/>
          </a:p>
          <a:p>
            <a:pPr eaLnBrk="1" hangingPunct="1">
              <a:lnSpc>
                <a:spcPct val="90000"/>
              </a:lnSpc>
            </a:pPr>
            <a:endParaRPr lang="pt-BR" dirty="0" smtClean="0"/>
          </a:p>
          <a:p>
            <a:pPr eaLnBrk="1" hangingPunct="1">
              <a:lnSpc>
                <a:spcPct val="90000"/>
              </a:lnSpc>
            </a:pPr>
            <a:r>
              <a:rPr lang="pt-BR" dirty="0" smtClean="0"/>
              <a:t>Funcionalidade</a:t>
            </a:r>
          </a:p>
          <a:p>
            <a:pPr lvl="1" eaLnBrk="1" hangingPunct="1">
              <a:lnSpc>
                <a:spcPct val="90000"/>
              </a:lnSpc>
            </a:pPr>
            <a:r>
              <a:rPr lang="pt-BR" dirty="0" smtClean="0"/>
              <a:t>A função modifica o tamanho da memória previamente alocada e apontada por </a:t>
            </a:r>
            <a:r>
              <a:rPr lang="pt-BR" b="1" dirty="0" smtClean="0"/>
              <a:t>*</a:t>
            </a:r>
            <a:r>
              <a:rPr lang="pt-BR" b="1" dirty="0" err="1" smtClean="0"/>
              <a:t>ptr</a:t>
            </a:r>
            <a:r>
              <a:rPr lang="pt-BR" dirty="0" smtClean="0"/>
              <a:t> para aquele especificado por </a:t>
            </a:r>
            <a:r>
              <a:rPr lang="pt-BR" b="1" dirty="0" smtClean="0"/>
              <a:t>num</a:t>
            </a:r>
            <a:r>
              <a:rPr lang="pt-BR" dirty="0" smtClean="0"/>
              <a:t>. </a:t>
            </a:r>
          </a:p>
          <a:p>
            <a:pPr lvl="1" eaLnBrk="1" hangingPunct="1">
              <a:lnSpc>
                <a:spcPct val="90000"/>
              </a:lnSpc>
            </a:pPr>
            <a:r>
              <a:rPr lang="pt-BR" dirty="0" smtClean="0"/>
              <a:t>O valor de </a:t>
            </a:r>
            <a:r>
              <a:rPr lang="pt-BR" b="1" dirty="0" smtClean="0"/>
              <a:t>num</a:t>
            </a:r>
            <a:r>
              <a:rPr lang="pt-BR" dirty="0" smtClean="0"/>
              <a:t> pode ser maior ou menor que o original.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28763" y="3000372"/>
            <a:ext cx="6086475" cy="419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smtClean="0"/>
              <a:t>Alocação Dinâmica - realloc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600200"/>
            <a:ext cx="4572000" cy="44196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pt-BR" b="1" dirty="0" err="1" smtClean="0"/>
              <a:t>realloc</a:t>
            </a:r>
            <a:endParaRPr lang="pt-BR" b="1" dirty="0" smtClean="0"/>
          </a:p>
          <a:p>
            <a:pPr lvl="1" eaLnBrk="1" hangingPunct="1">
              <a:defRPr/>
            </a:pPr>
            <a:r>
              <a:rPr lang="pt-BR" dirty="0" smtClean="0"/>
              <a:t>Um ponteiro para o bloco é devolvido porque </a:t>
            </a:r>
            <a:r>
              <a:rPr lang="pt-BR" dirty="0" err="1" smtClean="0"/>
              <a:t>realloc</a:t>
            </a:r>
            <a:r>
              <a:rPr lang="pt-BR" dirty="0" smtClean="0"/>
              <a:t>() pode precisar mover o bloco para aumentar seu tamanho. </a:t>
            </a:r>
          </a:p>
          <a:p>
            <a:pPr lvl="1" eaLnBrk="1" hangingPunct="1">
              <a:defRPr/>
            </a:pPr>
            <a:r>
              <a:rPr lang="pt-BR" dirty="0" smtClean="0"/>
              <a:t>Se isso ocorrer, o conteúdo do bloco antigo é copiado para o novo bloco, e nenhuma informação é perdida. </a:t>
            </a: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/>
          <a:srcRect b="4713"/>
          <a:stretch>
            <a:fillRect/>
          </a:stretch>
        </p:blipFill>
        <p:spPr bwMode="auto">
          <a:xfrm>
            <a:off x="5000628" y="1481147"/>
            <a:ext cx="4059017" cy="53054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dirty="0" smtClean="0"/>
              <a:t>Alocação Dinâmica - </a:t>
            </a:r>
            <a:r>
              <a:rPr lang="pt-BR" dirty="0" err="1" smtClean="0"/>
              <a:t>realloc</a:t>
            </a:r>
            <a:endParaRPr lang="pt-BR" dirty="0" smtClean="0"/>
          </a:p>
        </p:txBody>
      </p:sp>
      <p:sp>
        <p:nvSpPr>
          <p:cNvPr id="18435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 eaLnBrk="1" hangingPunct="1"/>
            <a:r>
              <a:rPr lang="pt-BR" smtClean="0"/>
              <a:t>Observações sobre realloc()</a:t>
            </a:r>
          </a:p>
          <a:p>
            <a:pPr lvl="1" eaLnBrk="1" hangingPunct="1"/>
            <a:r>
              <a:rPr lang="pt-BR" smtClean="0"/>
              <a:t>Se </a:t>
            </a:r>
            <a:r>
              <a:rPr lang="pt-BR" b="1" smtClean="0"/>
              <a:t>*ptr </a:t>
            </a:r>
            <a:r>
              <a:rPr lang="pt-BR" smtClean="0"/>
              <a:t>for nulo, aloca </a:t>
            </a:r>
            <a:r>
              <a:rPr lang="pt-BR" b="1" smtClean="0"/>
              <a:t>num</a:t>
            </a:r>
            <a:r>
              <a:rPr lang="pt-BR" smtClean="0"/>
              <a:t> bytes e devolve um ponteiro (igual malloc); </a:t>
            </a:r>
          </a:p>
          <a:p>
            <a:pPr lvl="1" eaLnBrk="1" hangingPunct="1"/>
            <a:r>
              <a:rPr lang="pt-BR" smtClean="0"/>
              <a:t>se </a:t>
            </a:r>
            <a:r>
              <a:rPr lang="pt-BR" b="1" smtClean="0"/>
              <a:t>num</a:t>
            </a:r>
            <a:r>
              <a:rPr lang="pt-BR" smtClean="0"/>
              <a:t> é zero, a memória apontada por </a:t>
            </a:r>
            <a:r>
              <a:rPr lang="pt-BR" b="1" smtClean="0"/>
              <a:t>*ptr</a:t>
            </a:r>
            <a:r>
              <a:rPr lang="pt-BR" smtClean="0"/>
              <a:t> é liberada (igual free). </a:t>
            </a:r>
          </a:p>
          <a:p>
            <a:pPr lvl="1" eaLnBrk="1" hangingPunct="1"/>
            <a:r>
              <a:rPr lang="pt-BR" smtClean="0"/>
              <a:t>Se não houver memória suficiente para a alocação, um ponteiro nulo é devolvido e o bloco original é deixado inalterado.</a:t>
            </a:r>
          </a:p>
          <a:p>
            <a:pPr lvl="1" eaLnBrk="1" hangingPunct="1"/>
            <a:endParaRPr lang="pt-BR" smtClean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dirty="0" smtClean="0"/>
              <a:t>Alocação Dinâmica - </a:t>
            </a:r>
            <a:r>
              <a:rPr lang="pt-BR" dirty="0" err="1" smtClean="0"/>
              <a:t>free</a:t>
            </a:r>
            <a:endParaRPr lang="pt-BR" dirty="0" smtClean="0"/>
          </a:p>
        </p:txBody>
      </p:sp>
      <p:sp>
        <p:nvSpPr>
          <p:cNvPr id="18435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b="1" dirty="0" err="1"/>
              <a:t>free</a:t>
            </a:r>
            <a:endParaRPr lang="pt-BR" b="1" dirty="0"/>
          </a:p>
          <a:p>
            <a:pPr lvl="1"/>
            <a:r>
              <a:rPr lang="pt-BR" dirty="0"/>
              <a:t>Diferente das variáveis definidas durante a escrita do programa, as variáveis alocadas dinamicamente não são liberadas automaticamente pelo programa.</a:t>
            </a:r>
          </a:p>
          <a:p>
            <a:pPr lvl="1"/>
            <a:r>
              <a:rPr lang="pt-BR" dirty="0"/>
              <a:t>Quando alocamos memória dinamicamente é necessário que nós a liberemos quando ela não for mais necessária. </a:t>
            </a:r>
          </a:p>
          <a:p>
            <a:pPr lvl="1"/>
            <a:r>
              <a:rPr lang="pt-BR" dirty="0"/>
              <a:t>Para isto existe a função </a:t>
            </a:r>
            <a:r>
              <a:rPr lang="pt-BR" b="1" dirty="0" err="1"/>
              <a:t>free</a:t>
            </a:r>
            <a:r>
              <a:rPr lang="pt-BR" b="1" dirty="0"/>
              <a:t>()</a:t>
            </a:r>
            <a:r>
              <a:rPr lang="pt-BR" dirty="0"/>
              <a:t> cujo protótipo é: </a:t>
            </a:r>
          </a:p>
          <a:p>
            <a:pPr lvl="1" eaLnBrk="1" hangingPunct="1"/>
            <a:endParaRPr lang="pt-BR" dirty="0" smtClean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233738" y="4643446"/>
            <a:ext cx="2676525" cy="561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9110636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smtClean="0"/>
              <a:t>Alocação Dinâmica - free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 eaLnBrk="1" hangingPunct="1"/>
            <a:r>
              <a:rPr lang="pt-BR" dirty="0" smtClean="0"/>
              <a:t>Assim, para liberar a memória, basta passar como parâmetro para a função </a:t>
            </a:r>
            <a:r>
              <a:rPr lang="pt-BR" dirty="0" err="1" smtClean="0"/>
              <a:t>free</a:t>
            </a:r>
            <a:r>
              <a:rPr lang="pt-BR" dirty="0" smtClean="0"/>
              <a:t>() o ponteiro que aponta para o início da memória a ser </a:t>
            </a:r>
            <a:r>
              <a:rPr lang="pt-BR" dirty="0" err="1" smtClean="0"/>
              <a:t>desalocada</a:t>
            </a:r>
            <a:r>
              <a:rPr lang="pt-BR" dirty="0" smtClean="0"/>
              <a:t>.</a:t>
            </a:r>
          </a:p>
          <a:p>
            <a:pPr eaLnBrk="1" hangingPunct="1"/>
            <a:r>
              <a:rPr lang="pt-BR" dirty="0" smtClean="0"/>
              <a:t>Como o programa sabe quantos bytes devem ser liberados? </a:t>
            </a:r>
          </a:p>
          <a:p>
            <a:pPr lvl="1" eaLnBrk="1" hangingPunct="1"/>
            <a:r>
              <a:rPr lang="pt-BR" dirty="0" smtClean="0"/>
              <a:t>Quando se aloca a memória, o programa guarda o número de bytes alocados numa "tabela de alocação" interna.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smtClean="0"/>
              <a:t>Alocação Dinâmica - free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 eaLnBrk="1" hangingPunct="1"/>
            <a:r>
              <a:rPr lang="pt-BR" dirty="0" smtClean="0"/>
              <a:t>Exemplo da função </a:t>
            </a:r>
            <a:r>
              <a:rPr lang="pt-BR" b="1" dirty="0" err="1" smtClean="0"/>
              <a:t>free</a:t>
            </a:r>
            <a:r>
              <a:rPr lang="pt-BR" b="1" dirty="0" smtClean="0"/>
              <a:t>()</a:t>
            </a:r>
            <a:endParaRPr lang="pt-BR" dirty="0" smtClean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3608" y="2081100"/>
            <a:ext cx="6008712" cy="46406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Alocação de </a:t>
            </a:r>
            <a:r>
              <a:rPr lang="pt-BR" dirty="0" err="1" smtClean="0"/>
              <a:t>arrays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/>
              <a:t>Para armazenar um </a:t>
            </a:r>
            <a:r>
              <a:rPr lang="pt-BR" dirty="0" err="1"/>
              <a:t>array</a:t>
            </a:r>
            <a:r>
              <a:rPr lang="pt-BR" dirty="0"/>
              <a:t> o compilador C calcula o tamanho, em bytes, necessário e reserva posições sequenciais na memória</a:t>
            </a:r>
          </a:p>
          <a:p>
            <a:pPr lvl="1"/>
            <a:r>
              <a:rPr lang="pt-BR" dirty="0"/>
              <a:t>Note que isso é muito parecido com alocação dinâmica</a:t>
            </a:r>
          </a:p>
          <a:p>
            <a:r>
              <a:rPr lang="pt-BR" dirty="0"/>
              <a:t>Existe uma ligação muito forte entre ponteiros e </a:t>
            </a:r>
            <a:r>
              <a:rPr lang="pt-BR" dirty="0" err="1"/>
              <a:t>arrays</a:t>
            </a:r>
            <a:r>
              <a:rPr lang="pt-BR" dirty="0"/>
              <a:t>. </a:t>
            </a:r>
          </a:p>
          <a:p>
            <a:pPr lvl="1"/>
            <a:r>
              <a:rPr lang="pt-BR" dirty="0"/>
              <a:t>O nome do </a:t>
            </a:r>
            <a:r>
              <a:rPr lang="pt-BR" dirty="0" err="1"/>
              <a:t>array</a:t>
            </a:r>
            <a:r>
              <a:rPr lang="pt-BR" dirty="0"/>
              <a:t> é apenas um ponteiro que aponta para o primeiro elemento do </a:t>
            </a:r>
            <a:r>
              <a:rPr lang="pt-BR" dirty="0" err="1"/>
              <a:t>array</a:t>
            </a:r>
            <a:r>
              <a:rPr lang="pt-BR" dirty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597903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smtClean="0"/>
              <a:t>Alocação de arrays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pt-BR" dirty="0" smtClean="0"/>
              <a:t>Ao alocarmos memória estamos, na verdade, alocando um </a:t>
            </a:r>
            <a:r>
              <a:rPr lang="pt-BR" dirty="0" err="1" smtClean="0"/>
              <a:t>array</a:t>
            </a:r>
            <a:r>
              <a:rPr lang="pt-BR" dirty="0" smtClean="0"/>
              <a:t>.</a:t>
            </a:r>
          </a:p>
        </p:txBody>
      </p:sp>
      <p:grpSp>
        <p:nvGrpSpPr>
          <p:cNvPr id="2" name="Grupo 1"/>
          <p:cNvGrpSpPr/>
          <p:nvPr/>
        </p:nvGrpSpPr>
        <p:grpSpPr>
          <a:xfrm>
            <a:off x="838200" y="2638425"/>
            <a:ext cx="6775450" cy="3457575"/>
            <a:chOff x="838200" y="2638425"/>
            <a:chExt cx="6775450" cy="3457575"/>
          </a:xfrm>
        </p:grpSpPr>
        <p:grpSp>
          <p:nvGrpSpPr>
            <p:cNvPr id="23556" name="Group 4"/>
            <p:cNvGrpSpPr>
              <a:grpSpLocks/>
            </p:cNvGrpSpPr>
            <p:nvPr/>
          </p:nvGrpSpPr>
          <p:grpSpPr bwMode="auto">
            <a:xfrm>
              <a:off x="1676400" y="5105400"/>
              <a:ext cx="5937250" cy="990600"/>
              <a:chOff x="1008" y="2985"/>
              <a:chExt cx="3740" cy="624"/>
            </a:xfrm>
          </p:grpSpPr>
          <p:grpSp>
            <p:nvGrpSpPr>
              <p:cNvPr id="23559" name="Group 5"/>
              <p:cNvGrpSpPr>
                <a:grpSpLocks/>
              </p:cNvGrpSpPr>
              <p:nvPr/>
            </p:nvGrpSpPr>
            <p:grpSpPr bwMode="auto">
              <a:xfrm>
                <a:off x="1008" y="2985"/>
                <a:ext cx="624" cy="624"/>
                <a:chOff x="576" y="2880"/>
                <a:chExt cx="624" cy="624"/>
              </a:xfrm>
            </p:grpSpPr>
            <p:sp>
              <p:nvSpPr>
                <p:cNvPr id="23575" name="Rectangle 6"/>
                <p:cNvSpPr>
                  <a:spLocks noChangeArrowheads="1"/>
                </p:cNvSpPr>
                <p:nvPr/>
              </p:nvSpPr>
              <p:spPr bwMode="auto">
                <a:xfrm>
                  <a:off x="576" y="3120"/>
                  <a:ext cx="624" cy="384"/>
                </a:xfrm>
                <a:prstGeom prst="rect">
                  <a:avLst/>
                </a:prstGeom>
                <a:solidFill>
                  <a:schemeClr val="accent2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3576" name="Text Box 7"/>
                <p:cNvSpPr txBox="1">
                  <a:spLocks noChangeArrowheads="1"/>
                </p:cNvSpPr>
                <p:nvPr/>
              </p:nvSpPr>
              <p:spPr bwMode="auto">
                <a:xfrm>
                  <a:off x="720" y="2880"/>
                  <a:ext cx="336" cy="23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</a:pPr>
                  <a:r>
                    <a:rPr lang="pt-BR" b="1"/>
                    <a:t>0</a:t>
                  </a:r>
                </a:p>
              </p:txBody>
            </p:sp>
          </p:grpSp>
          <p:grpSp>
            <p:nvGrpSpPr>
              <p:cNvPr id="23560" name="Group 8"/>
              <p:cNvGrpSpPr>
                <a:grpSpLocks/>
              </p:cNvGrpSpPr>
              <p:nvPr/>
            </p:nvGrpSpPr>
            <p:grpSpPr bwMode="auto">
              <a:xfrm>
                <a:off x="1628" y="2985"/>
                <a:ext cx="624" cy="624"/>
                <a:chOff x="572" y="2880"/>
                <a:chExt cx="624" cy="624"/>
              </a:xfrm>
            </p:grpSpPr>
            <p:sp>
              <p:nvSpPr>
                <p:cNvPr id="23573" name="Rectangle 9"/>
                <p:cNvSpPr>
                  <a:spLocks noChangeArrowheads="1"/>
                </p:cNvSpPr>
                <p:nvPr/>
              </p:nvSpPr>
              <p:spPr bwMode="auto">
                <a:xfrm>
                  <a:off x="572" y="3120"/>
                  <a:ext cx="624" cy="384"/>
                </a:xfrm>
                <a:prstGeom prst="rect">
                  <a:avLst/>
                </a:prstGeom>
                <a:solidFill>
                  <a:schemeClr val="accent2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3574" name="Text Box 10"/>
                <p:cNvSpPr txBox="1">
                  <a:spLocks noChangeArrowheads="1"/>
                </p:cNvSpPr>
                <p:nvPr/>
              </p:nvSpPr>
              <p:spPr bwMode="auto">
                <a:xfrm>
                  <a:off x="720" y="2880"/>
                  <a:ext cx="336" cy="23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</a:pPr>
                  <a:r>
                    <a:rPr lang="pt-BR" b="1"/>
                    <a:t>1</a:t>
                  </a:r>
                </a:p>
              </p:txBody>
            </p:sp>
          </p:grpSp>
          <p:grpSp>
            <p:nvGrpSpPr>
              <p:cNvPr id="23561" name="Group 11"/>
              <p:cNvGrpSpPr>
                <a:grpSpLocks/>
              </p:cNvGrpSpPr>
              <p:nvPr/>
            </p:nvGrpSpPr>
            <p:grpSpPr bwMode="auto">
              <a:xfrm>
                <a:off x="2252" y="2985"/>
                <a:ext cx="624" cy="624"/>
                <a:chOff x="572" y="2880"/>
                <a:chExt cx="624" cy="624"/>
              </a:xfrm>
            </p:grpSpPr>
            <p:sp>
              <p:nvSpPr>
                <p:cNvPr id="23571" name="Rectangle 12"/>
                <p:cNvSpPr>
                  <a:spLocks noChangeArrowheads="1"/>
                </p:cNvSpPr>
                <p:nvPr/>
              </p:nvSpPr>
              <p:spPr bwMode="auto">
                <a:xfrm>
                  <a:off x="572" y="3120"/>
                  <a:ext cx="624" cy="384"/>
                </a:xfrm>
                <a:prstGeom prst="rect">
                  <a:avLst/>
                </a:prstGeom>
                <a:solidFill>
                  <a:schemeClr val="accent2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3572" name="Text Box 13"/>
                <p:cNvSpPr txBox="1">
                  <a:spLocks noChangeArrowheads="1"/>
                </p:cNvSpPr>
                <p:nvPr/>
              </p:nvSpPr>
              <p:spPr bwMode="auto">
                <a:xfrm>
                  <a:off x="720" y="2880"/>
                  <a:ext cx="336" cy="23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</a:pPr>
                  <a:r>
                    <a:rPr lang="pt-BR" b="1"/>
                    <a:t>...</a:t>
                  </a:r>
                </a:p>
              </p:txBody>
            </p:sp>
          </p:grpSp>
          <p:grpSp>
            <p:nvGrpSpPr>
              <p:cNvPr id="23562" name="Group 14"/>
              <p:cNvGrpSpPr>
                <a:grpSpLocks/>
              </p:cNvGrpSpPr>
              <p:nvPr/>
            </p:nvGrpSpPr>
            <p:grpSpPr bwMode="auto">
              <a:xfrm>
                <a:off x="2876" y="2985"/>
                <a:ext cx="624" cy="624"/>
                <a:chOff x="572" y="2880"/>
                <a:chExt cx="624" cy="624"/>
              </a:xfrm>
            </p:grpSpPr>
            <p:sp>
              <p:nvSpPr>
                <p:cNvPr id="23569" name="Rectangle 15"/>
                <p:cNvSpPr>
                  <a:spLocks noChangeArrowheads="1"/>
                </p:cNvSpPr>
                <p:nvPr/>
              </p:nvSpPr>
              <p:spPr bwMode="auto">
                <a:xfrm>
                  <a:off x="572" y="3120"/>
                  <a:ext cx="624" cy="384"/>
                </a:xfrm>
                <a:prstGeom prst="rect">
                  <a:avLst/>
                </a:prstGeom>
                <a:solidFill>
                  <a:schemeClr val="accent2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3570" name="Text Box 16"/>
                <p:cNvSpPr txBox="1">
                  <a:spLocks noChangeArrowheads="1"/>
                </p:cNvSpPr>
                <p:nvPr/>
              </p:nvSpPr>
              <p:spPr bwMode="auto">
                <a:xfrm>
                  <a:off x="720" y="2880"/>
                  <a:ext cx="336" cy="23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</a:pPr>
                  <a:endParaRPr lang="en-US" b="1"/>
                </a:p>
              </p:txBody>
            </p:sp>
          </p:grpSp>
          <p:grpSp>
            <p:nvGrpSpPr>
              <p:cNvPr id="23563" name="Group 17"/>
              <p:cNvGrpSpPr>
                <a:grpSpLocks/>
              </p:cNvGrpSpPr>
              <p:nvPr/>
            </p:nvGrpSpPr>
            <p:grpSpPr bwMode="auto">
              <a:xfrm>
                <a:off x="3500" y="2985"/>
                <a:ext cx="624" cy="624"/>
                <a:chOff x="572" y="2880"/>
                <a:chExt cx="624" cy="624"/>
              </a:xfrm>
            </p:grpSpPr>
            <p:sp>
              <p:nvSpPr>
                <p:cNvPr id="23567" name="Rectangle 18"/>
                <p:cNvSpPr>
                  <a:spLocks noChangeArrowheads="1"/>
                </p:cNvSpPr>
                <p:nvPr/>
              </p:nvSpPr>
              <p:spPr bwMode="auto">
                <a:xfrm>
                  <a:off x="572" y="3120"/>
                  <a:ext cx="624" cy="384"/>
                </a:xfrm>
                <a:prstGeom prst="rect">
                  <a:avLst/>
                </a:prstGeom>
                <a:solidFill>
                  <a:schemeClr val="accent2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3568" name="Text Box 19"/>
                <p:cNvSpPr txBox="1">
                  <a:spLocks noChangeArrowheads="1"/>
                </p:cNvSpPr>
                <p:nvPr/>
              </p:nvSpPr>
              <p:spPr bwMode="auto">
                <a:xfrm>
                  <a:off x="720" y="2880"/>
                  <a:ext cx="336" cy="23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</a:pPr>
                  <a:endParaRPr lang="en-US" b="1"/>
                </a:p>
              </p:txBody>
            </p:sp>
          </p:grpSp>
          <p:grpSp>
            <p:nvGrpSpPr>
              <p:cNvPr id="23564" name="Group 20"/>
              <p:cNvGrpSpPr>
                <a:grpSpLocks/>
              </p:cNvGrpSpPr>
              <p:nvPr/>
            </p:nvGrpSpPr>
            <p:grpSpPr bwMode="auto">
              <a:xfrm>
                <a:off x="4124" y="2985"/>
                <a:ext cx="624" cy="624"/>
                <a:chOff x="572" y="2880"/>
                <a:chExt cx="624" cy="624"/>
              </a:xfrm>
            </p:grpSpPr>
            <p:sp>
              <p:nvSpPr>
                <p:cNvPr id="23565" name="Rectangle 21"/>
                <p:cNvSpPr>
                  <a:spLocks noChangeArrowheads="1"/>
                </p:cNvSpPr>
                <p:nvPr/>
              </p:nvSpPr>
              <p:spPr bwMode="auto">
                <a:xfrm>
                  <a:off x="572" y="3120"/>
                  <a:ext cx="624" cy="384"/>
                </a:xfrm>
                <a:prstGeom prst="rect">
                  <a:avLst/>
                </a:prstGeom>
                <a:solidFill>
                  <a:schemeClr val="accent2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3566" name="Text Box 22"/>
                <p:cNvSpPr txBox="1">
                  <a:spLocks noChangeArrowheads="1"/>
                </p:cNvSpPr>
                <p:nvPr/>
              </p:nvSpPr>
              <p:spPr bwMode="auto">
                <a:xfrm>
                  <a:off x="720" y="2880"/>
                  <a:ext cx="336" cy="23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</a:pPr>
                  <a:r>
                    <a:rPr lang="pt-BR" b="1"/>
                    <a:t>99</a:t>
                  </a:r>
                </a:p>
              </p:txBody>
            </p:sp>
          </p:grpSp>
        </p:grpSp>
        <p:sp>
          <p:nvSpPr>
            <p:cNvPr id="23557" name="Text Box 23"/>
            <p:cNvSpPr txBox="1">
              <a:spLocks noChangeArrowheads="1"/>
            </p:cNvSpPr>
            <p:nvPr/>
          </p:nvSpPr>
          <p:spPr bwMode="auto">
            <a:xfrm>
              <a:off x="838200" y="5508625"/>
              <a:ext cx="381000" cy="519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pt-BR" sz="2800" dirty="0"/>
                <a:t>p</a:t>
              </a:r>
            </a:p>
          </p:txBody>
        </p:sp>
        <p:sp>
          <p:nvSpPr>
            <p:cNvPr id="23558" name="Line 24"/>
            <p:cNvSpPr>
              <a:spLocks noChangeShapeType="1"/>
            </p:cNvSpPr>
            <p:nvPr/>
          </p:nvSpPr>
          <p:spPr bwMode="auto">
            <a:xfrm>
              <a:off x="1295400" y="5770563"/>
              <a:ext cx="3048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pic>
          <p:nvPicPr>
            <p:cNvPr id="1026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62188" y="2638425"/>
              <a:ext cx="4619625" cy="18573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smtClean="0"/>
              <a:t>Alocação de arrays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 eaLnBrk="1" hangingPunct="1"/>
            <a:r>
              <a:rPr lang="pt-BR" dirty="0" smtClean="0"/>
              <a:t>Note, no entanto, que o </a:t>
            </a:r>
            <a:r>
              <a:rPr lang="pt-BR" dirty="0" err="1" smtClean="0"/>
              <a:t>array</a:t>
            </a:r>
            <a:r>
              <a:rPr lang="pt-BR" dirty="0" smtClean="0"/>
              <a:t> alocado possui apenas uma dimensão</a:t>
            </a:r>
          </a:p>
          <a:p>
            <a:pPr eaLnBrk="1" hangingPunct="1"/>
            <a:r>
              <a:rPr lang="pt-BR" dirty="0" smtClean="0"/>
              <a:t>Para liberá-lo da memória, basta chamar a função </a:t>
            </a:r>
            <a:r>
              <a:rPr lang="pt-BR" dirty="0" err="1" smtClean="0"/>
              <a:t>free</a:t>
            </a:r>
            <a:r>
              <a:rPr lang="pt-BR" dirty="0" smtClean="0"/>
              <a:t>() ao final do programa:</a:t>
            </a:r>
          </a:p>
          <a:p>
            <a:pPr eaLnBrk="1" hangingPunct="1"/>
            <a:endParaRPr lang="pt-BR" dirty="0" smtClean="0"/>
          </a:p>
        </p:txBody>
      </p:sp>
      <p:grpSp>
        <p:nvGrpSpPr>
          <p:cNvPr id="3" name="Grupo 2"/>
          <p:cNvGrpSpPr/>
          <p:nvPr/>
        </p:nvGrpSpPr>
        <p:grpSpPr>
          <a:xfrm>
            <a:off x="2319338" y="3505200"/>
            <a:ext cx="4505325" cy="2667000"/>
            <a:chOff x="2319338" y="3505200"/>
            <a:chExt cx="4505325" cy="2667000"/>
          </a:xfrm>
        </p:grpSpPr>
        <p:pic>
          <p:nvPicPr>
            <p:cNvPr id="2050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19338" y="3505200"/>
              <a:ext cx="4505325" cy="26003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2" name="Retângulo 1"/>
            <p:cNvSpPr/>
            <p:nvPr/>
          </p:nvSpPr>
          <p:spPr>
            <a:xfrm>
              <a:off x="2319338" y="5791200"/>
              <a:ext cx="1109662" cy="3810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smtClean="0"/>
              <a:t>Alocação de arrays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 eaLnBrk="1" hangingPunct="1"/>
            <a:r>
              <a:rPr lang="pt-BR" dirty="0" smtClean="0"/>
              <a:t>Para alocarmos </a:t>
            </a:r>
            <a:r>
              <a:rPr lang="pt-BR" dirty="0" err="1" smtClean="0"/>
              <a:t>arrays</a:t>
            </a:r>
            <a:r>
              <a:rPr lang="pt-BR" dirty="0" smtClean="0"/>
              <a:t> com mais de uma dimensão, utilizamos o conceito de “ponteiro para ponteiro”.</a:t>
            </a:r>
          </a:p>
          <a:p>
            <a:pPr lvl="1" eaLnBrk="1" hangingPunct="1"/>
            <a:r>
              <a:rPr lang="pt-BR" dirty="0" smtClean="0"/>
              <a:t>Ex.: char ***p3;</a:t>
            </a:r>
          </a:p>
          <a:p>
            <a:pPr eaLnBrk="1" hangingPunct="1"/>
            <a:r>
              <a:rPr lang="pt-BR" dirty="0" smtClean="0"/>
              <a:t>Para cada nível do ponteiro, fazemos a alocação de uma dimensão do </a:t>
            </a:r>
            <a:r>
              <a:rPr lang="pt-BR" dirty="0" err="1" smtClean="0"/>
              <a:t>array</a:t>
            </a:r>
            <a:r>
              <a:rPr lang="pt-BR" dirty="0" smtClean="0"/>
              <a:t>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smtClean="0"/>
              <a:t>Alocação de arrays</a:t>
            </a:r>
          </a:p>
        </p:txBody>
      </p:sp>
      <p:sp>
        <p:nvSpPr>
          <p:cNvPr id="26626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09600" y="1600200"/>
            <a:ext cx="7924800" cy="3497263"/>
          </a:xfrm>
        </p:spPr>
        <p:txBody>
          <a:bodyPr/>
          <a:lstStyle/>
          <a:p>
            <a:pPr eaLnBrk="1" hangingPunct="1"/>
            <a:r>
              <a:rPr lang="pt-BR" sz="2400" dirty="0" smtClean="0"/>
              <a:t>Conceito de “ponteiro para ponteiro”: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0575" y="2933700"/>
            <a:ext cx="2409825" cy="2171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2" name="Tabela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2753808"/>
              </p:ext>
            </p:extLst>
          </p:nvPr>
        </p:nvGraphicFramePr>
        <p:xfrm>
          <a:off x="4038600" y="2245360"/>
          <a:ext cx="3733800" cy="40792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143000"/>
                <a:gridCol w="1346200"/>
                <a:gridCol w="1244600"/>
              </a:tblGrid>
              <a:tr h="370840">
                <a:tc gridSpan="3"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Memória</a:t>
                      </a:r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>
                          <a:solidFill>
                            <a:schemeClr val="bg1"/>
                          </a:solidFill>
                        </a:rPr>
                        <a:t>posição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>
                          <a:solidFill>
                            <a:schemeClr val="bg1"/>
                          </a:solidFill>
                        </a:rPr>
                        <a:t>variável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>
                          <a:solidFill>
                            <a:schemeClr val="bg1"/>
                          </a:solidFill>
                        </a:rPr>
                        <a:t>conteúdo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119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120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char ***p3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122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121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122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char **p2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124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123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124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char *p1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126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125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126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char letra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‘a’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127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6" name="Conector angulado 5"/>
          <p:cNvCxnSpPr/>
          <p:nvPr/>
        </p:nvCxnSpPr>
        <p:spPr>
          <a:xfrm>
            <a:off x="7543800" y="3616960"/>
            <a:ext cx="1588" cy="685800"/>
          </a:xfrm>
          <a:prstGeom prst="bentConnector3">
            <a:avLst>
              <a:gd name="adj1" fmla="val 27683636"/>
            </a:avLst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angulado 10"/>
          <p:cNvCxnSpPr/>
          <p:nvPr/>
        </p:nvCxnSpPr>
        <p:spPr>
          <a:xfrm>
            <a:off x="4191000" y="4302760"/>
            <a:ext cx="1587" cy="685800"/>
          </a:xfrm>
          <a:prstGeom prst="bentConnector3">
            <a:avLst>
              <a:gd name="adj1" fmla="val -18381933"/>
            </a:avLst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angulado 15"/>
          <p:cNvCxnSpPr/>
          <p:nvPr/>
        </p:nvCxnSpPr>
        <p:spPr>
          <a:xfrm>
            <a:off x="7543800" y="4988560"/>
            <a:ext cx="1588" cy="685800"/>
          </a:xfrm>
          <a:prstGeom prst="bentConnector3">
            <a:avLst>
              <a:gd name="adj1" fmla="val 27683636"/>
            </a:avLst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smtClean="0"/>
              <a:t>Alocação de arrays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381000" y="1447800"/>
            <a:ext cx="8229600" cy="51054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pt-BR" smtClean="0"/>
              <a:t>Em um ponteiro para ponteiro, cada nível do ponteiro permite criar uma nova dimensão no array. 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478" y="3224894"/>
            <a:ext cx="4867922" cy="20283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14" name="Tabela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8755781"/>
              </p:ext>
            </p:extLst>
          </p:nvPr>
        </p:nvGraphicFramePr>
        <p:xfrm>
          <a:off x="5181600" y="2209800"/>
          <a:ext cx="3733800" cy="44500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143000"/>
                <a:gridCol w="1346200"/>
                <a:gridCol w="1244600"/>
              </a:tblGrid>
              <a:tr h="370840">
                <a:tc gridSpan="3"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Memória</a:t>
                      </a:r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b="0" dirty="0" smtClean="0">
                          <a:solidFill>
                            <a:schemeClr val="bg1"/>
                          </a:solidFill>
                        </a:rPr>
                        <a:t>posição</a:t>
                      </a:r>
                      <a:endParaRPr lang="en-US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0" dirty="0" smtClean="0">
                          <a:solidFill>
                            <a:schemeClr val="bg1"/>
                          </a:solidFill>
                        </a:rPr>
                        <a:t>variável</a:t>
                      </a:r>
                      <a:endParaRPr lang="en-US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0" dirty="0" smtClean="0">
                          <a:solidFill>
                            <a:schemeClr val="bg1"/>
                          </a:solidFill>
                        </a:rPr>
                        <a:t>conteúdo</a:t>
                      </a:r>
                      <a:endParaRPr lang="en-US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119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err="1" smtClean="0"/>
                        <a:t>int</a:t>
                      </a:r>
                      <a:r>
                        <a:rPr lang="pt-BR" dirty="0" smtClean="0"/>
                        <a:t> **p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120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120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p[0]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123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121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 smtClean="0"/>
                        <a:t>p[1]</a:t>
                      </a:r>
                      <a:endParaRPr 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126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122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123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p[0][0]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69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124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p[0][1]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74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125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126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p[1][0]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14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127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p[1][1]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31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128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11" name="Conector angulado 10"/>
          <p:cNvCxnSpPr/>
          <p:nvPr/>
        </p:nvCxnSpPr>
        <p:spPr>
          <a:xfrm>
            <a:off x="8610600" y="3150552"/>
            <a:ext cx="1588" cy="319088"/>
          </a:xfrm>
          <a:prstGeom prst="bentConnector3">
            <a:avLst>
              <a:gd name="adj1" fmla="val 25026015"/>
            </a:avLst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angulado 11"/>
          <p:cNvCxnSpPr/>
          <p:nvPr/>
        </p:nvCxnSpPr>
        <p:spPr>
          <a:xfrm rot="10800000" flipV="1">
            <a:off x="7770812" y="3560128"/>
            <a:ext cx="1588" cy="1052512"/>
          </a:xfrm>
          <a:prstGeom prst="bentConnector3">
            <a:avLst>
              <a:gd name="adj1" fmla="val 18824880"/>
            </a:avLst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angulado 12"/>
          <p:cNvCxnSpPr/>
          <p:nvPr/>
        </p:nvCxnSpPr>
        <p:spPr>
          <a:xfrm>
            <a:off x="8592494" y="3850639"/>
            <a:ext cx="1588" cy="1872000"/>
          </a:xfrm>
          <a:prstGeom prst="bentConnector3">
            <a:avLst>
              <a:gd name="adj1" fmla="val 26797678"/>
            </a:avLst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smtClean="0"/>
              <a:t>Alocação de arrays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381000" y="1447800"/>
            <a:ext cx="8229600" cy="51054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pt-BR" dirty="0" smtClean="0"/>
              <a:t>Em um ponteiro para ponteiro, cada nível do ponteiro permite criar uma nova dimensão no </a:t>
            </a:r>
            <a:r>
              <a:rPr lang="pt-BR" dirty="0" err="1" smtClean="0"/>
              <a:t>array</a:t>
            </a:r>
            <a:r>
              <a:rPr lang="pt-BR" dirty="0" smtClean="0"/>
              <a:t>. </a:t>
            </a:r>
          </a:p>
        </p:txBody>
      </p:sp>
      <p:grpSp>
        <p:nvGrpSpPr>
          <p:cNvPr id="48" name="Grupo 47"/>
          <p:cNvGrpSpPr/>
          <p:nvPr/>
        </p:nvGrpSpPr>
        <p:grpSpPr>
          <a:xfrm>
            <a:off x="381000" y="2473910"/>
            <a:ext cx="7543800" cy="4155490"/>
            <a:chOff x="381000" y="2245310"/>
            <a:chExt cx="7543800" cy="4155490"/>
          </a:xfrm>
        </p:grpSpPr>
        <p:pic>
          <p:nvPicPr>
            <p:cNvPr id="4098" name="Picture 2"/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0896" b="35773"/>
            <a:stretch/>
          </p:blipFill>
          <p:spPr bwMode="auto">
            <a:xfrm>
              <a:off x="1828800" y="2245310"/>
              <a:ext cx="4867922" cy="8788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2" name="Retângulo 1"/>
            <p:cNvSpPr/>
            <p:nvPr/>
          </p:nvSpPr>
          <p:spPr>
            <a:xfrm>
              <a:off x="1828800" y="4777668"/>
              <a:ext cx="609600" cy="381000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b="1" dirty="0" err="1" smtClean="0"/>
                <a:t>int</a:t>
              </a:r>
              <a:r>
                <a:rPr lang="pt-BR" dirty="0" smtClean="0"/>
                <a:t>*</a:t>
              </a:r>
              <a:endParaRPr lang="en-US" dirty="0"/>
            </a:p>
          </p:txBody>
        </p:sp>
        <p:sp>
          <p:nvSpPr>
            <p:cNvPr id="10" name="Retângulo 9"/>
            <p:cNvSpPr/>
            <p:nvPr/>
          </p:nvSpPr>
          <p:spPr>
            <a:xfrm>
              <a:off x="1828800" y="5158668"/>
              <a:ext cx="609600" cy="381000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b="1" dirty="0" err="1" smtClean="0"/>
                <a:t>int</a:t>
              </a:r>
              <a:r>
                <a:rPr lang="pt-BR" dirty="0" smtClean="0"/>
                <a:t>*</a:t>
              </a:r>
              <a:endParaRPr lang="en-US" dirty="0"/>
            </a:p>
          </p:txBody>
        </p:sp>
        <p:sp>
          <p:nvSpPr>
            <p:cNvPr id="15" name="Retângulo 14"/>
            <p:cNvSpPr/>
            <p:nvPr/>
          </p:nvSpPr>
          <p:spPr>
            <a:xfrm>
              <a:off x="1828800" y="5539668"/>
              <a:ext cx="609600" cy="381000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b="1" dirty="0" err="1" smtClean="0"/>
                <a:t>int</a:t>
              </a:r>
              <a:r>
                <a:rPr lang="pt-BR" dirty="0" smtClean="0"/>
                <a:t>*</a:t>
              </a:r>
              <a:endParaRPr lang="en-US" dirty="0"/>
            </a:p>
          </p:txBody>
        </p:sp>
        <p:sp>
          <p:nvSpPr>
            <p:cNvPr id="16" name="Retângulo 15"/>
            <p:cNvSpPr/>
            <p:nvPr/>
          </p:nvSpPr>
          <p:spPr>
            <a:xfrm>
              <a:off x="1828800" y="5920668"/>
              <a:ext cx="609600" cy="381000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b="1" dirty="0" err="1" smtClean="0"/>
                <a:t>int</a:t>
              </a:r>
              <a:r>
                <a:rPr lang="pt-BR" dirty="0" smtClean="0"/>
                <a:t>*</a:t>
              </a:r>
              <a:endParaRPr lang="en-US" dirty="0"/>
            </a:p>
          </p:txBody>
        </p:sp>
        <p:sp>
          <p:nvSpPr>
            <p:cNvPr id="17" name="Retângulo 16"/>
            <p:cNvSpPr/>
            <p:nvPr/>
          </p:nvSpPr>
          <p:spPr>
            <a:xfrm>
              <a:off x="4191000" y="4777668"/>
              <a:ext cx="609600" cy="381000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b="1" dirty="0" err="1" smtClean="0"/>
                <a:t>int</a:t>
              </a:r>
              <a:r>
                <a:rPr lang="pt-BR" dirty="0" smtClean="0"/>
                <a:t>*</a:t>
              </a:r>
              <a:endParaRPr lang="en-US" dirty="0"/>
            </a:p>
          </p:txBody>
        </p:sp>
        <p:sp>
          <p:nvSpPr>
            <p:cNvPr id="18" name="Retângulo 17"/>
            <p:cNvSpPr/>
            <p:nvPr/>
          </p:nvSpPr>
          <p:spPr>
            <a:xfrm>
              <a:off x="4191000" y="5158668"/>
              <a:ext cx="609600" cy="381000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b="1" dirty="0" err="1" smtClean="0"/>
                <a:t>int</a:t>
              </a:r>
              <a:r>
                <a:rPr lang="pt-BR" dirty="0" smtClean="0"/>
                <a:t>*</a:t>
              </a:r>
              <a:endParaRPr lang="en-US" dirty="0"/>
            </a:p>
          </p:txBody>
        </p:sp>
        <p:sp>
          <p:nvSpPr>
            <p:cNvPr id="19" name="Retângulo 18"/>
            <p:cNvSpPr/>
            <p:nvPr/>
          </p:nvSpPr>
          <p:spPr>
            <a:xfrm>
              <a:off x="4191000" y="5539668"/>
              <a:ext cx="609600" cy="381000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b="1" dirty="0" err="1" smtClean="0"/>
                <a:t>int</a:t>
              </a:r>
              <a:r>
                <a:rPr lang="pt-BR" dirty="0" smtClean="0"/>
                <a:t>*</a:t>
              </a:r>
              <a:endParaRPr lang="en-US" dirty="0"/>
            </a:p>
          </p:txBody>
        </p:sp>
        <p:sp>
          <p:nvSpPr>
            <p:cNvPr id="20" name="Retângulo 19"/>
            <p:cNvSpPr/>
            <p:nvPr/>
          </p:nvSpPr>
          <p:spPr>
            <a:xfrm>
              <a:off x="4191000" y="5920668"/>
              <a:ext cx="609600" cy="381000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b="1" dirty="0" err="1" smtClean="0"/>
                <a:t>int</a:t>
              </a:r>
              <a:r>
                <a:rPr lang="pt-BR" dirty="0" smtClean="0"/>
                <a:t>*</a:t>
              </a:r>
              <a:endParaRPr lang="en-US" dirty="0"/>
            </a:p>
          </p:txBody>
        </p:sp>
        <p:sp>
          <p:nvSpPr>
            <p:cNvPr id="21" name="Retângulo 20"/>
            <p:cNvSpPr/>
            <p:nvPr/>
          </p:nvSpPr>
          <p:spPr>
            <a:xfrm>
              <a:off x="5486400" y="4648200"/>
              <a:ext cx="609600" cy="381000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b="1" dirty="0" err="1" smtClean="0"/>
                <a:t>int</a:t>
              </a:r>
              <a:endParaRPr lang="en-US" dirty="0"/>
            </a:p>
          </p:txBody>
        </p:sp>
        <p:sp>
          <p:nvSpPr>
            <p:cNvPr id="22" name="Retângulo 21"/>
            <p:cNvSpPr/>
            <p:nvPr/>
          </p:nvSpPr>
          <p:spPr>
            <a:xfrm>
              <a:off x="5486400" y="5105400"/>
              <a:ext cx="609600" cy="381000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b="1" dirty="0" err="1" smtClean="0"/>
                <a:t>int</a:t>
              </a:r>
              <a:endParaRPr lang="en-US" dirty="0"/>
            </a:p>
          </p:txBody>
        </p:sp>
        <p:sp>
          <p:nvSpPr>
            <p:cNvPr id="23" name="Retângulo 22"/>
            <p:cNvSpPr/>
            <p:nvPr/>
          </p:nvSpPr>
          <p:spPr>
            <a:xfrm>
              <a:off x="5486400" y="5562600"/>
              <a:ext cx="609600" cy="381000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b="1" dirty="0" err="1" smtClean="0"/>
                <a:t>int</a:t>
              </a:r>
              <a:endParaRPr lang="en-US" dirty="0"/>
            </a:p>
          </p:txBody>
        </p:sp>
        <p:sp>
          <p:nvSpPr>
            <p:cNvPr id="24" name="Retângulo 23"/>
            <p:cNvSpPr/>
            <p:nvPr/>
          </p:nvSpPr>
          <p:spPr>
            <a:xfrm>
              <a:off x="5486400" y="6019800"/>
              <a:ext cx="609600" cy="381000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b="1" dirty="0" err="1" smtClean="0"/>
                <a:t>int</a:t>
              </a:r>
              <a:endParaRPr lang="en-US" dirty="0"/>
            </a:p>
          </p:txBody>
        </p:sp>
        <p:sp>
          <p:nvSpPr>
            <p:cNvPr id="25" name="Retângulo 24"/>
            <p:cNvSpPr/>
            <p:nvPr/>
          </p:nvSpPr>
          <p:spPr>
            <a:xfrm>
              <a:off x="6096000" y="4648200"/>
              <a:ext cx="609600" cy="381000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b="1" dirty="0" err="1" smtClean="0"/>
                <a:t>int</a:t>
              </a:r>
              <a:endParaRPr lang="en-US" dirty="0"/>
            </a:p>
          </p:txBody>
        </p:sp>
        <p:sp>
          <p:nvSpPr>
            <p:cNvPr id="26" name="Retângulo 25"/>
            <p:cNvSpPr/>
            <p:nvPr/>
          </p:nvSpPr>
          <p:spPr>
            <a:xfrm>
              <a:off x="6096000" y="5105400"/>
              <a:ext cx="609600" cy="381000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b="1" dirty="0" err="1" smtClean="0"/>
                <a:t>int</a:t>
              </a:r>
              <a:endParaRPr lang="en-US" dirty="0"/>
            </a:p>
          </p:txBody>
        </p:sp>
        <p:sp>
          <p:nvSpPr>
            <p:cNvPr id="27" name="Retângulo 26"/>
            <p:cNvSpPr/>
            <p:nvPr/>
          </p:nvSpPr>
          <p:spPr>
            <a:xfrm>
              <a:off x="6096000" y="5562600"/>
              <a:ext cx="609600" cy="381000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b="1" dirty="0" err="1" smtClean="0"/>
                <a:t>int</a:t>
              </a:r>
              <a:endParaRPr lang="en-US" dirty="0"/>
            </a:p>
          </p:txBody>
        </p:sp>
        <p:sp>
          <p:nvSpPr>
            <p:cNvPr id="28" name="Retângulo 27"/>
            <p:cNvSpPr/>
            <p:nvPr/>
          </p:nvSpPr>
          <p:spPr>
            <a:xfrm>
              <a:off x="6096000" y="6019800"/>
              <a:ext cx="609600" cy="381000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b="1" dirty="0" err="1" smtClean="0"/>
                <a:t>int</a:t>
              </a:r>
              <a:endParaRPr lang="en-US" dirty="0"/>
            </a:p>
          </p:txBody>
        </p:sp>
        <p:sp>
          <p:nvSpPr>
            <p:cNvPr id="29" name="Retângulo 28"/>
            <p:cNvSpPr/>
            <p:nvPr/>
          </p:nvSpPr>
          <p:spPr>
            <a:xfrm>
              <a:off x="6705600" y="4648200"/>
              <a:ext cx="609600" cy="381000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b="1" dirty="0" err="1" smtClean="0"/>
                <a:t>int</a:t>
              </a:r>
              <a:endParaRPr lang="en-US" dirty="0"/>
            </a:p>
          </p:txBody>
        </p:sp>
        <p:sp>
          <p:nvSpPr>
            <p:cNvPr id="30" name="Retângulo 29"/>
            <p:cNvSpPr/>
            <p:nvPr/>
          </p:nvSpPr>
          <p:spPr>
            <a:xfrm>
              <a:off x="6705600" y="5105400"/>
              <a:ext cx="609600" cy="381000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b="1" dirty="0" err="1" smtClean="0"/>
                <a:t>int</a:t>
              </a:r>
              <a:endParaRPr lang="en-US" dirty="0"/>
            </a:p>
          </p:txBody>
        </p:sp>
        <p:sp>
          <p:nvSpPr>
            <p:cNvPr id="31" name="Retângulo 30"/>
            <p:cNvSpPr/>
            <p:nvPr/>
          </p:nvSpPr>
          <p:spPr>
            <a:xfrm>
              <a:off x="6705600" y="5562600"/>
              <a:ext cx="609600" cy="381000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b="1" dirty="0" err="1" smtClean="0"/>
                <a:t>int</a:t>
              </a:r>
              <a:endParaRPr lang="en-US" dirty="0"/>
            </a:p>
          </p:txBody>
        </p:sp>
        <p:sp>
          <p:nvSpPr>
            <p:cNvPr id="32" name="Retângulo 31"/>
            <p:cNvSpPr/>
            <p:nvPr/>
          </p:nvSpPr>
          <p:spPr>
            <a:xfrm>
              <a:off x="6705600" y="6019800"/>
              <a:ext cx="609600" cy="381000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b="1" dirty="0" err="1" smtClean="0"/>
                <a:t>int</a:t>
              </a:r>
              <a:endParaRPr lang="en-US" dirty="0"/>
            </a:p>
          </p:txBody>
        </p:sp>
        <p:sp>
          <p:nvSpPr>
            <p:cNvPr id="33" name="Retângulo 32"/>
            <p:cNvSpPr/>
            <p:nvPr/>
          </p:nvSpPr>
          <p:spPr>
            <a:xfrm>
              <a:off x="7315200" y="4648200"/>
              <a:ext cx="609600" cy="381000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b="1" dirty="0" err="1" smtClean="0"/>
                <a:t>int</a:t>
              </a:r>
              <a:endParaRPr lang="en-US" dirty="0"/>
            </a:p>
          </p:txBody>
        </p:sp>
        <p:sp>
          <p:nvSpPr>
            <p:cNvPr id="34" name="Retângulo 33"/>
            <p:cNvSpPr/>
            <p:nvPr/>
          </p:nvSpPr>
          <p:spPr>
            <a:xfrm>
              <a:off x="7315200" y="5105400"/>
              <a:ext cx="609600" cy="381000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b="1" dirty="0" err="1" smtClean="0"/>
                <a:t>int</a:t>
              </a:r>
              <a:endParaRPr lang="en-US" dirty="0"/>
            </a:p>
          </p:txBody>
        </p:sp>
        <p:sp>
          <p:nvSpPr>
            <p:cNvPr id="35" name="Retângulo 34"/>
            <p:cNvSpPr/>
            <p:nvPr/>
          </p:nvSpPr>
          <p:spPr>
            <a:xfrm>
              <a:off x="7315200" y="5562600"/>
              <a:ext cx="609600" cy="381000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b="1" dirty="0" err="1" smtClean="0"/>
                <a:t>int</a:t>
              </a:r>
              <a:endParaRPr lang="en-US" dirty="0"/>
            </a:p>
          </p:txBody>
        </p:sp>
        <p:sp>
          <p:nvSpPr>
            <p:cNvPr id="36" name="Retângulo 35"/>
            <p:cNvSpPr/>
            <p:nvPr/>
          </p:nvSpPr>
          <p:spPr>
            <a:xfrm>
              <a:off x="7315200" y="6019800"/>
              <a:ext cx="609600" cy="381000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b="1" dirty="0" err="1" smtClean="0"/>
                <a:t>int</a:t>
              </a:r>
              <a:endParaRPr lang="en-US" dirty="0"/>
            </a:p>
          </p:txBody>
        </p:sp>
        <p:cxnSp>
          <p:nvCxnSpPr>
            <p:cNvPr id="4" name="Conector de seta reta 3"/>
            <p:cNvCxnSpPr>
              <a:stCxn id="17" idx="3"/>
              <a:endCxn id="21" idx="1"/>
            </p:cNvCxnSpPr>
            <p:nvPr/>
          </p:nvCxnSpPr>
          <p:spPr>
            <a:xfrm flipV="1">
              <a:off x="4800600" y="4838700"/>
              <a:ext cx="685800" cy="129468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Conector de seta reta 36"/>
            <p:cNvCxnSpPr>
              <a:stCxn id="18" idx="3"/>
              <a:endCxn id="22" idx="1"/>
            </p:cNvCxnSpPr>
            <p:nvPr/>
          </p:nvCxnSpPr>
          <p:spPr>
            <a:xfrm flipV="1">
              <a:off x="4800600" y="5295900"/>
              <a:ext cx="685800" cy="53268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Conector de seta reta 37"/>
            <p:cNvCxnSpPr>
              <a:stCxn id="19" idx="3"/>
              <a:endCxn id="23" idx="1"/>
            </p:cNvCxnSpPr>
            <p:nvPr/>
          </p:nvCxnSpPr>
          <p:spPr>
            <a:xfrm>
              <a:off x="4800600" y="5730168"/>
              <a:ext cx="685800" cy="22932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Conector de seta reta 40"/>
            <p:cNvCxnSpPr>
              <a:stCxn id="20" idx="3"/>
              <a:endCxn id="24" idx="1"/>
            </p:cNvCxnSpPr>
            <p:nvPr/>
          </p:nvCxnSpPr>
          <p:spPr>
            <a:xfrm>
              <a:off x="4800600" y="6111168"/>
              <a:ext cx="685800" cy="99132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CaixaDeTexto 39"/>
            <p:cNvSpPr txBox="1"/>
            <p:nvPr/>
          </p:nvSpPr>
          <p:spPr>
            <a:xfrm>
              <a:off x="381000" y="3429000"/>
              <a:ext cx="19050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smtClean="0"/>
                <a:t>1º </a:t>
              </a:r>
              <a:r>
                <a:rPr lang="pt-BR" dirty="0" err="1" smtClean="0"/>
                <a:t>malloc</a:t>
              </a:r>
              <a:r>
                <a:rPr lang="pt-BR" dirty="0" smtClean="0"/>
                <a:t>: </a:t>
              </a:r>
            </a:p>
            <a:p>
              <a:r>
                <a:rPr lang="pt-BR" dirty="0" smtClean="0"/>
                <a:t>cria as linhas</a:t>
              </a:r>
              <a:endParaRPr lang="en-US" dirty="0"/>
            </a:p>
          </p:txBody>
        </p:sp>
        <p:sp>
          <p:nvSpPr>
            <p:cNvPr id="45" name="CaixaDeTexto 44"/>
            <p:cNvSpPr txBox="1"/>
            <p:nvPr/>
          </p:nvSpPr>
          <p:spPr>
            <a:xfrm>
              <a:off x="5867400" y="3429000"/>
              <a:ext cx="19050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smtClean="0"/>
                <a:t>2º </a:t>
              </a:r>
              <a:r>
                <a:rPr lang="pt-BR" dirty="0" err="1" smtClean="0"/>
                <a:t>malloc</a:t>
              </a:r>
              <a:r>
                <a:rPr lang="pt-BR" dirty="0" smtClean="0"/>
                <a:t>: </a:t>
              </a:r>
            </a:p>
            <a:p>
              <a:r>
                <a:rPr lang="pt-BR" dirty="0" smtClean="0"/>
                <a:t>cria as colunas</a:t>
              </a:r>
              <a:endParaRPr lang="en-US" dirty="0"/>
            </a:p>
          </p:txBody>
        </p:sp>
        <p:sp>
          <p:nvSpPr>
            <p:cNvPr id="46" name="CaixaDeTexto 45"/>
            <p:cNvSpPr txBox="1"/>
            <p:nvPr/>
          </p:nvSpPr>
          <p:spPr>
            <a:xfrm>
              <a:off x="838200" y="4191000"/>
              <a:ext cx="914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err="1" smtClean="0"/>
                <a:t>int</a:t>
              </a:r>
              <a:r>
                <a:rPr lang="pt-BR" dirty="0" smtClean="0"/>
                <a:t> **p;</a:t>
              </a:r>
              <a:endParaRPr lang="en-US" dirty="0"/>
            </a:p>
          </p:txBody>
        </p:sp>
        <p:cxnSp>
          <p:nvCxnSpPr>
            <p:cNvPr id="47" name="Conector angulado 46"/>
            <p:cNvCxnSpPr>
              <a:stCxn id="46" idx="3"/>
              <a:endCxn id="2" idx="0"/>
            </p:cNvCxnSpPr>
            <p:nvPr/>
          </p:nvCxnSpPr>
          <p:spPr>
            <a:xfrm>
              <a:off x="1752600" y="4375666"/>
              <a:ext cx="381000" cy="402002"/>
            </a:xfrm>
            <a:prstGeom prst="bentConnector2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CaixaDeTexto 49"/>
            <p:cNvSpPr txBox="1"/>
            <p:nvPr/>
          </p:nvSpPr>
          <p:spPr>
            <a:xfrm>
              <a:off x="3276600" y="4191000"/>
              <a:ext cx="914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err="1" smtClean="0"/>
                <a:t>int</a:t>
              </a:r>
              <a:r>
                <a:rPr lang="pt-BR" dirty="0" smtClean="0"/>
                <a:t> **p;</a:t>
              </a:r>
              <a:endParaRPr lang="en-US" dirty="0"/>
            </a:p>
          </p:txBody>
        </p:sp>
        <p:cxnSp>
          <p:nvCxnSpPr>
            <p:cNvPr id="51" name="Conector angulado 50"/>
            <p:cNvCxnSpPr>
              <a:stCxn id="50" idx="3"/>
              <a:endCxn id="17" idx="0"/>
            </p:cNvCxnSpPr>
            <p:nvPr/>
          </p:nvCxnSpPr>
          <p:spPr>
            <a:xfrm>
              <a:off x="4191000" y="4375666"/>
              <a:ext cx="304800" cy="402002"/>
            </a:xfrm>
            <a:prstGeom prst="bentConnector2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65866294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smtClean="0"/>
              <a:t>Alocação de arrays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 eaLnBrk="1" hangingPunct="1"/>
            <a:r>
              <a:rPr lang="pt-BR" smtClean="0"/>
              <a:t>Diferente dos arrays de uma dimensão, para liberar um array com mais de uma dimensão da memória, é preciso liberar a memória alocada em cada uma de suas dimensões, na ordem inversa da que foi alocada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smtClean="0"/>
              <a:t>Alocação de arrays</a:t>
            </a:r>
          </a:p>
        </p:txBody>
      </p:sp>
      <p:grpSp>
        <p:nvGrpSpPr>
          <p:cNvPr id="3" name="Grupo 2"/>
          <p:cNvGrpSpPr/>
          <p:nvPr/>
        </p:nvGrpSpPr>
        <p:grpSpPr>
          <a:xfrm>
            <a:off x="1676400" y="1981200"/>
            <a:ext cx="5695950" cy="3362325"/>
            <a:chOff x="1676400" y="1981200"/>
            <a:chExt cx="5695950" cy="3362325"/>
          </a:xfrm>
        </p:grpSpPr>
        <p:pic>
          <p:nvPicPr>
            <p:cNvPr id="5122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71650" y="1981200"/>
              <a:ext cx="5600700" cy="33623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2" name="Retângulo 1"/>
            <p:cNvSpPr/>
            <p:nvPr/>
          </p:nvSpPr>
          <p:spPr>
            <a:xfrm>
              <a:off x="1676400" y="4495800"/>
              <a:ext cx="3276600" cy="84772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dirty="0" smtClean="0"/>
              <a:t>Alocação de </a:t>
            </a:r>
            <a:r>
              <a:rPr lang="pt-BR" dirty="0" err="1" smtClean="0"/>
              <a:t>struct</a:t>
            </a:r>
            <a:endParaRPr lang="pt-BR" dirty="0" smtClean="0"/>
          </a:p>
        </p:txBody>
      </p:sp>
      <p:sp>
        <p:nvSpPr>
          <p:cNvPr id="29699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 eaLnBrk="1" hangingPunct="1"/>
            <a:r>
              <a:rPr lang="pt-BR" dirty="0" smtClean="0"/>
              <a:t>Assim como </a:t>
            </a:r>
            <a:r>
              <a:rPr lang="pt-BR" dirty="0"/>
              <a:t>o</a:t>
            </a:r>
            <a:r>
              <a:rPr lang="pt-BR" dirty="0" smtClean="0"/>
              <a:t>s tipos básicos, também é possível fazer a alocação dinâmica de estruturas. </a:t>
            </a:r>
          </a:p>
          <a:p>
            <a:pPr eaLnBrk="1" hangingPunct="1"/>
            <a:r>
              <a:rPr lang="pt-BR" dirty="0" smtClean="0"/>
              <a:t>As regras são exatamente as mesmas para a alocação de uma </a:t>
            </a:r>
            <a:r>
              <a:rPr lang="pt-BR" b="1" dirty="0" err="1" smtClean="0"/>
              <a:t>struct</a:t>
            </a:r>
            <a:r>
              <a:rPr lang="pt-BR" dirty="0" smtClean="0"/>
              <a:t>.</a:t>
            </a:r>
          </a:p>
          <a:p>
            <a:r>
              <a:rPr lang="pt-BR" dirty="0" smtClean="0"/>
              <a:t>Podemos fazer a alocação de </a:t>
            </a:r>
          </a:p>
          <a:p>
            <a:pPr lvl="1"/>
            <a:r>
              <a:rPr lang="pt-BR" dirty="0" smtClean="0"/>
              <a:t>uma única </a:t>
            </a:r>
            <a:r>
              <a:rPr lang="pt-BR" b="1" dirty="0" err="1" smtClean="0"/>
              <a:t>struct</a:t>
            </a:r>
            <a:r>
              <a:rPr lang="pt-BR" dirty="0" smtClean="0"/>
              <a:t> </a:t>
            </a:r>
          </a:p>
          <a:p>
            <a:pPr lvl="1"/>
            <a:r>
              <a:rPr lang="pt-BR" dirty="0" smtClean="0"/>
              <a:t>um </a:t>
            </a:r>
            <a:r>
              <a:rPr lang="pt-BR" dirty="0" err="1" smtClean="0"/>
              <a:t>array</a:t>
            </a:r>
            <a:r>
              <a:rPr lang="pt-BR" dirty="0" smtClean="0"/>
              <a:t> de </a:t>
            </a:r>
            <a:r>
              <a:rPr lang="pt-BR" b="1" dirty="0" err="1" smtClean="0"/>
              <a:t>structs</a:t>
            </a:r>
            <a:endParaRPr lang="pt-BR" dirty="0" smtClean="0"/>
          </a:p>
          <a:p>
            <a:endParaRPr lang="pt-BR" dirty="0" smtClean="0"/>
          </a:p>
        </p:txBody>
      </p:sp>
    </p:spTree>
    <p:extLst>
      <p:ext uri="{BB962C8B-B14F-4D97-AF65-F5344CB8AC3E}">
        <p14:creationId xmlns:p14="http://schemas.microsoft.com/office/powerpoint/2010/main" val="382189031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dirty="0" smtClean="0"/>
              <a:t>Alocação de </a:t>
            </a:r>
            <a:r>
              <a:rPr lang="pt-BR" dirty="0" err="1" smtClean="0"/>
              <a:t>struct</a:t>
            </a:r>
            <a:endParaRPr lang="pt-BR" dirty="0" smtClean="0"/>
          </a:p>
        </p:txBody>
      </p:sp>
      <p:sp>
        <p:nvSpPr>
          <p:cNvPr id="29699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 eaLnBrk="1" hangingPunct="1"/>
            <a:r>
              <a:rPr lang="pt-BR" dirty="0" smtClean="0"/>
              <a:t>Para alocar uma única </a:t>
            </a:r>
            <a:r>
              <a:rPr lang="pt-BR" b="1" dirty="0" err="1" smtClean="0"/>
              <a:t>struct</a:t>
            </a:r>
            <a:endParaRPr lang="pt-BR" b="1" dirty="0" smtClean="0"/>
          </a:p>
          <a:p>
            <a:pPr lvl="1"/>
            <a:r>
              <a:rPr lang="pt-BR" dirty="0" smtClean="0"/>
              <a:t>Um ponteiro para </a:t>
            </a:r>
            <a:r>
              <a:rPr lang="pt-BR" b="1" dirty="0" err="1" smtClean="0"/>
              <a:t>struct</a:t>
            </a:r>
            <a:r>
              <a:rPr lang="pt-BR" dirty="0" smtClean="0"/>
              <a:t> receberá o </a:t>
            </a:r>
            <a:r>
              <a:rPr lang="pt-BR" b="1" dirty="0" err="1" smtClean="0"/>
              <a:t>malloc</a:t>
            </a:r>
            <a:r>
              <a:rPr lang="pt-BR" b="1" dirty="0" smtClean="0"/>
              <a:t>()</a:t>
            </a:r>
          </a:p>
          <a:p>
            <a:pPr lvl="1"/>
            <a:r>
              <a:rPr lang="pt-BR" dirty="0" smtClean="0"/>
              <a:t>Utilizamos o </a:t>
            </a:r>
            <a:r>
              <a:rPr lang="pt-BR" b="1" dirty="0" smtClean="0"/>
              <a:t>operador seta</a:t>
            </a:r>
            <a:r>
              <a:rPr lang="pt-BR" dirty="0" smtClean="0"/>
              <a:t> para acessar o conteúdo</a:t>
            </a:r>
          </a:p>
          <a:p>
            <a:pPr lvl="1"/>
            <a:r>
              <a:rPr lang="pt-BR" dirty="0" smtClean="0"/>
              <a:t>Usamos </a:t>
            </a:r>
            <a:r>
              <a:rPr lang="pt-BR" b="1" dirty="0" err="1" smtClean="0"/>
              <a:t>free</a:t>
            </a:r>
            <a:r>
              <a:rPr lang="pt-BR" b="1" dirty="0" smtClean="0"/>
              <a:t>()</a:t>
            </a:r>
            <a:r>
              <a:rPr lang="pt-BR" dirty="0" smtClean="0"/>
              <a:t> para liberar a memória alocada</a:t>
            </a:r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764" y="3819154"/>
            <a:ext cx="8604448" cy="29942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0521551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Alocação de </a:t>
            </a:r>
            <a:r>
              <a:rPr lang="pt-BR" dirty="0" err="1"/>
              <a:t>struct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/>
              <a:t>Para alocar uma única </a:t>
            </a:r>
            <a:r>
              <a:rPr lang="pt-BR" b="1" dirty="0" err="1"/>
              <a:t>struct</a:t>
            </a:r>
            <a:endParaRPr lang="pt-BR" b="1" dirty="0"/>
          </a:p>
          <a:p>
            <a:pPr lvl="1"/>
            <a:r>
              <a:rPr lang="pt-BR" dirty="0"/>
              <a:t>Um ponteiro para </a:t>
            </a:r>
            <a:r>
              <a:rPr lang="pt-BR" b="1" dirty="0" err="1"/>
              <a:t>struct</a:t>
            </a:r>
            <a:r>
              <a:rPr lang="pt-BR" dirty="0"/>
              <a:t> receberá o </a:t>
            </a:r>
            <a:r>
              <a:rPr lang="pt-BR" b="1" dirty="0" err="1"/>
              <a:t>malloc</a:t>
            </a:r>
            <a:r>
              <a:rPr lang="pt-BR" b="1" dirty="0"/>
              <a:t>()</a:t>
            </a:r>
          </a:p>
          <a:p>
            <a:pPr lvl="1"/>
            <a:r>
              <a:rPr lang="pt-BR" dirty="0"/>
              <a:t>Utilizamos </a:t>
            </a:r>
            <a:r>
              <a:rPr lang="pt-BR" dirty="0" smtClean="0"/>
              <a:t>os </a:t>
            </a:r>
            <a:r>
              <a:rPr lang="pt-BR" b="1" dirty="0" smtClean="0"/>
              <a:t>colchetes [ ]</a:t>
            </a:r>
            <a:r>
              <a:rPr lang="pt-BR" dirty="0" smtClean="0"/>
              <a:t> para </a:t>
            </a:r>
            <a:r>
              <a:rPr lang="pt-BR" dirty="0"/>
              <a:t>acessar o conteúdo</a:t>
            </a:r>
          </a:p>
          <a:p>
            <a:pPr lvl="1"/>
            <a:r>
              <a:rPr lang="pt-BR" dirty="0"/>
              <a:t>Usamos </a:t>
            </a:r>
            <a:r>
              <a:rPr lang="pt-BR" b="1" dirty="0" err="1"/>
              <a:t>free</a:t>
            </a:r>
            <a:r>
              <a:rPr lang="pt-BR" b="1" dirty="0"/>
              <a:t>()</a:t>
            </a:r>
            <a:r>
              <a:rPr lang="pt-BR" dirty="0"/>
              <a:t> para liberar a memória alocada</a:t>
            </a: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089" y="3220720"/>
            <a:ext cx="7236295" cy="35584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2532501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Material Complementar</a:t>
            </a:r>
            <a:endParaRPr lang="en-US" smtClean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696200" cy="4873752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pt-BR" dirty="0" smtClean="0"/>
              <a:t>Vídeo Aulas</a:t>
            </a:r>
          </a:p>
          <a:p>
            <a:pPr lvl="1">
              <a:defRPr/>
            </a:pPr>
            <a:r>
              <a:rPr lang="en-US" dirty="0" smtClean="0"/>
              <a:t>Aula 60: </a:t>
            </a:r>
            <a:r>
              <a:rPr lang="en-US" dirty="0" err="1" smtClean="0"/>
              <a:t>Alocação</a:t>
            </a:r>
            <a:r>
              <a:rPr lang="en-US" dirty="0" smtClean="0"/>
              <a:t> </a:t>
            </a:r>
            <a:r>
              <a:rPr lang="en-US" dirty="0" err="1" smtClean="0"/>
              <a:t>Dinâmica</a:t>
            </a:r>
            <a:r>
              <a:rPr lang="en-US" dirty="0" smtClean="0"/>
              <a:t> pt.1 – </a:t>
            </a:r>
            <a:r>
              <a:rPr lang="en-US" dirty="0" err="1" smtClean="0"/>
              <a:t>Introdução</a:t>
            </a:r>
            <a:endParaRPr lang="en-US" dirty="0" smtClean="0"/>
          </a:p>
          <a:p>
            <a:pPr lvl="1">
              <a:defRPr/>
            </a:pPr>
            <a:r>
              <a:rPr lang="en-US" dirty="0" smtClean="0"/>
              <a:t>Aula 61: </a:t>
            </a:r>
            <a:r>
              <a:rPr lang="en-US" dirty="0" err="1" smtClean="0"/>
              <a:t>Alocação</a:t>
            </a:r>
            <a:r>
              <a:rPr lang="en-US" dirty="0" smtClean="0"/>
              <a:t> </a:t>
            </a:r>
            <a:r>
              <a:rPr lang="en-US" dirty="0" err="1" smtClean="0"/>
              <a:t>Dinâmica</a:t>
            </a:r>
            <a:r>
              <a:rPr lang="en-US" dirty="0" smtClean="0"/>
              <a:t> pt.2 – </a:t>
            </a:r>
            <a:r>
              <a:rPr lang="en-US" dirty="0" err="1" smtClean="0"/>
              <a:t>Sizeof</a:t>
            </a:r>
            <a:endParaRPr lang="en-US" dirty="0" smtClean="0"/>
          </a:p>
          <a:p>
            <a:pPr lvl="1">
              <a:defRPr/>
            </a:pPr>
            <a:r>
              <a:rPr lang="en-US" dirty="0" smtClean="0"/>
              <a:t>Aula 62: </a:t>
            </a:r>
            <a:r>
              <a:rPr lang="en-US" dirty="0" err="1" smtClean="0"/>
              <a:t>Alocação</a:t>
            </a:r>
            <a:r>
              <a:rPr lang="en-US" dirty="0" smtClean="0"/>
              <a:t> </a:t>
            </a:r>
            <a:r>
              <a:rPr lang="en-US" dirty="0" err="1" smtClean="0"/>
              <a:t>Dinâmica</a:t>
            </a:r>
            <a:r>
              <a:rPr lang="en-US" dirty="0" smtClean="0"/>
              <a:t> pt.3 – </a:t>
            </a:r>
            <a:r>
              <a:rPr lang="en-US" dirty="0" err="1" smtClean="0"/>
              <a:t>Malloc</a:t>
            </a:r>
            <a:endParaRPr lang="en-US" dirty="0" smtClean="0"/>
          </a:p>
          <a:p>
            <a:pPr lvl="1">
              <a:defRPr/>
            </a:pPr>
            <a:r>
              <a:rPr lang="en-US" dirty="0" smtClean="0"/>
              <a:t>Aula 63: </a:t>
            </a:r>
            <a:r>
              <a:rPr lang="en-US" dirty="0" err="1" smtClean="0"/>
              <a:t>Alocação</a:t>
            </a:r>
            <a:r>
              <a:rPr lang="en-US" dirty="0" smtClean="0"/>
              <a:t> </a:t>
            </a:r>
            <a:r>
              <a:rPr lang="en-US" dirty="0" err="1" smtClean="0"/>
              <a:t>Dinâmica</a:t>
            </a:r>
            <a:r>
              <a:rPr lang="en-US" dirty="0" smtClean="0"/>
              <a:t> pt.4 – </a:t>
            </a:r>
            <a:r>
              <a:rPr lang="en-US" dirty="0" err="1" smtClean="0"/>
              <a:t>Calloc</a:t>
            </a:r>
            <a:endParaRPr lang="en-US" dirty="0" smtClean="0"/>
          </a:p>
          <a:p>
            <a:pPr lvl="1">
              <a:defRPr/>
            </a:pPr>
            <a:r>
              <a:rPr lang="en-US" dirty="0" smtClean="0"/>
              <a:t>Aula 64: </a:t>
            </a:r>
            <a:r>
              <a:rPr lang="en-US" dirty="0" err="1" smtClean="0"/>
              <a:t>Alocação</a:t>
            </a:r>
            <a:r>
              <a:rPr lang="en-US" dirty="0" smtClean="0"/>
              <a:t> </a:t>
            </a:r>
            <a:r>
              <a:rPr lang="en-US" dirty="0" err="1" smtClean="0"/>
              <a:t>Dinâmica</a:t>
            </a:r>
            <a:r>
              <a:rPr lang="en-US" dirty="0" smtClean="0"/>
              <a:t> pt.5 – </a:t>
            </a:r>
            <a:r>
              <a:rPr lang="en-US" dirty="0" err="1" smtClean="0"/>
              <a:t>Realloc</a:t>
            </a:r>
            <a:r>
              <a:rPr lang="en-US" dirty="0" smtClean="0"/>
              <a:t> </a:t>
            </a:r>
          </a:p>
          <a:p>
            <a:pPr lvl="1">
              <a:defRPr/>
            </a:pPr>
            <a:r>
              <a:rPr lang="en-US" dirty="0" smtClean="0"/>
              <a:t>Aula 65: </a:t>
            </a:r>
            <a:r>
              <a:rPr lang="en-US" dirty="0" err="1" smtClean="0"/>
              <a:t>Alocação</a:t>
            </a:r>
            <a:r>
              <a:rPr lang="en-US" dirty="0" smtClean="0"/>
              <a:t> </a:t>
            </a:r>
            <a:r>
              <a:rPr lang="en-US" dirty="0" err="1" smtClean="0"/>
              <a:t>Dinâmica</a:t>
            </a:r>
            <a:r>
              <a:rPr lang="en-US" dirty="0" smtClean="0"/>
              <a:t> pt.6 – </a:t>
            </a:r>
            <a:r>
              <a:rPr lang="en-US" dirty="0" err="1" smtClean="0"/>
              <a:t>Alocação</a:t>
            </a:r>
            <a:r>
              <a:rPr lang="en-US" dirty="0" smtClean="0"/>
              <a:t> de </a:t>
            </a:r>
            <a:r>
              <a:rPr lang="en-US" dirty="0" err="1" smtClean="0"/>
              <a:t>Matrizes</a:t>
            </a:r>
            <a:endParaRPr lang="en-US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alcão Envidraçado">
  <a:themeElements>
    <a:clrScheme name="Balcão Envidraçado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Balcão Envidraçado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Balcão Envidraçado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Oriel</Template>
  <TotalTime>383</TotalTime>
  <Words>1369</Words>
  <Application>Microsoft Office PowerPoint</Application>
  <PresentationFormat>Apresentação na tela (4:3)</PresentationFormat>
  <Paragraphs>270</Paragraphs>
  <Slides>33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33</vt:i4>
      </vt:variant>
    </vt:vector>
  </HeadingPairs>
  <TitlesOfParts>
    <vt:vector size="34" baseType="lpstr">
      <vt:lpstr>Balcão Envidraçado</vt:lpstr>
      <vt:lpstr>Linguagem C: Alocação Dinâmica</vt:lpstr>
      <vt:lpstr>Definição</vt:lpstr>
      <vt:lpstr>Definição</vt:lpstr>
      <vt:lpstr>Definição</vt:lpstr>
      <vt:lpstr>Alocando memória</vt:lpstr>
      <vt:lpstr>Alocação Dinâmica</vt:lpstr>
      <vt:lpstr>Alocação Dinâmica - malloc</vt:lpstr>
      <vt:lpstr>Alocação Dinâmica - malloc</vt:lpstr>
      <vt:lpstr>Alocação Dinâmica - malloc</vt:lpstr>
      <vt:lpstr>Alocação Dinâmica - malloc</vt:lpstr>
      <vt:lpstr>Alocação Dinâmica - malloc</vt:lpstr>
      <vt:lpstr>Alocação Dinâmica - malloc</vt:lpstr>
      <vt:lpstr>Alocação Dinâmica - calloc</vt:lpstr>
      <vt:lpstr>Alocação Dinâmica - calloc</vt:lpstr>
      <vt:lpstr>Alocação Dinâmica - realloc</vt:lpstr>
      <vt:lpstr>Alocação Dinâmica - realloc</vt:lpstr>
      <vt:lpstr>Alocação Dinâmica - realloc</vt:lpstr>
      <vt:lpstr>Alocação Dinâmica - free</vt:lpstr>
      <vt:lpstr>Alocação Dinâmica - free</vt:lpstr>
      <vt:lpstr>Alocação Dinâmica - free</vt:lpstr>
      <vt:lpstr>Alocação de arrays</vt:lpstr>
      <vt:lpstr>Alocação de arrays</vt:lpstr>
      <vt:lpstr>Alocação de arrays</vt:lpstr>
      <vt:lpstr>Alocação de arrays</vt:lpstr>
      <vt:lpstr>Alocação de arrays</vt:lpstr>
      <vt:lpstr>Alocação de arrays</vt:lpstr>
      <vt:lpstr>Alocação de arrays</vt:lpstr>
      <vt:lpstr>Alocação de arrays</vt:lpstr>
      <vt:lpstr>Alocação de arrays</vt:lpstr>
      <vt:lpstr>Alocação de struct</vt:lpstr>
      <vt:lpstr>Alocação de struct</vt:lpstr>
      <vt:lpstr>Alocação de struct</vt:lpstr>
      <vt:lpstr>Material Complementar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Backes</dc:creator>
  <cp:lastModifiedBy>Samuel Basilio</cp:lastModifiedBy>
  <cp:revision>115</cp:revision>
  <cp:lastPrinted>1601-01-01T00:00:00Z</cp:lastPrinted>
  <dcterms:created xsi:type="dcterms:W3CDTF">2010-10-28T16:01:37Z</dcterms:created>
  <dcterms:modified xsi:type="dcterms:W3CDTF">2018-07-30T13:11:33Z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