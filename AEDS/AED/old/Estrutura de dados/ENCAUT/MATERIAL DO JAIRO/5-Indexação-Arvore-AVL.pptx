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0539" y="2175509"/>
            <a:ext cx="3042920" cy="67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4710" y="320040"/>
            <a:ext cx="7434579" cy="685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69" y="1644650"/>
            <a:ext cx="8074660" cy="451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Árvores</a:t>
            </a:r>
            <a:r>
              <a:rPr spc="-60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0770" y="3095081"/>
            <a:ext cx="4439285" cy="599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>
              <a:lnSpc>
                <a:spcPct val="136700"/>
              </a:lnSpc>
            </a:pPr>
            <a:r>
              <a:rPr sz="3200" spc="35" dirty="0">
                <a:latin typeface="Arial"/>
                <a:cs typeface="Arial"/>
              </a:rPr>
              <a:t>Estrutura </a:t>
            </a:r>
            <a:r>
              <a:rPr sz="3200" spc="15" dirty="0">
                <a:latin typeface="Arial"/>
                <a:cs typeface="Arial"/>
              </a:rPr>
              <a:t>de </a:t>
            </a:r>
            <a:r>
              <a:rPr sz="3200" spc="-40" dirty="0" smtClean="0">
                <a:latin typeface="Arial"/>
                <a:cs typeface="Arial"/>
              </a:rPr>
              <a:t>Dados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8550">
              <a:lnSpc>
                <a:spcPct val="100000"/>
              </a:lnSpc>
            </a:pPr>
            <a:r>
              <a:rPr spc="35"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14970" cy="4452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6205">
              <a:lnSpc>
                <a:spcPct val="100000"/>
              </a:lnSpc>
            </a:pPr>
            <a:r>
              <a:rPr sz="2800" spc="-125" dirty="0">
                <a:latin typeface="Arial"/>
                <a:cs typeface="Arial"/>
              </a:rPr>
              <a:t>As </a:t>
            </a:r>
            <a:r>
              <a:rPr sz="2800" spc="5" dirty="0">
                <a:latin typeface="Arial"/>
                <a:cs typeface="Arial"/>
              </a:rPr>
              <a:t>árvores </a:t>
            </a:r>
            <a:r>
              <a:rPr sz="2800" spc="20" dirty="0">
                <a:latin typeface="Arial"/>
                <a:cs typeface="Arial"/>
              </a:rPr>
              <a:t>binárias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pesquisa </a:t>
            </a:r>
            <a:r>
              <a:rPr sz="2800" spc="-50" dirty="0">
                <a:latin typeface="Arial"/>
                <a:cs typeface="Arial"/>
              </a:rPr>
              <a:t>são </a:t>
            </a:r>
            <a:r>
              <a:rPr sz="2800" spc="20" dirty="0">
                <a:latin typeface="Arial"/>
                <a:cs typeface="Arial"/>
              </a:rPr>
              <a:t>projetadas  para </a:t>
            </a:r>
            <a:r>
              <a:rPr sz="2800" spc="75" dirty="0">
                <a:latin typeface="Arial"/>
                <a:cs typeface="Arial"/>
              </a:rPr>
              <a:t>um </a:t>
            </a:r>
            <a:r>
              <a:rPr sz="2800" spc="-45" dirty="0">
                <a:latin typeface="Arial"/>
                <a:cs typeface="Arial"/>
              </a:rPr>
              <a:t>acesso </a:t>
            </a:r>
            <a:r>
              <a:rPr sz="2800" spc="30" dirty="0">
                <a:latin typeface="Arial"/>
                <a:cs typeface="Arial"/>
              </a:rPr>
              <a:t>rápido </a:t>
            </a:r>
            <a:r>
              <a:rPr sz="2800" spc="-15" dirty="0">
                <a:latin typeface="Arial"/>
                <a:cs typeface="Arial"/>
              </a:rPr>
              <a:t>à </a:t>
            </a:r>
            <a:r>
              <a:rPr sz="2800" spc="20" dirty="0">
                <a:latin typeface="Arial"/>
                <a:cs typeface="Arial"/>
              </a:rPr>
              <a:t>informação. </a:t>
            </a:r>
            <a:r>
              <a:rPr sz="2800" spc="35" dirty="0">
                <a:latin typeface="Arial"/>
                <a:cs typeface="Arial"/>
              </a:rPr>
              <a:t>Idealmente 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25" dirty="0">
                <a:latin typeface="Arial"/>
                <a:cs typeface="Arial"/>
              </a:rPr>
              <a:t>árvore </a:t>
            </a:r>
            <a:r>
              <a:rPr sz="2800" spc="20" dirty="0">
                <a:latin typeface="Arial"/>
                <a:cs typeface="Arial"/>
              </a:rPr>
              <a:t>deve </a:t>
            </a:r>
            <a:r>
              <a:rPr sz="2800" spc="-5" dirty="0">
                <a:latin typeface="Arial"/>
                <a:cs typeface="Arial"/>
              </a:rPr>
              <a:t>ser </a:t>
            </a:r>
            <a:r>
              <a:rPr sz="2800" spc="30" dirty="0">
                <a:latin typeface="Arial"/>
                <a:cs typeface="Arial"/>
              </a:rPr>
              <a:t>razoavelmente </a:t>
            </a:r>
            <a:r>
              <a:rPr sz="2800" spc="35" dirty="0">
                <a:latin typeface="Arial"/>
                <a:cs typeface="Arial"/>
              </a:rPr>
              <a:t>equilibrada </a:t>
            </a:r>
            <a:r>
              <a:rPr sz="2800" spc="-10" dirty="0">
                <a:latin typeface="Arial"/>
                <a:cs typeface="Arial"/>
              </a:rPr>
              <a:t>e </a:t>
            </a:r>
            <a:r>
              <a:rPr sz="2800" spc="-15" dirty="0">
                <a:latin typeface="Arial"/>
                <a:cs typeface="Arial"/>
              </a:rPr>
              <a:t>a  </a:t>
            </a:r>
            <a:r>
              <a:rPr sz="2800" spc="-30" dirty="0">
                <a:latin typeface="Arial"/>
                <a:cs typeface="Arial"/>
              </a:rPr>
              <a:t>sua </a:t>
            </a:r>
            <a:r>
              <a:rPr sz="2800" spc="60" dirty="0">
                <a:latin typeface="Arial"/>
                <a:cs typeface="Arial"/>
              </a:rPr>
              <a:t>altura </a:t>
            </a:r>
            <a:r>
              <a:rPr sz="2800" spc="-10" dirty="0">
                <a:latin typeface="Arial"/>
                <a:cs typeface="Arial"/>
              </a:rPr>
              <a:t>será </a:t>
            </a:r>
            <a:r>
              <a:rPr sz="2800" spc="5" dirty="0">
                <a:latin typeface="Arial"/>
                <a:cs typeface="Arial"/>
              </a:rPr>
              <a:t>dada </a:t>
            </a:r>
            <a:r>
              <a:rPr sz="2800" spc="20" dirty="0">
                <a:latin typeface="Arial"/>
                <a:cs typeface="Arial"/>
              </a:rPr>
              <a:t>(no </a:t>
            </a:r>
            <a:r>
              <a:rPr sz="2800" spc="-40" dirty="0">
                <a:latin typeface="Arial"/>
                <a:cs typeface="Arial"/>
              </a:rPr>
              <a:t>caso </a:t>
            </a:r>
            <a:r>
              <a:rPr sz="2800" spc="10" dirty="0">
                <a:latin typeface="Arial"/>
                <a:cs typeface="Arial"/>
              </a:rPr>
              <a:t>de </a:t>
            </a:r>
            <a:r>
              <a:rPr sz="2800" spc="30" dirty="0">
                <a:latin typeface="Arial"/>
                <a:cs typeface="Arial"/>
              </a:rPr>
              <a:t>estar </a:t>
            </a:r>
            <a:r>
              <a:rPr sz="2800" spc="40" dirty="0">
                <a:latin typeface="Arial"/>
                <a:cs typeface="Arial"/>
              </a:rPr>
              <a:t>completa)  </a:t>
            </a:r>
            <a:r>
              <a:rPr sz="2800" spc="35" dirty="0">
                <a:latin typeface="Arial"/>
                <a:cs typeface="Arial"/>
              </a:rPr>
              <a:t>por </a:t>
            </a:r>
            <a:r>
              <a:rPr sz="2800" spc="114" dirty="0">
                <a:latin typeface="Arial"/>
                <a:cs typeface="Arial"/>
              </a:rPr>
              <a:t>h=log</a:t>
            </a:r>
            <a:r>
              <a:rPr sz="2800" spc="-31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(n+1)</a:t>
            </a:r>
            <a:endParaRPr sz="2800">
              <a:latin typeface="Arial"/>
              <a:cs typeface="Arial"/>
            </a:endParaRPr>
          </a:p>
          <a:p>
            <a:pPr marL="1600200">
              <a:lnSpc>
                <a:spcPts val="940"/>
              </a:lnSpc>
            </a:pPr>
            <a:r>
              <a:rPr sz="1600" spc="-35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  <a:spcBef>
                <a:spcPts val="1420"/>
              </a:spcBef>
            </a:pPr>
            <a:r>
              <a:rPr sz="2800" spc="-200" dirty="0">
                <a:latin typeface="Arial"/>
                <a:cs typeface="Arial"/>
              </a:rPr>
              <a:t>O </a:t>
            </a:r>
            <a:r>
              <a:rPr sz="2800" spc="65" dirty="0">
                <a:latin typeface="Arial"/>
                <a:cs typeface="Arial"/>
              </a:rPr>
              <a:t>tempo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pesquisa </a:t>
            </a:r>
            <a:r>
              <a:rPr sz="2800" spc="50" dirty="0">
                <a:latin typeface="Arial"/>
                <a:cs typeface="Arial"/>
              </a:rPr>
              <a:t>tende </a:t>
            </a:r>
            <a:r>
              <a:rPr sz="2800" spc="-15" dirty="0">
                <a:latin typeface="Arial"/>
                <a:cs typeface="Arial"/>
              </a:rPr>
              <a:t>a O(log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N)</a:t>
            </a:r>
            <a:endParaRPr sz="2800">
              <a:latin typeface="Arial"/>
              <a:cs typeface="Arial"/>
            </a:endParaRPr>
          </a:p>
          <a:p>
            <a:pPr marR="2230755" algn="r">
              <a:lnSpc>
                <a:spcPts val="1425"/>
              </a:lnSpc>
            </a:pPr>
            <a:r>
              <a:rPr sz="1600" spc="-35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spc="-55" dirty="0">
                <a:latin typeface="Arial"/>
                <a:cs typeface="Arial"/>
              </a:rPr>
              <a:t>Porém, </a:t>
            </a:r>
            <a:r>
              <a:rPr sz="2800" spc="20" dirty="0">
                <a:latin typeface="Arial"/>
                <a:cs typeface="Arial"/>
              </a:rPr>
              <a:t>com </a:t>
            </a:r>
            <a:r>
              <a:rPr sz="2800" spc="-25" dirty="0">
                <a:latin typeface="Arial"/>
                <a:cs typeface="Arial"/>
              </a:rPr>
              <a:t>sucessivas </a:t>
            </a:r>
            <a:r>
              <a:rPr sz="2800" spc="-15" dirty="0">
                <a:latin typeface="Arial"/>
                <a:cs typeface="Arial"/>
              </a:rPr>
              <a:t>inserções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15" dirty="0">
                <a:latin typeface="Arial"/>
                <a:cs typeface="Arial"/>
              </a:rPr>
              <a:t>dados  </a:t>
            </a:r>
            <a:r>
              <a:rPr sz="2800" spc="45" dirty="0">
                <a:latin typeface="Arial"/>
                <a:cs typeface="Arial"/>
              </a:rPr>
              <a:t>principalmente </a:t>
            </a:r>
            <a:r>
              <a:rPr sz="2800" spc="-5" dirty="0">
                <a:latin typeface="Arial"/>
                <a:cs typeface="Arial"/>
              </a:rPr>
              <a:t>ordenados, </a:t>
            </a:r>
            <a:r>
              <a:rPr sz="2800" spc="10" dirty="0">
                <a:latin typeface="Arial"/>
                <a:cs typeface="Arial"/>
              </a:rPr>
              <a:t>ela </a:t>
            </a:r>
            <a:r>
              <a:rPr sz="2800" spc="5" dirty="0">
                <a:latin typeface="Arial"/>
                <a:cs typeface="Arial"/>
              </a:rPr>
              <a:t>pode </a:t>
            </a:r>
            <a:r>
              <a:rPr sz="2800" spc="-50" dirty="0">
                <a:latin typeface="Arial"/>
                <a:cs typeface="Arial"/>
              </a:rPr>
              <a:t>se </a:t>
            </a:r>
            <a:r>
              <a:rPr sz="2800" spc="25" dirty="0">
                <a:latin typeface="Arial"/>
                <a:cs typeface="Arial"/>
              </a:rPr>
              <a:t>degenerar  </a:t>
            </a:r>
            <a:r>
              <a:rPr sz="2800" spc="20" dirty="0">
                <a:latin typeface="Arial"/>
                <a:cs typeface="Arial"/>
              </a:rPr>
              <a:t>para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O(n)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63865" cy="360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b="1" spc="130" dirty="0">
                <a:latin typeface="Trebuchet MS"/>
                <a:cs typeface="Trebuchet MS"/>
              </a:rPr>
              <a:t>Árvores </a:t>
            </a:r>
            <a:r>
              <a:rPr sz="2800" b="1" spc="140" dirty="0">
                <a:latin typeface="Trebuchet MS"/>
                <a:cs typeface="Trebuchet MS"/>
              </a:rPr>
              <a:t>completas </a:t>
            </a:r>
            <a:r>
              <a:rPr sz="2800" spc="-50" dirty="0">
                <a:latin typeface="Arial"/>
                <a:cs typeface="Arial"/>
              </a:rPr>
              <a:t>são </a:t>
            </a:r>
            <a:r>
              <a:rPr sz="2800" spc="-5" dirty="0">
                <a:latin typeface="Arial"/>
                <a:cs typeface="Arial"/>
              </a:rPr>
              <a:t>aquelas </a:t>
            </a:r>
            <a:r>
              <a:rPr sz="2800" spc="20" dirty="0">
                <a:latin typeface="Arial"/>
                <a:cs typeface="Arial"/>
              </a:rPr>
              <a:t>que </a:t>
            </a:r>
            <a:r>
              <a:rPr sz="2800" spc="55" dirty="0">
                <a:latin typeface="Arial"/>
                <a:cs typeface="Arial"/>
              </a:rPr>
              <a:t>minimizam  </a:t>
            </a:r>
            <a:r>
              <a:rPr sz="2800" spc="-20" dirty="0">
                <a:latin typeface="Arial"/>
                <a:cs typeface="Arial"/>
              </a:rPr>
              <a:t>o </a:t>
            </a:r>
            <a:r>
              <a:rPr sz="2800" spc="30" dirty="0">
                <a:latin typeface="Arial"/>
                <a:cs typeface="Arial"/>
              </a:rPr>
              <a:t>número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comparações </a:t>
            </a:r>
            <a:r>
              <a:rPr sz="2800" spc="20" dirty="0">
                <a:latin typeface="Arial"/>
                <a:cs typeface="Arial"/>
              </a:rPr>
              <a:t>efetuadas </a:t>
            </a:r>
            <a:r>
              <a:rPr sz="2800" spc="5" dirty="0">
                <a:latin typeface="Arial"/>
                <a:cs typeface="Arial"/>
              </a:rPr>
              <a:t>no </a:t>
            </a:r>
            <a:r>
              <a:rPr sz="2800" spc="45" dirty="0">
                <a:latin typeface="Arial"/>
                <a:cs typeface="Arial"/>
              </a:rPr>
              <a:t>pior </a:t>
            </a:r>
            <a:r>
              <a:rPr sz="2800" spc="-40" dirty="0">
                <a:latin typeface="Arial"/>
                <a:cs typeface="Arial"/>
              </a:rPr>
              <a:t>caso  </a:t>
            </a:r>
            <a:r>
              <a:rPr sz="2800" spc="20" dirty="0">
                <a:latin typeface="Arial"/>
                <a:cs typeface="Arial"/>
              </a:rPr>
              <a:t>para </a:t>
            </a:r>
            <a:r>
              <a:rPr sz="2800" spc="45" dirty="0">
                <a:latin typeface="Arial"/>
                <a:cs typeface="Arial"/>
              </a:rPr>
              <a:t>uma </a:t>
            </a:r>
            <a:r>
              <a:rPr sz="2800" spc="-15" dirty="0">
                <a:latin typeface="Arial"/>
                <a:cs typeface="Arial"/>
              </a:rPr>
              <a:t>busca </a:t>
            </a:r>
            <a:r>
              <a:rPr sz="2800" spc="20" dirty="0">
                <a:latin typeface="Arial"/>
                <a:cs typeface="Arial"/>
              </a:rPr>
              <a:t>com </a:t>
            </a:r>
            <a:r>
              <a:rPr sz="2800" spc="-5" dirty="0">
                <a:latin typeface="Arial"/>
                <a:cs typeface="Arial"/>
              </a:rPr>
              <a:t>chaves </a:t>
            </a:r>
            <a:r>
              <a:rPr sz="2800" spc="15" dirty="0">
                <a:latin typeface="Arial"/>
                <a:cs typeface="Arial"/>
              </a:rPr>
              <a:t>de probabilidades </a:t>
            </a:r>
            <a:r>
              <a:rPr sz="2800" spc="10" dirty="0">
                <a:latin typeface="Arial"/>
                <a:cs typeface="Arial"/>
              </a:rPr>
              <a:t>de  </a:t>
            </a:r>
            <a:r>
              <a:rPr sz="2800" spc="-5" dirty="0">
                <a:latin typeface="Arial"/>
                <a:cs typeface="Arial"/>
              </a:rPr>
              <a:t>ocorrências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idênticas.</a:t>
            </a:r>
            <a:endParaRPr sz="2800">
              <a:latin typeface="Arial"/>
              <a:cs typeface="Arial"/>
            </a:endParaRPr>
          </a:p>
          <a:p>
            <a:pPr marL="12700" marR="713105">
              <a:lnSpc>
                <a:spcPct val="100000"/>
              </a:lnSpc>
              <a:spcBef>
                <a:spcPts val="1420"/>
              </a:spcBef>
            </a:pPr>
            <a:r>
              <a:rPr sz="2800" dirty="0">
                <a:latin typeface="Arial"/>
                <a:cs typeface="Arial"/>
              </a:rPr>
              <a:t>Contudo, </a:t>
            </a:r>
            <a:r>
              <a:rPr sz="2800" spc="20" dirty="0">
                <a:latin typeface="Arial"/>
                <a:cs typeface="Arial"/>
              </a:rPr>
              <a:t>para </a:t>
            </a:r>
            <a:r>
              <a:rPr sz="2800" spc="60" dirty="0">
                <a:latin typeface="Arial"/>
                <a:cs typeface="Arial"/>
              </a:rPr>
              <a:t>garantir </a:t>
            </a:r>
            <a:r>
              <a:rPr sz="2800" spc="-60" dirty="0">
                <a:latin typeface="Arial"/>
                <a:cs typeface="Arial"/>
              </a:rPr>
              <a:t>essa </a:t>
            </a:r>
            <a:r>
              <a:rPr sz="2800" spc="25" dirty="0">
                <a:latin typeface="Arial"/>
                <a:cs typeface="Arial"/>
              </a:rPr>
              <a:t>propriedade </a:t>
            </a:r>
            <a:r>
              <a:rPr sz="2800" spc="50" dirty="0">
                <a:latin typeface="Arial"/>
                <a:cs typeface="Arial"/>
              </a:rPr>
              <a:t>em  </a:t>
            </a:r>
            <a:r>
              <a:rPr sz="2800" spc="-5" dirty="0">
                <a:latin typeface="Arial"/>
                <a:cs typeface="Arial"/>
              </a:rPr>
              <a:t>aplicações </a:t>
            </a:r>
            <a:r>
              <a:rPr sz="2800" spc="15" dirty="0">
                <a:latin typeface="Arial"/>
                <a:cs typeface="Arial"/>
              </a:rPr>
              <a:t>dinâmicas, </a:t>
            </a:r>
            <a:r>
              <a:rPr sz="2800" spc="-10" dirty="0">
                <a:latin typeface="Arial"/>
                <a:cs typeface="Arial"/>
              </a:rPr>
              <a:t>é </a:t>
            </a:r>
            <a:r>
              <a:rPr sz="2800" dirty="0">
                <a:latin typeface="Arial"/>
                <a:cs typeface="Arial"/>
              </a:rPr>
              <a:t>preciso </a:t>
            </a:r>
            <a:r>
              <a:rPr sz="2800" spc="35" dirty="0">
                <a:latin typeface="Arial"/>
                <a:cs typeface="Arial"/>
              </a:rPr>
              <a:t>reconstruir </a:t>
            </a:r>
            <a:r>
              <a:rPr sz="2800" spc="-15" dirty="0">
                <a:latin typeface="Arial"/>
                <a:cs typeface="Arial"/>
              </a:rPr>
              <a:t>a  </a:t>
            </a:r>
            <a:r>
              <a:rPr sz="2800" spc="25" dirty="0">
                <a:latin typeface="Arial"/>
                <a:cs typeface="Arial"/>
              </a:rPr>
              <a:t>árvore para </a:t>
            </a:r>
            <a:r>
              <a:rPr sz="2800" spc="-25" dirty="0">
                <a:latin typeface="Arial"/>
                <a:cs typeface="Arial"/>
              </a:rPr>
              <a:t>seu </a:t>
            </a:r>
            <a:r>
              <a:rPr sz="2800" spc="15" dirty="0">
                <a:latin typeface="Arial"/>
                <a:cs typeface="Arial"/>
              </a:rPr>
              <a:t>estado </a:t>
            </a:r>
            <a:r>
              <a:rPr sz="2800" spc="25" dirty="0">
                <a:latin typeface="Arial"/>
                <a:cs typeface="Arial"/>
              </a:rPr>
              <a:t>ideal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-5" dirty="0">
                <a:latin typeface="Arial"/>
                <a:cs typeface="Arial"/>
              </a:rPr>
              <a:t>cada </a:t>
            </a:r>
            <a:r>
              <a:rPr sz="2800" dirty="0">
                <a:latin typeface="Arial"/>
                <a:cs typeface="Arial"/>
              </a:rPr>
              <a:t>operação  </a:t>
            </a:r>
            <a:r>
              <a:rPr sz="2800" spc="-15" dirty="0">
                <a:latin typeface="Arial"/>
                <a:cs typeface="Arial"/>
              </a:rPr>
              <a:t>sobre </a:t>
            </a:r>
            <a:r>
              <a:rPr sz="2800" spc="-40" dirty="0">
                <a:latin typeface="Arial"/>
                <a:cs typeface="Arial"/>
              </a:rPr>
              <a:t>seus </a:t>
            </a:r>
            <a:r>
              <a:rPr sz="2800" spc="-30" dirty="0">
                <a:latin typeface="Arial"/>
                <a:cs typeface="Arial"/>
              </a:rPr>
              <a:t>nós </a:t>
            </a:r>
            <a:r>
              <a:rPr sz="2800" spc="5" dirty="0">
                <a:latin typeface="Arial"/>
                <a:cs typeface="Arial"/>
              </a:rPr>
              <a:t>(inclusão ou</a:t>
            </a:r>
            <a:r>
              <a:rPr sz="2800" spc="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exclusão).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5891529"/>
            <a:ext cx="613791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0" dirty="0">
                <a:latin typeface="Arial"/>
                <a:cs typeface="Arial"/>
              </a:rPr>
              <a:t>Suponha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5" dirty="0">
                <a:latin typeface="Arial"/>
                <a:cs typeface="Arial"/>
              </a:rPr>
              <a:t>inclusão </a:t>
            </a:r>
            <a:r>
              <a:rPr sz="2800" spc="10" dirty="0">
                <a:latin typeface="Arial"/>
                <a:cs typeface="Arial"/>
              </a:rPr>
              <a:t>da chave </a:t>
            </a:r>
            <a:r>
              <a:rPr sz="2800" spc="45" dirty="0">
                <a:latin typeface="Arial"/>
                <a:cs typeface="Arial"/>
              </a:rPr>
              <a:t>0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(zero).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85110" y="3091179"/>
            <a:ext cx="571500" cy="355600"/>
          </a:xfrm>
          <a:custGeom>
            <a:avLst/>
            <a:gdLst/>
            <a:ahLst/>
            <a:cxnLst/>
            <a:rect l="l" t="t" r="r" b="b"/>
            <a:pathLst>
              <a:path w="571500" h="35560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4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10"/>
                </a:lnTo>
                <a:lnTo>
                  <a:pt x="523949" y="278705"/>
                </a:lnTo>
                <a:lnTo>
                  <a:pt x="489584" y="304800"/>
                </a:lnTo>
                <a:lnTo>
                  <a:pt x="447600" y="326132"/>
                </a:lnTo>
                <a:lnTo>
                  <a:pt x="398978" y="342106"/>
                </a:lnTo>
                <a:lnTo>
                  <a:pt x="344700" y="352127"/>
                </a:lnTo>
                <a:lnTo>
                  <a:pt x="285750" y="355600"/>
                </a:lnTo>
                <a:lnTo>
                  <a:pt x="227163" y="352127"/>
                </a:lnTo>
                <a:lnTo>
                  <a:pt x="173057" y="342106"/>
                </a:lnTo>
                <a:lnTo>
                  <a:pt x="124457" y="326132"/>
                </a:lnTo>
                <a:lnTo>
                  <a:pt x="82391" y="304800"/>
                </a:lnTo>
                <a:lnTo>
                  <a:pt x="47885" y="278705"/>
                </a:lnTo>
                <a:lnTo>
                  <a:pt x="21967" y="248443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85110" y="3091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7879" y="34480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1010" y="314705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85740" y="3018789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4"/>
                </a:lnTo>
                <a:lnTo>
                  <a:pt x="398442" y="13672"/>
                </a:lnTo>
                <a:lnTo>
                  <a:pt x="447042" y="29802"/>
                </a:lnTo>
                <a:lnTo>
                  <a:pt x="489108" y="51276"/>
                </a:lnTo>
                <a:lnTo>
                  <a:pt x="523614" y="77452"/>
                </a:lnTo>
                <a:lnTo>
                  <a:pt x="549532" y="107692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5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70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1354"/>
                </a:lnTo>
                <a:lnTo>
                  <a:pt x="47550" y="77452"/>
                </a:lnTo>
                <a:lnTo>
                  <a:pt x="81915" y="51276"/>
                </a:lnTo>
                <a:lnTo>
                  <a:pt x="123899" y="29802"/>
                </a:lnTo>
                <a:lnTo>
                  <a:pt x="172521" y="13672"/>
                </a:lnTo>
                <a:lnTo>
                  <a:pt x="226799" y="3524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85740" y="30187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57240" y="33756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64809" y="309880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56990" y="259080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69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5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70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56990" y="259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28490" y="29476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72890" y="264667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72129" y="2768600"/>
            <a:ext cx="784860" cy="322580"/>
          </a:xfrm>
          <a:custGeom>
            <a:avLst/>
            <a:gdLst/>
            <a:ahLst/>
            <a:cxnLst/>
            <a:rect l="l" t="t" r="r" b="b"/>
            <a:pathLst>
              <a:path w="784860" h="322580">
                <a:moveTo>
                  <a:pt x="0" y="322579"/>
                </a:moveTo>
                <a:lnTo>
                  <a:pt x="78485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28490" y="2768600"/>
            <a:ext cx="1143000" cy="250190"/>
          </a:xfrm>
          <a:custGeom>
            <a:avLst/>
            <a:gdLst/>
            <a:ahLst/>
            <a:cxnLst/>
            <a:rect l="l" t="t" r="r" b="b"/>
            <a:pathLst>
              <a:path w="1143000" h="250189">
                <a:moveTo>
                  <a:pt x="1143000" y="250189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137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5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4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7137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287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86000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57120" y="3395979"/>
            <a:ext cx="511809" cy="194310"/>
          </a:xfrm>
          <a:custGeom>
            <a:avLst/>
            <a:gdLst/>
            <a:ahLst/>
            <a:cxnLst/>
            <a:rect l="l" t="t" r="r" b="b"/>
            <a:pathLst>
              <a:path w="511810" h="194310">
                <a:moveTo>
                  <a:pt x="0" y="194310"/>
                </a:moveTo>
                <a:lnTo>
                  <a:pt x="5118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4312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4312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1462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82092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28870" y="3324859"/>
            <a:ext cx="440690" cy="265430"/>
          </a:xfrm>
          <a:custGeom>
            <a:avLst/>
            <a:gdLst/>
            <a:ahLst/>
            <a:cxnLst/>
            <a:rect l="l" t="t" r="r" b="b"/>
            <a:pathLst>
              <a:path w="440689" h="265429">
                <a:moveTo>
                  <a:pt x="0" y="265429"/>
                </a:moveTo>
                <a:lnTo>
                  <a:pt x="44068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7879" y="359029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29" h="356870">
                <a:moveTo>
                  <a:pt x="284480" y="0"/>
                </a:moveTo>
                <a:lnTo>
                  <a:pt x="343430" y="3527"/>
                </a:lnTo>
                <a:lnTo>
                  <a:pt x="397708" y="13692"/>
                </a:lnTo>
                <a:lnTo>
                  <a:pt x="446330" y="29869"/>
                </a:lnTo>
                <a:lnTo>
                  <a:pt x="488315" y="51435"/>
                </a:lnTo>
                <a:lnTo>
                  <a:pt x="522679" y="77762"/>
                </a:lnTo>
                <a:lnTo>
                  <a:pt x="548441" y="108227"/>
                </a:lnTo>
                <a:lnTo>
                  <a:pt x="570230" y="179070"/>
                </a:lnTo>
                <a:lnTo>
                  <a:pt x="564619" y="215515"/>
                </a:lnTo>
                <a:lnTo>
                  <a:pt x="522679" y="279417"/>
                </a:lnTo>
                <a:lnTo>
                  <a:pt x="488314" y="305593"/>
                </a:lnTo>
                <a:lnTo>
                  <a:pt x="446330" y="327067"/>
                </a:lnTo>
                <a:lnTo>
                  <a:pt x="397708" y="343197"/>
                </a:lnTo>
                <a:lnTo>
                  <a:pt x="343430" y="353345"/>
                </a:lnTo>
                <a:lnTo>
                  <a:pt x="284480" y="356870"/>
                </a:lnTo>
                <a:lnTo>
                  <a:pt x="225948" y="353345"/>
                </a:lnTo>
                <a:lnTo>
                  <a:pt x="171985" y="343197"/>
                </a:lnTo>
                <a:lnTo>
                  <a:pt x="123589" y="327067"/>
                </a:lnTo>
                <a:lnTo>
                  <a:pt x="81756" y="305593"/>
                </a:lnTo>
                <a:lnTo>
                  <a:pt x="47483" y="279417"/>
                </a:lnTo>
                <a:lnTo>
                  <a:pt x="21768" y="249177"/>
                </a:lnTo>
                <a:lnTo>
                  <a:pt x="0" y="179070"/>
                </a:lnTo>
                <a:lnTo>
                  <a:pt x="5608" y="142205"/>
                </a:lnTo>
                <a:lnTo>
                  <a:pt x="47483" y="77762"/>
                </a:lnTo>
                <a:lnTo>
                  <a:pt x="81756" y="51435"/>
                </a:lnTo>
                <a:lnTo>
                  <a:pt x="123589" y="29869"/>
                </a:lnTo>
                <a:lnTo>
                  <a:pt x="171985" y="13692"/>
                </a:lnTo>
                <a:lnTo>
                  <a:pt x="225948" y="3527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57879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29379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72509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74059" y="3395979"/>
            <a:ext cx="369570" cy="194310"/>
          </a:xfrm>
          <a:custGeom>
            <a:avLst/>
            <a:gdLst/>
            <a:ahLst/>
            <a:cxnLst/>
            <a:rect l="l" t="t" r="r" b="b"/>
            <a:pathLst>
              <a:path w="369570" h="194310">
                <a:moveTo>
                  <a:pt x="0" y="0"/>
                </a:moveTo>
                <a:lnTo>
                  <a:pt x="369569" y="1943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0075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0075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7225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17855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14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73420" y="3324859"/>
            <a:ext cx="513080" cy="265430"/>
          </a:xfrm>
          <a:custGeom>
            <a:avLst/>
            <a:gdLst/>
            <a:ahLst/>
            <a:cxnLst/>
            <a:rect l="l" t="t" r="r" b="b"/>
            <a:pathLst>
              <a:path w="513079" h="265429">
                <a:moveTo>
                  <a:pt x="0" y="0"/>
                </a:moveTo>
                <a:lnTo>
                  <a:pt x="513079" y="26542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14500" y="428625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30" h="356870">
                <a:moveTo>
                  <a:pt x="284480" y="0"/>
                </a:moveTo>
                <a:lnTo>
                  <a:pt x="343430" y="3472"/>
                </a:lnTo>
                <a:lnTo>
                  <a:pt x="397708" y="13493"/>
                </a:lnTo>
                <a:lnTo>
                  <a:pt x="446330" y="29467"/>
                </a:lnTo>
                <a:lnTo>
                  <a:pt x="488314" y="50800"/>
                </a:lnTo>
                <a:lnTo>
                  <a:pt x="522679" y="76894"/>
                </a:lnTo>
                <a:lnTo>
                  <a:pt x="548441" y="107156"/>
                </a:lnTo>
                <a:lnTo>
                  <a:pt x="570230" y="177800"/>
                </a:lnTo>
                <a:lnTo>
                  <a:pt x="564619" y="214664"/>
                </a:lnTo>
                <a:lnTo>
                  <a:pt x="522679" y="279107"/>
                </a:lnTo>
                <a:lnTo>
                  <a:pt x="488315" y="305434"/>
                </a:lnTo>
                <a:lnTo>
                  <a:pt x="446330" y="327000"/>
                </a:lnTo>
                <a:lnTo>
                  <a:pt x="397708" y="343177"/>
                </a:lnTo>
                <a:lnTo>
                  <a:pt x="343430" y="353342"/>
                </a:lnTo>
                <a:lnTo>
                  <a:pt x="284480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1450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8600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2912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0025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9973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9973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7124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21563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285490" y="3895090"/>
            <a:ext cx="156210" cy="391160"/>
          </a:xfrm>
          <a:custGeom>
            <a:avLst/>
            <a:gdLst/>
            <a:ahLst/>
            <a:cxnLst/>
            <a:rect l="l" t="t" r="r" b="b"/>
            <a:pathLst>
              <a:path w="156210" h="391160">
                <a:moveTo>
                  <a:pt x="0" y="391160"/>
                </a:moveTo>
                <a:lnTo>
                  <a:pt x="1562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5712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35712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2862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571750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5905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19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4235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4235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15129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85825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845559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8625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4479" y="0"/>
                </a:moveTo>
                <a:lnTo>
                  <a:pt x="343485" y="3472"/>
                </a:lnTo>
                <a:lnTo>
                  <a:pt x="397906" y="13493"/>
                </a:lnTo>
                <a:lnTo>
                  <a:pt x="446732" y="29467"/>
                </a:lnTo>
                <a:lnTo>
                  <a:pt x="488949" y="50800"/>
                </a:lnTo>
                <a:lnTo>
                  <a:pt x="523547" y="76894"/>
                </a:lnTo>
                <a:lnTo>
                  <a:pt x="549513" y="107156"/>
                </a:lnTo>
                <a:lnTo>
                  <a:pt x="571500" y="177800"/>
                </a:lnTo>
                <a:lnTo>
                  <a:pt x="565834" y="214664"/>
                </a:lnTo>
                <a:lnTo>
                  <a:pt x="523547" y="279107"/>
                </a:lnTo>
                <a:lnTo>
                  <a:pt x="488950" y="305434"/>
                </a:lnTo>
                <a:lnTo>
                  <a:pt x="446732" y="327000"/>
                </a:lnTo>
                <a:lnTo>
                  <a:pt x="397906" y="343177"/>
                </a:lnTo>
                <a:lnTo>
                  <a:pt x="343485" y="353342"/>
                </a:lnTo>
                <a:lnTo>
                  <a:pt x="284479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79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28625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85775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50087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57200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7149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57149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4299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750559" y="43649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857240" y="3895090"/>
            <a:ext cx="227329" cy="391160"/>
          </a:xfrm>
          <a:custGeom>
            <a:avLst/>
            <a:gdLst/>
            <a:ahLst/>
            <a:cxnLst/>
            <a:rect l="l" t="t" r="r" b="b"/>
            <a:pathLst>
              <a:path w="227329" h="391160">
                <a:moveTo>
                  <a:pt x="0" y="391160"/>
                </a:moveTo>
                <a:lnTo>
                  <a:pt x="22733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2887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2887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50037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106670" y="43649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13080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20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5110" y="3091179"/>
            <a:ext cx="571500" cy="355600"/>
          </a:xfrm>
          <a:custGeom>
            <a:avLst/>
            <a:gdLst/>
            <a:ahLst/>
            <a:cxnLst/>
            <a:rect l="l" t="t" r="r" b="b"/>
            <a:pathLst>
              <a:path w="571500" h="35560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4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10"/>
                </a:lnTo>
                <a:lnTo>
                  <a:pt x="523949" y="278705"/>
                </a:lnTo>
                <a:lnTo>
                  <a:pt x="489584" y="304800"/>
                </a:lnTo>
                <a:lnTo>
                  <a:pt x="447600" y="326132"/>
                </a:lnTo>
                <a:lnTo>
                  <a:pt x="398978" y="342106"/>
                </a:lnTo>
                <a:lnTo>
                  <a:pt x="344700" y="352127"/>
                </a:lnTo>
                <a:lnTo>
                  <a:pt x="285750" y="355600"/>
                </a:lnTo>
                <a:lnTo>
                  <a:pt x="227163" y="352127"/>
                </a:lnTo>
                <a:lnTo>
                  <a:pt x="173057" y="342106"/>
                </a:lnTo>
                <a:lnTo>
                  <a:pt x="124457" y="326132"/>
                </a:lnTo>
                <a:lnTo>
                  <a:pt x="82391" y="304800"/>
                </a:lnTo>
                <a:lnTo>
                  <a:pt x="47885" y="278705"/>
                </a:lnTo>
                <a:lnTo>
                  <a:pt x="21967" y="248443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85110" y="3091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7879" y="34480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1010" y="314705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5740" y="3018789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4"/>
                </a:lnTo>
                <a:lnTo>
                  <a:pt x="398442" y="13672"/>
                </a:lnTo>
                <a:lnTo>
                  <a:pt x="447042" y="29802"/>
                </a:lnTo>
                <a:lnTo>
                  <a:pt x="489108" y="51276"/>
                </a:lnTo>
                <a:lnTo>
                  <a:pt x="523614" y="77452"/>
                </a:lnTo>
                <a:lnTo>
                  <a:pt x="549532" y="107692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5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70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1354"/>
                </a:lnTo>
                <a:lnTo>
                  <a:pt x="47550" y="77452"/>
                </a:lnTo>
                <a:lnTo>
                  <a:pt x="81915" y="51276"/>
                </a:lnTo>
                <a:lnTo>
                  <a:pt x="123899" y="29802"/>
                </a:lnTo>
                <a:lnTo>
                  <a:pt x="172521" y="13672"/>
                </a:lnTo>
                <a:lnTo>
                  <a:pt x="226799" y="3524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5740" y="30187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7240" y="33756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64809" y="309880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56990" y="259080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69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5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70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6990" y="259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8490" y="29476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72890" y="264667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2129" y="2768600"/>
            <a:ext cx="784860" cy="322580"/>
          </a:xfrm>
          <a:custGeom>
            <a:avLst/>
            <a:gdLst/>
            <a:ahLst/>
            <a:cxnLst/>
            <a:rect l="l" t="t" r="r" b="b"/>
            <a:pathLst>
              <a:path w="784860" h="322580">
                <a:moveTo>
                  <a:pt x="0" y="322579"/>
                </a:moveTo>
                <a:lnTo>
                  <a:pt x="78485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8490" y="2768600"/>
            <a:ext cx="1143000" cy="250190"/>
          </a:xfrm>
          <a:custGeom>
            <a:avLst/>
            <a:gdLst/>
            <a:ahLst/>
            <a:cxnLst/>
            <a:rect l="l" t="t" r="r" b="b"/>
            <a:pathLst>
              <a:path w="1143000" h="250189">
                <a:moveTo>
                  <a:pt x="1143000" y="250189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7137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5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4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137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287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86000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7120" y="3395979"/>
            <a:ext cx="511809" cy="194310"/>
          </a:xfrm>
          <a:custGeom>
            <a:avLst/>
            <a:gdLst/>
            <a:ahLst/>
            <a:cxnLst/>
            <a:rect l="l" t="t" r="r" b="b"/>
            <a:pathLst>
              <a:path w="511810" h="194310">
                <a:moveTo>
                  <a:pt x="0" y="194310"/>
                </a:moveTo>
                <a:lnTo>
                  <a:pt x="5118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4312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4312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1462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2092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28870" y="3324859"/>
            <a:ext cx="440690" cy="265430"/>
          </a:xfrm>
          <a:custGeom>
            <a:avLst/>
            <a:gdLst/>
            <a:ahLst/>
            <a:cxnLst/>
            <a:rect l="l" t="t" r="r" b="b"/>
            <a:pathLst>
              <a:path w="440689" h="265429">
                <a:moveTo>
                  <a:pt x="0" y="265429"/>
                </a:moveTo>
                <a:lnTo>
                  <a:pt x="44068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57879" y="359029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29" h="356870">
                <a:moveTo>
                  <a:pt x="284480" y="0"/>
                </a:moveTo>
                <a:lnTo>
                  <a:pt x="343430" y="3527"/>
                </a:lnTo>
                <a:lnTo>
                  <a:pt x="397708" y="13692"/>
                </a:lnTo>
                <a:lnTo>
                  <a:pt x="446330" y="29869"/>
                </a:lnTo>
                <a:lnTo>
                  <a:pt x="488315" y="51435"/>
                </a:lnTo>
                <a:lnTo>
                  <a:pt x="522679" y="77762"/>
                </a:lnTo>
                <a:lnTo>
                  <a:pt x="548441" y="108227"/>
                </a:lnTo>
                <a:lnTo>
                  <a:pt x="570230" y="179070"/>
                </a:lnTo>
                <a:lnTo>
                  <a:pt x="564619" y="215515"/>
                </a:lnTo>
                <a:lnTo>
                  <a:pt x="522679" y="279417"/>
                </a:lnTo>
                <a:lnTo>
                  <a:pt x="488314" y="305593"/>
                </a:lnTo>
                <a:lnTo>
                  <a:pt x="446330" y="327067"/>
                </a:lnTo>
                <a:lnTo>
                  <a:pt x="397708" y="343197"/>
                </a:lnTo>
                <a:lnTo>
                  <a:pt x="343430" y="353345"/>
                </a:lnTo>
                <a:lnTo>
                  <a:pt x="284480" y="356870"/>
                </a:lnTo>
                <a:lnTo>
                  <a:pt x="225948" y="353345"/>
                </a:lnTo>
                <a:lnTo>
                  <a:pt x="171985" y="343197"/>
                </a:lnTo>
                <a:lnTo>
                  <a:pt x="123589" y="327067"/>
                </a:lnTo>
                <a:lnTo>
                  <a:pt x="81756" y="305593"/>
                </a:lnTo>
                <a:lnTo>
                  <a:pt x="47483" y="279417"/>
                </a:lnTo>
                <a:lnTo>
                  <a:pt x="21768" y="249177"/>
                </a:lnTo>
                <a:lnTo>
                  <a:pt x="0" y="179070"/>
                </a:lnTo>
                <a:lnTo>
                  <a:pt x="5608" y="142205"/>
                </a:lnTo>
                <a:lnTo>
                  <a:pt x="47483" y="77762"/>
                </a:lnTo>
                <a:lnTo>
                  <a:pt x="81756" y="51435"/>
                </a:lnTo>
                <a:lnTo>
                  <a:pt x="123589" y="29869"/>
                </a:lnTo>
                <a:lnTo>
                  <a:pt x="171985" y="13692"/>
                </a:lnTo>
                <a:lnTo>
                  <a:pt x="225948" y="3527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7879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29379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72509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274059" y="3395979"/>
            <a:ext cx="369570" cy="194310"/>
          </a:xfrm>
          <a:custGeom>
            <a:avLst/>
            <a:gdLst/>
            <a:ahLst/>
            <a:cxnLst/>
            <a:rect l="l" t="t" r="r" b="b"/>
            <a:pathLst>
              <a:path w="369570" h="194310">
                <a:moveTo>
                  <a:pt x="0" y="0"/>
                </a:moveTo>
                <a:lnTo>
                  <a:pt x="369569" y="1943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0075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0075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7225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17855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14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73420" y="3324859"/>
            <a:ext cx="513080" cy="265430"/>
          </a:xfrm>
          <a:custGeom>
            <a:avLst/>
            <a:gdLst/>
            <a:ahLst/>
            <a:cxnLst/>
            <a:rect l="l" t="t" r="r" b="b"/>
            <a:pathLst>
              <a:path w="513079" h="265429">
                <a:moveTo>
                  <a:pt x="0" y="0"/>
                </a:moveTo>
                <a:lnTo>
                  <a:pt x="513079" y="26542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14500" y="428625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30" h="356870">
                <a:moveTo>
                  <a:pt x="284480" y="0"/>
                </a:moveTo>
                <a:lnTo>
                  <a:pt x="343430" y="3472"/>
                </a:lnTo>
                <a:lnTo>
                  <a:pt x="397708" y="13493"/>
                </a:lnTo>
                <a:lnTo>
                  <a:pt x="446330" y="29467"/>
                </a:lnTo>
                <a:lnTo>
                  <a:pt x="488314" y="50800"/>
                </a:lnTo>
                <a:lnTo>
                  <a:pt x="522679" y="76894"/>
                </a:lnTo>
                <a:lnTo>
                  <a:pt x="548441" y="107156"/>
                </a:lnTo>
                <a:lnTo>
                  <a:pt x="570230" y="177800"/>
                </a:lnTo>
                <a:lnTo>
                  <a:pt x="564619" y="214664"/>
                </a:lnTo>
                <a:lnTo>
                  <a:pt x="522679" y="279107"/>
                </a:lnTo>
                <a:lnTo>
                  <a:pt x="488315" y="305434"/>
                </a:lnTo>
                <a:lnTo>
                  <a:pt x="446330" y="327000"/>
                </a:lnTo>
                <a:lnTo>
                  <a:pt x="397708" y="343177"/>
                </a:lnTo>
                <a:lnTo>
                  <a:pt x="343430" y="353342"/>
                </a:lnTo>
                <a:lnTo>
                  <a:pt x="284480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1450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8600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92912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0025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9973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9973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7124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21563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85490" y="3895090"/>
            <a:ext cx="156210" cy="391160"/>
          </a:xfrm>
          <a:custGeom>
            <a:avLst/>
            <a:gdLst/>
            <a:ahLst/>
            <a:cxnLst/>
            <a:rect l="l" t="t" r="r" b="b"/>
            <a:pathLst>
              <a:path w="156210" h="391160">
                <a:moveTo>
                  <a:pt x="0" y="391160"/>
                </a:moveTo>
                <a:lnTo>
                  <a:pt x="1562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5712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5712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2862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571750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5905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19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64235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4235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15129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85825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845559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8625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4479" y="0"/>
                </a:moveTo>
                <a:lnTo>
                  <a:pt x="343485" y="3472"/>
                </a:lnTo>
                <a:lnTo>
                  <a:pt x="397906" y="13493"/>
                </a:lnTo>
                <a:lnTo>
                  <a:pt x="446732" y="29467"/>
                </a:lnTo>
                <a:lnTo>
                  <a:pt x="488949" y="50800"/>
                </a:lnTo>
                <a:lnTo>
                  <a:pt x="523547" y="76894"/>
                </a:lnTo>
                <a:lnTo>
                  <a:pt x="549513" y="107156"/>
                </a:lnTo>
                <a:lnTo>
                  <a:pt x="571500" y="177800"/>
                </a:lnTo>
                <a:lnTo>
                  <a:pt x="565834" y="214664"/>
                </a:lnTo>
                <a:lnTo>
                  <a:pt x="523547" y="279107"/>
                </a:lnTo>
                <a:lnTo>
                  <a:pt x="488950" y="305434"/>
                </a:lnTo>
                <a:lnTo>
                  <a:pt x="446732" y="327000"/>
                </a:lnTo>
                <a:lnTo>
                  <a:pt x="397906" y="343177"/>
                </a:lnTo>
                <a:lnTo>
                  <a:pt x="343485" y="353342"/>
                </a:lnTo>
                <a:lnTo>
                  <a:pt x="284479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79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8625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85775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50087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57200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7149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7149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4299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750559" y="43649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857240" y="3895090"/>
            <a:ext cx="227329" cy="391160"/>
          </a:xfrm>
          <a:custGeom>
            <a:avLst/>
            <a:gdLst/>
            <a:ahLst/>
            <a:cxnLst/>
            <a:rect l="l" t="t" r="r" b="b"/>
            <a:pathLst>
              <a:path w="227329" h="391160">
                <a:moveTo>
                  <a:pt x="0" y="391160"/>
                </a:moveTo>
                <a:lnTo>
                  <a:pt x="22733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92887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2887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50037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06670" y="43649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13080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20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28750" y="48577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226799" y="3472"/>
                </a:lnTo>
                <a:lnTo>
                  <a:pt x="172521" y="13493"/>
                </a:lnTo>
                <a:lnTo>
                  <a:pt x="123899" y="29467"/>
                </a:lnTo>
                <a:lnTo>
                  <a:pt x="81914" y="50800"/>
                </a:lnTo>
                <a:lnTo>
                  <a:pt x="47550" y="76894"/>
                </a:lnTo>
                <a:lnTo>
                  <a:pt x="21788" y="107156"/>
                </a:lnTo>
                <a:lnTo>
                  <a:pt x="0" y="177800"/>
                </a:lnTo>
                <a:lnTo>
                  <a:pt x="5610" y="214664"/>
                </a:lnTo>
                <a:lnTo>
                  <a:pt x="47550" y="279107"/>
                </a:lnTo>
                <a:lnTo>
                  <a:pt x="81915" y="305435"/>
                </a:lnTo>
                <a:lnTo>
                  <a:pt x="123899" y="327000"/>
                </a:lnTo>
                <a:lnTo>
                  <a:pt x="172521" y="343177"/>
                </a:lnTo>
                <a:lnTo>
                  <a:pt x="226799" y="353342"/>
                </a:lnTo>
                <a:lnTo>
                  <a:pt x="285750" y="356869"/>
                </a:lnTo>
                <a:lnTo>
                  <a:pt x="344336" y="353342"/>
                </a:lnTo>
                <a:lnTo>
                  <a:pt x="398442" y="343177"/>
                </a:lnTo>
                <a:lnTo>
                  <a:pt x="447042" y="327000"/>
                </a:lnTo>
                <a:lnTo>
                  <a:pt x="489108" y="305434"/>
                </a:lnTo>
                <a:lnTo>
                  <a:pt x="523614" y="279107"/>
                </a:lnTo>
                <a:lnTo>
                  <a:pt x="549532" y="248642"/>
                </a:lnTo>
                <a:lnTo>
                  <a:pt x="571500" y="177800"/>
                </a:lnTo>
                <a:lnTo>
                  <a:pt x="565837" y="140989"/>
                </a:lnTo>
                <a:lnTo>
                  <a:pt x="523614" y="76894"/>
                </a:lnTo>
                <a:lnTo>
                  <a:pt x="489108" y="50800"/>
                </a:lnTo>
                <a:lnTo>
                  <a:pt x="447042" y="29467"/>
                </a:lnTo>
                <a:lnTo>
                  <a:pt x="398442" y="13493"/>
                </a:lnTo>
                <a:lnTo>
                  <a:pt x="344336" y="3472"/>
                </a:lnTo>
                <a:lnTo>
                  <a:pt x="285750" y="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28750" y="48577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28750" y="4857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00250" y="5214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43379" y="49136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714500" y="4591050"/>
            <a:ext cx="83820" cy="266700"/>
          </a:xfrm>
          <a:custGeom>
            <a:avLst/>
            <a:gdLst/>
            <a:ahLst/>
            <a:cxnLst/>
            <a:rect l="l" t="t" r="r" b="b"/>
            <a:pathLst>
              <a:path w="83819" h="266700">
                <a:moveTo>
                  <a:pt x="0" y="266700"/>
                </a:moveTo>
                <a:lnTo>
                  <a:pt x="8381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2860" y="1487110"/>
            <a:ext cx="5598278" cy="4739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57879" y="2056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1679" y="20078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9759" y="155702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4139" y="255650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9059" y="25793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9379" y="255650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6690" y="25793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6000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250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988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512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7750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7429" y="3275329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4809" y="3275329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00250" y="38239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9000" y="471932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2800" y="46697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0879" y="42189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5260" y="52184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97170" y="5241290"/>
            <a:ext cx="120014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00500" y="52184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07809" y="52412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8389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43629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0101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8625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3014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78550" y="593725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35929" y="593725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64680" y="593725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36880">
              <a:lnSpc>
                <a:spcPct val="100000"/>
              </a:lnSpc>
            </a:pPr>
            <a:r>
              <a:rPr sz="2800" spc="-105" dirty="0"/>
              <a:t>Para </a:t>
            </a:r>
            <a:r>
              <a:rPr sz="2800" spc="10" dirty="0"/>
              <a:t>reorganizar </a:t>
            </a:r>
            <a:r>
              <a:rPr sz="2800" spc="-15" dirty="0"/>
              <a:t>a </a:t>
            </a:r>
            <a:r>
              <a:rPr sz="2800" spc="25" dirty="0"/>
              <a:t>árvore </a:t>
            </a:r>
            <a:r>
              <a:rPr sz="2800" spc="50" dirty="0"/>
              <a:t>anterior, foi </a:t>
            </a:r>
            <a:r>
              <a:rPr sz="2800" spc="40" dirty="0"/>
              <a:t>utilizada  uma </a:t>
            </a:r>
            <a:r>
              <a:rPr sz="2800" spc="20" dirty="0"/>
              <a:t>abordagem </a:t>
            </a:r>
            <a:r>
              <a:rPr sz="2800" spc="-10" dirty="0"/>
              <a:t>O(n), </a:t>
            </a:r>
            <a:r>
              <a:rPr sz="2800" spc="5" dirty="0"/>
              <a:t>no </a:t>
            </a:r>
            <a:r>
              <a:rPr sz="2800" spc="45" dirty="0"/>
              <a:t>pior</a:t>
            </a:r>
            <a:r>
              <a:rPr sz="2800" spc="-10" dirty="0"/>
              <a:t> </a:t>
            </a:r>
            <a:r>
              <a:rPr sz="2800" spc="-40" dirty="0"/>
              <a:t>caso.</a:t>
            </a:r>
            <a:endParaRPr sz="28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spc="40" dirty="0"/>
              <a:t>Naturalmente, </a:t>
            </a:r>
            <a:r>
              <a:rPr sz="2800" spc="-55" dirty="0"/>
              <a:t>essa </a:t>
            </a:r>
            <a:r>
              <a:rPr sz="2800" spc="-10" dirty="0"/>
              <a:t>é </a:t>
            </a:r>
            <a:r>
              <a:rPr sz="2800" spc="40" dirty="0"/>
              <a:t>uma </a:t>
            </a:r>
            <a:r>
              <a:rPr sz="2800" dirty="0"/>
              <a:t>péssima </a:t>
            </a:r>
            <a:r>
              <a:rPr sz="2800" spc="-10" dirty="0"/>
              <a:t>solução, </a:t>
            </a:r>
            <a:r>
              <a:rPr sz="2800" spc="45" dirty="0"/>
              <a:t>uma  </a:t>
            </a:r>
            <a:r>
              <a:rPr sz="2800" spc="-5" dirty="0"/>
              <a:t>vez </a:t>
            </a:r>
            <a:r>
              <a:rPr sz="2800" spc="20" dirty="0"/>
              <a:t>que </a:t>
            </a:r>
            <a:r>
              <a:rPr sz="2800" spc="-10" dirty="0"/>
              <a:t>operações </a:t>
            </a:r>
            <a:r>
              <a:rPr sz="2800" spc="10" dirty="0"/>
              <a:t>como </a:t>
            </a:r>
            <a:r>
              <a:rPr sz="2800" spc="-5" dirty="0"/>
              <a:t>inserção </a:t>
            </a:r>
            <a:r>
              <a:rPr sz="2800" spc="-10" dirty="0"/>
              <a:t>e </a:t>
            </a:r>
            <a:r>
              <a:rPr sz="2800" spc="5" dirty="0"/>
              <a:t>remoção  </a:t>
            </a:r>
            <a:r>
              <a:rPr sz="2800" spc="45" dirty="0"/>
              <a:t>geralmente </a:t>
            </a:r>
            <a:r>
              <a:rPr sz="2800" spc="-45" dirty="0"/>
              <a:t>são </a:t>
            </a:r>
            <a:r>
              <a:rPr sz="2800" spc="20" dirty="0"/>
              <a:t>efetuados </a:t>
            </a:r>
            <a:r>
              <a:rPr sz="2800" spc="55" dirty="0"/>
              <a:t>em </a:t>
            </a:r>
            <a:r>
              <a:rPr sz="2800" dirty="0"/>
              <a:t>O(logn)</a:t>
            </a:r>
            <a:r>
              <a:rPr sz="2800" spc="40" dirty="0"/>
              <a:t> </a:t>
            </a:r>
            <a:r>
              <a:rPr sz="2800" spc="-45" dirty="0"/>
              <a:t>passos.</a:t>
            </a:r>
            <a:endParaRPr sz="2800"/>
          </a:p>
          <a:p>
            <a:pPr marL="12700" marR="490220">
              <a:lnSpc>
                <a:spcPct val="100000"/>
              </a:lnSpc>
              <a:spcBef>
                <a:spcPts val="1410"/>
              </a:spcBef>
            </a:pPr>
            <a:r>
              <a:rPr sz="2800" spc="-130" dirty="0"/>
              <a:t>Por </a:t>
            </a:r>
            <a:r>
              <a:rPr sz="2800" spc="-55" dirty="0"/>
              <a:t>esse </a:t>
            </a:r>
            <a:r>
              <a:rPr sz="2800" spc="60" dirty="0"/>
              <a:t>motivo, </a:t>
            </a:r>
            <a:r>
              <a:rPr sz="2800" spc="5" dirty="0"/>
              <a:t>árvores </a:t>
            </a:r>
            <a:r>
              <a:rPr sz="2800" spc="30" dirty="0"/>
              <a:t>completas </a:t>
            </a:r>
            <a:r>
              <a:rPr sz="2800" spc="-5" dirty="0"/>
              <a:t>não </a:t>
            </a:r>
            <a:r>
              <a:rPr sz="2800" spc="-45" dirty="0"/>
              <a:t>são  </a:t>
            </a:r>
            <a:r>
              <a:rPr sz="2800" dirty="0"/>
              <a:t>recomendadas </a:t>
            </a:r>
            <a:r>
              <a:rPr sz="2800" spc="20" dirty="0"/>
              <a:t>para </a:t>
            </a:r>
            <a:r>
              <a:rPr sz="2800" spc="-5" dirty="0"/>
              <a:t>aplicações </a:t>
            </a:r>
            <a:r>
              <a:rPr sz="2800" spc="20" dirty="0"/>
              <a:t>que </a:t>
            </a:r>
            <a:r>
              <a:rPr sz="2800" spc="35" dirty="0"/>
              <a:t>requeiram  </a:t>
            </a:r>
            <a:r>
              <a:rPr sz="2800" spc="45" dirty="0"/>
              <a:t>estruturas</a:t>
            </a:r>
            <a:r>
              <a:rPr sz="2800" spc="-55" dirty="0"/>
              <a:t> </a:t>
            </a:r>
            <a:r>
              <a:rPr sz="2800" spc="15" dirty="0"/>
              <a:t>dinâmicas.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51790">
              <a:lnSpc>
                <a:spcPct val="100000"/>
              </a:lnSpc>
            </a:pPr>
            <a:r>
              <a:rPr sz="2800" spc="45" dirty="0"/>
              <a:t>Alternativa: </a:t>
            </a:r>
            <a:r>
              <a:rPr sz="2800" spc="55" dirty="0"/>
              <a:t>utilizar </a:t>
            </a:r>
            <a:r>
              <a:rPr sz="2800" spc="75" dirty="0"/>
              <a:t>um </a:t>
            </a:r>
            <a:r>
              <a:rPr sz="2800" spc="40" dirty="0"/>
              <a:t>determinado </a:t>
            </a:r>
            <a:r>
              <a:rPr sz="2800" spc="75" dirty="0"/>
              <a:t>tipo </a:t>
            </a:r>
            <a:r>
              <a:rPr sz="2800" spc="10" dirty="0"/>
              <a:t>de  </a:t>
            </a:r>
            <a:r>
              <a:rPr sz="2800" spc="25" dirty="0"/>
              <a:t>árvore </a:t>
            </a:r>
            <a:r>
              <a:rPr sz="2800" spc="40" dirty="0"/>
              <a:t>binária </a:t>
            </a:r>
            <a:r>
              <a:rPr sz="2800" spc="15" dirty="0"/>
              <a:t>cujo </a:t>
            </a:r>
            <a:r>
              <a:rPr sz="2800" spc="45" dirty="0"/>
              <a:t>pior </a:t>
            </a:r>
            <a:r>
              <a:rPr sz="2800" spc="-40" dirty="0"/>
              <a:t>caso </a:t>
            </a:r>
            <a:r>
              <a:rPr sz="2800" spc="20" dirty="0"/>
              <a:t>para </a:t>
            </a:r>
            <a:r>
              <a:rPr sz="2800" spc="-15" dirty="0"/>
              <a:t>a busca </a:t>
            </a:r>
            <a:r>
              <a:rPr sz="2800" spc="-5" dirty="0"/>
              <a:t>não  </a:t>
            </a:r>
            <a:r>
              <a:rPr sz="2800" spc="-15" dirty="0"/>
              <a:t>seja </a:t>
            </a:r>
            <a:r>
              <a:rPr sz="2800" spc="15" dirty="0"/>
              <a:t>necessariamente </a:t>
            </a:r>
            <a:r>
              <a:rPr sz="2800" spc="50" dirty="0"/>
              <a:t>tão </a:t>
            </a:r>
            <a:r>
              <a:rPr sz="2800" spc="10" dirty="0"/>
              <a:t>pequeno </a:t>
            </a:r>
            <a:r>
              <a:rPr sz="2800" spc="45" dirty="0"/>
              <a:t>quanto </a:t>
            </a:r>
            <a:r>
              <a:rPr sz="2800" spc="-20" dirty="0"/>
              <a:t>o  </a:t>
            </a:r>
            <a:r>
              <a:rPr sz="2800" spc="35" dirty="0"/>
              <a:t>mínimo </a:t>
            </a:r>
            <a:r>
              <a:rPr sz="2800" spc="45" dirty="0"/>
              <a:t>1 </a:t>
            </a:r>
            <a:r>
              <a:rPr sz="2800" spc="475" dirty="0"/>
              <a:t>+ </a:t>
            </a:r>
            <a:r>
              <a:rPr sz="2800" spc="10" dirty="0"/>
              <a:t>lower_bound(logn) </a:t>
            </a:r>
            <a:r>
              <a:rPr sz="2800" spc="-50" dirty="0"/>
              <a:t>passos </a:t>
            </a:r>
            <a:r>
              <a:rPr sz="2800" spc="20" dirty="0"/>
              <a:t>pela  </a:t>
            </a:r>
            <a:r>
              <a:rPr sz="2800" spc="25" dirty="0"/>
              <a:t>árvore</a:t>
            </a:r>
            <a:r>
              <a:rPr sz="2800" spc="-75" dirty="0"/>
              <a:t> </a:t>
            </a:r>
            <a:r>
              <a:rPr sz="2800" spc="40" dirty="0"/>
              <a:t>completa.</a:t>
            </a:r>
            <a:endParaRPr sz="28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dirty="0"/>
              <a:t>Contudo, </a:t>
            </a:r>
            <a:r>
              <a:rPr sz="2800" spc="-15" dirty="0"/>
              <a:t>a </a:t>
            </a:r>
            <a:r>
              <a:rPr sz="2800" spc="60" dirty="0"/>
              <a:t>altura </a:t>
            </a:r>
            <a:r>
              <a:rPr sz="2800" spc="-40" dirty="0"/>
              <a:t>dessa </a:t>
            </a:r>
            <a:r>
              <a:rPr sz="2800" spc="25" dirty="0"/>
              <a:t>árvore deve </a:t>
            </a:r>
            <a:r>
              <a:rPr sz="2800" spc="-5" dirty="0"/>
              <a:t>ser </a:t>
            </a:r>
            <a:r>
              <a:rPr sz="2800" spc="5" dirty="0"/>
              <a:t>da  </a:t>
            </a:r>
            <a:r>
              <a:rPr sz="2800" spc="20" dirty="0"/>
              <a:t>mesma </a:t>
            </a:r>
            <a:r>
              <a:rPr sz="2800" spc="30" dirty="0"/>
              <a:t>ordem </a:t>
            </a:r>
            <a:r>
              <a:rPr sz="2800" spc="10" dirty="0"/>
              <a:t>de </a:t>
            </a:r>
            <a:r>
              <a:rPr sz="2800" spc="5" dirty="0"/>
              <a:t>grandeza </a:t>
            </a:r>
            <a:r>
              <a:rPr sz="2800" spc="20" dirty="0"/>
              <a:t>que </a:t>
            </a:r>
            <a:r>
              <a:rPr sz="2800" spc="-15" dirty="0"/>
              <a:t>a </a:t>
            </a:r>
            <a:r>
              <a:rPr sz="2800" spc="60" dirty="0"/>
              <a:t>altura </a:t>
            </a:r>
            <a:r>
              <a:rPr sz="2800" spc="10" dirty="0"/>
              <a:t>de </a:t>
            </a:r>
            <a:r>
              <a:rPr sz="2800" spc="40" dirty="0"/>
              <a:t>uma  </a:t>
            </a:r>
            <a:r>
              <a:rPr sz="2800" spc="25" dirty="0"/>
              <a:t>árvore </a:t>
            </a:r>
            <a:r>
              <a:rPr sz="2800" spc="40" dirty="0"/>
              <a:t>completa </a:t>
            </a:r>
            <a:r>
              <a:rPr sz="2800" spc="25" dirty="0"/>
              <a:t>com </a:t>
            </a:r>
            <a:r>
              <a:rPr sz="2800" spc="-20" dirty="0"/>
              <a:t>o </a:t>
            </a:r>
            <a:r>
              <a:rPr sz="2800" spc="15" dirty="0"/>
              <a:t>mesmo </a:t>
            </a:r>
            <a:r>
              <a:rPr sz="2800" spc="25" dirty="0"/>
              <a:t>número </a:t>
            </a:r>
            <a:r>
              <a:rPr sz="2800" spc="15" dirty="0"/>
              <a:t>de</a:t>
            </a:r>
            <a:r>
              <a:rPr sz="2800" spc="-5" dirty="0"/>
              <a:t> </a:t>
            </a:r>
            <a:r>
              <a:rPr sz="2800" spc="-20" dirty="0"/>
              <a:t>nós.</a:t>
            </a:r>
            <a:endParaRPr sz="2800"/>
          </a:p>
          <a:p>
            <a:pPr marL="12700" marR="140970">
              <a:lnSpc>
                <a:spcPct val="100000"/>
              </a:lnSpc>
              <a:spcBef>
                <a:spcPts val="1410"/>
              </a:spcBef>
            </a:pPr>
            <a:r>
              <a:rPr sz="2400" spc="-70" dirty="0"/>
              <a:t>Ou </a:t>
            </a:r>
            <a:r>
              <a:rPr sz="2400" spc="-5" dirty="0"/>
              <a:t>seja, </a:t>
            </a:r>
            <a:r>
              <a:rPr sz="2400" spc="20" dirty="0"/>
              <a:t>deve </a:t>
            </a:r>
            <a:r>
              <a:rPr sz="2400" spc="5" dirty="0"/>
              <a:t>possuir </a:t>
            </a:r>
            <a:r>
              <a:rPr sz="2400" spc="55" dirty="0"/>
              <a:t>altura </a:t>
            </a:r>
            <a:r>
              <a:rPr sz="2400" spc="5" dirty="0"/>
              <a:t>O(logn) </a:t>
            </a:r>
            <a:r>
              <a:rPr sz="2400" spc="20" dirty="0"/>
              <a:t>para todas </a:t>
            </a:r>
            <a:r>
              <a:rPr sz="2400" spc="-50" dirty="0"/>
              <a:t>as </a:t>
            </a:r>
            <a:r>
              <a:rPr sz="2400" spc="-40" dirty="0"/>
              <a:t>suas  </a:t>
            </a:r>
            <a:r>
              <a:rPr sz="2400" spc="5" dirty="0"/>
              <a:t>subárvores.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9340">
              <a:lnSpc>
                <a:spcPct val="100000"/>
              </a:lnSpc>
            </a:pPr>
            <a:r>
              <a:rPr spc="15" dirty="0"/>
              <a:t>Árvore</a:t>
            </a:r>
            <a:r>
              <a:rPr spc="-75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169" y="135000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169" y="3364229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019" y="1259840"/>
            <a:ext cx="7842884" cy="2404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125" dirty="0">
                <a:latin typeface="Arial"/>
                <a:cs typeface="Arial"/>
              </a:rPr>
              <a:t>A </a:t>
            </a:r>
            <a:r>
              <a:rPr sz="2400" spc="-185" dirty="0">
                <a:latin typeface="Arial"/>
                <a:cs typeface="Arial"/>
              </a:rPr>
              <a:t>AVL </a:t>
            </a:r>
            <a:r>
              <a:rPr sz="2400" spc="-30" dirty="0">
                <a:latin typeface="Arial"/>
                <a:cs typeface="Arial"/>
              </a:rPr>
              <a:t>(Adelson-Velskii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-20" dirty="0">
                <a:latin typeface="Arial"/>
                <a:cs typeface="Arial"/>
              </a:rPr>
              <a:t>Landis </a:t>
            </a:r>
            <a:r>
              <a:rPr sz="2400" spc="-260" dirty="0">
                <a:latin typeface="Arial"/>
                <a:cs typeface="Arial"/>
              </a:rPr>
              <a:t>– </a:t>
            </a:r>
            <a:r>
              <a:rPr sz="2400" spc="30" dirty="0">
                <a:latin typeface="Arial"/>
                <a:cs typeface="Arial"/>
              </a:rPr>
              <a:t>1962) </a:t>
            </a:r>
            <a:r>
              <a:rPr sz="2400" spc="-10" dirty="0">
                <a:latin typeface="Arial"/>
                <a:cs typeface="Arial"/>
              </a:rPr>
              <a:t>é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 </a:t>
            </a:r>
            <a:r>
              <a:rPr sz="2400" spc="55" dirty="0">
                <a:latin typeface="Arial"/>
                <a:cs typeface="Arial"/>
              </a:rPr>
              <a:t>altamente </a:t>
            </a:r>
            <a:r>
              <a:rPr sz="2400" spc="5" dirty="0">
                <a:latin typeface="Arial"/>
                <a:cs typeface="Arial"/>
              </a:rPr>
              <a:t>balanceada, </a:t>
            </a:r>
            <a:r>
              <a:rPr sz="2400" spc="35" dirty="0">
                <a:latin typeface="Arial"/>
                <a:cs typeface="Arial"/>
              </a:rPr>
              <a:t>isto </a:t>
            </a:r>
            <a:r>
              <a:rPr sz="2400" dirty="0">
                <a:latin typeface="Arial"/>
                <a:cs typeface="Arial"/>
              </a:rPr>
              <a:t>é, </a:t>
            </a:r>
            <a:r>
              <a:rPr sz="2400" spc="-25" dirty="0">
                <a:latin typeface="Arial"/>
                <a:cs typeface="Arial"/>
              </a:rPr>
              <a:t>nas </a:t>
            </a:r>
            <a:r>
              <a:rPr sz="2400" spc="-10" dirty="0">
                <a:latin typeface="Arial"/>
                <a:cs typeface="Arial"/>
              </a:rPr>
              <a:t>inserções e </a:t>
            </a:r>
            <a:r>
              <a:rPr sz="2400" spc="-15" dirty="0">
                <a:latin typeface="Arial"/>
                <a:cs typeface="Arial"/>
              </a:rPr>
              <a:t>exclusões,  </a:t>
            </a:r>
            <a:r>
              <a:rPr sz="2400" dirty="0">
                <a:latin typeface="Arial"/>
                <a:cs typeface="Arial"/>
              </a:rPr>
              <a:t>procura-se </a:t>
            </a:r>
            <a:r>
              <a:rPr sz="2400" spc="20" dirty="0">
                <a:latin typeface="Arial"/>
                <a:cs typeface="Arial"/>
              </a:rPr>
              <a:t>executar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45" dirty="0">
                <a:latin typeface="Arial"/>
                <a:cs typeface="Arial"/>
              </a:rPr>
              <a:t>rotina </a:t>
            </a:r>
            <a:r>
              <a:rPr sz="2400" spc="10" dirty="0">
                <a:latin typeface="Arial"/>
                <a:cs typeface="Arial"/>
              </a:rPr>
              <a:t>de </a:t>
            </a:r>
            <a:r>
              <a:rPr sz="2400" spc="25" dirty="0">
                <a:latin typeface="Arial"/>
                <a:cs typeface="Arial"/>
              </a:rPr>
              <a:t>balanceamento </a:t>
            </a:r>
            <a:r>
              <a:rPr sz="2400" spc="75" dirty="0">
                <a:latin typeface="Arial"/>
                <a:cs typeface="Arial"/>
              </a:rPr>
              <a:t>tal  </a:t>
            </a:r>
            <a:r>
              <a:rPr sz="2400" spc="15" dirty="0">
                <a:latin typeface="Arial"/>
                <a:cs typeface="Arial"/>
              </a:rPr>
              <a:t>que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spc="-25" dirty="0">
                <a:latin typeface="Arial"/>
                <a:cs typeface="Arial"/>
              </a:rPr>
              <a:t>das </a:t>
            </a:r>
            <a:r>
              <a:rPr sz="2400" dirty="0">
                <a:latin typeface="Arial"/>
                <a:cs typeface="Arial"/>
              </a:rPr>
              <a:t>sub-árvores esquerda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sub-árvores  </a:t>
            </a:r>
            <a:r>
              <a:rPr sz="2400" spc="50" dirty="0">
                <a:latin typeface="Arial"/>
                <a:cs typeface="Arial"/>
              </a:rPr>
              <a:t>direita tenham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b="1" spc="135" dirty="0">
                <a:latin typeface="Trebuchet MS"/>
                <a:cs typeface="Trebuchet MS"/>
              </a:rPr>
              <a:t>bem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125" dirty="0">
                <a:latin typeface="Trebuchet MS"/>
                <a:cs typeface="Trebuchet MS"/>
              </a:rPr>
              <a:t>próximas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600" spc="10" dirty="0">
                <a:latin typeface="Arial"/>
                <a:cs typeface="Arial"/>
              </a:rPr>
              <a:t>Definição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393445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517652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568579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6819" y="3844290"/>
            <a:ext cx="7301865" cy="249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spc="-20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</a:t>
            </a:r>
            <a:r>
              <a:rPr sz="2400" spc="-185" dirty="0">
                <a:latin typeface="Arial"/>
                <a:cs typeface="Arial"/>
              </a:rPr>
              <a:t>AVL </a:t>
            </a:r>
            <a:r>
              <a:rPr sz="2400" spc="-10" dirty="0">
                <a:latin typeface="Arial"/>
                <a:cs typeface="Arial"/>
              </a:rPr>
              <a:t>é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</a:t>
            </a:r>
            <a:r>
              <a:rPr sz="2400" spc="5" dirty="0">
                <a:latin typeface="Arial"/>
                <a:cs typeface="Arial"/>
              </a:rPr>
              <a:t>na </a:t>
            </a:r>
            <a:r>
              <a:rPr sz="2400" spc="25" dirty="0">
                <a:latin typeface="Arial"/>
                <a:cs typeface="Arial"/>
              </a:rPr>
              <a:t>qual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spc="-25" dirty="0">
                <a:latin typeface="Arial"/>
                <a:cs typeface="Arial"/>
              </a:rPr>
              <a:t>das  </a:t>
            </a:r>
            <a:r>
              <a:rPr sz="2400" spc="5" dirty="0">
                <a:latin typeface="Arial"/>
                <a:cs typeface="Arial"/>
              </a:rPr>
              <a:t>subárvores </a:t>
            </a:r>
            <a:r>
              <a:rPr sz="2400" dirty="0">
                <a:latin typeface="Arial"/>
                <a:cs typeface="Arial"/>
              </a:rPr>
              <a:t>esquerda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50" dirty="0">
                <a:latin typeface="Arial"/>
                <a:cs typeface="Arial"/>
              </a:rPr>
              <a:t>direita </a:t>
            </a:r>
            <a:r>
              <a:rPr sz="2400" spc="10" dirty="0">
                <a:latin typeface="Arial"/>
                <a:cs typeface="Arial"/>
              </a:rPr>
              <a:t>de </a:t>
            </a:r>
            <a:r>
              <a:rPr sz="2400" spc="-5" dirty="0">
                <a:latin typeface="Arial"/>
                <a:cs typeface="Arial"/>
              </a:rPr>
              <a:t>cada </a:t>
            </a:r>
            <a:r>
              <a:rPr sz="2400" spc="5" dirty="0">
                <a:latin typeface="Arial"/>
                <a:cs typeface="Arial"/>
              </a:rPr>
              <a:t>nó </a:t>
            </a:r>
            <a:r>
              <a:rPr sz="2400" spc="40" dirty="0">
                <a:latin typeface="Arial"/>
                <a:cs typeface="Arial"/>
              </a:rPr>
              <a:t>diferem </a:t>
            </a:r>
            <a:r>
              <a:rPr sz="2400" spc="5" dirty="0">
                <a:latin typeface="Arial"/>
                <a:cs typeface="Arial"/>
              </a:rPr>
              <a:t>no  </a:t>
            </a:r>
            <a:r>
              <a:rPr sz="2400" spc="50" dirty="0">
                <a:latin typeface="Arial"/>
                <a:cs typeface="Arial"/>
              </a:rPr>
              <a:t>máximo </a:t>
            </a:r>
            <a:r>
              <a:rPr sz="2400" spc="30" dirty="0">
                <a:latin typeface="Arial"/>
                <a:cs typeface="Arial"/>
              </a:rPr>
              <a:t>por </a:t>
            </a:r>
            <a:r>
              <a:rPr sz="2400" spc="35" dirty="0">
                <a:latin typeface="Arial"/>
                <a:cs typeface="Arial"/>
              </a:rPr>
              <a:t>uma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unidade.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30"/>
              </a:spcBef>
            </a:pPr>
            <a:r>
              <a:rPr sz="2400" spc="-45" dirty="0">
                <a:latin typeface="Arial"/>
                <a:cs typeface="Arial"/>
              </a:rPr>
              <a:t>Fator </a:t>
            </a:r>
            <a:r>
              <a:rPr sz="2400" spc="10" dirty="0">
                <a:latin typeface="Arial"/>
                <a:cs typeface="Arial"/>
              </a:rPr>
              <a:t>de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25" dirty="0">
                <a:latin typeface="Arial"/>
                <a:cs typeface="Arial"/>
              </a:rPr>
              <a:t>balanceamento</a:t>
            </a:r>
            <a:endParaRPr sz="2400">
              <a:latin typeface="Arial"/>
              <a:cs typeface="Arial"/>
            </a:endParaRPr>
          </a:p>
          <a:p>
            <a:pPr marL="12700" marR="634365">
              <a:lnSpc>
                <a:spcPct val="100000"/>
              </a:lnSpc>
              <a:spcBef>
                <a:spcPts val="1140"/>
              </a:spcBef>
            </a:pPr>
            <a:r>
              <a:rPr sz="2400" spc="35" dirty="0">
                <a:latin typeface="Arial"/>
                <a:cs typeface="Arial"/>
              </a:rPr>
              <a:t>Altura </a:t>
            </a:r>
            <a:r>
              <a:rPr sz="2400" spc="5" dirty="0">
                <a:latin typeface="Arial"/>
                <a:cs typeface="Arial"/>
              </a:rPr>
              <a:t>da </a:t>
            </a:r>
            <a:r>
              <a:rPr sz="2400" spc="10" dirty="0">
                <a:latin typeface="Arial"/>
                <a:cs typeface="Arial"/>
              </a:rPr>
              <a:t>subárvore </a:t>
            </a:r>
            <a:r>
              <a:rPr sz="2400" spc="50" dirty="0">
                <a:latin typeface="Arial"/>
                <a:cs typeface="Arial"/>
              </a:rPr>
              <a:t>direita </a:t>
            </a:r>
            <a:r>
              <a:rPr sz="2400" spc="-20" dirty="0">
                <a:latin typeface="Arial"/>
                <a:cs typeface="Arial"/>
              </a:rPr>
              <a:t>- </a:t>
            </a:r>
            <a:r>
              <a:rPr sz="2400" spc="55" dirty="0">
                <a:latin typeface="Arial"/>
                <a:cs typeface="Arial"/>
              </a:rPr>
              <a:t>altura </a:t>
            </a:r>
            <a:r>
              <a:rPr sz="2400" spc="5" dirty="0">
                <a:latin typeface="Arial"/>
                <a:cs typeface="Arial"/>
              </a:rPr>
              <a:t>da </a:t>
            </a:r>
            <a:r>
              <a:rPr sz="2400" spc="10" dirty="0">
                <a:latin typeface="Arial"/>
                <a:cs typeface="Arial"/>
              </a:rPr>
              <a:t>subárvore  </a:t>
            </a:r>
            <a:r>
              <a:rPr sz="2400" dirty="0">
                <a:latin typeface="Arial"/>
                <a:cs typeface="Arial"/>
              </a:rPr>
              <a:t>esquerda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3980">
              <a:lnSpc>
                <a:spcPct val="100000"/>
              </a:lnSpc>
            </a:pPr>
            <a:r>
              <a:rPr spc="-434" dirty="0"/>
              <a:t>E</a:t>
            </a:r>
            <a:r>
              <a:rPr spc="-5" dirty="0"/>
              <a:t>x</a:t>
            </a:r>
            <a:r>
              <a:rPr spc="-15" dirty="0"/>
              <a:t>e</a:t>
            </a:r>
            <a:r>
              <a:rPr spc="145" dirty="0"/>
              <a:t>m</a:t>
            </a:r>
            <a:r>
              <a:rPr spc="100" dirty="0"/>
              <a:t>p</a:t>
            </a:r>
            <a:r>
              <a:rPr spc="120" dirty="0"/>
              <a:t>l</a:t>
            </a:r>
            <a:r>
              <a:rPr spc="-30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2214879"/>
            <a:ext cx="8072120" cy="413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31720" y="3500120"/>
            <a:ext cx="4786630" cy="1270"/>
          </a:xfrm>
          <a:custGeom>
            <a:avLst/>
            <a:gdLst/>
            <a:ahLst/>
            <a:cxnLst/>
            <a:rect l="l" t="t" r="r" b="b"/>
            <a:pathLst>
              <a:path w="4786630" h="1270">
                <a:moveTo>
                  <a:pt x="0" y="0"/>
                </a:moveTo>
                <a:lnTo>
                  <a:pt x="4786630" y="126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5239" y="4141470"/>
            <a:ext cx="6786880" cy="1270"/>
          </a:xfrm>
          <a:custGeom>
            <a:avLst/>
            <a:gdLst/>
            <a:ahLst/>
            <a:cxnLst/>
            <a:rect l="l" t="t" r="r" b="b"/>
            <a:pathLst>
              <a:path w="6786880" h="1270">
                <a:moveTo>
                  <a:pt x="0" y="0"/>
                </a:moveTo>
                <a:lnTo>
                  <a:pt x="6786880" y="126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6130" y="4842509"/>
            <a:ext cx="7857490" cy="2540"/>
          </a:xfrm>
          <a:custGeom>
            <a:avLst/>
            <a:gdLst/>
            <a:ahLst/>
            <a:cxnLst/>
            <a:rect l="l" t="t" r="r" b="b"/>
            <a:pathLst>
              <a:path w="7857490" h="2539">
                <a:moveTo>
                  <a:pt x="0" y="0"/>
                </a:moveTo>
                <a:lnTo>
                  <a:pt x="7857490" y="253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6130" y="5539740"/>
            <a:ext cx="7928609" cy="1270"/>
          </a:xfrm>
          <a:custGeom>
            <a:avLst/>
            <a:gdLst/>
            <a:ahLst/>
            <a:cxnLst/>
            <a:rect l="l" t="t" r="r" b="b"/>
            <a:pathLst>
              <a:path w="7928609" h="1270">
                <a:moveTo>
                  <a:pt x="0" y="0"/>
                </a:moveTo>
                <a:lnTo>
                  <a:pt x="7928610" y="1270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970" y="2901950"/>
            <a:ext cx="3104515" cy="3061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1390"/>
              </a:spcBef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639" y="259079"/>
            <a:ext cx="277749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Árvore</a:t>
            </a:r>
            <a:r>
              <a:rPr spc="-45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459" y="1187450"/>
            <a:ext cx="7854950" cy="152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65" dirty="0">
                <a:latin typeface="Arial"/>
                <a:cs typeface="Arial"/>
              </a:rPr>
              <a:t>Em </a:t>
            </a:r>
            <a:r>
              <a:rPr sz="2200" spc="30" dirty="0">
                <a:latin typeface="Arial"/>
                <a:cs typeface="Arial"/>
              </a:rPr>
              <a:t>uma </a:t>
            </a:r>
            <a:r>
              <a:rPr sz="2200" spc="20" dirty="0">
                <a:latin typeface="Arial"/>
                <a:cs typeface="Arial"/>
              </a:rPr>
              <a:t>árvore </a:t>
            </a:r>
            <a:r>
              <a:rPr sz="2200" spc="-125" dirty="0">
                <a:latin typeface="Arial"/>
                <a:cs typeface="Arial"/>
              </a:rPr>
              <a:t>AVL,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40" dirty="0">
                <a:latin typeface="Arial"/>
                <a:cs typeface="Arial"/>
              </a:rPr>
              <a:t>todo </a:t>
            </a:r>
            <a:r>
              <a:rPr sz="2200" spc="5" dirty="0">
                <a:latin typeface="Arial"/>
                <a:cs typeface="Arial"/>
              </a:rPr>
              <a:t>nó, </a:t>
            </a:r>
            <a:r>
              <a:rPr sz="2200" spc="-10" dirty="0">
                <a:latin typeface="Arial"/>
                <a:cs typeface="Arial"/>
              </a:rPr>
              <a:t>seja </a:t>
            </a:r>
            <a:r>
              <a:rPr sz="2200" spc="25" dirty="0">
                <a:latin typeface="Arial"/>
                <a:cs typeface="Arial"/>
              </a:rPr>
              <a:t>hd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50" dirty="0">
                <a:latin typeface="Arial"/>
                <a:cs typeface="Arial"/>
              </a:rPr>
              <a:t>altura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30" dirty="0">
                <a:latin typeface="Arial"/>
                <a:cs typeface="Arial"/>
              </a:rPr>
              <a:t>uma  </a:t>
            </a:r>
            <a:r>
              <a:rPr sz="2200" spc="10" dirty="0">
                <a:latin typeface="Arial"/>
                <a:cs typeface="Arial"/>
              </a:rPr>
              <a:t>subárvore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-10" dirty="0">
                <a:latin typeface="Arial"/>
                <a:cs typeface="Arial"/>
              </a:rPr>
              <a:t>e </a:t>
            </a:r>
            <a:r>
              <a:rPr sz="2200" spc="10" dirty="0">
                <a:latin typeface="Arial"/>
                <a:cs typeface="Arial"/>
              </a:rPr>
              <a:t>he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50" dirty="0">
                <a:latin typeface="Arial"/>
                <a:cs typeface="Arial"/>
              </a:rPr>
              <a:t>altura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30" dirty="0">
                <a:latin typeface="Arial"/>
                <a:cs typeface="Arial"/>
              </a:rPr>
              <a:t>uma </a:t>
            </a:r>
            <a:r>
              <a:rPr sz="2200" spc="10" dirty="0">
                <a:latin typeface="Arial"/>
                <a:cs typeface="Arial"/>
              </a:rPr>
              <a:t>subárvore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10" dirty="0">
                <a:latin typeface="Arial"/>
                <a:cs typeface="Arial"/>
              </a:rPr>
              <a:t>de  </a:t>
            </a:r>
            <a:r>
              <a:rPr sz="2200" spc="60" dirty="0">
                <a:latin typeface="Arial"/>
                <a:cs typeface="Arial"/>
              </a:rPr>
              <a:t>um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nó: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Courier New"/>
                <a:cs typeface="Courier New"/>
              </a:rPr>
              <a:t>hd – </a:t>
            </a:r>
            <a:r>
              <a:rPr sz="2200" spc="-5" dirty="0">
                <a:latin typeface="Courier New"/>
                <a:cs typeface="Courier New"/>
              </a:rPr>
              <a:t>he </a:t>
            </a:r>
            <a:r>
              <a:rPr sz="2200" dirty="0">
                <a:latin typeface="Courier New"/>
                <a:cs typeface="Courier New"/>
              </a:rPr>
              <a:t>є </a:t>
            </a:r>
            <a:r>
              <a:rPr sz="2200" spc="-10" dirty="0">
                <a:latin typeface="Courier New"/>
                <a:cs typeface="Courier New"/>
              </a:rPr>
              <a:t>{0, </a:t>
            </a:r>
            <a:r>
              <a:rPr sz="2200" spc="-5" dirty="0">
                <a:latin typeface="Courier New"/>
                <a:cs typeface="Courier New"/>
              </a:rPr>
              <a:t>1,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-1}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459" y="5464809"/>
            <a:ext cx="1701164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Se o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fator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8382" y="5464809"/>
            <a:ext cx="270637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de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balanceamento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459" y="5800090"/>
            <a:ext cx="864869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5" dirty="0">
                <a:latin typeface="Courier New"/>
                <a:cs typeface="Courier New"/>
              </a:rPr>
              <a:t>m</a:t>
            </a:r>
            <a:r>
              <a:rPr sz="2200" spc="-1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741" y="5800090"/>
            <a:ext cx="304165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do </a:t>
            </a:r>
            <a:r>
              <a:rPr sz="2200" spc="-5" dirty="0">
                <a:latin typeface="Courier New"/>
                <a:cs typeface="Courier New"/>
              </a:rPr>
              <a:t>que </a:t>
            </a:r>
            <a:r>
              <a:rPr sz="2200" spc="-10" dirty="0">
                <a:latin typeface="Courier New"/>
                <a:cs typeface="Courier New"/>
              </a:rPr>
              <a:t>-1 ou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maior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5342" y="5464809"/>
            <a:ext cx="2370455" cy="701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02284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de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qualquer  do que </a:t>
            </a:r>
            <a:r>
              <a:rPr sz="2200" dirty="0">
                <a:latin typeface="Courier New"/>
                <a:cs typeface="Courier New"/>
              </a:rPr>
              <a:t>1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então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8546" y="5464809"/>
            <a:ext cx="1364615" cy="701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nó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ficar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árvore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459" y="6134100"/>
            <a:ext cx="119888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tem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5741" y="6134100"/>
            <a:ext cx="254063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ser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balanceada.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4137" y="2776627"/>
            <a:ext cx="7638234" cy="2374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3050">
              <a:lnSpc>
                <a:spcPct val="100000"/>
              </a:lnSpc>
            </a:pPr>
            <a:r>
              <a:rPr spc="-70" dirty="0"/>
              <a:t>Rotações </a:t>
            </a:r>
            <a:r>
              <a:rPr spc="90" dirty="0"/>
              <a:t>em</a:t>
            </a:r>
            <a:r>
              <a:rPr spc="30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90" dirty="0"/>
              <a:t>Na </a:t>
            </a:r>
            <a:r>
              <a:rPr dirty="0"/>
              <a:t>inserção </a:t>
            </a:r>
            <a:r>
              <a:rPr spc="25" dirty="0"/>
              <a:t>utiliza-se </a:t>
            </a:r>
            <a:r>
              <a:rPr spc="90" dirty="0"/>
              <a:t>um </a:t>
            </a:r>
            <a:r>
              <a:rPr spc="-25" dirty="0"/>
              <a:t>processo </a:t>
            </a:r>
            <a:r>
              <a:rPr spc="15" dirty="0"/>
              <a:t>de  </a:t>
            </a:r>
            <a:r>
              <a:rPr spc="35" dirty="0"/>
              <a:t>balanceamento </a:t>
            </a:r>
            <a:r>
              <a:rPr spc="25" dirty="0"/>
              <a:t>que </a:t>
            </a:r>
            <a:r>
              <a:rPr spc="15" dirty="0"/>
              <a:t>pode </a:t>
            </a:r>
            <a:r>
              <a:rPr dirty="0"/>
              <a:t>ser </a:t>
            </a:r>
            <a:r>
              <a:rPr spc="15" dirty="0"/>
              <a:t>de </a:t>
            </a:r>
            <a:r>
              <a:rPr spc="50" dirty="0"/>
              <a:t>2 </a:t>
            </a:r>
            <a:r>
              <a:rPr spc="45" dirty="0"/>
              <a:t>tipos  </a:t>
            </a:r>
            <a:r>
              <a:rPr spc="25" dirty="0"/>
              <a:t>gerais:</a:t>
            </a:r>
          </a:p>
          <a:p>
            <a:pPr marL="12700" marR="4305935">
              <a:lnSpc>
                <a:spcPct val="136700"/>
              </a:lnSpc>
              <a:spcBef>
                <a:spcPts val="10"/>
              </a:spcBef>
            </a:pPr>
            <a:r>
              <a:rPr spc="-50" dirty="0"/>
              <a:t>Rotação </a:t>
            </a:r>
            <a:r>
              <a:rPr spc="20" dirty="0"/>
              <a:t>simples  </a:t>
            </a:r>
            <a:r>
              <a:rPr spc="-50" dirty="0"/>
              <a:t>Rotação</a:t>
            </a:r>
            <a:r>
              <a:rPr spc="-30" dirty="0"/>
              <a:t> </a:t>
            </a:r>
            <a:r>
              <a:rPr spc="40" dirty="0"/>
              <a:t>dupla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7810">
              <a:lnSpc>
                <a:spcPct val="100000"/>
              </a:lnSpc>
            </a:pPr>
            <a:r>
              <a:rPr spc="-70" dirty="0"/>
              <a:t>Rotações</a:t>
            </a:r>
            <a:r>
              <a:rPr spc="-35" dirty="0"/>
              <a:t> </a:t>
            </a:r>
            <a:r>
              <a:rPr spc="25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4735829"/>
            <a:ext cx="6476365" cy="864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5" dirty="0">
                <a:latin typeface="Arial"/>
                <a:cs typeface="Arial"/>
              </a:rPr>
              <a:t>k2 </a:t>
            </a:r>
            <a:r>
              <a:rPr sz="2200" spc="-10" dirty="0">
                <a:latin typeface="Arial"/>
                <a:cs typeface="Arial"/>
              </a:rPr>
              <a:t>é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15" dirty="0">
                <a:latin typeface="Arial"/>
                <a:cs typeface="Arial"/>
              </a:rPr>
              <a:t>mais </a:t>
            </a:r>
            <a:r>
              <a:rPr sz="2200" spc="25" dirty="0">
                <a:latin typeface="Arial"/>
                <a:cs typeface="Arial"/>
              </a:rPr>
              <a:t>profundo </a:t>
            </a:r>
            <a:r>
              <a:rPr sz="2200" spc="5" dirty="0">
                <a:latin typeface="Arial"/>
                <a:cs typeface="Arial"/>
              </a:rPr>
              <a:t>onde </a:t>
            </a:r>
            <a:r>
              <a:rPr sz="2200" spc="25" dirty="0">
                <a:latin typeface="Arial"/>
                <a:cs typeface="Arial"/>
              </a:rPr>
              <a:t>falha </a:t>
            </a:r>
            <a:r>
              <a:rPr sz="2200" spc="-15" dirty="0">
                <a:latin typeface="Arial"/>
                <a:cs typeface="Arial"/>
              </a:rPr>
              <a:t>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equilíbrio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15" dirty="0">
                <a:latin typeface="Arial"/>
                <a:cs typeface="Arial"/>
              </a:rPr>
              <a:t>está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dirty="0">
                <a:latin typeface="Arial"/>
                <a:cs typeface="Arial"/>
              </a:rPr>
              <a:t>níveis </a:t>
            </a:r>
            <a:r>
              <a:rPr sz="2200" spc="5" dirty="0">
                <a:latin typeface="Arial"/>
                <a:cs typeface="Arial"/>
              </a:rPr>
              <a:t>abaixo </a:t>
            </a:r>
            <a:r>
              <a:rPr sz="2200" spc="10" dirty="0">
                <a:latin typeface="Arial"/>
                <a:cs typeface="Arial"/>
              </a:rPr>
              <a:t>da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45" dirty="0">
                <a:latin typeface="Arial"/>
                <a:cs typeface="Arial"/>
              </a:rPr>
              <a:t>direita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891029"/>
            <a:ext cx="7791450" cy="2752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86889">
              <a:lnSpc>
                <a:spcPct val="100000"/>
              </a:lnSpc>
            </a:pPr>
            <a:r>
              <a:rPr spc="-70" dirty="0"/>
              <a:t>Rotações</a:t>
            </a:r>
            <a:r>
              <a:rPr spc="-50" dirty="0"/>
              <a:t> </a:t>
            </a:r>
            <a:r>
              <a:rPr spc="55" dirty="0"/>
              <a:t>dupla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4555449"/>
            <a:ext cx="6966584" cy="156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27760">
              <a:lnSpc>
                <a:spcPct val="153800"/>
              </a:lnSpc>
            </a:pPr>
            <a:r>
              <a:rPr sz="2200" spc="-35" dirty="0">
                <a:latin typeface="Arial"/>
                <a:cs typeface="Arial"/>
              </a:rPr>
              <a:t>Rotação </a:t>
            </a:r>
            <a:r>
              <a:rPr sz="2200" spc="10" dirty="0">
                <a:latin typeface="Arial"/>
                <a:cs typeface="Arial"/>
              </a:rPr>
              <a:t>simples </a:t>
            </a:r>
            <a:r>
              <a:rPr sz="2200" spc="-5" dirty="0">
                <a:latin typeface="Arial"/>
                <a:cs typeface="Arial"/>
              </a:rPr>
              <a:t>não </a:t>
            </a:r>
            <a:r>
              <a:rPr sz="2200" spc="5" dirty="0">
                <a:latin typeface="Arial"/>
                <a:cs typeface="Arial"/>
              </a:rPr>
              <a:t>resolve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spc="25" dirty="0">
                <a:latin typeface="Arial"/>
                <a:cs typeface="Arial"/>
              </a:rPr>
              <a:t>desequilíbrio!  </a:t>
            </a: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spc="-155" dirty="0">
                <a:latin typeface="Arial"/>
                <a:cs typeface="Arial"/>
              </a:rPr>
              <a:t>Q </a:t>
            </a:r>
            <a:r>
              <a:rPr sz="2200" spc="15" dirty="0">
                <a:latin typeface="Arial"/>
                <a:cs typeface="Arial"/>
              </a:rPr>
              <a:t>está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dirty="0">
                <a:latin typeface="Arial"/>
                <a:cs typeface="Arial"/>
              </a:rPr>
              <a:t>níveis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diferença </a:t>
            </a:r>
            <a:r>
              <a:rPr sz="2200" spc="5" dirty="0">
                <a:latin typeface="Arial"/>
                <a:cs typeface="Arial"/>
              </a:rPr>
              <a:t>de</a:t>
            </a:r>
            <a:r>
              <a:rPr sz="2200" spc="75" dirty="0">
                <a:latin typeface="Arial"/>
                <a:cs typeface="Arial"/>
              </a:rPr>
              <a:t> </a:t>
            </a:r>
            <a:r>
              <a:rPr sz="2200" spc="-215" dirty="0">
                <a:latin typeface="Arial"/>
                <a:cs typeface="Arial"/>
              </a:rPr>
              <a:t>R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spc="-155" dirty="0">
                <a:latin typeface="Arial"/>
                <a:cs typeface="Arial"/>
              </a:rPr>
              <a:t>Q </a:t>
            </a:r>
            <a:r>
              <a:rPr sz="2200" spc="-30" dirty="0">
                <a:latin typeface="Arial"/>
                <a:cs typeface="Arial"/>
              </a:rPr>
              <a:t>passa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25" dirty="0">
                <a:latin typeface="Arial"/>
                <a:cs typeface="Arial"/>
              </a:rPr>
              <a:t>estar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dirty="0">
                <a:latin typeface="Arial"/>
                <a:cs typeface="Arial"/>
              </a:rPr>
              <a:t>níveis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diferença </a:t>
            </a:r>
            <a:r>
              <a:rPr sz="2200" spc="10" dirty="0">
                <a:latin typeface="Arial"/>
                <a:cs typeface="Arial"/>
              </a:rPr>
              <a:t>de</a:t>
            </a:r>
            <a:r>
              <a:rPr sz="2200" spc="170" dirty="0">
                <a:latin typeface="Arial"/>
                <a:cs typeface="Arial"/>
              </a:rPr>
              <a:t> </a:t>
            </a:r>
            <a:r>
              <a:rPr sz="2200" spc="-275" dirty="0">
                <a:latin typeface="Arial"/>
                <a:cs typeface="Arial"/>
              </a:rPr>
              <a:t>P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833879"/>
            <a:ext cx="7810500" cy="2809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86889">
              <a:lnSpc>
                <a:spcPct val="100000"/>
              </a:lnSpc>
            </a:pPr>
            <a:r>
              <a:rPr spc="-70" dirty="0"/>
              <a:t>Rotações</a:t>
            </a:r>
            <a:r>
              <a:rPr spc="-50" dirty="0"/>
              <a:t> </a:t>
            </a:r>
            <a:r>
              <a:rPr spc="55" dirty="0"/>
              <a:t>dupla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4801829"/>
            <a:ext cx="7936865" cy="1894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202690">
              <a:lnSpc>
                <a:spcPct val="153800"/>
              </a:lnSpc>
            </a:pPr>
            <a:r>
              <a:rPr sz="2200" spc="-25" dirty="0">
                <a:latin typeface="Arial"/>
                <a:cs typeface="Arial"/>
              </a:rPr>
              <a:t>Uma </a:t>
            </a:r>
            <a:r>
              <a:rPr sz="2200" spc="-20" dirty="0">
                <a:latin typeface="Arial"/>
                <a:cs typeface="Arial"/>
              </a:rPr>
              <a:t>das </a:t>
            </a:r>
            <a:r>
              <a:rPr sz="2200" dirty="0">
                <a:latin typeface="Arial"/>
                <a:cs typeface="Arial"/>
              </a:rPr>
              <a:t>subárvores </a:t>
            </a:r>
            <a:r>
              <a:rPr sz="2200" spc="-110" dirty="0">
                <a:latin typeface="Arial"/>
                <a:cs typeface="Arial"/>
              </a:rPr>
              <a:t>B </a:t>
            </a:r>
            <a:r>
              <a:rPr sz="2200" spc="10" dirty="0">
                <a:latin typeface="Arial"/>
                <a:cs typeface="Arial"/>
              </a:rPr>
              <a:t>ou </a:t>
            </a:r>
            <a:r>
              <a:rPr sz="2200" spc="-210" dirty="0">
                <a:latin typeface="Arial"/>
                <a:cs typeface="Arial"/>
              </a:rPr>
              <a:t>C </a:t>
            </a:r>
            <a:r>
              <a:rPr sz="2200" spc="15" dirty="0">
                <a:latin typeface="Arial"/>
                <a:cs typeface="Arial"/>
              </a:rPr>
              <a:t>está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spc="-5" dirty="0">
                <a:latin typeface="Arial"/>
                <a:cs typeface="Arial"/>
              </a:rPr>
              <a:t>níveis </a:t>
            </a:r>
            <a:r>
              <a:rPr sz="2200" spc="5" dirty="0">
                <a:latin typeface="Arial"/>
                <a:cs typeface="Arial"/>
              </a:rPr>
              <a:t>abaixo de </a:t>
            </a:r>
            <a:r>
              <a:rPr sz="2200" spc="-65" dirty="0">
                <a:latin typeface="Arial"/>
                <a:cs typeface="Arial"/>
              </a:rPr>
              <a:t>D  </a:t>
            </a:r>
            <a:r>
              <a:rPr sz="2200" spc="25" dirty="0">
                <a:latin typeface="Arial"/>
                <a:cs typeface="Arial"/>
              </a:rPr>
              <a:t>k2,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10" dirty="0">
                <a:latin typeface="Arial"/>
                <a:cs typeface="Arial"/>
              </a:rPr>
              <a:t>chave </a:t>
            </a:r>
            <a:r>
              <a:rPr sz="2200" spc="40" dirty="0">
                <a:latin typeface="Arial"/>
                <a:cs typeface="Arial"/>
              </a:rPr>
              <a:t>intermédia, </a:t>
            </a:r>
            <a:r>
              <a:rPr sz="2200" spc="30" dirty="0">
                <a:latin typeface="Arial"/>
                <a:cs typeface="Arial"/>
              </a:rPr>
              <a:t>fica </a:t>
            </a:r>
            <a:r>
              <a:rPr sz="2200" dirty="0">
                <a:latin typeface="Arial"/>
                <a:cs typeface="Arial"/>
              </a:rPr>
              <a:t>na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raiz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10"/>
              </a:spcBef>
            </a:pPr>
            <a:r>
              <a:rPr sz="2200" spc="-15" dirty="0">
                <a:latin typeface="Arial"/>
                <a:cs typeface="Arial"/>
              </a:rPr>
              <a:t>posições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25" dirty="0">
                <a:latin typeface="Arial"/>
                <a:cs typeface="Arial"/>
              </a:rPr>
              <a:t>k1, </a:t>
            </a:r>
            <a:r>
              <a:rPr sz="2200" spc="35" dirty="0">
                <a:latin typeface="Arial"/>
                <a:cs typeface="Arial"/>
              </a:rPr>
              <a:t>k3 </a:t>
            </a:r>
            <a:r>
              <a:rPr sz="2200" spc="-10" dirty="0">
                <a:latin typeface="Arial"/>
                <a:cs typeface="Arial"/>
              </a:rPr>
              <a:t>e </a:t>
            </a:r>
            <a:r>
              <a:rPr sz="2200" dirty="0">
                <a:latin typeface="Arial"/>
                <a:cs typeface="Arial"/>
              </a:rPr>
              <a:t>subárvores </a:t>
            </a:r>
            <a:r>
              <a:rPr sz="2200" spc="40" dirty="0">
                <a:latin typeface="Arial"/>
                <a:cs typeface="Arial"/>
              </a:rPr>
              <a:t>completamente </a:t>
            </a:r>
            <a:r>
              <a:rPr sz="2200" spc="25" dirty="0">
                <a:latin typeface="Arial"/>
                <a:cs typeface="Arial"/>
              </a:rPr>
              <a:t>determinadas  </a:t>
            </a:r>
            <a:r>
              <a:rPr sz="2200" spc="15" dirty="0">
                <a:latin typeface="Arial"/>
                <a:cs typeface="Arial"/>
              </a:rPr>
              <a:t>pela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ordenação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871979"/>
            <a:ext cx="7781290" cy="2771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3050">
              <a:lnSpc>
                <a:spcPct val="100000"/>
              </a:lnSpc>
            </a:pPr>
            <a:r>
              <a:rPr spc="-70" dirty="0"/>
              <a:t>Rotações </a:t>
            </a:r>
            <a:r>
              <a:rPr spc="90" dirty="0"/>
              <a:t>em</a:t>
            </a:r>
            <a:r>
              <a:rPr spc="30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435215" cy="3567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57605">
              <a:lnSpc>
                <a:spcPct val="100000"/>
              </a:lnSpc>
            </a:pPr>
            <a:r>
              <a:rPr sz="2750" spc="-80" dirty="0">
                <a:latin typeface="Arial"/>
                <a:cs typeface="Arial"/>
              </a:rPr>
              <a:t>Na </a:t>
            </a:r>
            <a:r>
              <a:rPr sz="2750" spc="-5" dirty="0">
                <a:latin typeface="Arial"/>
                <a:cs typeface="Arial"/>
              </a:rPr>
              <a:t>inserção </a:t>
            </a:r>
            <a:r>
              <a:rPr sz="2750" spc="20" dirty="0">
                <a:latin typeface="Arial"/>
                <a:cs typeface="Arial"/>
              </a:rPr>
              <a:t>utiliza-se </a:t>
            </a:r>
            <a:r>
              <a:rPr sz="2750" spc="80" dirty="0">
                <a:latin typeface="Arial"/>
                <a:cs typeface="Arial"/>
              </a:rPr>
              <a:t>um </a:t>
            </a:r>
            <a:r>
              <a:rPr sz="2750" spc="-25" dirty="0">
                <a:latin typeface="Arial"/>
                <a:cs typeface="Arial"/>
              </a:rPr>
              <a:t>processo </a:t>
            </a:r>
            <a:r>
              <a:rPr sz="2750" spc="10" dirty="0">
                <a:latin typeface="Arial"/>
                <a:cs typeface="Arial"/>
              </a:rPr>
              <a:t>de  </a:t>
            </a:r>
            <a:r>
              <a:rPr sz="2750" spc="25" dirty="0">
                <a:latin typeface="Arial"/>
                <a:cs typeface="Arial"/>
              </a:rPr>
              <a:t>balanceamento </a:t>
            </a:r>
            <a:r>
              <a:rPr sz="2750" spc="20" dirty="0">
                <a:latin typeface="Arial"/>
                <a:cs typeface="Arial"/>
              </a:rPr>
              <a:t>que </a:t>
            </a:r>
            <a:r>
              <a:rPr sz="2750" spc="10" dirty="0">
                <a:latin typeface="Arial"/>
                <a:cs typeface="Arial"/>
              </a:rPr>
              <a:t>pode </a:t>
            </a:r>
            <a:r>
              <a:rPr sz="2750" spc="-5" dirty="0">
                <a:latin typeface="Arial"/>
                <a:cs typeface="Arial"/>
              </a:rPr>
              <a:t>ser </a:t>
            </a:r>
            <a:r>
              <a:rPr sz="2750" spc="15" dirty="0">
                <a:latin typeface="Arial"/>
                <a:cs typeface="Arial"/>
              </a:rPr>
              <a:t>de </a:t>
            </a:r>
            <a:r>
              <a:rPr sz="2750" spc="40" dirty="0">
                <a:latin typeface="Arial"/>
                <a:cs typeface="Arial"/>
              </a:rPr>
              <a:t>4 tipos  </a:t>
            </a:r>
            <a:r>
              <a:rPr sz="2750" spc="-10" dirty="0">
                <a:latin typeface="Arial"/>
                <a:cs typeface="Arial"/>
              </a:rPr>
              <a:t>específicos:</a:t>
            </a:r>
            <a:endParaRPr sz="2750">
              <a:latin typeface="Arial"/>
              <a:cs typeface="Arial"/>
            </a:endParaRPr>
          </a:p>
          <a:p>
            <a:pPr marL="12700" marR="550545">
              <a:lnSpc>
                <a:spcPct val="137000"/>
              </a:lnSpc>
              <a:tabLst>
                <a:tab pos="923290" algn="l"/>
              </a:tabLst>
            </a:pPr>
            <a:r>
              <a:rPr sz="2750" spc="-275" dirty="0">
                <a:latin typeface="Arial"/>
                <a:cs typeface="Arial"/>
              </a:rPr>
              <a:t>RR </a:t>
            </a:r>
            <a:r>
              <a:rPr sz="2750" spc="-680" dirty="0">
                <a:latin typeface="Arial"/>
                <a:cs typeface="Arial"/>
              </a:rPr>
              <a:t>→ </a:t>
            </a:r>
            <a:r>
              <a:rPr sz="2750" spc="-40" dirty="0">
                <a:latin typeface="Arial"/>
                <a:cs typeface="Arial"/>
              </a:rPr>
              <a:t>caso </a:t>
            </a:r>
            <a:r>
              <a:rPr sz="2750" spc="10" dirty="0">
                <a:latin typeface="Arial"/>
                <a:cs typeface="Arial"/>
              </a:rPr>
              <a:t>Right-Right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-15" dirty="0">
                <a:latin typeface="Arial"/>
                <a:cs typeface="Arial"/>
              </a:rPr>
              <a:t>a </a:t>
            </a:r>
            <a:r>
              <a:rPr sz="2750" spc="5" dirty="0">
                <a:latin typeface="Arial"/>
                <a:cs typeface="Arial"/>
              </a:rPr>
              <a:t>esquerda)  </a:t>
            </a:r>
            <a:r>
              <a:rPr sz="2750" spc="-155" dirty="0">
                <a:latin typeface="Arial"/>
                <a:cs typeface="Arial"/>
              </a:rPr>
              <a:t>LL  </a:t>
            </a:r>
            <a:r>
              <a:rPr sz="2750" spc="355" dirty="0">
                <a:latin typeface="Arial"/>
                <a:cs typeface="Arial"/>
              </a:rPr>
              <a:t> </a:t>
            </a:r>
            <a:r>
              <a:rPr sz="2750" spc="-680" dirty="0">
                <a:latin typeface="Arial"/>
                <a:cs typeface="Arial"/>
              </a:rPr>
              <a:t>→	</a:t>
            </a:r>
            <a:r>
              <a:rPr sz="2750" spc="-40" dirty="0">
                <a:latin typeface="Arial"/>
                <a:cs typeface="Arial"/>
              </a:rPr>
              <a:t>caso </a:t>
            </a:r>
            <a:r>
              <a:rPr sz="2750" spc="5" dirty="0">
                <a:latin typeface="Arial"/>
                <a:cs typeface="Arial"/>
              </a:rPr>
              <a:t>Left-Left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-15" dirty="0">
                <a:latin typeface="Arial"/>
                <a:cs typeface="Arial"/>
              </a:rPr>
              <a:t>a</a:t>
            </a:r>
            <a:r>
              <a:rPr sz="2750" spc="-10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direita)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7000"/>
              </a:lnSpc>
            </a:pPr>
            <a:r>
              <a:rPr sz="2750" spc="-210" dirty="0">
                <a:latin typeface="Arial"/>
                <a:cs typeface="Arial"/>
              </a:rPr>
              <a:t>LR </a:t>
            </a:r>
            <a:r>
              <a:rPr sz="2750" spc="-680" dirty="0">
                <a:latin typeface="Arial"/>
                <a:cs typeface="Arial"/>
              </a:rPr>
              <a:t>→ </a:t>
            </a:r>
            <a:r>
              <a:rPr sz="2750" spc="-40" dirty="0">
                <a:latin typeface="Arial"/>
                <a:cs typeface="Arial"/>
              </a:rPr>
              <a:t>caso </a:t>
            </a:r>
            <a:r>
              <a:rPr sz="2750" spc="10" dirty="0">
                <a:latin typeface="Arial"/>
                <a:cs typeface="Arial"/>
              </a:rPr>
              <a:t>Left-Right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25" dirty="0">
                <a:latin typeface="Arial"/>
                <a:cs typeface="Arial"/>
              </a:rPr>
              <a:t>esquerda-direita)  </a:t>
            </a:r>
            <a:r>
              <a:rPr sz="2750" spc="-215" dirty="0">
                <a:latin typeface="Arial"/>
                <a:cs typeface="Arial"/>
              </a:rPr>
              <a:t>RL </a:t>
            </a:r>
            <a:r>
              <a:rPr sz="2750" spc="-680" dirty="0">
                <a:latin typeface="Arial"/>
                <a:cs typeface="Arial"/>
              </a:rPr>
              <a:t>→         </a:t>
            </a:r>
            <a:r>
              <a:rPr sz="2750" spc="-40" dirty="0">
                <a:latin typeface="Arial"/>
                <a:cs typeface="Arial"/>
              </a:rPr>
              <a:t>caso </a:t>
            </a:r>
            <a:r>
              <a:rPr sz="2750" spc="10" dirty="0">
                <a:latin typeface="Arial"/>
                <a:cs typeface="Arial"/>
              </a:rPr>
              <a:t>Right-Left </a:t>
            </a:r>
            <a:r>
              <a:rPr sz="2750" spc="20" dirty="0">
                <a:latin typeface="Arial"/>
                <a:cs typeface="Arial"/>
              </a:rPr>
              <a:t>(rotação</a:t>
            </a:r>
            <a:r>
              <a:rPr sz="2750" spc="285" dirty="0">
                <a:latin typeface="Arial"/>
                <a:cs typeface="Arial"/>
              </a:rPr>
              <a:t> </a:t>
            </a:r>
            <a:r>
              <a:rPr sz="2750" spc="25" dirty="0">
                <a:latin typeface="Arial"/>
                <a:cs typeface="Arial"/>
              </a:rPr>
              <a:t>direita-esquerda)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5320" y="343408"/>
            <a:ext cx="5287010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24510">
              <a:lnSpc>
                <a:spcPts val="5270"/>
              </a:lnSpc>
            </a:pPr>
            <a:r>
              <a:rPr spc="-155" dirty="0"/>
              <a:t>Caso </a:t>
            </a:r>
            <a:r>
              <a:rPr spc="20" dirty="0"/>
              <a:t>Right-Right  </a:t>
            </a:r>
            <a:r>
              <a:rPr spc="40" dirty="0"/>
              <a:t>(rotação </a:t>
            </a:r>
            <a:r>
              <a:rPr spc="-25" dirty="0"/>
              <a:t>a</a:t>
            </a:r>
            <a:r>
              <a:rPr spc="-45" dirty="0"/>
              <a:t> </a:t>
            </a:r>
            <a:r>
              <a:rPr spc="15" dirty="0"/>
              <a:t>esquerda)</a:t>
            </a:r>
          </a:p>
        </p:txBody>
      </p:sp>
      <p:sp>
        <p:nvSpPr>
          <p:cNvPr id="3" name="object 3"/>
          <p:cNvSpPr/>
          <p:nvPr/>
        </p:nvSpPr>
        <p:spPr>
          <a:xfrm>
            <a:off x="713740" y="2387600"/>
            <a:ext cx="8001000" cy="3755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620" y="343408"/>
            <a:ext cx="4551045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34670">
              <a:lnSpc>
                <a:spcPts val="5270"/>
              </a:lnSpc>
            </a:pPr>
            <a:r>
              <a:rPr spc="-155" dirty="0"/>
              <a:t>Caso </a:t>
            </a:r>
            <a:r>
              <a:rPr spc="15" dirty="0"/>
              <a:t>Left-Left  </a:t>
            </a:r>
            <a:r>
              <a:rPr spc="40" dirty="0"/>
              <a:t>(rotação </a:t>
            </a:r>
            <a:r>
              <a:rPr spc="-25" dirty="0"/>
              <a:t>a</a:t>
            </a:r>
            <a:r>
              <a:rPr spc="-60" dirty="0"/>
              <a:t> </a:t>
            </a:r>
            <a:r>
              <a:rPr spc="90" dirty="0"/>
              <a:t>direita)</a:t>
            </a:r>
          </a:p>
        </p:txBody>
      </p:sp>
      <p:sp>
        <p:nvSpPr>
          <p:cNvPr id="3" name="object 3"/>
          <p:cNvSpPr/>
          <p:nvPr/>
        </p:nvSpPr>
        <p:spPr>
          <a:xfrm>
            <a:off x="285750" y="2214879"/>
            <a:ext cx="8224520" cy="3214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650" y="343408"/>
            <a:ext cx="6608445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70100">
              <a:lnSpc>
                <a:spcPts val="5270"/>
              </a:lnSpc>
            </a:pPr>
            <a:r>
              <a:rPr spc="15" dirty="0"/>
              <a:t>Left-Right  </a:t>
            </a:r>
            <a:r>
              <a:rPr spc="40" dirty="0"/>
              <a:t>(rotação</a:t>
            </a:r>
            <a:r>
              <a:rPr spc="-50" dirty="0"/>
              <a:t> </a:t>
            </a:r>
            <a:r>
              <a:rPr spc="45" dirty="0"/>
              <a:t>esquerda-direita)</a:t>
            </a:r>
          </a:p>
        </p:txBody>
      </p:sp>
      <p:sp>
        <p:nvSpPr>
          <p:cNvPr id="3" name="object 3"/>
          <p:cNvSpPr/>
          <p:nvPr/>
        </p:nvSpPr>
        <p:spPr>
          <a:xfrm>
            <a:off x="674369" y="2284729"/>
            <a:ext cx="7827009" cy="3643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650" y="343408"/>
            <a:ext cx="6607809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375410">
              <a:lnSpc>
                <a:spcPts val="5270"/>
              </a:lnSpc>
            </a:pPr>
            <a:r>
              <a:rPr spc="-155" dirty="0"/>
              <a:t>Caso </a:t>
            </a:r>
            <a:r>
              <a:rPr spc="15" dirty="0"/>
              <a:t>Right-Left  </a:t>
            </a:r>
            <a:r>
              <a:rPr spc="40" dirty="0"/>
              <a:t>(rotação</a:t>
            </a:r>
            <a:r>
              <a:rPr spc="25" dirty="0"/>
              <a:t> </a:t>
            </a:r>
            <a:r>
              <a:rPr spc="40" dirty="0"/>
              <a:t>direita-esquerda)</a:t>
            </a:r>
          </a:p>
        </p:txBody>
      </p:sp>
      <p:sp>
        <p:nvSpPr>
          <p:cNvPr id="3" name="object 3"/>
          <p:cNvSpPr/>
          <p:nvPr/>
        </p:nvSpPr>
        <p:spPr>
          <a:xfrm>
            <a:off x="500380" y="1998979"/>
            <a:ext cx="7644130" cy="3658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5160">
              <a:lnSpc>
                <a:spcPct val="100000"/>
              </a:lnSpc>
            </a:pPr>
            <a:r>
              <a:rPr spc="-80" dirty="0"/>
              <a:t>Fator </a:t>
            </a:r>
            <a:r>
              <a:rPr spc="25" dirty="0"/>
              <a:t>de</a:t>
            </a:r>
            <a:r>
              <a:rPr spc="95" dirty="0"/>
              <a:t> </a:t>
            </a:r>
            <a:r>
              <a:rPr spc="25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789"/>
            <a:ext cx="7958455" cy="4408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499"/>
              </a:lnSpc>
            </a:pPr>
            <a:r>
              <a:rPr sz="3150" spc="25" dirty="0">
                <a:latin typeface="Arial"/>
                <a:cs typeface="Arial"/>
              </a:rPr>
              <a:t>Coeficiente </a:t>
            </a:r>
            <a:r>
              <a:rPr sz="3150" spc="35" dirty="0">
                <a:latin typeface="Arial"/>
                <a:cs typeface="Arial"/>
              </a:rPr>
              <a:t>que </a:t>
            </a:r>
            <a:r>
              <a:rPr sz="3150" spc="25" dirty="0">
                <a:latin typeface="Arial"/>
                <a:cs typeface="Arial"/>
              </a:rPr>
              <a:t>serve como </a:t>
            </a:r>
            <a:r>
              <a:rPr sz="3150" spc="35" dirty="0">
                <a:latin typeface="Arial"/>
                <a:cs typeface="Arial"/>
              </a:rPr>
              <a:t>referência</a:t>
            </a:r>
            <a:r>
              <a:rPr sz="3150" spc="-80" dirty="0">
                <a:latin typeface="Arial"/>
                <a:cs typeface="Arial"/>
              </a:rPr>
              <a:t> </a:t>
            </a:r>
            <a:r>
              <a:rPr sz="3150" spc="40" dirty="0">
                <a:latin typeface="Arial"/>
                <a:cs typeface="Arial"/>
              </a:rPr>
              <a:t>para  </a:t>
            </a:r>
            <a:r>
              <a:rPr sz="3150" spc="70" dirty="0">
                <a:latin typeface="Arial"/>
                <a:cs typeface="Arial"/>
              </a:rPr>
              <a:t>verificar </a:t>
            </a:r>
            <a:r>
              <a:rPr sz="3150" spc="-45" dirty="0">
                <a:latin typeface="Arial"/>
                <a:cs typeface="Arial"/>
              </a:rPr>
              <a:t>se </a:t>
            </a:r>
            <a:r>
              <a:rPr sz="3150" spc="65" dirty="0">
                <a:latin typeface="Arial"/>
                <a:cs typeface="Arial"/>
              </a:rPr>
              <a:t>uma </a:t>
            </a:r>
            <a:r>
              <a:rPr sz="3150" spc="40" dirty="0">
                <a:latin typeface="Arial"/>
                <a:cs typeface="Arial"/>
              </a:rPr>
              <a:t>árvore </a:t>
            </a:r>
            <a:r>
              <a:rPr sz="3150" spc="-229" dirty="0">
                <a:latin typeface="Arial"/>
                <a:cs typeface="Arial"/>
              </a:rPr>
              <a:t>AVL </a:t>
            </a:r>
            <a:r>
              <a:rPr sz="3150" spc="30" dirty="0">
                <a:latin typeface="Arial"/>
                <a:cs typeface="Arial"/>
              </a:rPr>
              <a:t>está </a:t>
            </a:r>
            <a:r>
              <a:rPr sz="3150" spc="20" dirty="0">
                <a:latin typeface="Arial"/>
                <a:cs typeface="Arial"/>
              </a:rPr>
              <a:t>ou </a:t>
            </a:r>
            <a:r>
              <a:rPr sz="3150" spc="5" dirty="0">
                <a:latin typeface="Arial"/>
                <a:cs typeface="Arial"/>
              </a:rPr>
              <a:t>não  </a:t>
            </a:r>
            <a:r>
              <a:rPr sz="3150" spc="20" dirty="0">
                <a:latin typeface="Arial"/>
                <a:cs typeface="Arial"/>
              </a:rPr>
              <a:t>balanceada</a:t>
            </a:r>
            <a:endParaRPr sz="3150">
              <a:latin typeface="Arial"/>
              <a:cs typeface="Arial"/>
            </a:endParaRPr>
          </a:p>
          <a:p>
            <a:pPr marL="12700" marR="510540">
              <a:lnSpc>
                <a:spcPct val="100499"/>
              </a:lnSpc>
              <a:spcBef>
                <a:spcPts val="1400"/>
              </a:spcBef>
            </a:pPr>
            <a:r>
              <a:rPr sz="3150" spc="-210" dirty="0">
                <a:latin typeface="Arial"/>
                <a:cs typeface="Arial"/>
              </a:rPr>
              <a:t>O </a:t>
            </a:r>
            <a:r>
              <a:rPr sz="3150" spc="90" dirty="0">
                <a:latin typeface="Arial"/>
                <a:cs typeface="Arial"/>
              </a:rPr>
              <a:t>fator </a:t>
            </a:r>
            <a:r>
              <a:rPr sz="3150" dirty="0">
                <a:latin typeface="Arial"/>
                <a:cs typeface="Arial"/>
              </a:rPr>
              <a:t>é </a:t>
            </a:r>
            <a:r>
              <a:rPr sz="3150" spc="25" dirty="0">
                <a:latin typeface="Arial"/>
                <a:cs typeface="Arial"/>
              </a:rPr>
              <a:t>calculado </a:t>
            </a:r>
            <a:r>
              <a:rPr sz="3150" spc="20" dirty="0">
                <a:latin typeface="Arial"/>
                <a:cs typeface="Arial"/>
              </a:rPr>
              <a:t>nó </a:t>
            </a:r>
            <a:r>
              <a:rPr sz="3150" spc="-5" dirty="0">
                <a:latin typeface="Arial"/>
                <a:cs typeface="Arial"/>
              </a:rPr>
              <a:t>a </a:t>
            </a:r>
            <a:r>
              <a:rPr sz="3150" spc="20" dirty="0">
                <a:latin typeface="Arial"/>
                <a:cs typeface="Arial"/>
              </a:rPr>
              <a:t>nó </a:t>
            </a:r>
            <a:r>
              <a:rPr sz="3150" dirty="0">
                <a:latin typeface="Arial"/>
                <a:cs typeface="Arial"/>
              </a:rPr>
              <a:t>e </a:t>
            </a:r>
            <a:r>
              <a:rPr sz="3150" spc="45" dirty="0">
                <a:latin typeface="Arial"/>
                <a:cs typeface="Arial"/>
              </a:rPr>
              <a:t>leva </a:t>
            </a:r>
            <a:r>
              <a:rPr sz="3150" spc="70" dirty="0">
                <a:latin typeface="Arial"/>
                <a:cs typeface="Arial"/>
              </a:rPr>
              <a:t>em  </a:t>
            </a:r>
            <a:r>
              <a:rPr sz="3150" spc="10" dirty="0">
                <a:latin typeface="Arial"/>
                <a:cs typeface="Arial"/>
              </a:rPr>
              <a:t>consideração </a:t>
            </a:r>
            <a:r>
              <a:rPr sz="3150" spc="-5" dirty="0">
                <a:latin typeface="Arial"/>
                <a:cs typeface="Arial"/>
              </a:rPr>
              <a:t>a </a:t>
            </a:r>
            <a:r>
              <a:rPr sz="3150" spc="35" dirty="0">
                <a:latin typeface="Arial"/>
                <a:cs typeface="Arial"/>
              </a:rPr>
              <a:t>diferença </a:t>
            </a:r>
            <a:r>
              <a:rPr sz="3150" spc="-15" dirty="0">
                <a:latin typeface="Arial"/>
                <a:cs typeface="Arial"/>
              </a:rPr>
              <a:t>das </a:t>
            </a:r>
            <a:r>
              <a:rPr sz="3150" spc="55" dirty="0">
                <a:latin typeface="Arial"/>
                <a:cs typeface="Arial"/>
              </a:rPr>
              <a:t>alturas </a:t>
            </a:r>
            <a:r>
              <a:rPr sz="3150" spc="-20" dirty="0">
                <a:latin typeface="Arial"/>
                <a:cs typeface="Arial"/>
              </a:rPr>
              <a:t>das  </a:t>
            </a:r>
            <a:r>
              <a:rPr sz="3150" spc="15" dirty="0">
                <a:latin typeface="Arial"/>
                <a:cs typeface="Arial"/>
              </a:rPr>
              <a:t>sub-árvores </a:t>
            </a:r>
            <a:r>
              <a:rPr sz="3150" spc="20" dirty="0">
                <a:latin typeface="Arial"/>
                <a:cs typeface="Arial"/>
              </a:rPr>
              <a:t>da </a:t>
            </a:r>
            <a:r>
              <a:rPr sz="3150" spc="70" dirty="0">
                <a:latin typeface="Arial"/>
                <a:cs typeface="Arial"/>
              </a:rPr>
              <a:t>direita </a:t>
            </a:r>
            <a:r>
              <a:rPr sz="3150" dirty="0">
                <a:latin typeface="Arial"/>
                <a:cs typeface="Arial"/>
              </a:rPr>
              <a:t>e </a:t>
            </a:r>
            <a:r>
              <a:rPr sz="3150" spc="25" dirty="0">
                <a:latin typeface="Arial"/>
                <a:cs typeface="Arial"/>
              </a:rPr>
              <a:t>da</a:t>
            </a:r>
            <a:r>
              <a:rPr sz="3150" spc="-20" dirty="0">
                <a:latin typeface="Arial"/>
                <a:cs typeface="Arial"/>
              </a:rPr>
              <a:t> </a:t>
            </a:r>
            <a:r>
              <a:rPr sz="3150" spc="10" dirty="0">
                <a:latin typeface="Arial"/>
                <a:cs typeface="Arial"/>
              </a:rPr>
              <a:t>esquerda</a:t>
            </a:r>
            <a:endParaRPr sz="3150">
              <a:latin typeface="Arial"/>
              <a:cs typeface="Arial"/>
            </a:endParaRPr>
          </a:p>
          <a:p>
            <a:pPr marL="12700" marR="5143500">
              <a:lnSpc>
                <a:spcPts val="5200"/>
              </a:lnSpc>
              <a:spcBef>
                <a:spcPts val="409"/>
              </a:spcBef>
            </a:pPr>
            <a:r>
              <a:rPr sz="3150" spc="-145" dirty="0">
                <a:latin typeface="Arial"/>
                <a:cs typeface="Arial"/>
              </a:rPr>
              <a:t>G</a:t>
            </a:r>
            <a:r>
              <a:rPr sz="3150" spc="-110" dirty="0">
                <a:latin typeface="Arial"/>
                <a:cs typeface="Arial"/>
              </a:rPr>
              <a:t>e</a:t>
            </a:r>
            <a:r>
              <a:rPr sz="3150" spc="20" dirty="0">
                <a:latin typeface="Arial"/>
                <a:cs typeface="Arial"/>
              </a:rPr>
              <a:t>n</a:t>
            </a:r>
            <a:r>
              <a:rPr sz="3150" spc="15" dirty="0">
                <a:latin typeface="Arial"/>
                <a:cs typeface="Arial"/>
              </a:rPr>
              <a:t>e</a:t>
            </a:r>
            <a:r>
              <a:rPr sz="3150" spc="120" dirty="0">
                <a:latin typeface="Arial"/>
                <a:cs typeface="Arial"/>
              </a:rPr>
              <a:t>r</a:t>
            </a:r>
            <a:r>
              <a:rPr sz="3150" spc="85" dirty="0">
                <a:latin typeface="Arial"/>
                <a:cs typeface="Arial"/>
              </a:rPr>
              <a:t>i</a:t>
            </a:r>
            <a:r>
              <a:rPr sz="3150" spc="30" dirty="0">
                <a:latin typeface="Arial"/>
                <a:cs typeface="Arial"/>
              </a:rPr>
              <a:t>came</a:t>
            </a:r>
            <a:r>
              <a:rPr sz="3150" spc="85" dirty="0">
                <a:latin typeface="Arial"/>
                <a:cs typeface="Arial"/>
              </a:rPr>
              <a:t>nte </a:t>
            </a:r>
            <a:r>
              <a:rPr sz="3150" spc="55" dirty="0">
                <a:latin typeface="Arial"/>
                <a:cs typeface="Arial"/>
              </a:rPr>
              <a:t> </a:t>
            </a:r>
            <a:r>
              <a:rPr sz="3150" spc="-220" dirty="0">
                <a:latin typeface="Arial"/>
                <a:cs typeface="Arial"/>
              </a:rPr>
              <a:t>FB </a:t>
            </a:r>
            <a:r>
              <a:rPr sz="3150" spc="550" dirty="0">
                <a:latin typeface="Arial"/>
                <a:cs typeface="Arial"/>
              </a:rPr>
              <a:t>= </a:t>
            </a:r>
            <a:r>
              <a:rPr sz="3150" spc="25" dirty="0">
                <a:latin typeface="Arial"/>
                <a:cs typeface="Arial"/>
              </a:rPr>
              <a:t>he </a:t>
            </a:r>
            <a:r>
              <a:rPr sz="3150" spc="-20" dirty="0">
                <a:latin typeface="Arial"/>
                <a:cs typeface="Arial"/>
              </a:rPr>
              <a:t>-</a:t>
            </a:r>
            <a:r>
              <a:rPr sz="3150" spc="-360" dirty="0">
                <a:latin typeface="Arial"/>
                <a:cs typeface="Arial"/>
              </a:rPr>
              <a:t> </a:t>
            </a:r>
            <a:r>
              <a:rPr sz="3150" spc="50" dirty="0">
                <a:latin typeface="Arial"/>
                <a:cs typeface="Arial"/>
              </a:rPr>
              <a:t>hd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6260">
              <a:lnSpc>
                <a:spcPct val="100000"/>
              </a:lnSpc>
            </a:pPr>
            <a:r>
              <a:rPr spc="-15" dirty="0"/>
              <a:t>Exemplo </a:t>
            </a:r>
            <a:r>
              <a:rPr spc="-470" dirty="0"/>
              <a:t>–  </a:t>
            </a:r>
            <a:r>
              <a:rPr spc="-320" dirty="0"/>
              <a:t>FB </a:t>
            </a:r>
            <a:r>
              <a:rPr spc="25" dirty="0"/>
              <a:t>de </a:t>
            </a:r>
            <a:r>
              <a:rPr spc="-5" dirty="0"/>
              <a:t>cada</a:t>
            </a:r>
            <a:r>
              <a:rPr spc="110" dirty="0"/>
              <a:t> </a:t>
            </a:r>
            <a:r>
              <a:rPr spc="10" dirty="0"/>
              <a:t>nó</a:t>
            </a:r>
          </a:p>
        </p:txBody>
      </p:sp>
      <p:sp>
        <p:nvSpPr>
          <p:cNvPr id="3" name="object 3"/>
          <p:cNvSpPr/>
          <p:nvPr/>
        </p:nvSpPr>
        <p:spPr>
          <a:xfrm>
            <a:off x="2071370" y="2000250"/>
            <a:ext cx="4286250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99990" y="2642870"/>
            <a:ext cx="571500" cy="50038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359"/>
              </a:spcBef>
            </a:pPr>
            <a:r>
              <a:rPr sz="2400" spc="215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6220" y="3572509"/>
            <a:ext cx="57023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3879" y="450087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0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8920" y="5429250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25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9990" y="450087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250"/>
              </a:spcBef>
            </a:pPr>
            <a:r>
              <a:rPr sz="2400" spc="215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8359" y="357250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1270">
              <a:lnSpc>
                <a:spcPct val="100000"/>
              </a:lnSpc>
            </a:pPr>
            <a:r>
              <a:rPr spc="-30" dirty="0"/>
              <a:t>Quando</a:t>
            </a:r>
            <a:r>
              <a:rPr spc="-45" dirty="0"/>
              <a:t> </a:t>
            </a:r>
            <a:r>
              <a:rPr spc="-10" dirty="0"/>
              <a:t>balancear?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741170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2713990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619" y="4081779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6469" y="1644650"/>
            <a:ext cx="7384415" cy="275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09880">
              <a:lnSpc>
                <a:spcPct val="100000"/>
              </a:lnSpc>
            </a:pPr>
            <a:r>
              <a:rPr sz="2600" spc="-15" dirty="0">
                <a:latin typeface="Arial"/>
                <a:cs typeface="Arial"/>
              </a:rPr>
              <a:t>Sempre </a:t>
            </a:r>
            <a:r>
              <a:rPr sz="2600" spc="20" dirty="0">
                <a:latin typeface="Arial"/>
                <a:cs typeface="Arial"/>
              </a:rPr>
              <a:t>que </a:t>
            </a:r>
            <a:r>
              <a:rPr sz="2600" spc="50" dirty="0">
                <a:latin typeface="Arial"/>
                <a:cs typeface="Arial"/>
              </a:rPr>
              <a:t>existir </a:t>
            </a:r>
            <a:r>
              <a:rPr sz="2600" spc="75" dirty="0">
                <a:latin typeface="Arial"/>
                <a:cs typeface="Arial"/>
              </a:rPr>
              <a:t>um </a:t>
            </a:r>
            <a:r>
              <a:rPr sz="2600" spc="70" dirty="0">
                <a:latin typeface="Arial"/>
                <a:cs typeface="Arial"/>
              </a:rPr>
              <a:t>fator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30" dirty="0">
                <a:latin typeface="Arial"/>
                <a:cs typeface="Arial"/>
              </a:rPr>
              <a:t>balanceamento  </a:t>
            </a:r>
            <a:r>
              <a:rPr sz="2600" spc="25" dirty="0">
                <a:latin typeface="Arial"/>
                <a:cs typeface="Arial"/>
              </a:rPr>
              <a:t>superior </a:t>
            </a:r>
            <a:r>
              <a:rPr sz="2600" spc="-15" dirty="0">
                <a:latin typeface="Arial"/>
                <a:cs typeface="Arial"/>
              </a:rPr>
              <a:t>a </a:t>
            </a:r>
            <a:r>
              <a:rPr sz="2600" spc="240" dirty="0">
                <a:latin typeface="Arial"/>
                <a:cs typeface="Arial"/>
              </a:rPr>
              <a:t>+1 </a:t>
            </a:r>
            <a:r>
              <a:rPr sz="2600" spc="5" dirty="0">
                <a:latin typeface="Arial"/>
                <a:cs typeface="Arial"/>
              </a:rPr>
              <a:t>ou </a:t>
            </a:r>
            <a:r>
              <a:rPr sz="2600" spc="50" dirty="0">
                <a:latin typeface="Arial"/>
                <a:cs typeface="Arial"/>
              </a:rPr>
              <a:t>inferior </a:t>
            </a:r>
            <a:r>
              <a:rPr sz="2600" spc="-15" dirty="0">
                <a:latin typeface="Arial"/>
                <a:cs typeface="Arial"/>
              </a:rPr>
              <a:t>a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-1</a:t>
            </a:r>
            <a:endParaRPr sz="26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420"/>
              </a:spcBef>
            </a:pPr>
            <a:r>
              <a:rPr sz="2600" spc="-90" dirty="0">
                <a:latin typeface="Arial"/>
                <a:cs typeface="Arial"/>
              </a:rPr>
              <a:t>Caso </a:t>
            </a:r>
            <a:r>
              <a:rPr sz="2600" spc="30" dirty="0">
                <a:latin typeface="Arial"/>
                <a:cs typeface="Arial"/>
              </a:rPr>
              <a:t>exista </a:t>
            </a:r>
            <a:r>
              <a:rPr sz="2600" spc="20" dirty="0">
                <a:latin typeface="Arial"/>
                <a:cs typeface="Arial"/>
              </a:rPr>
              <a:t>mais </a:t>
            </a:r>
            <a:r>
              <a:rPr sz="2600" spc="15" dirty="0">
                <a:latin typeface="Arial"/>
                <a:cs typeface="Arial"/>
              </a:rPr>
              <a:t>de </a:t>
            </a:r>
            <a:r>
              <a:rPr sz="2600" spc="75" dirty="0">
                <a:latin typeface="Arial"/>
                <a:cs typeface="Arial"/>
              </a:rPr>
              <a:t>um </a:t>
            </a:r>
            <a:r>
              <a:rPr sz="2600" spc="10" dirty="0">
                <a:latin typeface="Arial"/>
                <a:cs typeface="Arial"/>
              </a:rPr>
              <a:t>nó </a:t>
            </a:r>
            <a:r>
              <a:rPr sz="2600" spc="20" dirty="0">
                <a:latin typeface="Arial"/>
                <a:cs typeface="Arial"/>
              </a:rPr>
              <a:t>que </a:t>
            </a:r>
            <a:r>
              <a:rPr sz="2600" spc="-45" dirty="0">
                <a:latin typeface="Arial"/>
                <a:cs typeface="Arial"/>
              </a:rPr>
              <a:t>se </a:t>
            </a:r>
            <a:r>
              <a:rPr sz="2600" spc="5" dirty="0">
                <a:latin typeface="Arial"/>
                <a:cs typeface="Arial"/>
              </a:rPr>
              <a:t>encaixe </a:t>
            </a:r>
            <a:r>
              <a:rPr sz="2600" spc="25" dirty="0">
                <a:latin typeface="Arial"/>
                <a:cs typeface="Arial"/>
              </a:rPr>
              <a:t>neste  </a:t>
            </a:r>
            <a:r>
              <a:rPr sz="2600" spc="55" dirty="0">
                <a:latin typeface="Arial"/>
                <a:cs typeface="Arial"/>
              </a:rPr>
              <a:t>perfil </a:t>
            </a:r>
            <a:r>
              <a:rPr sz="2600" spc="-5" dirty="0">
                <a:latin typeface="Arial"/>
                <a:cs typeface="Arial"/>
              </a:rPr>
              <a:t>deve-se </a:t>
            </a:r>
            <a:r>
              <a:rPr sz="2600" spc="10" dirty="0">
                <a:latin typeface="Arial"/>
                <a:cs typeface="Arial"/>
              </a:rPr>
              <a:t>sempre </a:t>
            </a:r>
            <a:r>
              <a:rPr sz="2600" spc="15" dirty="0">
                <a:latin typeface="Arial"/>
                <a:cs typeface="Arial"/>
              </a:rPr>
              <a:t>balancear </a:t>
            </a:r>
            <a:r>
              <a:rPr sz="2600" spc="-20" dirty="0">
                <a:latin typeface="Arial"/>
                <a:cs typeface="Arial"/>
              </a:rPr>
              <a:t>o </a:t>
            </a:r>
            <a:r>
              <a:rPr sz="2600" spc="10" dirty="0">
                <a:latin typeface="Arial"/>
                <a:cs typeface="Arial"/>
              </a:rPr>
              <a:t>nó </a:t>
            </a:r>
            <a:r>
              <a:rPr sz="2600" spc="25" dirty="0">
                <a:latin typeface="Arial"/>
                <a:cs typeface="Arial"/>
              </a:rPr>
              <a:t>com </a:t>
            </a:r>
            <a:r>
              <a:rPr sz="2600" spc="-20" dirty="0">
                <a:latin typeface="Arial"/>
                <a:cs typeface="Arial"/>
              </a:rPr>
              <a:t>o </a:t>
            </a:r>
            <a:r>
              <a:rPr sz="2600" spc="20" dirty="0">
                <a:latin typeface="Arial"/>
                <a:cs typeface="Arial"/>
              </a:rPr>
              <a:t>nível  mais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55" dirty="0">
                <a:latin typeface="Arial"/>
                <a:cs typeface="Arial"/>
              </a:rPr>
              <a:t>alto</a:t>
            </a:r>
            <a:endParaRPr sz="26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2600" spc="-45" dirty="0">
                <a:latin typeface="Arial"/>
                <a:cs typeface="Arial"/>
              </a:rPr>
              <a:t>Como </a:t>
            </a:r>
            <a:r>
              <a:rPr sz="2600" spc="-5" dirty="0">
                <a:latin typeface="Arial"/>
                <a:cs typeface="Arial"/>
              </a:rPr>
              <a:t>balancear? </a:t>
            </a:r>
            <a:r>
              <a:rPr sz="2600" spc="20" dirty="0">
                <a:latin typeface="Arial"/>
                <a:cs typeface="Arial"/>
              </a:rPr>
              <a:t>Utilizando </a:t>
            </a:r>
            <a:r>
              <a:rPr sz="2600" spc="-55" dirty="0">
                <a:latin typeface="Arial"/>
                <a:cs typeface="Arial"/>
              </a:rPr>
              <a:t>os</a:t>
            </a:r>
            <a:r>
              <a:rPr sz="2600" spc="4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processos: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419" y="465200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419" y="516127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419" y="567182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4419" y="618109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8269" y="4417730"/>
            <a:ext cx="1567815" cy="205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9400"/>
              </a:lnSpc>
            </a:pPr>
            <a:r>
              <a:rPr sz="2400" spc="15" dirty="0">
                <a:latin typeface="Arial"/>
                <a:cs typeface="Arial"/>
              </a:rPr>
              <a:t>Righ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-Right </a:t>
            </a:r>
            <a:r>
              <a:rPr sz="2400" dirty="0">
                <a:latin typeface="Arial"/>
                <a:cs typeface="Arial"/>
              </a:rPr>
              <a:t> Left-Left  </a:t>
            </a:r>
            <a:r>
              <a:rPr sz="2400" spc="5" dirty="0">
                <a:latin typeface="Arial"/>
                <a:cs typeface="Arial"/>
              </a:rPr>
              <a:t>Left-Right  Right-Left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90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0629" y="2786379"/>
            <a:ext cx="4857750" cy="4009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57370" y="285750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409"/>
              </a:spcBef>
            </a:pPr>
            <a:r>
              <a:rPr sz="3200" spc="15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9000" y="420115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509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4159" y="385064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9"/>
              </a:spcBef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5190" y="519557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5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4109" y="4857750"/>
            <a:ext cx="71501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9"/>
              </a:spcBef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5959" y="605155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5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798434" cy="3967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7945">
              <a:lnSpc>
                <a:spcPct val="100000"/>
              </a:lnSpc>
            </a:pPr>
            <a:r>
              <a:rPr sz="3200" spc="-225" dirty="0">
                <a:latin typeface="Arial"/>
                <a:cs typeface="Arial"/>
              </a:rPr>
              <a:t>O </a:t>
            </a:r>
            <a:r>
              <a:rPr sz="3200" spc="10" dirty="0">
                <a:latin typeface="Arial"/>
                <a:cs typeface="Arial"/>
              </a:rPr>
              <a:t>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25" dirty="0">
                <a:latin typeface="Arial"/>
                <a:cs typeface="Arial"/>
              </a:rPr>
              <a:t>que está </a:t>
            </a:r>
            <a:r>
              <a:rPr sz="3200" spc="10" dirty="0">
                <a:latin typeface="Arial"/>
                <a:cs typeface="Arial"/>
              </a:rPr>
              <a:t>no </a:t>
            </a:r>
            <a:r>
              <a:rPr sz="3200" spc="25" dirty="0">
                <a:latin typeface="Arial"/>
                <a:cs typeface="Arial"/>
              </a:rPr>
              <a:t>nível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meio </a:t>
            </a:r>
            <a:r>
              <a:rPr sz="3200" spc="-25" dirty="0">
                <a:latin typeface="Arial"/>
                <a:cs typeface="Arial"/>
              </a:rPr>
              <a:t>dos </a:t>
            </a:r>
            <a:r>
              <a:rPr sz="3200" spc="40" dirty="0">
                <a:latin typeface="Arial"/>
                <a:cs typeface="Arial"/>
              </a:rPr>
              <a:t>três  </a:t>
            </a:r>
            <a:r>
              <a:rPr sz="3200" spc="30" dirty="0">
                <a:latin typeface="Arial"/>
                <a:cs typeface="Arial"/>
              </a:rPr>
              <a:t>envolvidos </a:t>
            </a:r>
            <a:r>
              <a:rPr sz="3200" spc="80" dirty="0">
                <a:latin typeface="Arial"/>
                <a:cs typeface="Arial"/>
              </a:rPr>
              <a:t>toma </a:t>
            </a:r>
            <a:r>
              <a:rPr sz="3200" spc="-20" dirty="0">
                <a:latin typeface="Arial"/>
                <a:cs typeface="Arial"/>
              </a:rPr>
              <a:t>o </a:t>
            </a:r>
            <a:r>
              <a:rPr sz="3200" spc="55" dirty="0">
                <a:latin typeface="Arial"/>
                <a:cs typeface="Arial"/>
              </a:rPr>
              <a:t>lugar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10" dirty="0">
                <a:latin typeface="Arial"/>
                <a:cs typeface="Arial"/>
              </a:rPr>
              <a:t>nó </a:t>
            </a:r>
            <a:r>
              <a:rPr sz="3200" spc="30" dirty="0">
                <a:latin typeface="Arial"/>
                <a:cs typeface="Arial"/>
              </a:rPr>
              <a:t>com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15" dirty="0">
                <a:latin typeface="Arial"/>
                <a:cs typeface="Arial"/>
              </a:rPr>
              <a:t>FB=-2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170" dirty="0">
                <a:latin typeface="Arial"/>
                <a:cs typeface="Arial"/>
              </a:rPr>
              <a:t>A </a:t>
            </a:r>
            <a:r>
              <a:rPr sz="3200" spc="15" dirty="0">
                <a:latin typeface="Arial"/>
                <a:cs typeface="Arial"/>
              </a:rPr>
              <a:t>sub-árvore </a:t>
            </a:r>
            <a:r>
              <a:rPr sz="3200" spc="65" dirty="0">
                <a:latin typeface="Arial"/>
                <a:cs typeface="Arial"/>
              </a:rPr>
              <a:t>direita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25" dirty="0">
                <a:latin typeface="Arial"/>
                <a:cs typeface="Arial"/>
              </a:rPr>
              <a:t>permanece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10"/>
              </a:spcBef>
            </a:pPr>
            <a:r>
              <a:rPr sz="3200" spc="-170" dirty="0">
                <a:latin typeface="Arial"/>
                <a:cs typeface="Arial"/>
              </a:rPr>
              <a:t>A </a:t>
            </a:r>
            <a:r>
              <a:rPr sz="3200" spc="15" dirty="0">
                <a:latin typeface="Arial"/>
                <a:cs typeface="Arial"/>
              </a:rPr>
              <a:t>sub-árvore </a:t>
            </a:r>
            <a:r>
              <a:rPr sz="3200" spc="5" dirty="0">
                <a:latin typeface="Arial"/>
                <a:cs typeface="Arial"/>
              </a:rPr>
              <a:t>esquerda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-5" dirty="0">
                <a:latin typeface="Arial"/>
                <a:cs typeface="Arial"/>
              </a:rPr>
              <a:t>será  </a:t>
            </a:r>
            <a:r>
              <a:rPr sz="3200" dirty="0">
                <a:latin typeface="Arial"/>
                <a:cs typeface="Arial"/>
              </a:rPr>
              <a:t>colocada </a:t>
            </a:r>
            <a:r>
              <a:rPr sz="3200" spc="15" dirty="0">
                <a:latin typeface="Arial"/>
                <a:cs typeface="Arial"/>
              </a:rPr>
              <a:t>como sub-árvore </a:t>
            </a:r>
            <a:r>
              <a:rPr sz="3200" spc="70" dirty="0">
                <a:latin typeface="Arial"/>
                <a:cs typeface="Arial"/>
              </a:rPr>
              <a:t>direita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10" dirty="0">
                <a:latin typeface="Arial"/>
                <a:cs typeface="Arial"/>
              </a:rPr>
              <a:t>nó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38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225" dirty="0">
                <a:latin typeface="Arial"/>
                <a:cs typeface="Arial"/>
              </a:rPr>
              <a:t>O </a:t>
            </a:r>
            <a:r>
              <a:rPr sz="3200" spc="60" dirty="0">
                <a:latin typeface="Arial"/>
                <a:cs typeface="Arial"/>
              </a:rPr>
              <a:t>filho </a:t>
            </a:r>
            <a:r>
              <a:rPr sz="3200" spc="5" dirty="0">
                <a:latin typeface="Arial"/>
                <a:cs typeface="Arial"/>
              </a:rPr>
              <a:t>esquerdo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45" dirty="0">
                <a:latin typeface="Arial"/>
                <a:cs typeface="Arial"/>
              </a:rPr>
              <a:t>aponta </a:t>
            </a:r>
            <a:r>
              <a:rPr sz="3200" spc="30" dirty="0">
                <a:latin typeface="Arial"/>
                <a:cs typeface="Arial"/>
              </a:rPr>
              <a:t>para </a:t>
            </a:r>
            <a:r>
              <a:rPr sz="3200" spc="-20" dirty="0">
                <a:latin typeface="Arial"/>
                <a:cs typeface="Arial"/>
              </a:rPr>
              <a:t>o </a:t>
            </a:r>
            <a:r>
              <a:rPr sz="3200" spc="10" dirty="0">
                <a:latin typeface="Arial"/>
                <a:cs typeface="Arial"/>
              </a:rPr>
              <a:t>nó  </a:t>
            </a:r>
            <a:r>
              <a:rPr sz="3200" spc="-38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/>
          <p:nvPr/>
        </p:nvSpPr>
        <p:spPr>
          <a:xfrm>
            <a:off x="5072379" y="2786379"/>
            <a:ext cx="3858260" cy="285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750" y="2286000"/>
            <a:ext cx="3858260" cy="3214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1178560" y="0"/>
                </a:moveTo>
                <a:lnTo>
                  <a:pt x="117856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1178560" y="481330"/>
                </a:lnTo>
                <a:lnTo>
                  <a:pt x="1178560" y="642619"/>
                </a:lnTo>
                <a:lnTo>
                  <a:pt x="1570989" y="321310"/>
                </a:lnTo>
                <a:lnTo>
                  <a:pt x="117856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0" y="160019"/>
                </a:moveTo>
                <a:lnTo>
                  <a:pt x="1178560" y="160019"/>
                </a:lnTo>
                <a:lnTo>
                  <a:pt x="1178560" y="0"/>
                </a:lnTo>
                <a:lnTo>
                  <a:pt x="1570989" y="321310"/>
                </a:lnTo>
                <a:lnTo>
                  <a:pt x="1178560" y="642619"/>
                </a:lnTo>
                <a:lnTo>
                  <a:pt x="117856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00500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7149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339" y="2044700"/>
            <a:ext cx="5203825" cy="391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40" dirty="0">
                <a:latin typeface="Arial"/>
                <a:cs typeface="Arial"/>
              </a:rPr>
              <a:t>rotacaoRR(Node 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200150">
              <a:lnSpc>
                <a:spcPct val="100000"/>
              </a:lnSpc>
            </a:pP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100" dirty="0">
                <a:latin typeface="Arial"/>
                <a:cs typeface="Arial"/>
              </a:rPr>
              <a:t>x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30" dirty="0">
                <a:latin typeface="Arial"/>
                <a:cs typeface="Arial"/>
              </a:rPr>
              <a:t>y.right;  </a:t>
            </a:r>
            <a:r>
              <a:rPr sz="3200" spc="25" dirty="0">
                <a:latin typeface="Arial"/>
                <a:cs typeface="Arial"/>
              </a:rPr>
              <a:t>y.right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80" dirty="0">
                <a:latin typeface="Arial"/>
                <a:cs typeface="Arial"/>
              </a:rPr>
              <a:t>x.left;  x.left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y;</a:t>
            </a:r>
            <a:endParaRPr sz="3200">
              <a:latin typeface="Arial"/>
              <a:cs typeface="Arial"/>
            </a:endParaRPr>
          </a:p>
          <a:p>
            <a:pPr marL="912494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x;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6510" y="2213610"/>
            <a:ext cx="4819650" cy="435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5359" y="255777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20"/>
              </a:spcBef>
            </a:pPr>
            <a:r>
              <a:rPr sz="3200" spc="295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6120" y="378587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1684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8570" y="3858259"/>
            <a:ext cx="655320" cy="53086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48895">
              <a:lnSpc>
                <a:spcPts val="3779"/>
              </a:lnSpc>
              <a:spcBef>
                <a:spcPts val="200"/>
              </a:spcBef>
            </a:pPr>
            <a:r>
              <a:rPr sz="3200" spc="295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5359" y="478535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87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0829" y="4928870"/>
            <a:ext cx="71501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820"/>
              </a:spcBef>
            </a:pPr>
            <a:r>
              <a:rPr sz="3200" spc="290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4879" y="585724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8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225" dirty="0"/>
              <a:t>O </a:t>
            </a:r>
            <a:r>
              <a:rPr spc="10" dirty="0"/>
              <a:t>nó </a:t>
            </a:r>
            <a:r>
              <a:rPr spc="-165" dirty="0"/>
              <a:t>X </a:t>
            </a:r>
            <a:r>
              <a:rPr spc="25" dirty="0"/>
              <a:t>que está </a:t>
            </a:r>
            <a:r>
              <a:rPr spc="10" dirty="0"/>
              <a:t>no </a:t>
            </a:r>
            <a:r>
              <a:rPr spc="25" dirty="0"/>
              <a:t>nível </a:t>
            </a:r>
            <a:r>
              <a:rPr spc="15" dirty="0"/>
              <a:t>do </a:t>
            </a:r>
            <a:r>
              <a:rPr spc="50" dirty="0"/>
              <a:t>meio </a:t>
            </a:r>
            <a:r>
              <a:rPr spc="-25" dirty="0"/>
              <a:t>dos </a:t>
            </a:r>
            <a:r>
              <a:rPr spc="40" dirty="0"/>
              <a:t>três  </a:t>
            </a:r>
            <a:r>
              <a:rPr spc="30" dirty="0"/>
              <a:t>envolvidos </a:t>
            </a:r>
            <a:r>
              <a:rPr spc="80" dirty="0"/>
              <a:t>toma </a:t>
            </a:r>
            <a:r>
              <a:rPr spc="-20" dirty="0"/>
              <a:t>o </a:t>
            </a:r>
            <a:r>
              <a:rPr spc="55" dirty="0"/>
              <a:t>lugar </a:t>
            </a:r>
            <a:r>
              <a:rPr spc="15" dirty="0"/>
              <a:t>do </a:t>
            </a:r>
            <a:r>
              <a:rPr spc="10" dirty="0"/>
              <a:t>nó </a:t>
            </a:r>
            <a:r>
              <a:rPr spc="30" dirty="0"/>
              <a:t>com</a:t>
            </a:r>
            <a:r>
              <a:rPr spc="-60" dirty="0"/>
              <a:t> </a:t>
            </a:r>
            <a:r>
              <a:rPr spc="15" dirty="0"/>
              <a:t>FB=-2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pc="-170" dirty="0"/>
              <a:t>A </a:t>
            </a:r>
            <a:r>
              <a:rPr spc="15" dirty="0"/>
              <a:t>sub-árvore </a:t>
            </a:r>
            <a:r>
              <a:rPr spc="5" dirty="0"/>
              <a:t>esquerda </a:t>
            </a:r>
            <a:r>
              <a:rPr spc="10" dirty="0"/>
              <a:t>do nó </a:t>
            </a:r>
            <a:r>
              <a:rPr spc="-165" dirty="0"/>
              <a:t>X</a:t>
            </a:r>
            <a:r>
              <a:rPr spc="215" dirty="0"/>
              <a:t> </a:t>
            </a:r>
            <a:r>
              <a:rPr spc="25" dirty="0"/>
              <a:t>permanece</a:t>
            </a:r>
          </a:p>
          <a:p>
            <a:pPr marL="12700" marR="66040">
              <a:lnSpc>
                <a:spcPct val="100000"/>
              </a:lnSpc>
              <a:spcBef>
                <a:spcPts val="1410"/>
              </a:spcBef>
            </a:pPr>
            <a:r>
              <a:rPr spc="-170" dirty="0"/>
              <a:t>A </a:t>
            </a:r>
            <a:r>
              <a:rPr spc="15" dirty="0"/>
              <a:t>sub-árvore </a:t>
            </a:r>
            <a:r>
              <a:rPr spc="65" dirty="0"/>
              <a:t>direita </a:t>
            </a:r>
            <a:r>
              <a:rPr spc="10" dirty="0"/>
              <a:t>do nó </a:t>
            </a:r>
            <a:r>
              <a:rPr spc="-165" dirty="0"/>
              <a:t>X </a:t>
            </a:r>
            <a:r>
              <a:rPr spc="-5" dirty="0"/>
              <a:t>será </a:t>
            </a:r>
            <a:r>
              <a:rPr dirty="0"/>
              <a:t>colocada  </a:t>
            </a:r>
            <a:r>
              <a:rPr spc="20" dirty="0"/>
              <a:t>como </a:t>
            </a:r>
            <a:r>
              <a:rPr spc="15" dirty="0"/>
              <a:t>sub-árvore </a:t>
            </a:r>
            <a:r>
              <a:rPr spc="5" dirty="0"/>
              <a:t>esquerda </a:t>
            </a:r>
            <a:r>
              <a:rPr spc="15" dirty="0"/>
              <a:t>do </a:t>
            </a:r>
            <a:r>
              <a:rPr spc="10" dirty="0"/>
              <a:t>nó</a:t>
            </a:r>
            <a:r>
              <a:rPr spc="-15" dirty="0"/>
              <a:t> </a:t>
            </a:r>
            <a:r>
              <a:rPr spc="-380" dirty="0"/>
              <a:t>Y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pc="-225" dirty="0"/>
              <a:t>O </a:t>
            </a:r>
            <a:r>
              <a:rPr spc="60" dirty="0"/>
              <a:t>filho </a:t>
            </a:r>
            <a:r>
              <a:rPr spc="70" dirty="0"/>
              <a:t>direito </a:t>
            </a:r>
            <a:r>
              <a:rPr spc="15" dirty="0"/>
              <a:t>do </a:t>
            </a:r>
            <a:r>
              <a:rPr spc="10" dirty="0"/>
              <a:t>nó </a:t>
            </a:r>
            <a:r>
              <a:rPr spc="-165" dirty="0"/>
              <a:t>X </a:t>
            </a:r>
            <a:r>
              <a:rPr spc="45" dirty="0"/>
              <a:t>aponta </a:t>
            </a:r>
            <a:r>
              <a:rPr spc="30" dirty="0"/>
              <a:t>para </a:t>
            </a:r>
            <a:r>
              <a:rPr spc="-20" dirty="0"/>
              <a:t>o </a:t>
            </a:r>
            <a:r>
              <a:rPr spc="10" dirty="0"/>
              <a:t>nó</a:t>
            </a:r>
            <a:r>
              <a:rPr spc="330" dirty="0"/>
              <a:t> </a:t>
            </a:r>
            <a:r>
              <a:rPr spc="-380" dirty="0"/>
              <a:t>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1178560" y="0"/>
                </a:moveTo>
                <a:lnTo>
                  <a:pt x="117856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1178560" y="481330"/>
                </a:lnTo>
                <a:lnTo>
                  <a:pt x="1178560" y="642619"/>
                </a:lnTo>
                <a:lnTo>
                  <a:pt x="1570989" y="321310"/>
                </a:lnTo>
                <a:lnTo>
                  <a:pt x="117856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0" y="160019"/>
                </a:moveTo>
                <a:lnTo>
                  <a:pt x="1178560" y="160019"/>
                </a:lnTo>
                <a:lnTo>
                  <a:pt x="1178560" y="0"/>
                </a:lnTo>
                <a:lnTo>
                  <a:pt x="1570989" y="321310"/>
                </a:lnTo>
                <a:lnTo>
                  <a:pt x="1178560" y="642619"/>
                </a:lnTo>
                <a:lnTo>
                  <a:pt x="117856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0500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149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510" y="2571750"/>
            <a:ext cx="3816350" cy="2999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43879" y="2713989"/>
            <a:ext cx="3369310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339" y="2148840"/>
            <a:ext cx="5102860" cy="391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20" dirty="0">
                <a:latin typeface="Arial"/>
                <a:cs typeface="Arial"/>
              </a:rPr>
              <a:t>rotacaoLL(Node 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835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369060">
              <a:lnSpc>
                <a:spcPts val="3840"/>
              </a:lnSpc>
              <a:spcBef>
                <a:spcPts val="120"/>
              </a:spcBef>
            </a:pP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100" dirty="0">
                <a:latin typeface="Arial"/>
                <a:cs typeface="Arial"/>
              </a:rPr>
              <a:t>x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y.left;  </a:t>
            </a:r>
            <a:r>
              <a:rPr sz="3200" spc="5" dirty="0">
                <a:latin typeface="Arial"/>
                <a:cs typeface="Arial"/>
              </a:rPr>
              <a:t>y.left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90" dirty="0">
                <a:latin typeface="Arial"/>
                <a:cs typeface="Arial"/>
              </a:rPr>
              <a:t>x.right;  x.right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85" dirty="0">
                <a:latin typeface="Arial"/>
                <a:cs typeface="Arial"/>
              </a:rPr>
              <a:t>y;  </a:t>
            </a: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x;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710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739" y="2571750"/>
            <a:ext cx="3572510" cy="3868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7459" y="4545329"/>
            <a:ext cx="255270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265" dirty="0">
                <a:solidFill>
                  <a:srgbClr val="FFFFFF"/>
                </a:solidFill>
                <a:latin typeface="Arial"/>
                <a:cs typeface="Arial"/>
              </a:rPr>
              <a:t>+  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250" y="3143250"/>
            <a:ext cx="642620" cy="57150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50"/>
              </a:spcBef>
            </a:pPr>
            <a:r>
              <a:rPr sz="3200" spc="290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8400" y="4071620"/>
            <a:ext cx="680720" cy="50673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6535">
              <a:lnSpc>
                <a:spcPts val="3790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0100" y="4038600"/>
            <a:ext cx="500380" cy="45974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3420"/>
              </a:lnSpc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0" y="5715000"/>
            <a:ext cx="546100" cy="49784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5279" y="5001259"/>
            <a:ext cx="656590" cy="427990"/>
          </a:xfrm>
          <a:custGeom>
            <a:avLst/>
            <a:gdLst/>
            <a:ahLst/>
            <a:cxnLst/>
            <a:rect l="l" t="t" r="r" b="b"/>
            <a:pathLst>
              <a:path w="656589" h="427989">
                <a:moveTo>
                  <a:pt x="656590" y="0"/>
                </a:moveTo>
                <a:lnTo>
                  <a:pt x="0" y="0"/>
                </a:lnTo>
                <a:lnTo>
                  <a:pt x="0" y="427989"/>
                </a:lnTo>
                <a:lnTo>
                  <a:pt x="656590" y="427989"/>
                </a:lnTo>
                <a:lnTo>
                  <a:pt x="65659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5279" y="5001259"/>
            <a:ext cx="656590" cy="427990"/>
          </a:xfrm>
          <a:custGeom>
            <a:avLst/>
            <a:gdLst/>
            <a:ahLst/>
            <a:cxnLst/>
            <a:rect l="l" t="t" r="r" b="b"/>
            <a:pathLst>
              <a:path w="656589" h="427989">
                <a:moveTo>
                  <a:pt x="328930" y="427989"/>
                </a:moveTo>
                <a:lnTo>
                  <a:pt x="0" y="427989"/>
                </a:lnTo>
                <a:lnTo>
                  <a:pt x="0" y="0"/>
                </a:lnTo>
                <a:lnTo>
                  <a:pt x="656590" y="0"/>
                </a:lnTo>
                <a:lnTo>
                  <a:pt x="656590" y="427989"/>
                </a:lnTo>
                <a:lnTo>
                  <a:pt x="328930" y="42798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67350" y="4973320"/>
            <a:ext cx="563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290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3170" y="4916170"/>
            <a:ext cx="642620" cy="55118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375920">
              <a:lnSpc>
                <a:spcPct val="100000"/>
              </a:lnSpc>
            </a:pPr>
            <a:r>
              <a:rPr sz="2000" spc="-140" dirty="0"/>
              <a:t>O </a:t>
            </a:r>
            <a:r>
              <a:rPr sz="2000" spc="5" dirty="0"/>
              <a:t>nó </a:t>
            </a:r>
            <a:r>
              <a:rPr sz="2000" spc="10" dirty="0"/>
              <a:t>que </a:t>
            </a:r>
            <a:r>
              <a:rPr sz="2000" spc="15" dirty="0"/>
              <a:t>está </a:t>
            </a:r>
            <a:r>
              <a:rPr sz="2000" spc="5" dirty="0"/>
              <a:t>no </a:t>
            </a:r>
            <a:r>
              <a:rPr sz="2000" spc="15" dirty="0"/>
              <a:t>nível mais </a:t>
            </a:r>
            <a:r>
              <a:rPr sz="2000" spc="40" dirty="0"/>
              <a:t>alto </a:t>
            </a:r>
            <a:r>
              <a:rPr sz="2000" spc="-15" dirty="0"/>
              <a:t>das </a:t>
            </a:r>
            <a:r>
              <a:rPr sz="2000" spc="25" dirty="0"/>
              <a:t>três </a:t>
            </a:r>
            <a:r>
              <a:rPr sz="2000" spc="15" dirty="0"/>
              <a:t>envolvidas (nó </a:t>
            </a:r>
            <a:r>
              <a:rPr sz="2000" spc="-35" dirty="0"/>
              <a:t>X) </a:t>
            </a:r>
            <a:r>
              <a:rPr sz="2000" spc="50" dirty="0"/>
              <a:t>toma </a:t>
            </a:r>
            <a:r>
              <a:rPr sz="2000" spc="-15" dirty="0"/>
              <a:t>o  </a:t>
            </a:r>
            <a:r>
              <a:rPr sz="2000" spc="35" dirty="0"/>
              <a:t>lugar </a:t>
            </a:r>
            <a:r>
              <a:rPr sz="2000" spc="5" dirty="0"/>
              <a:t>da </a:t>
            </a:r>
            <a:r>
              <a:rPr sz="2000" spc="15" dirty="0"/>
              <a:t>célula cujo </a:t>
            </a:r>
            <a:r>
              <a:rPr sz="2000" spc="55" dirty="0"/>
              <a:t>fator </a:t>
            </a:r>
            <a:r>
              <a:rPr sz="2000" spc="10" dirty="0"/>
              <a:t>de </a:t>
            </a:r>
            <a:r>
              <a:rPr sz="2000" spc="20" dirty="0"/>
              <a:t>balanceamento </a:t>
            </a:r>
            <a:r>
              <a:rPr sz="2000" spc="-5" dirty="0"/>
              <a:t>é </a:t>
            </a:r>
            <a:r>
              <a:rPr sz="2000" spc="185" dirty="0"/>
              <a:t>+2 </a:t>
            </a:r>
            <a:r>
              <a:rPr sz="2000" spc="10" dirty="0"/>
              <a:t>(nó</a:t>
            </a:r>
            <a:r>
              <a:rPr sz="2000" spc="-170" dirty="0"/>
              <a:t> </a:t>
            </a:r>
            <a:r>
              <a:rPr sz="2000" spc="-105" dirty="0"/>
              <a:t>Y)</a:t>
            </a:r>
            <a:endParaRPr sz="20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000" spc="-105" dirty="0"/>
              <a:t>A </a:t>
            </a:r>
            <a:r>
              <a:rPr sz="2000" spc="10" dirty="0"/>
              <a:t>sub-árvore </a:t>
            </a:r>
            <a:r>
              <a:rPr sz="2000" spc="40" dirty="0"/>
              <a:t>direita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-5" dirty="0"/>
              <a:t>será </a:t>
            </a:r>
            <a:r>
              <a:rPr sz="2000" dirty="0"/>
              <a:t>colocada </a:t>
            </a:r>
            <a:r>
              <a:rPr sz="2000" spc="10" dirty="0"/>
              <a:t>como </a:t>
            </a:r>
            <a:r>
              <a:rPr sz="2000" spc="5" dirty="0"/>
              <a:t>sub-árvore </a:t>
            </a:r>
            <a:r>
              <a:rPr sz="2000" dirty="0"/>
              <a:t>esquerda  </a:t>
            </a:r>
            <a:r>
              <a:rPr sz="2000" spc="5" dirty="0"/>
              <a:t>do nó</a:t>
            </a:r>
            <a:r>
              <a:rPr sz="2000" spc="-60" dirty="0"/>
              <a:t> </a:t>
            </a:r>
            <a:r>
              <a:rPr sz="2000" spc="-240" dirty="0"/>
              <a:t>Y</a:t>
            </a:r>
            <a:endParaRPr sz="2000"/>
          </a:p>
          <a:p>
            <a:pPr marL="12700" marR="5080">
              <a:lnSpc>
                <a:spcPct val="100400"/>
              </a:lnSpc>
              <a:spcBef>
                <a:spcPts val="1400"/>
              </a:spcBef>
            </a:pPr>
            <a:r>
              <a:rPr sz="2000" spc="-105" dirty="0"/>
              <a:t>A </a:t>
            </a:r>
            <a:r>
              <a:rPr sz="2000" spc="10" dirty="0"/>
              <a:t>sub-árvore </a:t>
            </a:r>
            <a:r>
              <a:rPr sz="2000" dirty="0"/>
              <a:t>esquerda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-5" dirty="0"/>
              <a:t>será </a:t>
            </a:r>
            <a:r>
              <a:rPr sz="2000" dirty="0"/>
              <a:t>colocada </a:t>
            </a:r>
            <a:r>
              <a:rPr sz="2000" spc="10" dirty="0"/>
              <a:t>como </a:t>
            </a:r>
            <a:r>
              <a:rPr sz="2000" spc="5" dirty="0"/>
              <a:t>sub-árvore </a:t>
            </a:r>
            <a:r>
              <a:rPr sz="2000" spc="40" dirty="0"/>
              <a:t>direita  </a:t>
            </a:r>
            <a:r>
              <a:rPr sz="2000" spc="5" dirty="0"/>
              <a:t>do nó</a:t>
            </a:r>
            <a:r>
              <a:rPr sz="2000" spc="-60" dirty="0"/>
              <a:t> </a:t>
            </a:r>
            <a:r>
              <a:rPr sz="2000" spc="10" dirty="0"/>
              <a:t>Z</a:t>
            </a:r>
            <a:endParaRPr sz="2000"/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000" spc="-140" dirty="0"/>
              <a:t>O </a:t>
            </a:r>
            <a:r>
              <a:rPr sz="2000" spc="40" dirty="0"/>
              <a:t>filho direito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25" dirty="0"/>
              <a:t>aponta </a:t>
            </a:r>
            <a:r>
              <a:rPr sz="2000" spc="15" dirty="0"/>
              <a:t>para </a:t>
            </a:r>
            <a:r>
              <a:rPr sz="2000" spc="-15" dirty="0"/>
              <a:t>o </a:t>
            </a:r>
            <a:r>
              <a:rPr sz="2000" spc="5" dirty="0"/>
              <a:t>nó</a:t>
            </a:r>
            <a:r>
              <a:rPr sz="2000" spc="290" dirty="0"/>
              <a:t> </a:t>
            </a:r>
            <a:r>
              <a:rPr sz="2000" spc="-240" dirty="0"/>
              <a:t>Y</a:t>
            </a:r>
            <a:endParaRPr sz="2000"/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140" dirty="0"/>
              <a:t>O </a:t>
            </a:r>
            <a:r>
              <a:rPr sz="2000" spc="40" dirty="0"/>
              <a:t>filho </a:t>
            </a:r>
            <a:r>
              <a:rPr sz="2000" dirty="0"/>
              <a:t>esquerdo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25" dirty="0"/>
              <a:t>aponta </a:t>
            </a:r>
            <a:r>
              <a:rPr sz="2000" spc="15" dirty="0"/>
              <a:t>para </a:t>
            </a:r>
            <a:r>
              <a:rPr sz="2000" spc="-15" dirty="0"/>
              <a:t>o </a:t>
            </a:r>
            <a:r>
              <a:rPr sz="2000" spc="5" dirty="0"/>
              <a:t>nó</a:t>
            </a:r>
            <a:r>
              <a:rPr sz="2000" spc="320" dirty="0"/>
              <a:t> </a:t>
            </a:r>
            <a:r>
              <a:rPr sz="2000" spc="10" dirty="0"/>
              <a:t>Z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482600" y="0"/>
                </a:moveTo>
                <a:lnTo>
                  <a:pt x="48260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482600" y="481330"/>
                </a:lnTo>
                <a:lnTo>
                  <a:pt x="482600" y="642619"/>
                </a:lnTo>
                <a:lnTo>
                  <a:pt x="643889" y="321310"/>
                </a:lnTo>
                <a:lnTo>
                  <a:pt x="48260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0" y="160019"/>
                </a:moveTo>
                <a:lnTo>
                  <a:pt x="482600" y="160019"/>
                </a:lnTo>
                <a:lnTo>
                  <a:pt x="482600" y="0"/>
                </a:lnTo>
                <a:lnTo>
                  <a:pt x="643889" y="321310"/>
                </a:lnTo>
                <a:lnTo>
                  <a:pt x="482600" y="642619"/>
                </a:lnTo>
                <a:lnTo>
                  <a:pt x="48260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8109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750" y="2071370"/>
            <a:ext cx="3469640" cy="3714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36770" y="2428239"/>
            <a:ext cx="4507230" cy="3143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360" y="2024379"/>
            <a:ext cx="5627370" cy="245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30" dirty="0">
                <a:latin typeface="Arial"/>
                <a:cs typeface="Arial"/>
              </a:rPr>
              <a:t>rotacaoLR(Node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40335">
              <a:lnSpc>
                <a:spcPct val="100000"/>
              </a:lnSpc>
            </a:pPr>
            <a:r>
              <a:rPr sz="3200" spc="5" dirty="0">
                <a:latin typeface="Arial"/>
                <a:cs typeface="Arial"/>
              </a:rPr>
              <a:t>y.left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rotacaoRR(y.left);  </a:t>
            </a: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rotacaoLL(y);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829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5870" y="2494279"/>
            <a:ext cx="3643629" cy="4363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4" name="object 4"/>
          <p:cNvSpPr/>
          <p:nvPr/>
        </p:nvSpPr>
        <p:spPr>
          <a:xfrm>
            <a:off x="5643879" y="2843529"/>
            <a:ext cx="642620" cy="571500"/>
          </a:xfrm>
          <a:custGeom>
            <a:avLst/>
            <a:gdLst/>
            <a:ahLst/>
            <a:cxnLst/>
            <a:rect l="l" t="t" r="r" b="b"/>
            <a:pathLst>
              <a:path w="642620" h="571500">
                <a:moveTo>
                  <a:pt x="642620" y="0"/>
                </a:moveTo>
                <a:lnTo>
                  <a:pt x="0" y="0"/>
                </a:lnTo>
                <a:lnTo>
                  <a:pt x="0" y="571500"/>
                </a:lnTo>
                <a:lnTo>
                  <a:pt x="642620" y="571500"/>
                </a:lnTo>
                <a:lnTo>
                  <a:pt x="64262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43879" y="2843529"/>
            <a:ext cx="642620" cy="571500"/>
          </a:xfrm>
          <a:custGeom>
            <a:avLst/>
            <a:gdLst/>
            <a:ahLst/>
            <a:cxnLst/>
            <a:rect l="l" t="t" r="r" b="b"/>
            <a:pathLst>
              <a:path w="642620" h="571500">
                <a:moveTo>
                  <a:pt x="321310" y="571500"/>
                </a:moveTo>
                <a:lnTo>
                  <a:pt x="0" y="571500"/>
                </a:lnTo>
                <a:lnTo>
                  <a:pt x="0" y="0"/>
                </a:lnTo>
                <a:lnTo>
                  <a:pt x="642620" y="0"/>
                </a:lnTo>
                <a:lnTo>
                  <a:pt x="642620" y="571500"/>
                </a:lnTo>
                <a:lnTo>
                  <a:pt x="321310" y="571500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25" dirty="0"/>
              <a:t>Suponha </a:t>
            </a:r>
            <a:r>
              <a:rPr spc="10" dirty="0"/>
              <a:t>na </a:t>
            </a:r>
            <a:r>
              <a:rPr spc="65" dirty="0"/>
              <a:t>figura </a:t>
            </a:r>
            <a:r>
              <a:rPr spc="25" dirty="0"/>
              <a:t>que </a:t>
            </a:r>
            <a:r>
              <a:rPr spc="-20" dirty="0"/>
              <a:t>a </a:t>
            </a:r>
            <a:r>
              <a:rPr spc="95" dirty="0"/>
              <a:t>última </a:t>
            </a:r>
            <a:r>
              <a:rPr spc="25" dirty="0"/>
              <a:t>célula </a:t>
            </a:r>
            <a:r>
              <a:rPr spc="-20" dirty="0"/>
              <a:t>a </a:t>
            </a:r>
            <a:r>
              <a:rPr dirty="0"/>
              <a:t>ser  </a:t>
            </a:r>
            <a:r>
              <a:rPr spc="30" dirty="0"/>
              <a:t>inserida </a:t>
            </a:r>
            <a:r>
              <a:rPr spc="60" dirty="0"/>
              <a:t>foi </a:t>
            </a:r>
            <a:r>
              <a:rPr spc="-20" dirty="0"/>
              <a:t>a </a:t>
            </a:r>
            <a:r>
              <a:rPr spc="25" dirty="0"/>
              <a:t>célula </a:t>
            </a:r>
            <a:r>
              <a:rPr spc="15" dirty="0"/>
              <a:t>de chave</a:t>
            </a:r>
            <a:r>
              <a:rPr spc="-5" dirty="0"/>
              <a:t> </a:t>
            </a:r>
            <a:r>
              <a:rPr spc="45" dirty="0"/>
              <a:t>75</a:t>
            </a:r>
          </a:p>
          <a:p>
            <a:pPr marL="5264150">
              <a:lnSpc>
                <a:spcPct val="100000"/>
              </a:lnSpc>
              <a:spcBef>
                <a:spcPts val="2680"/>
              </a:spcBef>
            </a:pPr>
            <a:r>
              <a:rPr spc="5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59550" y="6201409"/>
            <a:ext cx="680720" cy="50673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0345">
              <a:lnSpc>
                <a:spcPts val="3790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0" y="4999990"/>
            <a:ext cx="499109" cy="459740"/>
          </a:xfrm>
          <a:custGeom>
            <a:avLst/>
            <a:gdLst/>
            <a:ahLst/>
            <a:cxnLst/>
            <a:rect l="l" t="t" r="r" b="b"/>
            <a:pathLst>
              <a:path w="499110" h="459739">
                <a:moveTo>
                  <a:pt x="499110" y="0"/>
                </a:moveTo>
                <a:lnTo>
                  <a:pt x="0" y="0"/>
                </a:lnTo>
                <a:lnTo>
                  <a:pt x="0" y="459740"/>
                </a:lnTo>
                <a:lnTo>
                  <a:pt x="499110" y="459740"/>
                </a:lnTo>
                <a:lnTo>
                  <a:pt x="49911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0" y="4999990"/>
            <a:ext cx="499109" cy="459740"/>
          </a:xfrm>
          <a:custGeom>
            <a:avLst/>
            <a:gdLst/>
            <a:ahLst/>
            <a:cxnLst/>
            <a:rect l="l" t="t" r="r" b="b"/>
            <a:pathLst>
              <a:path w="499110" h="459739">
                <a:moveTo>
                  <a:pt x="250189" y="459740"/>
                </a:moveTo>
                <a:lnTo>
                  <a:pt x="0" y="459740"/>
                </a:lnTo>
                <a:lnTo>
                  <a:pt x="0" y="0"/>
                </a:lnTo>
                <a:lnTo>
                  <a:pt x="499110" y="0"/>
                </a:lnTo>
                <a:lnTo>
                  <a:pt x="499110" y="459740"/>
                </a:lnTo>
                <a:lnTo>
                  <a:pt x="250189" y="459740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06440" y="4999990"/>
            <a:ext cx="39116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9500" y="4928870"/>
            <a:ext cx="54483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2250" y="3856990"/>
            <a:ext cx="642620" cy="57150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259"/>
              </a:spcBef>
            </a:pPr>
            <a:r>
              <a:rPr sz="3200" spc="54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7750" y="4071620"/>
            <a:ext cx="571500" cy="50545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934325" cy="341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10" dirty="0">
                <a:latin typeface="Arial"/>
                <a:cs typeface="Arial"/>
              </a:rPr>
              <a:t>que </a:t>
            </a:r>
            <a:r>
              <a:rPr sz="2200" spc="15" dirty="0">
                <a:latin typeface="Arial"/>
                <a:cs typeface="Arial"/>
              </a:rPr>
              <a:t>está </a:t>
            </a:r>
            <a:r>
              <a:rPr sz="2200" spc="5" dirty="0">
                <a:latin typeface="Arial"/>
                <a:cs typeface="Arial"/>
              </a:rPr>
              <a:t>no </a:t>
            </a:r>
            <a:r>
              <a:rPr sz="2200" spc="15" dirty="0">
                <a:latin typeface="Arial"/>
                <a:cs typeface="Arial"/>
              </a:rPr>
              <a:t>nível mais </a:t>
            </a:r>
            <a:r>
              <a:rPr sz="2200" spc="45" dirty="0">
                <a:latin typeface="Arial"/>
                <a:cs typeface="Arial"/>
              </a:rPr>
              <a:t>alto </a:t>
            </a:r>
            <a:r>
              <a:rPr sz="2200" spc="-20" dirty="0">
                <a:latin typeface="Arial"/>
                <a:cs typeface="Arial"/>
              </a:rPr>
              <a:t>das </a:t>
            </a:r>
            <a:r>
              <a:rPr sz="2200" spc="25" dirty="0">
                <a:latin typeface="Arial"/>
                <a:cs typeface="Arial"/>
              </a:rPr>
              <a:t>três </a:t>
            </a:r>
            <a:r>
              <a:rPr sz="2200" spc="15" dirty="0">
                <a:latin typeface="Arial"/>
                <a:cs typeface="Arial"/>
              </a:rPr>
              <a:t>envolvidas (nó </a:t>
            </a:r>
            <a:r>
              <a:rPr sz="2200" spc="-40" dirty="0">
                <a:latin typeface="Arial"/>
                <a:cs typeface="Arial"/>
              </a:rPr>
              <a:t>X)  </a:t>
            </a:r>
            <a:r>
              <a:rPr sz="2200" spc="55" dirty="0">
                <a:latin typeface="Arial"/>
                <a:cs typeface="Arial"/>
              </a:rPr>
              <a:t>toma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spc="35" dirty="0">
                <a:latin typeface="Arial"/>
                <a:cs typeface="Arial"/>
              </a:rPr>
              <a:t>lugar </a:t>
            </a:r>
            <a:r>
              <a:rPr sz="2200" spc="5" dirty="0">
                <a:latin typeface="Arial"/>
                <a:cs typeface="Arial"/>
              </a:rPr>
              <a:t>da </a:t>
            </a:r>
            <a:r>
              <a:rPr sz="2200" spc="15" dirty="0">
                <a:latin typeface="Arial"/>
                <a:cs typeface="Arial"/>
              </a:rPr>
              <a:t>célula </a:t>
            </a:r>
            <a:r>
              <a:rPr sz="2200" spc="10" dirty="0">
                <a:latin typeface="Arial"/>
                <a:cs typeface="Arial"/>
              </a:rPr>
              <a:t>cujo </a:t>
            </a:r>
            <a:r>
              <a:rPr sz="2200" spc="55" dirty="0">
                <a:latin typeface="Arial"/>
                <a:cs typeface="Arial"/>
              </a:rPr>
              <a:t>fator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balanceamento </a:t>
            </a:r>
            <a:r>
              <a:rPr sz="2200" spc="-10" dirty="0">
                <a:latin typeface="Arial"/>
                <a:cs typeface="Arial"/>
              </a:rPr>
              <a:t>é </a:t>
            </a:r>
            <a:r>
              <a:rPr sz="2200" spc="5" dirty="0">
                <a:latin typeface="Arial"/>
                <a:cs typeface="Arial"/>
              </a:rPr>
              <a:t>-2 </a:t>
            </a:r>
            <a:r>
              <a:rPr sz="2200" spc="15" dirty="0">
                <a:latin typeface="Arial"/>
                <a:cs typeface="Arial"/>
              </a:rPr>
              <a:t>(nó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Y)</a:t>
            </a:r>
            <a:endParaRPr sz="2200">
              <a:latin typeface="Arial"/>
              <a:cs typeface="Arial"/>
            </a:endParaRPr>
          </a:p>
          <a:p>
            <a:pPr marL="12700" marR="372110">
              <a:lnSpc>
                <a:spcPct val="100000"/>
              </a:lnSpc>
              <a:spcBef>
                <a:spcPts val="1420"/>
              </a:spcBef>
            </a:pPr>
            <a:r>
              <a:rPr sz="2200" spc="-114" dirty="0">
                <a:latin typeface="Arial"/>
                <a:cs typeface="Arial"/>
              </a:rPr>
              <a:t>A </a:t>
            </a: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5" dirty="0">
                <a:latin typeface="Arial"/>
                <a:cs typeface="Arial"/>
              </a:rPr>
              <a:t>do 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-5" dirty="0">
                <a:latin typeface="Arial"/>
                <a:cs typeface="Arial"/>
              </a:rPr>
              <a:t>será </a:t>
            </a:r>
            <a:r>
              <a:rPr sz="2200" dirty="0">
                <a:latin typeface="Arial"/>
                <a:cs typeface="Arial"/>
              </a:rPr>
              <a:t>colocada </a:t>
            </a:r>
            <a:r>
              <a:rPr sz="2200" spc="5" dirty="0">
                <a:latin typeface="Arial"/>
                <a:cs typeface="Arial"/>
              </a:rPr>
              <a:t>como </a:t>
            </a:r>
            <a:r>
              <a:rPr sz="2200" spc="10" dirty="0">
                <a:latin typeface="Arial"/>
                <a:cs typeface="Arial"/>
              </a:rPr>
              <a:t>sub-árvore 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Z</a:t>
            </a:r>
            <a:endParaRPr sz="2200">
              <a:latin typeface="Arial"/>
              <a:cs typeface="Arial"/>
            </a:endParaRPr>
          </a:p>
          <a:p>
            <a:pPr marL="12700" marR="6350">
              <a:lnSpc>
                <a:spcPct val="100000"/>
              </a:lnSpc>
              <a:spcBef>
                <a:spcPts val="1410"/>
              </a:spcBef>
            </a:pPr>
            <a:r>
              <a:rPr sz="2200" spc="-114" dirty="0">
                <a:latin typeface="Arial"/>
                <a:cs typeface="Arial"/>
              </a:rPr>
              <a:t>A </a:t>
            </a: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5" dirty="0">
                <a:latin typeface="Arial"/>
                <a:cs typeface="Arial"/>
              </a:rPr>
              <a:t>do 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-5" dirty="0">
                <a:latin typeface="Arial"/>
                <a:cs typeface="Arial"/>
              </a:rPr>
              <a:t>será </a:t>
            </a:r>
            <a:r>
              <a:rPr sz="2200" dirty="0">
                <a:latin typeface="Arial"/>
                <a:cs typeface="Arial"/>
              </a:rPr>
              <a:t>colocada </a:t>
            </a:r>
            <a:r>
              <a:rPr sz="2200" spc="5" dirty="0">
                <a:latin typeface="Arial"/>
                <a:cs typeface="Arial"/>
              </a:rPr>
              <a:t>como </a:t>
            </a:r>
            <a:r>
              <a:rPr sz="2200" spc="10" dirty="0">
                <a:latin typeface="Arial"/>
                <a:cs typeface="Arial"/>
              </a:rPr>
              <a:t>sub-árvore 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60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40" dirty="0">
                <a:latin typeface="Arial"/>
                <a:cs typeface="Arial"/>
              </a:rPr>
              <a:t>filho </a:t>
            </a:r>
            <a:r>
              <a:rPr sz="2200" spc="45" dirty="0">
                <a:latin typeface="Arial"/>
                <a:cs typeface="Arial"/>
              </a:rPr>
              <a:t>direito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30" dirty="0">
                <a:latin typeface="Arial"/>
                <a:cs typeface="Arial"/>
              </a:rPr>
              <a:t>aponta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204" dirty="0">
                <a:latin typeface="Arial"/>
                <a:cs typeface="Arial"/>
              </a:rPr>
              <a:t> </a:t>
            </a:r>
            <a:r>
              <a:rPr sz="2200" spc="-260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40" dirty="0">
                <a:latin typeface="Arial"/>
                <a:cs typeface="Arial"/>
              </a:rPr>
              <a:t>filho </a:t>
            </a:r>
            <a:r>
              <a:rPr sz="2200" dirty="0">
                <a:latin typeface="Arial"/>
                <a:cs typeface="Arial"/>
              </a:rPr>
              <a:t>esquerdo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30" dirty="0">
                <a:latin typeface="Arial"/>
                <a:cs typeface="Arial"/>
              </a:rPr>
              <a:t>aponta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260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Z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482600" y="0"/>
                </a:moveTo>
                <a:lnTo>
                  <a:pt x="48260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482600" y="481330"/>
                </a:lnTo>
                <a:lnTo>
                  <a:pt x="482600" y="642619"/>
                </a:lnTo>
                <a:lnTo>
                  <a:pt x="643889" y="321310"/>
                </a:lnTo>
                <a:lnTo>
                  <a:pt x="48260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0" y="160019"/>
                </a:moveTo>
                <a:lnTo>
                  <a:pt x="482600" y="160019"/>
                </a:lnTo>
                <a:lnTo>
                  <a:pt x="482600" y="0"/>
                </a:lnTo>
                <a:lnTo>
                  <a:pt x="643889" y="321310"/>
                </a:lnTo>
                <a:lnTo>
                  <a:pt x="482600" y="642619"/>
                </a:lnTo>
                <a:lnTo>
                  <a:pt x="48260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8109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4629" y="2142489"/>
            <a:ext cx="3399790" cy="407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3120" y="2499360"/>
            <a:ext cx="4224020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2530" y="2044700"/>
            <a:ext cx="5929630" cy="245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30" dirty="0">
                <a:latin typeface="Arial"/>
                <a:cs typeface="Arial"/>
              </a:rPr>
              <a:t>rotacaoRL(Node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80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3550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3130" marR="5080">
              <a:lnSpc>
                <a:spcPct val="100000"/>
              </a:lnSpc>
            </a:pPr>
            <a:r>
              <a:rPr sz="3200" spc="25" dirty="0">
                <a:latin typeface="Arial"/>
                <a:cs typeface="Arial"/>
              </a:rPr>
              <a:t>y.right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rotacaoLL(y.right);  </a:t>
            </a:r>
            <a:r>
              <a:rPr sz="3200" spc="70" dirty="0">
                <a:latin typeface="Arial"/>
                <a:cs typeface="Arial"/>
              </a:rPr>
              <a:t>return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rotacaoRR(y);</a:t>
            </a:r>
            <a:endParaRPr sz="3200">
              <a:latin typeface="Arial"/>
              <a:cs typeface="Arial"/>
            </a:endParaRPr>
          </a:p>
          <a:p>
            <a:pPr marL="463550">
              <a:lnSpc>
                <a:spcPts val="3829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159469"/>
            <a:ext cx="5850890" cy="156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266440">
              <a:lnSpc>
                <a:spcPct val="153800"/>
              </a:lnSpc>
            </a:pPr>
            <a:r>
              <a:rPr sz="2200" spc="-40" dirty="0">
                <a:latin typeface="Arial"/>
                <a:cs typeface="Arial"/>
              </a:rPr>
              <a:t>Mais </a:t>
            </a:r>
            <a:r>
              <a:rPr sz="2200" spc="5" dirty="0">
                <a:latin typeface="Arial"/>
                <a:cs typeface="Arial"/>
              </a:rPr>
              <a:t>exemplos...  </a:t>
            </a:r>
            <a:r>
              <a:rPr sz="2200" spc="-15" dirty="0">
                <a:latin typeface="Arial"/>
                <a:cs typeface="Arial"/>
              </a:rPr>
              <a:t>Inserção </a:t>
            </a:r>
            <a:r>
              <a:rPr sz="2200" spc="5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1,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spc="-10" dirty="0">
                <a:latin typeface="Arial"/>
                <a:cs typeface="Arial"/>
              </a:rPr>
              <a:t>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3.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85" dirty="0">
                <a:latin typeface="Arial"/>
                <a:cs typeface="Arial"/>
              </a:rPr>
              <a:t>Ao </a:t>
            </a:r>
            <a:r>
              <a:rPr sz="2200" spc="30" dirty="0">
                <a:latin typeface="Arial"/>
                <a:cs typeface="Arial"/>
              </a:rPr>
              <a:t>inserir </a:t>
            </a:r>
            <a:r>
              <a:rPr sz="2200" spc="20" dirty="0">
                <a:latin typeface="Arial"/>
                <a:cs typeface="Arial"/>
              </a:rPr>
              <a:t>3,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15" dirty="0">
                <a:latin typeface="Arial"/>
                <a:cs typeface="Arial"/>
              </a:rPr>
              <a:t>raiz </a:t>
            </a:r>
            <a:r>
              <a:rPr sz="2200" spc="30" dirty="0">
                <a:latin typeface="Arial"/>
                <a:cs typeface="Arial"/>
              </a:rPr>
              <a:t>fica </a:t>
            </a:r>
            <a:r>
              <a:rPr sz="2200" dirty="0">
                <a:latin typeface="Arial"/>
                <a:cs typeface="Arial"/>
              </a:rPr>
              <a:t>desbalanceado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114" dirty="0">
                <a:latin typeface="Arial"/>
                <a:cs typeface="Arial"/>
              </a:rPr>
              <a:t>(+2)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427729"/>
            <a:ext cx="8752840" cy="3096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89020" y="39306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6421755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4 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30" dirty="0">
                <a:latin typeface="Arial"/>
                <a:cs typeface="Arial"/>
              </a:rPr>
              <a:t>5.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60" dirty="0">
                <a:latin typeface="Arial"/>
                <a:cs typeface="Arial"/>
              </a:rPr>
              <a:t>4: </a:t>
            </a:r>
            <a:r>
              <a:rPr sz="3200" spc="5" dirty="0">
                <a:latin typeface="Arial"/>
                <a:cs typeface="Arial"/>
              </a:rPr>
              <a:t>sem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25" dirty="0">
                <a:latin typeface="Arial"/>
                <a:cs typeface="Arial"/>
              </a:rPr>
              <a:t>problemas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3200" spc="60" dirty="0">
                <a:latin typeface="Arial"/>
                <a:cs typeface="Arial"/>
              </a:rPr>
              <a:t>5: </a:t>
            </a:r>
            <a:r>
              <a:rPr sz="3200" spc="25" dirty="0">
                <a:latin typeface="Arial"/>
                <a:cs typeface="Arial"/>
              </a:rPr>
              <a:t>desbalanceamento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50" dirty="0">
                <a:latin typeface="Arial"/>
                <a:cs typeface="Arial"/>
              </a:rPr>
              <a:t>3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429000"/>
            <a:ext cx="8496300" cy="3219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220" y="40068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46735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Nó </a:t>
            </a:r>
            <a:r>
              <a:rPr sz="3200" spc="50" dirty="0">
                <a:latin typeface="Arial"/>
                <a:cs typeface="Arial"/>
              </a:rPr>
              <a:t>2 </a:t>
            </a:r>
            <a:r>
              <a:rPr sz="3200" spc="40" dirty="0">
                <a:latin typeface="Arial"/>
                <a:cs typeface="Arial"/>
              </a:rPr>
              <a:t>fica </a:t>
            </a:r>
            <a:r>
              <a:rPr sz="3200" dirty="0">
                <a:latin typeface="Arial"/>
                <a:cs typeface="Arial"/>
              </a:rPr>
              <a:t>desbalanceado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714750"/>
            <a:ext cx="8295640" cy="3143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220" y="40068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46735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50" dirty="0"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Nó </a:t>
            </a:r>
            <a:r>
              <a:rPr sz="3200" spc="50" dirty="0">
                <a:latin typeface="Arial"/>
                <a:cs typeface="Arial"/>
              </a:rPr>
              <a:t>5 </a:t>
            </a:r>
            <a:r>
              <a:rPr sz="3200" spc="40" dirty="0">
                <a:latin typeface="Arial"/>
                <a:cs typeface="Arial"/>
              </a:rPr>
              <a:t>fica </a:t>
            </a:r>
            <a:r>
              <a:rPr sz="3200" dirty="0">
                <a:latin typeface="Arial"/>
                <a:cs typeface="Arial"/>
              </a:rPr>
              <a:t>desbalanceado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657600"/>
            <a:ext cx="8515350" cy="3018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85870" y="4348479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dirty="0">
                <a:latin typeface="Arial"/>
                <a:cs typeface="Arial"/>
              </a:rPr>
              <a:t> 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8243570" cy="164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5" dirty="0">
                <a:latin typeface="Arial"/>
                <a:cs typeface="Arial"/>
              </a:rPr>
              <a:t>de </a:t>
            </a:r>
            <a:r>
              <a:rPr sz="3200" spc="45" dirty="0">
                <a:latin typeface="Arial"/>
                <a:cs typeface="Arial"/>
              </a:rPr>
              <a:t>15 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45" dirty="0">
                <a:latin typeface="Arial"/>
                <a:cs typeface="Arial"/>
              </a:rPr>
              <a:t>dupla: </a:t>
            </a:r>
            <a:r>
              <a:rPr sz="3200" spc="50" dirty="0">
                <a:latin typeface="Arial"/>
                <a:cs typeface="Arial"/>
              </a:rPr>
              <a:t>14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45" dirty="0">
                <a:latin typeface="Arial"/>
                <a:cs typeface="Arial"/>
              </a:rPr>
              <a:t>15 </a:t>
            </a:r>
            <a:r>
              <a:rPr sz="3200" spc="-20" dirty="0">
                <a:latin typeface="Arial"/>
                <a:cs typeface="Arial"/>
              </a:rPr>
              <a:t>à </a:t>
            </a:r>
            <a:r>
              <a:rPr sz="3200" spc="70" dirty="0">
                <a:latin typeface="Arial"/>
                <a:cs typeface="Arial"/>
              </a:rPr>
              <a:t>direita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10" dirty="0">
                <a:latin typeface="Arial"/>
                <a:cs typeface="Arial"/>
              </a:rPr>
              <a:t>depois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10" dirty="0">
                <a:latin typeface="Arial"/>
                <a:cs typeface="Arial"/>
              </a:rPr>
              <a:t>e  </a:t>
            </a:r>
            <a:r>
              <a:rPr sz="3200" spc="45" dirty="0">
                <a:latin typeface="Arial"/>
                <a:cs typeface="Arial"/>
              </a:rPr>
              <a:t>14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247389"/>
            <a:ext cx="8153400" cy="3610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273040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36700"/>
              </a:lnSpc>
              <a:spcBef>
                <a:spcPts val="1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14 </a:t>
            </a:r>
            <a:r>
              <a:rPr sz="3200" spc="-20" dirty="0">
                <a:latin typeface="Arial"/>
                <a:cs typeface="Arial"/>
              </a:rPr>
              <a:t>à </a:t>
            </a:r>
            <a:r>
              <a:rPr sz="3200" spc="70" dirty="0">
                <a:latin typeface="Arial"/>
                <a:cs typeface="Arial"/>
              </a:rPr>
              <a:t>direita  </a:t>
            </a: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20" dirty="0">
                <a:latin typeface="Arial"/>
                <a:cs typeface="Arial"/>
              </a:rPr>
              <a:t>de </a:t>
            </a:r>
            <a:r>
              <a:rPr sz="3200" spc="50" dirty="0">
                <a:latin typeface="Arial"/>
                <a:cs typeface="Arial"/>
              </a:rPr>
              <a:t>6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3134360"/>
            <a:ext cx="8172450" cy="3723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01777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15" dirty="0">
                <a:latin typeface="Arial"/>
                <a:cs typeface="Arial"/>
              </a:rPr>
              <a:t>da </a:t>
            </a:r>
            <a:r>
              <a:rPr sz="3200" spc="25" dirty="0">
                <a:latin typeface="Arial"/>
                <a:cs typeface="Arial"/>
              </a:rPr>
              <a:t>raiz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285490"/>
            <a:ext cx="8458200" cy="3572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205095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20" dirty="0">
                <a:latin typeface="Arial"/>
                <a:cs typeface="Arial"/>
              </a:rPr>
              <a:t>de </a:t>
            </a:r>
            <a:r>
              <a:rPr sz="3200" spc="50" dirty="0">
                <a:latin typeface="Arial"/>
                <a:cs typeface="Arial"/>
              </a:rPr>
              <a:t>12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13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70" dirty="0">
                <a:latin typeface="Arial"/>
                <a:cs typeface="Arial"/>
              </a:rPr>
              <a:t>direita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2857500"/>
            <a:ext cx="8714740" cy="400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90470">
              <a:lnSpc>
                <a:spcPct val="100000"/>
              </a:lnSpc>
            </a:pPr>
            <a:r>
              <a:rPr spc="75" dirty="0"/>
              <a:t>Algoritmo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159" y="141859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730" y="1304290"/>
            <a:ext cx="270954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Arial"/>
                <a:cs typeface="Arial"/>
              </a:rPr>
              <a:t>Algoritmo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recursivo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010" y="1896109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5850" y="1805940"/>
            <a:ext cx="397954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Arial"/>
                <a:cs typeface="Arial"/>
              </a:rPr>
              <a:t>Inserir </a:t>
            </a:r>
            <a:r>
              <a:rPr sz="1800" spc="5" dirty="0">
                <a:latin typeface="Arial"/>
                <a:cs typeface="Arial"/>
              </a:rPr>
              <a:t>nó </a:t>
            </a:r>
            <a:r>
              <a:rPr sz="1800" spc="15" dirty="0">
                <a:latin typeface="Arial"/>
                <a:cs typeface="Arial"/>
              </a:rPr>
              <a:t>com </a:t>
            </a:r>
            <a:r>
              <a:rPr sz="1800" spc="10" dirty="0">
                <a:latin typeface="Arial"/>
                <a:cs typeface="Arial"/>
              </a:rPr>
              <a:t>chave </a:t>
            </a:r>
            <a:r>
              <a:rPr sz="1800" spc="-95" dirty="0">
                <a:latin typeface="Arial"/>
                <a:cs typeface="Arial"/>
              </a:rPr>
              <a:t>X </a:t>
            </a:r>
            <a:r>
              <a:rPr sz="1800" spc="25" dirty="0">
                <a:latin typeface="Arial"/>
                <a:cs typeface="Arial"/>
              </a:rPr>
              <a:t>numa </a:t>
            </a:r>
            <a:r>
              <a:rPr sz="1800" spc="15" dirty="0">
                <a:latin typeface="Arial"/>
                <a:cs typeface="Arial"/>
              </a:rPr>
              <a:t>árvore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3800" y="2259329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3800" y="2569209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800" y="2877820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9700" y="2108199"/>
            <a:ext cx="6786245" cy="1167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08150">
              <a:lnSpc>
                <a:spcPct val="135000"/>
              </a:lnSpc>
            </a:pPr>
            <a:r>
              <a:rPr sz="1500" spc="15" dirty="0">
                <a:latin typeface="Arial"/>
                <a:cs typeface="Arial"/>
              </a:rPr>
              <a:t>recursivamente, </a:t>
            </a:r>
            <a:r>
              <a:rPr sz="1500" spc="20" dirty="0">
                <a:latin typeface="Arial"/>
                <a:cs typeface="Arial"/>
              </a:rPr>
              <a:t>inserir </a:t>
            </a:r>
            <a:r>
              <a:rPr sz="1500" dirty="0">
                <a:latin typeface="Arial"/>
                <a:cs typeface="Arial"/>
              </a:rPr>
              <a:t>na </a:t>
            </a:r>
            <a:r>
              <a:rPr sz="1500" spc="5" dirty="0">
                <a:latin typeface="Arial"/>
                <a:cs typeface="Arial"/>
              </a:rPr>
              <a:t>subárvore </a:t>
            </a:r>
            <a:r>
              <a:rPr sz="1500" spc="15" dirty="0">
                <a:latin typeface="Arial"/>
                <a:cs typeface="Arial"/>
              </a:rPr>
              <a:t>conveniente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40" dirty="0">
                <a:latin typeface="Arial"/>
                <a:cs typeface="Arial"/>
              </a:rPr>
              <a:t>A, </a:t>
            </a:r>
            <a:r>
              <a:rPr sz="1500" spc="-105" dirty="0">
                <a:latin typeface="Arial"/>
                <a:cs typeface="Arial"/>
              </a:rPr>
              <a:t>SA 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-10" dirty="0">
                <a:latin typeface="Arial"/>
                <a:cs typeface="Arial"/>
              </a:rPr>
              <a:t>a </a:t>
            </a:r>
            <a:r>
              <a:rPr sz="1500" spc="30" dirty="0">
                <a:latin typeface="Arial"/>
                <a:cs typeface="Arial"/>
              </a:rPr>
              <a:t>altura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110" dirty="0">
                <a:latin typeface="Arial"/>
                <a:cs typeface="Arial"/>
              </a:rPr>
              <a:t>SA </a:t>
            </a:r>
            <a:r>
              <a:rPr sz="1500" dirty="0">
                <a:latin typeface="Arial"/>
                <a:cs typeface="Arial"/>
              </a:rPr>
              <a:t>não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25" dirty="0">
                <a:latin typeface="Arial"/>
                <a:cs typeface="Arial"/>
              </a:rPr>
              <a:t>modifica:</a:t>
            </a:r>
            <a:r>
              <a:rPr sz="1500" spc="190" dirty="0">
                <a:latin typeface="Arial"/>
                <a:cs typeface="Arial"/>
              </a:rPr>
              <a:t> </a:t>
            </a:r>
            <a:r>
              <a:rPr sz="1500" spc="35" dirty="0">
                <a:latin typeface="Arial"/>
                <a:cs typeface="Arial"/>
              </a:rPr>
              <a:t>terminar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705"/>
              </a:spcBef>
            </a:pP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-10" dirty="0">
                <a:latin typeface="Arial"/>
                <a:cs typeface="Arial"/>
              </a:rPr>
              <a:t>a </a:t>
            </a:r>
            <a:r>
              <a:rPr sz="1500" spc="30" dirty="0">
                <a:latin typeface="Arial"/>
                <a:cs typeface="Arial"/>
              </a:rPr>
              <a:t>altura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110" dirty="0">
                <a:latin typeface="Arial"/>
                <a:cs typeface="Arial"/>
              </a:rPr>
              <a:t>SA </a:t>
            </a:r>
            <a:r>
              <a:rPr sz="1500" spc="-5" dirty="0">
                <a:latin typeface="Arial"/>
                <a:cs typeface="Arial"/>
              </a:rPr>
              <a:t>é </a:t>
            </a:r>
            <a:r>
              <a:rPr sz="1500" spc="20" dirty="0">
                <a:latin typeface="Arial"/>
                <a:cs typeface="Arial"/>
              </a:rPr>
              <a:t>modificada: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dirty="0">
                <a:latin typeface="Arial"/>
                <a:cs typeface="Arial"/>
              </a:rPr>
              <a:t>ocorre </a:t>
            </a:r>
            <a:r>
              <a:rPr sz="1500" spc="5" dirty="0">
                <a:latin typeface="Arial"/>
                <a:cs typeface="Arial"/>
              </a:rPr>
              <a:t>desequilíbrio </a:t>
            </a:r>
            <a:r>
              <a:rPr sz="1500" spc="25" dirty="0">
                <a:latin typeface="Arial"/>
                <a:cs typeface="Arial"/>
              </a:rPr>
              <a:t>em </a:t>
            </a:r>
            <a:r>
              <a:rPr sz="1500" spc="-40" dirty="0">
                <a:latin typeface="Arial"/>
                <a:cs typeface="Arial"/>
              </a:rPr>
              <a:t>A, </a:t>
            </a:r>
            <a:r>
              <a:rPr sz="1500" spc="5" dirty="0">
                <a:latin typeface="Arial"/>
                <a:cs typeface="Arial"/>
              </a:rPr>
              <a:t>fazer </a:t>
            </a:r>
            <a:r>
              <a:rPr sz="1500" spc="-30" dirty="0">
                <a:latin typeface="Arial"/>
                <a:cs typeface="Arial"/>
              </a:rPr>
              <a:t>as </a:t>
            </a:r>
            <a:r>
              <a:rPr sz="1500" dirty="0">
                <a:latin typeface="Arial"/>
                <a:cs typeface="Arial"/>
              </a:rPr>
              <a:t>rotações  </a:t>
            </a:r>
            <a:r>
              <a:rPr sz="1500" spc="-10" dirty="0">
                <a:latin typeface="Arial"/>
                <a:cs typeface="Arial"/>
              </a:rPr>
              <a:t>necessárias </a:t>
            </a:r>
            <a:r>
              <a:rPr sz="1500" spc="10" dirty="0">
                <a:latin typeface="Arial"/>
                <a:cs typeface="Arial"/>
              </a:rPr>
              <a:t>para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20" dirty="0">
                <a:latin typeface="Arial"/>
                <a:cs typeface="Arial"/>
              </a:rPr>
              <a:t>reequilibrar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010" y="3434079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5850" y="3343909"/>
            <a:ext cx="242824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Comparação </a:t>
            </a:r>
            <a:r>
              <a:rPr sz="1800" spc="5" dirty="0">
                <a:latin typeface="Arial"/>
                <a:cs typeface="Arial"/>
              </a:rPr>
              <a:t>de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alturas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3800" y="3797300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9700" y="3726179"/>
            <a:ext cx="705929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500" spc="10" dirty="0">
                <a:latin typeface="Arial"/>
                <a:cs typeface="Arial"/>
              </a:rPr>
              <a:t>para </a:t>
            </a:r>
            <a:r>
              <a:rPr sz="1500" spc="35" dirty="0">
                <a:latin typeface="Arial"/>
                <a:cs typeface="Arial"/>
              </a:rPr>
              <a:t>evitar </a:t>
            </a:r>
            <a:r>
              <a:rPr sz="1500" spc="-10" dirty="0">
                <a:latin typeface="Arial"/>
                <a:cs typeface="Arial"/>
              </a:rPr>
              <a:t>o </a:t>
            </a:r>
            <a:r>
              <a:rPr sz="1500" spc="5" dirty="0">
                <a:latin typeface="Arial"/>
                <a:cs typeface="Arial"/>
              </a:rPr>
              <a:t>cálculo </a:t>
            </a:r>
            <a:r>
              <a:rPr sz="1500" spc="20" dirty="0">
                <a:latin typeface="Arial"/>
                <a:cs typeface="Arial"/>
              </a:rPr>
              <a:t>repetido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20" dirty="0">
                <a:latin typeface="Arial"/>
                <a:cs typeface="Arial"/>
              </a:rPr>
              <a:t>alturas </a:t>
            </a:r>
            <a:r>
              <a:rPr sz="1500" spc="5" dirty="0">
                <a:latin typeface="Arial"/>
                <a:cs typeface="Arial"/>
              </a:rPr>
              <a:t>de </a:t>
            </a:r>
            <a:r>
              <a:rPr sz="1500" dirty="0">
                <a:latin typeface="Arial"/>
                <a:cs typeface="Arial"/>
              </a:rPr>
              <a:t>sub-árvores, </a:t>
            </a:r>
            <a:r>
              <a:rPr sz="1500" spc="-10" dirty="0">
                <a:latin typeface="Arial"/>
                <a:cs typeface="Arial"/>
              </a:rPr>
              <a:t>pode-se </a:t>
            </a:r>
            <a:r>
              <a:rPr sz="1500" spc="35" dirty="0">
                <a:latin typeface="Arial"/>
                <a:cs typeface="Arial"/>
              </a:rPr>
              <a:t>manter </a:t>
            </a:r>
            <a:r>
              <a:rPr sz="1500" spc="25" dirty="0">
                <a:latin typeface="Arial"/>
                <a:cs typeface="Arial"/>
              </a:rPr>
              <a:t>em </a:t>
            </a:r>
            <a:r>
              <a:rPr sz="1500" spc="-5" dirty="0">
                <a:latin typeface="Arial"/>
                <a:cs typeface="Arial"/>
              </a:rPr>
              <a:t>cada  </a:t>
            </a:r>
            <a:r>
              <a:rPr sz="1500" dirty="0">
                <a:latin typeface="Arial"/>
                <a:cs typeface="Arial"/>
              </a:rPr>
              <a:t>nó </a:t>
            </a:r>
            <a:r>
              <a:rPr sz="1500" spc="-10" dirty="0">
                <a:latin typeface="Arial"/>
                <a:cs typeface="Arial"/>
              </a:rPr>
              <a:t>o </a:t>
            </a:r>
            <a:r>
              <a:rPr sz="1500" spc="10" dirty="0">
                <a:latin typeface="Arial"/>
                <a:cs typeface="Arial"/>
              </a:rPr>
              <a:t>resultado </a:t>
            </a:r>
            <a:r>
              <a:rPr sz="1500" dirty="0">
                <a:latin typeface="Arial"/>
                <a:cs typeface="Arial"/>
              </a:rPr>
              <a:t>da </a:t>
            </a:r>
            <a:r>
              <a:rPr sz="1500" spc="5" dirty="0">
                <a:latin typeface="Arial"/>
                <a:cs typeface="Arial"/>
              </a:rPr>
              <a:t>comparação </a:t>
            </a:r>
            <a:r>
              <a:rPr sz="1500" spc="-15" dirty="0">
                <a:latin typeface="Arial"/>
                <a:cs typeface="Arial"/>
              </a:rPr>
              <a:t>das </a:t>
            </a:r>
            <a:r>
              <a:rPr sz="1500" spc="20" dirty="0">
                <a:latin typeface="Arial"/>
                <a:cs typeface="Arial"/>
              </a:rPr>
              <a:t>alturas </a:t>
            </a:r>
            <a:r>
              <a:rPr sz="1500" spc="-15" dirty="0">
                <a:latin typeface="Arial"/>
                <a:cs typeface="Arial"/>
              </a:rPr>
              <a:t>das</a:t>
            </a:r>
            <a:r>
              <a:rPr sz="1500" spc="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sub-árvores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159" y="437769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0730" y="4263390"/>
            <a:ext cx="259588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Arial"/>
                <a:cs typeface="Arial"/>
              </a:rPr>
              <a:t>Algoritmo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iterativo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2010" y="4853940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5850" y="4763770"/>
            <a:ext cx="545401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Especificar </a:t>
            </a:r>
            <a:r>
              <a:rPr sz="1800" spc="10" dirty="0">
                <a:latin typeface="Arial"/>
                <a:cs typeface="Arial"/>
              </a:rPr>
              <a:t>parada logo </a:t>
            </a:r>
            <a:r>
              <a:rPr sz="1800" spc="15" dirty="0">
                <a:latin typeface="Arial"/>
                <a:cs typeface="Arial"/>
              </a:rPr>
              <a:t>que </a:t>
            </a:r>
            <a:r>
              <a:rPr sz="1800" spc="25" dirty="0">
                <a:latin typeface="Arial"/>
                <a:cs typeface="Arial"/>
              </a:rPr>
              <a:t>uma </a:t>
            </a:r>
            <a:r>
              <a:rPr sz="1800" spc="10" dirty="0">
                <a:latin typeface="Arial"/>
                <a:cs typeface="Arial"/>
              </a:rPr>
              <a:t>rotação </a:t>
            </a:r>
            <a:r>
              <a:rPr sz="1800" spc="-5" dirty="0">
                <a:latin typeface="Arial"/>
                <a:cs typeface="Arial"/>
              </a:rPr>
              <a:t>é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realizada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8159" y="526034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730" y="5146040"/>
            <a:ext cx="7729855" cy="147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60" dirty="0">
                <a:latin typeface="Arial"/>
                <a:cs typeface="Arial"/>
              </a:rPr>
              <a:t>Na </a:t>
            </a:r>
            <a:r>
              <a:rPr sz="2400" spc="40" dirty="0">
                <a:latin typeface="Arial"/>
                <a:cs typeface="Arial"/>
              </a:rPr>
              <a:t>prática, </a:t>
            </a:r>
            <a:r>
              <a:rPr sz="2400" spc="-40" dirty="0">
                <a:latin typeface="Arial"/>
                <a:cs typeface="Arial"/>
              </a:rPr>
              <a:t>são </a:t>
            </a:r>
            <a:r>
              <a:rPr sz="2400" spc="-25" dirty="0">
                <a:latin typeface="Arial"/>
                <a:cs typeface="Arial"/>
              </a:rPr>
              <a:t>usadas </a:t>
            </a:r>
            <a:r>
              <a:rPr sz="2400" spc="30" dirty="0">
                <a:latin typeface="Arial"/>
                <a:cs typeface="Arial"/>
              </a:rPr>
              <a:t>outras </a:t>
            </a:r>
            <a:r>
              <a:rPr sz="2400" spc="10" dirty="0">
                <a:latin typeface="Arial"/>
                <a:cs typeface="Arial"/>
              </a:rPr>
              <a:t>árvores </a:t>
            </a:r>
            <a:r>
              <a:rPr sz="2400" spc="20" dirty="0">
                <a:latin typeface="Arial"/>
                <a:cs typeface="Arial"/>
              </a:rPr>
              <a:t>binárias  </a:t>
            </a:r>
            <a:r>
              <a:rPr sz="2400" spc="25" dirty="0">
                <a:latin typeface="Arial"/>
                <a:cs typeface="Arial"/>
              </a:rPr>
              <a:t>equilibradas </a:t>
            </a:r>
            <a:r>
              <a:rPr sz="2400" spc="15" dirty="0">
                <a:latin typeface="Arial"/>
                <a:cs typeface="Arial"/>
              </a:rPr>
              <a:t>(como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10" dirty="0">
                <a:latin typeface="Arial"/>
                <a:cs typeface="Arial"/>
              </a:rPr>
              <a:t>árvores </a:t>
            </a:r>
            <a:r>
              <a:rPr sz="2400" spc="35" dirty="0">
                <a:latin typeface="Arial"/>
                <a:cs typeface="Arial"/>
              </a:rPr>
              <a:t>vermelho-preto) </a:t>
            </a:r>
            <a:r>
              <a:rPr sz="2400" spc="50" dirty="0">
                <a:latin typeface="Arial"/>
                <a:cs typeface="Arial"/>
              </a:rPr>
              <a:t>em </a:t>
            </a:r>
            <a:r>
              <a:rPr sz="2400" spc="15" dirty="0">
                <a:latin typeface="Arial"/>
                <a:cs typeface="Arial"/>
              </a:rPr>
              <a:t>que  </a:t>
            </a:r>
            <a:r>
              <a:rPr sz="2400" spc="-15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inserção </a:t>
            </a:r>
            <a:r>
              <a:rPr sz="2400" spc="5" dirty="0">
                <a:latin typeface="Arial"/>
                <a:cs typeface="Arial"/>
              </a:rPr>
              <a:t>ou remoção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-15" dirty="0">
                <a:latin typeface="Arial"/>
                <a:cs typeface="Arial"/>
              </a:rPr>
              <a:t>a </a:t>
            </a:r>
            <a:r>
              <a:rPr sz="2400" spc="15" dirty="0">
                <a:latin typeface="Arial"/>
                <a:cs typeface="Arial"/>
              </a:rPr>
              <a:t>correspondente </a:t>
            </a:r>
            <a:r>
              <a:rPr sz="2400" spc="-5" dirty="0">
                <a:latin typeface="Arial"/>
                <a:cs typeface="Arial"/>
              </a:rPr>
              <a:t>reposição </a:t>
            </a:r>
            <a:r>
              <a:rPr sz="2400" spc="5" dirty="0">
                <a:latin typeface="Arial"/>
                <a:cs typeface="Arial"/>
              </a:rPr>
              <a:t>do  </a:t>
            </a:r>
            <a:r>
              <a:rPr sz="2400" spc="25" dirty="0">
                <a:latin typeface="Arial"/>
                <a:cs typeface="Arial"/>
              </a:rPr>
              <a:t>equilíbrio </a:t>
            </a:r>
            <a:r>
              <a:rPr sz="2400" spc="5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</a:t>
            </a:r>
            <a:r>
              <a:rPr sz="2400" spc="60" dirty="0">
                <a:latin typeface="Arial"/>
                <a:cs typeface="Arial"/>
              </a:rPr>
              <a:t>feito </a:t>
            </a:r>
            <a:r>
              <a:rPr sz="2400" spc="15" dirty="0">
                <a:latin typeface="Arial"/>
                <a:cs typeface="Arial"/>
              </a:rPr>
              <a:t>mais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eficientemente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6480">
              <a:lnSpc>
                <a:spcPct val="100000"/>
              </a:lnSpc>
            </a:pPr>
            <a:r>
              <a:rPr spc="95" dirty="0"/>
              <a:t>Importante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141859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830" y="306070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1305559"/>
            <a:ext cx="7408545" cy="3103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9270" algn="just">
              <a:lnSpc>
                <a:spcPct val="100000"/>
              </a:lnSpc>
            </a:pPr>
            <a:r>
              <a:rPr sz="3200" spc="-90" dirty="0">
                <a:latin typeface="Arial"/>
                <a:cs typeface="Arial"/>
              </a:rPr>
              <a:t>Na </a:t>
            </a:r>
            <a:r>
              <a:rPr sz="3200" dirty="0">
                <a:latin typeface="Arial"/>
                <a:cs typeface="Arial"/>
              </a:rPr>
              <a:t>inserção, </a:t>
            </a:r>
            <a:r>
              <a:rPr sz="3200" spc="-45" dirty="0">
                <a:latin typeface="Arial"/>
                <a:cs typeface="Arial"/>
              </a:rPr>
              <a:t>caso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35" dirty="0">
                <a:latin typeface="Arial"/>
                <a:cs typeface="Arial"/>
              </a:rPr>
              <a:t>árvore </a:t>
            </a:r>
            <a:r>
              <a:rPr sz="3200" spc="-245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esteja  </a:t>
            </a:r>
            <a:r>
              <a:rPr sz="3200" spc="5" dirty="0">
                <a:latin typeface="Arial"/>
                <a:cs typeface="Arial"/>
              </a:rPr>
              <a:t>desbalanceada, </a:t>
            </a:r>
            <a:r>
              <a:rPr sz="3200" spc="25" dirty="0">
                <a:latin typeface="Arial"/>
                <a:cs typeface="Arial"/>
              </a:rPr>
              <a:t>basta </a:t>
            </a:r>
            <a:r>
              <a:rPr sz="3200" spc="50" dirty="0">
                <a:latin typeface="Arial"/>
                <a:cs typeface="Arial"/>
              </a:rPr>
              <a:t>1 </a:t>
            </a:r>
            <a:r>
              <a:rPr sz="3200" spc="5" dirty="0">
                <a:latin typeface="Arial"/>
                <a:cs typeface="Arial"/>
              </a:rPr>
              <a:t>operação </a:t>
            </a:r>
            <a:r>
              <a:rPr sz="3200" spc="20" dirty="0">
                <a:latin typeface="Arial"/>
                <a:cs typeface="Arial"/>
              </a:rPr>
              <a:t>de  </a:t>
            </a:r>
            <a:r>
              <a:rPr sz="3200" spc="25" dirty="0">
                <a:latin typeface="Arial"/>
                <a:cs typeface="Arial"/>
              </a:rPr>
              <a:t>rotação </a:t>
            </a:r>
            <a:r>
              <a:rPr sz="3200" spc="30" dirty="0">
                <a:latin typeface="Arial"/>
                <a:cs typeface="Arial"/>
              </a:rPr>
              <a:t>para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rebalanceá-la.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Na </a:t>
            </a:r>
            <a:r>
              <a:rPr sz="3200" spc="15" dirty="0">
                <a:latin typeface="Arial"/>
                <a:cs typeface="Arial"/>
              </a:rPr>
              <a:t>remoção, </a:t>
            </a:r>
            <a:r>
              <a:rPr sz="3200" spc="-45" dirty="0">
                <a:latin typeface="Arial"/>
                <a:cs typeface="Arial"/>
              </a:rPr>
              <a:t>caso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35" dirty="0">
                <a:latin typeface="Arial"/>
                <a:cs typeface="Arial"/>
              </a:rPr>
              <a:t>árvore </a:t>
            </a:r>
            <a:r>
              <a:rPr sz="3200" spc="30" dirty="0">
                <a:latin typeface="Arial"/>
                <a:cs typeface="Arial"/>
              </a:rPr>
              <a:t>esteja  </a:t>
            </a:r>
            <a:r>
              <a:rPr sz="3200" spc="5" dirty="0">
                <a:latin typeface="Arial"/>
                <a:cs typeface="Arial"/>
              </a:rPr>
              <a:t>desbalanceada, </a:t>
            </a:r>
            <a:r>
              <a:rPr sz="3200" spc="15" dirty="0">
                <a:latin typeface="Arial"/>
                <a:cs typeface="Arial"/>
              </a:rPr>
              <a:t>pode </a:t>
            </a:r>
            <a:r>
              <a:rPr sz="3200" dirty="0">
                <a:latin typeface="Arial"/>
                <a:cs typeface="Arial"/>
              </a:rPr>
              <a:t>ser </a:t>
            </a:r>
            <a:r>
              <a:rPr sz="3200" spc="-5" dirty="0">
                <a:latin typeface="Arial"/>
                <a:cs typeface="Arial"/>
              </a:rPr>
              <a:t>necessário </a:t>
            </a:r>
            <a:r>
              <a:rPr sz="3200" spc="65" dirty="0">
                <a:latin typeface="Arial"/>
                <a:cs typeface="Arial"/>
              </a:rPr>
              <a:t>até  </a:t>
            </a:r>
            <a:r>
              <a:rPr sz="3200" spc="45" dirty="0">
                <a:latin typeface="Arial"/>
                <a:cs typeface="Arial"/>
              </a:rPr>
              <a:t>log(n) </a:t>
            </a:r>
            <a:r>
              <a:rPr sz="3200" spc="-5" dirty="0">
                <a:latin typeface="Arial"/>
                <a:cs typeface="Arial"/>
              </a:rPr>
              <a:t>operações </a:t>
            </a:r>
            <a:r>
              <a:rPr sz="3200" spc="20" dirty="0">
                <a:latin typeface="Arial"/>
                <a:cs typeface="Arial"/>
              </a:rPr>
              <a:t>de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15" dirty="0">
                <a:latin typeface="Arial"/>
                <a:cs typeface="Arial"/>
              </a:rPr>
              <a:t>rotação.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0750" y="320040"/>
            <a:ext cx="7291070" cy="134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5230" marR="5080" indent="-1192530">
              <a:lnSpc>
                <a:spcPct val="100000"/>
              </a:lnSpc>
            </a:pPr>
            <a:r>
              <a:rPr spc="-70" dirty="0"/>
              <a:t>Como </a:t>
            </a:r>
            <a:r>
              <a:rPr spc="35" dirty="0"/>
              <a:t>descobrir </a:t>
            </a:r>
            <a:r>
              <a:rPr spc="50" dirty="0"/>
              <a:t>qual </a:t>
            </a:r>
            <a:r>
              <a:rPr spc="35" dirty="0"/>
              <a:t>rotação  </a:t>
            </a:r>
            <a:r>
              <a:rPr spc="40" dirty="0"/>
              <a:t>deve </a:t>
            </a:r>
            <a:r>
              <a:rPr dirty="0"/>
              <a:t>ser</a:t>
            </a:r>
            <a:r>
              <a:rPr spc="-25" dirty="0"/>
              <a:t> realizada?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195834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" y="1845309"/>
            <a:ext cx="734822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90" dirty="0">
                <a:latin typeface="Arial"/>
                <a:cs typeface="Arial"/>
              </a:rPr>
              <a:t>Processo </a:t>
            </a:r>
            <a:r>
              <a:rPr sz="3200" spc="20" dirty="0">
                <a:latin typeface="Arial"/>
                <a:cs typeface="Arial"/>
              </a:rPr>
              <a:t>simples </a:t>
            </a:r>
            <a:r>
              <a:rPr sz="3200" spc="10" dirty="0">
                <a:latin typeface="Arial"/>
                <a:cs typeface="Arial"/>
              </a:rPr>
              <a:t>(supondo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5" dirty="0">
                <a:latin typeface="Arial"/>
                <a:cs typeface="Arial"/>
              </a:rPr>
              <a:t>cada </a:t>
            </a:r>
            <a:r>
              <a:rPr sz="3200" spc="10" dirty="0">
                <a:latin typeface="Arial"/>
                <a:cs typeface="Arial"/>
              </a:rPr>
              <a:t>nó  </a:t>
            </a:r>
            <a:r>
              <a:rPr sz="3200" spc="25" dirty="0">
                <a:latin typeface="Arial"/>
                <a:cs typeface="Arial"/>
              </a:rPr>
              <a:t>guarda </a:t>
            </a:r>
            <a:r>
              <a:rPr sz="3200" spc="-25" dirty="0">
                <a:latin typeface="Arial"/>
                <a:cs typeface="Arial"/>
              </a:rPr>
              <a:t>seu </a:t>
            </a:r>
            <a:r>
              <a:rPr sz="3200" spc="85" dirty="0">
                <a:latin typeface="Arial"/>
                <a:cs typeface="Arial"/>
              </a:rPr>
              <a:t>fator </a:t>
            </a:r>
            <a:r>
              <a:rPr sz="3200" spc="20" dirty="0">
                <a:latin typeface="Arial"/>
                <a:cs typeface="Arial"/>
              </a:rPr>
              <a:t>de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40" dirty="0">
                <a:latin typeface="Arial"/>
                <a:cs typeface="Arial"/>
              </a:rPr>
              <a:t>balanceamento):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7310" y="3067050"/>
            <a:ext cx="5740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void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3110" y="3088385"/>
            <a:ext cx="5238115" cy="3131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0705" marR="5080" indent="-548640">
              <a:lnSpc>
                <a:spcPts val="2039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AVLTree&lt;tipo&gt;::balanceia(Celula *&amp;x) 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 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(x-&gt;b == 2)</a:t>
            </a:r>
            <a:r>
              <a:rPr sz="1800" b="1" spc="-8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521460" marR="1102360" indent="-548640">
              <a:lnSpc>
                <a:spcPts val="2039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(x-&gt;esq-&gt;b == -1)  rotateLeft(x-&gt;esq);</a:t>
            </a:r>
            <a:endParaRPr sz="1800">
              <a:latin typeface="Courier New"/>
              <a:cs typeface="Courier New"/>
            </a:endParaRPr>
          </a:p>
          <a:p>
            <a:pPr marL="972819">
              <a:lnSpc>
                <a:spcPts val="1930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rotateRight(x);</a:t>
            </a:r>
            <a:endParaRPr sz="1800">
              <a:latin typeface="Courier New"/>
              <a:cs typeface="Courier New"/>
            </a:endParaRPr>
          </a:p>
          <a:p>
            <a:pPr marL="560705">
              <a:lnSpc>
                <a:spcPts val="2039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46505" marR="1376680" indent="-685800">
              <a:lnSpc>
                <a:spcPts val="2039"/>
              </a:lnSpc>
              <a:spcBef>
                <a:spcPts val="105"/>
              </a:spcBef>
              <a:tabLst>
                <a:tab pos="3441065" algn="l"/>
              </a:tabLst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else if (x-&gt;b</a:t>
            </a:r>
            <a:r>
              <a:rPr sz="1800" b="1" spc="78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==</a:t>
            </a:r>
            <a:r>
              <a:rPr sz="1800" b="1" spc="254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-2)	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 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(x-&gt;dir-&gt;b ==</a:t>
            </a:r>
            <a:r>
              <a:rPr sz="1800" b="1" spc="-8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1)</a:t>
            </a:r>
            <a:endParaRPr sz="1800">
              <a:latin typeface="Courier New"/>
              <a:cs typeface="Courier New"/>
            </a:endParaRPr>
          </a:p>
          <a:p>
            <a:pPr marL="1246505" marR="690880" indent="548640">
              <a:lnSpc>
                <a:spcPts val="2039"/>
              </a:lnSpc>
              <a:spcBef>
                <a:spcPts val="10"/>
              </a:spcBef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rotateRight(x-&gt;dir);  rotateLeft(x);</a:t>
            </a:r>
            <a:endParaRPr sz="1800">
              <a:latin typeface="Courier New"/>
              <a:cs typeface="Courier New"/>
            </a:endParaRPr>
          </a:p>
          <a:p>
            <a:pPr marL="560705">
              <a:lnSpc>
                <a:spcPts val="1930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62530">
              <a:lnSpc>
                <a:spcPct val="100000"/>
              </a:lnSpc>
            </a:pPr>
            <a:r>
              <a:rPr spc="-65" dirty="0"/>
              <a:t>Exercícios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464208"/>
            <a:ext cx="7675880" cy="317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094105">
              <a:lnSpc>
                <a:spcPct val="137000"/>
              </a:lnSpc>
            </a:pPr>
            <a:r>
              <a:rPr sz="3200" spc="25" dirty="0">
                <a:latin typeface="Arial"/>
                <a:cs typeface="Arial"/>
              </a:rPr>
              <a:t>Construir </a:t>
            </a:r>
            <a:r>
              <a:rPr sz="3200" spc="50" dirty="0">
                <a:latin typeface="Arial"/>
                <a:cs typeface="Arial"/>
              </a:rPr>
              <a:t>uma </a:t>
            </a:r>
            <a:r>
              <a:rPr sz="3200" spc="-240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com </a:t>
            </a:r>
            <a:r>
              <a:rPr sz="3200" spc="-60" dirty="0">
                <a:latin typeface="Arial"/>
                <a:cs typeface="Arial"/>
              </a:rPr>
              <a:t>as </a:t>
            </a:r>
            <a:r>
              <a:rPr sz="3200" spc="5" dirty="0">
                <a:latin typeface="Arial"/>
                <a:cs typeface="Arial"/>
              </a:rPr>
              <a:t>chaves:  </a:t>
            </a:r>
            <a:r>
              <a:rPr sz="3200" spc="45" dirty="0">
                <a:latin typeface="Arial"/>
                <a:cs typeface="Arial"/>
              </a:rPr>
              <a:t>(10, </a:t>
            </a:r>
            <a:r>
              <a:rPr sz="3200" spc="40" dirty="0">
                <a:latin typeface="Arial"/>
                <a:cs typeface="Arial"/>
              </a:rPr>
              <a:t>20, 30, </a:t>
            </a:r>
            <a:r>
              <a:rPr sz="3200" spc="35" dirty="0">
                <a:latin typeface="Arial"/>
                <a:cs typeface="Arial"/>
              </a:rPr>
              <a:t>5, 3, </a:t>
            </a:r>
            <a:r>
              <a:rPr sz="3200" spc="40" dirty="0">
                <a:latin typeface="Arial"/>
                <a:cs typeface="Arial"/>
              </a:rPr>
              <a:t>50, 40, 70, </a:t>
            </a:r>
            <a:r>
              <a:rPr sz="3200" spc="45" dirty="0">
                <a:latin typeface="Arial"/>
                <a:cs typeface="Arial"/>
              </a:rPr>
              <a:t>60,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90)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25" dirty="0">
                <a:latin typeface="Arial"/>
                <a:cs typeface="Arial"/>
              </a:rPr>
              <a:t>Construir </a:t>
            </a:r>
            <a:r>
              <a:rPr sz="3200" spc="50" dirty="0">
                <a:latin typeface="Arial"/>
                <a:cs typeface="Arial"/>
              </a:rPr>
              <a:t>uma </a:t>
            </a:r>
            <a:r>
              <a:rPr sz="3200" spc="-240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com </a:t>
            </a:r>
            <a:r>
              <a:rPr sz="3200" spc="-60" dirty="0">
                <a:latin typeface="Arial"/>
                <a:cs typeface="Arial"/>
              </a:rPr>
              <a:t>as</a:t>
            </a:r>
            <a:r>
              <a:rPr sz="3200" spc="195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chaves: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10"/>
              </a:spcBef>
            </a:pPr>
            <a:r>
              <a:rPr sz="3200" spc="-185" dirty="0">
                <a:latin typeface="Arial"/>
                <a:cs typeface="Arial"/>
              </a:rPr>
              <a:t>(PSC, </a:t>
            </a:r>
            <a:r>
              <a:rPr sz="3200" spc="-120" dirty="0">
                <a:latin typeface="Arial"/>
                <a:cs typeface="Arial"/>
              </a:rPr>
              <a:t>INF, </a:t>
            </a:r>
            <a:r>
              <a:rPr sz="3200" spc="-180" dirty="0">
                <a:latin typeface="Arial"/>
                <a:cs typeface="Arial"/>
              </a:rPr>
              <a:t>ENG, </a:t>
            </a:r>
            <a:r>
              <a:rPr sz="3200" spc="-114" dirty="0">
                <a:latin typeface="Arial"/>
                <a:cs typeface="Arial"/>
              </a:rPr>
              <a:t>QUI, </a:t>
            </a:r>
            <a:r>
              <a:rPr sz="3200" spc="-195" dirty="0">
                <a:latin typeface="Arial"/>
                <a:cs typeface="Arial"/>
              </a:rPr>
              <a:t>MAT, </a:t>
            </a:r>
            <a:r>
              <a:rPr sz="3200" spc="-170" dirty="0">
                <a:latin typeface="Arial"/>
                <a:cs typeface="Arial"/>
              </a:rPr>
              <a:t>LET, </a:t>
            </a:r>
            <a:r>
              <a:rPr sz="3200" spc="-145" dirty="0">
                <a:latin typeface="Arial"/>
                <a:cs typeface="Arial"/>
              </a:rPr>
              <a:t>MED, </a:t>
            </a:r>
            <a:r>
              <a:rPr sz="3200" spc="-210" dirty="0">
                <a:latin typeface="Arial"/>
                <a:cs typeface="Arial"/>
              </a:rPr>
              <a:t>ECO,  </a:t>
            </a:r>
            <a:r>
              <a:rPr sz="3200" spc="-100" dirty="0">
                <a:latin typeface="Arial"/>
                <a:cs typeface="Arial"/>
              </a:rPr>
              <a:t>ADM)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1758</Words>
  <Application>Microsoft Office PowerPoint</Application>
  <PresentationFormat>Apresentação na tela (4:3)</PresentationFormat>
  <Paragraphs>311</Paragraphs>
  <Slides>51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2" baseType="lpstr">
      <vt:lpstr>Office Theme</vt:lpstr>
      <vt:lpstr>Árvores AVL</vt:lpstr>
      <vt:lpstr>Introdução</vt:lpstr>
      <vt:lpstr>Conceito de balanceamento</vt:lpstr>
      <vt:lpstr>Conceito de balanceamento</vt:lpstr>
      <vt:lpstr>Conceito de balanceamento</vt:lpstr>
      <vt:lpstr>Conceito de balanceamento</vt:lpstr>
      <vt:lpstr>Conceito de balanceamento</vt:lpstr>
      <vt:lpstr>Conceito de balanceamento</vt:lpstr>
      <vt:lpstr>Árvore AVL</vt:lpstr>
      <vt:lpstr>Exemplo</vt:lpstr>
      <vt:lpstr>Árvore AVL</vt:lpstr>
      <vt:lpstr>Rotações em AVL</vt:lpstr>
      <vt:lpstr>Rotações simples</vt:lpstr>
      <vt:lpstr>Rotações dupla</vt:lpstr>
      <vt:lpstr>Rotações dupla</vt:lpstr>
      <vt:lpstr>Rotações em AVL</vt:lpstr>
      <vt:lpstr>Caso Right-Right  (rotação a esquerda)</vt:lpstr>
      <vt:lpstr>Caso Left-Left  (rotação a direita)</vt:lpstr>
      <vt:lpstr>Left-Right  (rotação esquerda-direita)</vt:lpstr>
      <vt:lpstr>Caso Right-Left  (rotação direita-esquerda)</vt:lpstr>
      <vt:lpstr>Fator de Balanceamento</vt:lpstr>
      <vt:lpstr>Exemplo –  FB de cada nó</vt:lpstr>
      <vt:lpstr>Quando balancear?</vt:lpstr>
      <vt:lpstr>Tipos de Balanceamento - RR</vt:lpstr>
      <vt:lpstr>Tipos de Balanceamento - RR</vt:lpstr>
      <vt:lpstr>Tipos de Balanceamento - RR</vt:lpstr>
      <vt:lpstr>Tipos de Balanceamento - RR</vt:lpstr>
      <vt:lpstr>Tipos de Balanceamento - LL</vt:lpstr>
      <vt:lpstr>Tipos de Balanceamento - LL</vt:lpstr>
      <vt:lpstr>Tipos de Balanceamento - LL</vt:lpstr>
      <vt:lpstr>Tipos de Balanceamento - LL</vt:lpstr>
      <vt:lpstr>Tipos de Balanceamento - LR</vt:lpstr>
      <vt:lpstr>Tipos de Balanceamento - LR</vt:lpstr>
      <vt:lpstr>Tipos de Balanceamento - LR</vt:lpstr>
      <vt:lpstr>Tipos de Balanceamento - LR</vt:lpstr>
      <vt:lpstr>Tipos de Balanceamento - RL</vt:lpstr>
      <vt:lpstr>Tipos de Balanceamento - RL</vt:lpstr>
      <vt:lpstr>Tipos de Balanceamento - RL</vt:lpstr>
      <vt:lpstr>Tipos de Balanceamento - RL</vt:lpstr>
      <vt:lpstr>Árvore AVL</vt:lpstr>
      <vt:lpstr>Árvore AVL</vt:lpstr>
      <vt:lpstr>Árvore AVL</vt:lpstr>
      <vt:lpstr>Árvore AVL</vt:lpstr>
      <vt:lpstr>Árvore AVL</vt:lpstr>
      <vt:lpstr>Árvore AVL</vt:lpstr>
      <vt:lpstr>Árvore AVL</vt:lpstr>
      <vt:lpstr>Árvore AVL</vt:lpstr>
      <vt:lpstr>Algoritmo</vt:lpstr>
      <vt:lpstr>Importante</vt:lpstr>
      <vt:lpstr>Como descobrir qual rotação  deve ser realizada?</vt:lpstr>
      <vt:lpstr>Exercícios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AVL</dc:title>
  <dc:creator>Samuel Basilio</dc:creator>
  <cp:lastModifiedBy>Samuel</cp:lastModifiedBy>
  <cp:revision>3</cp:revision>
  <dcterms:created xsi:type="dcterms:W3CDTF">2015-11-06T19:16:24Z</dcterms:created>
  <dcterms:modified xsi:type="dcterms:W3CDTF">2015-11-06T18:23:54Z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2011-05-31T00:00:00Z</vt:filetime>
  </property>
  <property fmtid="{D5CDD505-2E9C-101B-9397-08002B2CF9AE}" pid="3" name="Creator">
    <vt:lpwstr>Impress</vt:lpwstr>
  </property>
  <property fmtid="{D5CDD505-2E9C-101B-9397-08002B2CF9AE}" pid="4" name="LastSaved">
    <vt:filetime>2015-11-06T00:00:00Z</vt:filetime>
  </property>
</Properties>
</file>