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5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6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  <p:sldMasterId id="2147483673" r:id="rId3"/>
    <p:sldMasterId id="2147483679" r:id="rId4"/>
    <p:sldMasterId id="2147483685" r:id="rId5"/>
    <p:sldMasterId id="2147483691" r:id="rId6"/>
    <p:sldMasterId id="2147483703" r:id="rId7"/>
  </p:sldMasterIdLst>
  <p:sldIdLst>
    <p:sldId id="256" r:id="rId8"/>
    <p:sldId id="308" r:id="rId9"/>
    <p:sldId id="309" r:id="rId10"/>
    <p:sldId id="310" r:id="rId11"/>
    <p:sldId id="311" r:id="rId12"/>
    <p:sldId id="312" r:id="rId13"/>
    <p:sldId id="439" r:id="rId14"/>
    <p:sldId id="313" r:id="rId15"/>
    <p:sldId id="314" r:id="rId16"/>
    <p:sldId id="339" r:id="rId17"/>
    <p:sldId id="341" r:id="rId18"/>
    <p:sldId id="342" r:id="rId19"/>
    <p:sldId id="343" r:id="rId20"/>
    <p:sldId id="344" r:id="rId21"/>
    <p:sldId id="345" r:id="rId22"/>
    <p:sldId id="346" r:id="rId23"/>
    <p:sldId id="347" r:id="rId24"/>
    <p:sldId id="348" r:id="rId25"/>
    <p:sldId id="349" r:id="rId26"/>
    <p:sldId id="350" r:id="rId27"/>
    <p:sldId id="351" r:id="rId28"/>
    <p:sldId id="352" r:id="rId29"/>
    <p:sldId id="353" r:id="rId30"/>
    <p:sldId id="354" r:id="rId31"/>
    <p:sldId id="355" r:id="rId32"/>
    <p:sldId id="356" r:id="rId33"/>
    <p:sldId id="357" r:id="rId34"/>
    <p:sldId id="358" r:id="rId35"/>
    <p:sldId id="315" r:id="rId36"/>
    <p:sldId id="316" r:id="rId37"/>
    <p:sldId id="317" r:id="rId38"/>
    <p:sldId id="318" r:id="rId39"/>
    <p:sldId id="319" r:id="rId40"/>
    <p:sldId id="320" r:id="rId41"/>
    <p:sldId id="321" r:id="rId42"/>
    <p:sldId id="326" r:id="rId43"/>
    <p:sldId id="327" r:id="rId44"/>
    <p:sldId id="328" r:id="rId45"/>
    <p:sldId id="329" r:id="rId46"/>
    <p:sldId id="330" r:id="rId47"/>
    <p:sldId id="331" r:id="rId48"/>
    <p:sldId id="332" r:id="rId49"/>
    <p:sldId id="333" r:id="rId50"/>
    <p:sldId id="334" r:id="rId51"/>
    <p:sldId id="335" r:id="rId52"/>
    <p:sldId id="336" r:id="rId53"/>
    <p:sldId id="337" r:id="rId54"/>
    <p:sldId id="338" r:id="rId55"/>
    <p:sldId id="566" r:id="rId56"/>
    <p:sldId id="567" r:id="rId57"/>
    <p:sldId id="568" r:id="rId58"/>
    <p:sldId id="569" r:id="rId59"/>
    <p:sldId id="570" r:id="rId60"/>
    <p:sldId id="571" r:id="rId61"/>
    <p:sldId id="572" r:id="rId62"/>
    <p:sldId id="573" r:id="rId63"/>
    <p:sldId id="574" r:id="rId64"/>
    <p:sldId id="575" r:id="rId65"/>
    <p:sldId id="576" r:id="rId66"/>
    <p:sldId id="577" r:id="rId67"/>
    <p:sldId id="578" r:id="rId68"/>
    <p:sldId id="579" r:id="rId69"/>
    <p:sldId id="580" r:id="rId70"/>
    <p:sldId id="581" r:id="rId71"/>
    <p:sldId id="582" r:id="rId72"/>
    <p:sldId id="583" r:id="rId73"/>
    <p:sldId id="584" r:id="rId74"/>
    <p:sldId id="585" r:id="rId75"/>
    <p:sldId id="586" r:id="rId76"/>
    <p:sldId id="587" r:id="rId77"/>
    <p:sldId id="588" r:id="rId78"/>
    <p:sldId id="589" r:id="rId79"/>
    <p:sldId id="590" r:id="rId80"/>
    <p:sldId id="591" r:id="rId81"/>
    <p:sldId id="592" r:id="rId82"/>
    <p:sldId id="593" r:id="rId83"/>
    <p:sldId id="594" r:id="rId84"/>
    <p:sldId id="595" r:id="rId85"/>
    <p:sldId id="596" r:id="rId86"/>
    <p:sldId id="597" r:id="rId87"/>
    <p:sldId id="598" r:id="rId88"/>
    <p:sldId id="599" r:id="rId89"/>
    <p:sldId id="625" r:id="rId90"/>
    <p:sldId id="600" r:id="rId91"/>
    <p:sldId id="601" r:id="rId92"/>
    <p:sldId id="602" r:id="rId93"/>
    <p:sldId id="603" r:id="rId94"/>
    <p:sldId id="604" r:id="rId95"/>
    <p:sldId id="605" r:id="rId96"/>
    <p:sldId id="606" r:id="rId97"/>
    <p:sldId id="607" r:id="rId98"/>
    <p:sldId id="608" r:id="rId99"/>
    <p:sldId id="609" r:id="rId100"/>
    <p:sldId id="610" r:id="rId101"/>
    <p:sldId id="611" r:id="rId102"/>
    <p:sldId id="612" r:id="rId103"/>
    <p:sldId id="613" r:id="rId104"/>
    <p:sldId id="614" r:id="rId105"/>
    <p:sldId id="615" r:id="rId106"/>
    <p:sldId id="616" r:id="rId107"/>
    <p:sldId id="617" r:id="rId108"/>
    <p:sldId id="618" r:id="rId109"/>
    <p:sldId id="619" r:id="rId110"/>
    <p:sldId id="620" r:id="rId111"/>
    <p:sldId id="621" r:id="rId112"/>
    <p:sldId id="622" r:id="rId113"/>
    <p:sldId id="623" r:id="rId114"/>
    <p:sldId id="624" r:id="rId115"/>
    <p:sldId id="518" r:id="rId116"/>
    <p:sldId id="519" r:id="rId117"/>
    <p:sldId id="520" r:id="rId118"/>
    <p:sldId id="521" r:id="rId119"/>
    <p:sldId id="522" r:id="rId120"/>
    <p:sldId id="523" r:id="rId121"/>
    <p:sldId id="524" r:id="rId122"/>
    <p:sldId id="525" r:id="rId123"/>
    <p:sldId id="526" r:id="rId124"/>
    <p:sldId id="527" r:id="rId125"/>
    <p:sldId id="528" r:id="rId126"/>
    <p:sldId id="529" r:id="rId127"/>
    <p:sldId id="530" r:id="rId128"/>
    <p:sldId id="531" r:id="rId129"/>
    <p:sldId id="532" r:id="rId130"/>
    <p:sldId id="533" r:id="rId131"/>
    <p:sldId id="534" r:id="rId132"/>
    <p:sldId id="535" r:id="rId133"/>
    <p:sldId id="536" r:id="rId134"/>
    <p:sldId id="537" r:id="rId135"/>
    <p:sldId id="538" r:id="rId136"/>
    <p:sldId id="539" r:id="rId137"/>
    <p:sldId id="540" r:id="rId138"/>
    <p:sldId id="541" r:id="rId139"/>
    <p:sldId id="542" r:id="rId140"/>
    <p:sldId id="543" r:id="rId141"/>
    <p:sldId id="544" r:id="rId142"/>
    <p:sldId id="545" r:id="rId143"/>
    <p:sldId id="546" r:id="rId144"/>
    <p:sldId id="547" r:id="rId145"/>
    <p:sldId id="548" r:id="rId146"/>
    <p:sldId id="549" r:id="rId147"/>
    <p:sldId id="550" r:id="rId148"/>
    <p:sldId id="551" r:id="rId149"/>
    <p:sldId id="552" r:id="rId150"/>
    <p:sldId id="553" r:id="rId151"/>
    <p:sldId id="554" r:id="rId152"/>
    <p:sldId id="555" r:id="rId153"/>
    <p:sldId id="556" r:id="rId154"/>
    <p:sldId id="557" r:id="rId155"/>
    <p:sldId id="558" r:id="rId156"/>
    <p:sldId id="559" r:id="rId157"/>
    <p:sldId id="560" r:id="rId158"/>
    <p:sldId id="561" r:id="rId159"/>
    <p:sldId id="562" r:id="rId160"/>
    <p:sldId id="563" r:id="rId161"/>
    <p:sldId id="564" r:id="rId162"/>
    <p:sldId id="565" r:id="rId163"/>
    <p:sldId id="440" r:id="rId164"/>
    <p:sldId id="441" r:id="rId165"/>
    <p:sldId id="442" r:id="rId166"/>
    <p:sldId id="257" r:id="rId167"/>
    <p:sldId id="258" r:id="rId168"/>
    <p:sldId id="259" r:id="rId169"/>
    <p:sldId id="260" r:id="rId170"/>
    <p:sldId id="261" r:id="rId171"/>
    <p:sldId id="262" r:id="rId172"/>
    <p:sldId id="263" r:id="rId173"/>
    <p:sldId id="264" r:id="rId174"/>
    <p:sldId id="265" r:id="rId175"/>
    <p:sldId id="266" r:id="rId176"/>
    <p:sldId id="267" r:id="rId177"/>
    <p:sldId id="268" r:id="rId178"/>
    <p:sldId id="269" r:id="rId179"/>
    <p:sldId id="270" r:id="rId180"/>
    <p:sldId id="271" r:id="rId181"/>
    <p:sldId id="282" r:id="rId182"/>
    <p:sldId id="283" r:id="rId183"/>
    <p:sldId id="284" r:id="rId184"/>
    <p:sldId id="285" r:id="rId185"/>
    <p:sldId id="286" r:id="rId186"/>
    <p:sldId id="287" r:id="rId187"/>
    <p:sldId id="288" r:id="rId188"/>
    <p:sldId id="289" r:id="rId189"/>
    <p:sldId id="290" r:id="rId190"/>
    <p:sldId id="291" r:id="rId191"/>
    <p:sldId id="297" r:id="rId192"/>
    <p:sldId id="298" r:id="rId193"/>
    <p:sldId id="299" r:id="rId194"/>
    <p:sldId id="300" r:id="rId195"/>
    <p:sldId id="301" r:id="rId196"/>
    <p:sldId id="302" r:id="rId197"/>
    <p:sldId id="303" r:id="rId198"/>
    <p:sldId id="443" r:id="rId199"/>
    <p:sldId id="304" r:id="rId200"/>
    <p:sldId id="305" r:id="rId201"/>
    <p:sldId id="306" r:id="rId202"/>
    <p:sldId id="307" r:id="rId203"/>
    <p:sldId id="444" r:id="rId204"/>
    <p:sldId id="445" r:id="rId205"/>
    <p:sldId id="446" r:id="rId206"/>
    <p:sldId id="451" r:id="rId207"/>
    <p:sldId id="452" r:id="rId208"/>
    <p:sldId id="454" r:id="rId209"/>
    <p:sldId id="455" r:id="rId210"/>
    <p:sldId id="456" r:id="rId211"/>
    <p:sldId id="457" r:id="rId212"/>
    <p:sldId id="458" r:id="rId213"/>
    <p:sldId id="459" r:id="rId214"/>
    <p:sldId id="460" r:id="rId215"/>
    <p:sldId id="461" r:id="rId216"/>
    <p:sldId id="462" r:id="rId217"/>
    <p:sldId id="463" r:id="rId218"/>
    <p:sldId id="464" r:id="rId219"/>
    <p:sldId id="465" r:id="rId220"/>
    <p:sldId id="466" r:id="rId221"/>
    <p:sldId id="467" r:id="rId222"/>
    <p:sldId id="468" r:id="rId223"/>
    <p:sldId id="517" r:id="rId224"/>
    <p:sldId id="469" r:id="rId225"/>
    <p:sldId id="470" r:id="rId226"/>
    <p:sldId id="471" r:id="rId227"/>
    <p:sldId id="472" r:id="rId228"/>
    <p:sldId id="473" r:id="rId229"/>
    <p:sldId id="474" r:id="rId230"/>
    <p:sldId id="475" r:id="rId231"/>
    <p:sldId id="476" r:id="rId232"/>
    <p:sldId id="477" r:id="rId233"/>
    <p:sldId id="478" r:id="rId234"/>
    <p:sldId id="479" r:id="rId235"/>
    <p:sldId id="480" r:id="rId236"/>
    <p:sldId id="481" r:id="rId237"/>
    <p:sldId id="482" r:id="rId238"/>
    <p:sldId id="483" r:id="rId239"/>
    <p:sldId id="484" r:id="rId240"/>
    <p:sldId id="485" r:id="rId241"/>
    <p:sldId id="486" r:id="rId242"/>
    <p:sldId id="487" r:id="rId243"/>
    <p:sldId id="488" r:id="rId244"/>
    <p:sldId id="489" r:id="rId245"/>
    <p:sldId id="490" r:id="rId246"/>
    <p:sldId id="491" r:id="rId247"/>
    <p:sldId id="492" r:id="rId248"/>
    <p:sldId id="493" r:id="rId249"/>
    <p:sldId id="494" r:id="rId250"/>
    <p:sldId id="495" r:id="rId251"/>
    <p:sldId id="496" r:id="rId252"/>
    <p:sldId id="497" r:id="rId253"/>
    <p:sldId id="498" r:id="rId254"/>
    <p:sldId id="499" r:id="rId255"/>
    <p:sldId id="500" r:id="rId256"/>
    <p:sldId id="501" r:id="rId257"/>
    <p:sldId id="502" r:id="rId258"/>
    <p:sldId id="503" r:id="rId259"/>
    <p:sldId id="504" r:id="rId260"/>
    <p:sldId id="505" r:id="rId261"/>
    <p:sldId id="506" r:id="rId262"/>
    <p:sldId id="507" r:id="rId263"/>
    <p:sldId id="508" r:id="rId264"/>
    <p:sldId id="509" r:id="rId265"/>
    <p:sldId id="510" r:id="rId266"/>
    <p:sldId id="511" r:id="rId267"/>
    <p:sldId id="512" r:id="rId268"/>
    <p:sldId id="513" r:id="rId269"/>
    <p:sldId id="514" r:id="rId270"/>
    <p:sldId id="515" r:id="rId271"/>
    <p:sldId id="516" r:id="rId272"/>
  </p:sldIdLst>
  <p:sldSz cx="10693400" cy="7556500"/>
  <p:notesSz cx="10693400" cy="75565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022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0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63" Type="http://schemas.openxmlformats.org/officeDocument/2006/relationships/slide" Target="slides/slide56.xml"/><Relationship Id="rId84" Type="http://schemas.openxmlformats.org/officeDocument/2006/relationships/slide" Target="slides/slide77.xml"/><Relationship Id="rId138" Type="http://schemas.openxmlformats.org/officeDocument/2006/relationships/slide" Target="slides/slide131.xml"/><Relationship Id="rId159" Type="http://schemas.openxmlformats.org/officeDocument/2006/relationships/slide" Target="slides/slide152.xml"/><Relationship Id="rId170" Type="http://schemas.openxmlformats.org/officeDocument/2006/relationships/slide" Target="slides/slide163.xml"/><Relationship Id="rId191" Type="http://schemas.openxmlformats.org/officeDocument/2006/relationships/slide" Target="slides/slide184.xml"/><Relationship Id="rId205" Type="http://schemas.openxmlformats.org/officeDocument/2006/relationships/slide" Target="slides/slide198.xml"/><Relationship Id="rId226" Type="http://schemas.openxmlformats.org/officeDocument/2006/relationships/slide" Target="slides/slide219.xml"/><Relationship Id="rId247" Type="http://schemas.openxmlformats.org/officeDocument/2006/relationships/slide" Target="slides/slide240.xml"/><Relationship Id="rId107" Type="http://schemas.openxmlformats.org/officeDocument/2006/relationships/slide" Target="slides/slide100.xml"/><Relationship Id="rId268" Type="http://schemas.openxmlformats.org/officeDocument/2006/relationships/slide" Target="slides/slide261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53" Type="http://schemas.openxmlformats.org/officeDocument/2006/relationships/slide" Target="slides/slide46.xml"/><Relationship Id="rId74" Type="http://schemas.openxmlformats.org/officeDocument/2006/relationships/slide" Target="slides/slide67.xml"/><Relationship Id="rId128" Type="http://schemas.openxmlformats.org/officeDocument/2006/relationships/slide" Target="slides/slide121.xml"/><Relationship Id="rId149" Type="http://schemas.openxmlformats.org/officeDocument/2006/relationships/slide" Target="slides/slide142.xml"/><Relationship Id="rId5" Type="http://schemas.openxmlformats.org/officeDocument/2006/relationships/slideMaster" Target="slideMasters/slideMaster5.xml"/><Relationship Id="rId95" Type="http://schemas.openxmlformats.org/officeDocument/2006/relationships/slide" Target="slides/slide88.xml"/><Relationship Id="rId160" Type="http://schemas.openxmlformats.org/officeDocument/2006/relationships/slide" Target="slides/slide153.xml"/><Relationship Id="rId181" Type="http://schemas.openxmlformats.org/officeDocument/2006/relationships/slide" Target="slides/slide174.xml"/><Relationship Id="rId216" Type="http://schemas.openxmlformats.org/officeDocument/2006/relationships/slide" Target="slides/slide209.xml"/><Relationship Id="rId237" Type="http://schemas.openxmlformats.org/officeDocument/2006/relationships/slide" Target="slides/slide230.xml"/><Relationship Id="rId258" Type="http://schemas.openxmlformats.org/officeDocument/2006/relationships/slide" Target="slides/slide251.xml"/><Relationship Id="rId22" Type="http://schemas.openxmlformats.org/officeDocument/2006/relationships/slide" Target="slides/slide15.xml"/><Relationship Id="rId43" Type="http://schemas.openxmlformats.org/officeDocument/2006/relationships/slide" Target="slides/slide36.xml"/><Relationship Id="rId64" Type="http://schemas.openxmlformats.org/officeDocument/2006/relationships/slide" Target="slides/slide57.xml"/><Relationship Id="rId118" Type="http://schemas.openxmlformats.org/officeDocument/2006/relationships/slide" Target="slides/slide111.xml"/><Relationship Id="rId139" Type="http://schemas.openxmlformats.org/officeDocument/2006/relationships/slide" Target="slides/slide132.xml"/><Relationship Id="rId85" Type="http://schemas.openxmlformats.org/officeDocument/2006/relationships/slide" Target="slides/slide78.xml"/><Relationship Id="rId150" Type="http://schemas.openxmlformats.org/officeDocument/2006/relationships/slide" Target="slides/slide143.xml"/><Relationship Id="rId171" Type="http://schemas.openxmlformats.org/officeDocument/2006/relationships/slide" Target="slides/slide164.xml"/><Relationship Id="rId192" Type="http://schemas.openxmlformats.org/officeDocument/2006/relationships/slide" Target="slides/slide185.xml"/><Relationship Id="rId206" Type="http://schemas.openxmlformats.org/officeDocument/2006/relationships/slide" Target="slides/slide199.xml"/><Relationship Id="rId227" Type="http://schemas.openxmlformats.org/officeDocument/2006/relationships/slide" Target="slides/slide220.xml"/><Relationship Id="rId248" Type="http://schemas.openxmlformats.org/officeDocument/2006/relationships/slide" Target="slides/slide241.xml"/><Relationship Id="rId269" Type="http://schemas.openxmlformats.org/officeDocument/2006/relationships/slide" Target="slides/slide262.xml"/><Relationship Id="rId12" Type="http://schemas.openxmlformats.org/officeDocument/2006/relationships/slide" Target="slides/slide5.xml"/><Relationship Id="rId33" Type="http://schemas.openxmlformats.org/officeDocument/2006/relationships/slide" Target="slides/slide26.xml"/><Relationship Id="rId108" Type="http://schemas.openxmlformats.org/officeDocument/2006/relationships/slide" Target="slides/slide101.xml"/><Relationship Id="rId129" Type="http://schemas.openxmlformats.org/officeDocument/2006/relationships/slide" Target="slides/slide122.xml"/><Relationship Id="rId54" Type="http://schemas.openxmlformats.org/officeDocument/2006/relationships/slide" Target="slides/slide47.xml"/><Relationship Id="rId75" Type="http://schemas.openxmlformats.org/officeDocument/2006/relationships/slide" Target="slides/slide68.xml"/><Relationship Id="rId96" Type="http://schemas.openxmlformats.org/officeDocument/2006/relationships/slide" Target="slides/slide89.xml"/><Relationship Id="rId140" Type="http://schemas.openxmlformats.org/officeDocument/2006/relationships/slide" Target="slides/slide133.xml"/><Relationship Id="rId161" Type="http://schemas.openxmlformats.org/officeDocument/2006/relationships/slide" Target="slides/slide154.xml"/><Relationship Id="rId182" Type="http://schemas.openxmlformats.org/officeDocument/2006/relationships/slide" Target="slides/slide175.xml"/><Relationship Id="rId217" Type="http://schemas.openxmlformats.org/officeDocument/2006/relationships/slide" Target="slides/slide210.xml"/><Relationship Id="rId6" Type="http://schemas.openxmlformats.org/officeDocument/2006/relationships/slideMaster" Target="slideMasters/slideMaster6.xml"/><Relationship Id="rId238" Type="http://schemas.openxmlformats.org/officeDocument/2006/relationships/slide" Target="slides/slide231.xml"/><Relationship Id="rId259" Type="http://schemas.openxmlformats.org/officeDocument/2006/relationships/slide" Target="slides/slide252.xml"/><Relationship Id="rId23" Type="http://schemas.openxmlformats.org/officeDocument/2006/relationships/slide" Target="slides/slide16.xml"/><Relationship Id="rId119" Type="http://schemas.openxmlformats.org/officeDocument/2006/relationships/slide" Target="slides/slide112.xml"/><Relationship Id="rId270" Type="http://schemas.openxmlformats.org/officeDocument/2006/relationships/slide" Target="slides/slide263.xml"/><Relationship Id="rId44" Type="http://schemas.openxmlformats.org/officeDocument/2006/relationships/slide" Target="slides/slide37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81" Type="http://schemas.openxmlformats.org/officeDocument/2006/relationships/slide" Target="slides/slide74.xml"/><Relationship Id="rId86" Type="http://schemas.openxmlformats.org/officeDocument/2006/relationships/slide" Target="slides/slide79.xml"/><Relationship Id="rId130" Type="http://schemas.openxmlformats.org/officeDocument/2006/relationships/slide" Target="slides/slide123.xml"/><Relationship Id="rId135" Type="http://schemas.openxmlformats.org/officeDocument/2006/relationships/slide" Target="slides/slide128.xml"/><Relationship Id="rId151" Type="http://schemas.openxmlformats.org/officeDocument/2006/relationships/slide" Target="slides/slide144.xml"/><Relationship Id="rId156" Type="http://schemas.openxmlformats.org/officeDocument/2006/relationships/slide" Target="slides/slide149.xml"/><Relationship Id="rId177" Type="http://schemas.openxmlformats.org/officeDocument/2006/relationships/slide" Target="slides/slide170.xml"/><Relationship Id="rId198" Type="http://schemas.openxmlformats.org/officeDocument/2006/relationships/slide" Target="slides/slide191.xml"/><Relationship Id="rId172" Type="http://schemas.openxmlformats.org/officeDocument/2006/relationships/slide" Target="slides/slide165.xml"/><Relationship Id="rId193" Type="http://schemas.openxmlformats.org/officeDocument/2006/relationships/slide" Target="slides/slide186.xml"/><Relationship Id="rId202" Type="http://schemas.openxmlformats.org/officeDocument/2006/relationships/slide" Target="slides/slide195.xml"/><Relationship Id="rId207" Type="http://schemas.openxmlformats.org/officeDocument/2006/relationships/slide" Target="slides/slide200.xml"/><Relationship Id="rId223" Type="http://schemas.openxmlformats.org/officeDocument/2006/relationships/slide" Target="slides/slide216.xml"/><Relationship Id="rId228" Type="http://schemas.openxmlformats.org/officeDocument/2006/relationships/slide" Target="slides/slide221.xml"/><Relationship Id="rId244" Type="http://schemas.openxmlformats.org/officeDocument/2006/relationships/slide" Target="slides/slide237.xml"/><Relationship Id="rId249" Type="http://schemas.openxmlformats.org/officeDocument/2006/relationships/slide" Target="slides/slide24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109" Type="http://schemas.openxmlformats.org/officeDocument/2006/relationships/slide" Target="slides/slide102.xml"/><Relationship Id="rId260" Type="http://schemas.openxmlformats.org/officeDocument/2006/relationships/slide" Target="slides/slide253.xml"/><Relationship Id="rId265" Type="http://schemas.openxmlformats.org/officeDocument/2006/relationships/slide" Target="slides/slide258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slide" Target="slides/slide69.xml"/><Relationship Id="rId97" Type="http://schemas.openxmlformats.org/officeDocument/2006/relationships/slide" Target="slides/slide90.xml"/><Relationship Id="rId104" Type="http://schemas.openxmlformats.org/officeDocument/2006/relationships/slide" Target="slides/slide97.xml"/><Relationship Id="rId120" Type="http://schemas.openxmlformats.org/officeDocument/2006/relationships/slide" Target="slides/slide113.xml"/><Relationship Id="rId125" Type="http://schemas.openxmlformats.org/officeDocument/2006/relationships/slide" Target="slides/slide118.xml"/><Relationship Id="rId141" Type="http://schemas.openxmlformats.org/officeDocument/2006/relationships/slide" Target="slides/slide134.xml"/><Relationship Id="rId146" Type="http://schemas.openxmlformats.org/officeDocument/2006/relationships/slide" Target="slides/slide139.xml"/><Relationship Id="rId167" Type="http://schemas.openxmlformats.org/officeDocument/2006/relationships/slide" Target="slides/slide160.xml"/><Relationship Id="rId188" Type="http://schemas.openxmlformats.org/officeDocument/2006/relationships/slide" Target="slides/slide181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4.xml"/><Relationship Id="rId92" Type="http://schemas.openxmlformats.org/officeDocument/2006/relationships/slide" Target="slides/slide85.xml"/><Relationship Id="rId162" Type="http://schemas.openxmlformats.org/officeDocument/2006/relationships/slide" Target="slides/slide155.xml"/><Relationship Id="rId183" Type="http://schemas.openxmlformats.org/officeDocument/2006/relationships/slide" Target="slides/slide176.xml"/><Relationship Id="rId213" Type="http://schemas.openxmlformats.org/officeDocument/2006/relationships/slide" Target="slides/slide206.xml"/><Relationship Id="rId218" Type="http://schemas.openxmlformats.org/officeDocument/2006/relationships/slide" Target="slides/slide211.xml"/><Relationship Id="rId234" Type="http://schemas.openxmlformats.org/officeDocument/2006/relationships/slide" Target="slides/slide227.xml"/><Relationship Id="rId239" Type="http://schemas.openxmlformats.org/officeDocument/2006/relationships/slide" Target="slides/slide232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50" Type="http://schemas.openxmlformats.org/officeDocument/2006/relationships/slide" Target="slides/slide243.xml"/><Relationship Id="rId255" Type="http://schemas.openxmlformats.org/officeDocument/2006/relationships/slide" Target="slides/slide248.xml"/><Relationship Id="rId271" Type="http://schemas.openxmlformats.org/officeDocument/2006/relationships/slide" Target="slides/slide264.xml"/><Relationship Id="rId276" Type="http://schemas.openxmlformats.org/officeDocument/2006/relationships/tableStyles" Target="tableStyles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slide" Target="slides/slide59.xml"/><Relationship Id="rId87" Type="http://schemas.openxmlformats.org/officeDocument/2006/relationships/slide" Target="slides/slide80.xml"/><Relationship Id="rId110" Type="http://schemas.openxmlformats.org/officeDocument/2006/relationships/slide" Target="slides/slide103.xml"/><Relationship Id="rId115" Type="http://schemas.openxmlformats.org/officeDocument/2006/relationships/slide" Target="slides/slide108.xml"/><Relationship Id="rId131" Type="http://schemas.openxmlformats.org/officeDocument/2006/relationships/slide" Target="slides/slide124.xml"/><Relationship Id="rId136" Type="http://schemas.openxmlformats.org/officeDocument/2006/relationships/slide" Target="slides/slide129.xml"/><Relationship Id="rId157" Type="http://schemas.openxmlformats.org/officeDocument/2006/relationships/slide" Target="slides/slide150.xml"/><Relationship Id="rId178" Type="http://schemas.openxmlformats.org/officeDocument/2006/relationships/slide" Target="slides/slide171.xml"/><Relationship Id="rId61" Type="http://schemas.openxmlformats.org/officeDocument/2006/relationships/slide" Target="slides/slide54.xml"/><Relationship Id="rId82" Type="http://schemas.openxmlformats.org/officeDocument/2006/relationships/slide" Target="slides/slide75.xml"/><Relationship Id="rId152" Type="http://schemas.openxmlformats.org/officeDocument/2006/relationships/slide" Target="slides/slide145.xml"/><Relationship Id="rId173" Type="http://schemas.openxmlformats.org/officeDocument/2006/relationships/slide" Target="slides/slide166.xml"/><Relationship Id="rId194" Type="http://schemas.openxmlformats.org/officeDocument/2006/relationships/slide" Target="slides/slide187.xml"/><Relationship Id="rId199" Type="http://schemas.openxmlformats.org/officeDocument/2006/relationships/slide" Target="slides/slide192.xml"/><Relationship Id="rId203" Type="http://schemas.openxmlformats.org/officeDocument/2006/relationships/slide" Target="slides/slide196.xml"/><Relationship Id="rId208" Type="http://schemas.openxmlformats.org/officeDocument/2006/relationships/slide" Target="slides/slide201.xml"/><Relationship Id="rId229" Type="http://schemas.openxmlformats.org/officeDocument/2006/relationships/slide" Target="slides/slide222.xml"/><Relationship Id="rId19" Type="http://schemas.openxmlformats.org/officeDocument/2006/relationships/slide" Target="slides/slide12.xml"/><Relationship Id="rId224" Type="http://schemas.openxmlformats.org/officeDocument/2006/relationships/slide" Target="slides/slide217.xml"/><Relationship Id="rId240" Type="http://schemas.openxmlformats.org/officeDocument/2006/relationships/slide" Target="slides/slide233.xml"/><Relationship Id="rId245" Type="http://schemas.openxmlformats.org/officeDocument/2006/relationships/slide" Target="slides/slide238.xml"/><Relationship Id="rId261" Type="http://schemas.openxmlformats.org/officeDocument/2006/relationships/slide" Target="slides/slide254.xml"/><Relationship Id="rId266" Type="http://schemas.openxmlformats.org/officeDocument/2006/relationships/slide" Target="slides/slide259.xml"/><Relationship Id="rId14" Type="http://schemas.openxmlformats.org/officeDocument/2006/relationships/slide" Target="slides/slide7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56" Type="http://schemas.openxmlformats.org/officeDocument/2006/relationships/slide" Target="slides/slide49.xml"/><Relationship Id="rId77" Type="http://schemas.openxmlformats.org/officeDocument/2006/relationships/slide" Target="slides/slide70.xml"/><Relationship Id="rId100" Type="http://schemas.openxmlformats.org/officeDocument/2006/relationships/slide" Target="slides/slide93.xml"/><Relationship Id="rId105" Type="http://schemas.openxmlformats.org/officeDocument/2006/relationships/slide" Target="slides/slide98.xml"/><Relationship Id="rId126" Type="http://schemas.openxmlformats.org/officeDocument/2006/relationships/slide" Target="slides/slide119.xml"/><Relationship Id="rId147" Type="http://schemas.openxmlformats.org/officeDocument/2006/relationships/slide" Target="slides/slide140.xml"/><Relationship Id="rId168" Type="http://schemas.openxmlformats.org/officeDocument/2006/relationships/slide" Target="slides/slide161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93" Type="http://schemas.openxmlformats.org/officeDocument/2006/relationships/slide" Target="slides/slide86.xml"/><Relationship Id="rId98" Type="http://schemas.openxmlformats.org/officeDocument/2006/relationships/slide" Target="slides/slide91.xml"/><Relationship Id="rId121" Type="http://schemas.openxmlformats.org/officeDocument/2006/relationships/slide" Target="slides/slide114.xml"/><Relationship Id="rId142" Type="http://schemas.openxmlformats.org/officeDocument/2006/relationships/slide" Target="slides/slide135.xml"/><Relationship Id="rId163" Type="http://schemas.openxmlformats.org/officeDocument/2006/relationships/slide" Target="slides/slide156.xml"/><Relationship Id="rId184" Type="http://schemas.openxmlformats.org/officeDocument/2006/relationships/slide" Target="slides/slide177.xml"/><Relationship Id="rId189" Type="http://schemas.openxmlformats.org/officeDocument/2006/relationships/slide" Target="slides/slide182.xml"/><Relationship Id="rId219" Type="http://schemas.openxmlformats.org/officeDocument/2006/relationships/slide" Target="slides/slide212.xml"/><Relationship Id="rId3" Type="http://schemas.openxmlformats.org/officeDocument/2006/relationships/slideMaster" Target="slideMasters/slideMaster3.xml"/><Relationship Id="rId214" Type="http://schemas.openxmlformats.org/officeDocument/2006/relationships/slide" Target="slides/slide207.xml"/><Relationship Id="rId230" Type="http://schemas.openxmlformats.org/officeDocument/2006/relationships/slide" Target="slides/slide223.xml"/><Relationship Id="rId235" Type="http://schemas.openxmlformats.org/officeDocument/2006/relationships/slide" Target="slides/slide228.xml"/><Relationship Id="rId251" Type="http://schemas.openxmlformats.org/officeDocument/2006/relationships/slide" Target="slides/slide244.xml"/><Relationship Id="rId256" Type="http://schemas.openxmlformats.org/officeDocument/2006/relationships/slide" Target="slides/slide249.xml"/><Relationship Id="rId25" Type="http://schemas.openxmlformats.org/officeDocument/2006/relationships/slide" Target="slides/slide18.xml"/><Relationship Id="rId46" Type="http://schemas.openxmlformats.org/officeDocument/2006/relationships/slide" Target="slides/slide39.xml"/><Relationship Id="rId67" Type="http://schemas.openxmlformats.org/officeDocument/2006/relationships/slide" Target="slides/slide60.xml"/><Relationship Id="rId116" Type="http://schemas.openxmlformats.org/officeDocument/2006/relationships/slide" Target="slides/slide109.xml"/><Relationship Id="rId137" Type="http://schemas.openxmlformats.org/officeDocument/2006/relationships/slide" Target="slides/slide130.xml"/><Relationship Id="rId158" Type="http://schemas.openxmlformats.org/officeDocument/2006/relationships/slide" Target="slides/slide151.xml"/><Relationship Id="rId272" Type="http://schemas.openxmlformats.org/officeDocument/2006/relationships/slide" Target="slides/slide265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62" Type="http://schemas.openxmlformats.org/officeDocument/2006/relationships/slide" Target="slides/slide55.xml"/><Relationship Id="rId83" Type="http://schemas.openxmlformats.org/officeDocument/2006/relationships/slide" Target="slides/slide76.xml"/><Relationship Id="rId88" Type="http://schemas.openxmlformats.org/officeDocument/2006/relationships/slide" Target="slides/slide81.xml"/><Relationship Id="rId111" Type="http://schemas.openxmlformats.org/officeDocument/2006/relationships/slide" Target="slides/slide104.xml"/><Relationship Id="rId132" Type="http://schemas.openxmlformats.org/officeDocument/2006/relationships/slide" Target="slides/slide125.xml"/><Relationship Id="rId153" Type="http://schemas.openxmlformats.org/officeDocument/2006/relationships/slide" Target="slides/slide146.xml"/><Relationship Id="rId174" Type="http://schemas.openxmlformats.org/officeDocument/2006/relationships/slide" Target="slides/slide167.xml"/><Relationship Id="rId179" Type="http://schemas.openxmlformats.org/officeDocument/2006/relationships/slide" Target="slides/slide172.xml"/><Relationship Id="rId195" Type="http://schemas.openxmlformats.org/officeDocument/2006/relationships/slide" Target="slides/slide188.xml"/><Relationship Id="rId209" Type="http://schemas.openxmlformats.org/officeDocument/2006/relationships/slide" Target="slides/slide202.xml"/><Relationship Id="rId190" Type="http://schemas.openxmlformats.org/officeDocument/2006/relationships/slide" Target="slides/slide183.xml"/><Relationship Id="rId204" Type="http://schemas.openxmlformats.org/officeDocument/2006/relationships/slide" Target="slides/slide197.xml"/><Relationship Id="rId220" Type="http://schemas.openxmlformats.org/officeDocument/2006/relationships/slide" Target="slides/slide213.xml"/><Relationship Id="rId225" Type="http://schemas.openxmlformats.org/officeDocument/2006/relationships/slide" Target="slides/slide218.xml"/><Relationship Id="rId241" Type="http://schemas.openxmlformats.org/officeDocument/2006/relationships/slide" Target="slides/slide234.xml"/><Relationship Id="rId246" Type="http://schemas.openxmlformats.org/officeDocument/2006/relationships/slide" Target="slides/slide239.xml"/><Relationship Id="rId267" Type="http://schemas.openxmlformats.org/officeDocument/2006/relationships/slide" Target="slides/slide260.xml"/><Relationship Id="rId15" Type="http://schemas.openxmlformats.org/officeDocument/2006/relationships/slide" Target="slides/slide8.xml"/><Relationship Id="rId36" Type="http://schemas.openxmlformats.org/officeDocument/2006/relationships/slide" Target="slides/slide29.xml"/><Relationship Id="rId57" Type="http://schemas.openxmlformats.org/officeDocument/2006/relationships/slide" Target="slides/slide50.xml"/><Relationship Id="rId106" Type="http://schemas.openxmlformats.org/officeDocument/2006/relationships/slide" Target="slides/slide99.xml"/><Relationship Id="rId127" Type="http://schemas.openxmlformats.org/officeDocument/2006/relationships/slide" Target="slides/slide120.xml"/><Relationship Id="rId262" Type="http://schemas.openxmlformats.org/officeDocument/2006/relationships/slide" Target="slides/slide255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52" Type="http://schemas.openxmlformats.org/officeDocument/2006/relationships/slide" Target="slides/slide45.xml"/><Relationship Id="rId73" Type="http://schemas.openxmlformats.org/officeDocument/2006/relationships/slide" Target="slides/slide66.xml"/><Relationship Id="rId78" Type="http://schemas.openxmlformats.org/officeDocument/2006/relationships/slide" Target="slides/slide71.xml"/><Relationship Id="rId94" Type="http://schemas.openxmlformats.org/officeDocument/2006/relationships/slide" Target="slides/slide87.xml"/><Relationship Id="rId99" Type="http://schemas.openxmlformats.org/officeDocument/2006/relationships/slide" Target="slides/slide92.xml"/><Relationship Id="rId101" Type="http://schemas.openxmlformats.org/officeDocument/2006/relationships/slide" Target="slides/slide94.xml"/><Relationship Id="rId122" Type="http://schemas.openxmlformats.org/officeDocument/2006/relationships/slide" Target="slides/slide115.xml"/><Relationship Id="rId143" Type="http://schemas.openxmlformats.org/officeDocument/2006/relationships/slide" Target="slides/slide136.xml"/><Relationship Id="rId148" Type="http://schemas.openxmlformats.org/officeDocument/2006/relationships/slide" Target="slides/slide141.xml"/><Relationship Id="rId164" Type="http://schemas.openxmlformats.org/officeDocument/2006/relationships/slide" Target="slides/slide157.xml"/><Relationship Id="rId169" Type="http://schemas.openxmlformats.org/officeDocument/2006/relationships/slide" Target="slides/slide162.xml"/><Relationship Id="rId185" Type="http://schemas.openxmlformats.org/officeDocument/2006/relationships/slide" Target="slides/slide178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80" Type="http://schemas.openxmlformats.org/officeDocument/2006/relationships/slide" Target="slides/slide173.xml"/><Relationship Id="rId210" Type="http://schemas.openxmlformats.org/officeDocument/2006/relationships/slide" Target="slides/slide203.xml"/><Relationship Id="rId215" Type="http://schemas.openxmlformats.org/officeDocument/2006/relationships/slide" Target="slides/slide208.xml"/><Relationship Id="rId236" Type="http://schemas.openxmlformats.org/officeDocument/2006/relationships/slide" Target="slides/slide229.xml"/><Relationship Id="rId257" Type="http://schemas.openxmlformats.org/officeDocument/2006/relationships/slide" Target="slides/slide250.xml"/><Relationship Id="rId26" Type="http://schemas.openxmlformats.org/officeDocument/2006/relationships/slide" Target="slides/slide19.xml"/><Relationship Id="rId231" Type="http://schemas.openxmlformats.org/officeDocument/2006/relationships/slide" Target="slides/slide224.xml"/><Relationship Id="rId252" Type="http://schemas.openxmlformats.org/officeDocument/2006/relationships/slide" Target="slides/slide245.xml"/><Relationship Id="rId273" Type="http://schemas.openxmlformats.org/officeDocument/2006/relationships/presProps" Target="presProps.xml"/><Relationship Id="rId47" Type="http://schemas.openxmlformats.org/officeDocument/2006/relationships/slide" Target="slides/slide40.xml"/><Relationship Id="rId68" Type="http://schemas.openxmlformats.org/officeDocument/2006/relationships/slide" Target="slides/slide61.xml"/><Relationship Id="rId89" Type="http://schemas.openxmlformats.org/officeDocument/2006/relationships/slide" Target="slides/slide82.xml"/><Relationship Id="rId112" Type="http://schemas.openxmlformats.org/officeDocument/2006/relationships/slide" Target="slides/slide105.xml"/><Relationship Id="rId133" Type="http://schemas.openxmlformats.org/officeDocument/2006/relationships/slide" Target="slides/slide126.xml"/><Relationship Id="rId154" Type="http://schemas.openxmlformats.org/officeDocument/2006/relationships/slide" Target="slides/slide147.xml"/><Relationship Id="rId175" Type="http://schemas.openxmlformats.org/officeDocument/2006/relationships/slide" Target="slides/slide168.xml"/><Relationship Id="rId196" Type="http://schemas.openxmlformats.org/officeDocument/2006/relationships/slide" Target="slides/slide189.xml"/><Relationship Id="rId200" Type="http://schemas.openxmlformats.org/officeDocument/2006/relationships/slide" Target="slides/slide193.xml"/><Relationship Id="rId16" Type="http://schemas.openxmlformats.org/officeDocument/2006/relationships/slide" Target="slides/slide9.xml"/><Relationship Id="rId221" Type="http://schemas.openxmlformats.org/officeDocument/2006/relationships/slide" Target="slides/slide214.xml"/><Relationship Id="rId242" Type="http://schemas.openxmlformats.org/officeDocument/2006/relationships/slide" Target="slides/slide235.xml"/><Relationship Id="rId263" Type="http://schemas.openxmlformats.org/officeDocument/2006/relationships/slide" Target="slides/slide256.xml"/><Relationship Id="rId37" Type="http://schemas.openxmlformats.org/officeDocument/2006/relationships/slide" Target="slides/slide30.xml"/><Relationship Id="rId58" Type="http://schemas.openxmlformats.org/officeDocument/2006/relationships/slide" Target="slides/slide51.xml"/><Relationship Id="rId79" Type="http://schemas.openxmlformats.org/officeDocument/2006/relationships/slide" Target="slides/slide72.xml"/><Relationship Id="rId102" Type="http://schemas.openxmlformats.org/officeDocument/2006/relationships/slide" Target="slides/slide95.xml"/><Relationship Id="rId123" Type="http://schemas.openxmlformats.org/officeDocument/2006/relationships/slide" Target="slides/slide116.xml"/><Relationship Id="rId144" Type="http://schemas.openxmlformats.org/officeDocument/2006/relationships/slide" Target="slides/slide137.xml"/><Relationship Id="rId90" Type="http://schemas.openxmlformats.org/officeDocument/2006/relationships/slide" Target="slides/slide83.xml"/><Relationship Id="rId165" Type="http://schemas.openxmlformats.org/officeDocument/2006/relationships/slide" Target="slides/slide158.xml"/><Relationship Id="rId186" Type="http://schemas.openxmlformats.org/officeDocument/2006/relationships/slide" Target="slides/slide179.xml"/><Relationship Id="rId211" Type="http://schemas.openxmlformats.org/officeDocument/2006/relationships/slide" Target="slides/slide204.xml"/><Relationship Id="rId232" Type="http://schemas.openxmlformats.org/officeDocument/2006/relationships/slide" Target="slides/slide225.xml"/><Relationship Id="rId253" Type="http://schemas.openxmlformats.org/officeDocument/2006/relationships/slide" Target="slides/slide246.xml"/><Relationship Id="rId274" Type="http://schemas.openxmlformats.org/officeDocument/2006/relationships/viewProps" Target="viewProps.xml"/><Relationship Id="rId27" Type="http://schemas.openxmlformats.org/officeDocument/2006/relationships/slide" Target="slides/slide20.xml"/><Relationship Id="rId48" Type="http://schemas.openxmlformats.org/officeDocument/2006/relationships/slide" Target="slides/slide41.xml"/><Relationship Id="rId69" Type="http://schemas.openxmlformats.org/officeDocument/2006/relationships/slide" Target="slides/slide62.xml"/><Relationship Id="rId113" Type="http://schemas.openxmlformats.org/officeDocument/2006/relationships/slide" Target="slides/slide106.xml"/><Relationship Id="rId134" Type="http://schemas.openxmlformats.org/officeDocument/2006/relationships/slide" Target="slides/slide127.xml"/><Relationship Id="rId80" Type="http://schemas.openxmlformats.org/officeDocument/2006/relationships/slide" Target="slides/slide73.xml"/><Relationship Id="rId155" Type="http://schemas.openxmlformats.org/officeDocument/2006/relationships/slide" Target="slides/slide148.xml"/><Relationship Id="rId176" Type="http://schemas.openxmlformats.org/officeDocument/2006/relationships/slide" Target="slides/slide169.xml"/><Relationship Id="rId197" Type="http://schemas.openxmlformats.org/officeDocument/2006/relationships/slide" Target="slides/slide190.xml"/><Relationship Id="rId201" Type="http://schemas.openxmlformats.org/officeDocument/2006/relationships/slide" Target="slides/slide194.xml"/><Relationship Id="rId222" Type="http://schemas.openxmlformats.org/officeDocument/2006/relationships/slide" Target="slides/slide215.xml"/><Relationship Id="rId243" Type="http://schemas.openxmlformats.org/officeDocument/2006/relationships/slide" Target="slides/slide236.xml"/><Relationship Id="rId264" Type="http://schemas.openxmlformats.org/officeDocument/2006/relationships/slide" Target="slides/slide257.xml"/><Relationship Id="rId17" Type="http://schemas.openxmlformats.org/officeDocument/2006/relationships/slide" Target="slides/slide10.xml"/><Relationship Id="rId38" Type="http://schemas.openxmlformats.org/officeDocument/2006/relationships/slide" Target="slides/slide31.xml"/><Relationship Id="rId59" Type="http://schemas.openxmlformats.org/officeDocument/2006/relationships/slide" Target="slides/slide52.xml"/><Relationship Id="rId103" Type="http://schemas.openxmlformats.org/officeDocument/2006/relationships/slide" Target="slides/slide96.xml"/><Relationship Id="rId124" Type="http://schemas.openxmlformats.org/officeDocument/2006/relationships/slide" Target="slides/slide117.xml"/><Relationship Id="rId70" Type="http://schemas.openxmlformats.org/officeDocument/2006/relationships/slide" Target="slides/slide63.xml"/><Relationship Id="rId91" Type="http://schemas.openxmlformats.org/officeDocument/2006/relationships/slide" Target="slides/slide84.xml"/><Relationship Id="rId145" Type="http://schemas.openxmlformats.org/officeDocument/2006/relationships/slide" Target="slides/slide138.xml"/><Relationship Id="rId166" Type="http://schemas.openxmlformats.org/officeDocument/2006/relationships/slide" Target="slides/slide159.xml"/><Relationship Id="rId187" Type="http://schemas.openxmlformats.org/officeDocument/2006/relationships/slide" Target="slides/slide180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05.xml"/><Relationship Id="rId233" Type="http://schemas.openxmlformats.org/officeDocument/2006/relationships/slide" Target="slides/slide226.xml"/><Relationship Id="rId254" Type="http://schemas.openxmlformats.org/officeDocument/2006/relationships/slide" Target="slides/slide247.xml"/><Relationship Id="rId28" Type="http://schemas.openxmlformats.org/officeDocument/2006/relationships/slide" Target="slides/slide21.xml"/><Relationship Id="rId49" Type="http://schemas.openxmlformats.org/officeDocument/2006/relationships/slide" Target="slides/slide42.xml"/><Relationship Id="rId114" Type="http://schemas.openxmlformats.org/officeDocument/2006/relationships/slide" Target="slides/slide107.xml"/><Relationship Id="rId27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54"/>
            <a:ext cx="9089390" cy="6534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79"/>
            <a:ext cx="748537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15669" y="2385219"/>
            <a:ext cx="8863330" cy="114935"/>
          </a:xfrm>
          <a:custGeom>
            <a:avLst/>
            <a:gdLst/>
            <a:ahLst/>
            <a:cxnLst/>
            <a:rect l="l" t="t" r="r" b="b"/>
            <a:pathLst>
              <a:path w="8863330" h="114935">
                <a:moveTo>
                  <a:pt x="8863052" y="114414"/>
                </a:moveTo>
                <a:lnTo>
                  <a:pt x="8863052" y="0"/>
                </a:lnTo>
                <a:lnTo>
                  <a:pt x="0" y="0"/>
                </a:lnTo>
                <a:lnTo>
                  <a:pt x="0" y="114414"/>
                </a:lnTo>
                <a:lnTo>
                  <a:pt x="8863052" y="114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6"/>
            <a:ext cx="465162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6"/>
            <a:ext cx="465162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2/26/2018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2/26/2018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2/26/2018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34670" y="7027584"/>
            <a:ext cx="2459482" cy="276999"/>
          </a:xfrm>
        </p:spPr>
        <p:txBody>
          <a:bodyPr/>
          <a:lstStyle/>
          <a:p>
            <a:fld id="{C0329E4D-311F-49AC-882D-B648C5504FF0}" type="datetimeFigureOut">
              <a:rPr lang="pt-BR" smtClean="0"/>
              <a:t>26/02/2018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35772" y="7027584"/>
            <a:ext cx="3421887" cy="276999"/>
          </a:xfrm>
        </p:spPr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99248" y="7027584"/>
            <a:ext cx="2459482" cy="276999"/>
          </a:xfrm>
        </p:spPr>
        <p:txBody>
          <a:bodyPr/>
          <a:lstStyle/>
          <a:p>
            <a:fld id="{8FB07F6C-0016-4895-A221-D3E20ADBC4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5817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5583" y="505072"/>
            <a:ext cx="9222232" cy="661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40"/>
            <a:ext cx="748537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930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794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58444" y="2561975"/>
            <a:ext cx="4388485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8032"/>
            <a:ext cx="465162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145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841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0381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40"/>
            <a:ext cx="748537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336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18228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5"/>
            <a:ext cx="465162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5"/>
            <a:ext cx="465162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585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343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3070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70"/>
            <a:ext cx="748537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128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9784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91220" y="2492945"/>
            <a:ext cx="3660775" cy="269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5"/>
            <a:ext cx="465162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0543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1844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8801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65"/>
            <a:ext cx="748537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81381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5516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91210" y="2492945"/>
            <a:ext cx="3660775" cy="269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5"/>
            <a:ext cx="465162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39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530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281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5" y="4231640"/>
            <a:ext cx="748537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6431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rgbClr val="FF0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0626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5"/>
            <a:ext cx="465162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15" y="1737995"/>
            <a:ext cx="465162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203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878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504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79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4684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14400" y="2061063"/>
            <a:ext cx="8863330" cy="114935"/>
          </a:xfrm>
          <a:custGeom>
            <a:avLst/>
            <a:gdLst/>
            <a:ahLst/>
            <a:cxnLst/>
            <a:rect l="l" t="t" r="r" b="b"/>
            <a:pathLst>
              <a:path w="8863330" h="114935">
                <a:moveTo>
                  <a:pt x="0" y="0"/>
                </a:moveTo>
                <a:lnTo>
                  <a:pt x="0" y="114414"/>
                </a:lnTo>
                <a:lnTo>
                  <a:pt x="8863050" y="114414"/>
                </a:lnTo>
                <a:lnTo>
                  <a:pt x="88630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9959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2479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42018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203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7429" y="2615806"/>
            <a:ext cx="7278573" cy="655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86" y="1737996"/>
            <a:ext cx="962405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46"/>
            <a:ext cx="3421887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6"/>
            <a:ext cx="2459482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2/26/2018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6"/>
            <a:ext cx="2459482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43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505" y="568989"/>
            <a:ext cx="9518421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79" y="1932332"/>
            <a:ext cx="8905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81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81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133654" y="7295566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161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37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583" y="505035"/>
            <a:ext cx="9222232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5435" y="1292281"/>
            <a:ext cx="932256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78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78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084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29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764" y="207107"/>
            <a:ext cx="935987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5514" y="1309061"/>
            <a:ext cx="8722370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74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74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74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12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19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764" y="207107"/>
            <a:ext cx="935987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5514" y="1309056"/>
            <a:ext cx="8722370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69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69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69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51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083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0219" y="144675"/>
            <a:ext cx="971296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16698" y="3627880"/>
            <a:ext cx="6860033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rgbClr val="FF0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1" y="7027551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51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890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10485" y="2283269"/>
            <a:ext cx="5472429" cy="13201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5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7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2/26/2018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518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algoritmosufjf/material" TargetMode="External"/><Relationship Id="rId2" Type="http://schemas.openxmlformats.org/officeDocument/2006/relationships/hyperlink" Target="http://www.dcc.ufmg.br/algoritmos-java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mitpress.mit.edu/algorithms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user/progdescomplicada" TargetMode="External"/><Relationship Id="rId2" Type="http://schemas.openxmlformats.org/officeDocument/2006/relationships/hyperlink" Target="https://sites.google.com/site/algoritmosturmaespecial/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8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8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7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8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8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0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7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4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9.png"/></Relationships>
</file>

<file path=ppt/slides/_rels/slide1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29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9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42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57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50.png"/><Relationship Id="rId4" Type="http://schemas.openxmlformats.org/officeDocument/2006/relationships/image" Target="../media/image60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50.png"/><Relationship Id="rId4" Type="http://schemas.openxmlformats.org/officeDocument/2006/relationships/image" Target="../media/image63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54.png"/><Relationship Id="rId4" Type="http://schemas.openxmlformats.org/officeDocument/2006/relationships/image" Target="../media/image66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50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79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41.png"/><Relationship Id="rId4" Type="http://schemas.openxmlformats.org/officeDocument/2006/relationships/image" Target="../media/image81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54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85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86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85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85.png"/><Relationship Id="rId4" Type="http://schemas.openxmlformats.org/officeDocument/2006/relationships/image" Target="../media/image56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03.png"/><Relationship Id="rId4" Type="http://schemas.openxmlformats.org/officeDocument/2006/relationships/image" Target="../media/image85.png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5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5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5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5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5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15" dirty="0"/>
              <a:t>E</a:t>
            </a:r>
            <a:r>
              <a:rPr spc="10" dirty="0"/>
              <a:t>st</a:t>
            </a:r>
            <a:r>
              <a:rPr spc="70" dirty="0"/>
              <a:t>r</a:t>
            </a:r>
            <a:r>
              <a:rPr spc="15" dirty="0"/>
              <a:t>utu</a:t>
            </a:r>
            <a:r>
              <a:rPr spc="-35" dirty="0"/>
              <a:t>r</a:t>
            </a:r>
            <a:r>
              <a:rPr spc="15" dirty="0"/>
              <a:t>as</a:t>
            </a:r>
            <a:r>
              <a:rPr spc="5" dirty="0"/>
              <a:t> </a:t>
            </a:r>
            <a:r>
              <a:rPr spc="15" dirty="0"/>
              <a:t>de</a:t>
            </a:r>
            <a:r>
              <a:rPr spc="5" dirty="0"/>
              <a:t> </a:t>
            </a:r>
            <a:r>
              <a:rPr spc="15" dirty="0" smtClean="0"/>
              <a:t>Dados</a:t>
            </a:r>
            <a:endParaRPr sz="5325" baseline="24256" dirty="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5669" y="3526841"/>
            <a:ext cx="8863330" cy="285115"/>
          </a:xfrm>
          <a:custGeom>
            <a:avLst/>
            <a:gdLst/>
            <a:ahLst/>
            <a:cxnLst/>
            <a:rect l="l" t="t" r="r" b="b"/>
            <a:pathLst>
              <a:path w="8863330" h="285114">
                <a:moveTo>
                  <a:pt x="8863052" y="284607"/>
                </a:moveTo>
                <a:lnTo>
                  <a:pt x="8863052" y="0"/>
                </a:lnTo>
                <a:lnTo>
                  <a:pt x="0" y="0"/>
                </a:lnTo>
                <a:lnTo>
                  <a:pt x="0" y="284607"/>
                </a:lnTo>
                <a:lnTo>
                  <a:pt x="8863052" y="2846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74604" y="5228285"/>
            <a:ext cx="4145279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pt-BR" sz="1700" spc="5" dirty="0" smtClean="0">
                <a:latin typeface="Arial"/>
                <a:cs typeface="Arial"/>
              </a:rPr>
              <a:t>Samuel da Costa Alves </a:t>
            </a:r>
            <a:r>
              <a:rPr lang="pt-BR" sz="1700" spc="5" dirty="0" err="1" smtClean="0">
                <a:latin typeface="Arial"/>
                <a:cs typeface="Arial"/>
              </a:rPr>
              <a:t>Basilio</a:t>
            </a:r>
            <a:endParaRPr lang="pt-BR" sz="1700" spc="5" dirty="0" smtClean="0">
              <a:latin typeface="Arial"/>
              <a:cs typeface="Arial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3258895" y="5726440"/>
            <a:ext cx="4145279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pt-BR" sz="1700" spc="5" dirty="0" smtClean="0">
                <a:latin typeface="Arial"/>
                <a:cs typeface="Arial"/>
              </a:rPr>
              <a:t>samuelbasilio@leopoldina.cefetmg.br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2005" y="349289"/>
            <a:ext cx="9089390" cy="1586864"/>
          </a:xfrm>
        </p:spPr>
        <p:txBody>
          <a:bodyPr>
            <a:normAutofit/>
          </a:bodyPr>
          <a:lstStyle/>
          <a:p>
            <a:r>
              <a:rPr lang="pt-BR" dirty="0"/>
              <a:t>Apresentação da Disciplina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534670" y="1763222"/>
            <a:ext cx="9624060" cy="5373511"/>
          </a:xfrm>
          <a:prstGeom prst="rect">
            <a:avLst/>
          </a:prstGeom>
        </p:spPr>
        <p:txBody>
          <a:bodyPr lIns="104278" tIns="52139" rIns="104278" bIns="52139">
            <a:noAutofit/>
          </a:bodyPr>
          <a:lstStyle/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spc="5" dirty="0">
                <a:latin typeface="Calibri"/>
                <a:cs typeface="Calibri"/>
              </a:rPr>
              <a:t>Ho</a:t>
            </a:r>
            <a:r>
              <a:rPr lang="pt-BR" spc="-64" dirty="0">
                <a:latin typeface="Calibri"/>
                <a:cs typeface="Calibri"/>
              </a:rPr>
              <a:t>r</a:t>
            </a:r>
            <a:r>
              <a:rPr lang="pt-BR" dirty="0" smtClean="0">
                <a:latin typeface="Calibri"/>
                <a:cs typeface="Calibri"/>
              </a:rPr>
              <a:t>á</a:t>
            </a:r>
            <a:r>
              <a:rPr lang="pt-BR" spc="-5" dirty="0">
                <a:latin typeface="Calibri"/>
                <a:cs typeface="Calibri"/>
              </a:rPr>
              <a:t>r</a:t>
            </a:r>
            <a:r>
              <a:rPr lang="pt-BR" spc="5" dirty="0">
                <a:latin typeface="Calibri"/>
                <a:cs typeface="Calibri"/>
              </a:rPr>
              <a:t>ios </a:t>
            </a:r>
            <a:r>
              <a:rPr lang="pt-BR" dirty="0" smtClean="0">
                <a:latin typeface="Calibri"/>
                <a:cs typeface="Calibri"/>
              </a:rPr>
              <a:t>: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CMA06 – Teoria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Terça 10:40 – 12:20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CMA07 – Laboratório 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Sexta 13:20 </a:t>
            </a:r>
            <a:r>
              <a:rPr lang="pt-BR" dirty="0">
                <a:latin typeface="Calibri"/>
                <a:cs typeface="Calibri"/>
              </a:rPr>
              <a:t>– </a:t>
            </a:r>
            <a:r>
              <a:rPr lang="pt-BR" dirty="0" smtClean="0">
                <a:latin typeface="Calibri"/>
                <a:cs typeface="Calibri"/>
              </a:rPr>
              <a:t>15:00</a:t>
            </a:r>
            <a:r>
              <a:rPr lang="pt-BR" dirty="0" smtClean="0">
                <a:latin typeface="Calibri"/>
                <a:cs typeface="Calibri"/>
              </a:rPr>
              <a:t>; 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spc="-5" dirty="0">
                <a:latin typeface="Calibri"/>
                <a:cs typeface="Calibri"/>
              </a:rPr>
              <a:t>C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-50" dirty="0">
                <a:latin typeface="Calibri"/>
                <a:cs typeface="Calibri"/>
              </a:rPr>
              <a:t>r</a:t>
            </a:r>
            <a:r>
              <a:rPr lang="pt-BR" spc="-54" dirty="0">
                <a:latin typeface="Calibri"/>
                <a:cs typeface="Calibri"/>
              </a:rPr>
              <a:t>g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dirty="0">
                <a:latin typeface="Calibri"/>
                <a:cs typeface="Calibri"/>
              </a:rPr>
              <a:t>o</a:t>
            </a:r>
            <a:r>
              <a:rPr lang="pt-BR" spc="-59" dirty="0">
                <a:latin typeface="Calibri"/>
                <a:cs typeface="Calibri"/>
              </a:rPr>
              <a:t>r</a:t>
            </a:r>
            <a:r>
              <a:rPr lang="pt-BR" dirty="0">
                <a:latin typeface="Calibri"/>
                <a:cs typeface="Calibri"/>
              </a:rPr>
              <a:t>ár</a:t>
            </a:r>
            <a:r>
              <a:rPr lang="pt-BR" spc="-5" dirty="0">
                <a:latin typeface="Calibri"/>
                <a:cs typeface="Calibri"/>
              </a:rPr>
              <a:t>i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s</a:t>
            </a:r>
            <a:r>
              <a:rPr lang="pt-BR" spc="5" dirty="0">
                <a:latin typeface="Calibri"/>
                <a:cs typeface="Calibri"/>
              </a:rPr>
              <a:t>e</a:t>
            </a:r>
            <a:r>
              <a:rPr lang="pt-BR" spc="-5" dirty="0">
                <a:latin typeface="Calibri"/>
                <a:cs typeface="Calibri"/>
              </a:rPr>
              <a:t>m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n</a:t>
            </a:r>
            <a:r>
              <a:rPr lang="pt-BR" dirty="0" smtClean="0">
                <a:latin typeface="Calibri"/>
                <a:cs typeface="Calibri"/>
              </a:rPr>
              <a:t>al por disciplina:</a:t>
            </a:r>
            <a:endParaRPr lang="pt-BR" dirty="0">
              <a:latin typeface="Calibri"/>
              <a:cs typeface="Calibri"/>
            </a:endParaRPr>
          </a:p>
          <a:p>
            <a:pPr marL="439821" marR="83888" lvl="1">
              <a:lnSpc>
                <a:spcPct val="101725"/>
              </a:lnSpc>
              <a:spcBef>
                <a:spcPts val="602"/>
              </a:spcBef>
            </a:pPr>
            <a:r>
              <a:rPr lang="pt-BR" dirty="0">
                <a:latin typeface="Calibri"/>
                <a:cs typeface="Calibri"/>
              </a:rPr>
              <a:t>2</a:t>
            </a:r>
            <a:r>
              <a:rPr lang="pt-BR" spc="14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spc="-50" dirty="0">
                <a:latin typeface="Calibri"/>
                <a:cs typeface="Calibri"/>
              </a:rPr>
              <a:t>/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ul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dirty="0">
                <a:latin typeface="Calibri"/>
                <a:cs typeface="Calibri"/>
              </a:rPr>
              <a:t>s;</a:t>
            </a:r>
          </a:p>
          <a:p>
            <a:pPr marR="83888">
              <a:lnSpc>
                <a:spcPct val="101725"/>
              </a:lnSpc>
              <a:spcBef>
                <a:spcPts val="713"/>
              </a:spcBef>
            </a:pPr>
            <a:r>
              <a:rPr lang="pt-BR" spc="-5" dirty="0">
                <a:latin typeface="Calibri"/>
                <a:cs typeface="Calibri"/>
              </a:rPr>
              <a:t>C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-50" dirty="0">
                <a:latin typeface="Calibri"/>
                <a:cs typeface="Calibri"/>
              </a:rPr>
              <a:t>r</a:t>
            </a:r>
            <a:r>
              <a:rPr lang="pt-BR" spc="-54" dirty="0">
                <a:latin typeface="Calibri"/>
                <a:cs typeface="Calibri"/>
              </a:rPr>
              <a:t>g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dirty="0">
                <a:latin typeface="Calibri"/>
                <a:cs typeface="Calibri"/>
              </a:rPr>
              <a:t>o</a:t>
            </a:r>
            <a:r>
              <a:rPr lang="pt-BR" spc="-59" dirty="0">
                <a:latin typeface="Calibri"/>
                <a:cs typeface="Calibri"/>
              </a:rPr>
              <a:t>r</a:t>
            </a:r>
            <a:r>
              <a:rPr lang="pt-BR" dirty="0">
                <a:latin typeface="Calibri"/>
                <a:cs typeface="Calibri"/>
              </a:rPr>
              <a:t>ár</a:t>
            </a:r>
            <a:r>
              <a:rPr lang="pt-BR" spc="-5" dirty="0">
                <a:latin typeface="Calibri"/>
                <a:cs typeface="Calibri"/>
              </a:rPr>
              <a:t>i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 total </a:t>
            </a:r>
            <a:r>
              <a:rPr lang="pt-BR" dirty="0" smtClean="0">
                <a:latin typeface="Calibri"/>
                <a:cs typeface="Calibri"/>
              </a:rPr>
              <a:t>por </a:t>
            </a:r>
            <a:r>
              <a:rPr lang="pt-BR" dirty="0">
                <a:latin typeface="Calibri"/>
                <a:cs typeface="Calibri"/>
              </a:rPr>
              <a:t>disciplina :</a:t>
            </a:r>
          </a:p>
          <a:p>
            <a:pPr marL="439821" marR="83888" lvl="1">
              <a:lnSpc>
                <a:spcPct val="101725"/>
              </a:lnSpc>
              <a:spcBef>
                <a:spcPts val="602"/>
              </a:spcBef>
            </a:pPr>
            <a:r>
              <a:rPr lang="pt-BR" dirty="0" smtClean="0">
                <a:latin typeface="Calibri"/>
                <a:cs typeface="Calibri"/>
              </a:rPr>
              <a:t>30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spc="-50" dirty="0">
                <a:latin typeface="Calibri"/>
                <a:cs typeface="Calibri"/>
              </a:rPr>
              <a:t>/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ul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dirty="0" smtClean="0">
                <a:latin typeface="Calibri"/>
                <a:cs typeface="Calibri"/>
              </a:rPr>
              <a:t>s</a:t>
            </a:r>
            <a:r>
              <a:rPr lang="pt-BR" dirty="0">
                <a:latin typeface="Calibri"/>
                <a:cs typeface="Calibri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16688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2005" y="349289"/>
            <a:ext cx="9089390" cy="1586864"/>
          </a:xfrm>
        </p:spPr>
        <p:txBody>
          <a:bodyPr>
            <a:normAutofit/>
          </a:bodyPr>
          <a:lstStyle/>
          <a:p>
            <a:r>
              <a:rPr lang="pt-BR" dirty="0" smtClean="0"/>
              <a:t>Pré-requisitos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469900" y="1720889"/>
            <a:ext cx="9624060" cy="5373511"/>
          </a:xfrm>
          <a:prstGeom prst="rect">
            <a:avLst/>
          </a:prstGeom>
        </p:spPr>
        <p:txBody>
          <a:bodyPr lIns="104278" tIns="52139" rIns="104278" bIns="52139">
            <a:noAutofit/>
          </a:bodyPr>
          <a:lstStyle/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CMA01 - </a:t>
            </a:r>
            <a:r>
              <a:rPr lang="pt-BR" dirty="0" err="1"/>
              <a:t>Programacão</a:t>
            </a:r>
            <a:r>
              <a:rPr lang="pt-BR" dirty="0"/>
              <a:t> de Computadores </a:t>
            </a:r>
            <a:r>
              <a:rPr lang="pt-BR" dirty="0" smtClean="0"/>
              <a:t>I</a:t>
            </a:r>
            <a:endParaRPr lang="pt-BR" dirty="0" smtClean="0">
              <a:latin typeface="Calibri"/>
              <a:cs typeface="Calibri"/>
            </a:endParaRP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CMA02 - </a:t>
            </a:r>
            <a:r>
              <a:rPr lang="pt-BR" dirty="0" err="1"/>
              <a:t>Lab</a:t>
            </a:r>
            <a:r>
              <a:rPr lang="pt-BR" dirty="0"/>
              <a:t> </a:t>
            </a:r>
            <a:r>
              <a:rPr lang="pt-BR" dirty="0" err="1"/>
              <a:t>Programacão</a:t>
            </a:r>
            <a:r>
              <a:rPr lang="pt-BR" dirty="0"/>
              <a:t> de Computadores </a:t>
            </a:r>
            <a:r>
              <a:rPr lang="pt-BR" dirty="0" smtClean="0"/>
              <a:t>I</a:t>
            </a:r>
            <a:endParaRPr lang="pt-BR" dirty="0" smtClean="0">
              <a:latin typeface="Calibri"/>
              <a:cs typeface="Calibri"/>
            </a:endParaRP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Estruturas de controle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Alternativa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Repetição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Declaração e escopo de variáveis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err="1" smtClean="0">
                <a:latin typeface="Calibri"/>
                <a:cs typeface="Calibri"/>
              </a:rPr>
              <a:t>Subrotinas</a:t>
            </a:r>
            <a:endParaRPr lang="pt-BR" dirty="0" smtClean="0">
              <a:latin typeface="Calibri"/>
              <a:cs typeface="Calibri"/>
            </a:endParaRP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Funções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Procedimentos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Estruturas de dados homogêneas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Vetores numéricos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Vetores de caracteres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Matrizes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endParaRPr lang="pt-BR" dirty="0" smtClean="0">
              <a:latin typeface="Calibri"/>
              <a:cs typeface="Calibri"/>
            </a:endParaRP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endParaRPr lang="pt-BR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7462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557279" y="791857"/>
            <a:ext cx="7630926" cy="130403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ct val="101725"/>
              </a:lnSpc>
              <a:spcBef>
                <a:spcPts val="2948"/>
              </a:spcBef>
            </a:pPr>
            <a:endParaRPr lang="pt-BR" spc="5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2681" y="1983414"/>
            <a:ext cx="7787567" cy="34909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 marR="29154">
              <a:lnSpc>
                <a:spcPts val="1935"/>
              </a:lnSpc>
              <a:spcBef>
                <a:spcPts val="96"/>
              </a:spcBef>
            </a:pPr>
            <a:r>
              <a:rPr lang="pt-BR" sz="2700" i="1" dirty="0"/>
              <a:t>A disciplina deverá possibilitar ao estudante:</a:t>
            </a:r>
          </a:p>
          <a:p>
            <a:pPr marL="12698" marR="29154">
              <a:lnSpc>
                <a:spcPts val="1935"/>
              </a:lnSpc>
              <a:spcBef>
                <a:spcPts val="96"/>
              </a:spcBef>
            </a:pPr>
            <a:endParaRPr lang="pt-BR" sz="2700" dirty="0">
              <a:latin typeface="Calibri"/>
              <a:cs typeface="Calibri"/>
            </a:endParaRPr>
          </a:p>
          <a:p>
            <a:pPr marL="534089" marR="29154" indent="-521391">
              <a:spcBef>
                <a:spcPts val="96"/>
              </a:spcBef>
              <a:buFont typeface="+mj-lt"/>
              <a:buAutoNum type="arabicPeriod"/>
            </a:pPr>
            <a:r>
              <a:rPr lang="pt-BR" sz="2700" dirty="0">
                <a:latin typeface="Calibri"/>
                <a:cs typeface="Calibri"/>
              </a:rPr>
              <a:t>Familiaridade com as principais estruturas de dados e suas abstrações.</a:t>
            </a:r>
          </a:p>
          <a:p>
            <a:pPr marL="534089" marR="29154" indent="-521391">
              <a:spcBef>
                <a:spcPts val="96"/>
              </a:spcBef>
              <a:buFont typeface="+mj-lt"/>
              <a:buAutoNum type="arabicPeriod"/>
            </a:pPr>
            <a:r>
              <a:rPr lang="pt-BR" sz="2700" dirty="0">
                <a:latin typeface="Calibri"/>
                <a:cs typeface="Calibri"/>
              </a:rPr>
              <a:t>Capacidade de criar estruturas de dados com alocação estática e dinâmica de memória.</a:t>
            </a:r>
          </a:p>
          <a:p>
            <a:pPr marL="534089" marR="29154" indent="-521391">
              <a:spcBef>
                <a:spcPts val="96"/>
              </a:spcBef>
              <a:buFont typeface="+mj-lt"/>
              <a:buAutoNum type="arabicPeriod"/>
            </a:pPr>
            <a:r>
              <a:rPr lang="pt-BR" sz="2700" dirty="0">
                <a:latin typeface="Calibri"/>
                <a:cs typeface="Calibri"/>
              </a:rPr>
              <a:t>Capacidade de utilizar os conceitos relativos ao projeto e implementação de aplicações utilizando as estruturas de dados clássicas: listas, filas, pilhas e árvores.</a:t>
            </a:r>
          </a:p>
          <a:p>
            <a:pPr marL="534089" marR="29154" indent="-521391">
              <a:spcBef>
                <a:spcPts val="96"/>
              </a:spcBef>
              <a:buFont typeface="+mj-lt"/>
              <a:buAutoNum type="arabicPeriod"/>
            </a:pPr>
            <a:r>
              <a:rPr lang="pt-BR" sz="2700" dirty="0">
                <a:latin typeface="Calibri"/>
                <a:cs typeface="Calibri"/>
              </a:rPr>
              <a:t>Domínio dos conceitos relativos ao projeto, implementação e uso de algoritmos de pesquisa e ordenação.</a:t>
            </a:r>
          </a:p>
        </p:txBody>
      </p:sp>
      <p:sp>
        <p:nvSpPr>
          <p:cNvPr id="10" name="object 9"/>
          <p:cNvSpPr txBox="1"/>
          <p:nvPr/>
        </p:nvSpPr>
        <p:spPr>
          <a:xfrm>
            <a:off x="1557279" y="604603"/>
            <a:ext cx="7630926" cy="1304035"/>
          </a:xfrm>
          <a:prstGeom prst="rect">
            <a:avLst/>
          </a:prstGeom>
        </p:spPr>
        <p:txBody>
          <a:bodyPr vert="horz" lIns="104278" tIns="52139" rIns="104278" bIns="52139" rtlCol="0" anchor="ctr">
            <a:normAutofit/>
          </a:bodyPr>
          <a:lstStyle>
            <a:lvl1pPr>
              <a:spcBef>
                <a:spcPct val="0"/>
              </a:spcBef>
              <a:buNone/>
              <a:defRPr sz="40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dirty="0" err="1"/>
              <a:t>Objetivos</a:t>
            </a:r>
            <a:r>
              <a:rPr dirty="0"/>
              <a:t> </a:t>
            </a:r>
            <a:r>
              <a:rPr dirty="0" err="1" smtClean="0"/>
              <a:t>Gerais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4624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6"/>
            <a:ext cx="7519828" cy="139014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87013" marR="51429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3" y="1951247"/>
            <a:ext cx="196849" cy="3682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860"/>
              </a:lnSpc>
              <a:spcBef>
                <a:spcPts val="143"/>
              </a:spcBef>
            </a:pPr>
            <a:endParaRPr sz="27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0442" y="2342645"/>
            <a:ext cx="8505144" cy="14274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Conceitos introdutórios em estruturas de dados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Tipos abstratos de dados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Estruturas de dados: listas, pilhas, filas e árvores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Algoritmos de pesquisa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Algoritmos de ordenação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4495" y="4177846"/>
            <a:ext cx="152653" cy="8895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ct val="95825"/>
              </a:lnSpc>
              <a:spcBef>
                <a:spcPts val="100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object 9"/>
          <p:cNvSpPr txBox="1"/>
          <p:nvPr/>
        </p:nvSpPr>
        <p:spPr>
          <a:xfrm>
            <a:off x="1557279" y="604603"/>
            <a:ext cx="7630926" cy="1304035"/>
          </a:xfrm>
          <a:prstGeom prst="rect">
            <a:avLst/>
          </a:prstGeom>
        </p:spPr>
        <p:txBody>
          <a:bodyPr vert="horz" lIns="104278" tIns="52139" rIns="104278" bIns="52139" rtlCol="0" anchor="ctr">
            <a:normAutofit/>
          </a:bodyPr>
          <a:lstStyle>
            <a:lvl1pPr>
              <a:spcBef>
                <a:spcPct val="0"/>
              </a:spcBef>
              <a:buNone/>
              <a:defRPr sz="40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dirty="0" smtClean="0"/>
              <a:t>Conteúdo da Disciplina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1355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5"/>
            <a:ext cx="7717954" cy="5144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17292" marR="33805" algn="ctr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Principais </a:t>
            </a:r>
            <a:r>
              <a:rPr sz="4600" spc="-114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Referências</a:t>
            </a:r>
            <a:r>
              <a:rPr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sz="4600" spc="-114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Bibliográficas</a:t>
            </a:r>
            <a:endParaRPr lang="pt-BR" sz="4600" spc="-114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817292" marR="33805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022" y="445822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0022" y="500686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310022" y="55555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295577" y="2346568"/>
            <a:ext cx="7924831" cy="4814278"/>
          </a:xfrm>
          <a:prstGeom prst="rect">
            <a:avLst/>
          </a:prstGeom>
          <a:noFill/>
        </p:spPr>
        <p:txBody>
          <a:bodyPr wrap="square" lIns="104278" tIns="52139" rIns="104278" bIns="52139" rtlCol="0">
            <a:spAutoFit/>
          </a:bodyPr>
          <a:lstStyle/>
          <a:p>
            <a:pPr marL="325869" indent="-325869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/>
              <a:t>ZIVIANI, N. Projeto de Algoritmos, com implementações em </a:t>
            </a:r>
            <a:r>
              <a:rPr lang="pt-BR" dirty="0" smtClean="0"/>
              <a:t>Pascal e C. </a:t>
            </a:r>
            <a:r>
              <a:rPr lang="pt-BR" dirty="0"/>
              <a:t>Editora </a:t>
            </a:r>
            <a:r>
              <a:rPr lang="pt-BR" dirty="0" smtClean="0"/>
              <a:t>Pioneira, 4</a:t>
            </a:r>
            <a:r>
              <a:rPr lang="pt-BR" baseline="30000" dirty="0" smtClean="0"/>
              <a:t>a</a:t>
            </a:r>
            <a:r>
              <a:rPr lang="pt-BR" dirty="0"/>
              <a:t> edição, </a:t>
            </a:r>
            <a:r>
              <a:rPr lang="pt-BR" dirty="0" smtClean="0"/>
              <a:t>1999.</a:t>
            </a:r>
            <a:r>
              <a:rPr lang="pt-BR" i="1" dirty="0"/>
              <a:t> </a:t>
            </a:r>
            <a:endParaRPr lang="pt-BR" i="1" dirty="0" smtClean="0"/>
          </a:p>
          <a:p>
            <a:pPr lvl="1">
              <a:lnSpc>
                <a:spcPct val="150000"/>
              </a:lnSpc>
            </a:pPr>
            <a:r>
              <a:rPr lang="pt-BR" i="1" dirty="0" smtClean="0"/>
              <a:t>Site </a:t>
            </a:r>
            <a:r>
              <a:rPr lang="pt-BR" i="1" dirty="0"/>
              <a:t>do autor</a:t>
            </a:r>
            <a:r>
              <a:rPr lang="pt-BR" dirty="0" smtClean="0"/>
              <a:t>: </a:t>
            </a:r>
            <a:r>
              <a:rPr lang="pt-BR" u="sng" dirty="0" smtClean="0">
                <a:hlinkClick r:id="rId2"/>
              </a:rPr>
              <a:t>http</a:t>
            </a:r>
            <a:r>
              <a:rPr lang="pt-BR" u="sng" dirty="0">
                <a:hlinkClick r:id="rId2"/>
              </a:rPr>
              <a:t>://www.dcc.ufmg.br/algoritmos-java</a:t>
            </a:r>
            <a:r>
              <a:rPr lang="pt-BR" u="sng" dirty="0" smtClean="0">
                <a:hlinkClick r:id="rId2"/>
              </a:rPr>
              <a:t>/</a:t>
            </a:r>
            <a:endParaRPr lang="pt-BR" u="sng" dirty="0" smtClean="0"/>
          </a:p>
          <a:p>
            <a:pPr lvl="1">
              <a:lnSpc>
                <a:spcPct val="150000"/>
              </a:lnSpc>
            </a:pPr>
            <a:endParaRPr lang="pt-BR" u="sng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/>
              <a:t>SILVA, R.L.S. e OLIVEIRA, A. M. Algoritmos em C </a:t>
            </a:r>
            <a:r>
              <a:rPr lang="pt-BR" dirty="0" smtClean="0"/>
              <a:t>, 1 edição. 2014</a:t>
            </a:r>
            <a:r>
              <a:rPr lang="pt-BR" dirty="0"/>
              <a:t> </a:t>
            </a:r>
            <a:endParaRPr lang="pt-BR" dirty="0" smtClean="0"/>
          </a:p>
          <a:p>
            <a:pPr>
              <a:lnSpc>
                <a:spcPct val="150000"/>
              </a:lnSpc>
            </a:pPr>
            <a:r>
              <a:rPr lang="pt-BR" i="1" dirty="0"/>
              <a:t> </a:t>
            </a:r>
            <a:r>
              <a:rPr lang="pt-BR" i="1" dirty="0" smtClean="0"/>
              <a:t>        Site </a:t>
            </a:r>
            <a:r>
              <a:rPr lang="pt-BR" i="1" dirty="0"/>
              <a:t>do autor</a:t>
            </a:r>
            <a:r>
              <a:rPr lang="pt-BR" i="1" dirty="0" smtClean="0"/>
              <a:t>: </a:t>
            </a:r>
            <a:r>
              <a:rPr lang="pt-BR" i="1" dirty="0" smtClean="0">
                <a:hlinkClick r:id="rId3"/>
              </a:rPr>
              <a:t>https://sites.google.com/site/algoritmosufjf/material</a:t>
            </a:r>
            <a:endParaRPr lang="pt-BR" i="1" dirty="0" smtClean="0"/>
          </a:p>
          <a:p>
            <a:pPr lvl="1">
              <a:lnSpc>
                <a:spcPct val="150000"/>
              </a:lnSpc>
            </a:pPr>
            <a:endParaRPr lang="pt-BR" u="sng" dirty="0" smtClean="0"/>
          </a:p>
          <a:p>
            <a:pPr marL="325869" indent="-325869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 smtClean="0"/>
              <a:t>CORMEN</a:t>
            </a:r>
            <a:r>
              <a:rPr lang="pt-BR" dirty="0"/>
              <a:t>, T. H. et.al. Algoritmos: teoria e prática, 3 edição. Ed. Campus, 2002.</a:t>
            </a:r>
            <a:r>
              <a:rPr lang="pt-BR" i="1" dirty="0"/>
              <a:t> </a:t>
            </a:r>
            <a:endParaRPr lang="pt-BR" i="1" dirty="0" smtClean="0"/>
          </a:p>
          <a:p>
            <a:pPr lvl="1">
              <a:lnSpc>
                <a:spcPct val="150000"/>
              </a:lnSpc>
            </a:pPr>
            <a:r>
              <a:rPr lang="pt-BR" i="1" dirty="0" smtClean="0"/>
              <a:t>Site </a:t>
            </a:r>
            <a:r>
              <a:rPr lang="pt-BR" i="1" dirty="0"/>
              <a:t>do autor</a:t>
            </a:r>
            <a:r>
              <a:rPr lang="pt-BR" dirty="0"/>
              <a:t>: </a:t>
            </a:r>
            <a:r>
              <a:rPr lang="pt-BR" u="sng" dirty="0">
                <a:hlinkClick r:id="rId4"/>
              </a:rPr>
              <a:t>http://mitpress.mit.edu/algorithms</a:t>
            </a:r>
            <a:r>
              <a:rPr lang="pt-BR" u="sng" dirty="0" smtClean="0">
                <a:hlinkClick r:id="rId4"/>
              </a:rPr>
              <a:t>/</a:t>
            </a:r>
            <a:endParaRPr lang="pt-BR" u="sng" dirty="0" smtClean="0"/>
          </a:p>
          <a:p>
            <a:pPr lvl="1">
              <a:lnSpc>
                <a:spcPct val="150000"/>
              </a:lnSpc>
            </a:pPr>
            <a:endParaRPr lang="pt-BR" dirty="0"/>
          </a:p>
          <a:p>
            <a:pPr marL="325869" indent="-325869">
              <a:buFont typeface="Arial" pitchFamily="34" charset="0"/>
              <a:buChar char="•"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6806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5"/>
            <a:ext cx="7717954" cy="5144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17292" marR="33805" algn="ctr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Links para vídeo aulas</a:t>
            </a:r>
            <a:endParaRPr lang="pt-BR" sz="4600" spc="-114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817292" marR="33805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022" y="445822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0022" y="500686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310022" y="55555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295577" y="2346568"/>
            <a:ext cx="8242123" cy="1828845"/>
          </a:xfrm>
          <a:prstGeom prst="rect">
            <a:avLst/>
          </a:prstGeom>
          <a:noFill/>
        </p:spPr>
        <p:txBody>
          <a:bodyPr wrap="square" lIns="104278" tIns="52139" rIns="104278" bIns="52139" rtlCol="0">
            <a:spAutoFit/>
          </a:bodyPr>
          <a:lstStyle/>
          <a:p>
            <a:r>
              <a:rPr lang="pt-BR" sz="2800" dirty="0">
                <a:hlinkClick r:id="rId2"/>
              </a:rPr>
              <a:t>https://sites.google.com/site/algoritmosturmaespecial</a:t>
            </a:r>
            <a:r>
              <a:rPr lang="pt-BR" sz="2800" dirty="0" smtClean="0">
                <a:hlinkClick r:id="rId2"/>
              </a:rPr>
              <a:t>/</a:t>
            </a:r>
            <a:endParaRPr lang="pt-BR" sz="2800" dirty="0" smtClean="0"/>
          </a:p>
          <a:p>
            <a:endParaRPr lang="pt-BR" sz="2800" dirty="0"/>
          </a:p>
          <a:p>
            <a:r>
              <a:rPr lang="pt-BR" sz="2800" dirty="0">
                <a:hlinkClick r:id="rId3"/>
              </a:rPr>
              <a:t>https://</a:t>
            </a:r>
            <a:r>
              <a:rPr lang="pt-BR" sz="2800" dirty="0" smtClean="0">
                <a:hlinkClick r:id="rId3"/>
              </a:rPr>
              <a:t>www.youtube.com/user/progdescomplicada</a:t>
            </a:r>
            <a:endParaRPr lang="pt-BR" sz="2800" dirty="0" smtClean="0"/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160245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1310022" y="1947845"/>
            <a:ext cx="215899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65"/>
              </a:lnSpc>
              <a:spcBef>
                <a:spcPts val="159"/>
              </a:spcBef>
            </a:pPr>
            <a:endParaRPr sz="30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0998" y="1440762"/>
            <a:ext cx="8072669" cy="772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662"/>
              </a:lnSpc>
              <a:spcBef>
                <a:spcPts val="105"/>
              </a:spcBef>
            </a:pPr>
            <a:endParaRPr sz="3000" spc="-5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75922" y="1970825"/>
            <a:ext cx="576047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55234" y="1970825"/>
            <a:ext cx="937503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97307" y="1970825"/>
            <a:ext cx="471614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7217" y="3159028"/>
            <a:ext cx="258879" cy="7523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760"/>
              </a:lnSpc>
              <a:spcBef>
                <a:spcPts val="138"/>
              </a:spcBef>
            </a:pPr>
            <a:endParaRPr sz="26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685" y="1404163"/>
            <a:ext cx="9484876" cy="7523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r>
              <a:rPr lang="pt-BR" sz="2300" dirty="0"/>
              <a:t>Avaliação 1</a:t>
            </a:r>
          </a:p>
          <a:p>
            <a:pPr lvl="1"/>
            <a:r>
              <a:rPr lang="pt-BR" sz="2300" dirty="0"/>
              <a:t>1</a:t>
            </a:r>
            <a:r>
              <a:rPr lang="pt-BR" sz="2300" dirty="0" smtClean="0"/>
              <a:t>0 pontos</a:t>
            </a:r>
          </a:p>
          <a:p>
            <a:pPr lvl="1"/>
            <a:endParaRPr lang="pt-BR" sz="2300" dirty="0"/>
          </a:p>
          <a:p>
            <a:r>
              <a:rPr lang="pt-BR" sz="2300" dirty="0"/>
              <a:t>Avaliação 2</a:t>
            </a:r>
          </a:p>
          <a:p>
            <a:pPr lvl="1"/>
            <a:r>
              <a:rPr lang="pt-BR" sz="2300" dirty="0"/>
              <a:t>30 </a:t>
            </a:r>
            <a:r>
              <a:rPr lang="pt-BR" sz="2300" dirty="0" smtClean="0"/>
              <a:t>pontos</a:t>
            </a:r>
          </a:p>
          <a:p>
            <a:pPr lvl="1"/>
            <a:endParaRPr lang="pt-BR" sz="2300" dirty="0" smtClean="0"/>
          </a:p>
          <a:p>
            <a:r>
              <a:rPr lang="pt-BR" sz="2300" dirty="0" smtClean="0"/>
              <a:t>Avaliação 3</a:t>
            </a:r>
          </a:p>
          <a:p>
            <a:pPr lvl="1"/>
            <a:r>
              <a:rPr lang="pt-BR" sz="2300" dirty="0" smtClean="0"/>
              <a:t>30 pontos</a:t>
            </a:r>
          </a:p>
          <a:p>
            <a:pPr lvl="1"/>
            <a:endParaRPr lang="pt-BR" sz="2300" dirty="0"/>
          </a:p>
          <a:p>
            <a:r>
              <a:rPr lang="pt-BR" sz="2300" dirty="0"/>
              <a:t>Avaliação </a:t>
            </a:r>
            <a:r>
              <a:rPr lang="pt-BR" sz="2300" dirty="0" smtClean="0"/>
              <a:t>4</a:t>
            </a:r>
            <a:endParaRPr lang="pt-BR" sz="2300" dirty="0"/>
          </a:p>
          <a:p>
            <a:pPr lvl="1"/>
            <a:r>
              <a:rPr lang="pt-BR" sz="2300" dirty="0"/>
              <a:t>3</a:t>
            </a:r>
            <a:r>
              <a:rPr lang="pt-BR" sz="2300" dirty="0" smtClean="0"/>
              <a:t>0 pontos</a:t>
            </a:r>
          </a:p>
          <a:p>
            <a:pPr lvl="1"/>
            <a:endParaRPr lang="pt-BR" sz="2300" dirty="0"/>
          </a:p>
          <a:p>
            <a:r>
              <a:rPr lang="pt-BR" sz="2300" dirty="0"/>
              <a:t>Total 100 pontos</a:t>
            </a:r>
          </a:p>
          <a:p>
            <a:endParaRPr lang="pt-BR" sz="2300" dirty="0"/>
          </a:p>
          <a:p>
            <a:r>
              <a:rPr lang="pt-BR" sz="2300" dirty="0"/>
              <a:t>Aproveitamento mínimo de 60%.</a:t>
            </a:r>
          </a:p>
          <a:p>
            <a:r>
              <a:rPr lang="pt-BR" sz="2300" dirty="0"/>
              <a:t>Presença mínima: 75%. (Em ambas disciplinas)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4495" y="3944689"/>
            <a:ext cx="164845" cy="13101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345"/>
              </a:lnSpc>
              <a:spcBef>
                <a:spcPts val="117"/>
              </a:spcBef>
            </a:pPr>
            <a:endParaRPr sz="2200" dirty="0">
              <a:latin typeface="Arial"/>
              <a:cs typeface="Arial"/>
            </a:endParaRPr>
          </a:p>
        </p:txBody>
      </p:sp>
      <p:sp>
        <p:nvSpPr>
          <p:cNvPr id="14" name="object 9"/>
          <p:cNvSpPr txBox="1"/>
          <p:nvPr/>
        </p:nvSpPr>
        <p:spPr>
          <a:xfrm>
            <a:off x="1649415" y="425450"/>
            <a:ext cx="8076172" cy="7878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87013" marR="51429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Método de Avaliação </a:t>
            </a:r>
            <a:r>
              <a:rPr lang="pt-BR" sz="3600" spc="5" baseline="3103" dirty="0">
                <a:latin typeface="Calibri"/>
                <a:cs typeface="Calibri"/>
              </a:rPr>
              <a:t>(previsão)</a:t>
            </a:r>
            <a:endParaRPr sz="27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8007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431166" y="950087"/>
            <a:ext cx="2262884" cy="584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4584"/>
              </a:lnSpc>
              <a:spcBef>
                <a:spcPts val="229"/>
              </a:spcBef>
            </a:pPr>
            <a:r>
              <a:rPr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Dúvidas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0019" y="2033492"/>
            <a:ext cx="228853" cy="21879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374"/>
              </a:lnSpc>
              <a:spcBef>
                <a:spcPts val="16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75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92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92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652918" y="2058074"/>
            <a:ext cx="2207579" cy="21879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 marR="61708">
              <a:lnSpc>
                <a:spcPts val="3360"/>
              </a:lnSpc>
              <a:spcBef>
                <a:spcPts val="168"/>
              </a:spcBef>
            </a:pPr>
            <a:r>
              <a:rPr sz="4800" spc="-5" baseline="3413" dirty="0">
                <a:latin typeface="Calibri"/>
                <a:cs typeface="Calibri"/>
              </a:rPr>
              <a:t>Dú</a:t>
            </a:r>
            <a:r>
              <a:rPr sz="4800" spc="5" baseline="3413" dirty="0">
                <a:latin typeface="Calibri"/>
                <a:cs typeface="Calibri"/>
              </a:rPr>
              <a:t>v</a:t>
            </a:r>
            <a:r>
              <a:rPr sz="4800" spc="-5" baseline="3413" dirty="0">
                <a:latin typeface="Calibri"/>
                <a:cs typeface="Calibri"/>
              </a:rPr>
              <a:t>id</a:t>
            </a:r>
            <a:r>
              <a:rPr sz="4800" baseline="3413" dirty="0">
                <a:latin typeface="Calibri"/>
                <a:cs typeface="Calibri"/>
              </a:rPr>
              <a:t>a</a:t>
            </a:r>
            <a:r>
              <a:rPr sz="4800" spc="-5" baseline="3413" dirty="0">
                <a:latin typeface="Calibri"/>
                <a:cs typeface="Calibri"/>
              </a:rPr>
              <a:t>s</a:t>
            </a:r>
            <a:r>
              <a:rPr sz="4800" baseline="3413" dirty="0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  <a:p>
            <a:pPr marL="12698">
              <a:lnSpc>
                <a:spcPts val="4609"/>
              </a:lnSpc>
              <a:spcBef>
                <a:spcPts val="122"/>
              </a:spcBef>
            </a:pPr>
            <a:r>
              <a:rPr sz="3200" spc="-59" dirty="0">
                <a:latin typeface="Calibri"/>
                <a:cs typeface="Calibri"/>
              </a:rPr>
              <a:t>P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0" dirty="0">
                <a:latin typeface="Calibri"/>
                <a:cs typeface="Calibri"/>
              </a:rPr>
              <a:t>r</a:t>
            </a:r>
            <a:r>
              <a:rPr sz="3200" spc="5" dirty="0">
                <a:latin typeface="Calibri"/>
                <a:cs typeface="Calibri"/>
              </a:rPr>
              <a:t>g</a:t>
            </a:r>
            <a:r>
              <a:rPr sz="3200" spc="-5" dirty="0">
                <a:latin typeface="Calibri"/>
                <a:cs typeface="Calibri"/>
              </a:rPr>
              <a:t>u</a:t>
            </a:r>
            <a:r>
              <a:rPr sz="3200" spc="-29" dirty="0">
                <a:latin typeface="Calibri"/>
                <a:cs typeface="Calibri"/>
              </a:rPr>
              <a:t>n</a:t>
            </a:r>
            <a:r>
              <a:rPr sz="3200" spc="-39" dirty="0">
                <a:latin typeface="Calibri"/>
                <a:cs typeface="Calibri"/>
              </a:rPr>
              <a:t>t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 S</a:t>
            </a:r>
            <a:r>
              <a:rPr sz="3200" spc="-5" dirty="0">
                <a:latin typeface="Calibri"/>
                <a:cs typeface="Calibri"/>
              </a:rPr>
              <a:t>u</a:t>
            </a:r>
            <a:r>
              <a:rPr sz="3200" spc="-19" dirty="0">
                <a:latin typeface="Calibri"/>
                <a:cs typeface="Calibri"/>
              </a:rPr>
              <a:t>g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39" dirty="0">
                <a:latin typeface="Calibri"/>
                <a:cs typeface="Calibri"/>
              </a:rPr>
              <a:t>st</a:t>
            </a:r>
            <a:r>
              <a:rPr sz="3200" dirty="0">
                <a:latin typeface="Calibri"/>
                <a:cs typeface="Calibri"/>
              </a:rPr>
              <a:t>õ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 </a:t>
            </a:r>
            <a:r>
              <a:rPr sz="3200" spc="-59" dirty="0">
                <a:latin typeface="Calibri"/>
                <a:cs typeface="Calibri"/>
              </a:rPr>
              <a:t>R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quisi</a:t>
            </a:r>
            <a:r>
              <a:rPr sz="3200" spc="-19" dirty="0">
                <a:latin typeface="Calibri"/>
                <a:cs typeface="Calibri"/>
              </a:rPr>
              <a:t>ç</a:t>
            </a:r>
            <a:r>
              <a:rPr sz="3200" dirty="0">
                <a:latin typeface="Calibri"/>
                <a:cs typeface="Calibri"/>
              </a:rPr>
              <a:t>õ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6635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95890"/>
            <a:ext cx="6210300" cy="5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dirty="0"/>
              <a:t>R</a:t>
            </a:r>
            <a:r>
              <a:rPr sz="3300" spc="-15" dirty="0"/>
              <a:t>E</a:t>
            </a:r>
            <a:r>
              <a:rPr sz="3300" dirty="0"/>
              <a:t>V</a:t>
            </a:r>
            <a:r>
              <a:rPr sz="3300" spc="-10" dirty="0"/>
              <a:t>I</a:t>
            </a:r>
            <a:r>
              <a:rPr sz="3300" dirty="0"/>
              <a:t>SÃ</a:t>
            </a:r>
            <a:r>
              <a:rPr sz="3300" spc="-5" dirty="0"/>
              <a:t>O:</a:t>
            </a:r>
            <a:r>
              <a:rPr sz="3300" spc="10" dirty="0"/>
              <a:t> </a:t>
            </a:r>
            <a:r>
              <a:rPr sz="3300" spc="-5" dirty="0"/>
              <a:t>T</a:t>
            </a:r>
            <a:r>
              <a:rPr sz="3300" dirty="0"/>
              <a:t>i</a:t>
            </a:r>
            <a:r>
              <a:rPr sz="3300" spc="0" dirty="0"/>
              <a:t>p</a:t>
            </a:r>
            <a:r>
              <a:rPr sz="3300" spc="-5" dirty="0"/>
              <a:t>os</a:t>
            </a:r>
            <a:r>
              <a:rPr sz="3300" spc="5" dirty="0"/>
              <a:t> </a:t>
            </a:r>
            <a:r>
              <a:rPr sz="3300" spc="-5" dirty="0"/>
              <a:t>de</a:t>
            </a:r>
            <a:r>
              <a:rPr sz="3300" spc="5" dirty="0"/>
              <a:t> </a:t>
            </a:r>
            <a:r>
              <a:rPr sz="3300" dirty="0"/>
              <a:t>S</a:t>
            </a:r>
            <a:r>
              <a:rPr sz="3300" spc="-5" dirty="0"/>
              <a:t>ub</a:t>
            </a:r>
            <a:r>
              <a:rPr sz="3300" spc="0" dirty="0"/>
              <a:t>r</a:t>
            </a:r>
            <a:r>
              <a:rPr sz="3300" spc="-5" dirty="0"/>
              <a:t>o</a:t>
            </a:r>
            <a:r>
              <a:rPr sz="3300" dirty="0"/>
              <a:t>ti</a:t>
            </a:r>
            <a:r>
              <a:rPr sz="3300" spc="0" dirty="0"/>
              <a:t>n</a:t>
            </a:r>
            <a:r>
              <a:rPr sz="3300" spc="-5" dirty="0"/>
              <a:t>as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4711698" y="2500814"/>
            <a:ext cx="262509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Im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im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(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88313" y="2500814"/>
            <a:ext cx="161480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a,</a:t>
            </a:r>
            <a:r>
              <a:rPr sz="230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230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b)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4088" y="1892739"/>
            <a:ext cx="3683635" cy="1342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6075" indent="-333375">
              <a:buClr>
                <a:srgbClr val="852A33"/>
              </a:buClr>
              <a:buSzPct val="69696"/>
              <a:buFont typeface="Wingdings"/>
              <a:buChar char=""/>
              <a:tabLst>
                <a:tab pos="34671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R="5080" algn="r">
              <a:spcBef>
                <a:spcPts val="1080"/>
              </a:spcBef>
            </a:pP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480059" algn="r">
              <a:spcBef>
                <a:spcPts val="37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4091" y="3239586"/>
            <a:ext cx="6254115" cy="15542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31235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pri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tf(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”,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+b);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0960" algn="ctr">
              <a:spcBef>
                <a:spcPts val="28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18"/>
              </a:spcBef>
            </a:pPr>
            <a:endParaRPr sz="2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47980" indent="-335280">
              <a:buClr>
                <a:srgbClr val="852A33"/>
              </a:buClr>
              <a:buSzPct val="69696"/>
              <a:buFont typeface="Wingdings"/>
              <a:buChar char=""/>
              <a:tabLst>
                <a:tab pos="34798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9346" y="4867151"/>
            <a:ext cx="161480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a, int</a:t>
            </a:r>
            <a:r>
              <a:rPr sz="230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b)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16170" y="4867152"/>
            <a:ext cx="2321560" cy="750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b="1" spc="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230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Soma</a:t>
            </a:r>
            <a:r>
              <a:rPr sz="230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(int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65"/>
              </a:spcBef>
            </a:pP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20677" y="5621373"/>
            <a:ext cx="1031875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94093" y="5621373"/>
            <a:ext cx="1035050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(a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+b)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14655" y="5989871"/>
            <a:ext cx="193675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490125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7983" y="155603"/>
            <a:ext cx="8274684" cy="11807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P</a:t>
            </a:r>
            <a:r>
              <a:rPr spc="5" dirty="0"/>
              <a:t>a</a:t>
            </a:r>
            <a:r>
              <a:rPr dirty="0"/>
              <a:t>r</a:t>
            </a:r>
            <a:r>
              <a:rPr spc="5" dirty="0"/>
              <a:t>âme</a:t>
            </a:r>
            <a:r>
              <a:rPr dirty="0"/>
              <a:t>tr</a:t>
            </a:r>
            <a:r>
              <a:rPr spc="-5" dirty="0"/>
              <a:t>o</a:t>
            </a:r>
            <a:r>
              <a:rPr dirty="0"/>
              <a:t>s</a:t>
            </a:r>
            <a:r>
              <a:rPr spc="15" dirty="0"/>
              <a:t> </a:t>
            </a:r>
            <a:r>
              <a:rPr spc="-5" dirty="0"/>
              <a:t>d</a:t>
            </a:r>
            <a:r>
              <a:rPr dirty="0"/>
              <a:t>e </a:t>
            </a:r>
            <a:r>
              <a:rPr spc="0" dirty="0"/>
              <a:t>u</a:t>
            </a:r>
            <a:r>
              <a:rPr spc="5" dirty="0"/>
              <a:t>m</a:t>
            </a:r>
            <a:r>
              <a:rPr dirty="0"/>
              <a:t>a </a:t>
            </a:r>
            <a:r>
              <a:rPr spc="5" dirty="0"/>
              <a:t>s</a:t>
            </a:r>
            <a:r>
              <a:rPr spc="-5" dirty="0"/>
              <a:t>ub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t</a:t>
            </a:r>
            <a:r>
              <a:rPr spc="-10" dirty="0"/>
              <a:t>i</a:t>
            </a:r>
            <a:r>
              <a:rPr spc="-5" dirty="0"/>
              <a:t>n</a:t>
            </a:r>
            <a:r>
              <a:rPr dirty="0"/>
              <a:t>a</a:t>
            </a:r>
            <a:r>
              <a:rPr spc="15" dirty="0"/>
              <a:t> </a:t>
            </a:r>
            <a:r>
              <a:rPr spc="5" dirty="0"/>
              <a:t>e</a:t>
            </a:r>
            <a:r>
              <a:rPr dirty="0"/>
              <a:t>m</a:t>
            </a:r>
            <a:r>
              <a:rPr spc="-10" dirty="0"/>
              <a:t> </a:t>
            </a:r>
            <a:r>
              <a:rPr dirty="0"/>
              <a:t>C </a:t>
            </a:r>
            <a:r>
              <a:rPr spc="-5" dirty="0"/>
              <a:t>E</a:t>
            </a:r>
            <a:r>
              <a:rPr spc="5" dirty="0"/>
              <a:t>xem</a:t>
            </a:r>
            <a:r>
              <a:rPr spc="-5" dirty="0"/>
              <a:t>p</a:t>
            </a:r>
            <a:r>
              <a:rPr spc="-10" dirty="0"/>
              <a:t>l</a:t>
            </a:r>
            <a:r>
              <a:rPr spc="-5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12807" y="2450594"/>
            <a:ext cx="579120" cy="360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ta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55067" y="2450594"/>
            <a:ext cx="2549525" cy="360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525780" algn="l"/>
                <a:tab pos="2048510" algn="l"/>
              </a:tabLst>
            </a:pP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	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7774" y="2379117"/>
            <a:ext cx="5601970" cy="853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400"/>
              </a:lnSpc>
              <a:tabLst>
                <a:tab pos="1470660" algn="l"/>
                <a:tab pos="2083435" algn="l"/>
                <a:tab pos="2988945" algn="l"/>
                <a:tab pos="4382770" algn="l"/>
              </a:tabLst>
            </a:pP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Cha</a:t>
            </a:r>
            <a:r>
              <a:rPr sz="2300" u="heavy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	por	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alor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:	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ualq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	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7774" y="3786232"/>
            <a:ext cx="9058910" cy="2125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20800"/>
              </a:lnSpc>
            </a:pP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Cha</a:t>
            </a:r>
            <a:r>
              <a:rPr sz="2300" u="heavy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u="heavy" spc="11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por  </a:t>
            </a:r>
            <a:r>
              <a:rPr sz="2300" u="heavy" spc="1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u="heavy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u="heavy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u="heavy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:  </a:t>
            </a:r>
            <a:r>
              <a:rPr sz="2300" spc="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9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gumen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pon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ó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r>
              <a:rPr sz="23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2300" spc="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srgbClr val="FF0000"/>
                </a:solidFill>
                <a:latin typeface="Arial"/>
                <a:cs typeface="Arial"/>
              </a:rPr>
              <a:t>ei</a:t>
            </a:r>
            <a:r>
              <a:rPr sz="2300" spc="-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300" spc="-1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6657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1806955" y="1845790"/>
            <a:ext cx="4481830" cy="10436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0886" y="2546241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06955" y="2894970"/>
            <a:ext cx="4161790" cy="4301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9565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640080">
              <a:lnSpc>
                <a:spcPts val="3240"/>
              </a:lnSpc>
              <a:spcBef>
                <a:spcPts val="10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ts val="325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6955" y="1051210"/>
            <a:ext cx="7646670" cy="766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3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391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5484" y="1950884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37762" y="1950884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91654" y="2269105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87067" y="2269105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05432" y="2269132"/>
            <a:ext cx="2252345" cy="9783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59364" y="2904106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22434" y="3222329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5436" y="385882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05484" y="4495323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19072" y="5201638"/>
            <a:ext cx="3729354" cy="294953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1300">
              <a:lnSpc>
                <a:spcPts val="234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05431" y="5612998"/>
            <a:ext cx="4161790" cy="1923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56292" y="1051184"/>
            <a:ext cx="149733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784591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16152" y="1978293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48428" y="1978293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02322" y="2296514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97747" y="229651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16113" y="2296514"/>
            <a:ext cx="2252345" cy="9796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70029" y="2933012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33099" y="3251260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16101" y="3886235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16152" y="4522732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74603" y="5229299"/>
            <a:ext cx="241236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20786" y="5229299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96795" y="5597519"/>
            <a:ext cx="2313940" cy="344325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174625">
              <a:spcBef>
                <a:spcPts val="22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16099" y="5954723"/>
            <a:ext cx="4161790" cy="1609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5080">
              <a:lnSpc>
                <a:spcPct val="1320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56292" y="1051184"/>
            <a:ext cx="149733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559514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985514" y="1309031"/>
            <a:ext cx="8722370" cy="2178288"/>
          </a:xfrm>
          <a:prstGeom prst="rect">
            <a:avLst/>
          </a:prstGeom>
        </p:spPr>
        <p:txBody>
          <a:bodyPr vert="horz" wrap="square" lIns="0" tIns="595121" rIns="0" bIns="0" rtlCol="0">
            <a:spAutoFit/>
          </a:bodyPr>
          <a:lstStyle/>
          <a:p>
            <a:pPr marL="715010">
              <a:lnSpc>
                <a:spcPct val="100000"/>
              </a:lnSpc>
            </a:pPr>
            <a:r>
              <a:rPr spc="15" dirty="0"/>
              <a:t>vo</a:t>
            </a:r>
            <a:r>
              <a:rPr spc="25" dirty="0"/>
              <a:t>i</a:t>
            </a:r>
            <a:r>
              <a:rPr spc="20" dirty="0"/>
              <a:t>d</a:t>
            </a:r>
            <a:r>
              <a:rPr spc="25" dirty="0"/>
              <a:t> </a:t>
            </a:r>
            <a:r>
              <a:rPr spc="15" dirty="0"/>
              <a:t>Tr</a:t>
            </a:r>
            <a:r>
              <a:rPr spc="25" dirty="0"/>
              <a:t>oc</a:t>
            </a:r>
            <a:r>
              <a:rPr spc="15" dirty="0"/>
              <a:t>a(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a1</a:t>
            </a:r>
            <a:r>
              <a:rPr spc="20" dirty="0"/>
              <a:t>,</a:t>
            </a:r>
            <a:r>
              <a:rPr spc="10" dirty="0"/>
              <a:t> 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b1</a:t>
            </a:r>
            <a:r>
              <a:rPr spc="20" dirty="0"/>
              <a:t>)</a:t>
            </a:r>
          </a:p>
          <a:p>
            <a:pPr marL="715010">
              <a:lnSpc>
                <a:spcPct val="100000"/>
              </a:lnSpc>
              <a:spcBef>
                <a:spcPts val="45"/>
              </a:spcBef>
            </a:pPr>
            <a:r>
              <a:rPr spc="20" dirty="0"/>
              <a:t>{</a:t>
            </a:r>
          </a:p>
          <a:p>
            <a:pPr marL="1031875">
              <a:lnSpc>
                <a:spcPct val="100000"/>
              </a:lnSpc>
              <a:spcBef>
                <a:spcPts val="35"/>
              </a:spcBef>
            </a:pP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a</a:t>
            </a:r>
            <a:r>
              <a:rPr spc="25" dirty="0"/>
              <a:t>ux</a:t>
            </a:r>
            <a:r>
              <a:rPr spc="15" dirty="0"/>
              <a:t>=*</a:t>
            </a:r>
            <a:r>
              <a:rPr spc="25" dirty="0"/>
              <a:t>a</a:t>
            </a:r>
            <a:r>
              <a:rPr spc="15" dirty="0"/>
              <a:t>1</a:t>
            </a:r>
            <a:r>
              <a:rPr spc="20" dirty="0"/>
              <a:t>;</a:t>
            </a:r>
          </a:p>
          <a:p>
            <a:pPr marL="1031875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a</a:t>
            </a:r>
            <a:r>
              <a:rPr spc="25" dirty="0"/>
              <a:t>1</a:t>
            </a:r>
            <a:r>
              <a:rPr spc="15" dirty="0"/>
              <a:t>=*</a:t>
            </a:r>
            <a:r>
              <a:rPr spc="25" dirty="0"/>
              <a:t>b1</a:t>
            </a:r>
            <a:r>
              <a:rPr spc="20" dirty="0"/>
              <a:t>;</a:t>
            </a:r>
          </a:p>
          <a:p>
            <a:pPr marL="1031875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b</a:t>
            </a:r>
            <a:r>
              <a:rPr spc="25" dirty="0"/>
              <a:t>1</a:t>
            </a:r>
            <a:r>
              <a:rPr spc="15" dirty="0"/>
              <a:t>=a</a:t>
            </a:r>
            <a:r>
              <a:rPr spc="25" dirty="0"/>
              <a:t>ux</a:t>
            </a:r>
            <a:r>
              <a:rPr spc="20" dirty="0"/>
              <a:t>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88136" y="3493372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88083" y="4551674"/>
            <a:ext cx="4161790" cy="2436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88083" y="1051210"/>
            <a:ext cx="7766050" cy="856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10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522475" y="1871449"/>
            <a:ext cx="4919980" cy="397811"/>
          </a:xfrm>
          <a:custGeom>
            <a:avLst/>
            <a:gdLst/>
            <a:ahLst/>
            <a:cxnLst/>
            <a:rect l="l" t="t" r="r" b="b"/>
            <a:pathLst>
              <a:path w="4919980" h="398144">
                <a:moveTo>
                  <a:pt x="0" y="0"/>
                </a:moveTo>
                <a:lnTo>
                  <a:pt x="0" y="397763"/>
                </a:lnTo>
                <a:lnTo>
                  <a:pt x="4919471" y="397763"/>
                </a:lnTo>
                <a:lnTo>
                  <a:pt x="4919471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236505" y="6278961"/>
            <a:ext cx="3016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1298876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6292" y="1051210"/>
            <a:ext cx="1497330" cy="400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688591" y="2358693"/>
            <a:ext cx="2627630" cy="385756"/>
          </a:xfrm>
          <a:custGeom>
            <a:avLst/>
            <a:gdLst/>
            <a:ahLst/>
            <a:cxnLst/>
            <a:rect l="l" t="t" r="r" b="b"/>
            <a:pathLst>
              <a:path w="2627629" h="386080">
                <a:moveTo>
                  <a:pt x="0" y="0"/>
                </a:moveTo>
                <a:lnTo>
                  <a:pt x="0" y="385571"/>
                </a:lnTo>
                <a:lnTo>
                  <a:pt x="2627375" y="385571"/>
                </a:lnTo>
                <a:lnTo>
                  <a:pt x="262737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89660" y="1393568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121935" y="1393568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75830" y="1710294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871255" y="17102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89621" y="1710268"/>
            <a:ext cx="2252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006599" y="2346764"/>
            <a:ext cx="1935480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006652" y="2983261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89609" y="330153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689660" y="3938007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689607" y="4542537"/>
            <a:ext cx="4161790" cy="2436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title"/>
          </p:nvPr>
        </p:nvSpPr>
        <p:spPr>
          <a:xfrm>
            <a:off x="423163" y="279698"/>
            <a:ext cx="8679180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168803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06955" y="1051209"/>
            <a:ext cx="7646670" cy="728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5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806955" y="1772726"/>
            <a:ext cx="4481830" cy="9783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760886" y="2407700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123955" y="2725922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807008" y="3362418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806955" y="4420721"/>
            <a:ext cx="4161790" cy="2435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2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955291" y="2747013"/>
            <a:ext cx="1967864" cy="393369"/>
          </a:xfrm>
          <a:custGeom>
            <a:avLst/>
            <a:gdLst/>
            <a:ahLst/>
            <a:cxnLst/>
            <a:rect l="l" t="t" r="r" b="b"/>
            <a:pathLst>
              <a:path w="1967864" h="393700">
                <a:moveTo>
                  <a:pt x="0" y="0"/>
                </a:moveTo>
                <a:lnTo>
                  <a:pt x="0" y="393191"/>
                </a:lnTo>
                <a:lnTo>
                  <a:pt x="1967483" y="393191"/>
                </a:lnTo>
                <a:lnTo>
                  <a:pt x="1967483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29348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4263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58184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21308" y="28781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4316" y="3226923"/>
            <a:ext cx="1617345" cy="15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9565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4263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4263" y="1051210"/>
            <a:ext cx="7849870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767839" y="3219030"/>
            <a:ext cx="2155190" cy="393369"/>
          </a:xfrm>
          <a:custGeom>
            <a:avLst/>
            <a:gdLst/>
            <a:ahLst/>
            <a:cxnLst/>
            <a:rect l="l" t="t" r="r" b="b"/>
            <a:pathLst>
              <a:path w="2155190" h="393700">
                <a:moveTo>
                  <a:pt x="0" y="0"/>
                </a:moveTo>
                <a:lnTo>
                  <a:pt x="0" y="393191"/>
                </a:lnTo>
                <a:lnTo>
                  <a:pt x="2154935" y="393191"/>
                </a:lnTo>
                <a:lnTo>
                  <a:pt x="215493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910650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6292" y="1051210"/>
            <a:ext cx="1497330" cy="400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61288" y="1399659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93565" y="1399659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47458" y="1748362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42885" y="1748362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61235" y="1748362"/>
            <a:ext cx="2252345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15166" y="2447265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78236" y="2797516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61288" y="3496445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919740" y="4735913"/>
            <a:ext cx="241236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65922" y="4735913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19731" y="5148569"/>
            <a:ext cx="209423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88603" y="5519887"/>
            <a:ext cx="2784475" cy="341119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227965">
              <a:spcBef>
                <a:spcPts val="2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761235" y="5873368"/>
            <a:ext cx="4161790" cy="1223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423163" y="279698"/>
            <a:ext cx="8679180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179972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985514" y="1309031"/>
            <a:ext cx="8722370" cy="2124428"/>
          </a:xfrm>
          <a:prstGeom prst="rect">
            <a:avLst/>
          </a:prstGeom>
        </p:spPr>
        <p:txBody>
          <a:bodyPr vert="horz" wrap="square" lIns="0" tIns="541782" rIns="0" bIns="0" rtlCol="0">
            <a:spAutoFit/>
          </a:bodyPr>
          <a:lstStyle/>
          <a:p>
            <a:pPr marL="634365">
              <a:lnSpc>
                <a:spcPct val="100000"/>
              </a:lnSpc>
            </a:pPr>
            <a:r>
              <a:rPr spc="15" dirty="0"/>
              <a:t>vo</a:t>
            </a:r>
            <a:r>
              <a:rPr spc="25" dirty="0"/>
              <a:t>i</a:t>
            </a:r>
            <a:r>
              <a:rPr spc="20" dirty="0"/>
              <a:t>d</a:t>
            </a:r>
            <a:r>
              <a:rPr spc="25" dirty="0"/>
              <a:t> </a:t>
            </a:r>
            <a:r>
              <a:rPr spc="15" dirty="0"/>
              <a:t>Tr</a:t>
            </a:r>
            <a:r>
              <a:rPr spc="25" dirty="0"/>
              <a:t>oc</a:t>
            </a:r>
            <a:r>
              <a:rPr spc="15" dirty="0"/>
              <a:t>a(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a1</a:t>
            </a:r>
            <a:r>
              <a:rPr spc="20" dirty="0"/>
              <a:t>,</a:t>
            </a:r>
            <a:r>
              <a:rPr spc="10" dirty="0"/>
              <a:t> 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b1</a:t>
            </a:r>
            <a:r>
              <a:rPr spc="20" dirty="0"/>
              <a:t>)</a:t>
            </a:r>
          </a:p>
          <a:p>
            <a:pPr marL="634365">
              <a:lnSpc>
                <a:spcPct val="100000"/>
              </a:lnSpc>
              <a:spcBef>
                <a:spcPts val="45"/>
              </a:spcBef>
            </a:pPr>
            <a:r>
              <a:rPr spc="20" dirty="0"/>
              <a:t>{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a</a:t>
            </a:r>
            <a:r>
              <a:rPr spc="25" dirty="0"/>
              <a:t>ux</a:t>
            </a:r>
            <a:r>
              <a:rPr spc="15" dirty="0"/>
              <a:t>=*</a:t>
            </a:r>
            <a:r>
              <a:rPr spc="25" dirty="0"/>
              <a:t>a</a:t>
            </a:r>
            <a:r>
              <a:rPr spc="15" dirty="0"/>
              <a:t>1</a:t>
            </a:r>
            <a:r>
              <a:rPr spc="20" dirty="0"/>
              <a:t>;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a</a:t>
            </a:r>
            <a:r>
              <a:rPr spc="25" dirty="0"/>
              <a:t>1</a:t>
            </a:r>
            <a:r>
              <a:rPr spc="15" dirty="0"/>
              <a:t>=*</a:t>
            </a:r>
            <a:r>
              <a:rPr spc="25" dirty="0"/>
              <a:t>b1</a:t>
            </a:r>
            <a:r>
              <a:rPr spc="20" dirty="0"/>
              <a:t>;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b</a:t>
            </a:r>
            <a:r>
              <a:rPr spc="25" dirty="0"/>
              <a:t>1</a:t>
            </a:r>
            <a:r>
              <a:rPr spc="15" dirty="0"/>
              <a:t>=a</a:t>
            </a:r>
            <a:r>
              <a:rPr spc="25" dirty="0"/>
              <a:t>ux</a:t>
            </a:r>
            <a:r>
              <a:rPr spc="20" dirty="0"/>
              <a:t>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7364" y="3441600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7311" y="4499875"/>
            <a:ext cx="4161790" cy="2435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000"/>
              </a:lnSpc>
              <a:spcBef>
                <a:spcPts val="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7331" y="1051209"/>
            <a:ext cx="7846695" cy="805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67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522479" y="1871449"/>
            <a:ext cx="4840605" cy="397811"/>
          </a:xfrm>
          <a:custGeom>
            <a:avLst/>
            <a:gdLst/>
            <a:ahLst/>
            <a:cxnLst/>
            <a:rect l="l" t="t" r="r" b="b"/>
            <a:pathLst>
              <a:path w="4840605" h="398144">
                <a:moveTo>
                  <a:pt x="0" y="0"/>
                </a:moveTo>
                <a:lnTo>
                  <a:pt x="0" y="397763"/>
                </a:lnTo>
                <a:lnTo>
                  <a:pt x="4840223" y="397763"/>
                </a:lnTo>
                <a:lnTo>
                  <a:pt x="4840223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236505" y="6278961"/>
            <a:ext cx="3016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432250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5015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42060" y="28781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42060" y="3226897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5068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5015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5017" y="1051210"/>
            <a:ext cx="7928609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609343" y="2594714"/>
            <a:ext cx="2550160" cy="387025"/>
          </a:xfrm>
          <a:custGeom>
            <a:avLst/>
            <a:gdLst/>
            <a:ahLst/>
            <a:cxnLst/>
            <a:rect l="l" t="t" r="r" b="b"/>
            <a:pathLst>
              <a:path w="2550160" h="387350">
                <a:moveTo>
                  <a:pt x="0" y="0"/>
                </a:moveTo>
                <a:lnTo>
                  <a:pt x="0" y="387095"/>
                </a:lnTo>
                <a:lnTo>
                  <a:pt x="2549651" y="387095"/>
                </a:lnTo>
                <a:lnTo>
                  <a:pt x="2549651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002629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88591" y="2909944"/>
            <a:ext cx="2391410" cy="390197"/>
          </a:xfrm>
          <a:custGeom>
            <a:avLst/>
            <a:gdLst/>
            <a:ahLst/>
            <a:cxnLst/>
            <a:rect l="l" t="t" r="r" b="b"/>
            <a:pathLst>
              <a:path w="2391410" h="390525">
                <a:moveTo>
                  <a:pt x="0" y="0"/>
                </a:moveTo>
                <a:lnTo>
                  <a:pt x="0" y="390143"/>
                </a:lnTo>
                <a:lnTo>
                  <a:pt x="2391155" y="390143"/>
                </a:lnTo>
                <a:lnTo>
                  <a:pt x="239115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10359" y="1051210"/>
            <a:ext cx="7843520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10359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564286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927404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10412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10359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920595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767839" y="3302806"/>
            <a:ext cx="2155190" cy="393369"/>
          </a:xfrm>
          <a:custGeom>
            <a:avLst/>
            <a:gdLst/>
            <a:ahLst/>
            <a:cxnLst/>
            <a:rect l="l" t="t" r="r" b="b"/>
            <a:pathLst>
              <a:path w="2155190" h="393700">
                <a:moveTo>
                  <a:pt x="0" y="0"/>
                </a:moveTo>
                <a:lnTo>
                  <a:pt x="0" y="393191"/>
                </a:lnTo>
                <a:lnTo>
                  <a:pt x="2154935" y="393191"/>
                </a:lnTo>
                <a:lnTo>
                  <a:pt x="215493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605796" y="1051210"/>
            <a:ext cx="7847965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05787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559721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922832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05840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05787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1151637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3511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37436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00556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83564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88198" y="4816616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42010" y="4716101"/>
            <a:ext cx="2412365" cy="12689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7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3250" y="6072608"/>
            <a:ext cx="4680585" cy="700192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35585">
              <a:lnSpc>
                <a:spcPts val="2195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35585">
              <a:spcBef>
                <a:spcPts val="7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83516" y="683424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83528" y="1051210"/>
            <a:ext cx="7770495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767666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 err="1" smtClean="0"/>
              <a:t>E</a:t>
            </a:r>
            <a:r>
              <a:rPr spc="5" dirty="0" err="1" smtClean="0"/>
              <a:t>xe</a:t>
            </a:r>
            <a:r>
              <a:rPr dirty="0" err="1" smtClean="0"/>
              <a:t>r</a:t>
            </a:r>
            <a:r>
              <a:rPr spc="5" dirty="0" err="1" smtClean="0"/>
              <a:t>c</a:t>
            </a:r>
            <a:r>
              <a:rPr spc="0" dirty="0" err="1" smtClean="0"/>
              <a:t>í</a:t>
            </a:r>
            <a:r>
              <a:rPr spc="5" dirty="0" err="1" smtClean="0"/>
              <a:t>c</a:t>
            </a:r>
            <a:r>
              <a:rPr spc="-10" dirty="0" err="1" smtClean="0"/>
              <a:t>i</a:t>
            </a:r>
            <a:r>
              <a:rPr spc="-5" dirty="0" err="1" smtClean="0"/>
              <a:t>o</a:t>
            </a:r>
            <a:r>
              <a:rPr dirty="0" err="1" smtClean="0"/>
              <a:t>s</a:t>
            </a:r>
            <a:endParaRPr i="1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079" y="1122751"/>
            <a:ext cx="594169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á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endParaRPr sz="23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14056" y="2566544"/>
            <a:ext cx="107886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 *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4397" y="1962051"/>
            <a:ext cx="3184525" cy="1232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9"/>
              </a:spcBef>
            </a:pPr>
            <a:endParaRPr sz="21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void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lo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4444" y="3171063"/>
            <a:ext cx="2132965" cy="931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195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*p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4392" y="4380103"/>
            <a:ext cx="1530985" cy="931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>
              <a:spcBef>
                <a:spcPts val="35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9258" y="4984623"/>
            <a:ext cx="1380490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4391" y="5282299"/>
            <a:ext cx="3786504" cy="1238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4820" marR="5080">
              <a:lnSpc>
                <a:spcPct val="101800"/>
              </a:lnSpc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alc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(&amp;x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&amp;y);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"%d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- %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x,y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7202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69"/>
            <a:ext cx="4799330" cy="1021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</a:p>
          <a:p>
            <a:pPr>
              <a:spcBef>
                <a:spcPts val="11"/>
              </a:spcBef>
            </a:pPr>
            <a:endParaRPr sz="23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3878" y="2140182"/>
            <a:ext cx="137858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140182"/>
            <a:ext cx="2433320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 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 marR="606425">
              <a:lnSpc>
                <a:spcPts val="2390"/>
              </a:lnSpc>
              <a:spcBef>
                <a:spcPts val="70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 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 q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 +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>
              <a:lnSpc>
                <a:spcPts val="2290"/>
              </a:lnSpc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re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urn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 q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512" y="4256762"/>
            <a:ext cx="5892165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>
              <a:spcBef>
                <a:spcPts val="35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5080">
              <a:lnSpc>
                <a:spcPct val="101499"/>
              </a:lnSpc>
              <a:spcBef>
                <a:spcPts val="10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“%d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%d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”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,x,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,ca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lo(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,y)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71376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69"/>
            <a:ext cx="4799330" cy="1021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 smtClean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</a:p>
          <a:p>
            <a:pPr>
              <a:spcBef>
                <a:spcPts val="11"/>
              </a:spcBef>
            </a:pPr>
            <a:endParaRPr sz="23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3885" y="2443204"/>
            <a:ext cx="152971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443203"/>
            <a:ext cx="2433320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 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14325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14325" marR="155575">
              <a:lnSpc>
                <a:spcPts val="2390"/>
              </a:lnSpc>
              <a:spcBef>
                <a:spcPts val="70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+ 1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r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tur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lnSpc>
                <a:spcPts val="2300"/>
              </a:lnSpc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499" y="4559784"/>
            <a:ext cx="4538980" cy="2140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1057910">
              <a:lnSpc>
                <a:spcPct val="101499"/>
              </a:lnSpc>
              <a:spcBef>
                <a:spcPts val="10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z; z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cul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(x,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5080">
              <a:lnSpc>
                <a:spcPct val="101499"/>
              </a:lnSpc>
              <a:spcBef>
                <a:spcPts val="10"/>
              </a:spcBef>
              <a:tabLst>
                <a:tab pos="2268855" algn="l"/>
                <a:tab pos="2870835" algn="l"/>
              </a:tabLst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“%d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	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	%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d”,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,y,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9484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70"/>
            <a:ext cx="4799330" cy="10030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pt-BR" sz="2300" dirty="0" smtClean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</a:p>
          <a:p>
            <a:pPr>
              <a:spcBef>
                <a:spcPts val="49"/>
              </a:spcBef>
            </a:pPr>
            <a:endParaRPr sz="23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#includ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stdio.h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850" dirty="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48497" y="2405643"/>
            <a:ext cx="1602105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405670"/>
            <a:ext cx="2604770" cy="56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cal(i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499" y="2975166"/>
            <a:ext cx="4182110" cy="2874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/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>
              <a:spcBef>
                <a:spcPts val="35"/>
              </a:spcBef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 marR="20116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return(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5"/>
              </a:spcBef>
            </a:pPr>
            <a:endParaRPr sz="19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 marR="50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2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 r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x,&amp;y,&amp;z)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32327" y="5824175"/>
            <a:ext cx="2749550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%d”,x,y,z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2015" y="5821051"/>
            <a:ext cx="1458595" cy="575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printf(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5500" y="6393646"/>
            <a:ext cx="168275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223423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6256" y="1673469"/>
            <a:ext cx="9266555" cy="3736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50673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é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a:</a:t>
            </a:r>
            <a:endParaRPr sz="33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004569">
              <a:spcBef>
                <a:spcPts val="725"/>
              </a:spcBef>
            </a:pPr>
            <a:r>
              <a:rPr sz="1950" spc="590" dirty="0">
                <a:solidFill>
                  <a:srgbClr val="7F7F7F"/>
                </a:solidFill>
                <a:latin typeface="Wingdings"/>
                <a:cs typeface="Wingdings"/>
              </a:rPr>
              <a:t>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nea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004569">
              <a:spcBef>
                <a:spcPts val="720"/>
              </a:spcBef>
            </a:pPr>
            <a:r>
              <a:rPr sz="1950" spc="590" dirty="0">
                <a:solidFill>
                  <a:srgbClr val="7F7F7F"/>
                </a:solidFill>
                <a:latin typeface="Wingdings"/>
                <a:cs typeface="Wingdings"/>
              </a:rPr>
              <a:t>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endParaRPr sz="28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 algn="just">
              <a:lnSpc>
                <a:spcPct val="100200"/>
              </a:lnSpc>
              <a:spcBef>
                <a:spcPts val="1685"/>
              </a:spcBef>
              <a:buClr>
                <a:srgbClr val="852A33"/>
              </a:buClr>
              <a:buSzPct val="69696"/>
              <a:buFont typeface="Wingdings"/>
              <a:buChar char=""/>
              <a:tabLst>
                <a:tab pos="50800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Todas</a:t>
            </a:r>
            <a:r>
              <a:rPr sz="33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ompon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33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33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3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 e</a:t>
            </a:r>
            <a:r>
              <a:rPr sz="3300" spc="4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eu</a:t>
            </a:r>
            <a:r>
              <a:rPr sz="3300" spc="4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amanho</a:t>
            </a:r>
            <a:r>
              <a:rPr sz="3300" spc="4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mane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4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3300" spc="-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3300" spc="4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oda 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ex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do 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ama.</a:t>
            </a:r>
            <a:endParaRPr sz="33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171450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 err="1" smtClean="0">
                <a:latin typeface="Arial"/>
                <a:cs typeface="Arial"/>
              </a:rPr>
              <a:t>V</a:t>
            </a:r>
            <a:r>
              <a:rPr i="1" spc="5" dirty="0" err="1" smtClean="0">
                <a:latin typeface="Arial"/>
                <a:cs typeface="Arial"/>
              </a:rPr>
              <a:t>e</a:t>
            </a:r>
            <a:r>
              <a:rPr i="1" spc="-10" dirty="0" err="1" smtClean="0">
                <a:latin typeface="Arial"/>
                <a:cs typeface="Arial"/>
              </a:rPr>
              <a:t>t</a:t>
            </a:r>
            <a:r>
              <a:rPr i="1" spc="5" dirty="0" err="1" smtClean="0">
                <a:latin typeface="Arial"/>
                <a:cs typeface="Arial"/>
              </a:rPr>
              <a:t>o</a:t>
            </a:r>
            <a:r>
              <a:rPr i="1" dirty="0" err="1" smtClean="0">
                <a:latin typeface="Arial"/>
                <a:cs typeface="Arial"/>
              </a:rPr>
              <a:t>r</a:t>
            </a:r>
            <a:r>
              <a:rPr i="1" spc="15" dirty="0" err="1" smtClean="0">
                <a:latin typeface="Arial"/>
                <a:cs typeface="Arial"/>
              </a:rPr>
              <a:t>e</a:t>
            </a:r>
            <a:r>
              <a:rPr i="1" spc="-5" dirty="0" err="1" smtClean="0">
                <a:latin typeface="Arial"/>
                <a:cs typeface="Arial"/>
              </a:rPr>
              <a:t>s</a:t>
            </a:r>
            <a:endParaRPr i="1" spc="-5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5334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446532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t</a:t>
            </a:r>
            <a:r>
              <a:rPr i="1" spc="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-5" dirty="0">
                <a:latin typeface="Arial"/>
                <a:cs typeface="Arial"/>
              </a:rPr>
              <a:t>: </a:t>
            </a:r>
            <a:r>
              <a:rPr i="1" dirty="0">
                <a:latin typeface="Arial"/>
                <a:cs typeface="Arial"/>
              </a:rPr>
              <a:t>D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c</a:t>
            </a:r>
            <a:r>
              <a:rPr i="1" spc="-5" dirty="0">
                <a:latin typeface="Arial"/>
                <a:cs typeface="Arial"/>
              </a:rPr>
              <a:t>l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ç</a:t>
            </a:r>
            <a:r>
              <a:rPr i="1" spc="5" dirty="0">
                <a:latin typeface="Arial"/>
                <a:cs typeface="Arial"/>
              </a:rPr>
              <a:t>ã</a:t>
            </a:r>
            <a:r>
              <a:rPr i="1" dirty="0">
                <a:latin typeface="Arial"/>
                <a:cs typeface="Arial"/>
              </a:rPr>
              <a:t>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13486" y="5122176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prstClr val="black"/>
                </a:solidFill>
                <a:latin typeface="Tahoma"/>
                <a:cs typeface="Tahoma"/>
              </a:rPr>
              <a:t>0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84636" y="5105426"/>
            <a:ext cx="273367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873760" algn="l"/>
                <a:tab pos="1734185" algn="l"/>
                <a:tab pos="2595245" algn="l"/>
              </a:tabLst>
            </a:pPr>
            <a:r>
              <a:rPr sz="2325" b="1" spc="-7" baseline="3584" dirty="0">
                <a:solidFill>
                  <a:prstClr val="black"/>
                </a:solidFill>
                <a:latin typeface="Tahoma"/>
                <a:cs typeface="Tahoma"/>
              </a:rPr>
              <a:t>1	2	</a:t>
            </a:r>
            <a:r>
              <a:rPr sz="1550" b="1" spc="-5" dirty="0">
                <a:solidFill>
                  <a:prstClr val="black"/>
                </a:solidFill>
                <a:latin typeface="Tahoma"/>
                <a:cs typeface="Tahoma"/>
              </a:rPr>
              <a:t>3	</a:t>
            </a:r>
            <a:r>
              <a:rPr sz="2325" b="1" spc="-7" baseline="3584" dirty="0">
                <a:solidFill>
                  <a:prstClr val="black"/>
                </a:solidFill>
                <a:latin typeface="Tahoma"/>
                <a:cs typeface="Tahoma"/>
              </a:rPr>
              <a:t>4</a:t>
            </a:r>
            <a:endParaRPr sz="2325" baseline="3584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64991" y="5768102"/>
            <a:ext cx="4221480" cy="98977"/>
          </a:xfrm>
          <a:custGeom>
            <a:avLst/>
            <a:gdLst/>
            <a:ahLst/>
            <a:cxnLst/>
            <a:rect l="l" t="t" r="r" b="b"/>
            <a:pathLst>
              <a:path w="4221480" h="99060">
                <a:moveTo>
                  <a:pt x="4221479" y="0"/>
                </a:moveTo>
                <a:lnTo>
                  <a:pt x="4188557" y="20875"/>
                </a:lnTo>
                <a:lnTo>
                  <a:pt x="4147544" y="30171"/>
                </a:lnTo>
                <a:lnTo>
                  <a:pt x="4106224" y="36323"/>
                </a:lnTo>
                <a:lnTo>
                  <a:pt x="4065113" y="40737"/>
                </a:lnTo>
                <a:lnTo>
                  <a:pt x="4019437" y="44269"/>
                </a:lnTo>
                <a:lnTo>
                  <a:pt x="3978359" y="46480"/>
                </a:lnTo>
                <a:lnTo>
                  <a:pt x="3934944" y="47974"/>
                </a:lnTo>
                <a:lnTo>
                  <a:pt x="3889572" y="48701"/>
                </a:lnTo>
                <a:lnTo>
                  <a:pt x="2462783" y="48767"/>
                </a:lnTo>
                <a:lnTo>
                  <a:pt x="2453524" y="48785"/>
                </a:lnTo>
                <a:lnTo>
                  <a:pt x="2408188" y="49374"/>
                </a:lnTo>
                <a:lnTo>
                  <a:pt x="2364720" y="50761"/>
                </a:lnTo>
                <a:lnTo>
                  <a:pt x="2323477" y="52891"/>
                </a:lnTo>
                <a:lnTo>
                  <a:pt x="2284814" y="55710"/>
                </a:lnTo>
                <a:lnTo>
                  <a:pt x="2242328" y="59924"/>
                </a:lnTo>
                <a:lnTo>
                  <a:pt x="2198928" y="65867"/>
                </a:lnTo>
                <a:lnTo>
                  <a:pt x="2158661" y="73829"/>
                </a:lnTo>
                <a:lnTo>
                  <a:pt x="2122129" y="86415"/>
                </a:lnTo>
                <a:lnTo>
                  <a:pt x="2110739" y="99059"/>
                </a:lnTo>
                <a:lnTo>
                  <a:pt x="2110621" y="97757"/>
                </a:lnTo>
                <a:lnTo>
                  <a:pt x="2075070" y="77093"/>
                </a:lnTo>
                <a:lnTo>
                  <a:pt x="2033602" y="67749"/>
                </a:lnTo>
                <a:lnTo>
                  <a:pt x="1992267" y="61515"/>
                </a:lnTo>
                <a:lnTo>
                  <a:pt x="1951327" y="57018"/>
                </a:lnTo>
                <a:lnTo>
                  <a:pt x="1905953" y="53402"/>
                </a:lnTo>
                <a:lnTo>
                  <a:pt x="1865197" y="51129"/>
                </a:lnTo>
                <a:lnTo>
                  <a:pt x="1822145" y="49589"/>
                </a:lnTo>
                <a:lnTo>
                  <a:pt x="1777155" y="48836"/>
                </a:lnTo>
                <a:lnTo>
                  <a:pt x="1758695" y="48767"/>
                </a:lnTo>
                <a:lnTo>
                  <a:pt x="352043" y="48767"/>
                </a:lnTo>
                <a:lnTo>
                  <a:pt x="342635" y="48751"/>
                </a:lnTo>
                <a:lnTo>
                  <a:pt x="296588" y="48182"/>
                </a:lnTo>
                <a:lnTo>
                  <a:pt x="252477" y="46838"/>
                </a:lnTo>
                <a:lnTo>
                  <a:pt x="210675" y="44767"/>
                </a:lnTo>
                <a:lnTo>
                  <a:pt x="171557" y="42016"/>
                </a:lnTo>
                <a:lnTo>
                  <a:pt x="128685" y="37887"/>
                </a:lnTo>
                <a:lnTo>
                  <a:pt x="90863" y="32932"/>
                </a:lnTo>
                <a:lnTo>
                  <a:pt x="49406" y="25184"/>
                </a:lnTo>
                <a:lnTo>
                  <a:pt x="11751" y="12733"/>
                </a:lnTo>
                <a:lnTo>
                  <a:pt x="122" y="1322"/>
                </a:lnTo>
                <a:lnTo>
                  <a:pt x="0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38551" y="5355405"/>
            <a:ext cx="4460875" cy="807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100" b="1" i="1" spc="-80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2100" b="1" i="1" spc="-75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sz="2100" b="1" i="1" spc="-80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2100" b="1" i="1" spc="-75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2100" b="1" i="1" spc="-65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endParaRPr sz="2100">
              <a:solidFill>
                <a:prstClr val="black"/>
              </a:solidFill>
              <a:latin typeface="Tahoma"/>
              <a:cs typeface="Tahoma"/>
            </a:endParaRPr>
          </a:p>
          <a:p>
            <a:pPr marL="1077595">
              <a:spcBef>
                <a:spcPts val="1570"/>
              </a:spcBef>
            </a:pP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5</a:t>
            </a:r>
            <a:r>
              <a:rPr sz="1850" i="1" spc="-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20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80" dirty="0">
                <a:solidFill>
                  <a:prstClr val="black"/>
                </a:solidFill>
                <a:latin typeface="Tahoma"/>
                <a:cs typeface="Tahoma"/>
              </a:rPr>
              <a:t>m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sz="1850" i="1" spc="-3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i="1" spc="-4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sz="1850" i="1" spc="-2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q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u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sz="1850" i="1" spc="-20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850" i="1" spc="-4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q</a:t>
            </a:r>
            <a:r>
              <a:rPr sz="1850" i="1" spc="-65" dirty="0">
                <a:solidFill>
                  <a:prstClr val="black"/>
                </a:solidFill>
                <a:latin typeface="Tahoma"/>
                <a:cs typeface="Tahoma"/>
              </a:rPr>
              <a:t>u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35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r>
              <a:rPr sz="1850" i="1" spc="-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i="1" spc="-2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3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850" i="1" spc="-20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p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i="1" spc="-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b="1" i="1" spc="-3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850" b="1" i="1" spc="-65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sz="1850" b="1" i="1" spc="-40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endParaRPr sz="18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6251" y="1595442"/>
            <a:ext cx="8313420" cy="33106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400"/>
              </a:lnSpc>
              <a:buClr>
                <a:srgbClr val="852A33"/>
              </a:buClr>
              <a:buSzPct val="70909"/>
              <a:buFont typeface="Wingdings"/>
              <a:buChar char=""/>
              <a:tabLst>
                <a:tab pos="390525" algn="l"/>
              </a:tabLst>
            </a:pP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 em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de 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l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é a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gu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391795">
              <a:spcBef>
                <a:spcPts val="735"/>
              </a:spcBef>
              <a:tabLst>
                <a:tab pos="2827020" algn="l"/>
              </a:tabLst>
            </a:pP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po_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vo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	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cad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_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95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];</a:t>
            </a:r>
            <a:endParaRPr sz="29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665"/>
              </a:spcBef>
            </a:pP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Ex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12700" marR="1732280">
              <a:lnSpc>
                <a:spcPct val="120000"/>
              </a:lnSpc>
              <a:spcBef>
                <a:spcPts val="10"/>
              </a:spcBef>
            </a:pP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//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5 (0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 4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 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];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3709670">
              <a:spcBef>
                <a:spcPts val="940"/>
              </a:spcBef>
            </a:pP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Í</a:t>
            </a:r>
            <a:r>
              <a:rPr sz="1950" b="1" spc="20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1950" b="1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c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sz="1950" b="1" spc="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do </a:t>
            </a:r>
            <a:r>
              <a:rPr sz="1950" b="1" spc="20" dirty="0">
                <a:solidFill>
                  <a:prstClr val="black"/>
                </a:solidFill>
                <a:latin typeface="Tahoma"/>
                <a:cs typeface="Tahoma"/>
              </a:rPr>
              <a:t>v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eto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39338" y="4959499"/>
            <a:ext cx="3649979" cy="158617"/>
          </a:xfrm>
          <a:custGeom>
            <a:avLst/>
            <a:gdLst/>
            <a:ahLst/>
            <a:cxnLst/>
            <a:rect l="l" t="t" r="r" b="b"/>
            <a:pathLst>
              <a:path w="3649979" h="158750">
                <a:moveTo>
                  <a:pt x="3649979" y="158495"/>
                </a:moveTo>
                <a:lnTo>
                  <a:pt x="3624556" y="126488"/>
                </a:lnTo>
                <a:lnTo>
                  <a:pt x="3587649" y="110164"/>
                </a:lnTo>
                <a:lnTo>
                  <a:pt x="3549560" y="99422"/>
                </a:lnTo>
                <a:lnTo>
                  <a:pt x="3511290" y="91803"/>
                </a:lnTo>
                <a:lnTo>
                  <a:pt x="3468555" y="85833"/>
                </a:lnTo>
                <a:lnTo>
                  <a:pt x="3430029" y="82241"/>
                </a:lnTo>
                <a:lnTo>
                  <a:pt x="3389279" y="80012"/>
                </a:lnTo>
                <a:lnTo>
                  <a:pt x="3346703" y="79247"/>
                </a:lnTo>
                <a:lnTo>
                  <a:pt x="2106167" y="79247"/>
                </a:lnTo>
                <a:lnTo>
                  <a:pt x="2097525" y="79216"/>
                </a:lnTo>
                <a:lnTo>
                  <a:pt x="2055283" y="78151"/>
                </a:lnTo>
                <a:lnTo>
                  <a:pt x="2014946" y="75642"/>
                </a:lnTo>
                <a:lnTo>
                  <a:pt x="1976913" y="71789"/>
                </a:lnTo>
                <a:lnTo>
                  <a:pt x="1934874" y="65532"/>
                </a:lnTo>
                <a:lnTo>
                  <a:pt x="1897414" y="57655"/>
                </a:lnTo>
                <a:lnTo>
                  <a:pt x="1860417" y="46648"/>
                </a:lnTo>
                <a:lnTo>
                  <a:pt x="1825142" y="30041"/>
                </a:lnTo>
                <a:lnTo>
                  <a:pt x="1802891" y="0"/>
                </a:lnTo>
                <a:lnTo>
                  <a:pt x="1802770" y="2277"/>
                </a:lnTo>
                <a:lnTo>
                  <a:pt x="1777215" y="32007"/>
                </a:lnTo>
                <a:lnTo>
                  <a:pt x="1739994" y="48331"/>
                </a:lnTo>
                <a:lnTo>
                  <a:pt x="1701632" y="59073"/>
                </a:lnTo>
                <a:lnTo>
                  <a:pt x="1663132" y="66692"/>
                </a:lnTo>
                <a:lnTo>
                  <a:pt x="1620196" y="72662"/>
                </a:lnTo>
                <a:lnTo>
                  <a:pt x="1581537" y="76254"/>
                </a:lnTo>
                <a:lnTo>
                  <a:pt x="1540699" y="78483"/>
                </a:lnTo>
                <a:lnTo>
                  <a:pt x="1498091" y="79247"/>
                </a:lnTo>
                <a:lnTo>
                  <a:pt x="304799" y="79247"/>
                </a:lnTo>
                <a:lnTo>
                  <a:pt x="296080" y="79279"/>
                </a:lnTo>
                <a:lnTo>
                  <a:pt x="253490" y="80344"/>
                </a:lnTo>
                <a:lnTo>
                  <a:pt x="212865" y="82853"/>
                </a:lnTo>
                <a:lnTo>
                  <a:pt x="174600" y="86706"/>
                </a:lnTo>
                <a:lnTo>
                  <a:pt x="132347" y="92963"/>
                </a:lnTo>
                <a:lnTo>
                  <a:pt x="94733" y="100840"/>
                </a:lnTo>
                <a:lnTo>
                  <a:pt x="57620" y="111847"/>
                </a:lnTo>
                <a:lnTo>
                  <a:pt x="22272" y="128454"/>
                </a:lnTo>
                <a:lnTo>
                  <a:pt x="120" y="156218"/>
                </a:lnTo>
                <a:lnTo>
                  <a:pt x="0" y="158495"/>
                </a:lnTo>
              </a:path>
            </a:pathLst>
          </a:custGeom>
          <a:ln w="41980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87199" y="5338021"/>
          <a:ext cx="4222999" cy="3136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6195"/>
                <a:gridCol w="819911"/>
                <a:gridCol w="833627"/>
                <a:gridCol w="888491"/>
                <a:gridCol w="874775"/>
              </a:tblGrid>
              <a:tr h="313679"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292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03" y="1592373"/>
            <a:ext cx="9230360" cy="627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5595" marR="5080" indent="-302895">
              <a:lnSpc>
                <a:spcPct val="111400"/>
              </a:lnSpc>
              <a:buClr>
                <a:srgbClr val="852A33"/>
              </a:buClr>
              <a:buSzPct val="70270"/>
              <a:buFont typeface="Wingdings"/>
              <a:buChar char=""/>
              <a:tabLst>
                <a:tab pos="316230" algn="l"/>
              </a:tabLst>
            </a:pP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Cada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os e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os de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f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cia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nd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-15" dirty="0">
                <a:solidFill>
                  <a:srgbClr val="7D9CE8"/>
                </a:solidFill>
                <a:latin typeface="Arial"/>
                <a:cs typeface="Arial"/>
              </a:rPr>
              <a:t>v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du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a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l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nt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por 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u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nú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nt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ntr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c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o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l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c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h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t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es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a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p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ó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s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no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-15" dirty="0">
                <a:solidFill>
                  <a:srgbClr val="7D9CE8"/>
                </a:solidFill>
                <a:latin typeface="Arial"/>
                <a:cs typeface="Arial"/>
              </a:rPr>
              <a:t>v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to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078" y="4213112"/>
            <a:ext cx="8951595" cy="1625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Exe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315595" indent="-302895">
              <a:spcBef>
                <a:spcPts val="1045"/>
              </a:spcBef>
              <a:buClr>
                <a:srgbClr val="852A33"/>
              </a:buClr>
              <a:buSzPct val="68292"/>
              <a:buFont typeface="Wingdings"/>
              <a:buChar char=""/>
              <a:tabLst>
                <a:tab pos="316230" algn="l"/>
                <a:tab pos="2290445" algn="l"/>
              </a:tabLst>
            </a:pP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[1]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	/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tri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x 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315595" indent="-302895">
              <a:spcBef>
                <a:spcPts val="1040"/>
              </a:spcBef>
              <a:buClr>
                <a:srgbClr val="852A33"/>
              </a:buClr>
              <a:buSzPct val="68292"/>
              <a:buFont typeface="Wingdings"/>
              <a:buChar char=""/>
              <a:tabLst>
                <a:tab pos="316230" algn="l"/>
                <a:tab pos="6181725" algn="l"/>
              </a:tabLst>
            </a:pP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Y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[4]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tri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x 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315595" indent="-302895">
              <a:spcBef>
                <a:spcPts val="1030"/>
              </a:spcBef>
              <a:buClr>
                <a:srgbClr val="852A33"/>
              </a:buClr>
              <a:buSzPct val="68292"/>
              <a:buFont typeface="Wingdings"/>
              <a:buChar char=""/>
              <a:tabLst>
                <a:tab pos="316230" algn="l"/>
              </a:tabLst>
            </a:pP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s[0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 3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583" y="186824"/>
            <a:ext cx="4856480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4300" i="1" spc="-5" dirty="0">
                <a:latin typeface="Arial"/>
                <a:cs typeface="Arial"/>
              </a:rPr>
              <a:t>V</a:t>
            </a:r>
            <a:r>
              <a:rPr sz="4300" i="1" spc="-10" dirty="0">
                <a:latin typeface="Arial"/>
                <a:cs typeface="Arial"/>
              </a:rPr>
              <a:t>e</a:t>
            </a:r>
            <a:r>
              <a:rPr sz="4300" i="1" dirty="0">
                <a:latin typeface="Arial"/>
                <a:cs typeface="Arial"/>
              </a:rPr>
              <a:t>t</a:t>
            </a:r>
            <a:r>
              <a:rPr sz="4300" i="1" spc="-10" dirty="0">
                <a:latin typeface="Arial"/>
                <a:cs typeface="Arial"/>
              </a:rPr>
              <a:t>o</a:t>
            </a:r>
            <a:r>
              <a:rPr sz="4300" i="1" spc="0" dirty="0">
                <a:latin typeface="Arial"/>
                <a:cs typeface="Arial"/>
              </a:rPr>
              <a:t>r</a:t>
            </a:r>
            <a:r>
              <a:rPr sz="4300" i="1" spc="-10" dirty="0">
                <a:latin typeface="Arial"/>
                <a:cs typeface="Arial"/>
              </a:rPr>
              <a:t>e</a:t>
            </a:r>
            <a:r>
              <a:rPr sz="4300" i="1" spc="0" dirty="0">
                <a:latin typeface="Arial"/>
                <a:cs typeface="Arial"/>
              </a:rPr>
              <a:t>s</a:t>
            </a:r>
            <a:r>
              <a:rPr sz="4300" i="1" spc="-5" dirty="0">
                <a:latin typeface="Arial"/>
                <a:cs typeface="Arial"/>
              </a:rPr>
              <a:t>:</a:t>
            </a:r>
            <a:r>
              <a:rPr sz="4300" i="1" spc="-15" dirty="0">
                <a:latin typeface="Arial"/>
                <a:cs typeface="Arial"/>
              </a:rPr>
              <a:t> </a:t>
            </a:r>
            <a:r>
              <a:rPr sz="4300" i="1" spc="5" dirty="0">
                <a:latin typeface="Arial"/>
                <a:cs typeface="Arial"/>
              </a:rPr>
              <a:t>R</a:t>
            </a:r>
            <a:r>
              <a:rPr sz="4300" i="1" spc="0" dirty="0">
                <a:latin typeface="Arial"/>
                <a:cs typeface="Arial"/>
              </a:rPr>
              <a:t>e</a:t>
            </a:r>
            <a:r>
              <a:rPr sz="4300" i="1" spc="-10" dirty="0">
                <a:latin typeface="Arial"/>
                <a:cs typeface="Arial"/>
              </a:rPr>
              <a:t>f</a:t>
            </a:r>
            <a:r>
              <a:rPr sz="4300" i="1" spc="0" dirty="0">
                <a:latin typeface="Arial"/>
                <a:cs typeface="Arial"/>
              </a:rPr>
              <a:t>e</a:t>
            </a:r>
            <a:r>
              <a:rPr sz="4300" i="1" spc="-10" dirty="0">
                <a:latin typeface="Arial"/>
                <a:cs typeface="Arial"/>
              </a:rPr>
              <a:t>r</a:t>
            </a:r>
            <a:r>
              <a:rPr sz="4300" i="1" spc="0" dirty="0">
                <a:latin typeface="Arial"/>
                <a:cs typeface="Arial"/>
              </a:rPr>
              <a:t>ên</a:t>
            </a:r>
            <a:r>
              <a:rPr sz="4300" i="1" spc="-5" dirty="0">
                <a:latin typeface="Arial"/>
                <a:cs typeface="Arial"/>
              </a:rPr>
              <a:t>c</a:t>
            </a:r>
            <a:r>
              <a:rPr sz="4300" i="1" dirty="0">
                <a:latin typeface="Arial"/>
                <a:cs typeface="Arial"/>
              </a:rPr>
              <a:t>i</a:t>
            </a:r>
            <a:r>
              <a:rPr sz="4300" i="1" spc="-5" dirty="0">
                <a:latin typeface="Arial"/>
                <a:cs typeface="Arial"/>
              </a:rPr>
              <a:t>a </a:t>
            </a:r>
            <a:r>
              <a:rPr sz="4300" i="1" spc="-10" dirty="0">
                <a:latin typeface="Arial"/>
                <a:cs typeface="Arial"/>
              </a:rPr>
              <a:t>(M</a:t>
            </a:r>
            <a:r>
              <a:rPr sz="4300" i="1" spc="0" dirty="0">
                <a:latin typeface="Arial"/>
                <a:cs typeface="Arial"/>
              </a:rPr>
              <a:t>a</a:t>
            </a:r>
            <a:r>
              <a:rPr sz="4300" i="1" spc="-10" dirty="0">
                <a:latin typeface="Arial"/>
                <a:cs typeface="Arial"/>
              </a:rPr>
              <a:t>n</a:t>
            </a:r>
            <a:r>
              <a:rPr sz="4300" i="1" spc="-5" dirty="0">
                <a:latin typeface="Arial"/>
                <a:cs typeface="Arial"/>
              </a:rPr>
              <a:t>ip</a:t>
            </a:r>
            <a:r>
              <a:rPr sz="4300" i="1" spc="-10" dirty="0">
                <a:latin typeface="Arial"/>
                <a:cs typeface="Arial"/>
              </a:rPr>
              <a:t>u</a:t>
            </a:r>
            <a:r>
              <a:rPr sz="4300" i="1" dirty="0">
                <a:latin typeface="Arial"/>
                <a:cs typeface="Arial"/>
              </a:rPr>
              <a:t>l</a:t>
            </a:r>
            <a:r>
              <a:rPr sz="4300" i="1" spc="-10" dirty="0">
                <a:latin typeface="Arial"/>
                <a:cs typeface="Arial"/>
              </a:rPr>
              <a:t>a</a:t>
            </a:r>
            <a:r>
              <a:rPr sz="4300" i="1" spc="0" dirty="0">
                <a:latin typeface="Arial"/>
                <a:cs typeface="Arial"/>
              </a:rPr>
              <a:t>ç</a:t>
            </a:r>
            <a:r>
              <a:rPr sz="4300" i="1" spc="-10" dirty="0">
                <a:latin typeface="Arial"/>
                <a:cs typeface="Arial"/>
              </a:rPr>
              <a:t>ã</a:t>
            </a:r>
            <a:r>
              <a:rPr sz="4300" i="1" dirty="0">
                <a:latin typeface="Arial"/>
                <a:cs typeface="Arial"/>
              </a:rPr>
              <a:t>o</a:t>
            </a:r>
            <a:r>
              <a:rPr sz="4300" i="1" spc="-5" dirty="0">
                <a:latin typeface="Arial"/>
                <a:cs typeface="Arial"/>
              </a:rPr>
              <a:t>)</a:t>
            </a:r>
            <a:endParaRPr sz="4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6391" y="2637604"/>
            <a:ext cx="12763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06413" y="2585831"/>
            <a:ext cx="101917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903605" algn="l"/>
              </a:tabLst>
            </a:pPr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1	2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91031" y="2605626"/>
            <a:ext cx="12763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82562" y="2587354"/>
            <a:ext cx="12763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90519" y="3097973"/>
            <a:ext cx="749935" cy="307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b="1" i="1" spc="-190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1950" b="1" i="1" spc="-9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950" b="1" i="1" spc="-204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950" b="1" i="1" spc="-114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950" b="1" i="1" spc="-19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950" b="1" i="1" spc="-18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1950">
              <a:solidFill>
                <a:prstClr val="black"/>
              </a:solidFill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970890" y="3082872"/>
          <a:ext cx="4376923" cy="5816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6675"/>
                <a:gridCol w="850391"/>
                <a:gridCol w="862583"/>
                <a:gridCol w="922019"/>
                <a:gridCol w="905255"/>
              </a:tblGrid>
              <a:tr h="581678"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9981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80" y="1849635"/>
            <a:ext cx="8879205" cy="2041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>
              <a:lnSpc>
                <a:spcPts val="3560"/>
              </a:lnSpc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ssív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ada el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um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no m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ua de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128270">
              <a:spcBef>
                <a:spcPts val="355"/>
              </a:spcBef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emp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245745">
              <a:spcBef>
                <a:spcPts val="405"/>
              </a:spcBef>
            </a:pP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fl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oat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ores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7D9CE8"/>
                </a:solidFill>
                <a:latin typeface="Arial"/>
                <a:cs typeface="Arial"/>
              </a:rPr>
              <a:t>=</a:t>
            </a:r>
            <a:r>
              <a:rPr sz="3300" b="1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{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spc="-10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9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spc="10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}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079" y="6022395"/>
            <a:ext cx="8949055" cy="5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oat</a:t>
            </a:r>
            <a:r>
              <a:rPr sz="3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7D9CE8"/>
                </a:solidFill>
                <a:latin typeface="Arial"/>
                <a:cs typeface="Arial"/>
              </a:rPr>
              <a:t>=</a:t>
            </a:r>
            <a:r>
              <a:rPr sz="3300" b="1" spc="10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{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}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;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330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ca o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583" y="508880"/>
            <a:ext cx="4655820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t</a:t>
            </a:r>
            <a:r>
              <a:rPr i="1" spc="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-5" dirty="0">
                <a:latin typeface="Arial"/>
                <a:cs typeface="Arial"/>
              </a:rPr>
              <a:t>: </a:t>
            </a:r>
            <a:r>
              <a:rPr i="1" spc="-10" dirty="0">
                <a:latin typeface="Arial"/>
                <a:cs typeface="Arial"/>
              </a:rPr>
              <a:t>I</a:t>
            </a:r>
            <a:r>
              <a:rPr i="1" spc="5" dirty="0">
                <a:latin typeface="Arial"/>
                <a:cs typeface="Arial"/>
              </a:rPr>
              <a:t>n</a:t>
            </a:r>
            <a:r>
              <a:rPr i="1" spc="-5" dirty="0">
                <a:latin typeface="Arial"/>
                <a:cs typeface="Arial"/>
              </a:rPr>
              <a:t>i</a:t>
            </a:r>
            <a:r>
              <a:rPr i="1" dirty="0">
                <a:latin typeface="Arial"/>
                <a:cs typeface="Arial"/>
              </a:rPr>
              <a:t>c</a:t>
            </a:r>
            <a:r>
              <a:rPr i="1" spc="5" dirty="0">
                <a:latin typeface="Arial"/>
                <a:cs typeface="Arial"/>
              </a:rPr>
              <a:t>ia</a:t>
            </a:r>
            <a:r>
              <a:rPr i="1" spc="-5" dirty="0">
                <a:latin typeface="Arial"/>
                <a:cs typeface="Arial"/>
              </a:rPr>
              <a:t>li</a:t>
            </a:r>
            <a:r>
              <a:rPr i="1" dirty="0">
                <a:latin typeface="Arial"/>
                <a:cs typeface="Arial"/>
              </a:rPr>
              <a:t>z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ç</a:t>
            </a:r>
            <a:r>
              <a:rPr i="1" spc="5" dirty="0">
                <a:latin typeface="Arial"/>
                <a:cs typeface="Arial"/>
              </a:rPr>
              <a:t>ã</a:t>
            </a:r>
            <a:r>
              <a:rPr i="1" dirty="0">
                <a:latin typeface="Arial"/>
                <a:cs typeface="Arial"/>
              </a:rPr>
              <a:t>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50058" y="4355271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0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50231" y="4301975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41736" y="4301975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34757" y="4323294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3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26318" y="4305021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4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34259" y="4800882"/>
            <a:ext cx="840740" cy="2880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b="1" i="1" spc="-55" dirty="0">
                <a:solidFill>
                  <a:prstClr val="black"/>
                </a:solidFill>
                <a:latin typeface="Tahoma"/>
                <a:cs typeface="Tahoma"/>
              </a:rPr>
              <a:t>va</a:t>
            </a:r>
            <a:r>
              <a:rPr sz="1850" b="1" i="1" spc="-3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850" b="1" i="1" spc="-55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b="1" i="1" spc="-40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r>
              <a:rPr sz="1850" b="1" i="1" spc="-60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b="1" i="1" spc="-5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endParaRPr sz="1850">
              <a:solidFill>
                <a:prstClr val="black"/>
              </a:solidFill>
              <a:latin typeface="Tahoma"/>
              <a:cs typeface="Tahoma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414623" y="4795894"/>
          <a:ext cx="4376923" cy="5816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6675"/>
                <a:gridCol w="850391"/>
                <a:gridCol w="862583"/>
                <a:gridCol w="922019"/>
                <a:gridCol w="905255"/>
              </a:tblGrid>
              <a:tr h="581678"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3.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4.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7.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9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1.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780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80" y="1802647"/>
            <a:ext cx="9201785" cy="5039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Ob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s: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80"/>
              </a:spcBef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!!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!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  <a:buClr>
                <a:srgbClr val="852A33"/>
              </a:buClr>
              <a:buFont typeface="Wingdings"/>
              <a:buChar char=""/>
            </a:pPr>
            <a:endParaRPr sz="31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510"/>
              </a:lnSpc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núme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, 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lemen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alor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00125">
              <a:spcBef>
                <a:spcPts val="254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{32, 64,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460" indent="-238760"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19810">
              <a:spcBef>
                <a:spcPts val="300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{32,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64, 27, 18,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95, 14};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460" indent="-238760"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pod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do: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19810">
              <a:spcBef>
                <a:spcPts val="300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{1,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4, 5};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655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t</a:t>
            </a:r>
            <a:r>
              <a:rPr i="1" spc="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-5" dirty="0">
                <a:latin typeface="Arial"/>
                <a:cs typeface="Arial"/>
              </a:rPr>
              <a:t>: </a:t>
            </a:r>
            <a:r>
              <a:rPr i="1" spc="-10" dirty="0">
                <a:latin typeface="Arial"/>
                <a:cs typeface="Arial"/>
              </a:rPr>
              <a:t>I</a:t>
            </a:r>
            <a:r>
              <a:rPr i="1" spc="5" dirty="0">
                <a:latin typeface="Arial"/>
                <a:cs typeface="Arial"/>
              </a:rPr>
              <a:t>n</a:t>
            </a:r>
            <a:r>
              <a:rPr i="1" spc="-5" dirty="0">
                <a:latin typeface="Arial"/>
                <a:cs typeface="Arial"/>
              </a:rPr>
              <a:t>i</a:t>
            </a:r>
            <a:r>
              <a:rPr i="1" dirty="0">
                <a:latin typeface="Arial"/>
                <a:cs typeface="Arial"/>
              </a:rPr>
              <a:t>c</a:t>
            </a:r>
            <a:r>
              <a:rPr i="1" spc="5" dirty="0">
                <a:latin typeface="Arial"/>
                <a:cs typeface="Arial"/>
              </a:rPr>
              <a:t>ia</a:t>
            </a:r>
            <a:r>
              <a:rPr i="1" spc="-5" dirty="0">
                <a:latin typeface="Arial"/>
                <a:cs typeface="Arial"/>
              </a:rPr>
              <a:t>li</a:t>
            </a:r>
            <a:r>
              <a:rPr i="1" dirty="0">
                <a:latin typeface="Arial"/>
                <a:cs typeface="Arial"/>
              </a:rPr>
              <a:t>z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ç</a:t>
            </a:r>
            <a:r>
              <a:rPr i="1" spc="5" dirty="0">
                <a:latin typeface="Arial"/>
                <a:cs typeface="Arial"/>
              </a:rPr>
              <a:t>ã</a:t>
            </a:r>
            <a:r>
              <a:rPr i="1" dirty="0">
                <a:latin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35831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345" y="910878"/>
            <a:ext cx="416496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spc="-5" dirty="0">
                <a:latin typeface="Arial"/>
                <a:cs typeface="Arial"/>
              </a:rPr>
              <a:t>V</a:t>
            </a:r>
            <a:r>
              <a:rPr b="1" spc="5" dirty="0">
                <a:latin typeface="Arial"/>
                <a:cs typeface="Arial"/>
              </a:rPr>
              <a:t>e</a:t>
            </a:r>
            <a:r>
              <a:rPr b="1" dirty="0">
                <a:latin typeface="Arial"/>
                <a:cs typeface="Arial"/>
              </a:rPr>
              <a:t>t</a:t>
            </a:r>
            <a:r>
              <a:rPr b="1" spc="-5" dirty="0">
                <a:latin typeface="Arial"/>
                <a:cs typeface="Arial"/>
              </a:rPr>
              <a:t>o</a:t>
            </a:r>
            <a:r>
              <a:rPr b="1" dirty="0">
                <a:latin typeface="Arial"/>
                <a:cs typeface="Arial"/>
              </a:rPr>
              <a:t>r</a:t>
            </a:r>
            <a:r>
              <a:rPr b="1" spc="15" dirty="0">
                <a:latin typeface="Arial"/>
                <a:cs typeface="Arial"/>
              </a:rPr>
              <a:t>e</a:t>
            </a:r>
            <a:r>
              <a:rPr b="1" spc="5" dirty="0">
                <a:latin typeface="Arial"/>
                <a:cs typeface="Arial"/>
              </a:rPr>
              <a:t>s</a:t>
            </a:r>
            <a:r>
              <a:rPr b="1" dirty="0">
                <a:latin typeface="Arial"/>
                <a:cs typeface="Arial"/>
              </a:rPr>
              <a:t>: E</a:t>
            </a:r>
            <a:r>
              <a:rPr b="1" spc="5" dirty="0">
                <a:latin typeface="Arial"/>
                <a:cs typeface="Arial"/>
              </a:rPr>
              <a:t>x</a:t>
            </a:r>
            <a:r>
              <a:rPr b="1" spc="15" dirty="0">
                <a:latin typeface="Arial"/>
                <a:cs typeface="Arial"/>
              </a:rPr>
              <a:t>e</a:t>
            </a:r>
            <a:r>
              <a:rPr b="1" spc="-5" dirty="0">
                <a:latin typeface="Arial"/>
                <a:cs typeface="Arial"/>
              </a:rPr>
              <a:t>mp</a:t>
            </a:r>
            <a:r>
              <a:rPr b="1" spc="0" dirty="0">
                <a:latin typeface="Arial"/>
                <a:cs typeface="Arial"/>
              </a:rPr>
              <a:t>l</a:t>
            </a:r>
            <a:r>
              <a:rPr b="1" spc="-5" dirty="0">
                <a:latin typeface="Arial"/>
                <a:cs typeface="Arial"/>
              </a:rPr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4079" y="2018403"/>
            <a:ext cx="182880" cy="262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spc="475" dirty="0">
                <a:solidFill>
                  <a:srgbClr val="852A33"/>
                </a:solidFill>
                <a:latin typeface="Wingdings"/>
                <a:cs typeface="Wingdings"/>
              </a:rPr>
              <a:t></a:t>
            </a:r>
            <a:endParaRPr sz="1650">
              <a:solidFill>
                <a:prstClr val="black"/>
              </a:solidFill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66176" y="1932732"/>
            <a:ext cx="8030845" cy="7169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99"/>
              </a:lnSpc>
            </a:pP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úl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1696" y="2846002"/>
            <a:ext cx="6487795" cy="4417793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100965">
              <a:spcBef>
                <a:spcPts val="21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tdi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>
              <a:spcBef>
                <a:spcPts val="2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tdl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0965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>
              <a:spcBef>
                <a:spcPts val="20"/>
              </a:spcBef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 marR="3271520">
              <a:lnSpc>
                <a:spcPct val="101099"/>
              </a:lnSpc>
            </a:pP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ros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],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;i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42669" marR="1387475" indent="-635">
              <a:lnSpc>
                <a:spcPts val="2120"/>
              </a:lnSpc>
              <a:spcBef>
                <a:spcPts val="65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tf(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gi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val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,i)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f("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mer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i]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>
              <a:lnSpc>
                <a:spcPts val="2050"/>
              </a:lnSpc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 marR="848360" indent="-635">
              <a:lnSpc>
                <a:spcPct val="100600"/>
              </a:lnSpc>
              <a:spcBef>
                <a:spcPts val="10"/>
              </a:spcBef>
            </a:pP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Vet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da: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9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 marR="2059939" indent="405130">
              <a:lnSpc>
                <a:spcPct val="101099"/>
              </a:lnSpc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f("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mer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i]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ur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0965"/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747544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95" y="505073"/>
            <a:ext cx="5127625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spc="-5" dirty="0"/>
              <a:t>V</a:t>
            </a:r>
            <a:r>
              <a:rPr sz="4300" spc="-10" dirty="0"/>
              <a:t>e</a:t>
            </a:r>
            <a:r>
              <a:rPr sz="4300" dirty="0"/>
              <a:t>t</a:t>
            </a:r>
            <a:r>
              <a:rPr sz="4300" spc="-10" dirty="0"/>
              <a:t>o</a:t>
            </a:r>
            <a:r>
              <a:rPr sz="4300" spc="0" dirty="0"/>
              <a:t>r</a:t>
            </a:r>
            <a:r>
              <a:rPr sz="4300" spc="-10" dirty="0"/>
              <a:t>e</a:t>
            </a:r>
            <a:r>
              <a:rPr sz="4300" spc="-5" dirty="0"/>
              <a:t>s</a:t>
            </a:r>
            <a:r>
              <a:rPr sz="4300" spc="5" dirty="0"/>
              <a:t> </a:t>
            </a:r>
            <a:r>
              <a:rPr sz="4300" spc="-5" dirty="0"/>
              <a:t>e</a:t>
            </a:r>
            <a:r>
              <a:rPr sz="4300" dirty="0"/>
              <a:t> </a:t>
            </a:r>
            <a:r>
              <a:rPr sz="4300" spc="5" dirty="0"/>
              <a:t>S</a:t>
            </a:r>
            <a:r>
              <a:rPr sz="4300" spc="-10" dirty="0"/>
              <a:t>u</a:t>
            </a:r>
            <a:r>
              <a:rPr sz="4300" spc="0" dirty="0"/>
              <a:t>b</a:t>
            </a:r>
            <a:r>
              <a:rPr sz="4300" spc="-10" dirty="0"/>
              <a:t>r</a:t>
            </a:r>
            <a:r>
              <a:rPr sz="4300" spc="0" dirty="0"/>
              <a:t>o</a:t>
            </a:r>
            <a:r>
              <a:rPr sz="4300" spc="-10" dirty="0"/>
              <a:t>t</a:t>
            </a:r>
            <a:r>
              <a:rPr sz="4300" dirty="0"/>
              <a:t>i</a:t>
            </a:r>
            <a:r>
              <a:rPr sz="4300" spc="-10" dirty="0"/>
              <a:t>na</a:t>
            </a:r>
            <a:r>
              <a:rPr sz="4300" spc="-5" dirty="0"/>
              <a:t>s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894079" y="1932332"/>
            <a:ext cx="8629650" cy="3182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633095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 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por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ên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ia.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3"/>
              </a:spcBef>
              <a:buClr>
                <a:srgbClr val="852A33"/>
              </a:buClr>
              <a:buFont typeface="Wingdings"/>
              <a:buChar char=""/>
            </a:pPr>
            <a:endParaRPr sz="41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>
              <a:lnSpc>
                <a:spcPct val="10020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Ou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modi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ina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dados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omo 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âme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pela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hamad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030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777" y="117286"/>
            <a:ext cx="196024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x</a:t>
            </a:r>
            <a:r>
              <a:rPr sz="3300" i="1" spc="-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rc</a:t>
            </a:r>
            <a:r>
              <a:rPr sz="3300" i="1" spc="-10" dirty="0">
                <a:latin typeface="Arial"/>
                <a:cs typeface="Arial"/>
              </a:rPr>
              <a:t>í</a:t>
            </a:r>
            <a:r>
              <a:rPr sz="3300" i="1" dirty="0">
                <a:latin typeface="Arial"/>
                <a:cs typeface="Arial"/>
              </a:rPr>
              <a:t>c</a:t>
            </a:r>
            <a:r>
              <a:rPr sz="3300" i="1" spc="-5" dirty="0">
                <a:latin typeface="Arial"/>
                <a:cs typeface="Arial"/>
              </a:rPr>
              <a:t>ios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7610" y="874007"/>
            <a:ext cx="9263380" cy="4748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985" algn="just">
              <a:lnSpc>
                <a:spcPct val="91300"/>
              </a:lnSpc>
              <a:buFontTx/>
              <a:buAutoNum type="arabicParenR"/>
              <a:tabLst>
                <a:tab pos="455295" algn="l"/>
              </a:tabLst>
            </a:pP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ú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ais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3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8"/>
              </a:spcBef>
              <a:buFont typeface="Arial"/>
              <a:buAutoNum type="arabicParenR"/>
            </a:pPr>
            <a:endParaRPr sz="36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ct val="90500"/>
              </a:lnSpc>
              <a:buFontTx/>
              <a:buAutoNum type="arabicParenR"/>
              <a:tabLst>
                <a:tab pos="440055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9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9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9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1"/>
              </a:spcBef>
              <a:buFont typeface="Arial"/>
              <a:buAutoNum type="arabicParenR"/>
            </a:pPr>
            <a:endParaRPr sz="35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ct val="91300"/>
              </a:lnSpc>
              <a:buFontTx/>
              <a:buAutoNum type="arabicParenR"/>
              <a:tabLst>
                <a:tab pos="407670" algn="l"/>
              </a:tabLst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eno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and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“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meno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nto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X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XXX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YYYYY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”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7775" y="6058473"/>
            <a:ext cx="9264015" cy="1458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1400"/>
              </a:lnSpc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8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çõ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s)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tá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0087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90" y="112720"/>
            <a:ext cx="1960245" cy="5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x</a:t>
            </a:r>
            <a:r>
              <a:rPr sz="3300" i="1" spc="-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rc</a:t>
            </a:r>
            <a:r>
              <a:rPr sz="3300" i="1" spc="-10" dirty="0">
                <a:latin typeface="Arial"/>
                <a:cs typeface="Arial"/>
              </a:rPr>
              <a:t>í</a:t>
            </a:r>
            <a:r>
              <a:rPr sz="3300" i="1" dirty="0">
                <a:latin typeface="Arial"/>
                <a:cs typeface="Arial"/>
              </a:rPr>
              <a:t>c</a:t>
            </a:r>
            <a:r>
              <a:rPr sz="3300" i="1" spc="-5" dirty="0">
                <a:latin typeface="Arial"/>
                <a:cs typeface="Arial"/>
              </a:rPr>
              <a:t>ios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832" y="1247036"/>
            <a:ext cx="8841105" cy="5458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6670">
              <a:lnSpc>
                <a:spcPct val="81300"/>
              </a:lnSpc>
              <a:buFontTx/>
              <a:buAutoNum type="arabicParenR" startAt="5"/>
              <a:tabLst>
                <a:tab pos="403225" algn="l"/>
                <a:tab pos="1281430" algn="l"/>
                <a:tab pos="4137660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núme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ve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-1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4"/>
              </a:spcBef>
              <a:buFont typeface="Arial"/>
              <a:buAutoNum type="arabicParenR" startAt="5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677545">
              <a:lnSpc>
                <a:spcPts val="2530"/>
              </a:lnSpc>
              <a:buFontTx/>
              <a:buAutoNum type="arabicParenR" startAt="5"/>
              <a:tabLst>
                <a:tab pos="404495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co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as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çõe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nem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95300" lvl="1" indent="-389890">
              <a:spcBef>
                <a:spcPts val="60"/>
              </a:spcBef>
              <a:buFontTx/>
              <a:buAutoNum type="alphaLcParenR"/>
              <a:tabLst>
                <a:tab pos="495934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97205" lvl="1" indent="-391795">
              <a:spcBef>
                <a:spcPts val="45"/>
              </a:spcBef>
              <a:buFontTx/>
              <a:buAutoNum type="alphaLcParenR"/>
              <a:tabLst>
                <a:tab pos="497840" algn="l"/>
              </a:tabLst>
            </a:pP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(&gt;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=6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77520" lvl="1" indent="-372110">
              <a:spcBef>
                <a:spcPts val="45"/>
              </a:spcBef>
              <a:buFontTx/>
              <a:buAutoNum type="alphaLcParenR"/>
              <a:tabLst>
                <a:tab pos="478155" algn="l"/>
              </a:tabLst>
            </a:pP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uan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&lt;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6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lvl="1">
              <a:spcBef>
                <a:spcPts val="54"/>
              </a:spcBef>
              <a:buFont typeface="Arial"/>
              <a:buAutoNum type="alphaLcParenR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530"/>
              </a:lnSpc>
              <a:buFontTx/>
              <a:buAutoNum type="arabicParenR" startAt="5"/>
              <a:tabLst>
                <a:tab pos="403225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con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rti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ros 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lores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547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90" y="111196"/>
            <a:ext cx="196024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x</a:t>
            </a:r>
            <a:r>
              <a:rPr sz="3300" i="1" spc="-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rc</a:t>
            </a:r>
            <a:r>
              <a:rPr sz="3300" i="1" spc="-10" dirty="0">
                <a:latin typeface="Arial"/>
                <a:cs typeface="Arial"/>
              </a:rPr>
              <a:t>í</a:t>
            </a:r>
            <a:r>
              <a:rPr sz="3300" i="1" dirty="0">
                <a:latin typeface="Arial"/>
                <a:cs typeface="Arial"/>
              </a:rPr>
              <a:t>c</a:t>
            </a:r>
            <a:r>
              <a:rPr sz="3300" i="1" spc="-5" dirty="0">
                <a:latin typeface="Arial"/>
                <a:cs typeface="Arial"/>
              </a:rPr>
              <a:t>ios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7080" y="813677"/>
            <a:ext cx="9262745" cy="19261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860"/>
              </a:lnSpc>
              <a:tabLst>
                <a:tab pos="513715" algn="l"/>
                <a:tab pos="1463040" algn="l"/>
                <a:tab pos="2132330" algn="l"/>
                <a:tab pos="3775075" algn="l"/>
                <a:tab pos="4539615" algn="l"/>
                <a:tab pos="5266690" algn="l"/>
                <a:tab pos="5937250" algn="l"/>
                <a:tab pos="6885305" algn="l"/>
                <a:tab pos="7909559" algn="l"/>
                <a:tab pos="8674100" algn="l"/>
                <a:tab pos="9062720" algn="l"/>
              </a:tabLst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8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rt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5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end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6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660"/>
              </a:lnSpc>
              <a:tabLst>
                <a:tab pos="373380" algn="l"/>
                <a:tab pos="1671955" algn="l"/>
                <a:tab pos="2237105" algn="l"/>
                <a:tab pos="3402965" algn="l"/>
                <a:tab pos="3858895" algn="l"/>
                <a:tab pos="4219575" algn="l"/>
                <a:tab pos="5516245" algn="l"/>
                <a:tab pos="6085205" algn="l"/>
                <a:tab pos="7250430" algn="l"/>
                <a:tab pos="7799070" algn="l"/>
                <a:tab pos="8702040" algn="l"/>
                <a:tab pos="9062085" algn="l"/>
              </a:tabLst>
            </a:pP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1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olu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col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990"/>
              </a:lnSpc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and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359"/>
              </a:spcBef>
              <a:tabLst>
                <a:tab pos="690245" algn="l"/>
                <a:tab pos="1068705" algn="l"/>
                <a:tab pos="2270760" algn="l"/>
                <a:tab pos="3136265" algn="l"/>
                <a:tab pos="3515995" algn="l"/>
                <a:tab pos="5648960" algn="l"/>
                <a:tab pos="6382385" algn="l"/>
                <a:tab pos="7506970" algn="l"/>
                <a:tab pos="8072120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seg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05767" y="2663744"/>
            <a:ext cx="3025775" cy="4066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1466215" algn="l"/>
                <a:tab pos="2826385" algn="l"/>
              </a:tabLst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7003" y="2703373"/>
            <a:ext cx="6005830" cy="1182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860"/>
              </a:lnSpc>
              <a:tabLst>
                <a:tab pos="1297305" algn="l"/>
                <a:tab pos="1743710" algn="l"/>
                <a:tab pos="2991485" algn="l"/>
                <a:tab pos="3622675" algn="l"/>
                <a:tab pos="4797425" algn="l"/>
              </a:tabLst>
            </a:pP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13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ois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eve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305"/>
              </a:spcBef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çõ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7080" y="4386526"/>
            <a:ext cx="9261475" cy="1458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1400"/>
              </a:lnSpc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9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rela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erc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calc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st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res</a:t>
            </a:r>
            <a:r>
              <a:rPr sz="2600" spc="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600" spc="1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7003" y="6355761"/>
            <a:ext cx="9262110" cy="1095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1300"/>
              </a:lnSpc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alores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eiros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a-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cres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amanh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#de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0560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75"/>
            <a:ext cx="517080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dirty="0">
                <a:latin typeface="Arial"/>
                <a:cs typeface="Arial"/>
              </a:rPr>
              <a:t>D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 </a:t>
            </a:r>
            <a:r>
              <a:rPr b="0" i="1" spc="5" dirty="0">
                <a:latin typeface="Arial"/>
                <a:cs typeface="Arial"/>
              </a:rPr>
              <a:t>d</a:t>
            </a:r>
            <a:r>
              <a:rPr b="0" i="1" dirty="0">
                <a:latin typeface="Arial"/>
                <a:cs typeface="Arial"/>
              </a:rPr>
              <a:t>e </a:t>
            </a:r>
            <a:r>
              <a:rPr b="0" i="1" spc="-5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7009" y="2290939"/>
            <a:ext cx="2030095" cy="443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4]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90789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0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39534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1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17468" y="4650131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2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57759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3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17468" y="2825913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0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60145" y="3619251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1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08958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2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00229" y="3887540"/>
            <a:ext cx="581025" cy="2226344"/>
          </a:xfrm>
          <a:custGeom>
            <a:avLst/>
            <a:gdLst/>
            <a:ahLst/>
            <a:cxnLst/>
            <a:rect l="l" t="t" r="r" b="b"/>
            <a:pathLst>
              <a:path w="581025" h="2228215">
                <a:moveTo>
                  <a:pt x="545275" y="82097"/>
                </a:moveTo>
                <a:lnTo>
                  <a:pt x="535976" y="79640"/>
                </a:lnTo>
                <a:lnTo>
                  <a:pt x="1523" y="2221991"/>
                </a:lnTo>
                <a:lnTo>
                  <a:pt x="0" y="2223515"/>
                </a:lnTo>
                <a:lnTo>
                  <a:pt x="4571" y="2228087"/>
                </a:lnTo>
                <a:lnTo>
                  <a:pt x="7619" y="2228087"/>
                </a:lnTo>
                <a:lnTo>
                  <a:pt x="10667" y="2226563"/>
                </a:lnTo>
                <a:lnTo>
                  <a:pt x="12191" y="2223515"/>
                </a:lnTo>
                <a:lnTo>
                  <a:pt x="545275" y="82097"/>
                </a:lnTo>
                <a:close/>
              </a:path>
              <a:path w="581025" h="2228215">
                <a:moveTo>
                  <a:pt x="580643" y="91439"/>
                </a:moveTo>
                <a:lnTo>
                  <a:pt x="560831" y="0"/>
                </a:lnTo>
                <a:lnTo>
                  <a:pt x="499871" y="70103"/>
                </a:lnTo>
                <a:lnTo>
                  <a:pt x="535976" y="79640"/>
                </a:lnTo>
                <a:lnTo>
                  <a:pt x="539495" y="65531"/>
                </a:lnTo>
                <a:lnTo>
                  <a:pt x="539495" y="62483"/>
                </a:lnTo>
                <a:lnTo>
                  <a:pt x="542543" y="60959"/>
                </a:lnTo>
                <a:lnTo>
                  <a:pt x="545591" y="62483"/>
                </a:lnTo>
                <a:lnTo>
                  <a:pt x="548639" y="62483"/>
                </a:lnTo>
                <a:lnTo>
                  <a:pt x="550163" y="65531"/>
                </a:lnTo>
                <a:lnTo>
                  <a:pt x="550163" y="83388"/>
                </a:lnTo>
                <a:lnTo>
                  <a:pt x="580643" y="91439"/>
                </a:lnTo>
                <a:close/>
              </a:path>
              <a:path w="581025" h="2228215">
                <a:moveTo>
                  <a:pt x="550163" y="65531"/>
                </a:moveTo>
                <a:lnTo>
                  <a:pt x="548639" y="62483"/>
                </a:lnTo>
                <a:lnTo>
                  <a:pt x="545591" y="62483"/>
                </a:lnTo>
                <a:lnTo>
                  <a:pt x="542543" y="60959"/>
                </a:lnTo>
                <a:lnTo>
                  <a:pt x="539495" y="62483"/>
                </a:lnTo>
                <a:lnTo>
                  <a:pt x="539495" y="65531"/>
                </a:lnTo>
                <a:lnTo>
                  <a:pt x="535976" y="79640"/>
                </a:lnTo>
                <a:lnTo>
                  <a:pt x="545275" y="82097"/>
                </a:lnTo>
                <a:lnTo>
                  <a:pt x="548639" y="68579"/>
                </a:lnTo>
                <a:lnTo>
                  <a:pt x="550163" y="65531"/>
                </a:lnTo>
                <a:close/>
              </a:path>
              <a:path w="581025" h="2228215">
                <a:moveTo>
                  <a:pt x="550163" y="83388"/>
                </a:moveTo>
                <a:lnTo>
                  <a:pt x="550163" y="65531"/>
                </a:lnTo>
                <a:lnTo>
                  <a:pt x="548639" y="68579"/>
                </a:lnTo>
                <a:lnTo>
                  <a:pt x="545275" y="82097"/>
                </a:lnTo>
                <a:lnTo>
                  <a:pt x="550163" y="833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35135" y="6256129"/>
            <a:ext cx="12985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b="1" spc="20" dirty="0">
                <a:solidFill>
                  <a:prstClr val="black"/>
                </a:solidFill>
                <a:latin typeface="Tahoma"/>
                <a:cs typeface="Tahoma"/>
              </a:rPr>
              <a:t>m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at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[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1]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[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2]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39</a:t>
            </a:fld>
            <a:endParaRPr dirty="0">
              <a:solidFill>
                <a:prstClr val="black"/>
              </a:solidFill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990853" y="2286659"/>
          <a:ext cx="5024624" cy="28718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5775"/>
                <a:gridCol w="1257299"/>
                <a:gridCol w="1255775"/>
                <a:gridCol w="1255775"/>
              </a:tblGrid>
              <a:tr h="852722"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485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560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38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3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31485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9563"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485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5609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386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3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31485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9563"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485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5609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3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31485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268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75"/>
            <a:ext cx="517080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dirty="0">
                <a:latin typeface="Arial"/>
                <a:cs typeface="Arial"/>
              </a:rPr>
              <a:t>D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 </a:t>
            </a:r>
            <a:r>
              <a:rPr b="0" i="1" spc="5" dirty="0">
                <a:latin typeface="Arial"/>
                <a:cs typeface="Arial"/>
              </a:rPr>
              <a:t>d</a:t>
            </a:r>
            <a:r>
              <a:rPr b="0" i="1" dirty="0">
                <a:latin typeface="Arial"/>
                <a:cs typeface="Arial"/>
              </a:rPr>
              <a:t>e </a:t>
            </a:r>
            <a:r>
              <a:rPr b="0" i="1" spc="-5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40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003" y="2290931"/>
            <a:ext cx="9070340" cy="39542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ec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aração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ensõ</a:t>
            </a:r>
            <a:r>
              <a:rPr sz="2850" b="1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720"/>
              </a:spcBef>
            </a:pP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at2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</a:p>
          <a:p>
            <a:pPr marL="12700" marR="6029325">
              <a:lnSpc>
                <a:spcPct val="120700"/>
              </a:lnSpc>
            </a:pP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[3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[2]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7]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4"/>
              </a:spcBef>
            </a:pPr>
            <a:endParaRPr sz="36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4579620">
              <a:lnSpc>
                <a:spcPct val="11860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Op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erações 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8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6; </a:t>
            </a:r>
            <a:endParaRPr lang="pt-BR" sz="2300" dirty="0" smtClean="0">
              <a:solidFill>
                <a:prstClr val="black"/>
              </a:solidFill>
              <a:latin typeface="Arial"/>
              <a:cs typeface="Arial"/>
            </a:endParaRPr>
          </a:p>
          <a:p>
            <a:pPr marL="12700" marR="4579620">
              <a:lnSpc>
                <a:spcPct val="11860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300" spc="10" dirty="0" smtClean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spc="5" dirty="0" smtClean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 smtClean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1]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5;</a:t>
            </a:r>
          </a:p>
        </p:txBody>
      </p:sp>
    </p:spTree>
    <p:extLst>
      <p:ext uri="{BB962C8B-B14F-4D97-AF65-F5344CB8AC3E}">
        <p14:creationId xmlns:p14="http://schemas.microsoft.com/office/powerpoint/2010/main" val="153345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74" y="1771324"/>
            <a:ext cx="8063865" cy="42225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0900"/>
              </a:lnSpc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ão, 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85"/>
              </a:spcBef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plo: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77165"/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nu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{{3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2300" b="1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2300" b="1" spc="10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5}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,{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endParaRPr sz="23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>
              <a:spcBef>
                <a:spcPts val="48"/>
              </a:spcBef>
            </a:pPr>
            <a:endParaRPr sz="27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u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>
              <a:lnSpc>
                <a:spcPts val="2635"/>
              </a:lnSpc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{{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} /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/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ini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a p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R="877569" algn="ctr">
              <a:lnSpc>
                <a:spcPts val="2635"/>
              </a:lnSpc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//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s 3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7.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As d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erã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41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i</a:t>
            </a:r>
            <a:r>
              <a:rPr b="0" i="1" spc="5" dirty="0">
                <a:latin typeface="Arial"/>
                <a:cs typeface="Arial"/>
              </a:rPr>
              <a:t>n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li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3686221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74" y="1764071"/>
            <a:ext cx="9201785" cy="46038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ts val="3420"/>
              </a:lnSpc>
            </a:pP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12700" algn="just">
              <a:lnSpc>
                <a:spcPts val="2760"/>
              </a:lnSpc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au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oma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6"/>
              </a:spcBef>
              <a:buClr>
                <a:srgbClr val="852A33"/>
              </a:buClr>
              <a:buFont typeface="Wingdings"/>
              <a:buChar char=""/>
            </a:pPr>
            <a:endParaRPr sz="2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ts val="2230"/>
              </a:lnSpc>
              <a:buClr>
                <a:srgbClr val="852A33"/>
              </a:buClr>
              <a:buSzPct val="71739"/>
              <a:buFont typeface="Wingdings"/>
              <a:buChar char=""/>
              <a:tabLst>
                <a:tab pos="33464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núme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, 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lemen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alor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00125">
              <a:spcBef>
                <a:spcPts val="35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nu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{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32,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4, 27}};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6"/>
              </a:spcBef>
            </a:pP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917575"/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{{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};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//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odos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os 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nulos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8"/>
              </a:spcBef>
            </a:pP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460" indent="-238760" algn="just"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0"/>
              </a:spcBef>
            </a:pPr>
            <a:endParaRPr sz="2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19810"/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 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{{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32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18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9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14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{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12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67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31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}};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42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i</a:t>
            </a:r>
            <a:r>
              <a:rPr b="0" i="1" spc="5" dirty="0">
                <a:latin typeface="Arial"/>
                <a:cs typeface="Arial"/>
              </a:rPr>
              <a:t>n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li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946033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7770" y="1684635"/>
            <a:ext cx="8943340" cy="861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2230"/>
              </a:lnSpc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ab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43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</a:t>
            </a:r>
            <a:r>
              <a:rPr b="0" i="1" dirty="0">
                <a:latin typeface="Arial"/>
                <a:cs typeface="Arial"/>
              </a:rPr>
              <a:t>ex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p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15" dirty="0">
                <a:latin typeface="Arial"/>
                <a:cs typeface="Arial"/>
              </a:rPr>
              <a:t>o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8371" y="2672373"/>
            <a:ext cx="6426835" cy="3400742"/>
          </a:xfrm>
          <a:prstGeom prst="rect">
            <a:avLst/>
          </a:prstGeom>
          <a:ln w="20990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102235">
              <a:spcBef>
                <a:spcPts val="200"/>
              </a:spcBef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#includ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&lt;st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io.h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53"/>
              </a:spcBef>
            </a:pPr>
            <a:endParaRPr sz="15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223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2235">
              <a:lnSpc>
                <a:spcPts val="1839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36550">
              <a:lnSpc>
                <a:spcPts val="1855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m[3][2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i,j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71500" marR="3480435" indent="-234950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fo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(i=0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3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i++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for(j=0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j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2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j++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136515" algn="ctr">
              <a:lnSpc>
                <a:spcPts val="177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0581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m[i][j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i+j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0581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printf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“i=%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j=%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mento=%d\n"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i,j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m[i][j])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136515" algn="ctr">
              <a:lnSpc>
                <a:spcPts val="185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36550">
              <a:lnSpc>
                <a:spcPts val="1839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2235">
              <a:lnSpc>
                <a:spcPts val="185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43642" y="3062225"/>
            <a:ext cx="2776855" cy="1854995"/>
          </a:xfrm>
          <a:prstGeom prst="rect">
            <a:avLst/>
          </a:prstGeom>
          <a:solidFill>
            <a:srgbClr val="EBEBEB"/>
          </a:solidFill>
          <a:ln w="20990">
            <a:solidFill>
              <a:srgbClr val="000000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102235">
              <a:spcBef>
                <a:spcPts val="42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3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4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3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4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2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3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2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3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649479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s</a:t>
            </a:r>
            <a:r>
              <a:rPr b="0" i="1" spc="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e </a:t>
            </a:r>
            <a:r>
              <a:rPr b="0" i="1" spc="5" dirty="0">
                <a:latin typeface="Arial"/>
                <a:cs typeface="Arial"/>
              </a:rPr>
              <a:t>sub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o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na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44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079" y="1517432"/>
            <a:ext cx="8868410" cy="2300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699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nas da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ado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de 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he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ape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ensão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pode ser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390525">
              <a:spcBef>
                <a:spcPts val="705"/>
              </a:spcBef>
            </a:pP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Ex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2031" y="3847187"/>
            <a:ext cx="899160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4600" y="3847187"/>
            <a:ext cx="1556385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[3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7361" y="4902397"/>
            <a:ext cx="899160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v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oi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91522" y="3847151"/>
            <a:ext cx="4250055" cy="1526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725"/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oa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21970" algn="ctr">
              <a:spcBef>
                <a:spcPts val="969"/>
              </a:spcBef>
            </a:pP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500"/>
              </a:spcBef>
            </a:pPr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fl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61435" y="4902397"/>
            <a:ext cx="1774189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[3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4079" y="5974399"/>
            <a:ext cx="7653020" cy="883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699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avendo</a:t>
            </a:r>
            <a:r>
              <a:rPr sz="2850" b="1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ensõ</a:t>
            </a:r>
            <a:r>
              <a:rPr sz="2850" b="1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regra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deverá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seguida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9152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247650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45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7785" y="1718643"/>
            <a:ext cx="9246235" cy="5474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76835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ipli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ém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inal,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 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rá 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4.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edi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8"/>
              </a:spcBef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033144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7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 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0"/>
              </a:spcBef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245745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10,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o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en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8"/>
              </a:spcBef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6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3,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nh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673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247650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46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7768" y="1896328"/>
            <a:ext cx="9241790" cy="4667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620"/>
              </a:lnSpc>
              <a:buFontTx/>
              <a:buAutoNum type="arabicParenR" startAt="5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5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“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”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cê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po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ng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8"/>
              </a:spcBef>
              <a:buFont typeface="Arial"/>
              <a:buAutoNum type="arabicParenR" startAt="5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9050">
              <a:lnSpc>
                <a:spcPts val="2620"/>
              </a:lnSpc>
              <a:buFontTx/>
              <a:buAutoNum type="arabicParenR" startAt="5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3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eai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3)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é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8"/>
              </a:spcBef>
              <a:buFont typeface="Arial"/>
              <a:buAutoNum type="arabicParenR" startAt="5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75895">
              <a:lnSpc>
                <a:spcPts val="2620"/>
              </a:lnSpc>
              <a:buFontTx/>
              <a:buAutoNum type="arabicParenR" startAt="5"/>
              <a:tabLst>
                <a:tab pos="370840" algn="l"/>
              </a:tabLst>
            </a:pP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 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linha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hi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ó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eja, 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am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éd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ca &gt;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6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ipli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3761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38075" y="7230415"/>
            <a:ext cx="18161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100" spc="-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11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endParaRPr sz="11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238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930" marR="5080">
              <a:lnSpc>
                <a:spcPts val="2330"/>
              </a:lnSpc>
              <a:buAutoNum type="arabicParenR" startAt="8"/>
              <a:tabLst>
                <a:tab pos="434975" algn="l"/>
              </a:tabLst>
            </a:pPr>
            <a:r>
              <a:rPr spc="15" dirty="0"/>
              <a:t>F</a:t>
            </a:r>
            <a:r>
              <a:rPr spc="5" dirty="0"/>
              <a:t>a</a:t>
            </a:r>
            <a:r>
              <a:rPr spc="10" dirty="0"/>
              <a:t>ça </a:t>
            </a:r>
            <a:r>
              <a:rPr spc="15" dirty="0"/>
              <a:t>um</a:t>
            </a:r>
            <a:r>
              <a:rPr dirty="0"/>
              <a:t> </a:t>
            </a:r>
            <a:r>
              <a:rPr spc="15" dirty="0"/>
              <a:t>p</a:t>
            </a:r>
            <a:r>
              <a:rPr spc="10" dirty="0"/>
              <a:t>r</a:t>
            </a:r>
            <a:r>
              <a:rPr spc="5" dirty="0"/>
              <a:t>o</a:t>
            </a:r>
            <a:r>
              <a:rPr spc="15" dirty="0"/>
              <a:t>g</a:t>
            </a:r>
            <a:r>
              <a:rPr dirty="0"/>
              <a:t>r</a:t>
            </a:r>
            <a:r>
              <a:rPr spc="15" dirty="0"/>
              <a:t>a</a:t>
            </a:r>
            <a:r>
              <a:rPr spc="25" dirty="0"/>
              <a:t>m</a:t>
            </a:r>
            <a:r>
              <a:rPr spc="10" dirty="0"/>
              <a:t>a</a:t>
            </a:r>
            <a:r>
              <a:rPr dirty="0"/>
              <a:t> </a:t>
            </a:r>
            <a:r>
              <a:rPr spc="15" dirty="0"/>
              <a:t>p</a:t>
            </a:r>
            <a:r>
              <a:rPr spc="5" dirty="0"/>
              <a:t>a</a:t>
            </a:r>
            <a:r>
              <a:rPr spc="10" dirty="0"/>
              <a:t>ra</a:t>
            </a:r>
            <a:r>
              <a:rPr dirty="0"/>
              <a:t> </a:t>
            </a:r>
            <a:r>
              <a:rPr spc="5" dirty="0"/>
              <a:t>l</a:t>
            </a:r>
            <a:r>
              <a:rPr spc="15" dirty="0"/>
              <a:t>e</a:t>
            </a:r>
            <a:r>
              <a:rPr spc="5" dirty="0"/>
              <a:t>r</a:t>
            </a:r>
            <a:r>
              <a:rPr spc="10" dirty="0"/>
              <a:t> a</a:t>
            </a:r>
            <a:r>
              <a:rPr dirty="0"/>
              <a:t> </a:t>
            </a:r>
            <a:r>
              <a:rPr spc="15" dirty="0"/>
              <a:t>q</a:t>
            </a:r>
            <a:r>
              <a:rPr spc="5" dirty="0"/>
              <a:t>u</a:t>
            </a:r>
            <a:r>
              <a:rPr spc="15" dirty="0"/>
              <a:t>a</a:t>
            </a:r>
            <a:r>
              <a:rPr spc="5" dirty="0"/>
              <a:t>n</a:t>
            </a:r>
            <a:r>
              <a:rPr dirty="0"/>
              <a:t>t</a:t>
            </a:r>
            <a:r>
              <a:rPr spc="5" dirty="0"/>
              <a:t>id</a:t>
            </a:r>
            <a:r>
              <a:rPr spc="15" dirty="0"/>
              <a:t>a</a:t>
            </a:r>
            <a:r>
              <a:rPr spc="5" dirty="0"/>
              <a:t>d</a:t>
            </a:r>
            <a:r>
              <a:rPr spc="10" dirty="0"/>
              <a:t>e </a:t>
            </a:r>
            <a:r>
              <a:rPr spc="5" dirty="0"/>
              <a:t>d</a:t>
            </a:r>
            <a:r>
              <a:rPr spc="10" dirty="0"/>
              <a:t>e </a:t>
            </a:r>
            <a:r>
              <a:rPr spc="5" dirty="0"/>
              <a:t>u</a:t>
            </a:r>
            <a:r>
              <a:rPr spc="15" dirty="0"/>
              <a:t>m t</a:t>
            </a:r>
            <a:r>
              <a:rPr spc="5" dirty="0"/>
              <a:t>otal</a:t>
            </a:r>
            <a:r>
              <a:rPr spc="15" dirty="0"/>
              <a:t> </a:t>
            </a:r>
            <a:r>
              <a:rPr spc="5" dirty="0"/>
              <a:t>d</a:t>
            </a:r>
            <a:r>
              <a:rPr spc="10" dirty="0"/>
              <a:t>e 5</a:t>
            </a:r>
            <a:r>
              <a:rPr spc="5" dirty="0"/>
              <a:t> p</a:t>
            </a:r>
            <a:r>
              <a:rPr spc="10" dirty="0"/>
              <a:t>r</a:t>
            </a:r>
            <a:r>
              <a:rPr spc="5" dirty="0"/>
              <a:t>o</a:t>
            </a:r>
            <a:r>
              <a:rPr spc="15" dirty="0"/>
              <a:t>d</a:t>
            </a:r>
            <a:r>
              <a:rPr spc="5" dirty="0"/>
              <a:t>u</a:t>
            </a:r>
            <a:r>
              <a:rPr dirty="0"/>
              <a:t>t</a:t>
            </a:r>
            <a:r>
              <a:rPr spc="5" dirty="0"/>
              <a:t>o</a:t>
            </a:r>
            <a:r>
              <a:rPr spc="10" dirty="0"/>
              <a:t>s</a:t>
            </a:r>
            <a:r>
              <a:rPr spc="15" dirty="0"/>
              <a:t> q</a:t>
            </a:r>
            <a:r>
              <a:rPr spc="5" dirty="0"/>
              <a:t>u</a:t>
            </a:r>
            <a:r>
              <a:rPr spc="10" dirty="0"/>
              <a:t>e </a:t>
            </a:r>
            <a:r>
              <a:rPr spc="5" dirty="0"/>
              <a:t>u</a:t>
            </a:r>
            <a:r>
              <a:rPr spc="25" dirty="0"/>
              <a:t>m</a:t>
            </a:r>
            <a:r>
              <a:rPr spc="10" dirty="0"/>
              <a:t>a</a:t>
            </a:r>
            <a:r>
              <a:rPr dirty="0"/>
              <a:t> </a:t>
            </a:r>
            <a:r>
              <a:rPr spc="15" dirty="0"/>
              <a:t>e</a:t>
            </a:r>
            <a:r>
              <a:rPr spc="25" dirty="0"/>
              <a:t>m</a:t>
            </a:r>
            <a:r>
              <a:rPr spc="5" dirty="0"/>
              <a:t>p</a:t>
            </a:r>
            <a:r>
              <a:rPr spc="10" dirty="0"/>
              <a:t>r</a:t>
            </a:r>
            <a:r>
              <a:rPr spc="5" dirty="0"/>
              <a:t>e</a:t>
            </a:r>
            <a:r>
              <a:rPr spc="10" dirty="0"/>
              <a:t>sa </a:t>
            </a:r>
            <a:r>
              <a:rPr dirty="0"/>
              <a:t>t</a:t>
            </a:r>
            <a:r>
              <a:rPr spc="15" dirty="0"/>
              <a:t>em </a:t>
            </a:r>
            <a:r>
              <a:rPr spc="5" dirty="0"/>
              <a:t>e</a:t>
            </a:r>
            <a:r>
              <a:rPr spc="15" dirty="0"/>
              <a:t>m</a:t>
            </a:r>
            <a:r>
              <a:rPr dirty="0"/>
              <a:t> </a:t>
            </a:r>
            <a:r>
              <a:rPr spc="20" dirty="0"/>
              <a:t>s</a:t>
            </a:r>
            <a:r>
              <a:rPr spc="5" dirty="0"/>
              <a:t>ua</a:t>
            </a:r>
            <a:r>
              <a:rPr spc="10" dirty="0"/>
              <a:t>s</a:t>
            </a:r>
            <a:r>
              <a:rPr spc="15" dirty="0"/>
              <a:t> </a:t>
            </a:r>
            <a:r>
              <a:rPr spc="10" dirty="0"/>
              <a:t>7 </a:t>
            </a:r>
            <a:r>
              <a:rPr spc="5" dirty="0"/>
              <a:t>loja</a:t>
            </a:r>
            <a:r>
              <a:rPr spc="10" dirty="0"/>
              <a:t>s</a:t>
            </a:r>
            <a:r>
              <a:rPr spc="5" dirty="0"/>
              <a:t> </a:t>
            </a:r>
            <a:r>
              <a:rPr spc="10" dirty="0"/>
              <a:t>e</a:t>
            </a:r>
            <a:r>
              <a:rPr dirty="0"/>
              <a:t> </a:t>
            </a:r>
            <a:r>
              <a:rPr spc="15" dirty="0"/>
              <a:t>i</a:t>
            </a:r>
            <a:r>
              <a:rPr spc="10" dirty="0"/>
              <a:t>m</a:t>
            </a:r>
            <a:r>
              <a:rPr spc="15" dirty="0"/>
              <a:t>p</a:t>
            </a:r>
            <a:r>
              <a:rPr spc="5" dirty="0"/>
              <a:t>ri</a:t>
            </a:r>
            <a:r>
              <a:rPr spc="10" dirty="0"/>
              <a:t>m</a:t>
            </a:r>
            <a:r>
              <a:rPr spc="15" dirty="0"/>
              <a:t>i</a:t>
            </a:r>
            <a:r>
              <a:rPr spc="5" dirty="0"/>
              <a:t>r</a:t>
            </a:r>
            <a:r>
              <a:rPr dirty="0"/>
              <a:t> </a:t>
            </a:r>
            <a:r>
              <a:rPr spc="15" dirty="0"/>
              <a:t>em u</a:t>
            </a:r>
            <a:r>
              <a:rPr spc="10" dirty="0"/>
              <a:t>ma</a:t>
            </a:r>
            <a:r>
              <a:rPr spc="5" dirty="0"/>
              <a:t> </a:t>
            </a:r>
            <a:r>
              <a:rPr dirty="0"/>
              <a:t>t</a:t>
            </a:r>
            <a:r>
              <a:rPr spc="5" dirty="0"/>
              <a:t>a</a:t>
            </a:r>
            <a:r>
              <a:rPr spc="15" dirty="0"/>
              <a:t>b</a:t>
            </a:r>
            <a:r>
              <a:rPr spc="5" dirty="0"/>
              <a:t>ela:</a:t>
            </a:r>
          </a:p>
          <a:p>
            <a:pPr marL="692150" lvl="1" indent="-361315">
              <a:lnSpc>
                <a:spcPct val="100000"/>
              </a:lnSpc>
              <a:spcBef>
                <a:spcPts val="35"/>
              </a:spcBef>
              <a:buAutoNum type="alphaLcParenR"/>
              <a:tabLst>
                <a:tab pos="692150" algn="l"/>
              </a:tabLst>
            </a:pPr>
            <a:r>
              <a:rPr sz="2400" spc="10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 t</a:t>
            </a:r>
            <a:r>
              <a:rPr sz="2400" spc="15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al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d</a:t>
            </a:r>
            <a:r>
              <a:rPr sz="2400" spc="1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c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5" dirty="0">
                <a:latin typeface="Arial"/>
                <a:cs typeface="Arial"/>
              </a:rPr>
              <a:t>d</a:t>
            </a:r>
            <a:r>
              <a:rPr sz="2400" spc="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5" dirty="0">
                <a:latin typeface="Arial"/>
                <a:cs typeface="Arial"/>
              </a:rPr>
              <a:t>p</a:t>
            </a:r>
            <a:r>
              <a:rPr sz="2400" spc="10" dirty="0">
                <a:latin typeface="Arial"/>
                <a:cs typeface="Arial"/>
              </a:rPr>
              <a:t>r</a:t>
            </a:r>
            <a:r>
              <a:rPr sz="2400" spc="5" dirty="0">
                <a:latin typeface="Arial"/>
                <a:cs typeface="Arial"/>
              </a:rPr>
              <a:t>od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10" dirty="0">
                <a:latin typeface="Arial"/>
                <a:cs typeface="Arial"/>
              </a:rPr>
              <a:t>o </a:t>
            </a:r>
            <a:r>
              <a:rPr sz="2400" spc="5" dirty="0">
                <a:latin typeface="Arial"/>
                <a:cs typeface="Arial"/>
              </a:rPr>
              <a:t>ne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15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5" dirty="0">
                <a:latin typeface="Arial"/>
                <a:cs typeface="Arial"/>
              </a:rPr>
              <a:t> loja</a:t>
            </a:r>
            <a:r>
              <a:rPr sz="2400" spc="1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692150" lvl="1" indent="-361315">
              <a:lnSpc>
                <a:spcPct val="100000"/>
              </a:lnSpc>
              <a:spcBef>
                <a:spcPts val="20"/>
              </a:spcBef>
              <a:buAutoNum type="alphaLcParenR"/>
              <a:tabLst>
                <a:tab pos="692150" algn="l"/>
              </a:tabLst>
            </a:pPr>
            <a:r>
              <a:rPr sz="2400" spc="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loj</a:t>
            </a:r>
            <a:r>
              <a:rPr sz="2400" spc="10" dirty="0">
                <a:latin typeface="Arial"/>
                <a:cs typeface="Arial"/>
              </a:rPr>
              <a:t>a </a:t>
            </a:r>
            <a:r>
              <a:rPr sz="2400" spc="5" dirty="0">
                <a:latin typeface="Arial"/>
                <a:cs typeface="Arial"/>
              </a:rPr>
              <a:t>qu</a:t>
            </a:r>
            <a:r>
              <a:rPr sz="2400" spc="10" dirty="0">
                <a:latin typeface="Arial"/>
                <a:cs typeface="Arial"/>
              </a:rPr>
              <a:t>e 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15" dirty="0">
                <a:latin typeface="Arial"/>
                <a:cs typeface="Arial"/>
              </a:rPr>
              <a:t>em </a:t>
            </a:r>
            <a:r>
              <a:rPr sz="2400" spc="25" dirty="0">
                <a:latin typeface="Arial"/>
                <a:cs typeface="Arial"/>
              </a:rPr>
              <a:t>m</a:t>
            </a:r>
            <a:r>
              <a:rPr sz="2400" spc="5" dirty="0">
                <a:latin typeface="Arial"/>
                <a:cs typeface="Arial"/>
              </a:rPr>
              <a:t>eno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15" dirty="0">
                <a:latin typeface="Arial"/>
                <a:cs typeface="Arial"/>
              </a:rPr>
              <a:t> p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15" dirty="0">
                <a:latin typeface="Arial"/>
                <a:cs typeface="Arial"/>
              </a:rPr>
              <a:t>o</a:t>
            </a:r>
            <a:r>
              <a:rPr sz="2400" spc="5" dirty="0">
                <a:latin typeface="Arial"/>
                <a:cs typeface="Arial"/>
              </a:rPr>
              <a:t>d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o</a:t>
            </a:r>
            <a:r>
              <a:rPr sz="2400" spc="1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62230" lvl="1">
              <a:lnSpc>
                <a:spcPct val="100000"/>
              </a:lnSpc>
              <a:spcBef>
                <a:spcPts val="7"/>
              </a:spcBef>
              <a:buFont typeface="Arial"/>
              <a:buAutoNum type="alphaLcParenR"/>
            </a:pPr>
            <a:endParaRPr sz="2550">
              <a:latin typeface="Times New Roman"/>
              <a:cs typeface="Times New Roman"/>
            </a:endParaRPr>
          </a:p>
          <a:p>
            <a:pPr marL="434340" indent="-359410">
              <a:lnSpc>
                <a:spcPct val="100000"/>
              </a:lnSpc>
              <a:buAutoNum type="arabicParenR" startAt="8"/>
              <a:tabLst>
                <a:tab pos="434975" algn="l"/>
              </a:tabLst>
            </a:pPr>
            <a:r>
              <a:rPr dirty="0"/>
              <a:t>I</a:t>
            </a:r>
            <a:r>
              <a:rPr spc="15" dirty="0"/>
              <a:t>d</a:t>
            </a:r>
            <a:r>
              <a:rPr spc="5" dirty="0"/>
              <a:t>e</a:t>
            </a:r>
            <a:r>
              <a:rPr spc="15" dirty="0"/>
              <a:t>m </a:t>
            </a:r>
            <a:r>
              <a:rPr spc="5" dirty="0"/>
              <a:t>a</a:t>
            </a:r>
            <a:r>
              <a:rPr spc="10" dirty="0"/>
              <a:t>o </a:t>
            </a:r>
            <a:r>
              <a:rPr spc="15" dirty="0"/>
              <a:t>e</a:t>
            </a:r>
            <a:r>
              <a:rPr spc="-5" dirty="0"/>
              <a:t>x</a:t>
            </a:r>
            <a:r>
              <a:rPr spc="15" dirty="0"/>
              <a:t>e</a:t>
            </a:r>
            <a:r>
              <a:rPr dirty="0"/>
              <a:t>r</a:t>
            </a:r>
            <a:r>
              <a:rPr spc="10" dirty="0"/>
              <a:t>c</a:t>
            </a:r>
            <a:r>
              <a:rPr dirty="0"/>
              <a:t>í</a:t>
            </a:r>
            <a:r>
              <a:rPr spc="10" dirty="0"/>
              <a:t>c</a:t>
            </a:r>
            <a:r>
              <a:rPr spc="5" dirty="0"/>
              <a:t>i</a:t>
            </a:r>
            <a:r>
              <a:rPr spc="10" dirty="0"/>
              <a:t>o </a:t>
            </a:r>
            <a:r>
              <a:rPr spc="5" dirty="0"/>
              <a:t>1,</a:t>
            </a:r>
            <a:r>
              <a:rPr dirty="0"/>
              <a:t> </a:t>
            </a:r>
            <a:r>
              <a:rPr spc="15" dirty="0"/>
              <a:t>a</a:t>
            </a:r>
            <a:r>
              <a:rPr spc="5" dirty="0"/>
              <a:t>g</a:t>
            </a:r>
            <a:r>
              <a:rPr spc="15" dirty="0"/>
              <a:t>o</a:t>
            </a:r>
            <a:r>
              <a:rPr dirty="0"/>
              <a:t>r</a:t>
            </a:r>
            <a:r>
              <a:rPr spc="10" dirty="0"/>
              <a:t>a c</a:t>
            </a:r>
            <a:r>
              <a:rPr spc="15" dirty="0"/>
              <a:t>om</a:t>
            </a:r>
            <a:r>
              <a:rPr dirty="0"/>
              <a:t> </a:t>
            </a:r>
            <a:r>
              <a:rPr spc="10" dirty="0"/>
              <a:t>o s</a:t>
            </a:r>
            <a:r>
              <a:rPr spc="15" dirty="0"/>
              <a:t>e</a:t>
            </a:r>
            <a:r>
              <a:rPr spc="5" dirty="0"/>
              <a:t>gui</a:t>
            </a:r>
            <a:r>
              <a:rPr spc="15" dirty="0"/>
              <a:t>n</a:t>
            </a:r>
            <a:r>
              <a:rPr dirty="0"/>
              <a:t>t</a:t>
            </a:r>
            <a:r>
              <a:rPr spc="10" dirty="0"/>
              <a:t>e </a:t>
            </a:r>
            <a:r>
              <a:rPr dirty="0"/>
              <a:t>“</a:t>
            </a:r>
            <a:r>
              <a:rPr spc="25" dirty="0"/>
              <a:t>M</a:t>
            </a:r>
            <a:r>
              <a:rPr spc="5" dirty="0"/>
              <a:t>e</a:t>
            </a:r>
            <a:r>
              <a:rPr spc="15" dirty="0"/>
              <a:t>n</a:t>
            </a:r>
            <a:r>
              <a:rPr spc="5" dirty="0"/>
              <a:t>u</a:t>
            </a:r>
            <a:r>
              <a:rPr spc="15" dirty="0"/>
              <a:t>”</a:t>
            </a:r>
            <a:r>
              <a:rPr spc="5" dirty="0"/>
              <a:t>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33855" y="3695641"/>
            <a:ext cx="7062470" cy="2695215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219710">
              <a:spcBef>
                <a:spcPts val="330"/>
              </a:spcBef>
            </a:pP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Esc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ma 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op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ál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i="1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34620">
              <a:spcBef>
                <a:spcPts val="20"/>
              </a:spcBef>
              <a:buFontTx/>
              <a:buAutoNum type="arabicParenR"/>
              <a:tabLst>
                <a:tab pos="494665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So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494030" indent="-359410">
              <a:spcBef>
                <a:spcPts val="20"/>
              </a:spcBef>
              <a:buFontTx/>
              <a:buAutoNum type="arabicParenR"/>
              <a:tabLst>
                <a:tab pos="494665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ça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495934" indent="-361315">
              <a:spcBef>
                <a:spcPts val="20"/>
              </a:spcBef>
              <a:buFontTx/>
              <a:buAutoNum type="arabicParenR"/>
              <a:tabLst>
                <a:tab pos="496570" algn="l"/>
              </a:tabLst>
            </a:pP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spo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494030" indent="-359410">
              <a:spcBef>
                <a:spcPts val="35"/>
              </a:spcBef>
              <a:buFontTx/>
              <a:buAutoNum type="arabicParenR"/>
              <a:tabLst>
                <a:tab pos="494665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od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34620" marR="5499735">
              <a:lnSpc>
                <a:spcPct val="100800"/>
              </a:lnSpc>
              <a:buFontTx/>
              <a:buAutoNum type="arabicParenR"/>
              <a:tabLst>
                <a:tab pos="494665" algn="l"/>
                <a:tab pos="1532890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air 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400" u="heavy" spc="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u="heavy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sz="2400" u="heavy" spc="-5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7792" y="6422989"/>
            <a:ext cx="9225915" cy="1116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00"/>
              </a:lnSpc>
            </a:pP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Na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op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(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3)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só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2)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0"/>
              </a:spcBef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ve 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203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38075" y="7230415"/>
            <a:ext cx="18161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100" spc="-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110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endParaRPr sz="11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0031" y="1528338"/>
            <a:ext cx="8046084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8460">
              <a:lnSpc>
                <a:spcPts val="2270"/>
              </a:lnSpc>
            </a:pP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pl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 a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bro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o p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a q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050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ame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35017" y="3915709"/>
            <a:ext cx="1663700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3995" y="2406693"/>
            <a:ext cx="6451600" cy="20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dio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h&gt;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 marR="4666615">
              <a:tabLst>
                <a:tab pos="643255" algn="l"/>
              </a:tabLst>
            </a:pP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#de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AX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10 int	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0"/>
              </a:spcBef>
            </a:pP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1795"/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at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a[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AX]</a:t>
            </a:r>
            <a:r>
              <a:rPr sz="1650" b="1" spc="-1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X],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650" b="1" spc="-1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MAX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AX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1795"/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m,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1795" marR="5080" indent="-635">
              <a:lnSpc>
                <a:spcPts val="1989"/>
              </a:lnSpc>
              <a:spcBef>
                <a:spcPts val="55"/>
              </a:spcBef>
            </a:pP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nDi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u="heavy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nh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lu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das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nf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“%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,%d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”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650" b="1" spc="-15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m,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3369" y="4419192"/>
            <a:ext cx="2166620" cy="1033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nFo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ça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l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iz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 marR="5080" indent="-635">
              <a:spcBef>
                <a:spcPts val="10"/>
              </a:spcBef>
            </a:pP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nFo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ça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l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iz</a:t>
            </a: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29290" y="4419730"/>
            <a:ext cx="3805554" cy="1033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ele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da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39065"/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//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le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u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ra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da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mat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iz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0"/>
              </a:spcBef>
            </a:pP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ele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da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/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//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lei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u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d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atr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34691" y="5426211"/>
            <a:ext cx="1160145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é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spc="10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ad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.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63369" y="5426247"/>
            <a:ext cx="6071870" cy="1537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c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o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ia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(a,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,n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;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/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/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“r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c</a:t>
            </a: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be”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 marR="3027680">
              <a:lnSpc>
                <a:spcPct val="100200"/>
              </a:lnSpc>
              <a:spcBef>
                <a:spcPts val="5"/>
              </a:spcBef>
            </a:pP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n);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 </a:t>
            </a: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n);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urn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4066" y="6936750"/>
            <a:ext cx="151765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642541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935722"/>
            <a:ext cx="9124292" cy="33958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Até </a:t>
            </a:r>
            <a:r>
              <a:rPr sz="3400" spc="-6" dirty="0">
                <a:latin typeface="Arial"/>
                <a:cs typeface="Arial"/>
              </a:rPr>
              <a:t>agora vimos as </a:t>
            </a:r>
            <a:r>
              <a:rPr sz="3400" dirty="0">
                <a:latin typeface="Arial"/>
                <a:cs typeface="Arial"/>
              </a:rPr>
              <a:t>estruturas </a:t>
            </a:r>
            <a:r>
              <a:rPr sz="3400" spc="-6" dirty="0">
                <a:latin typeface="Arial"/>
                <a:cs typeface="Arial"/>
              </a:rPr>
              <a:t>de dados  homogêneas: </a:t>
            </a:r>
            <a:r>
              <a:rPr sz="3400" b="1" spc="-17" dirty="0">
                <a:latin typeface="Arial"/>
                <a:cs typeface="Arial"/>
              </a:rPr>
              <a:t>vetores</a:t>
            </a:r>
            <a:r>
              <a:rPr sz="3400" spc="-17" dirty="0">
                <a:latin typeface="Arial"/>
                <a:cs typeface="Arial"/>
              </a:rPr>
              <a:t>, </a:t>
            </a:r>
            <a:r>
              <a:rPr sz="3400" b="1" spc="-6" dirty="0">
                <a:latin typeface="Arial"/>
                <a:cs typeface="Arial"/>
              </a:rPr>
              <a:t>matrizes </a:t>
            </a:r>
            <a:r>
              <a:rPr sz="3400" spc="-6" dirty="0">
                <a:latin typeface="Arial"/>
                <a:cs typeface="Arial"/>
              </a:rPr>
              <a:t>e</a:t>
            </a:r>
            <a:r>
              <a:rPr sz="3400" spc="103" dirty="0">
                <a:latin typeface="Arial"/>
                <a:cs typeface="Arial"/>
              </a:rPr>
              <a:t> </a:t>
            </a:r>
            <a:r>
              <a:rPr sz="3400" b="1" i="1" spc="-6" dirty="0">
                <a:latin typeface="Arial"/>
                <a:cs typeface="Arial"/>
              </a:rPr>
              <a:t>strings</a:t>
            </a:r>
            <a:r>
              <a:rPr sz="3400" spc="-6" dirty="0"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35874" marR="193349" indent="-521391">
              <a:spcBef>
                <a:spcPts val="1996"/>
              </a:spcBef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Nestas estruturas </a:t>
            </a:r>
            <a:r>
              <a:rPr sz="3400" spc="-6" dirty="0">
                <a:latin typeface="Arial"/>
                <a:cs typeface="Arial"/>
              </a:rPr>
              <a:t>todos os elementos da  </a:t>
            </a:r>
            <a:r>
              <a:rPr sz="3400" dirty="0">
                <a:latin typeface="Arial"/>
                <a:cs typeface="Arial"/>
              </a:rPr>
              <a:t>estrutura são de </a:t>
            </a:r>
            <a:r>
              <a:rPr sz="3400" spc="-6" dirty="0">
                <a:latin typeface="Arial"/>
                <a:cs typeface="Arial"/>
              </a:rPr>
              <a:t>tipos </a:t>
            </a:r>
            <a:r>
              <a:rPr sz="3400" dirty="0">
                <a:latin typeface="Arial"/>
                <a:cs typeface="Arial"/>
              </a:rPr>
              <a:t>de </a:t>
            </a:r>
            <a:r>
              <a:rPr sz="3400" spc="-6" dirty="0">
                <a:latin typeface="Arial"/>
                <a:cs typeface="Arial"/>
              </a:rPr>
              <a:t>dados</a:t>
            </a:r>
            <a:r>
              <a:rPr sz="3400" spc="-46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primitivos:  </a:t>
            </a:r>
            <a:r>
              <a:rPr sz="3400" b="1" dirty="0">
                <a:latin typeface="Arial"/>
                <a:cs typeface="Arial"/>
              </a:rPr>
              <a:t>inteiro, </a:t>
            </a:r>
            <a:r>
              <a:rPr sz="3400" b="1" spc="-6" dirty="0">
                <a:latin typeface="Arial"/>
                <a:cs typeface="Arial"/>
              </a:rPr>
              <a:t>real,</a:t>
            </a:r>
            <a:r>
              <a:rPr sz="3400" b="1" spc="-34" dirty="0">
                <a:latin typeface="Arial"/>
                <a:cs typeface="Arial"/>
              </a:rPr>
              <a:t> </a:t>
            </a:r>
            <a:r>
              <a:rPr sz="3400" b="1" spc="-11" dirty="0">
                <a:latin typeface="Arial"/>
                <a:cs typeface="Arial"/>
              </a:rPr>
              <a:t>caractere</a:t>
            </a:r>
            <a:r>
              <a:rPr sz="3400" spc="-11" dirty="0"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82">
              <a:lnSpc>
                <a:spcPts val="1260"/>
              </a:lnSpc>
            </a:pPr>
            <a:fld id="{81D60167-4931-47E6-BA6A-407CBD079E47}" type="slidenum">
              <a:rPr dirty="0"/>
              <a:pPr marL="101382">
                <a:lnSpc>
                  <a:spcPts val="1260"/>
                </a:lnSpc>
              </a:pPr>
              <a:t>49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</a:t>
            </a:r>
            <a:r>
              <a:rPr spc="-68" dirty="0"/>
              <a:t> </a:t>
            </a:r>
            <a:r>
              <a:rPr spc="-6" dirty="0"/>
              <a:t>heterogêneas</a:t>
            </a:r>
          </a:p>
        </p:txBody>
      </p:sp>
    </p:spTree>
    <p:extLst>
      <p:ext uri="{BB962C8B-B14F-4D97-AF65-F5344CB8AC3E}">
        <p14:creationId xmlns:p14="http://schemas.microsoft.com/office/powerpoint/2010/main" val="11780552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386058"/>
            <a:ext cx="9426529" cy="5311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No </a:t>
            </a:r>
            <a:r>
              <a:rPr sz="3400" spc="-6" dirty="0">
                <a:latin typeface="Arial"/>
                <a:cs typeface="Arial"/>
              </a:rPr>
              <a:t>entanto, </a:t>
            </a:r>
            <a:r>
              <a:rPr sz="3400" dirty="0">
                <a:latin typeface="Arial"/>
                <a:cs typeface="Arial"/>
              </a:rPr>
              <a:t>em </a:t>
            </a:r>
            <a:r>
              <a:rPr sz="3400" spc="-6" dirty="0">
                <a:latin typeface="Arial"/>
                <a:cs typeface="Arial"/>
              </a:rPr>
              <a:t>muitos </a:t>
            </a:r>
            <a:r>
              <a:rPr sz="3400" dirty="0">
                <a:latin typeface="Arial"/>
                <a:cs typeface="Arial"/>
              </a:rPr>
              <a:t>casos, </a:t>
            </a:r>
            <a:r>
              <a:rPr sz="3400" spc="-6" dirty="0">
                <a:latin typeface="Arial"/>
                <a:cs typeface="Arial"/>
              </a:rPr>
              <a:t>necessitamos  armazenar conjuntos de informações  relacionadas, formados por diversos tipos de  </a:t>
            </a:r>
            <a:r>
              <a:rPr sz="3400" spc="-11" dirty="0">
                <a:latin typeface="Arial"/>
                <a:cs typeface="Arial"/>
              </a:rPr>
              <a:t>dados</a:t>
            </a:r>
            <a:r>
              <a:rPr sz="3400" spc="-34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primitivos.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35874" indent="-521391">
              <a:spcBef>
                <a:spcPts val="1996"/>
              </a:spcBef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Exemplos:</a:t>
            </a:r>
            <a:endParaRPr sz="3400">
              <a:latin typeface="Arial"/>
              <a:cs typeface="Arial"/>
            </a:endParaRPr>
          </a:p>
          <a:p>
            <a:pPr marL="924021" lvl="1" indent="-521391">
              <a:spcBef>
                <a:spcPts val="912"/>
              </a:spcBef>
              <a:buClr>
                <a:srgbClr val="808080"/>
              </a:buClr>
              <a:buSzPct val="70000"/>
              <a:buChar char="•"/>
              <a:tabLst>
                <a:tab pos="924021" algn="l"/>
                <a:tab pos="924745" algn="l"/>
              </a:tabLst>
            </a:pPr>
            <a:r>
              <a:rPr sz="3400" spc="-11" dirty="0">
                <a:latin typeface="Arial"/>
                <a:cs typeface="Arial"/>
              </a:rPr>
              <a:t>Endereço;</a:t>
            </a:r>
            <a:endParaRPr sz="3400">
              <a:latin typeface="Arial"/>
              <a:cs typeface="Arial"/>
            </a:endParaRPr>
          </a:p>
          <a:p>
            <a:pPr marL="924021" lvl="1" indent="-521391">
              <a:spcBef>
                <a:spcPts val="912"/>
              </a:spcBef>
              <a:buClr>
                <a:srgbClr val="808080"/>
              </a:buClr>
              <a:buSzPct val="70000"/>
              <a:buChar char="•"/>
              <a:tabLst>
                <a:tab pos="924021" algn="l"/>
                <a:tab pos="924745" algn="l"/>
              </a:tabLst>
            </a:pPr>
            <a:r>
              <a:rPr sz="3400" spc="-6" dirty="0">
                <a:latin typeface="Arial"/>
                <a:cs typeface="Arial"/>
              </a:rPr>
              <a:t>Fichas </a:t>
            </a:r>
            <a:r>
              <a:rPr sz="3400" dirty="0">
                <a:latin typeface="Arial"/>
                <a:cs typeface="Arial"/>
              </a:rPr>
              <a:t>com </a:t>
            </a:r>
            <a:r>
              <a:rPr sz="3400" spc="-11" dirty="0">
                <a:latin typeface="Arial"/>
                <a:cs typeface="Arial"/>
              </a:rPr>
              <a:t>dados </a:t>
            </a:r>
            <a:r>
              <a:rPr sz="3400" spc="-6" dirty="0">
                <a:latin typeface="Arial"/>
                <a:cs typeface="Arial"/>
              </a:rPr>
              <a:t>pessoais de um</a:t>
            </a:r>
            <a:r>
              <a:rPr sz="3400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cliente;</a:t>
            </a:r>
            <a:endParaRPr sz="3400">
              <a:latin typeface="Arial"/>
              <a:cs typeface="Arial"/>
            </a:endParaRPr>
          </a:p>
          <a:p>
            <a:pPr marL="924021" lvl="1" indent="-521391">
              <a:spcBef>
                <a:spcPts val="912"/>
              </a:spcBef>
              <a:buClr>
                <a:srgbClr val="808080"/>
              </a:buClr>
              <a:buSzPct val="70000"/>
              <a:buChar char="•"/>
              <a:tabLst>
                <a:tab pos="924021" algn="l"/>
                <a:tab pos="924745" algn="l"/>
              </a:tabLst>
            </a:pPr>
            <a:r>
              <a:rPr sz="3400" spc="-6" dirty="0">
                <a:latin typeface="Arial"/>
                <a:cs typeface="Arial"/>
              </a:rPr>
              <a:t>Fichas </a:t>
            </a:r>
            <a:r>
              <a:rPr sz="3400" dirty="0">
                <a:latin typeface="Arial"/>
                <a:cs typeface="Arial"/>
              </a:rPr>
              <a:t>com </a:t>
            </a:r>
            <a:r>
              <a:rPr sz="3400" spc="-11" dirty="0">
                <a:latin typeface="Arial"/>
                <a:cs typeface="Arial"/>
              </a:rPr>
              <a:t>dados </a:t>
            </a:r>
            <a:r>
              <a:rPr sz="3400" spc="-6" dirty="0">
                <a:latin typeface="Arial"/>
                <a:cs typeface="Arial"/>
              </a:rPr>
              <a:t>de </a:t>
            </a:r>
            <a:r>
              <a:rPr sz="3400" dirty="0">
                <a:latin typeface="Arial"/>
                <a:cs typeface="Arial"/>
              </a:rPr>
              <a:t>um</a:t>
            </a:r>
            <a:r>
              <a:rPr sz="3400" spc="-40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produto.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82">
              <a:lnSpc>
                <a:spcPts val="1260"/>
              </a:lnSpc>
            </a:pPr>
            <a:fld id="{81D60167-4931-47E6-BA6A-407CBD079E47}" type="slidenum">
              <a:rPr dirty="0"/>
              <a:pPr marL="101382">
                <a:lnSpc>
                  <a:spcPts val="1260"/>
                </a:lnSpc>
              </a:pPr>
              <a:t>50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</a:t>
            </a:r>
            <a:r>
              <a:rPr spc="-68" dirty="0"/>
              <a:t> </a:t>
            </a:r>
            <a:r>
              <a:rPr spc="-6" dirty="0"/>
              <a:t>heterogêneas</a:t>
            </a:r>
          </a:p>
        </p:txBody>
      </p:sp>
    </p:spTree>
    <p:extLst>
      <p:ext uri="{BB962C8B-B14F-4D97-AF65-F5344CB8AC3E}">
        <p14:creationId xmlns:p14="http://schemas.microsoft.com/office/powerpoint/2010/main" val="1326595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359890"/>
            <a:ext cx="9306971" cy="52486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784259" indent="-521391">
              <a:lnSpc>
                <a:spcPct val="90000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Quando </a:t>
            </a:r>
            <a:r>
              <a:rPr sz="3400" dirty="0">
                <a:latin typeface="Arial"/>
                <a:cs typeface="Arial"/>
              </a:rPr>
              <a:t>uma </a:t>
            </a:r>
            <a:r>
              <a:rPr sz="3400" spc="-6" dirty="0">
                <a:latin typeface="Arial"/>
                <a:cs typeface="Arial"/>
              </a:rPr>
              <a:t>determinada estrutura </a:t>
            </a:r>
            <a:r>
              <a:rPr sz="3400" dirty="0">
                <a:latin typeface="Arial"/>
                <a:cs typeface="Arial"/>
              </a:rPr>
              <a:t>de  </a:t>
            </a:r>
            <a:r>
              <a:rPr sz="3400" spc="-11" dirty="0">
                <a:latin typeface="Arial"/>
                <a:cs typeface="Arial"/>
              </a:rPr>
              <a:t>dados </a:t>
            </a:r>
            <a:r>
              <a:rPr sz="3400" dirty="0">
                <a:latin typeface="Arial"/>
                <a:cs typeface="Arial"/>
              </a:rPr>
              <a:t>for </a:t>
            </a:r>
            <a:r>
              <a:rPr sz="3400" spc="-6" dirty="0">
                <a:latin typeface="Arial"/>
                <a:cs typeface="Arial"/>
              </a:rPr>
              <a:t>composta </a:t>
            </a:r>
            <a:r>
              <a:rPr sz="3400" spc="-11" dirty="0">
                <a:latin typeface="Arial"/>
                <a:cs typeface="Arial"/>
              </a:rPr>
              <a:t>por </a:t>
            </a:r>
            <a:r>
              <a:rPr sz="3400" b="1" spc="-11" dirty="0">
                <a:latin typeface="Arial"/>
                <a:cs typeface="Arial"/>
              </a:rPr>
              <a:t>diversos </a:t>
            </a:r>
            <a:r>
              <a:rPr sz="3400" b="1" dirty="0">
                <a:latin typeface="Arial"/>
                <a:cs typeface="Arial"/>
              </a:rPr>
              <a:t>tipos  </a:t>
            </a:r>
            <a:r>
              <a:rPr sz="3400" b="1" spc="-6" dirty="0">
                <a:latin typeface="Arial"/>
                <a:cs typeface="Arial"/>
              </a:rPr>
              <a:t>diferentes, </a:t>
            </a:r>
            <a:r>
              <a:rPr sz="3400" spc="-6" dirty="0">
                <a:latin typeface="Arial"/>
                <a:cs typeface="Arial"/>
              </a:rPr>
              <a:t>primitivos </a:t>
            </a:r>
            <a:r>
              <a:rPr sz="3400" dirty="0">
                <a:latin typeface="Arial"/>
                <a:cs typeface="Arial"/>
              </a:rPr>
              <a:t>ou </a:t>
            </a:r>
            <a:r>
              <a:rPr sz="3400" spc="-11" dirty="0">
                <a:latin typeface="Arial"/>
                <a:cs typeface="Arial"/>
              </a:rPr>
              <a:t>não, </a:t>
            </a:r>
            <a:r>
              <a:rPr sz="3400" spc="-6" dirty="0">
                <a:latin typeface="Arial"/>
                <a:cs typeface="Arial"/>
              </a:rPr>
              <a:t>temos </a:t>
            </a:r>
            <a:r>
              <a:rPr sz="3400" dirty="0">
                <a:latin typeface="Arial"/>
                <a:cs typeface="Arial"/>
              </a:rPr>
              <a:t>um  </a:t>
            </a:r>
            <a:r>
              <a:rPr sz="3400" spc="-6" dirty="0">
                <a:latin typeface="Arial"/>
                <a:cs typeface="Arial"/>
              </a:rPr>
              <a:t>conjunto heterogêneo de</a:t>
            </a:r>
            <a:r>
              <a:rPr sz="3400" spc="-17" dirty="0">
                <a:latin typeface="Arial"/>
                <a:cs typeface="Arial"/>
              </a:rPr>
              <a:t> </a:t>
            </a:r>
            <a:r>
              <a:rPr sz="3400" spc="-11" dirty="0">
                <a:latin typeface="Arial"/>
                <a:cs typeface="Arial"/>
              </a:rPr>
              <a:t>dados.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4800">
              <a:latin typeface="Times New Roman"/>
              <a:cs typeface="Times New Roman"/>
            </a:endParaRPr>
          </a:p>
          <a:p>
            <a:pPr marL="535874" marR="5793" indent="-521391">
              <a:lnSpc>
                <a:spcPts val="3695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Essas </a:t>
            </a:r>
            <a:r>
              <a:rPr sz="3400" spc="-6" dirty="0">
                <a:latin typeface="Arial"/>
                <a:cs typeface="Arial"/>
              </a:rPr>
              <a:t>variáveis são chamadas de</a:t>
            </a:r>
            <a:r>
              <a:rPr sz="3400" spc="-40" dirty="0">
                <a:latin typeface="Arial"/>
                <a:cs typeface="Arial"/>
              </a:rPr>
              <a:t> </a:t>
            </a:r>
            <a:r>
              <a:rPr sz="3400" b="1" u="heavy" spc="-17" dirty="0">
                <a:latin typeface="Arial"/>
                <a:cs typeface="Arial"/>
              </a:rPr>
              <a:t>variáveis  </a:t>
            </a:r>
            <a:r>
              <a:rPr sz="3400" b="1" u="heavy" dirty="0">
                <a:latin typeface="Arial"/>
                <a:cs typeface="Arial"/>
              </a:rPr>
              <a:t>compostas</a:t>
            </a:r>
            <a:r>
              <a:rPr sz="3400" b="1" u="heavy" spc="-86" dirty="0">
                <a:latin typeface="Arial"/>
                <a:cs typeface="Arial"/>
              </a:rPr>
              <a:t> </a:t>
            </a:r>
            <a:r>
              <a:rPr sz="3400" b="1" u="heavy" spc="-6" dirty="0">
                <a:latin typeface="Arial"/>
                <a:cs typeface="Arial"/>
              </a:rPr>
              <a:t>heterogêneas</a:t>
            </a:r>
            <a:r>
              <a:rPr sz="3400" spc="-6" dirty="0"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  <a:p>
            <a:pPr>
              <a:spcBef>
                <a:spcPts val="6"/>
              </a:spcBef>
              <a:buClr>
                <a:srgbClr val="852B34"/>
              </a:buClr>
              <a:buFont typeface="Arial"/>
              <a:buChar char="•"/>
            </a:pPr>
            <a:endParaRPr sz="4400">
              <a:latin typeface="Times New Roman"/>
              <a:cs typeface="Times New Roman"/>
            </a:endParaRPr>
          </a:p>
          <a:p>
            <a:pPr marL="535874" indent="-521391">
              <a:lnSpc>
                <a:spcPts val="3900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Estas </a:t>
            </a:r>
            <a:r>
              <a:rPr sz="3400" spc="-6" dirty="0">
                <a:latin typeface="Arial"/>
                <a:cs typeface="Arial"/>
              </a:rPr>
              <a:t>variáveis compostas são</a:t>
            </a:r>
            <a:r>
              <a:rPr sz="3400" spc="23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chamadas</a:t>
            </a:r>
            <a:endParaRPr sz="3400">
              <a:latin typeface="Arial"/>
              <a:cs typeface="Arial"/>
            </a:endParaRPr>
          </a:p>
          <a:p>
            <a:pPr marL="535150">
              <a:lnSpc>
                <a:spcPts val="3900"/>
              </a:lnSpc>
            </a:pPr>
            <a:r>
              <a:rPr sz="3400" spc="-6" dirty="0">
                <a:latin typeface="Arial"/>
                <a:cs typeface="Arial"/>
              </a:rPr>
              <a:t>de </a:t>
            </a:r>
            <a:r>
              <a:rPr sz="3400" b="1" spc="-6" dirty="0">
                <a:solidFill>
                  <a:srgbClr val="FF0000"/>
                </a:solidFill>
                <a:latin typeface="Arial"/>
                <a:cs typeface="Arial"/>
              </a:rPr>
              <a:t>estruturas </a:t>
            </a:r>
            <a:r>
              <a:rPr sz="3400" spc="-6" dirty="0">
                <a:latin typeface="Arial"/>
                <a:cs typeface="Arial"/>
              </a:rPr>
              <a:t>(ou </a:t>
            </a:r>
            <a:r>
              <a:rPr sz="3400" b="1" i="1" spc="-6" dirty="0">
                <a:solidFill>
                  <a:srgbClr val="FF0000"/>
                </a:solidFill>
                <a:latin typeface="Arial"/>
                <a:cs typeface="Arial"/>
              </a:rPr>
              <a:t>structs </a:t>
            </a:r>
            <a:r>
              <a:rPr sz="3400" dirty="0">
                <a:latin typeface="Arial"/>
                <a:cs typeface="Arial"/>
              </a:rPr>
              <a:t>na </a:t>
            </a:r>
            <a:r>
              <a:rPr sz="3400" spc="-6" dirty="0">
                <a:latin typeface="Arial"/>
                <a:cs typeface="Arial"/>
              </a:rPr>
              <a:t>linguagem</a:t>
            </a:r>
            <a:r>
              <a:rPr sz="3400" spc="-11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C).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82">
              <a:lnSpc>
                <a:spcPts val="1260"/>
              </a:lnSpc>
            </a:pPr>
            <a:fld id="{81D60167-4931-47E6-BA6A-407CBD079E47}" type="slidenum">
              <a:rPr dirty="0"/>
              <a:pPr marL="101382">
                <a:lnSpc>
                  <a:spcPts val="1260"/>
                </a:lnSpc>
              </a:pPr>
              <a:t>51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Variáveis</a:t>
            </a:r>
            <a:r>
              <a:rPr spc="-103" dirty="0"/>
              <a:t> </a:t>
            </a:r>
            <a:r>
              <a:rPr dirty="0"/>
              <a:t>compostas</a:t>
            </a:r>
          </a:p>
        </p:txBody>
      </p:sp>
    </p:spTree>
    <p:extLst>
      <p:ext uri="{BB962C8B-B14F-4D97-AF65-F5344CB8AC3E}">
        <p14:creationId xmlns:p14="http://schemas.microsoft.com/office/powerpoint/2010/main" val="26855320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510072" y="4329594"/>
          <a:ext cx="3356539" cy="27623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6539"/>
              </a:tblGrid>
              <a:tr h="7136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56515" algn="ct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nome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</a:tr>
              <a:tr h="713669">
                <a:tc>
                  <a:txBody>
                    <a:bodyPr/>
                    <a:lstStyle/>
                    <a:p>
                      <a:pPr marL="102235"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sobrenome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T w="1016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</a:tr>
              <a:tr h="671688">
                <a:tc>
                  <a:txBody>
                    <a:bodyPr/>
                    <a:lstStyle/>
                    <a:p>
                      <a:pPr marL="116205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salário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T w="1016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</a:tr>
              <a:tr h="663293"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cargo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99CCFF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4755593" y="4335191"/>
            <a:ext cx="549522" cy="2854678"/>
          </a:xfrm>
          <a:custGeom>
            <a:avLst/>
            <a:gdLst/>
            <a:ahLst/>
            <a:cxnLst/>
            <a:rect l="l" t="t" r="r" b="b"/>
            <a:pathLst>
              <a:path w="469900" h="2590800">
                <a:moveTo>
                  <a:pt x="469900" y="2590800"/>
                </a:moveTo>
                <a:lnTo>
                  <a:pt x="416017" y="2586699"/>
                </a:lnTo>
                <a:lnTo>
                  <a:pt x="366559" y="2575020"/>
                </a:lnTo>
                <a:lnTo>
                  <a:pt x="322936" y="2556692"/>
                </a:lnTo>
                <a:lnTo>
                  <a:pt x="286554" y="2532649"/>
                </a:lnTo>
                <a:lnTo>
                  <a:pt x="258824" y="2503822"/>
                </a:lnTo>
                <a:lnTo>
                  <a:pt x="234950" y="2435542"/>
                </a:lnTo>
                <a:lnTo>
                  <a:pt x="234950" y="1450593"/>
                </a:lnTo>
                <a:lnTo>
                  <a:pt x="228746" y="1415005"/>
                </a:lnTo>
                <a:lnTo>
                  <a:pt x="183345" y="1353522"/>
                </a:lnTo>
                <a:lnTo>
                  <a:pt x="146963" y="1329490"/>
                </a:lnTo>
                <a:lnTo>
                  <a:pt x="103340" y="1311171"/>
                </a:lnTo>
                <a:lnTo>
                  <a:pt x="53882" y="1299498"/>
                </a:lnTo>
                <a:lnTo>
                  <a:pt x="0" y="1295400"/>
                </a:lnTo>
                <a:lnTo>
                  <a:pt x="53882" y="1291301"/>
                </a:lnTo>
                <a:lnTo>
                  <a:pt x="103340" y="1279628"/>
                </a:lnTo>
                <a:lnTo>
                  <a:pt x="146963" y="1261309"/>
                </a:lnTo>
                <a:lnTo>
                  <a:pt x="183345" y="1237277"/>
                </a:lnTo>
                <a:lnTo>
                  <a:pt x="211075" y="1208462"/>
                </a:lnTo>
                <a:lnTo>
                  <a:pt x="234950" y="1140206"/>
                </a:lnTo>
                <a:lnTo>
                  <a:pt x="234950" y="155194"/>
                </a:lnTo>
                <a:lnTo>
                  <a:pt x="241153" y="119605"/>
                </a:lnTo>
                <a:lnTo>
                  <a:pt x="286554" y="58122"/>
                </a:lnTo>
                <a:lnTo>
                  <a:pt x="322936" y="34090"/>
                </a:lnTo>
                <a:lnTo>
                  <a:pt x="366559" y="15771"/>
                </a:lnTo>
                <a:lnTo>
                  <a:pt x="416017" y="4098"/>
                </a:lnTo>
                <a:lnTo>
                  <a:pt x="469900" y="0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5266" y="1281105"/>
            <a:ext cx="9283207" cy="48756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Uma estrutura </a:t>
            </a:r>
            <a:r>
              <a:rPr sz="3400" spc="-6" dirty="0">
                <a:latin typeface="Arial"/>
                <a:cs typeface="Arial"/>
              </a:rPr>
              <a:t>pode </a:t>
            </a:r>
            <a:r>
              <a:rPr sz="3400" dirty="0">
                <a:latin typeface="Arial"/>
                <a:cs typeface="Arial"/>
              </a:rPr>
              <a:t>ser </a:t>
            </a:r>
            <a:r>
              <a:rPr sz="3400" spc="-6" dirty="0">
                <a:latin typeface="Arial"/>
                <a:cs typeface="Arial"/>
              </a:rPr>
              <a:t>definida </a:t>
            </a:r>
            <a:r>
              <a:rPr sz="3400" dirty="0">
                <a:latin typeface="Arial"/>
                <a:cs typeface="Arial"/>
              </a:rPr>
              <a:t>como uma  </a:t>
            </a:r>
            <a:r>
              <a:rPr sz="3400" spc="-6" dirty="0">
                <a:latin typeface="Arial"/>
                <a:cs typeface="Arial"/>
              </a:rPr>
              <a:t>coleção de uma ou mais variáveis  relacionadas (campos), </a:t>
            </a:r>
            <a:r>
              <a:rPr sz="3400" b="1" dirty="0">
                <a:latin typeface="Arial"/>
                <a:cs typeface="Arial"/>
              </a:rPr>
              <a:t>onde </a:t>
            </a:r>
            <a:r>
              <a:rPr sz="3400" b="1" spc="-6" dirty="0">
                <a:latin typeface="Arial"/>
                <a:cs typeface="Arial"/>
              </a:rPr>
              <a:t>cada </a:t>
            </a:r>
            <a:r>
              <a:rPr sz="3400" b="1" spc="-23" dirty="0">
                <a:latin typeface="Arial"/>
                <a:cs typeface="Arial"/>
              </a:rPr>
              <a:t>variável  </a:t>
            </a:r>
            <a:r>
              <a:rPr sz="3400" b="1" dirty="0">
                <a:latin typeface="Arial"/>
                <a:cs typeface="Arial"/>
              </a:rPr>
              <a:t>pode </a:t>
            </a:r>
            <a:r>
              <a:rPr sz="3400" b="1" spc="-6" dirty="0">
                <a:latin typeface="Arial"/>
                <a:cs typeface="Arial"/>
              </a:rPr>
              <a:t>ser </a:t>
            </a:r>
            <a:r>
              <a:rPr sz="3400" b="1" dirty="0">
                <a:latin typeface="Arial"/>
                <a:cs typeface="Arial"/>
              </a:rPr>
              <a:t>de um tipo</a:t>
            </a:r>
            <a:r>
              <a:rPr sz="3400" b="1" spc="-40" dirty="0">
                <a:latin typeface="Arial"/>
                <a:cs typeface="Arial"/>
              </a:rPr>
              <a:t> </a:t>
            </a:r>
            <a:r>
              <a:rPr sz="3400" b="1" dirty="0">
                <a:latin typeface="Arial"/>
                <a:cs typeface="Arial"/>
              </a:rPr>
              <a:t>distinto</a:t>
            </a:r>
            <a:r>
              <a:rPr sz="3400" dirty="0"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35874" indent="-521391">
              <a:spcBef>
                <a:spcPts val="1996"/>
              </a:spcBef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11" dirty="0">
                <a:latin typeface="Arial"/>
                <a:cs typeface="Arial"/>
              </a:rPr>
              <a:t>Exemplo:</a:t>
            </a:r>
            <a:endParaRPr sz="3400">
              <a:latin typeface="Arial"/>
              <a:cs typeface="Arial"/>
            </a:endParaRPr>
          </a:p>
          <a:p>
            <a:pPr marL="963849">
              <a:spcBef>
                <a:spcPts val="1983"/>
              </a:spcBef>
            </a:pPr>
            <a:r>
              <a:rPr sz="3600" spc="-6" dirty="0">
                <a:solidFill>
                  <a:srgbClr val="000080"/>
                </a:solidFill>
                <a:latin typeface="Arial"/>
                <a:cs typeface="Arial"/>
              </a:rPr>
              <a:t>empregado</a:t>
            </a:r>
            <a:endParaRPr sz="3600">
              <a:latin typeface="Arial"/>
              <a:cs typeface="Arial"/>
            </a:endParaRPr>
          </a:p>
          <a:p>
            <a:pPr marL="963849">
              <a:spcBef>
                <a:spcPts val="912"/>
              </a:spcBef>
            </a:pPr>
            <a:r>
              <a:rPr sz="3600" spc="-6" dirty="0">
                <a:solidFill>
                  <a:srgbClr val="000080"/>
                </a:solidFill>
                <a:latin typeface="Arial"/>
                <a:cs typeface="Arial"/>
              </a:rPr>
              <a:t>(4</a:t>
            </a:r>
            <a:r>
              <a:rPr sz="3600" spc="-91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3600" spc="-6" dirty="0">
                <a:solidFill>
                  <a:srgbClr val="000080"/>
                </a:solidFill>
                <a:latin typeface="Arial"/>
                <a:cs typeface="Arial"/>
              </a:rPr>
              <a:t>campos)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382">
              <a:lnSpc>
                <a:spcPts val="1260"/>
              </a:lnSpc>
            </a:pPr>
            <a:fld id="{81D60167-4931-47E6-BA6A-407CBD079E47}" type="slidenum">
              <a:rPr dirty="0"/>
              <a:pPr marL="101382">
                <a:lnSpc>
                  <a:spcPts val="1260"/>
                </a:lnSpc>
              </a:pPr>
              <a:t>52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Definição de</a:t>
            </a:r>
            <a:r>
              <a:rPr spc="-108" dirty="0"/>
              <a:t> </a:t>
            </a:r>
            <a:r>
              <a:rPr dirty="0"/>
              <a:t>estrutura</a:t>
            </a:r>
          </a:p>
        </p:txBody>
      </p:sp>
    </p:spTree>
    <p:extLst>
      <p:ext uri="{BB962C8B-B14F-4D97-AF65-F5344CB8AC3E}">
        <p14:creationId xmlns:p14="http://schemas.microsoft.com/office/powerpoint/2010/main" val="21599672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36692" y="2947035"/>
            <a:ext cx="6695257" cy="27238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29"/>
              </a:spcBef>
            </a:pPr>
            <a:endParaRPr sz="1200">
              <a:latin typeface="Times New Roman"/>
              <a:cs typeface="Times New Roman"/>
            </a:endParaRPr>
          </a:p>
          <a:p>
            <a:pPr marR="918951" algn="r"/>
            <a:r>
              <a:rPr sz="1100" dirty="0">
                <a:latin typeface="Times New Roman"/>
                <a:cs typeface="Times New Roman"/>
              </a:rPr>
              <a:t>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266" y="1338760"/>
            <a:ext cx="8630465" cy="1021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lnSpc>
                <a:spcPts val="3991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Sintaxe para definir </a:t>
            </a:r>
            <a:r>
              <a:rPr sz="3400" dirty="0">
                <a:latin typeface="Arial"/>
                <a:cs typeface="Arial"/>
              </a:rPr>
              <a:t>uma </a:t>
            </a:r>
            <a:r>
              <a:rPr sz="3400" spc="-6" dirty="0">
                <a:latin typeface="Arial"/>
                <a:cs typeface="Arial"/>
              </a:rPr>
              <a:t>estrutura </a:t>
            </a:r>
            <a:r>
              <a:rPr sz="3400" dirty="0">
                <a:latin typeface="Arial"/>
                <a:cs typeface="Arial"/>
              </a:rPr>
              <a:t>com</a:t>
            </a:r>
            <a:r>
              <a:rPr sz="3400" spc="-11" dirty="0">
                <a:latin typeface="Arial"/>
                <a:cs typeface="Arial"/>
              </a:rPr>
              <a:t> </a:t>
            </a:r>
            <a:r>
              <a:rPr sz="3400" b="1" dirty="0">
                <a:latin typeface="Arial"/>
                <a:cs typeface="Arial"/>
              </a:rPr>
              <a:t>n</a:t>
            </a:r>
            <a:endParaRPr sz="3400">
              <a:latin typeface="Arial"/>
              <a:cs typeface="Arial"/>
            </a:endParaRPr>
          </a:p>
          <a:p>
            <a:pPr marL="535150">
              <a:lnSpc>
                <a:spcPts val="3991"/>
              </a:lnSpc>
            </a:pPr>
            <a:r>
              <a:rPr sz="3400" spc="-6" dirty="0">
                <a:latin typeface="Arial"/>
                <a:cs typeface="Arial"/>
              </a:rPr>
              <a:t>campos em</a:t>
            </a:r>
            <a:r>
              <a:rPr sz="3400" spc="-63" dirty="0">
                <a:latin typeface="Arial"/>
                <a:cs typeface="Arial"/>
              </a:rPr>
              <a:t> </a:t>
            </a:r>
            <a:r>
              <a:rPr sz="3400" spc="-17" dirty="0">
                <a:latin typeface="Arial"/>
                <a:cs typeface="Arial"/>
              </a:rPr>
              <a:t>C</a:t>
            </a:r>
            <a:r>
              <a:rPr sz="3400" spc="-17" dirty="0">
                <a:latin typeface="Courier New"/>
                <a:cs typeface="Courier New"/>
              </a:rPr>
              <a:t>: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40" dirty="0"/>
              <a:t> </a:t>
            </a:r>
            <a:r>
              <a:rPr spc="-6" dirty="0"/>
              <a:t>Definição</a:t>
            </a:r>
          </a:p>
        </p:txBody>
      </p:sp>
      <p:sp>
        <p:nvSpPr>
          <p:cNvPr id="5" name="object 5"/>
          <p:cNvSpPr/>
          <p:nvPr/>
        </p:nvSpPr>
        <p:spPr>
          <a:xfrm>
            <a:off x="1936692" y="2947035"/>
            <a:ext cx="6695257" cy="3660704"/>
          </a:xfrm>
          <a:custGeom>
            <a:avLst/>
            <a:gdLst/>
            <a:ahLst/>
            <a:cxnLst/>
            <a:rect l="l" t="t" r="r" b="b"/>
            <a:pathLst>
              <a:path w="5725159" h="3322320">
                <a:moveTo>
                  <a:pt x="0" y="3322320"/>
                </a:moveTo>
                <a:lnTo>
                  <a:pt x="5725160" y="3322320"/>
                </a:lnTo>
                <a:lnTo>
                  <a:pt x="5725160" y="0"/>
                </a:lnTo>
                <a:lnTo>
                  <a:pt x="0" y="0"/>
                </a:lnTo>
                <a:lnTo>
                  <a:pt x="0" y="332232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36692" y="2947035"/>
            <a:ext cx="6695257" cy="3660704"/>
          </a:xfrm>
          <a:custGeom>
            <a:avLst/>
            <a:gdLst/>
            <a:ahLst/>
            <a:cxnLst/>
            <a:rect l="l" t="t" r="r" b="b"/>
            <a:pathLst>
              <a:path w="5725159" h="3322320">
                <a:moveTo>
                  <a:pt x="0" y="3322320"/>
                </a:moveTo>
                <a:lnTo>
                  <a:pt x="5725160" y="3322320"/>
                </a:lnTo>
                <a:lnTo>
                  <a:pt x="5725160" y="0"/>
                </a:lnTo>
                <a:lnTo>
                  <a:pt x="0" y="0"/>
                </a:lnTo>
                <a:lnTo>
                  <a:pt x="0" y="33223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00862" y="2963826"/>
            <a:ext cx="4039729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400" spc="-6" dirty="0">
                <a:latin typeface="Courier New"/>
                <a:cs typeface="Courier New"/>
              </a:rPr>
              <a:t>NomeDaEstrutura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9221" y="2963827"/>
            <a:ext cx="1901049" cy="2092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4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3400">
              <a:latin typeface="Courier New"/>
              <a:cs typeface="Courier New"/>
            </a:endParaRPr>
          </a:p>
          <a:p>
            <a:pPr marL="14483"/>
            <a:r>
              <a:rPr sz="34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3400">
              <a:latin typeface="Courier New"/>
              <a:cs typeface="Courier New"/>
            </a:endParaRPr>
          </a:p>
          <a:p>
            <a:pPr marL="535874"/>
            <a:r>
              <a:rPr sz="3400" spc="-6" dirty="0">
                <a:latin typeface="Courier New"/>
                <a:cs typeface="Courier New"/>
              </a:rPr>
              <a:t>tipo1</a:t>
            </a:r>
            <a:endParaRPr sz="3400">
              <a:latin typeface="Courier New"/>
              <a:cs typeface="Courier New"/>
            </a:endParaRPr>
          </a:p>
          <a:p>
            <a:pPr marL="535874"/>
            <a:r>
              <a:rPr sz="3400" spc="-6" dirty="0">
                <a:latin typeface="Courier New"/>
                <a:cs typeface="Courier New"/>
              </a:rPr>
              <a:t>tipo2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67901" y="3971780"/>
            <a:ext cx="4041956" cy="10495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400" spc="-6" dirty="0">
                <a:latin typeface="Courier New"/>
                <a:cs typeface="Courier New"/>
              </a:rPr>
              <a:t>identificador1</a:t>
            </a:r>
            <a:r>
              <a:rPr sz="34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3400">
              <a:latin typeface="Courier New"/>
              <a:cs typeface="Courier New"/>
            </a:endParaRPr>
          </a:p>
          <a:p>
            <a:pPr marL="14483"/>
            <a:r>
              <a:rPr sz="3400" spc="-6" dirty="0">
                <a:latin typeface="Courier New"/>
                <a:cs typeface="Courier New"/>
              </a:rPr>
              <a:t>identificador2</a:t>
            </a:r>
            <a:r>
              <a:rPr sz="34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3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9221" y="4979594"/>
            <a:ext cx="6179894" cy="15824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57265"/>
            <a:r>
              <a:rPr sz="3400" dirty="0">
                <a:solidFill>
                  <a:srgbClr val="FF0000"/>
                </a:solidFill>
                <a:latin typeface="Courier New"/>
                <a:cs typeface="Courier New"/>
              </a:rPr>
              <a:t>...</a:t>
            </a:r>
            <a:endParaRPr sz="3400">
              <a:latin typeface="Courier New"/>
              <a:cs typeface="Courier New"/>
            </a:endParaRPr>
          </a:p>
          <a:p>
            <a:pPr marL="535874"/>
            <a:r>
              <a:rPr sz="3400" spc="-6" dirty="0">
                <a:latin typeface="Courier New"/>
                <a:cs typeface="Courier New"/>
              </a:rPr>
              <a:t>tipoN</a:t>
            </a:r>
            <a:r>
              <a:rPr sz="3400" spc="-91" dirty="0">
                <a:latin typeface="Courier New"/>
                <a:cs typeface="Courier New"/>
              </a:rPr>
              <a:t> </a:t>
            </a:r>
            <a:r>
              <a:rPr sz="3400" spc="-6" dirty="0">
                <a:latin typeface="Courier New"/>
                <a:cs typeface="Courier New"/>
              </a:rPr>
              <a:t>identificadorN</a:t>
            </a:r>
            <a:r>
              <a:rPr sz="34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3400">
              <a:latin typeface="Courier New"/>
              <a:cs typeface="Courier New"/>
            </a:endParaRPr>
          </a:p>
          <a:p>
            <a:pPr marL="14483">
              <a:spcBef>
                <a:spcPts val="91"/>
              </a:spcBef>
            </a:pPr>
            <a:r>
              <a:rPr sz="3400" spc="-6" dirty="0">
                <a:solidFill>
                  <a:srgbClr val="FF0000"/>
                </a:solidFill>
                <a:latin typeface="Courier New"/>
                <a:cs typeface="Courier New"/>
              </a:rPr>
              <a:t>};</a:t>
            </a:r>
            <a:endParaRPr sz="34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496567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1433" y="1200643"/>
            <a:ext cx="9196324" cy="2854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 algn="just">
              <a:buClr>
                <a:srgbClr val="852B34"/>
              </a:buClr>
              <a:buSzPct val="70000"/>
              <a:buChar char="•"/>
              <a:tabLst>
                <a:tab pos="536597" algn="l"/>
              </a:tabLst>
            </a:pPr>
            <a:r>
              <a:rPr sz="3400" dirty="0">
                <a:latin typeface="Arial"/>
                <a:cs typeface="Arial"/>
              </a:rPr>
              <a:t>No </a:t>
            </a:r>
            <a:r>
              <a:rPr sz="3400" spc="-6" dirty="0">
                <a:latin typeface="Arial"/>
                <a:cs typeface="Arial"/>
              </a:rPr>
              <a:t>entanto, dessa forma, </a:t>
            </a:r>
            <a:r>
              <a:rPr sz="3400" dirty="0">
                <a:latin typeface="Arial"/>
                <a:cs typeface="Arial"/>
              </a:rPr>
              <a:t>é </a:t>
            </a:r>
            <a:r>
              <a:rPr sz="3400" spc="-6" dirty="0">
                <a:latin typeface="Arial"/>
                <a:cs typeface="Arial"/>
              </a:rPr>
              <a:t>necessário </a:t>
            </a:r>
            <a:r>
              <a:rPr sz="3400" spc="-11" dirty="0">
                <a:latin typeface="Arial"/>
                <a:cs typeface="Arial"/>
              </a:rPr>
              <a:t>usar  </a:t>
            </a:r>
            <a:r>
              <a:rPr sz="3400" spc="-6" dirty="0">
                <a:latin typeface="Arial"/>
                <a:cs typeface="Arial"/>
              </a:rPr>
              <a:t>a palavra-chave </a:t>
            </a:r>
            <a:r>
              <a:rPr sz="34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3400" b="1" spc="-113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3400" spc="-6" dirty="0">
                <a:latin typeface="Arial"/>
                <a:cs typeface="Arial"/>
              </a:rPr>
              <a:t>toda vez que uma  variável </a:t>
            </a:r>
            <a:r>
              <a:rPr sz="3400" dirty="0">
                <a:latin typeface="Arial"/>
                <a:cs typeface="Arial"/>
              </a:rPr>
              <a:t>é</a:t>
            </a:r>
            <a:r>
              <a:rPr sz="3400" spc="-51" dirty="0">
                <a:latin typeface="Arial"/>
                <a:cs typeface="Arial"/>
              </a:rPr>
              <a:t> </a:t>
            </a:r>
            <a:r>
              <a:rPr sz="3400" spc="-11" dirty="0">
                <a:latin typeface="Arial"/>
                <a:cs typeface="Arial"/>
              </a:rPr>
              <a:t>declarada:</a:t>
            </a:r>
            <a:endParaRPr sz="3400">
              <a:latin typeface="Arial"/>
              <a:cs typeface="Arial"/>
            </a:endParaRPr>
          </a:p>
          <a:p>
            <a:pPr marL="569184">
              <a:spcBef>
                <a:spcPts val="1175"/>
              </a:spcBef>
            </a:pPr>
            <a:r>
              <a:rPr sz="2700" b="1" spc="-6" dirty="0">
                <a:solidFill>
                  <a:srgbClr val="252599"/>
                </a:solidFill>
                <a:latin typeface="Courier New"/>
                <a:cs typeface="Courier New"/>
              </a:rPr>
              <a:t>struct </a:t>
            </a:r>
            <a:r>
              <a:rPr sz="2700" b="1" spc="-11" dirty="0">
                <a:latin typeface="Courier New"/>
                <a:cs typeface="Courier New"/>
              </a:rPr>
              <a:t>&lt;nomeEstrutura&gt; var1, </a:t>
            </a:r>
            <a:r>
              <a:rPr sz="2700" b="1" spc="-6" dirty="0">
                <a:latin typeface="Courier New"/>
                <a:cs typeface="Courier New"/>
              </a:rPr>
              <a:t>...,</a:t>
            </a:r>
            <a:r>
              <a:rPr sz="2700" b="1" spc="-23" dirty="0">
                <a:latin typeface="Courier New"/>
                <a:cs typeface="Courier New"/>
              </a:rPr>
              <a:t> </a:t>
            </a:r>
            <a:r>
              <a:rPr sz="2700" b="1" spc="-6" dirty="0">
                <a:latin typeface="Courier New"/>
                <a:cs typeface="Courier New"/>
              </a:rPr>
              <a:t>varN;</a:t>
            </a:r>
            <a:endParaRPr sz="2700">
              <a:latin typeface="Courier New"/>
              <a:cs typeface="Courier New"/>
            </a:endParaRPr>
          </a:p>
          <a:p>
            <a:pPr marL="535874" indent="-521391">
              <a:spcBef>
                <a:spcPts val="1471"/>
              </a:spcBef>
              <a:buClr>
                <a:srgbClr val="852B34"/>
              </a:buClr>
              <a:buSzPct val="70000"/>
              <a:buChar char="•"/>
              <a:tabLst>
                <a:tab pos="535874" algn="l"/>
                <a:tab pos="536597" algn="l"/>
              </a:tabLst>
            </a:pPr>
            <a:r>
              <a:rPr sz="3400" spc="-11" dirty="0">
                <a:latin typeface="Arial"/>
                <a:cs typeface="Arial"/>
              </a:rPr>
              <a:t>Exemplo: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63" dirty="0"/>
              <a:t> </a:t>
            </a:r>
            <a:r>
              <a:rPr spc="-6" dirty="0"/>
              <a:t>Declaração</a:t>
            </a:r>
          </a:p>
        </p:txBody>
      </p:sp>
      <p:sp>
        <p:nvSpPr>
          <p:cNvPr id="4" name="object 4"/>
          <p:cNvSpPr/>
          <p:nvPr/>
        </p:nvSpPr>
        <p:spPr>
          <a:xfrm>
            <a:off x="5429871" y="4217646"/>
            <a:ext cx="4969461" cy="1119481"/>
          </a:xfrm>
          <a:custGeom>
            <a:avLst/>
            <a:gdLst/>
            <a:ahLst/>
            <a:cxnLst/>
            <a:rect l="l" t="t" r="r" b="b"/>
            <a:pathLst>
              <a:path w="4249420" h="1016000">
                <a:moveTo>
                  <a:pt x="0" y="1016000"/>
                </a:moveTo>
                <a:lnTo>
                  <a:pt x="4249420" y="1016000"/>
                </a:lnTo>
                <a:lnTo>
                  <a:pt x="4249420" y="0"/>
                </a:lnTo>
                <a:lnTo>
                  <a:pt x="0" y="0"/>
                </a:lnTo>
                <a:lnTo>
                  <a:pt x="0" y="10160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29871" y="4217646"/>
            <a:ext cx="4969461" cy="1119481"/>
          </a:xfrm>
          <a:custGeom>
            <a:avLst/>
            <a:gdLst/>
            <a:ahLst/>
            <a:cxnLst/>
            <a:rect l="l" t="t" r="r" b="b"/>
            <a:pathLst>
              <a:path w="4249420" h="1016000">
                <a:moveTo>
                  <a:pt x="0" y="1016000"/>
                </a:moveTo>
                <a:lnTo>
                  <a:pt x="4249420" y="1016000"/>
                </a:lnTo>
                <a:lnTo>
                  <a:pt x="4249420" y="0"/>
                </a:lnTo>
                <a:lnTo>
                  <a:pt x="0" y="0"/>
                </a:lnTo>
                <a:lnTo>
                  <a:pt x="0" y="101600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38587" y="4241436"/>
            <a:ext cx="4635292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solidFill>
                  <a:srgbClr val="7E7E7E"/>
                </a:solidFill>
                <a:latin typeface="Courier New"/>
                <a:cs typeface="Courier New"/>
              </a:rPr>
              <a:t>// Declaracao de</a:t>
            </a:r>
            <a:r>
              <a:rPr sz="2300" spc="-86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7E7E7E"/>
                </a:solidFill>
                <a:latin typeface="Courier New"/>
                <a:cs typeface="Courier New"/>
              </a:rPr>
              <a:t>variaveis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54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5538587" y="4577281"/>
            <a:ext cx="1069340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86596" y="4577281"/>
            <a:ext cx="3031282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0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fulano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Aluno a1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spc="-6" dirty="0">
                <a:latin typeface="Courier New"/>
                <a:cs typeface="Courier New"/>
              </a:rPr>
              <a:t>a2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a3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1518" y="4203652"/>
            <a:ext cx="4247656" cy="2924575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5931" rIns="0" bIns="0" rtlCol="0">
            <a:spAutoFit/>
          </a:bodyPr>
          <a:lstStyle/>
          <a:p>
            <a:pPr marL="99209">
              <a:spcBef>
                <a:spcPts val="125"/>
              </a:spcBef>
            </a:pPr>
            <a:r>
              <a:rPr sz="2100" spc="-6" dirty="0">
                <a:solidFill>
                  <a:srgbClr val="7E7E7E"/>
                </a:solidFill>
                <a:latin typeface="Courier New"/>
                <a:cs typeface="Courier New"/>
              </a:rPr>
              <a:t>// </a:t>
            </a:r>
            <a:r>
              <a:rPr sz="2100" spc="-11" dirty="0">
                <a:solidFill>
                  <a:srgbClr val="7E7E7E"/>
                </a:solidFill>
                <a:latin typeface="Courier New"/>
                <a:cs typeface="Courier New"/>
              </a:rPr>
              <a:t>Definicao da</a:t>
            </a:r>
            <a:r>
              <a:rPr sz="2100" spc="-63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solidFill>
                  <a:srgbClr val="7E7E7E"/>
                </a:solidFill>
                <a:latin typeface="Courier New"/>
                <a:cs typeface="Courier New"/>
              </a:rPr>
              <a:t>estrutura</a:t>
            </a:r>
            <a:endParaRPr sz="2100">
              <a:latin typeface="Courier New"/>
              <a:cs typeface="Courier New"/>
            </a:endParaRPr>
          </a:p>
          <a:p>
            <a:pPr marL="99209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100" b="1" spc="-12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Aluno</a:t>
            </a:r>
            <a:endParaRPr sz="2100">
              <a:latin typeface="Courier New"/>
              <a:cs typeface="Courier New"/>
            </a:endParaRPr>
          </a:p>
          <a:p>
            <a:pPr marL="99209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412768" marR="1370824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100" spc="-11" dirty="0">
                <a:latin typeface="Courier New"/>
                <a:cs typeface="Courier New"/>
              </a:rPr>
              <a:t>nome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100" spc="-11" dirty="0">
                <a:latin typeface="Courier New"/>
                <a:cs typeface="Courier New"/>
              </a:rPr>
              <a:t>matricula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idade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412768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cidade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100">
              <a:latin typeface="Courier New"/>
              <a:cs typeface="Courier New"/>
            </a:endParaRPr>
          </a:p>
          <a:p>
            <a:pPr marL="412768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sexo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99209"/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};</a:t>
            </a:r>
            <a:endParaRPr sz="21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7740595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200643"/>
            <a:ext cx="8983199" cy="1569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Note que para variáveis </a:t>
            </a:r>
            <a:r>
              <a:rPr sz="3400" dirty="0">
                <a:latin typeface="Arial"/>
                <a:cs typeface="Arial"/>
              </a:rPr>
              <a:t>do </a:t>
            </a:r>
            <a:r>
              <a:rPr sz="3400" spc="-6" dirty="0">
                <a:latin typeface="Arial"/>
                <a:cs typeface="Arial"/>
              </a:rPr>
              <a:t>tipo estrutura </a:t>
            </a:r>
            <a:r>
              <a:rPr sz="3400" dirty="0">
                <a:latin typeface="Arial"/>
                <a:cs typeface="Arial"/>
              </a:rPr>
              <a:t>a  </a:t>
            </a:r>
            <a:r>
              <a:rPr sz="3400" spc="-6" dirty="0">
                <a:latin typeface="Arial"/>
                <a:cs typeface="Arial"/>
              </a:rPr>
              <a:t>palavra chave </a:t>
            </a:r>
            <a:r>
              <a:rPr sz="3400" b="1" spc="-6" dirty="0">
                <a:solidFill>
                  <a:srgbClr val="252599"/>
                </a:solidFill>
                <a:latin typeface="Courier New"/>
                <a:cs typeface="Courier New"/>
              </a:rPr>
              <a:t>struct </a:t>
            </a:r>
            <a:r>
              <a:rPr sz="3400" spc="-6" dirty="0">
                <a:latin typeface="Arial"/>
                <a:cs typeface="Arial"/>
              </a:rPr>
              <a:t>deve vir antes do  nome </a:t>
            </a:r>
            <a:r>
              <a:rPr sz="3400" dirty="0">
                <a:latin typeface="Arial"/>
                <a:cs typeface="Arial"/>
              </a:rPr>
              <a:t>da</a:t>
            </a:r>
            <a:r>
              <a:rPr sz="3400" spc="-114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estrutura.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266" y="5288570"/>
            <a:ext cx="7783904" cy="1569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Existe uma outra </a:t>
            </a:r>
            <a:r>
              <a:rPr sz="3400" spc="-11" dirty="0">
                <a:latin typeface="Arial"/>
                <a:cs typeface="Arial"/>
              </a:rPr>
              <a:t>possibilidade, </a:t>
            </a:r>
            <a:r>
              <a:rPr sz="3400" spc="-6" dirty="0">
                <a:latin typeface="Arial"/>
                <a:cs typeface="Arial"/>
              </a:rPr>
              <a:t>mais  simples, para </a:t>
            </a:r>
            <a:r>
              <a:rPr sz="3400" spc="-11" dirty="0">
                <a:latin typeface="Arial"/>
                <a:cs typeface="Arial"/>
              </a:rPr>
              <a:t>declarar </a:t>
            </a:r>
            <a:r>
              <a:rPr sz="3400" spc="-6" dirty="0">
                <a:latin typeface="Arial"/>
                <a:cs typeface="Arial"/>
              </a:rPr>
              <a:t>variáveis de  estruturas.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63" dirty="0"/>
              <a:t> </a:t>
            </a:r>
            <a:r>
              <a:rPr spc="-6" dirty="0"/>
              <a:t>Declaração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68345" y="3302470"/>
            <a:ext cx="4167456" cy="1458125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0276" rIns="0" bIns="0" rtlCol="0">
            <a:spAutoFit/>
          </a:bodyPr>
          <a:lstStyle/>
          <a:p>
            <a:pPr marL="97037">
              <a:spcBef>
                <a:spcPts val="160"/>
              </a:spcBef>
            </a:pPr>
            <a:r>
              <a:rPr sz="2300" spc="-6" dirty="0">
                <a:solidFill>
                  <a:srgbClr val="7E7E7E"/>
                </a:solidFill>
                <a:latin typeface="Courier New"/>
                <a:cs typeface="Courier New"/>
              </a:rPr>
              <a:t>// Tipos</a:t>
            </a:r>
            <a:r>
              <a:rPr sz="2300" spc="-103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7E7E7E"/>
                </a:solidFill>
                <a:latin typeface="Courier New"/>
                <a:cs typeface="Courier New"/>
              </a:rPr>
              <a:t>primitivos</a:t>
            </a:r>
            <a:endParaRPr sz="2300">
              <a:latin typeface="Courier New"/>
              <a:cs typeface="Courier New"/>
            </a:endParaRPr>
          </a:p>
          <a:p>
            <a:pPr marL="97037" marR="151130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valor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float </a:t>
            </a:r>
            <a:r>
              <a:rPr sz="2300" spc="-6" dirty="0">
                <a:latin typeface="Courier New"/>
                <a:cs typeface="Courier New"/>
              </a:rPr>
              <a:t>x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spc="-6" dirty="0">
                <a:latin typeface="Courier New"/>
                <a:cs typeface="Courier New"/>
              </a:rPr>
              <a:t>y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dirty="0">
                <a:latin typeface="Courier New"/>
                <a:cs typeface="Courier New"/>
              </a:rPr>
              <a:t>z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letra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413534" y="3296873"/>
          <a:ext cx="4547663" cy="14581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9973"/>
                <a:gridCol w="2187690"/>
              </a:tblGrid>
              <a:tr h="731861">
                <a:tc gridSpan="2"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2200" spc="-5" dirty="0">
                          <a:solidFill>
                            <a:srgbClr val="7E7E7E"/>
                          </a:solidFill>
                          <a:latin typeface="Courier New"/>
                          <a:cs typeface="Courier New"/>
                        </a:rPr>
                        <a:t>// Variaveis</a:t>
                      </a:r>
                      <a:r>
                        <a:rPr sz="2200" spc="-85" dirty="0">
                          <a:solidFill>
                            <a:srgbClr val="7E7E7E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" dirty="0">
                          <a:solidFill>
                            <a:srgbClr val="7E7E7E"/>
                          </a:solidFill>
                          <a:latin typeface="Courier New"/>
                          <a:cs typeface="Courier New"/>
                        </a:rPr>
                        <a:t>estruturas</a:t>
                      </a:r>
                      <a:endParaRPr sz="2200">
                        <a:latin typeface="Courier New"/>
                        <a:cs typeface="Courier New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22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Aluno</a:t>
                      </a:r>
                      <a:r>
                        <a:rPr sz="22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fulano</a:t>
                      </a:r>
                      <a:r>
                        <a:rPr sz="22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0246">
                <a:tc>
                  <a:txBody>
                    <a:bodyPr/>
                    <a:lstStyle/>
                    <a:p>
                      <a:pPr marL="78740">
                        <a:lnSpc>
                          <a:spcPts val="2045"/>
                        </a:lnSpc>
                      </a:pPr>
                      <a:r>
                        <a:rPr sz="22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</a:t>
                      </a:r>
                      <a:r>
                        <a:rPr sz="2200" b="1" spc="-9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Aluno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7940">
                      <a:solidFill>
                        <a:srgbClr val="FF0000"/>
                      </a:solidFill>
                      <a:prstDash val="solid"/>
                    </a:lnL>
                    <a:lnR w="27940">
                      <a:solidFill>
                        <a:srgbClr val="FF0000"/>
                      </a:solidFill>
                      <a:prstDash val="solid"/>
                    </a:lnR>
                    <a:lnB w="27940">
                      <a:solidFill>
                        <a:srgbClr val="FF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2155"/>
                        </a:lnSpc>
                      </a:pPr>
                      <a:r>
                        <a:rPr sz="2200" spc="-5" dirty="0">
                          <a:latin typeface="Courier New"/>
                          <a:cs typeface="Courier New"/>
                        </a:rPr>
                        <a:t>a1</a:t>
                      </a:r>
                      <a:r>
                        <a:rPr sz="22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a2</a:t>
                      </a:r>
                      <a:r>
                        <a:rPr sz="22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200" spc="-8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spc="-5" dirty="0">
                          <a:latin typeface="Courier New"/>
                          <a:cs typeface="Courier New"/>
                        </a:rPr>
                        <a:t>a3</a:t>
                      </a:r>
                      <a:r>
                        <a:rPr sz="22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7940">
                      <a:solidFill>
                        <a:srgbClr val="FF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</a:tr>
              <a:tr h="396015">
                <a:tc gridSpan="2">
                  <a:txBody>
                    <a:bodyPr/>
                    <a:lstStyle/>
                    <a:p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2794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5163277" y="2188306"/>
            <a:ext cx="557689" cy="1591063"/>
          </a:xfrm>
          <a:custGeom>
            <a:avLst/>
            <a:gdLst/>
            <a:ahLst/>
            <a:cxnLst/>
            <a:rect l="l" t="t" r="r" b="b"/>
            <a:pathLst>
              <a:path w="476885" h="1443989">
                <a:moveTo>
                  <a:pt x="371602" y="1335786"/>
                </a:moveTo>
                <a:lnTo>
                  <a:pt x="362839" y="1336039"/>
                </a:lnTo>
                <a:lnTo>
                  <a:pt x="352298" y="1347343"/>
                </a:lnTo>
                <a:lnTo>
                  <a:pt x="352552" y="1356233"/>
                </a:lnTo>
                <a:lnTo>
                  <a:pt x="358267" y="1361439"/>
                </a:lnTo>
                <a:lnTo>
                  <a:pt x="446786" y="1443989"/>
                </a:lnTo>
                <a:lnTo>
                  <a:pt x="452175" y="1421511"/>
                </a:lnTo>
                <a:lnTo>
                  <a:pt x="425323" y="1421511"/>
                </a:lnTo>
                <a:lnTo>
                  <a:pt x="410360" y="1371790"/>
                </a:lnTo>
                <a:lnTo>
                  <a:pt x="377317" y="1340993"/>
                </a:lnTo>
                <a:lnTo>
                  <a:pt x="371602" y="1335786"/>
                </a:lnTo>
                <a:close/>
              </a:path>
              <a:path w="476885" h="1443989">
                <a:moveTo>
                  <a:pt x="410360" y="1371790"/>
                </a:moveTo>
                <a:lnTo>
                  <a:pt x="425323" y="1421511"/>
                </a:lnTo>
                <a:lnTo>
                  <a:pt x="449607" y="1414145"/>
                </a:lnTo>
                <a:lnTo>
                  <a:pt x="425196" y="1414145"/>
                </a:lnTo>
                <a:lnTo>
                  <a:pt x="430782" y="1390824"/>
                </a:lnTo>
                <a:lnTo>
                  <a:pt x="410360" y="1371790"/>
                </a:lnTo>
                <a:close/>
              </a:path>
              <a:path w="476885" h="1443989">
                <a:moveTo>
                  <a:pt x="457200" y="1307719"/>
                </a:moveTo>
                <a:lnTo>
                  <a:pt x="449580" y="1312290"/>
                </a:lnTo>
                <a:lnTo>
                  <a:pt x="437229" y="1363915"/>
                </a:lnTo>
                <a:lnTo>
                  <a:pt x="452120" y="1413383"/>
                </a:lnTo>
                <a:lnTo>
                  <a:pt x="425323" y="1421511"/>
                </a:lnTo>
                <a:lnTo>
                  <a:pt x="452175" y="1421511"/>
                </a:lnTo>
                <a:lnTo>
                  <a:pt x="474980" y="1326388"/>
                </a:lnTo>
                <a:lnTo>
                  <a:pt x="476758" y="1318895"/>
                </a:lnTo>
                <a:lnTo>
                  <a:pt x="472186" y="1311275"/>
                </a:lnTo>
                <a:lnTo>
                  <a:pt x="457200" y="1307719"/>
                </a:lnTo>
                <a:close/>
              </a:path>
              <a:path w="476885" h="1443989">
                <a:moveTo>
                  <a:pt x="430782" y="1390824"/>
                </a:moveTo>
                <a:lnTo>
                  <a:pt x="425196" y="1414145"/>
                </a:lnTo>
                <a:lnTo>
                  <a:pt x="448310" y="1407160"/>
                </a:lnTo>
                <a:lnTo>
                  <a:pt x="430782" y="1390824"/>
                </a:lnTo>
                <a:close/>
              </a:path>
              <a:path w="476885" h="1443989">
                <a:moveTo>
                  <a:pt x="437229" y="1363915"/>
                </a:moveTo>
                <a:lnTo>
                  <a:pt x="430782" y="1390824"/>
                </a:lnTo>
                <a:lnTo>
                  <a:pt x="448310" y="1407160"/>
                </a:lnTo>
                <a:lnTo>
                  <a:pt x="425196" y="1414145"/>
                </a:lnTo>
                <a:lnTo>
                  <a:pt x="449607" y="1414145"/>
                </a:lnTo>
                <a:lnTo>
                  <a:pt x="452120" y="1413383"/>
                </a:lnTo>
                <a:lnTo>
                  <a:pt x="437229" y="1363915"/>
                </a:lnTo>
                <a:close/>
              </a:path>
              <a:path w="476885" h="1443989">
                <a:moveTo>
                  <a:pt x="26670" y="0"/>
                </a:moveTo>
                <a:lnTo>
                  <a:pt x="0" y="8127"/>
                </a:lnTo>
                <a:lnTo>
                  <a:pt x="410360" y="1371790"/>
                </a:lnTo>
                <a:lnTo>
                  <a:pt x="430782" y="1390824"/>
                </a:lnTo>
                <a:lnTo>
                  <a:pt x="437229" y="1363915"/>
                </a:lnTo>
                <a:lnTo>
                  <a:pt x="2667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55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45997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69878" y="3105442"/>
            <a:ext cx="6863084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spc="-6" dirty="0">
                <a:solidFill>
                  <a:srgbClr val="252599"/>
                </a:solidFill>
                <a:latin typeface="Courier New"/>
                <a:cs typeface="Courier New"/>
              </a:rPr>
              <a:t>typedef </a:t>
            </a:r>
            <a:r>
              <a:rPr sz="2700" b="1" spc="-11" dirty="0">
                <a:solidFill>
                  <a:srgbClr val="993300"/>
                </a:solidFill>
                <a:latin typeface="Courier New"/>
                <a:cs typeface="Courier New"/>
              </a:rPr>
              <a:t>&lt;nomeAntigo&gt;</a:t>
            </a:r>
            <a:r>
              <a:rPr sz="2700" b="1" spc="-34" dirty="0">
                <a:solidFill>
                  <a:srgbClr val="993300"/>
                </a:solidFill>
                <a:latin typeface="Courier New"/>
                <a:cs typeface="Courier New"/>
              </a:rPr>
              <a:t> </a:t>
            </a:r>
            <a:r>
              <a:rPr sz="2700" b="1" spc="-11" dirty="0">
                <a:solidFill>
                  <a:srgbClr val="FF0000"/>
                </a:solidFill>
                <a:latin typeface="Courier New"/>
                <a:cs typeface="Courier New"/>
              </a:rPr>
              <a:t>&lt;nomeNovo&gt;;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266" y="1396441"/>
            <a:ext cx="9191126" cy="16167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lnSpc>
                <a:spcPct val="102800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O </a:t>
            </a:r>
            <a:r>
              <a:rPr sz="3400" spc="-11" dirty="0">
                <a:latin typeface="Arial"/>
                <a:cs typeface="Arial"/>
              </a:rPr>
              <a:t>comando </a:t>
            </a:r>
            <a:r>
              <a:rPr sz="3400" b="1" spc="-6" dirty="0">
                <a:latin typeface="Courier New"/>
                <a:cs typeface="Courier New"/>
              </a:rPr>
              <a:t>typedef</a:t>
            </a:r>
            <a:r>
              <a:rPr sz="3400" spc="-6" dirty="0">
                <a:latin typeface="Arial"/>
                <a:cs typeface="Arial"/>
              </a:rPr>
              <a:t>, </a:t>
            </a:r>
            <a:r>
              <a:rPr sz="3400" spc="-11" dirty="0">
                <a:latin typeface="Arial"/>
                <a:cs typeface="Arial"/>
              </a:rPr>
              <a:t>pode </a:t>
            </a:r>
            <a:r>
              <a:rPr sz="3400" spc="-6" dirty="0">
                <a:latin typeface="Arial"/>
                <a:cs typeface="Arial"/>
              </a:rPr>
              <a:t>ser </a:t>
            </a:r>
            <a:r>
              <a:rPr sz="3400" spc="-11" dirty="0">
                <a:latin typeface="Arial"/>
                <a:cs typeface="Arial"/>
              </a:rPr>
              <a:t>usado </a:t>
            </a:r>
            <a:r>
              <a:rPr sz="3400" spc="-6" dirty="0">
                <a:latin typeface="Arial"/>
                <a:cs typeface="Arial"/>
              </a:rPr>
              <a:t>para  </a:t>
            </a:r>
            <a:r>
              <a:rPr sz="3400" spc="-11" dirty="0">
                <a:latin typeface="Arial"/>
                <a:cs typeface="Arial"/>
              </a:rPr>
              <a:t>dar </a:t>
            </a:r>
            <a:r>
              <a:rPr sz="3400" spc="-6" dirty="0">
                <a:latin typeface="Arial"/>
                <a:cs typeface="Arial"/>
              </a:rPr>
              <a:t>um novo nome para </a:t>
            </a:r>
            <a:r>
              <a:rPr sz="3400" spc="-11" dirty="0">
                <a:latin typeface="Arial"/>
                <a:cs typeface="Arial"/>
              </a:rPr>
              <a:t>algum </a:t>
            </a:r>
            <a:r>
              <a:rPr sz="3400" spc="-6" dirty="0">
                <a:latin typeface="Arial"/>
                <a:cs typeface="Arial"/>
              </a:rPr>
              <a:t>tipo </a:t>
            </a:r>
            <a:r>
              <a:rPr sz="3400" spc="-17" dirty="0">
                <a:latin typeface="Arial"/>
                <a:cs typeface="Arial"/>
              </a:rPr>
              <a:t>de  </a:t>
            </a:r>
            <a:r>
              <a:rPr sz="3400" spc="-11" dirty="0">
                <a:latin typeface="Arial"/>
                <a:cs typeface="Arial"/>
              </a:rPr>
              <a:t>dados.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266" y="3062482"/>
            <a:ext cx="1479254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Us</a:t>
            </a:r>
            <a:r>
              <a:rPr sz="3400" spc="-23" dirty="0">
                <a:latin typeface="Arial"/>
                <a:cs typeface="Arial"/>
              </a:rPr>
              <a:t>o</a:t>
            </a:r>
            <a:r>
              <a:rPr sz="3400" dirty="0">
                <a:latin typeface="Arial"/>
                <a:cs typeface="Arial"/>
              </a:rPr>
              <a:t>:</a:t>
            </a:r>
            <a:endParaRPr sz="3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266" y="3678475"/>
            <a:ext cx="2637705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11" dirty="0">
                <a:latin typeface="Arial"/>
                <a:cs typeface="Arial"/>
              </a:rPr>
              <a:t>Exemplos:</a:t>
            </a:r>
            <a:endParaRPr sz="3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266" y="5526459"/>
            <a:ext cx="4716235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Declarando</a:t>
            </a:r>
            <a:r>
              <a:rPr sz="3400" spc="-91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variáveis</a:t>
            </a:r>
            <a:endParaRPr sz="3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Comando</a:t>
            </a:r>
            <a:r>
              <a:rPr spc="-125" dirty="0"/>
              <a:t> </a:t>
            </a:r>
            <a:r>
              <a:rPr spc="-6" dirty="0">
                <a:latin typeface="Courier New"/>
                <a:cs typeface="Courier New"/>
              </a:rPr>
              <a:t>typedef</a:t>
            </a:r>
          </a:p>
        </p:txBody>
      </p:sp>
      <p:sp>
        <p:nvSpPr>
          <p:cNvPr id="8" name="object 8"/>
          <p:cNvSpPr/>
          <p:nvPr/>
        </p:nvSpPr>
        <p:spPr>
          <a:xfrm>
            <a:off x="3350599" y="4550692"/>
            <a:ext cx="3995173" cy="778040"/>
          </a:xfrm>
          <a:custGeom>
            <a:avLst/>
            <a:gdLst/>
            <a:ahLst/>
            <a:cxnLst/>
            <a:rect l="l" t="t" r="r" b="b"/>
            <a:pathLst>
              <a:path w="3416300" h="706120">
                <a:moveTo>
                  <a:pt x="0" y="706119"/>
                </a:moveTo>
                <a:lnTo>
                  <a:pt x="3416300" y="706119"/>
                </a:lnTo>
                <a:lnTo>
                  <a:pt x="3416300" y="0"/>
                </a:lnTo>
                <a:lnTo>
                  <a:pt x="0" y="0"/>
                </a:lnTo>
                <a:lnTo>
                  <a:pt x="0" y="70611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50599" y="4550692"/>
            <a:ext cx="3995173" cy="778040"/>
          </a:xfrm>
          <a:custGeom>
            <a:avLst/>
            <a:gdLst/>
            <a:ahLst/>
            <a:cxnLst/>
            <a:rect l="l" t="t" r="r" b="b"/>
            <a:pathLst>
              <a:path w="3416300" h="706120">
                <a:moveTo>
                  <a:pt x="0" y="706119"/>
                </a:moveTo>
                <a:lnTo>
                  <a:pt x="3416300" y="706119"/>
                </a:lnTo>
                <a:lnTo>
                  <a:pt x="3416300" y="0"/>
                </a:lnTo>
                <a:lnTo>
                  <a:pt x="0" y="0"/>
                </a:lnTo>
                <a:lnTo>
                  <a:pt x="0" y="7061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883319" y="4572102"/>
            <a:ext cx="2139423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Inteiro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56</a:t>
            </a:fld>
            <a:endParaRPr dirty="0"/>
          </a:p>
        </p:txBody>
      </p:sp>
      <p:sp>
        <p:nvSpPr>
          <p:cNvPr id="11" name="object 11"/>
          <p:cNvSpPr txBox="1"/>
          <p:nvPr/>
        </p:nvSpPr>
        <p:spPr>
          <a:xfrm>
            <a:off x="3457235" y="4572102"/>
            <a:ext cx="2317646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3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52957" y="4908227"/>
            <a:ext cx="891859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Rea</a:t>
            </a:r>
            <a:r>
              <a:rPr sz="2300" dirty="0">
                <a:latin typeface="Courier New"/>
                <a:cs typeface="Courier New"/>
              </a:rPr>
              <a:t>l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50599" y="6397837"/>
            <a:ext cx="3995173" cy="662417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5931" rIns="0" bIns="0" rtlCol="0">
            <a:spAutoFit/>
          </a:bodyPr>
          <a:lstStyle/>
          <a:p>
            <a:pPr marL="97761">
              <a:spcBef>
                <a:spcPts val="125"/>
              </a:spcBef>
              <a:tabLst>
                <a:tab pos="1346202" algn="l"/>
              </a:tabLst>
            </a:pPr>
            <a:r>
              <a:rPr sz="2100" spc="-11" dirty="0">
                <a:latin typeface="Courier New"/>
                <a:cs typeface="Courier New"/>
              </a:rPr>
              <a:t>Inteiro	</a:t>
            </a:r>
            <a:r>
              <a:rPr sz="2100" spc="-6" dirty="0">
                <a:latin typeface="Courier New"/>
                <a:cs typeface="Courier New"/>
              </a:rPr>
              <a:t>n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97761">
              <a:spcBef>
                <a:spcPts val="46"/>
              </a:spcBef>
            </a:pPr>
            <a:r>
              <a:rPr sz="2100" spc="-6" dirty="0">
                <a:latin typeface="Courier New"/>
                <a:cs typeface="Courier New"/>
              </a:rPr>
              <a:t>Real</a:t>
            </a:r>
            <a:r>
              <a:rPr sz="2100" spc="-114" dirty="0"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x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4246830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158551"/>
            <a:ext cx="9043349" cy="16167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lnSpc>
                <a:spcPct val="102800"/>
              </a:lnSpc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Assim, com o </a:t>
            </a:r>
            <a:r>
              <a:rPr sz="3400" spc="-6" dirty="0">
                <a:latin typeface="Arial"/>
                <a:cs typeface="Arial"/>
              </a:rPr>
              <a:t>comando </a:t>
            </a:r>
            <a:r>
              <a:rPr sz="3400" b="1" spc="-6" dirty="0">
                <a:solidFill>
                  <a:srgbClr val="252599"/>
                </a:solidFill>
                <a:latin typeface="Courier New"/>
                <a:cs typeface="Courier New"/>
              </a:rPr>
              <a:t>typedef</a:t>
            </a:r>
            <a:r>
              <a:rPr sz="3400" spc="-6" dirty="0">
                <a:latin typeface="Arial"/>
                <a:cs typeface="Arial"/>
              </a:rPr>
              <a:t>,</a:t>
            </a:r>
            <a:r>
              <a:rPr sz="3400" spc="-68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pode-se  definir </a:t>
            </a:r>
            <a:r>
              <a:rPr sz="3400" dirty="0">
                <a:latin typeface="Arial"/>
                <a:cs typeface="Arial"/>
              </a:rPr>
              <a:t>estruturas </a:t>
            </a:r>
            <a:r>
              <a:rPr sz="3400" spc="-6" dirty="0">
                <a:latin typeface="Arial"/>
                <a:cs typeface="Arial"/>
              </a:rPr>
              <a:t>e declarar variáveis da  seguinte</a:t>
            </a:r>
            <a:r>
              <a:rPr sz="3400" spc="-74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forma: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63" dirty="0"/>
              <a:t> </a:t>
            </a:r>
            <a:r>
              <a:rPr spc="-6" dirty="0"/>
              <a:t>Declaração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91107" y="4256828"/>
          <a:ext cx="9719111" cy="32297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42671"/>
                <a:gridCol w="1102013"/>
                <a:gridCol w="5474427"/>
              </a:tblGrid>
              <a:tr h="1502904">
                <a:tc grid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20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// </a:t>
                      </a:r>
                      <a:r>
                        <a:rPr sz="2000" spc="-1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Definicao da</a:t>
                      </a:r>
                      <a:r>
                        <a:rPr sz="2000" spc="-5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estrutura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</a:t>
                      </a:r>
                      <a:r>
                        <a:rPr sz="2000" b="1" spc="-10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est_Aluno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36004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r>
                        <a:rPr sz="2000" b="1" spc="-9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nome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2000" spc="-10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100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];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  <a:p>
                      <a:pPr marL="360045">
                        <a:lnSpc>
                          <a:spcPts val="206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2000" b="1" spc="-100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matricula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B w="1016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57371">
                <a:tc>
                  <a:txBody>
                    <a:bodyPr/>
                    <a:lstStyle/>
                    <a:p>
                      <a:pPr marL="3600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2000" b="1" spc="-9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idade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6004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r>
                        <a:rPr sz="2000" b="1" spc="-90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cidade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2000" spc="-10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50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360045">
                        <a:lnSpc>
                          <a:spcPct val="100000"/>
                        </a:lnSpc>
                      </a:pPr>
                      <a:r>
                        <a:rPr sz="20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r>
                        <a:rPr sz="2000" b="1" spc="-10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spc="-10" dirty="0">
                          <a:latin typeface="Courier New"/>
                          <a:cs typeface="Courier New"/>
                        </a:rPr>
                        <a:t>sexo</a:t>
                      </a:r>
                      <a:r>
                        <a:rPr sz="2000" spc="-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0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};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typed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//</a:t>
                      </a:r>
                      <a:r>
                        <a:rPr sz="2400" spc="-10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De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ef </a:t>
                      </a:r>
                      <a:r>
                        <a:rPr sz="2400" b="1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est_Aluno</a:t>
                      </a:r>
                      <a:r>
                        <a:rPr sz="2400" spc="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dirty="0">
                          <a:latin typeface="Courier New"/>
                          <a:cs typeface="Courier New"/>
                        </a:rPr>
                        <a:t>Aluno</a:t>
                      </a:r>
                      <a:r>
                        <a:rPr sz="24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25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claracao </a:t>
                      </a:r>
                      <a:r>
                        <a:rPr sz="2400" spc="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de</a:t>
                      </a:r>
                      <a:r>
                        <a:rPr sz="2400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solidFill>
                            <a:srgbClr val="A6A6A6"/>
                          </a:solidFill>
                          <a:latin typeface="Courier New"/>
                          <a:cs typeface="Courier New"/>
                        </a:rPr>
                        <a:t>variaveis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</a:tr>
              <a:tr h="369429"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87630">
                        <a:lnSpc>
                          <a:spcPts val="1080"/>
                        </a:lnSpc>
                      </a:pPr>
                      <a:r>
                        <a:rPr sz="2400" spc="-5" dirty="0">
                          <a:latin typeface="Courier New"/>
                          <a:cs typeface="Courier New"/>
                        </a:rPr>
                        <a:t>Aluno a1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a2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400" spc="2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spc="-5" dirty="0">
                          <a:latin typeface="Courier New"/>
                          <a:cs typeface="Courier New"/>
                        </a:rPr>
                        <a:t>a3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24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985592" y="2996711"/>
            <a:ext cx="1308456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23" dirty="0">
                <a:latin typeface="Courier New"/>
                <a:cs typeface="Courier New"/>
              </a:rPr>
              <a:t>A</a:t>
            </a:r>
            <a:r>
              <a:rPr sz="2700" spc="-6" dirty="0">
                <a:latin typeface="Courier New"/>
                <a:cs typeface="Courier New"/>
              </a:rPr>
              <a:t>l</a:t>
            </a:r>
            <a:r>
              <a:rPr sz="2700" spc="-23" dirty="0">
                <a:latin typeface="Courier New"/>
                <a:cs typeface="Courier New"/>
              </a:rPr>
              <a:t>u</a:t>
            </a:r>
            <a:r>
              <a:rPr sz="2700" spc="-6" dirty="0">
                <a:latin typeface="Courier New"/>
                <a:cs typeface="Courier New"/>
              </a:rPr>
              <a:t>n</a:t>
            </a:r>
            <a:r>
              <a:rPr sz="2700" dirty="0">
                <a:latin typeface="Courier New"/>
                <a:cs typeface="Courier New"/>
              </a:rPr>
              <a:t>o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027476" y="3007206"/>
            <a:ext cx="1027755" cy="439396"/>
          </a:xfrm>
          <a:custGeom>
            <a:avLst/>
            <a:gdLst/>
            <a:ahLst/>
            <a:cxnLst/>
            <a:rect l="l" t="t" r="r" b="b"/>
            <a:pathLst>
              <a:path w="878840" h="398780">
                <a:moveTo>
                  <a:pt x="0" y="398779"/>
                </a:moveTo>
                <a:lnTo>
                  <a:pt x="878840" y="398779"/>
                </a:lnTo>
                <a:lnTo>
                  <a:pt x="878840" y="0"/>
                </a:lnTo>
                <a:lnTo>
                  <a:pt x="0" y="0"/>
                </a:lnTo>
                <a:lnTo>
                  <a:pt x="0" y="398779"/>
                </a:lnTo>
                <a:close/>
              </a:path>
            </a:pathLst>
          </a:custGeom>
          <a:ln w="2794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25266" y="2996711"/>
            <a:ext cx="7250719" cy="1338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82734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7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est_Aluno</a:t>
            </a:r>
            <a:endParaRPr sz="2700" dirty="0">
              <a:latin typeface="Courier New"/>
              <a:cs typeface="Courier New"/>
            </a:endParaRPr>
          </a:p>
          <a:p>
            <a:pPr marL="535874" indent="-521391">
              <a:spcBef>
                <a:spcPts val="331"/>
              </a:spcBef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Exemplo</a:t>
            </a:r>
            <a:endParaRPr sz="3400" dirty="0">
              <a:latin typeface="Arial"/>
              <a:cs typeface="Arial"/>
            </a:endParaRPr>
          </a:p>
          <a:p>
            <a:pPr marR="469976" algn="r">
              <a:spcBef>
                <a:spcPts val="336"/>
              </a:spcBef>
            </a:pPr>
            <a:r>
              <a:rPr sz="2100" dirty="0">
                <a:latin typeface="Arial"/>
                <a:cs typeface="Arial"/>
              </a:rPr>
              <a:t>Nome</a:t>
            </a:r>
            <a:r>
              <a:rPr sz="2100" spc="-97" dirty="0">
                <a:latin typeface="Arial"/>
                <a:cs typeface="Arial"/>
              </a:rPr>
              <a:t> </a:t>
            </a:r>
            <a:r>
              <a:rPr sz="2100" spc="-6" dirty="0">
                <a:latin typeface="Arial"/>
                <a:cs typeface="Arial"/>
              </a:rPr>
              <a:t>antigo</a:t>
            </a:r>
            <a:endParaRPr sz="21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62878" y="3985635"/>
            <a:ext cx="1396083" cy="323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dirty="0">
                <a:latin typeface="Arial"/>
                <a:cs typeface="Arial"/>
              </a:rPr>
              <a:t>Nome</a:t>
            </a:r>
            <a:r>
              <a:rPr sz="2100" spc="-108" dirty="0">
                <a:latin typeface="Arial"/>
                <a:cs typeface="Arial"/>
              </a:rPr>
              <a:t> </a:t>
            </a:r>
            <a:r>
              <a:rPr sz="2100" spc="-6" dirty="0">
                <a:latin typeface="Arial"/>
                <a:cs typeface="Arial"/>
              </a:rPr>
              <a:t>novo</a:t>
            </a:r>
            <a:endParaRPr sz="21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58617" y="3530147"/>
            <a:ext cx="677249" cy="455488"/>
          </a:xfrm>
          <a:custGeom>
            <a:avLst/>
            <a:gdLst/>
            <a:ahLst/>
            <a:cxnLst/>
            <a:rect l="l" t="t" r="r" b="b"/>
            <a:pathLst>
              <a:path w="579120" h="413385">
                <a:moveTo>
                  <a:pt x="545985" y="23224"/>
                </a:moveTo>
                <a:lnTo>
                  <a:pt x="525981" y="24958"/>
                </a:lnTo>
                <a:lnTo>
                  <a:pt x="0" y="396493"/>
                </a:lnTo>
                <a:lnTo>
                  <a:pt x="11683" y="413130"/>
                </a:lnTo>
                <a:lnTo>
                  <a:pt x="537588" y="41649"/>
                </a:lnTo>
                <a:lnTo>
                  <a:pt x="545985" y="23224"/>
                </a:lnTo>
                <a:close/>
              </a:path>
              <a:path w="579120" h="413385">
                <a:moveTo>
                  <a:pt x="577488" y="3301"/>
                </a:moveTo>
                <a:lnTo>
                  <a:pt x="556640" y="3301"/>
                </a:lnTo>
                <a:lnTo>
                  <a:pt x="568325" y="19938"/>
                </a:lnTo>
                <a:lnTo>
                  <a:pt x="537588" y="41649"/>
                </a:lnTo>
                <a:lnTo>
                  <a:pt x="516636" y="87629"/>
                </a:lnTo>
                <a:lnTo>
                  <a:pt x="514350" y="92709"/>
                </a:lnTo>
                <a:lnTo>
                  <a:pt x="516636" y="98805"/>
                </a:lnTo>
                <a:lnTo>
                  <a:pt x="521715" y="101091"/>
                </a:lnTo>
                <a:lnTo>
                  <a:pt x="526795" y="103504"/>
                </a:lnTo>
                <a:lnTo>
                  <a:pt x="532764" y="101218"/>
                </a:lnTo>
                <a:lnTo>
                  <a:pt x="535177" y="96138"/>
                </a:lnTo>
                <a:lnTo>
                  <a:pt x="577488" y="3301"/>
                </a:lnTo>
                <a:close/>
              </a:path>
              <a:path w="579120" h="413385">
                <a:moveTo>
                  <a:pt x="559495" y="7365"/>
                </a:moveTo>
                <a:lnTo>
                  <a:pt x="553212" y="7365"/>
                </a:lnTo>
                <a:lnTo>
                  <a:pt x="563371" y="21716"/>
                </a:lnTo>
                <a:lnTo>
                  <a:pt x="545985" y="23224"/>
                </a:lnTo>
                <a:lnTo>
                  <a:pt x="537588" y="41649"/>
                </a:lnTo>
                <a:lnTo>
                  <a:pt x="568325" y="19938"/>
                </a:lnTo>
                <a:lnTo>
                  <a:pt x="559495" y="7365"/>
                </a:lnTo>
                <a:close/>
              </a:path>
              <a:path w="579120" h="413385">
                <a:moveTo>
                  <a:pt x="578992" y="0"/>
                </a:moveTo>
                <a:lnTo>
                  <a:pt x="468121" y="9651"/>
                </a:lnTo>
                <a:lnTo>
                  <a:pt x="464057" y="14604"/>
                </a:lnTo>
                <a:lnTo>
                  <a:pt x="464438" y="20192"/>
                </a:lnTo>
                <a:lnTo>
                  <a:pt x="464946" y="25780"/>
                </a:lnTo>
                <a:lnTo>
                  <a:pt x="469900" y="29844"/>
                </a:lnTo>
                <a:lnTo>
                  <a:pt x="525981" y="24958"/>
                </a:lnTo>
                <a:lnTo>
                  <a:pt x="556640" y="3301"/>
                </a:lnTo>
                <a:lnTo>
                  <a:pt x="577488" y="3301"/>
                </a:lnTo>
                <a:lnTo>
                  <a:pt x="578992" y="0"/>
                </a:lnTo>
                <a:close/>
              </a:path>
              <a:path w="579120" h="413385">
                <a:moveTo>
                  <a:pt x="556640" y="3301"/>
                </a:moveTo>
                <a:lnTo>
                  <a:pt x="525981" y="24958"/>
                </a:lnTo>
                <a:lnTo>
                  <a:pt x="545985" y="23224"/>
                </a:lnTo>
                <a:lnTo>
                  <a:pt x="553212" y="7365"/>
                </a:lnTo>
                <a:lnTo>
                  <a:pt x="559495" y="7365"/>
                </a:lnTo>
                <a:lnTo>
                  <a:pt x="556640" y="3301"/>
                </a:lnTo>
                <a:close/>
              </a:path>
              <a:path w="579120" h="413385">
                <a:moveTo>
                  <a:pt x="553212" y="7365"/>
                </a:moveTo>
                <a:lnTo>
                  <a:pt x="545985" y="23224"/>
                </a:lnTo>
                <a:lnTo>
                  <a:pt x="563371" y="21716"/>
                </a:lnTo>
                <a:lnTo>
                  <a:pt x="553212" y="73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79467" y="3518476"/>
            <a:ext cx="681704" cy="488374"/>
          </a:xfrm>
          <a:custGeom>
            <a:avLst/>
            <a:gdLst/>
            <a:ahLst/>
            <a:cxnLst/>
            <a:rect l="l" t="t" r="r" b="b"/>
            <a:pathLst>
              <a:path w="582929" h="443229">
                <a:moveTo>
                  <a:pt x="32108" y="24274"/>
                </a:moveTo>
                <a:lnTo>
                  <a:pt x="39872" y="42815"/>
                </a:lnTo>
                <a:lnTo>
                  <a:pt x="570102" y="443102"/>
                </a:lnTo>
                <a:lnTo>
                  <a:pt x="582421" y="426847"/>
                </a:lnTo>
                <a:lnTo>
                  <a:pt x="52162" y="26658"/>
                </a:lnTo>
                <a:lnTo>
                  <a:pt x="32108" y="24274"/>
                </a:lnTo>
                <a:close/>
              </a:path>
              <a:path w="582929" h="443229">
                <a:moveTo>
                  <a:pt x="0" y="0"/>
                </a:moveTo>
                <a:lnTo>
                  <a:pt x="40766" y="97409"/>
                </a:lnTo>
                <a:lnTo>
                  <a:pt x="42925" y="102615"/>
                </a:lnTo>
                <a:lnTo>
                  <a:pt x="48894" y="105029"/>
                </a:lnTo>
                <a:lnTo>
                  <a:pt x="53975" y="102870"/>
                </a:lnTo>
                <a:lnTo>
                  <a:pt x="59181" y="100711"/>
                </a:lnTo>
                <a:lnTo>
                  <a:pt x="61594" y="94742"/>
                </a:lnTo>
                <a:lnTo>
                  <a:pt x="59435" y="89535"/>
                </a:lnTo>
                <a:lnTo>
                  <a:pt x="39872" y="42815"/>
                </a:lnTo>
                <a:lnTo>
                  <a:pt x="9905" y="20193"/>
                </a:lnTo>
                <a:lnTo>
                  <a:pt x="22225" y="4063"/>
                </a:lnTo>
                <a:lnTo>
                  <a:pt x="34253" y="4063"/>
                </a:lnTo>
                <a:lnTo>
                  <a:pt x="0" y="0"/>
                </a:lnTo>
                <a:close/>
              </a:path>
              <a:path w="582929" h="443229">
                <a:moveTo>
                  <a:pt x="22225" y="4063"/>
                </a:moveTo>
                <a:lnTo>
                  <a:pt x="9905" y="20193"/>
                </a:lnTo>
                <a:lnTo>
                  <a:pt x="39872" y="42815"/>
                </a:lnTo>
                <a:lnTo>
                  <a:pt x="32108" y="24274"/>
                </a:lnTo>
                <a:lnTo>
                  <a:pt x="14858" y="22225"/>
                </a:lnTo>
                <a:lnTo>
                  <a:pt x="25400" y="8255"/>
                </a:lnTo>
                <a:lnTo>
                  <a:pt x="27778" y="8255"/>
                </a:lnTo>
                <a:lnTo>
                  <a:pt x="22225" y="4063"/>
                </a:lnTo>
                <a:close/>
              </a:path>
              <a:path w="582929" h="443229">
                <a:moveTo>
                  <a:pt x="34253" y="4063"/>
                </a:moveTo>
                <a:lnTo>
                  <a:pt x="22225" y="4063"/>
                </a:lnTo>
                <a:lnTo>
                  <a:pt x="52162" y="26658"/>
                </a:lnTo>
                <a:lnTo>
                  <a:pt x="108076" y="33274"/>
                </a:lnTo>
                <a:lnTo>
                  <a:pt x="113029" y="29337"/>
                </a:lnTo>
                <a:lnTo>
                  <a:pt x="113791" y="23749"/>
                </a:lnTo>
                <a:lnTo>
                  <a:pt x="114426" y="18161"/>
                </a:lnTo>
                <a:lnTo>
                  <a:pt x="110489" y="13081"/>
                </a:lnTo>
                <a:lnTo>
                  <a:pt x="34253" y="4063"/>
                </a:lnTo>
                <a:close/>
              </a:path>
              <a:path w="582929" h="443229">
                <a:moveTo>
                  <a:pt x="27778" y="8255"/>
                </a:moveTo>
                <a:lnTo>
                  <a:pt x="25400" y="8255"/>
                </a:lnTo>
                <a:lnTo>
                  <a:pt x="32108" y="24274"/>
                </a:lnTo>
                <a:lnTo>
                  <a:pt x="52162" y="26658"/>
                </a:lnTo>
                <a:lnTo>
                  <a:pt x="27778" y="8255"/>
                </a:lnTo>
                <a:close/>
              </a:path>
              <a:path w="582929" h="443229">
                <a:moveTo>
                  <a:pt x="25400" y="8255"/>
                </a:moveTo>
                <a:lnTo>
                  <a:pt x="14858" y="22225"/>
                </a:lnTo>
                <a:lnTo>
                  <a:pt x="32108" y="24274"/>
                </a:lnTo>
                <a:lnTo>
                  <a:pt x="25400" y="82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57</a:t>
            </a:fld>
            <a:endParaRPr dirty="0"/>
          </a:p>
        </p:txBody>
      </p:sp>
      <p:sp>
        <p:nvSpPr>
          <p:cNvPr id="12" name="object 6"/>
          <p:cNvSpPr/>
          <p:nvPr/>
        </p:nvSpPr>
        <p:spPr>
          <a:xfrm>
            <a:off x="5660669" y="3053386"/>
            <a:ext cx="1972031" cy="439396"/>
          </a:xfrm>
          <a:custGeom>
            <a:avLst/>
            <a:gdLst/>
            <a:ahLst/>
            <a:cxnLst/>
            <a:rect l="l" t="t" r="r" b="b"/>
            <a:pathLst>
              <a:path w="878840" h="398780">
                <a:moveTo>
                  <a:pt x="0" y="398779"/>
                </a:moveTo>
                <a:lnTo>
                  <a:pt x="878840" y="398779"/>
                </a:lnTo>
                <a:lnTo>
                  <a:pt x="878840" y="0"/>
                </a:lnTo>
                <a:lnTo>
                  <a:pt x="0" y="0"/>
                </a:lnTo>
                <a:lnTo>
                  <a:pt x="0" y="398779"/>
                </a:lnTo>
                <a:close/>
              </a:path>
            </a:pathLst>
          </a:custGeom>
          <a:ln w="2794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58506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-</a:t>
            </a:r>
            <a:r>
              <a:rPr spc="-63" dirty="0"/>
              <a:t> </a:t>
            </a:r>
            <a:r>
              <a:rPr spc="-6" dirty="0"/>
              <a:t>Declaração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2147591" y="1793968"/>
            <a:ext cx="6567530" cy="4987290"/>
          </a:xfrm>
          <a:custGeom>
            <a:avLst/>
            <a:gdLst/>
            <a:ahLst/>
            <a:cxnLst/>
            <a:rect l="l" t="t" r="r" b="b"/>
            <a:pathLst>
              <a:path w="5615940" h="4526280">
                <a:moveTo>
                  <a:pt x="0" y="4526280"/>
                </a:moveTo>
                <a:lnTo>
                  <a:pt x="5615939" y="4526280"/>
                </a:lnTo>
                <a:lnTo>
                  <a:pt x="5615939" y="0"/>
                </a:lnTo>
                <a:lnTo>
                  <a:pt x="0" y="0"/>
                </a:lnTo>
                <a:lnTo>
                  <a:pt x="0" y="452628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47591" y="1793968"/>
            <a:ext cx="6567530" cy="4987290"/>
          </a:xfrm>
          <a:custGeom>
            <a:avLst/>
            <a:gdLst/>
            <a:ahLst/>
            <a:cxnLst/>
            <a:rect l="l" t="t" r="r" b="b"/>
            <a:pathLst>
              <a:path w="5615940" h="4526280">
                <a:moveTo>
                  <a:pt x="0" y="4526280"/>
                </a:moveTo>
                <a:lnTo>
                  <a:pt x="5615939" y="4526280"/>
                </a:lnTo>
                <a:lnTo>
                  <a:pt x="5615939" y="0"/>
                </a:lnTo>
                <a:lnTo>
                  <a:pt x="0" y="0"/>
                </a:lnTo>
                <a:lnTo>
                  <a:pt x="0" y="45262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5266" y="1042237"/>
            <a:ext cx="9400538" cy="1203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dirty="0">
                <a:latin typeface="Arial"/>
                <a:cs typeface="Arial"/>
              </a:rPr>
              <a:t>A </a:t>
            </a:r>
            <a:r>
              <a:rPr sz="3400" spc="-6" dirty="0">
                <a:latin typeface="Arial"/>
                <a:cs typeface="Arial"/>
              </a:rPr>
              <a:t>seguinte </a:t>
            </a:r>
            <a:r>
              <a:rPr sz="3400" dirty="0">
                <a:latin typeface="Arial"/>
                <a:cs typeface="Arial"/>
              </a:rPr>
              <a:t>forma </a:t>
            </a:r>
            <a:r>
              <a:rPr sz="3400" spc="-6" dirty="0">
                <a:latin typeface="Arial"/>
                <a:cs typeface="Arial"/>
              </a:rPr>
              <a:t>também pode </a:t>
            </a:r>
            <a:r>
              <a:rPr sz="3400" dirty="0">
                <a:latin typeface="Arial"/>
                <a:cs typeface="Arial"/>
              </a:rPr>
              <a:t>ser</a:t>
            </a:r>
            <a:r>
              <a:rPr sz="3400" spc="-17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utilizada:</a:t>
            </a:r>
            <a:endParaRPr sz="3400">
              <a:latin typeface="Arial"/>
              <a:cs typeface="Arial"/>
            </a:endParaRPr>
          </a:p>
          <a:p>
            <a:pPr marL="1588070">
              <a:spcBef>
                <a:spcPts val="2121"/>
              </a:spcBef>
            </a:pPr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// Definicao </a:t>
            </a:r>
            <a:r>
              <a:rPr sz="2700" spc="-17" dirty="0">
                <a:solidFill>
                  <a:srgbClr val="7E7E7E"/>
                </a:solidFill>
                <a:latin typeface="Courier New"/>
                <a:cs typeface="Courier New"/>
              </a:rPr>
              <a:t>da</a:t>
            </a:r>
            <a:r>
              <a:rPr sz="2700" spc="-86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estrutura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58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3950321" y="2209857"/>
            <a:ext cx="1310684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38931" y="2209857"/>
            <a:ext cx="1526780" cy="12454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endParaRPr sz="2700">
              <a:latin typeface="Courier New"/>
              <a:cs typeface="Courier New"/>
            </a:endParaRPr>
          </a:p>
          <a:p>
            <a:pPr marL="14483"/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43159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6453" y="3016302"/>
            <a:ext cx="2163186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38931" y="3419317"/>
            <a:ext cx="3874130" cy="2077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1596">
              <a:tabLst>
                <a:tab pos="1265821" algn="l"/>
              </a:tabLst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int	</a:t>
            </a:r>
            <a:r>
              <a:rPr sz="2700" spc="-11" dirty="0">
                <a:latin typeface="Courier New"/>
                <a:cs typeface="Courier New"/>
              </a:rPr>
              <a:t>matricula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43159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7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idade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43159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7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cidade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43159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7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sexo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14483"/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7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Aluno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38931" y="5838445"/>
            <a:ext cx="2807760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//</a:t>
            </a:r>
            <a:r>
              <a:rPr sz="2700" spc="-68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solidFill>
                  <a:srgbClr val="7E7E7E"/>
                </a:solidFill>
                <a:latin typeface="Courier New"/>
                <a:cs typeface="Courier New"/>
              </a:rPr>
              <a:t>Declaracao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38930" y="6249855"/>
            <a:ext cx="2808503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latin typeface="Courier New"/>
                <a:cs typeface="Courier New"/>
              </a:rPr>
              <a:t>Aluno a1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700" spc="-97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a2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27885" y="5838445"/>
            <a:ext cx="2596862" cy="8508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de</a:t>
            </a:r>
            <a:r>
              <a:rPr sz="2700" spc="-108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7E7E7E"/>
                </a:solidFill>
                <a:latin typeface="Courier New"/>
                <a:cs typeface="Courier New"/>
              </a:rPr>
              <a:t>variaveis</a:t>
            </a:r>
            <a:endParaRPr sz="2700">
              <a:latin typeface="Courier New"/>
              <a:cs typeface="Courier New"/>
            </a:endParaRPr>
          </a:p>
          <a:p>
            <a:pPr marL="14483">
              <a:spcBef>
                <a:spcPts val="68"/>
              </a:spcBef>
            </a:pPr>
            <a:r>
              <a:rPr sz="2700" spc="-6" dirty="0">
                <a:latin typeface="Courier New"/>
                <a:cs typeface="Courier New"/>
              </a:rPr>
              <a:t>a3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74918" y="6846678"/>
            <a:ext cx="7966583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400" dirty="0">
                <a:latin typeface="Arial"/>
                <a:cs typeface="Arial"/>
              </a:rPr>
              <a:t>Esta </a:t>
            </a:r>
            <a:r>
              <a:rPr sz="3400" spc="-6" dirty="0">
                <a:latin typeface="Arial"/>
                <a:cs typeface="Arial"/>
              </a:rPr>
              <a:t>será a </a:t>
            </a:r>
            <a:r>
              <a:rPr sz="3400" dirty="0">
                <a:latin typeface="Arial"/>
                <a:cs typeface="Arial"/>
              </a:rPr>
              <a:t>forma </a:t>
            </a:r>
            <a:r>
              <a:rPr sz="3400" spc="-6" dirty="0">
                <a:latin typeface="Arial"/>
                <a:cs typeface="Arial"/>
              </a:rPr>
              <a:t>adotada na</a:t>
            </a:r>
            <a:r>
              <a:rPr sz="3400" spc="-80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disciplina.</a:t>
            </a:r>
            <a:endParaRPr sz="3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870239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971"/>
            <a:r>
              <a:rPr dirty="0"/>
              <a:t>Definição e</a:t>
            </a:r>
            <a:r>
              <a:rPr spc="-80" dirty="0"/>
              <a:t> </a:t>
            </a:r>
            <a:r>
              <a:rPr spc="-6" dirty="0"/>
              <a:t>Declaração</a:t>
            </a:r>
          </a:p>
        </p:txBody>
      </p:sp>
      <p:sp>
        <p:nvSpPr>
          <p:cNvPr id="3" name="object 3"/>
          <p:cNvSpPr/>
          <p:nvPr/>
        </p:nvSpPr>
        <p:spPr>
          <a:xfrm>
            <a:off x="5682354" y="1488910"/>
            <a:ext cx="4835793" cy="5798914"/>
          </a:xfrm>
          <a:custGeom>
            <a:avLst/>
            <a:gdLst/>
            <a:ahLst/>
            <a:cxnLst/>
            <a:rect l="l" t="t" r="r" b="b"/>
            <a:pathLst>
              <a:path w="4135120" h="5262880">
                <a:moveTo>
                  <a:pt x="0" y="5262880"/>
                </a:moveTo>
                <a:lnTo>
                  <a:pt x="4135120" y="5262880"/>
                </a:lnTo>
                <a:lnTo>
                  <a:pt x="4135120" y="0"/>
                </a:lnTo>
                <a:lnTo>
                  <a:pt x="0" y="0"/>
                </a:lnTo>
                <a:lnTo>
                  <a:pt x="0" y="526288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682354" y="1488910"/>
            <a:ext cx="4835793" cy="5798914"/>
          </a:xfrm>
          <a:custGeom>
            <a:avLst/>
            <a:gdLst/>
            <a:ahLst/>
            <a:cxnLst/>
            <a:rect l="l" t="t" r="r" b="b"/>
            <a:pathLst>
              <a:path w="4135120" h="5262880">
                <a:moveTo>
                  <a:pt x="0" y="5262880"/>
                </a:moveTo>
                <a:lnTo>
                  <a:pt x="4135120" y="5262880"/>
                </a:lnTo>
                <a:lnTo>
                  <a:pt x="4135120" y="0"/>
                </a:lnTo>
                <a:lnTo>
                  <a:pt x="0" y="0"/>
                </a:lnTo>
                <a:lnTo>
                  <a:pt x="0" y="52628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76366" y="1542086"/>
            <a:ext cx="2600575" cy="27853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solidFill>
                  <a:srgbClr val="009F00"/>
                </a:solidFill>
                <a:latin typeface="Courier New"/>
                <a:cs typeface="Courier New"/>
              </a:rPr>
              <a:t>#include</a:t>
            </a:r>
            <a:r>
              <a:rPr spc="-80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009F00"/>
                </a:solidFill>
                <a:latin typeface="Courier New"/>
                <a:cs typeface="Courier New"/>
              </a:rPr>
              <a:t>&lt;stdio.h&gt;</a:t>
            </a:r>
            <a:endParaRPr>
              <a:latin typeface="Courier New"/>
              <a:cs typeface="Courier New"/>
            </a:endParaRPr>
          </a:p>
          <a:p>
            <a:pPr>
              <a:spcBef>
                <a:spcPts val="23"/>
              </a:spcBef>
            </a:pPr>
            <a:endParaRPr sz="1900">
              <a:latin typeface="Times New Roman"/>
              <a:cs typeface="Times New Roman"/>
            </a:endParaRPr>
          </a:p>
          <a:p>
            <a:pPr marL="14483">
              <a:spcBef>
                <a:spcPts val="6"/>
              </a:spcBef>
            </a:pPr>
            <a:r>
              <a:rPr b="1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292558" marR="144831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pc="-6" dirty="0">
                <a:latin typeface="Courier New"/>
                <a:cs typeface="Courier New"/>
              </a:rPr>
              <a:t>matricula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idade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cidade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sexo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Aluno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76366" y="5036266"/>
            <a:ext cx="2742412" cy="1938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245545" algn="ctr"/>
            <a:r>
              <a:rPr b="1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2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spc="-6" dirty="0">
                <a:latin typeface="Courier New"/>
                <a:cs typeface="Courier New"/>
              </a:rPr>
              <a:t>Aluno a1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pc="-6" dirty="0">
                <a:latin typeface="Courier New"/>
                <a:cs typeface="Courier New"/>
              </a:rPr>
              <a:t>a2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a3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pc="-114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pc="-80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processamento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pc="-114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A6A6A6"/>
                </a:solidFill>
                <a:latin typeface="Courier New"/>
                <a:cs typeface="Courier New"/>
              </a:rPr>
              <a:t>...</a:t>
            </a:r>
            <a:endParaRPr>
              <a:latin typeface="Courier New"/>
              <a:cs typeface="Courier New"/>
            </a:endParaRPr>
          </a:p>
          <a:p>
            <a:pPr marL="29255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76366" y="6920494"/>
            <a:ext cx="17302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6838" y="1529911"/>
            <a:ext cx="5216003" cy="6165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08080"/>
              </a:buClr>
              <a:buSzPct val="69642"/>
              <a:buChar char="•"/>
              <a:tabLst>
                <a:tab pos="535150" algn="l"/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A</a:t>
            </a:r>
            <a:r>
              <a:rPr sz="3200" spc="-120" dirty="0"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definição</a:t>
            </a:r>
            <a:endParaRPr sz="3200">
              <a:latin typeface="Arial"/>
              <a:cs typeface="Arial"/>
            </a:endParaRPr>
          </a:p>
          <a:p>
            <a:pPr marL="465631" marR="5793"/>
            <a:r>
              <a:rPr sz="3200" spc="-6" dirty="0">
                <a:latin typeface="Arial"/>
                <a:cs typeface="Arial"/>
              </a:rPr>
              <a:t>de </a:t>
            </a:r>
            <a:r>
              <a:rPr sz="3200" dirty="0">
                <a:latin typeface="Arial"/>
                <a:cs typeface="Arial"/>
              </a:rPr>
              <a:t>um </a:t>
            </a:r>
            <a:r>
              <a:rPr sz="3200" spc="-6" dirty="0">
                <a:latin typeface="Arial"/>
                <a:cs typeface="Arial"/>
              </a:rPr>
              <a:t>tipo </a:t>
            </a:r>
            <a:r>
              <a:rPr sz="3200" dirty="0">
                <a:latin typeface="Arial"/>
                <a:cs typeface="Arial"/>
              </a:rPr>
              <a:t>estrutura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deve  ficar </a:t>
            </a:r>
            <a:r>
              <a:rPr sz="3200" b="1" spc="-6" dirty="0">
                <a:latin typeface="Arial"/>
                <a:cs typeface="Arial"/>
              </a:rPr>
              <a:t>fora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dirty="0">
                <a:latin typeface="Arial"/>
                <a:cs typeface="Arial"/>
              </a:rPr>
              <a:t>programa  principal (</a:t>
            </a:r>
            <a:r>
              <a:rPr sz="3200" b="1" dirty="0">
                <a:latin typeface="Courier New"/>
                <a:cs typeface="Courier New"/>
              </a:rPr>
              <a:t>main</a:t>
            </a:r>
            <a:r>
              <a:rPr sz="3200" dirty="0">
                <a:latin typeface="Arial"/>
                <a:cs typeface="Arial"/>
              </a:rPr>
              <a:t>) </a:t>
            </a:r>
            <a:r>
              <a:rPr sz="3200" spc="-6" dirty="0">
                <a:latin typeface="Arial"/>
                <a:cs typeface="Arial"/>
              </a:rPr>
              <a:t>e de  </a:t>
            </a:r>
            <a:r>
              <a:rPr sz="3200" dirty="0">
                <a:latin typeface="Arial"/>
                <a:cs typeface="Arial"/>
              </a:rPr>
              <a:t>qualquer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função.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 marL="535874" indent="-521391">
              <a:spcBef>
                <a:spcPts val="1983"/>
              </a:spcBef>
              <a:buClr>
                <a:srgbClr val="808080"/>
              </a:buClr>
              <a:buSzPct val="69642"/>
              <a:buChar char="•"/>
              <a:tabLst>
                <a:tab pos="535150" algn="l"/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A</a:t>
            </a:r>
            <a:r>
              <a:rPr sz="3200" spc="-103" dirty="0"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declaração</a:t>
            </a:r>
            <a:endParaRPr sz="3200">
              <a:latin typeface="Arial"/>
              <a:cs typeface="Arial"/>
            </a:endParaRPr>
          </a:p>
          <a:p>
            <a:pPr marL="465631" marR="6517"/>
            <a:r>
              <a:rPr sz="3200" dirty="0">
                <a:latin typeface="Arial"/>
                <a:cs typeface="Arial"/>
              </a:rPr>
              <a:t>de uma </a:t>
            </a:r>
            <a:r>
              <a:rPr sz="3200" spc="6" dirty="0">
                <a:latin typeface="Arial"/>
                <a:cs typeface="Arial"/>
              </a:rPr>
              <a:t>variável </a:t>
            </a:r>
            <a:r>
              <a:rPr sz="3200" dirty="0">
                <a:latin typeface="Arial"/>
                <a:cs typeface="Arial"/>
              </a:rPr>
              <a:t>do tipo  estrutura deve ficar  </a:t>
            </a:r>
            <a:r>
              <a:rPr sz="3200" b="1" dirty="0">
                <a:latin typeface="Arial"/>
                <a:cs typeface="Arial"/>
              </a:rPr>
              <a:t>dentro </a:t>
            </a:r>
            <a:r>
              <a:rPr sz="3200" dirty="0">
                <a:latin typeface="Arial"/>
                <a:cs typeface="Arial"/>
              </a:rPr>
              <a:t>de alguma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função  </a:t>
            </a:r>
            <a:r>
              <a:rPr sz="3200" spc="-6" dirty="0">
                <a:latin typeface="Arial"/>
                <a:cs typeface="Arial"/>
              </a:rPr>
              <a:t>(seja ela a </a:t>
            </a:r>
            <a:r>
              <a:rPr sz="3200" dirty="0">
                <a:latin typeface="Arial"/>
                <a:cs typeface="Arial"/>
              </a:rPr>
              <a:t>main </a:t>
            </a:r>
            <a:r>
              <a:rPr sz="3200" spc="-6" dirty="0">
                <a:latin typeface="Arial"/>
                <a:cs typeface="Arial"/>
              </a:rPr>
              <a:t>ou </a:t>
            </a:r>
            <a:r>
              <a:rPr sz="3200" dirty="0">
                <a:latin typeface="Arial"/>
                <a:cs typeface="Arial"/>
              </a:rPr>
              <a:t>outra  qualquer).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05699" y="4809153"/>
            <a:ext cx="2510721" cy="943863"/>
          </a:xfrm>
          <a:custGeom>
            <a:avLst/>
            <a:gdLst/>
            <a:ahLst/>
            <a:cxnLst/>
            <a:rect l="l" t="t" r="r" b="b"/>
            <a:pathLst>
              <a:path w="2146935" h="856614">
                <a:moveTo>
                  <a:pt x="2067278" y="819989"/>
                </a:moveTo>
                <a:lnTo>
                  <a:pt x="2014982" y="828548"/>
                </a:lnTo>
                <a:lnTo>
                  <a:pt x="2009902" y="835660"/>
                </a:lnTo>
                <a:lnTo>
                  <a:pt x="2011045" y="843280"/>
                </a:lnTo>
                <a:lnTo>
                  <a:pt x="2012314" y="850900"/>
                </a:lnTo>
                <a:lnTo>
                  <a:pt x="2019553" y="856107"/>
                </a:lnTo>
                <a:lnTo>
                  <a:pt x="2127047" y="838581"/>
                </a:lnTo>
                <a:lnTo>
                  <a:pt x="2115692" y="838581"/>
                </a:lnTo>
                <a:lnTo>
                  <a:pt x="2067278" y="819989"/>
                </a:lnTo>
                <a:close/>
              </a:path>
              <a:path w="2146935" h="856614">
                <a:moveTo>
                  <a:pt x="2094690" y="815518"/>
                </a:moveTo>
                <a:lnTo>
                  <a:pt x="2067278" y="819989"/>
                </a:lnTo>
                <a:lnTo>
                  <a:pt x="2115692" y="838581"/>
                </a:lnTo>
                <a:lnTo>
                  <a:pt x="2117348" y="834263"/>
                </a:lnTo>
                <a:lnTo>
                  <a:pt x="2109724" y="834263"/>
                </a:lnTo>
                <a:lnTo>
                  <a:pt x="2094690" y="815518"/>
                </a:lnTo>
                <a:close/>
              </a:path>
              <a:path w="2146935" h="856614">
                <a:moveTo>
                  <a:pt x="2057273" y="734060"/>
                </a:moveTo>
                <a:lnTo>
                  <a:pt x="2051177" y="738886"/>
                </a:lnTo>
                <a:lnTo>
                  <a:pt x="2045208" y="743712"/>
                </a:lnTo>
                <a:lnTo>
                  <a:pt x="2044191" y="752475"/>
                </a:lnTo>
                <a:lnTo>
                  <a:pt x="2049017" y="758571"/>
                </a:lnTo>
                <a:lnTo>
                  <a:pt x="2077288" y="793820"/>
                </a:lnTo>
                <a:lnTo>
                  <a:pt x="2125726" y="812419"/>
                </a:lnTo>
                <a:lnTo>
                  <a:pt x="2115692" y="838581"/>
                </a:lnTo>
                <a:lnTo>
                  <a:pt x="2127047" y="838581"/>
                </a:lnTo>
                <a:lnTo>
                  <a:pt x="2146554" y="835406"/>
                </a:lnTo>
                <a:lnTo>
                  <a:pt x="2066036" y="735076"/>
                </a:lnTo>
                <a:lnTo>
                  <a:pt x="2057273" y="734060"/>
                </a:lnTo>
                <a:close/>
              </a:path>
              <a:path w="2146935" h="856614">
                <a:moveTo>
                  <a:pt x="2118360" y="811657"/>
                </a:moveTo>
                <a:lnTo>
                  <a:pt x="2094690" y="815518"/>
                </a:lnTo>
                <a:lnTo>
                  <a:pt x="2109724" y="834263"/>
                </a:lnTo>
                <a:lnTo>
                  <a:pt x="2118360" y="811657"/>
                </a:lnTo>
                <a:close/>
              </a:path>
              <a:path w="2146935" h="856614">
                <a:moveTo>
                  <a:pt x="2123741" y="811657"/>
                </a:moveTo>
                <a:lnTo>
                  <a:pt x="2118360" y="811657"/>
                </a:lnTo>
                <a:lnTo>
                  <a:pt x="2109724" y="834263"/>
                </a:lnTo>
                <a:lnTo>
                  <a:pt x="2117348" y="834263"/>
                </a:lnTo>
                <a:lnTo>
                  <a:pt x="2125726" y="812419"/>
                </a:lnTo>
                <a:lnTo>
                  <a:pt x="2123741" y="811657"/>
                </a:lnTo>
                <a:close/>
              </a:path>
              <a:path w="2146935" h="856614">
                <a:moveTo>
                  <a:pt x="9906" y="0"/>
                </a:moveTo>
                <a:lnTo>
                  <a:pt x="0" y="26162"/>
                </a:lnTo>
                <a:lnTo>
                  <a:pt x="2067278" y="819989"/>
                </a:lnTo>
                <a:lnTo>
                  <a:pt x="2094690" y="815518"/>
                </a:lnTo>
                <a:lnTo>
                  <a:pt x="2077288" y="793820"/>
                </a:lnTo>
                <a:lnTo>
                  <a:pt x="9906" y="0"/>
                </a:lnTo>
                <a:close/>
              </a:path>
              <a:path w="2146935" h="856614">
                <a:moveTo>
                  <a:pt x="2077288" y="793820"/>
                </a:moveTo>
                <a:lnTo>
                  <a:pt x="2094690" y="815518"/>
                </a:lnTo>
                <a:lnTo>
                  <a:pt x="2118360" y="811657"/>
                </a:lnTo>
                <a:lnTo>
                  <a:pt x="2123741" y="811657"/>
                </a:lnTo>
                <a:lnTo>
                  <a:pt x="2077288" y="79382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55890" y="1791451"/>
            <a:ext cx="2613942" cy="538051"/>
          </a:xfrm>
          <a:custGeom>
            <a:avLst/>
            <a:gdLst/>
            <a:ahLst/>
            <a:cxnLst/>
            <a:rect l="l" t="t" r="r" b="b"/>
            <a:pathLst>
              <a:path w="2235200" h="488314">
                <a:moveTo>
                  <a:pt x="2154036" y="444194"/>
                </a:moveTo>
                <a:lnTo>
                  <a:pt x="2111375" y="459105"/>
                </a:lnTo>
                <a:lnTo>
                  <a:pt x="2104009" y="461772"/>
                </a:lnTo>
                <a:lnTo>
                  <a:pt x="2100199" y="469646"/>
                </a:lnTo>
                <a:lnTo>
                  <a:pt x="2102739" y="477012"/>
                </a:lnTo>
                <a:lnTo>
                  <a:pt x="2105279" y="484250"/>
                </a:lnTo>
                <a:lnTo>
                  <a:pt x="2113279" y="488061"/>
                </a:lnTo>
                <a:lnTo>
                  <a:pt x="2210409" y="454025"/>
                </a:lnTo>
                <a:lnTo>
                  <a:pt x="2204847" y="454025"/>
                </a:lnTo>
                <a:lnTo>
                  <a:pt x="2154036" y="444194"/>
                </a:lnTo>
                <a:close/>
              </a:path>
              <a:path w="2235200" h="488314">
                <a:moveTo>
                  <a:pt x="2180380" y="434986"/>
                </a:moveTo>
                <a:lnTo>
                  <a:pt x="2154036" y="444194"/>
                </a:lnTo>
                <a:lnTo>
                  <a:pt x="2204847" y="454025"/>
                </a:lnTo>
                <a:lnTo>
                  <a:pt x="2205489" y="450723"/>
                </a:lnTo>
                <a:lnTo>
                  <a:pt x="2198369" y="450723"/>
                </a:lnTo>
                <a:lnTo>
                  <a:pt x="2180380" y="434986"/>
                </a:lnTo>
                <a:close/>
              </a:path>
              <a:path w="2235200" h="488314">
                <a:moveTo>
                  <a:pt x="2137917" y="360680"/>
                </a:moveTo>
                <a:lnTo>
                  <a:pt x="2129154" y="361315"/>
                </a:lnTo>
                <a:lnTo>
                  <a:pt x="2118994" y="372999"/>
                </a:lnTo>
                <a:lnTo>
                  <a:pt x="2119503" y="381762"/>
                </a:lnTo>
                <a:lnTo>
                  <a:pt x="2159598" y="416806"/>
                </a:lnTo>
                <a:lnTo>
                  <a:pt x="2210180" y="426593"/>
                </a:lnTo>
                <a:lnTo>
                  <a:pt x="2204847" y="454025"/>
                </a:lnTo>
                <a:lnTo>
                  <a:pt x="2210409" y="454025"/>
                </a:lnTo>
                <a:lnTo>
                  <a:pt x="2234691" y="445516"/>
                </a:lnTo>
                <a:lnTo>
                  <a:pt x="2143760" y="365887"/>
                </a:lnTo>
                <a:lnTo>
                  <a:pt x="2137917" y="360680"/>
                </a:lnTo>
                <a:close/>
              </a:path>
              <a:path w="2235200" h="488314">
                <a:moveTo>
                  <a:pt x="2202941" y="427100"/>
                </a:moveTo>
                <a:lnTo>
                  <a:pt x="2180380" y="434986"/>
                </a:lnTo>
                <a:lnTo>
                  <a:pt x="2198369" y="450723"/>
                </a:lnTo>
                <a:lnTo>
                  <a:pt x="2202941" y="427100"/>
                </a:lnTo>
                <a:close/>
              </a:path>
              <a:path w="2235200" h="488314">
                <a:moveTo>
                  <a:pt x="2210082" y="427100"/>
                </a:moveTo>
                <a:lnTo>
                  <a:pt x="2202941" y="427100"/>
                </a:lnTo>
                <a:lnTo>
                  <a:pt x="2198369" y="450723"/>
                </a:lnTo>
                <a:lnTo>
                  <a:pt x="2205489" y="450723"/>
                </a:lnTo>
                <a:lnTo>
                  <a:pt x="2210082" y="427100"/>
                </a:lnTo>
                <a:close/>
              </a:path>
              <a:path w="2235200" h="488314">
                <a:moveTo>
                  <a:pt x="5333" y="0"/>
                </a:moveTo>
                <a:lnTo>
                  <a:pt x="0" y="27432"/>
                </a:lnTo>
                <a:lnTo>
                  <a:pt x="2154036" y="444194"/>
                </a:lnTo>
                <a:lnTo>
                  <a:pt x="2180380" y="434986"/>
                </a:lnTo>
                <a:lnTo>
                  <a:pt x="2159598" y="416806"/>
                </a:lnTo>
                <a:lnTo>
                  <a:pt x="5333" y="0"/>
                </a:lnTo>
                <a:close/>
              </a:path>
              <a:path w="2235200" h="488314">
                <a:moveTo>
                  <a:pt x="2159598" y="416806"/>
                </a:moveTo>
                <a:lnTo>
                  <a:pt x="2180380" y="434986"/>
                </a:lnTo>
                <a:lnTo>
                  <a:pt x="2202941" y="427100"/>
                </a:lnTo>
                <a:lnTo>
                  <a:pt x="2210082" y="427100"/>
                </a:lnTo>
                <a:lnTo>
                  <a:pt x="2210180" y="426593"/>
                </a:lnTo>
                <a:lnTo>
                  <a:pt x="2159598" y="41680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0258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9321" y="1200643"/>
            <a:ext cx="6298710" cy="37779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2496" marR="5793" indent="-588013">
              <a:buClr>
                <a:srgbClr val="852B34"/>
              </a:buClr>
              <a:buSzPct val="70000"/>
              <a:buChar char="•"/>
              <a:tabLst>
                <a:tab pos="601772" algn="l"/>
                <a:tab pos="602496" algn="l"/>
              </a:tabLst>
            </a:pPr>
            <a:r>
              <a:rPr sz="3400" spc="-6" dirty="0">
                <a:latin typeface="Arial"/>
                <a:cs typeface="Arial"/>
              </a:rPr>
              <a:t>Cada </a:t>
            </a:r>
            <a:r>
              <a:rPr sz="3400" dirty="0">
                <a:latin typeface="Arial"/>
                <a:cs typeface="Arial"/>
              </a:rPr>
              <a:t>campo de uma  </a:t>
            </a:r>
            <a:r>
              <a:rPr sz="3400" spc="-6" dirty="0">
                <a:latin typeface="Arial"/>
                <a:cs typeface="Arial"/>
              </a:rPr>
              <a:t>estrutura pode armazenar  </a:t>
            </a:r>
            <a:r>
              <a:rPr sz="3400" dirty="0">
                <a:latin typeface="Arial"/>
                <a:cs typeface="Arial"/>
              </a:rPr>
              <a:t>um </a:t>
            </a:r>
            <a:r>
              <a:rPr sz="3400" spc="-6" dirty="0">
                <a:latin typeface="Arial"/>
                <a:cs typeface="Arial"/>
              </a:rPr>
              <a:t>valor (como </a:t>
            </a:r>
            <a:r>
              <a:rPr sz="3400" dirty="0">
                <a:latin typeface="Arial"/>
                <a:cs typeface="Arial"/>
              </a:rPr>
              <a:t>uma  </a:t>
            </a:r>
            <a:r>
              <a:rPr sz="3400" spc="-6" dirty="0">
                <a:latin typeface="Arial"/>
                <a:cs typeface="Arial"/>
              </a:rPr>
              <a:t>variável). Seu valor pode ser  acessado, modificado,  impresso,</a:t>
            </a:r>
            <a:r>
              <a:rPr sz="3400" spc="-86" dirty="0">
                <a:latin typeface="Arial"/>
                <a:cs typeface="Arial"/>
              </a:rPr>
              <a:t> </a:t>
            </a:r>
            <a:r>
              <a:rPr sz="3400" dirty="0">
                <a:latin typeface="Arial"/>
                <a:cs typeface="Arial"/>
              </a:rPr>
              <a:t>etc.</a:t>
            </a:r>
            <a:endParaRPr sz="3400">
              <a:latin typeface="Arial"/>
              <a:cs typeface="Arial"/>
            </a:endParaRPr>
          </a:p>
          <a:p>
            <a:pPr marL="602496" indent="-588013">
              <a:spcBef>
                <a:spcPts val="912"/>
              </a:spcBef>
              <a:buClr>
                <a:srgbClr val="852B34"/>
              </a:buClr>
              <a:buSzPct val="70000"/>
              <a:buChar char="•"/>
              <a:tabLst>
                <a:tab pos="601772" algn="l"/>
                <a:tab pos="602496" algn="l"/>
              </a:tabLst>
            </a:pPr>
            <a:r>
              <a:rPr sz="3400" spc="-6" dirty="0">
                <a:latin typeface="Arial"/>
                <a:cs typeface="Arial"/>
              </a:rPr>
              <a:t>Campos são</a:t>
            </a:r>
            <a:r>
              <a:rPr sz="3400" spc="-51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acessados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Estruturas:</a:t>
            </a:r>
            <a:r>
              <a:rPr spc="-68" dirty="0"/>
              <a:t> </a:t>
            </a:r>
            <a:r>
              <a:rPr spc="-6" dirty="0"/>
              <a:t>Manipulação</a:t>
            </a:r>
          </a:p>
        </p:txBody>
      </p:sp>
      <p:sp>
        <p:nvSpPr>
          <p:cNvPr id="4" name="object 4"/>
          <p:cNvSpPr/>
          <p:nvPr/>
        </p:nvSpPr>
        <p:spPr>
          <a:xfrm>
            <a:off x="7117052" y="2350911"/>
            <a:ext cx="3282280" cy="2544022"/>
          </a:xfrm>
          <a:custGeom>
            <a:avLst/>
            <a:gdLst/>
            <a:ahLst/>
            <a:cxnLst/>
            <a:rect l="l" t="t" r="r" b="b"/>
            <a:pathLst>
              <a:path w="2806700" h="2308860">
                <a:moveTo>
                  <a:pt x="0" y="2308860"/>
                </a:moveTo>
                <a:lnTo>
                  <a:pt x="2806700" y="2308860"/>
                </a:lnTo>
                <a:lnTo>
                  <a:pt x="2806700" y="0"/>
                </a:lnTo>
                <a:lnTo>
                  <a:pt x="0" y="0"/>
                </a:lnTo>
                <a:lnTo>
                  <a:pt x="0" y="23088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58182" y="4894932"/>
          <a:ext cx="9941148" cy="25192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58869"/>
                <a:gridCol w="348662"/>
                <a:gridCol w="2933617"/>
              </a:tblGrid>
              <a:tr h="503767">
                <a:tc>
                  <a:txBody>
                    <a:bodyPr/>
                    <a:lstStyle/>
                    <a:p>
                      <a:pPr marL="537845">
                        <a:lnSpc>
                          <a:spcPts val="3210"/>
                        </a:lnSpc>
                      </a:pPr>
                      <a:r>
                        <a:rPr sz="3300" spc="-5" dirty="0">
                          <a:latin typeface="Arial"/>
                          <a:cs typeface="Arial"/>
                        </a:rPr>
                        <a:t>usando </a:t>
                      </a:r>
                      <a:r>
                        <a:rPr sz="3300" dirty="0">
                          <a:latin typeface="Arial"/>
                          <a:cs typeface="Arial"/>
                        </a:rPr>
                        <a:t>o 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operador</a:t>
                      </a:r>
                      <a:r>
                        <a:rPr sz="33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300" dirty="0">
                          <a:latin typeface="Arial"/>
                          <a:cs typeface="Arial"/>
                        </a:rPr>
                        <a:t>de</a:t>
                      </a: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016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03767">
                <a:tc>
                  <a:txBody>
                    <a:bodyPr/>
                    <a:lstStyle/>
                    <a:p>
                      <a:pPr marL="537845">
                        <a:lnSpc>
                          <a:spcPts val="3329"/>
                        </a:lnSpc>
                      </a:pPr>
                      <a:r>
                        <a:rPr sz="3300" spc="-5" dirty="0">
                          <a:latin typeface="Arial"/>
                          <a:cs typeface="Arial"/>
                        </a:rPr>
                        <a:t>acesso </a:t>
                      </a:r>
                      <a:r>
                        <a:rPr sz="3300" b="1" dirty="0">
                          <a:latin typeface="Arial"/>
                          <a:cs typeface="Arial"/>
                        </a:rPr>
                        <a:t>ponto </a:t>
                      </a:r>
                      <a:r>
                        <a:rPr sz="330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(.) 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entre</a:t>
                      </a:r>
                      <a:r>
                        <a:rPr sz="33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o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504151">
                <a:tc>
                  <a:txBody>
                    <a:bodyPr/>
                    <a:lstStyle/>
                    <a:p>
                      <a:pPr marL="537845">
                        <a:lnSpc>
                          <a:spcPts val="3329"/>
                        </a:lnSpc>
                      </a:pPr>
                      <a:r>
                        <a:rPr sz="3300" b="1" dirty="0">
                          <a:latin typeface="Arial"/>
                          <a:cs typeface="Arial"/>
                        </a:rPr>
                        <a:t>nome da </a:t>
                      </a:r>
                      <a:r>
                        <a:rPr sz="3300" b="1" spc="-20" dirty="0">
                          <a:latin typeface="Arial"/>
                          <a:cs typeface="Arial"/>
                        </a:rPr>
                        <a:t>variável</a:t>
                      </a:r>
                      <a:r>
                        <a:rPr sz="3300" b="1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300" spc="-10" dirty="0">
                          <a:latin typeface="Arial"/>
                          <a:cs typeface="Arial"/>
                        </a:rPr>
                        <a:t>declarada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503767">
                <a:tc>
                  <a:txBody>
                    <a:bodyPr/>
                    <a:lstStyle/>
                    <a:p>
                      <a:pPr marL="537845">
                        <a:lnSpc>
                          <a:spcPts val="3329"/>
                        </a:lnSpc>
                      </a:pPr>
                      <a:r>
                        <a:rPr sz="3300" spc="-5" dirty="0">
                          <a:latin typeface="Arial"/>
                          <a:cs typeface="Arial"/>
                        </a:rPr>
                        <a:t>como </a:t>
                      </a:r>
                      <a:r>
                        <a:rPr sz="3300" dirty="0">
                          <a:latin typeface="Arial"/>
                          <a:cs typeface="Arial"/>
                        </a:rPr>
                        <a:t>estrutura 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e o </a:t>
                      </a:r>
                      <a:r>
                        <a:rPr sz="3300" b="1" dirty="0">
                          <a:latin typeface="Arial"/>
                          <a:cs typeface="Arial"/>
                        </a:rPr>
                        <a:t>nome</a:t>
                      </a:r>
                      <a:r>
                        <a:rPr sz="3300" b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300" b="1" dirty="0">
                          <a:latin typeface="Arial"/>
                          <a:cs typeface="Arial"/>
                        </a:rPr>
                        <a:t>do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503767">
                <a:tc>
                  <a:txBody>
                    <a:bodyPr/>
                    <a:lstStyle/>
                    <a:p>
                      <a:pPr marL="537845">
                        <a:lnSpc>
                          <a:spcPts val="3329"/>
                        </a:lnSpc>
                      </a:pPr>
                      <a:r>
                        <a:rPr sz="3300" b="1" spc="-5" dirty="0">
                          <a:latin typeface="Arial"/>
                          <a:cs typeface="Arial"/>
                        </a:rPr>
                        <a:t>campo</a:t>
                      </a:r>
                      <a:r>
                        <a:rPr sz="3300" spc="-5" dirty="0">
                          <a:latin typeface="Arial"/>
                          <a:cs typeface="Arial"/>
                        </a:rPr>
                        <a:t>.</a:t>
                      </a:r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33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117052" y="2350910"/>
            <a:ext cx="3411248" cy="2598114"/>
          </a:xfrm>
          <a:prstGeom prst="rect">
            <a:avLst/>
          </a:prstGeom>
          <a:ln w="10160">
            <a:solidFill>
              <a:srgbClr val="000000"/>
            </a:solidFill>
          </a:ln>
        </p:spPr>
        <p:txBody>
          <a:bodyPr vert="horz" wrap="square" lIns="0" tIns="15207" rIns="0" bIns="0" rtlCol="0">
            <a:spAutoFit/>
          </a:bodyPr>
          <a:lstStyle/>
          <a:p>
            <a:pPr marL="99209">
              <a:spcBef>
                <a:spcPts val="120"/>
              </a:spcBef>
            </a:pPr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100" b="1" spc="-6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100" dirty="0">
              <a:latin typeface="Courier New"/>
              <a:cs typeface="Courier New"/>
            </a:endParaRPr>
          </a:p>
          <a:p>
            <a:pPr marL="99209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 dirty="0">
              <a:latin typeface="Courier New"/>
              <a:cs typeface="Courier New"/>
            </a:endParaRPr>
          </a:p>
          <a:p>
            <a:pPr marL="412044" marR="430147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100" spc="-11" dirty="0">
                <a:latin typeface="Courier New"/>
                <a:cs typeface="Courier New"/>
              </a:rPr>
              <a:t>nome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100" spc="-11" dirty="0">
                <a:latin typeface="Courier New"/>
                <a:cs typeface="Courier New"/>
              </a:rPr>
              <a:t>matricula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idade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 dirty="0">
              <a:latin typeface="Courier New"/>
              <a:cs typeface="Courier New"/>
            </a:endParaRPr>
          </a:p>
          <a:p>
            <a:pPr marL="412044">
              <a:lnSpc>
                <a:spcPts val="2463"/>
              </a:lnSpc>
            </a:pPr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cidade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100" dirty="0">
              <a:latin typeface="Courier New"/>
              <a:cs typeface="Courier New"/>
            </a:endParaRPr>
          </a:p>
          <a:p>
            <a:pPr marL="412044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sexo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 dirty="0">
              <a:latin typeface="Courier New"/>
              <a:cs typeface="Courier New"/>
            </a:endParaRPr>
          </a:p>
          <a:p>
            <a:pPr marL="99209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1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Aluno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60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1742770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5749" y="1063227"/>
            <a:ext cx="9632227" cy="14106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No </a:t>
            </a:r>
            <a:r>
              <a:rPr sz="3000" spc="-11" dirty="0">
                <a:latin typeface="Arial"/>
                <a:cs typeface="Arial"/>
              </a:rPr>
              <a:t>programa </a:t>
            </a:r>
            <a:r>
              <a:rPr sz="3000" spc="-6" dirty="0">
                <a:latin typeface="Arial"/>
                <a:cs typeface="Arial"/>
              </a:rPr>
              <a:t>são criadas duas variáveis</a:t>
            </a:r>
            <a:r>
              <a:rPr sz="3000" spc="205" dirty="0">
                <a:latin typeface="Arial"/>
                <a:cs typeface="Arial"/>
              </a:rPr>
              <a:t> </a:t>
            </a:r>
            <a:r>
              <a:rPr sz="3000" b="1" spc="-6" dirty="0">
                <a:latin typeface="Courier New"/>
                <a:cs typeface="Courier New"/>
              </a:rPr>
              <a:t>Aluno</a:t>
            </a:r>
            <a:r>
              <a:rPr sz="3000" spc="-6" dirty="0">
                <a:latin typeface="Arial"/>
                <a:cs typeface="Arial"/>
              </a:rPr>
              <a:t>.</a:t>
            </a:r>
            <a:endParaRPr sz="3000">
              <a:latin typeface="Arial"/>
              <a:cs typeface="Arial"/>
            </a:endParaRPr>
          </a:p>
          <a:p>
            <a:pPr marL="535874" marR="5793" indent="-521391">
              <a:lnSpc>
                <a:spcPts val="3330"/>
              </a:lnSpc>
              <a:spcBef>
                <a:spcPts val="758"/>
              </a:spcBef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Cada</a:t>
            </a:r>
            <a:r>
              <a:rPr sz="3000" spc="23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variável</a:t>
            </a:r>
            <a:r>
              <a:rPr sz="3000" spc="23" dirty="0">
                <a:latin typeface="Arial"/>
                <a:cs typeface="Arial"/>
              </a:rPr>
              <a:t> </a:t>
            </a:r>
            <a:r>
              <a:rPr sz="3000" b="1" spc="-6" dirty="0">
                <a:latin typeface="Courier New"/>
                <a:cs typeface="Courier New"/>
              </a:rPr>
              <a:t>Aluno</a:t>
            </a:r>
            <a:r>
              <a:rPr sz="3000" b="1" spc="-941" dirty="0">
                <a:latin typeface="Courier New"/>
                <a:cs typeface="Courier New"/>
              </a:rPr>
              <a:t> </a:t>
            </a:r>
            <a:r>
              <a:rPr sz="3000" spc="-6" dirty="0">
                <a:latin typeface="Arial"/>
                <a:cs typeface="Arial"/>
              </a:rPr>
              <a:t>(</a:t>
            </a:r>
            <a:r>
              <a:rPr sz="3000" b="1" spc="-6" dirty="0">
                <a:solidFill>
                  <a:srgbClr val="00664D"/>
                </a:solidFill>
                <a:latin typeface="Courier New"/>
                <a:cs typeface="Courier New"/>
              </a:rPr>
              <a:t>a1</a:t>
            </a:r>
            <a:r>
              <a:rPr sz="3000" b="1" spc="-962" dirty="0">
                <a:solidFill>
                  <a:srgbClr val="00664D"/>
                </a:solidFill>
                <a:latin typeface="Courier New"/>
                <a:cs typeface="Courier New"/>
              </a:rPr>
              <a:t> </a:t>
            </a:r>
            <a:r>
              <a:rPr sz="3000" spc="-6" dirty="0">
                <a:latin typeface="Arial"/>
                <a:cs typeface="Arial"/>
              </a:rPr>
              <a:t>e</a:t>
            </a:r>
            <a:r>
              <a:rPr sz="3000" spc="6" dirty="0">
                <a:latin typeface="Arial"/>
                <a:cs typeface="Arial"/>
              </a:rPr>
              <a:t> </a:t>
            </a:r>
            <a:r>
              <a:rPr sz="3000" b="1" spc="-6" dirty="0">
                <a:solidFill>
                  <a:srgbClr val="00664D"/>
                </a:solidFill>
                <a:latin typeface="Courier New"/>
                <a:cs typeface="Courier New"/>
              </a:rPr>
              <a:t>a2</a:t>
            </a:r>
            <a:r>
              <a:rPr sz="3000" spc="-6" dirty="0">
                <a:latin typeface="Arial"/>
                <a:cs typeface="Arial"/>
              </a:rPr>
              <a:t>)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tem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11" dirty="0">
                <a:latin typeface="Arial"/>
                <a:cs typeface="Arial"/>
              </a:rPr>
              <a:t>nome,</a:t>
            </a:r>
            <a:r>
              <a:rPr sz="3000" spc="29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matricula,  idade, cidade e</a:t>
            </a:r>
            <a:r>
              <a:rPr sz="3000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sexo.</a:t>
            </a:r>
            <a:endParaRPr sz="30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61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25749" y="2440469"/>
            <a:ext cx="4096909" cy="474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dirty="0">
                <a:latin typeface="Arial"/>
                <a:cs typeface="Arial"/>
              </a:rPr>
              <a:t>O </a:t>
            </a:r>
            <a:r>
              <a:rPr sz="3000" spc="-6" dirty="0">
                <a:latin typeface="Arial"/>
                <a:cs typeface="Arial"/>
              </a:rPr>
              <a:t>uso </a:t>
            </a:r>
            <a:r>
              <a:rPr sz="3000" dirty="0">
                <a:latin typeface="Arial"/>
                <a:cs typeface="Arial"/>
              </a:rPr>
              <a:t>de</a:t>
            </a:r>
            <a:r>
              <a:rPr sz="3000" spc="-63" dirty="0">
                <a:latin typeface="Arial"/>
                <a:cs typeface="Arial"/>
              </a:rPr>
              <a:t> </a:t>
            </a:r>
            <a:r>
              <a:rPr sz="3000" b="1" spc="-6" dirty="0">
                <a:solidFill>
                  <a:srgbClr val="C00000"/>
                </a:solidFill>
                <a:latin typeface="Courier New"/>
                <a:cs typeface="Courier New"/>
              </a:rPr>
              <a:t>a1.idade</a:t>
            </a:r>
            <a:endParaRPr sz="3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28061" y="2440469"/>
            <a:ext cx="5314026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000" spc="-6" dirty="0">
                <a:latin typeface="Arial"/>
                <a:cs typeface="Arial"/>
              </a:rPr>
              <a:t>permite acessar </a:t>
            </a:r>
            <a:r>
              <a:rPr sz="3000" dirty="0">
                <a:latin typeface="Arial"/>
                <a:cs typeface="Arial"/>
              </a:rPr>
              <a:t>ou </a:t>
            </a:r>
            <a:r>
              <a:rPr sz="3000" spc="-6" dirty="0">
                <a:latin typeface="Arial"/>
                <a:cs typeface="Arial"/>
              </a:rPr>
              <a:t>modificar</a:t>
            </a:r>
            <a:r>
              <a:rPr sz="3000" spc="34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o</a:t>
            </a:r>
            <a:endParaRPr sz="3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0420" y="2832568"/>
            <a:ext cx="5114267" cy="474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000" spc="-6" dirty="0">
                <a:latin typeface="Arial"/>
                <a:cs typeface="Arial"/>
              </a:rPr>
              <a:t>campo </a:t>
            </a:r>
            <a:r>
              <a:rPr sz="3000" b="1" spc="-6" dirty="0">
                <a:solidFill>
                  <a:srgbClr val="00664D"/>
                </a:solidFill>
                <a:latin typeface="Courier New"/>
                <a:cs typeface="Courier New"/>
              </a:rPr>
              <a:t>idade</a:t>
            </a:r>
            <a:r>
              <a:rPr sz="3000" b="1" spc="-929" dirty="0">
                <a:solidFill>
                  <a:srgbClr val="00664D"/>
                </a:solidFill>
                <a:latin typeface="Courier New"/>
                <a:cs typeface="Courier New"/>
              </a:rPr>
              <a:t> </a:t>
            </a:r>
            <a:r>
              <a:rPr sz="3000" spc="-6" dirty="0">
                <a:latin typeface="Arial"/>
                <a:cs typeface="Arial"/>
              </a:rPr>
              <a:t>da variável </a:t>
            </a:r>
            <a:r>
              <a:rPr sz="3000" b="1" spc="-6" dirty="0">
                <a:solidFill>
                  <a:srgbClr val="00664D"/>
                </a:solidFill>
                <a:latin typeface="Courier New"/>
                <a:cs typeface="Courier New"/>
              </a:rPr>
              <a:t>a1</a:t>
            </a:r>
            <a:r>
              <a:rPr sz="3000" spc="-6" dirty="0">
                <a:latin typeface="Arial"/>
                <a:cs typeface="Arial"/>
              </a:rPr>
              <a:t>.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Estruturas:</a:t>
            </a:r>
            <a:r>
              <a:rPr spc="-68" dirty="0"/>
              <a:t> </a:t>
            </a:r>
            <a:r>
              <a:rPr spc="-6" dirty="0"/>
              <a:t>Manipulação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574399" y="3845418"/>
            <a:ext cx="5994245" cy="2996346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6208" rIns="0" bIns="0" rtlCol="0">
            <a:spAutoFit/>
          </a:bodyPr>
          <a:lstStyle/>
          <a:p>
            <a:pPr marL="99933">
              <a:spcBef>
                <a:spcPts val="285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>
              <a:latin typeface="Courier New"/>
              <a:cs typeface="Courier New"/>
            </a:endParaRPr>
          </a:p>
          <a:p>
            <a:pPr marL="99933">
              <a:lnSpc>
                <a:spcPts val="2167"/>
              </a:lnSpc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8008">
              <a:lnSpc>
                <a:spcPts val="2440"/>
              </a:lnSpc>
            </a:pPr>
            <a:r>
              <a:rPr spc="-6" dirty="0">
                <a:latin typeface="Courier New"/>
                <a:cs typeface="Courier New"/>
              </a:rPr>
              <a:t>Aluno </a:t>
            </a:r>
            <a:r>
              <a:rPr sz="2100" b="1" dirty="0">
                <a:latin typeface="Courier New"/>
                <a:cs typeface="Courier New"/>
              </a:rPr>
              <a:t>a1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b="1" spc="-6" dirty="0">
                <a:latin typeface="Courier New"/>
                <a:cs typeface="Courier New"/>
              </a:rPr>
              <a:t>a2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>
              <a:spcBef>
                <a:spcPts val="23"/>
              </a:spcBef>
            </a:pPr>
            <a:endParaRPr sz="1900">
              <a:latin typeface="Times New Roman"/>
              <a:cs typeface="Times New Roman"/>
            </a:endParaRPr>
          </a:p>
          <a:p>
            <a:pPr marL="378008"/>
            <a:r>
              <a:rPr spc="-6" dirty="0">
                <a:latin typeface="Courier New"/>
                <a:cs typeface="Courier New"/>
              </a:rPr>
              <a:t>gets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b="1" spc="-6" dirty="0">
                <a:latin typeface="Courier New"/>
                <a:cs typeface="Courier New"/>
              </a:rPr>
              <a:t>a1</a:t>
            </a:r>
            <a:r>
              <a:rPr sz="21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100" b="1"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sz="2100" b="1" spc="-11" dirty="0">
                <a:latin typeface="Courier New"/>
                <a:cs typeface="Courier New"/>
              </a:rPr>
              <a:t>a1</a:t>
            </a:r>
            <a:r>
              <a:rPr sz="2100" b="1" spc="-11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100" b="1" spc="-11" dirty="0">
                <a:latin typeface="Courier New"/>
                <a:cs typeface="Courier New"/>
              </a:rPr>
              <a:t>idade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pc="-20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20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spc="-6" dirty="0">
                <a:latin typeface="Courier New"/>
                <a:cs typeface="Courier New"/>
              </a:rPr>
              <a:t>printf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solidFill>
                  <a:srgbClr val="0000FF"/>
                </a:solidFill>
                <a:latin typeface="Courier New"/>
                <a:cs typeface="Courier New"/>
              </a:rPr>
              <a:t>"Matricula %d"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100" b="1" spc="-11" dirty="0">
                <a:latin typeface="Courier New"/>
                <a:cs typeface="Courier New"/>
              </a:rPr>
              <a:t>a2</a:t>
            </a:r>
            <a:r>
              <a:rPr sz="2100" b="1" spc="-11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100" b="1" spc="-11" dirty="0">
                <a:latin typeface="Courier New"/>
                <a:cs typeface="Courier New"/>
              </a:rPr>
              <a:t>matricula</a:t>
            </a:r>
            <a:r>
              <a:rPr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378008">
              <a:spcBef>
                <a:spcPts val="46"/>
              </a:spcBef>
            </a:pPr>
            <a:r>
              <a:rPr spc="-6" dirty="0">
                <a:solidFill>
                  <a:srgbClr val="BDBDE6"/>
                </a:solidFill>
                <a:latin typeface="Courier New"/>
                <a:cs typeface="Courier New"/>
              </a:rPr>
              <a:t>//</a:t>
            </a:r>
            <a:r>
              <a:rPr spc="-114" dirty="0">
                <a:solidFill>
                  <a:srgbClr val="BDBDE6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BDBDE6"/>
                </a:solidFill>
                <a:latin typeface="Courier New"/>
                <a:cs typeface="Courier New"/>
              </a:rPr>
              <a:t>...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99933">
              <a:spcBef>
                <a:spcPts val="23"/>
              </a:spcBef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4067" y="4175665"/>
            <a:ext cx="4099137" cy="2001073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4759" rIns="0" bIns="0" rtlCol="0">
            <a:spAutoFit/>
          </a:bodyPr>
          <a:lstStyle/>
          <a:p>
            <a:pPr marL="97761">
              <a:spcBef>
                <a:spcPts val="274"/>
              </a:spcBef>
            </a:pP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16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1600">
              <a:latin typeface="Courier New"/>
              <a:cs typeface="Courier New"/>
            </a:endParaRPr>
          </a:p>
          <a:p>
            <a:pPr marL="97761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1077" marR="1813282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1600" spc="-6" dirty="0">
                <a:latin typeface="Courier New"/>
                <a:cs typeface="Courier New"/>
              </a:rPr>
              <a:t>nome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1600" spc="-11" dirty="0">
                <a:latin typeface="Courier New"/>
                <a:cs typeface="Courier New"/>
              </a:rPr>
              <a:t>matricula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16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idade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1600" b="1" spc="-5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cidade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16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sexo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97761">
              <a:spcBef>
                <a:spcPts val="23"/>
              </a:spcBef>
            </a:pP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6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Aluno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07817830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5266" y="1041398"/>
            <a:ext cx="3860019" cy="1969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>
              <a:buClr>
                <a:srgbClr val="852B34"/>
              </a:buClr>
              <a:buSzPct val="69642"/>
              <a:buChar char="•"/>
              <a:tabLst>
                <a:tab pos="404802" algn="l"/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Neste </a:t>
            </a:r>
            <a:r>
              <a:rPr sz="3200" dirty="0">
                <a:latin typeface="Arial"/>
                <a:cs typeface="Arial"/>
              </a:rPr>
              <a:t>exemplo,  serão </a:t>
            </a:r>
            <a:r>
              <a:rPr sz="3200" spc="-6" dirty="0">
                <a:latin typeface="Arial"/>
                <a:cs typeface="Arial"/>
              </a:rPr>
              <a:t>lidos  </a:t>
            </a:r>
            <a:r>
              <a:rPr sz="3200" dirty="0">
                <a:latin typeface="Arial"/>
                <a:cs typeface="Arial"/>
              </a:rPr>
              <a:t>matrícula </a:t>
            </a:r>
            <a:r>
              <a:rPr sz="3200" spc="-6" dirty="0">
                <a:latin typeface="Arial"/>
                <a:cs typeface="Arial"/>
              </a:rPr>
              <a:t>e </a:t>
            </a:r>
            <a:r>
              <a:rPr sz="3200" dirty="0">
                <a:latin typeface="Arial"/>
                <a:cs typeface="Arial"/>
              </a:rPr>
              <a:t>nome  </a:t>
            </a:r>
            <a:r>
              <a:rPr sz="3200" spc="-6" dirty="0">
                <a:latin typeface="Arial"/>
                <a:cs typeface="Arial"/>
              </a:rPr>
              <a:t>de um</a:t>
            </a:r>
            <a:r>
              <a:rPr sz="3200" spc="-4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funcionário.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83" y="349250"/>
            <a:ext cx="922223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Estruturas:</a:t>
            </a:r>
            <a:r>
              <a:rPr spc="-68" dirty="0"/>
              <a:t> </a:t>
            </a:r>
            <a:r>
              <a:rPr spc="-6" dirty="0"/>
              <a:t>Manipulação</a:t>
            </a:r>
          </a:p>
        </p:txBody>
      </p:sp>
      <p:sp>
        <p:nvSpPr>
          <p:cNvPr id="4" name="object 4"/>
          <p:cNvSpPr/>
          <p:nvPr/>
        </p:nvSpPr>
        <p:spPr>
          <a:xfrm>
            <a:off x="4672422" y="920773"/>
            <a:ext cx="5614035" cy="6512584"/>
          </a:xfrm>
          <a:custGeom>
            <a:avLst/>
            <a:gdLst/>
            <a:ahLst/>
            <a:cxnLst/>
            <a:rect l="l" t="t" r="r" b="b"/>
            <a:pathLst>
              <a:path w="4800600" h="5910580">
                <a:moveTo>
                  <a:pt x="0" y="5910580"/>
                </a:moveTo>
                <a:lnTo>
                  <a:pt x="4800600" y="5910580"/>
                </a:lnTo>
                <a:lnTo>
                  <a:pt x="4800600" y="0"/>
                </a:lnTo>
                <a:lnTo>
                  <a:pt x="0" y="0"/>
                </a:lnTo>
                <a:lnTo>
                  <a:pt x="0" y="591058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72422" y="920773"/>
            <a:ext cx="5614035" cy="6512584"/>
          </a:xfrm>
          <a:custGeom>
            <a:avLst/>
            <a:gdLst/>
            <a:ahLst/>
            <a:cxnLst/>
            <a:rect l="l" t="t" r="r" b="b"/>
            <a:pathLst>
              <a:path w="4800600" h="5910580">
                <a:moveTo>
                  <a:pt x="0" y="5910580"/>
                </a:moveTo>
                <a:lnTo>
                  <a:pt x="4800600" y="5910580"/>
                </a:lnTo>
                <a:lnTo>
                  <a:pt x="4800600" y="0"/>
                </a:lnTo>
                <a:lnTo>
                  <a:pt x="0" y="0"/>
                </a:lnTo>
                <a:lnTo>
                  <a:pt x="0" y="59105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766287" y="953938"/>
            <a:ext cx="5200408" cy="637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solidFill>
                  <a:srgbClr val="009F00"/>
                </a:solidFill>
                <a:latin typeface="Courier New"/>
                <a:cs typeface="Courier New"/>
              </a:rPr>
              <a:t>#include</a:t>
            </a:r>
            <a:r>
              <a:rPr sz="2300" spc="-86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009F00"/>
                </a:solidFill>
                <a:latin typeface="Courier New"/>
                <a:cs typeface="Courier New"/>
              </a:rPr>
              <a:t>&lt;stdio.h&gt;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matricula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setor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Funcionario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46"/>
              </a:spcBef>
            </a:pPr>
            <a:endParaRPr sz="2300">
              <a:latin typeface="Times New Roman"/>
              <a:cs typeface="Times New Roman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 marR="700257"/>
            <a:r>
              <a:rPr sz="2300" spc="-6" dirty="0">
                <a:latin typeface="Courier New"/>
                <a:cs typeface="Courier New"/>
              </a:rPr>
              <a:t>Funcionario 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matricula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"%d"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setor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362077" marR="5793"/>
            <a:r>
              <a:rPr sz="2300" spc="-6" dirty="0">
                <a:latin typeface="Courier New"/>
                <a:cs typeface="Courier New"/>
              </a:rPr>
              <a:t>puts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"Informacoes lidas:"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puts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matricula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puts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printf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"%d\n"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b="1" spc="-6" dirty="0">
                <a:latin typeface="Courier New"/>
                <a:cs typeface="Courier New"/>
              </a:rPr>
              <a:t>f1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setor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62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4766287" y="7006905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1123693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9773" y="1204405"/>
            <a:ext cx="9835700" cy="63113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8084" marR="310662" indent="-683601">
              <a:lnSpc>
                <a:spcPct val="94900"/>
              </a:lnSpc>
              <a:buClr>
                <a:srgbClr val="C5000A"/>
              </a:buClr>
              <a:buAutoNum type="arabicParenR"/>
              <a:tabLst>
                <a:tab pos="420009" algn="l"/>
              </a:tabLst>
            </a:pPr>
            <a:r>
              <a:rPr sz="2700" dirty="0">
                <a:latin typeface="Arial"/>
                <a:cs typeface="Arial"/>
              </a:rPr>
              <a:t>Defina </a:t>
            </a:r>
            <a:r>
              <a:rPr sz="2700" spc="-6" dirty="0">
                <a:latin typeface="Arial"/>
                <a:cs typeface="Arial"/>
              </a:rPr>
              <a:t>uma </a:t>
            </a:r>
            <a:r>
              <a:rPr sz="2700" dirty="0">
                <a:latin typeface="Arial"/>
                <a:cs typeface="Arial"/>
              </a:rPr>
              <a:t>estrutura para representar </a:t>
            </a:r>
            <a:r>
              <a:rPr sz="2700" spc="-6" dirty="0">
                <a:latin typeface="Arial"/>
                <a:cs typeface="Arial"/>
              </a:rPr>
              <a:t>as </a:t>
            </a:r>
            <a:r>
              <a:rPr sz="2700" dirty="0">
                <a:latin typeface="Arial"/>
                <a:cs typeface="Arial"/>
              </a:rPr>
              <a:t>informações</a:t>
            </a:r>
            <a:r>
              <a:rPr sz="2700" spc="-97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de  um cartão de </a:t>
            </a:r>
            <a:r>
              <a:rPr sz="2700" dirty="0">
                <a:latin typeface="Arial"/>
                <a:cs typeface="Arial"/>
              </a:rPr>
              <a:t>crédito. </a:t>
            </a:r>
            <a:r>
              <a:rPr sz="2700" spc="-6" dirty="0">
                <a:latin typeface="Arial"/>
                <a:cs typeface="Arial"/>
              </a:rPr>
              <a:t>Você </a:t>
            </a:r>
            <a:r>
              <a:rPr sz="2700" dirty="0">
                <a:latin typeface="Arial"/>
                <a:cs typeface="Arial"/>
              </a:rPr>
              <a:t>precisa apenas criar </a:t>
            </a:r>
            <a:r>
              <a:rPr sz="2700" spc="-6" dirty="0">
                <a:latin typeface="Arial"/>
                <a:cs typeface="Arial"/>
              </a:rPr>
              <a:t>a  </a:t>
            </a:r>
            <a:r>
              <a:rPr sz="2700" dirty="0">
                <a:latin typeface="Arial"/>
                <a:cs typeface="Arial"/>
              </a:rPr>
              <a:t>estrutura </a:t>
            </a:r>
            <a:r>
              <a:rPr sz="2700" spc="-6" dirty="0">
                <a:latin typeface="Arial"/>
                <a:cs typeface="Arial"/>
              </a:rPr>
              <a:t>com </a:t>
            </a:r>
            <a:r>
              <a:rPr sz="2700" dirty="0">
                <a:latin typeface="Arial"/>
                <a:cs typeface="Arial"/>
              </a:rPr>
              <a:t>os dados </a:t>
            </a:r>
            <a:r>
              <a:rPr sz="2700" spc="-6" dirty="0">
                <a:latin typeface="Arial"/>
                <a:cs typeface="Arial"/>
              </a:rPr>
              <a:t>e tipos </a:t>
            </a:r>
            <a:r>
              <a:rPr sz="2700" dirty="0">
                <a:latin typeface="Arial"/>
                <a:cs typeface="Arial"/>
              </a:rPr>
              <a:t>apropriados. Não </a:t>
            </a:r>
            <a:r>
              <a:rPr sz="2700" spc="-6" dirty="0">
                <a:latin typeface="Arial"/>
                <a:cs typeface="Arial"/>
              </a:rPr>
              <a:t>é  </a:t>
            </a:r>
            <a:r>
              <a:rPr sz="2700" dirty="0">
                <a:latin typeface="Arial"/>
                <a:cs typeface="Arial"/>
              </a:rPr>
              <a:t>necessário criar um programa para</a:t>
            </a:r>
            <a:r>
              <a:rPr sz="2700" spc="-57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utilizá-la.</a:t>
            </a:r>
            <a:endParaRPr sz="2700">
              <a:latin typeface="Arial"/>
              <a:cs typeface="Arial"/>
            </a:endParaRPr>
          </a:p>
          <a:p>
            <a:pPr marL="420009" indent="-405526">
              <a:spcBef>
                <a:spcPts val="1733"/>
              </a:spcBef>
              <a:buClr>
                <a:srgbClr val="C5000A"/>
              </a:buClr>
              <a:buAutoNum type="arabicParenR"/>
              <a:tabLst>
                <a:tab pos="420009" algn="l"/>
              </a:tabLst>
            </a:pPr>
            <a:r>
              <a:rPr sz="2700" dirty="0">
                <a:latin typeface="Arial"/>
                <a:cs typeface="Arial"/>
              </a:rPr>
              <a:t>Defina </a:t>
            </a:r>
            <a:r>
              <a:rPr sz="2700" spc="-6" dirty="0">
                <a:latin typeface="Arial"/>
                <a:cs typeface="Arial"/>
              </a:rPr>
              <a:t>uma </a:t>
            </a:r>
            <a:r>
              <a:rPr sz="2700" dirty="0">
                <a:latin typeface="Arial"/>
                <a:cs typeface="Arial"/>
              </a:rPr>
              <a:t>estrutura chamada </a:t>
            </a:r>
            <a:r>
              <a:rPr sz="2700" spc="-6" dirty="0">
                <a:latin typeface="Courier New"/>
                <a:cs typeface="Courier New"/>
              </a:rPr>
              <a:t>medidas</a:t>
            </a:r>
            <a:r>
              <a:rPr sz="2700" spc="-981" dirty="0">
                <a:latin typeface="Courier New"/>
                <a:cs typeface="Courier New"/>
              </a:rPr>
              <a:t> </a:t>
            </a:r>
            <a:r>
              <a:rPr sz="2700" dirty="0">
                <a:latin typeface="Arial"/>
                <a:cs typeface="Arial"/>
              </a:rPr>
              <a:t>para representar</a:t>
            </a:r>
            <a:endParaRPr sz="2700">
              <a:latin typeface="Arial"/>
              <a:cs typeface="Arial"/>
            </a:endParaRPr>
          </a:p>
          <a:p>
            <a:pPr marL="698084"/>
            <a:r>
              <a:rPr sz="2700" dirty="0">
                <a:latin typeface="Arial"/>
                <a:cs typeface="Arial"/>
              </a:rPr>
              <a:t>o peso a altura de uma</a:t>
            </a:r>
            <a:r>
              <a:rPr sz="2700" spc="-12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pessoa.</a:t>
            </a:r>
            <a:endParaRPr sz="2700">
              <a:latin typeface="Arial"/>
              <a:cs typeface="Arial"/>
            </a:endParaRPr>
          </a:p>
          <a:p>
            <a:pPr marL="420009" indent="-405526">
              <a:spcBef>
                <a:spcPts val="1869"/>
              </a:spcBef>
              <a:buClr>
                <a:srgbClr val="C5000A"/>
              </a:buClr>
              <a:buAutoNum type="arabicParenR" startAt="3"/>
              <a:tabLst>
                <a:tab pos="420009" algn="l"/>
              </a:tabLst>
            </a:pPr>
            <a:r>
              <a:rPr sz="2700" dirty="0">
                <a:latin typeface="Arial"/>
                <a:cs typeface="Arial"/>
              </a:rPr>
              <a:t>Considerando </a:t>
            </a:r>
            <a:r>
              <a:rPr sz="2700" spc="-6" dirty="0">
                <a:latin typeface="Arial"/>
                <a:cs typeface="Arial"/>
              </a:rPr>
              <a:t>a </a:t>
            </a:r>
            <a:r>
              <a:rPr sz="2700" dirty="0">
                <a:latin typeface="Arial"/>
                <a:cs typeface="Arial"/>
              </a:rPr>
              <a:t>estrutura </a:t>
            </a:r>
            <a:r>
              <a:rPr sz="2700" spc="-6" dirty="0">
                <a:latin typeface="Arial"/>
                <a:cs typeface="Arial"/>
              </a:rPr>
              <a:t>do exercício (2) e a </a:t>
            </a:r>
            <a:r>
              <a:rPr sz="2700" dirty="0">
                <a:latin typeface="Arial"/>
                <a:cs typeface="Arial"/>
              </a:rPr>
              <a:t>declaração:</a:t>
            </a:r>
            <a:endParaRPr sz="2700">
              <a:latin typeface="Arial"/>
              <a:cs typeface="Arial"/>
            </a:endParaRPr>
          </a:p>
          <a:p>
            <a:pPr marL="2309326">
              <a:spcBef>
                <a:spcPts val="319"/>
              </a:spcBef>
            </a:pPr>
            <a:r>
              <a:rPr sz="2700" spc="-11" dirty="0">
                <a:latin typeface="Courier New"/>
                <a:cs typeface="Courier New"/>
              </a:rPr>
              <a:t>medidas </a:t>
            </a:r>
            <a:r>
              <a:rPr sz="2700" spc="-6" dirty="0">
                <a:latin typeface="Courier New"/>
                <a:cs typeface="Courier New"/>
              </a:rPr>
              <a:t>joao,</a:t>
            </a:r>
            <a:r>
              <a:rPr sz="2700" spc="-86" dirty="0"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maria;</a:t>
            </a:r>
            <a:endParaRPr sz="2700">
              <a:latin typeface="Courier New"/>
              <a:cs typeface="Courier New"/>
            </a:endParaRPr>
          </a:p>
          <a:p>
            <a:pPr marL="399009">
              <a:lnSpc>
                <a:spcPts val="3205"/>
              </a:lnSpc>
              <a:spcBef>
                <a:spcPts val="570"/>
              </a:spcBef>
            </a:pPr>
            <a:r>
              <a:rPr sz="2700" dirty="0">
                <a:latin typeface="Symbol"/>
                <a:cs typeface="Symbol"/>
              </a:rPr>
              <a:t></a:t>
            </a:r>
            <a:r>
              <a:rPr sz="2700" dirty="0">
                <a:latin typeface="Times New Roman"/>
                <a:cs typeface="Times New Roman"/>
              </a:rPr>
              <a:t> </a:t>
            </a:r>
            <a:r>
              <a:rPr sz="2700" spc="-6" dirty="0">
                <a:latin typeface="Arial"/>
                <a:cs typeface="Arial"/>
              </a:rPr>
              <a:t>Escreva </a:t>
            </a:r>
            <a:r>
              <a:rPr sz="2700" dirty="0">
                <a:latin typeface="Arial"/>
                <a:cs typeface="Arial"/>
              </a:rPr>
              <a:t>instruções para atribuir: </a:t>
            </a:r>
            <a:r>
              <a:rPr sz="2700" spc="-6" dirty="0">
                <a:latin typeface="Arial"/>
                <a:cs typeface="Arial"/>
              </a:rPr>
              <a:t>1.78 à </a:t>
            </a:r>
            <a:r>
              <a:rPr sz="2700" dirty="0">
                <a:latin typeface="Arial"/>
                <a:cs typeface="Arial"/>
              </a:rPr>
              <a:t>altura </a:t>
            </a:r>
            <a:r>
              <a:rPr sz="2700" spc="-6" dirty="0">
                <a:latin typeface="Arial"/>
                <a:cs typeface="Arial"/>
              </a:rPr>
              <a:t>de</a:t>
            </a:r>
            <a:r>
              <a:rPr sz="2700" spc="29" dirty="0">
                <a:latin typeface="Arial"/>
                <a:cs typeface="Arial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joao</a:t>
            </a:r>
            <a:r>
              <a:rPr sz="2700" spc="-6" dirty="0">
                <a:latin typeface="Arial"/>
                <a:cs typeface="Arial"/>
              </a:rPr>
              <a:t>;</a:t>
            </a:r>
            <a:endParaRPr sz="2700">
              <a:latin typeface="Arial"/>
              <a:cs typeface="Arial"/>
            </a:endParaRPr>
          </a:p>
          <a:p>
            <a:pPr marL="782086" marR="5793">
              <a:lnSpc>
                <a:spcPts val="3125"/>
              </a:lnSpc>
              <a:spcBef>
                <a:spcPts val="154"/>
              </a:spcBef>
            </a:pPr>
            <a:r>
              <a:rPr sz="2700" spc="-6" dirty="0">
                <a:latin typeface="Arial"/>
                <a:cs typeface="Arial"/>
              </a:rPr>
              <a:t>1.64 à </a:t>
            </a:r>
            <a:r>
              <a:rPr sz="2700" dirty="0">
                <a:latin typeface="Arial"/>
                <a:cs typeface="Arial"/>
              </a:rPr>
              <a:t>altura </a:t>
            </a:r>
            <a:r>
              <a:rPr sz="2700" spc="-6" dirty="0">
                <a:latin typeface="Arial"/>
                <a:cs typeface="Arial"/>
              </a:rPr>
              <a:t>de </a:t>
            </a:r>
            <a:r>
              <a:rPr sz="2700" spc="-6" dirty="0">
                <a:latin typeface="Courier New"/>
                <a:cs typeface="Courier New"/>
              </a:rPr>
              <a:t>maria</a:t>
            </a:r>
            <a:r>
              <a:rPr sz="2700" spc="-6" dirty="0">
                <a:latin typeface="Arial"/>
                <a:cs typeface="Arial"/>
              </a:rPr>
              <a:t>; 75 ao peso de </a:t>
            </a:r>
            <a:r>
              <a:rPr sz="2700" spc="-6" dirty="0">
                <a:latin typeface="Courier New"/>
                <a:cs typeface="Courier New"/>
              </a:rPr>
              <a:t>joao</a:t>
            </a:r>
            <a:r>
              <a:rPr sz="2700" spc="-6" dirty="0">
                <a:latin typeface="Arial"/>
                <a:cs typeface="Arial"/>
              </a:rPr>
              <a:t>; 59 ao peso  </a:t>
            </a:r>
            <a:r>
              <a:rPr sz="2700" dirty="0">
                <a:latin typeface="Arial"/>
                <a:cs typeface="Arial"/>
              </a:rPr>
              <a:t>de</a:t>
            </a:r>
            <a:r>
              <a:rPr sz="2700" spc="-108" dirty="0">
                <a:latin typeface="Arial"/>
                <a:cs typeface="Arial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maria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  <a:p>
            <a:pPr marL="793673" marR="918951" indent="-394664">
              <a:lnSpc>
                <a:spcPct val="92400"/>
              </a:lnSpc>
              <a:spcBef>
                <a:spcPts val="855"/>
              </a:spcBef>
            </a:pPr>
            <a:r>
              <a:rPr sz="2700" dirty="0">
                <a:latin typeface="Symbol"/>
                <a:cs typeface="Symbol"/>
              </a:rPr>
              <a:t></a:t>
            </a:r>
            <a:r>
              <a:rPr sz="2700" dirty="0">
                <a:latin typeface="Times New Roman"/>
                <a:cs typeface="Times New Roman"/>
              </a:rPr>
              <a:t> </a:t>
            </a:r>
            <a:r>
              <a:rPr sz="2700" spc="-6" dirty="0">
                <a:latin typeface="Arial"/>
                <a:cs typeface="Arial"/>
              </a:rPr>
              <a:t>Escreva um </a:t>
            </a:r>
            <a:r>
              <a:rPr sz="2700" dirty="0">
                <a:latin typeface="Arial"/>
                <a:cs typeface="Arial"/>
              </a:rPr>
              <a:t>conjunto </a:t>
            </a:r>
            <a:r>
              <a:rPr sz="2700" spc="-6" dirty="0">
                <a:latin typeface="Arial"/>
                <a:cs typeface="Arial"/>
              </a:rPr>
              <a:t>de </a:t>
            </a:r>
            <a:r>
              <a:rPr sz="2700" dirty="0">
                <a:latin typeface="Arial"/>
                <a:cs typeface="Arial"/>
              </a:rPr>
              <a:t>instruções para </a:t>
            </a:r>
            <a:r>
              <a:rPr sz="2700" spc="-6" dirty="0">
                <a:latin typeface="Arial"/>
                <a:cs typeface="Arial"/>
              </a:rPr>
              <a:t>imprimir a  </a:t>
            </a:r>
            <a:r>
              <a:rPr sz="2700" dirty="0">
                <a:latin typeface="Arial"/>
                <a:cs typeface="Arial"/>
              </a:rPr>
              <a:t>média das alturas </a:t>
            </a:r>
            <a:r>
              <a:rPr sz="2700" spc="-6" dirty="0">
                <a:latin typeface="Arial"/>
                <a:cs typeface="Arial"/>
              </a:rPr>
              <a:t>e a </a:t>
            </a:r>
            <a:r>
              <a:rPr sz="2700" dirty="0">
                <a:latin typeface="Arial"/>
                <a:cs typeface="Arial"/>
              </a:rPr>
              <a:t>média dos pesos </a:t>
            </a:r>
            <a:r>
              <a:rPr sz="2700" spc="-6" dirty="0">
                <a:latin typeface="Arial"/>
                <a:cs typeface="Arial"/>
              </a:rPr>
              <a:t>de </a:t>
            </a:r>
            <a:r>
              <a:rPr sz="2700" spc="-6" dirty="0">
                <a:latin typeface="Courier New"/>
                <a:cs typeface="Courier New"/>
              </a:rPr>
              <a:t>joao </a:t>
            </a:r>
            <a:r>
              <a:rPr sz="2700" spc="-6" dirty="0">
                <a:latin typeface="Arial"/>
                <a:cs typeface="Arial"/>
              </a:rPr>
              <a:t>e  </a:t>
            </a:r>
            <a:r>
              <a:rPr sz="2700" spc="-6" dirty="0">
                <a:latin typeface="Courier New"/>
                <a:cs typeface="Courier New"/>
              </a:rPr>
              <a:t>maria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63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1485205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8091" y="1093874"/>
            <a:ext cx="8712893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6560" marR="5793" indent="-362077">
              <a:buClr>
                <a:srgbClr val="993300"/>
              </a:buClr>
              <a:buSzPct val="69642"/>
              <a:buChar char="•"/>
              <a:tabLst>
                <a:tab pos="375836" algn="l"/>
                <a:tab pos="376560" algn="l"/>
              </a:tabLst>
            </a:pP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Definição </a:t>
            </a:r>
            <a:r>
              <a:rPr sz="3200" spc="-6" dirty="0">
                <a:latin typeface="Arial"/>
                <a:cs typeface="Arial"/>
              </a:rPr>
              <a:t>de </a:t>
            </a:r>
            <a:r>
              <a:rPr sz="3200" dirty="0">
                <a:latin typeface="Arial"/>
                <a:cs typeface="Arial"/>
              </a:rPr>
              <a:t>uma estrutura onde </a:t>
            </a:r>
            <a:r>
              <a:rPr sz="3200" spc="-6" dirty="0">
                <a:latin typeface="Arial"/>
                <a:cs typeface="Arial"/>
              </a:rPr>
              <a:t>um de seus  </a:t>
            </a:r>
            <a:r>
              <a:rPr sz="3200" dirty="0">
                <a:latin typeface="Arial"/>
                <a:cs typeface="Arial"/>
              </a:rPr>
              <a:t>campos </a:t>
            </a:r>
            <a:r>
              <a:rPr sz="3200" spc="-6" dirty="0">
                <a:latin typeface="Arial"/>
                <a:cs typeface="Arial"/>
              </a:rPr>
              <a:t>é </a:t>
            </a:r>
            <a:r>
              <a:rPr sz="3200" dirty="0">
                <a:latin typeface="Arial"/>
                <a:cs typeface="Arial"/>
              </a:rPr>
              <a:t>outra</a:t>
            </a:r>
            <a:r>
              <a:rPr sz="3200" spc="-5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estrutura: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30761" y="6686103"/>
            <a:ext cx="5726910" cy="386151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6656" rIns="0" bIns="0" rtlCol="0">
            <a:spAutoFit/>
          </a:bodyPr>
          <a:lstStyle/>
          <a:p>
            <a:pPr marL="109347">
              <a:spcBef>
                <a:spcPts val="131"/>
              </a:spcBef>
            </a:pPr>
            <a:r>
              <a:rPr sz="2400" b="1" spc="-6" dirty="0">
                <a:latin typeface="Courier New"/>
                <a:cs typeface="Courier New"/>
              </a:rPr>
              <a:t>ficha_pessoal </a:t>
            </a:r>
            <a:r>
              <a:rPr sz="2400" spc="-6" dirty="0">
                <a:latin typeface="Courier New"/>
                <a:cs typeface="Courier New"/>
              </a:rPr>
              <a:t>ficha1</a:t>
            </a:r>
            <a:r>
              <a:rPr sz="24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400" spc="-4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ficha2</a:t>
            </a:r>
            <a:r>
              <a:rPr sz="2400" b="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5" name="object 5"/>
          <p:cNvSpPr/>
          <p:nvPr/>
        </p:nvSpPr>
        <p:spPr>
          <a:xfrm>
            <a:off x="840620" y="2210976"/>
            <a:ext cx="8611156" cy="2138210"/>
          </a:xfrm>
          <a:custGeom>
            <a:avLst/>
            <a:gdLst/>
            <a:ahLst/>
            <a:cxnLst/>
            <a:rect l="l" t="t" r="r" b="b"/>
            <a:pathLst>
              <a:path w="7363459" h="1940560">
                <a:moveTo>
                  <a:pt x="0" y="1940560"/>
                </a:moveTo>
                <a:lnTo>
                  <a:pt x="7363459" y="1940560"/>
                </a:lnTo>
                <a:lnTo>
                  <a:pt x="7363459" y="0"/>
                </a:lnTo>
                <a:lnTo>
                  <a:pt x="0" y="0"/>
                </a:lnTo>
                <a:lnTo>
                  <a:pt x="0" y="19405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40620" y="2210976"/>
            <a:ext cx="8611156" cy="2138210"/>
          </a:xfrm>
          <a:custGeom>
            <a:avLst/>
            <a:gdLst/>
            <a:ahLst/>
            <a:cxnLst/>
            <a:rect l="l" t="t" r="r" b="b"/>
            <a:pathLst>
              <a:path w="7363459" h="1940560">
                <a:moveTo>
                  <a:pt x="0" y="1940560"/>
                </a:moveTo>
                <a:lnTo>
                  <a:pt x="7363459" y="1940560"/>
                </a:lnTo>
                <a:lnTo>
                  <a:pt x="7363459" y="0"/>
                </a:lnTo>
                <a:lnTo>
                  <a:pt x="0" y="0"/>
                </a:lnTo>
                <a:lnTo>
                  <a:pt x="0" y="19405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72598" y="2240363"/>
            <a:ext cx="1069340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64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946440" y="2240363"/>
            <a:ext cx="1247563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6870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2887" y="2912331"/>
            <a:ext cx="2495869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68985"/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5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idade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9948" y="3584439"/>
            <a:ext cx="9131718" cy="30777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7737"/>
            <a:r>
              <a:rPr sz="2300" spc="-6" dirty="0">
                <a:latin typeface="Courier New"/>
                <a:cs typeface="Courier New"/>
              </a:rPr>
              <a:t>endereco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end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220867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ficha_pessoal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34"/>
              </a:spcBef>
            </a:pPr>
            <a:endParaRPr sz="2900">
              <a:latin typeface="Times New Roman"/>
              <a:cs typeface="Times New Roman"/>
            </a:endParaRPr>
          </a:p>
          <a:p>
            <a:pPr marL="343249"/>
            <a:r>
              <a:rPr sz="3200" dirty="0">
                <a:latin typeface="Arial"/>
                <a:cs typeface="Arial"/>
              </a:rPr>
              <a:t>Repare </a:t>
            </a:r>
            <a:r>
              <a:rPr sz="3200" spc="-6" dirty="0">
                <a:latin typeface="Arial"/>
                <a:cs typeface="Arial"/>
              </a:rPr>
              <a:t>que um </a:t>
            </a:r>
            <a:r>
              <a:rPr sz="3200" dirty="0">
                <a:latin typeface="Arial"/>
                <a:cs typeface="Arial"/>
              </a:rPr>
              <a:t>campo do </a:t>
            </a:r>
            <a:r>
              <a:rPr sz="3200" spc="-6" dirty="0">
                <a:latin typeface="Arial"/>
                <a:cs typeface="Arial"/>
              </a:rPr>
              <a:t>tipo </a:t>
            </a:r>
            <a:r>
              <a:rPr sz="3200" b="1" spc="-6" dirty="0">
                <a:solidFill>
                  <a:srgbClr val="00664D"/>
                </a:solidFill>
                <a:latin typeface="Courier New"/>
                <a:cs typeface="Courier New"/>
              </a:rPr>
              <a:t>endereco</a:t>
            </a:r>
            <a:r>
              <a:rPr sz="3200" b="1" spc="-1032" dirty="0">
                <a:solidFill>
                  <a:srgbClr val="00664D"/>
                </a:solidFill>
                <a:latin typeface="Courier New"/>
                <a:cs typeface="Courier New"/>
              </a:rPr>
              <a:t> </a:t>
            </a:r>
            <a:r>
              <a:rPr sz="3200" spc="-6" dirty="0">
                <a:latin typeface="Arial"/>
                <a:cs typeface="Arial"/>
              </a:rPr>
              <a:t>é</a:t>
            </a:r>
            <a:endParaRPr sz="3200">
              <a:latin typeface="Arial"/>
              <a:cs typeface="Arial"/>
            </a:endParaRPr>
          </a:p>
          <a:p>
            <a:pPr marL="343249"/>
            <a:r>
              <a:rPr sz="3200" dirty="0">
                <a:latin typeface="Arial"/>
                <a:cs typeface="Arial"/>
              </a:rPr>
              <a:t>declarado dentro de</a:t>
            </a:r>
            <a:r>
              <a:rPr sz="3200" spc="-17" dirty="0">
                <a:latin typeface="Arial"/>
                <a:cs typeface="Arial"/>
              </a:rPr>
              <a:t> </a:t>
            </a:r>
            <a:r>
              <a:rPr sz="3200" b="1" spc="-6" dirty="0">
                <a:solidFill>
                  <a:srgbClr val="00664D"/>
                </a:solidFill>
                <a:latin typeface="Courier New"/>
                <a:cs typeface="Courier New"/>
              </a:rPr>
              <a:t>ficha_pessoal</a:t>
            </a:r>
            <a:r>
              <a:rPr sz="3200" spc="-6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6"/>
              </a:spcBef>
            </a:pPr>
            <a:endParaRPr sz="2900">
              <a:latin typeface="Times New Roman"/>
              <a:cs typeface="Times New Roman"/>
            </a:endParaRPr>
          </a:p>
          <a:p>
            <a:pPr marL="376560" indent="-362077">
              <a:buClr>
                <a:srgbClr val="993300"/>
              </a:buClr>
              <a:buSzPct val="69642"/>
              <a:buChar char="•"/>
              <a:tabLst>
                <a:tab pos="375836" algn="l"/>
                <a:tab pos="376560" algn="l"/>
              </a:tabLst>
            </a:pPr>
            <a:r>
              <a:rPr sz="3200" dirty="0">
                <a:solidFill>
                  <a:srgbClr val="C00000"/>
                </a:solidFill>
                <a:latin typeface="Arial"/>
                <a:cs typeface="Arial"/>
              </a:rPr>
              <a:t>Declaração </a:t>
            </a:r>
            <a:r>
              <a:rPr sz="3200" dirty="0">
                <a:latin typeface="Arial"/>
                <a:cs typeface="Arial"/>
              </a:rPr>
              <a:t>de variáveis do tipo definido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acima:</a:t>
            </a:r>
            <a:endParaRPr sz="3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74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067" y="1687617"/>
            <a:ext cx="6484359" cy="3936527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7656" rIns="0" bIns="0" rtlCol="0">
            <a:spAutoFit/>
          </a:bodyPr>
          <a:lstStyle/>
          <a:p>
            <a:pPr marL="97761">
              <a:spcBef>
                <a:spcPts val="297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075482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596873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57644" y="2487348"/>
            <a:ext cx="2185464" cy="2246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  <a:p>
            <a:pPr marL="26794" marR="5793">
              <a:lnSpc>
                <a:spcPct val="79200"/>
              </a:lnSpc>
              <a:spcBef>
                <a:spcPts val="1306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11659" y="7224617"/>
            <a:ext cx="207927" cy="168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z="1100" dirty="0">
                <a:latin typeface="Times New Roman"/>
                <a:cs typeface="Times New Roman"/>
              </a:rPr>
              <a:pPr marL="28966">
                <a:lnSpc>
                  <a:spcPts val="1260"/>
                </a:lnSpc>
              </a:pPr>
              <a:t>65</a:t>
            </a:fld>
            <a:endParaRPr sz="11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88725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067" y="1687617"/>
            <a:ext cx="6484359" cy="4290470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7656" rIns="0" bIns="0" rtlCol="0">
            <a:spAutoFit/>
          </a:bodyPr>
          <a:lstStyle/>
          <a:p>
            <a:pPr marL="97761">
              <a:spcBef>
                <a:spcPts val="297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075482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596873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spc="-6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57644" y="2487348"/>
            <a:ext cx="2185464" cy="2246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  <a:p>
            <a:pPr marL="26794" marR="5793">
              <a:lnSpc>
                <a:spcPct val="79200"/>
              </a:lnSpc>
              <a:spcBef>
                <a:spcPts val="1306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11659" y="7224617"/>
            <a:ext cx="207927" cy="168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z="1100" dirty="0">
                <a:latin typeface="Times New Roman"/>
                <a:cs typeface="Times New Roman"/>
              </a:rPr>
              <a:pPr marL="28966">
                <a:lnSpc>
                  <a:spcPts val="1260"/>
                </a:lnSpc>
              </a:pPr>
              <a:t>66</a:t>
            </a:fld>
            <a:endParaRPr sz="11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0221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067" y="1687617"/>
            <a:ext cx="6484359" cy="4644413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7656" rIns="0" bIns="0" rtlCol="0">
            <a:spAutoFit/>
          </a:bodyPr>
          <a:lstStyle/>
          <a:p>
            <a:pPr marL="97761">
              <a:spcBef>
                <a:spcPts val="297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075482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776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 marR="3596873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nascimento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dia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5355"/>
            <a:r>
              <a:rPr sz="2300" spc="-6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32886" y="2913450"/>
            <a:ext cx="3635756" cy="1975884"/>
          </a:xfrm>
          <a:custGeom>
            <a:avLst/>
            <a:gdLst/>
            <a:ahLst/>
            <a:cxnLst/>
            <a:rect l="l" t="t" r="r" b="b"/>
            <a:pathLst>
              <a:path w="3108959" h="1793239">
                <a:moveTo>
                  <a:pt x="0" y="1793239"/>
                </a:moveTo>
                <a:lnTo>
                  <a:pt x="3108960" y="1793239"/>
                </a:lnTo>
                <a:lnTo>
                  <a:pt x="3108960" y="0"/>
                </a:lnTo>
                <a:lnTo>
                  <a:pt x="0" y="0"/>
                </a:lnTo>
                <a:lnTo>
                  <a:pt x="0" y="17932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30909" y="3655108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20">
                <a:moveTo>
                  <a:pt x="0" y="934719"/>
                </a:moveTo>
                <a:lnTo>
                  <a:pt x="2087879" y="934719"/>
                </a:lnTo>
                <a:lnTo>
                  <a:pt x="2087879" y="0"/>
                </a:lnTo>
                <a:lnTo>
                  <a:pt x="0" y="0"/>
                </a:lnTo>
                <a:lnTo>
                  <a:pt x="0" y="9347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57644" y="2487348"/>
            <a:ext cx="2185464" cy="2246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  <a:p>
            <a:pPr marL="26794" marR="5793">
              <a:lnSpc>
                <a:spcPct val="79200"/>
              </a:lnSpc>
              <a:spcBef>
                <a:spcPts val="1306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62210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11659" y="7224617"/>
            <a:ext cx="207927" cy="168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z="1100" dirty="0">
                <a:latin typeface="Times New Roman"/>
                <a:cs typeface="Times New Roman"/>
              </a:rPr>
              <a:pPr marL="28966">
                <a:lnSpc>
                  <a:spcPts val="1260"/>
                </a:lnSpc>
              </a:pPr>
              <a:t>67</a:t>
            </a:fld>
            <a:endParaRPr sz="11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14225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32887" y="769643"/>
            <a:ext cx="3657291" cy="69403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algn="r">
              <a:lnSpc>
                <a:spcPct val="100000"/>
              </a:lnSpc>
            </a:pPr>
            <a:r>
              <a:rPr sz="1100" spc="-6" dirty="0">
                <a:latin typeface="Times New Roman"/>
                <a:cs typeface="Times New Roman"/>
              </a:rPr>
              <a:t>21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4" name="object 4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0260" y="805746"/>
            <a:ext cx="4457810" cy="3898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5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],</a:t>
            </a:r>
            <a:r>
              <a:rPr sz="2300" spc="-6" dirty="0">
                <a:latin typeface="Courier New"/>
                <a:cs typeface="Courier New"/>
              </a:rPr>
              <a:t>cpf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347594" marR="1207889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80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7078" y="4501434"/>
            <a:ext cx="3565209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91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pai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0260" y="4837139"/>
            <a:ext cx="2140165" cy="887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7078" y="5677171"/>
            <a:ext cx="2317646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070713" y="823238"/>
            <a:ext cx="2307250" cy="4634056"/>
          </a:xfrm>
          <a:prstGeom prst="rect">
            <a:avLst/>
          </a:prstGeom>
        </p:spPr>
        <p:txBody>
          <a:bodyPr vert="horz" wrap="square" lIns="0" tIns="86898" rIns="0" bIns="0" rtlCol="0">
            <a:spAutoFit/>
          </a:bodyPr>
          <a:lstStyle/>
          <a:p>
            <a:pPr marL="14483" marR="136864">
              <a:lnSpc>
                <a:spcPct val="79200"/>
              </a:lnSpc>
              <a:spcBef>
                <a:spcPts val="684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908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  <a:p>
            <a:pPr marL="149176" marR="1257131" indent="-106451">
              <a:lnSpc>
                <a:spcPct val="87100"/>
              </a:lnSpc>
              <a:spcBef>
                <a:spcPts val="365"/>
              </a:spcBef>
            </a:pPr>
            <a:r>
              <a:rPr sz="2700" b="1" dirty="0">
                <a:latin typeface="Courier New"/>
                <a:cs typeface="Courier New"/>
              </a:rPr>
              <a:t>mae  </a:t>
            </a:r>
            <a:r>
              <a:rPr sz="2700" b="1" spc="-6" dirty="0">
                <a:latin typeface="Courier New"/>
                <a:cs typeface="Courier New"/>
              </a:rPr>
              <a:t>nome  cpf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297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  <a:p>
            <a:pPr marL="322973" marR="1291891" algn="just">
              <a:lnSpc>
                <a:spcPct val="80300"/>
              </a:lnSpc>
              <a:spcBef>
                <a:spcPts val="297"/>
              </a:spcBef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  <a:p>
            <a:pPr marL="43449">
              <a:spcBef>
                <a:spcPts val="80"/>
              </a:spcBef>
            </a:pPr>
            <a:r>
              <a:rPr sz="2700" b="1" dirty="0">
                <a:latin typeface="Courier New"/>
                <a:cs typeface="Courier New"/>
              </a:rPr>
              <a:t>pai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209133" y="5282273"/>
            <a:ext cx="2168384" cy="1102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634"/>
              </a:lnSpc>
            </a:pPr>
            <a:r>
              <a:rPr sz="2700" b="1" spc="-6" dirty="0">
                <a:latin typeface="Courier New"/>
                <a:cs typeface="Courier New"/>
              </a:rPr>
              <a:t>cpf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387356" y="6247056"/>
            <a:ext cx="671308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87356" y="6968941"/>
            <a:ext cx="67130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674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057644" y="391119"/>
            <a:ext cx="1315140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867570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32887" y="769643"/>
            <a:ext cx="3657291" cy="69403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algn="r">
              <a:lnSpc>
                <a:spcPct val="100000"/>
              </a:lnSpc>
            </a:pPr>
            <a:r>
              <a:rPr sz="1100" spc="-6" dirty="0">
                <a:latin typeface="Times New Roman"/>
                <a:cs typeface="Times New Roman"/>
              </a:rPr>
              <a:t>22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4" name="object 4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0260" y="805746"/>
            <a:ext cx="4457810" cy="3898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5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],</a:t>
            </a:r>
            <a:r>
              <a:rPr sz="2300" spc="-6" dirty="0">
                <a:latin typeface="Courier New"/>
                <a:cs typeface="Courier New"/>
              </a:rPr>
              <a:t>cpf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97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347594" marR="1207889" indent="-348318"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80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7078" y="4501434"/>
            <a:ext cx="3565209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91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pai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0260" y="4837139"/>
            <a:ext cx="2140165" cy="887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1368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7077" y="5677171"/>
            <a:ext cx="4635292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Aluno 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nascimento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dia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057644" y="391119"/>
            <a:ext cx="1315140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070713" y="823238"/>
            <a:ext cx="2307250" cy="4634056"/>
          </a:xfrm>
          <a:prstGeom prst="rect">
            <a:avLst/>
          </a:prstGeom>
        </p:spPr>
        <p:txBody>
          <a:bodyPr vert="horz" wrap="square" lIns="0" tIns="86898" rIns="0" bIns="0" rtlCol="0">
            <a:spAutoFit/>
          </a:bodyPr>
          <a:lstStyle/>
          <a:p>
            <a:pPr marL="14483" marR="136864">
              <a:lnSpc>
                <a:spcPct val="79200"/>
              </a:lnSpc>
              <a:spcBef>
                <a:spcPts val="684"/>
              </a:spcBef>
            </a:pPr>
            <a:r>
              <a:rPr sz="2700" b="1" dirty="0">
                <a:latin typeface="Courier New"/>
                <a:cs typeface="Courier New"/>
              </a:rPr>
              <a:t>nome  nascimento  </a:t>
            </a: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30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908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  <a:p>
            <a:pPr marL="149176" marR="1257131" indent="-106451">
              <a:lnSpc>
                <a:spcPct val="87100"/>
              </a:lnSpc>
              <a:spcBef>
                <a:spcPts val="365"/>
              </a:spcBef>
            </a:pPr>
            <a:r>
              <a:rPr sz="2700" b="1" dirty="0">
                <a:latin typeface="Courier New"/>
                <a:cs typeface="Courier New"/>
              </a:rPr>
              <a:t>mae  </a:t>
            </a:r>
            <a:r>
              <a:rPr sz="2700" b="1" spc="-6" dirty="0">
                <a:latin typeface="Courier New"/>
                <a:cs typeface="Courier New"/>
              </a:rPr>
              <a:t>nome  cpf</a:t>
            </a:r>
            <a:endParaRPr sz="2700">
              <a:latin typeface="Courier New"/>
              <a:cs typeface="Courier New"/>
            </a:endParaRPr>
          </a:p>
          <a:p>
            <a:pPr marL="149176">
              <a:lnSpc>
                <a:spcPts val="2297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  <a:p>
            <a:pPr marL="322973" marR="1291891" algn="just">
              <a:lnSpc>
                <a:spcPct val="80300"/>
              </a:lnSpc>
              <a:spcBef>
                <a:spcPts val="297"/>
              </a:spcBef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  <a:p>
            <a:pPr marL="43449">
              <a:spcBef>
                <a:spcPts val="80"/>
              </a:spcBef>
            </a:pPr>
            <a:r>
              <a:rPr sz="2700" b="1" dirty="0">
                <a:latin typeface="Courier New"/>
                <a:cs typeface="Courier New"/>
              </a:rPr>
              <a:t>pai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209133" y="5282273"/>
            <a:ext cx="2168384" cy="1102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634"/>
              </a:lnSpc>
            </a:pPr>
            <a:r>
              <a:rPr sz="2700" b="1" spc="-6" dirty="0">
                <a:latin typeface="Courier New"/>
                <a:cs typeface="Courier New"/>
              </a:rPr>
              <a:t>cpf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387356" y="6247056"/>
            <a:ext cx="671308" cy="769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dia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mes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87356" y="6968941"/>
            <a:ext cx="67130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674"/>
              </a:lnSpc>
            </a:pPr>
            <a:r>
              <a:rPr sz="2700" b="1" spc="-6" dirty="0">
                <a:latin typeface="Courier New"/>
                <a:cs typeface="Courier New"/>
              </a:rPr>
              <a:t>ano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56737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32887" y="769643"/>
            <a:ext cx="3657291" cy="69403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algn="r">
              <a:lnSpc>
                <a:spcPct val="100000"/>
              </a:lnSpc>
            </a:pPr>
            <a:r>
              <a:rPr sz="1100" spc="-6" dirty="0">
                <a:latin typeface="Times New Roman"/>
                <a:cs typeface="Times New Roman"/>
              </a:rPr>
              <a:t>23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7811" y="1399"/>
            <a:ext cx="6107862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/>
              <a:t>Estruturas</a:t>
            </a:r>
            <a:r>
              <a:rPr spc="-46" dirty="0"/>
              <a:t> </a:t>
            </a:r>
            <a:r>
              <a:rPr spc="-6" dirty="0"/>
              <a:t>aninhadas</a:t>
            </a:r>
          </a:p>
        </p:txBody>
      </p:sp>
      <p:sp>
        <p:nvSpPr>
          <p:cNvPr id="4" name="object 4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4067" y="755650"/>
            <a:ext cx="6484359" cy="6714090"/>
          </a:xfrm>
          <a:custGeom>
            <a:avLst/>
            <a:gdLst/>
            <a:ahLst/>
            <a:cxnLst/>
            <a:rect l="l" t="t" r="r" b="b"/>
            <a:pathLst>
              <a:path w="5544820" h="6093459">
                <a:moveTo>
                  <a:pt x="0" y="6093460"/>
                </a:moveTo>
                <a:lnTo>
                  <a:pt x="5544820" y="6093460"/>
                </a:lnTo>
                <a:lnTo>
                  <a:pt x="5544820" y="0"/>
                </a:lnTo>
                <a:lnTo>
                  <a:pt x="0" y="0"/>
                </a:lnTo>
                <a:lnTo>
                  <a:pt x="0" y="60934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85408" y="805746"/>
            <a:ext cx="3239209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dia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mes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ano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1492" y="1981483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25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5408" y="1981482"/>
            <a:ext cx="1277267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077" marR="5793" indent="-348318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 char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33417" y="2317327"/>
            <a:ext cx="3239209" cy="70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],</a:t>
            </a:r>
            <a:r>
              <a:rPr sz="2300" spc="-6" dirty="0">
                <a:latin typeface="Courier New"/>
                <a:cs typeface="Courier New"/>
              </a:rPr>
              <a:t>cpf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5408" y="2989295"/>
            <a:ext cx="2526316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Responsavel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11492" y="3493481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r>
              <a:rPr sz="2300" b="1" spc="-125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5408" y="3493481"/>
            <a:ext cx="1277267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077" marR="5793" indent="-348318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 char  </a:t>
            </a:r>
            <a:r>
              <a:rPr sz="2300" spc="-6" dirty="0">
                <a:latin typeface="Courier New"/>
                <a:cs typeface="Courier New"/>
              </a:rPr>
              <a:t>Data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33417" y="3829326"/>
            <a:ext cx="1991646" cy="70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150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81278" y="4501435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ma</a:t>
            </a:r>
            <a:r>
              <a:rPr sz="2300" dirty="0">
                <a:latin typeface="Courier New"/>
                <a:cs typeface="Courier New"/>
              </a:rPr>
              <a:t>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pai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5408" y="4501434"/>
            <a:ext cx="2347350" cy="7038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077"/>
            <a:r>
              <a:rPr sz="2300" spc="-6" dirty="0">
                <a:latin typeface="Courier New"/>
                <a:cs typeface="Courier New"/>
              </a:rPr>
              <a:t>Responsavel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5408" y="5341327"/>
            <a:ext cx="2169869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2225" y="5677170"/>
            <a:ext cx="4664996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z="2300" spc="-6" dirty="0">
                <a:latin typeface="Courier New"/>
                <a:cs typeface="Courier New"/>
              </a:rPr>
              <a:t>Aluno 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300" spc="-6" dirty="0">
                <a:latin typeface="Courier New"/>
                <a:cs typeface="Courier New"/>
              </a:rPr>
              <a:t>aluno1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nascimento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dia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2226" y="6685053"/>
            <a:ext cx="5913302" cy="70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mae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nascimento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ano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1975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printf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"%s"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b="1" spc="-6" dirty="0">
                <a:latin typeface="Courier New"/>
                <a:cs typeface="Courier New"/>
              </a:rPr>
              <a:t>aluno1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pai</a:t>
            </a:r>
            <a:r>
              <a:rPr sz="2300" b="1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b="1" spc="-6" dirty="0">
                <a:latin typeface="Courier New"/>
                <a:cs typeface="Courier New"/>
              </a:rPr>
              <a:t>cpf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r>
              <a:rPr sz="2300"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solidFill>
            <a:srgbClr val="ACAC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932886" y="769643"/>
            <a:ext cx="3635756" cy="6708493"/>
          </a:xfrm>
          <a:custGeom>
            <a:avLst/>
            <a:gdLst/>
            <a:ahLst/>
            <a:cxnLst/>
            <a:rect l="l" t="t" r="r" b="b"/>
            <a:pathLst>
              <a:path w="3108959" h="6088380">
                <a:moveTo>
                  <a:pt x="0" y="6088380"/>
                </a:moveTo>
                <a:lnTo>
                  <a:pt x="3108960" y="6088380"/>
                </a:lnTo>
                <a:lnTo>
                  <a:pt x="3108960" y="0"/>
                </a:lnTo>
                <a:lnTo>
                  <a:pt x="0" y="0"/>
                </a:lnTo>
                <a:lnTo>
                  <a:pt x="0" y="6088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057644" y="391119"/>
            <a:ext cx="1315140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aluno1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70713" y="823238"/>
            <a:ext cx="2172097" cy="7598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48"/>
              </a:lnSpc>
            </a:pPr>
            <a:r>
              <a:rPr sz="2700" b="1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48"/>
              </a:lnSpc>
            </a:pPr>
            <a:r>
              <a:rPr sz="2700" b="1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030909" y="1511300"/>
            <a:ext cx="2441660" cy="1029922"/>
          </a:xfrm>
          <a:custGeom>
            <a:avLst/>
            <a:gdLst/>
            <a:ahLst/>
            <a:cxnLst/>
            <a:rect l="l" t="t" r="r" b="b"/>
            <a:pathLst>
              <a:path w="2087879" h="934719">
                <a:moveTo>
                  <a:pt x="0" y="934720"/>
                </a:moveTo>
                <a:lnTo>
                  <a:pt x="2087879" y="934720"/>
                </a:lnTo>
                <a:lnTo>
                  <a:pt x="2087879" y="0"/>
                </a:lnTo>
                <a:lnTo>
                  <a:pt x="0" y="0"/>
                </a:lnTo>
                <a:lnTo>
                  <a:pt x="0" y="9347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209431" y="1541296"/>
            <a:ext cx="671308" cy="1006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algn="just">
              <a:lnSpc>
                <a:spcPct val="80300"/>
              </a:lnSpc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00416" y="2497843"/>
            <a:ext cx="672793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mae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030909" y="2916249"/>
            <a:ext cx="3199109" cy="2073838"/>
          </a:xfrm>
          <a:custGeom>
            <a:avLst/>
            <a:gdLst/>
            <a:ahLst/>
            <a:cxnLst/>
            <a:rect l="l" t="t" r="r" b="b"/>
            <a:pathLst>
              <a:path w="2735579" h="1882139">
                <a:moveTo>
                  <a:pt x="0" y="1882140"/>
                </a:moveTo>
                <a:lnTo>
                  <a:pt x="2735579" y="1882140"/>
                </a:lnTo>
                <a:lnTo>
                  <a:pt x="2735579" y="0"/>
                </a:lnTo>
                <a:lnTo>
                  <a:pt x="0" y="0"/>
                </a:lnTo>
                <a:lnTo>
                  <a:pt x="0" y="1882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209133" y="2877767"/>
            <a:ext cx="2168384" cy="10858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 marR="5793">
              <a:lnSpc>
                <a:spcPts val="2646"/>
              </a:lnSpc>
              <a:spcBef>
                <a:spcPts val="290"/>
              </a:spcBef>
            </a:pPr>
            <a:r>
              <a:rPr sz="2700" b="1" spc="-6" dirty="0">
                <a:latin typeface="Courier New"/>
                <a:cs typeface="Courier New"/>
              </a:rPr>
              <a:t>cpf  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209132" y="3890198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60">
                <a:moveTo>
                  <a:pt x="0" y="937260"/>
                </a:moveTo>
                <a:lnTo>
                  <a:pt x="2087879" y="937260"/>
                </a:lnTo>
                <a:lnTo>
                  <a:pt x="2087879" y="0"/>
                </a:lnTo>
                <a:lnTo>
                  <a:pt x="0" y="0"/>
                </a:lnTo>
                <a:lnTo>
                  <a:pt x="0" y="9372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387356" y="3922013"/>
            <a:ext cx="671308" cy="1006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algn="just">
              <a:lnSpc>
                <a:spcPct val="80300"/>
              </a:lnSpc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100416" y="4902350"/>
            <a:ext cx="672793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dirty="0">
                <a:latin typeface="Courier New"/>
                <a:cs typeface="Courier New"/>
              </a:rPr>
              <a:t>pai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030909" y="5317537"/>
            <a:ext cx="3199109" cy="2076638"/>
          </a:xfrm>
          <a:custGeom>
            <a:avLst/>
            <a:gdLst/>
            <a:ahLst/>
            <a:cxnLst/>
            <a:rect l="l" t="t" r="r" b="b"/>
            <a:pathLst>
              <a:path w="2735579" h="1884679">
                <a:moveTo>
                  <a:pt x="0" y="1884680"/>
                </a:moveTo>
                <a:lnTo>
                  <a:pt x="2735579" y="1884680"/>
                </a:lnTo>
                <a:lnTo>
                  <a:pt x="2735579" y="0"/>
                </a:lnTo>
                <a:lnTo>
                  <a:pt x="0" y="0"/>
                </a:lnTo>
                <a:lnTo>
                  <a:pt x="0" y="18846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209133" y="5282273"/>
            <a:ext cx="2168384" cy="1102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954"/>
              </a:lnSpc>
            </a:pPr>
            <a:r>
              <a:rPr sz="2700" b="1" spc="-6" dirty="0">
                <a:latin typeface="Courier New"/>
                <a:cs typeface="Courier New"/>
              </a:rPr>
              <a:t>nome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634"/>
              </a:lnSpc>
            </a:pPr>
            <a:r>
              <a:rPr sz="2700" b="1" spc="-6" dirty="0">
                <a:latin typeface="Courier New"/>
                <a:cs typeface="Courier New"/>
              </a:rPr>
              <a:t>cpf</a:t>
            </a:r>
            <a:endParaRPr sz="2700">
              <a:latin typeface="Courier New"/>
              <a:cs typeface="Courier New"/>
            </a:endParaRPr>
          </a:p>
          <a:p>
            <a:pPr marL="14483">
              <a:lnSpc>
                <a:spcPts val="2965"/>
              </a:lnSpc>
            </a:pPr>
            <a:r>
              <a:rPr sz="2700" b="1" spc="-6" dirty="0">
                <a:latin typeface="Courier New"/>
                <a:cs typeface="Courier New"/>
              </a:rPr>
              <a:t>nascimento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209132" y="6294283"/>
            <a:ext cx="2441660" cy="1032722"/>
          </a:xfrm>
          <a:custGeom>
            <a:avLst/>
            <a:gdLst/>
            <a:ahLst/>
            <a:cxnLst/>
            <a:rect l="l" t="t" r="r" b="b"/>
            <a:pathLst>
              <a:path w="2087879" h="937259">
                <a:moveTo>
                  <a:pt x="0" y="937259"/>
                </a:moveTo>
                <a:lnTo>
                  <a:pt x="2087879" y="937259"/>
                </a:lnTo>
                <a:lnTo>
                  <a:pt x="2087879" y="0"/>
                </a:lnTo>
                <a:lnTo>
                  <a:pt x="0" y="0"/>
                </a:lnTo>
                <a:lnTo>
                  <a:pt x="0" y="93725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7387356" y="6326450"/>
            <a:ext cx="671308" cy="1006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algn="just">
              <a:lnSpc>
                <a:spcPct val="80300"/>
              </a:lnSpc>
            </a:pPr>
            <a:r>
              <a:rPr sz="2700" b="1" spc="-6" dirty="0">
                <a:latin typeface="Courier New"/>
                <a:cs typeface="Courier New"/>
              </a:rPr>
              <a:t>dia  mes  ano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062341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924" y="1203443"/>
            <a:ext cx="8989139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Em alguns casos </a:t>
            </a:r>
            <a:r>
              <a:rPr sz="2700" spc="-6" dirty="0">
                <a:latin typeface="Arial"/>
                <a:cs typeface="Arial"/>
              </a:rPr>
              <a:t>o tipo </a:t>
            </a:r>
            <a:r>
              <a:rPr sz="2700" dirty="0">
                <a:latin typeface="Arial"/>
                <a:cs typeface="Arial"/>
              </a:rPr>
              <a:t>estrutura possui </a:t>
            </a:r>
            <a:r>
              <a:rPr sz="2700" spc="-6" dirty="0">
                <a:latin typeface="Arial"/>
                <a:cs typeface="Arial"/>
              </a:rPr>
              <a:t>vetores</a:t>
            </a:r>
            <a:r>
              <a:rPr sz="2700" spc="-63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como  um </a:t>
            </a:r>
            <a:r>
              <a:rPr sz="2700" dirty="0">
                <a:latin typeface="Arial"/>
                <a:cs typeface="Arial"/>
              </a:rPr>
              <a:t>dos seus</a:t>
            </a:r>
            <a:r>
              <a:rPr sz="2700" spc="-108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campos.</a:t>
            </a:r>
            <a:endParaRPr sz="27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38262" y="5011079"/>
            <a:ext cx="7364337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O </a:t>
            </a:r>
            <a:r>
              <a:rPr sz="2700" spc="-6" dirty="0">
                <a:latin typeface="Arial"/>
                <a:cs typeface="Arial"/>
              </a:rPr>
              <a:t>acesso a </a:t>
            </a:r>
            <a:r>
              <a:rPr sz="2700" dirty="0">
                <a:latin typeface="Arial"/>
                <a:cs typeface="Arial"/>
              </a:rPr>
              <a:t>estes campos </a:t>
            </a:r>
            <a:r>
              <a:rPr sz="2700" spc="-6" dirty="0">
                <a:latin typeface="Arial"/>
                <a:cs typeface="Arial"/>
              </a:rPr>
              <a:t>é feito da</a:t>
            </a:r>
            <a:r>
              <a:rPr sz="2700" spc="-29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mesma  maneira </a:t>
            </a:r>
            <a:r>
              <a:rPr sz="2700" spc="-6" dirty="0">
                <a:latin typeface="Arial"/>
                <a:cs typeface="Arial"/>
              </a:rPr>
              <a:t>como </a:t>
            </a:r>
            <a:r>
              <a:rPr sz="2700" dirty="0">
                <a:latin typeface="Arial"/>
                <a:cs typeface="Arial"/>
              </a:rPr>
              <a:t>acesso direto </a:t>
            </a:r>
            <a:r>
              <a:rPr sz="2700" spc="-6" dirty="0">
                <a:latin typeface="Arial"/>
                <a:cs typeface="Arial"/>
              </a:rPr>
              <a:t>a um</a:t>
            </a:r>
            <a:r>
              <a:rPr sz="2700" spc="-51" dirty="0">
                <a:latin typeface="Arial"/>
                <a:cs typeface="Arial"/>
              </a:rPr>
              <a:t> </a:t>
            </a:r>
            <a:r>
              <a:rPr sz="2700" spc="-34" dirty="0">
                <a:latin typeface="Arial"/>
                <a:cs typeface="Arial"/>
              </a:rPr>
              <a:t>vetor.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</a:t>
            </a:r>
            <a:r>
              <a:rPr spc="-6" dirty="0"/>
              <a:t>com</a:t>
            </a:r>
            <a:r>
              <a:rPr spc="-46" dirty="0"/>
              <a:t> </a:t>
            </a:r>
            <a:r>
              <a:rPr spc="-6" dirty="0"/>
              <a:t>vetor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42671" y="2269748"/>
            <a:ext cx="3635756" cy="1799566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2449" rIns="0" bIns="0" rtlCol="0">
            <a:spAutoFit/>
          </a:bodyPr>
          <a:lstStyle/>
          <a:p>
            <a:pPr marL="99209">
              <a:spcBef>
                <a:spcPts val="177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3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300">
              <a:latin typeface="Courier New"/>
              <a:cs typeface="Courier New"/>
            </a:endParaRPr>
          </a:p>
          <a:p>
            <a:pPr marL="9920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752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vetorA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44752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vetorB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300">
              <a:latin typeface="Courier New"/>
              <a:cs typeface="Courier New"/>
            </a:endParaRPr>
          </a:p>
          <a:p>
            <a:pPr marL="99209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Dados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45613" y="6000420"/>
            <a:ext cx="5795229" cy="1119481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5931" rIns="0" bIns="0" rtlCol="0">
            <a:spAutoFit/>
          </a:bodyPr>
          <a:lstStyle/>
          <a:p>
            <a:pPr marL="99933" marR="1184716">
              <a:lnSpc>
                <a:spcPct val="100899"/>
              </a:lnSpc>
              <a:spcBef>
                <a:spcPts val="125"/>
              </a:spcBef>
            </a:pPr>
            <a:r>
              <a:rPr sz="2300" spc="-6" dirty="0">
                <a:latin typeface="Courier New"/>
                <a:cs typeface="Courier New"/>
              </a:rPr>
              <a:t>Dados registro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registro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vetorA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100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registro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vetorB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338670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9773" y="1521796"/>
            <a:ext cx="9113153" cy="2492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698084" algn="l"/>
              </a:tabLst>
            </a:pPr>
            <a:r>
              <a:rPr sz="2700" dirty="0">
                <a:solidFill>
                  <a:srgbClr val="C5000A"/>
                </a:solidFill>
                <a:latin typeface="Arial"/>
                <a:cs typeface="Arial"/>
              </a:rPr>
              <a:t>4)	</a:t>
            </a:r>
            <a:r>
              <a:rPr sz="2700" spc="-6" dirty="0">
                <a:latin typeface="Arial"/>
                <a:cs typeface="Arial"/>
              </a:rPr>
              <a:t>Faça </a:t>
            </a:r>
            <a:r>
              <a:rPr sz="2700" dirty="0">
                <a:latin typeface="Arial"/>
                <a:cs typeface="Arial"/>
              </a:rPr>
              <a:t>um programa </a:t>
            </a:r>
            <a:r>
              <a:rPr sz="2700" spc="-6" dirty="0">
                <a:latin typeface="Arial"/>
                <a:cs typeface="Arial"/>
              </a:rPr>
              <a:t>(função </a:t>
            </a:r>
            <a:r>
              <a:rPr sz="2700" dirty="0">
                <a:latin typeface="Arial"/>
                <a:cs typeface="Arial"/>
              </a:rPr>
              <a:t>principal) para leitura,</a:t>
            </a:r>
            <a:r>
              <a:rPr sz="2700" spc="-46" dirty="0">
                <a:latin typeface="Arial"/>
                <a:cs typeface="Arial"/>
              </a:rPr>
              <a:t> </a:t>
            </a:r>
            <a:r>
              <a:rPr sz="2700" spc="-11" dirty="0">
                <a:latin typeface="Arial"/>
                <a:cs typeface="Arial"/>
              </a:rPr>
              <a:t>via</a:t>
            </a:r>
            <a:endParaRPr sz="2700">
              <a:latin typeface="Arial"/>
              <a:cs typeface="Arial"/>
            </a:endParaRPr>
          </a:p>
          <a:p>
            <a:pPr marL="698084"/>
            <a:r>
              <a:rPr sz="2700" dirty="0">
                <a:latin typeface="Arial"/>
                <a:cs typeface="Arial"/>
              </a:rPr>
              <a:t>teclado, dos dados </a:t>
            </a:r>
            <a:r>
              <a:rPr sz="2700" spc="-6" dirty="0">
                <a:latin typeface="Arial"/>
                <a:cs typeface="Arial"/>
              </a:rPr>
              <a:t>de um</a:t>
            </a:r>
            <a:r>
              <a:rPr sz="2700" spc="-1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atleta.</a:t>
            </a:r>
            <a:endParaRPr sz="2700">
              <a:latin typeface="Arial"/>
              <a:cs typeface="Arial"/>
            </a:endParaRPr>
          </a:p>
          <a:p>
            <a:pPr marL="698084" marR="41277"/>
            <a:r>
              <a:rPr sz="2700" spc="-6" dirty="0">
                <a:latin typeface="Arial"/>
                <a:cs typeface="Arial"/>
              </a:rPr>
              <a:t>Os </a:t>
            </a:r>
            <a:r>
              <a:rPr sz="2700" dirty="0">
                <a:latin typeface="Arial"/>
                <a:cs typeface="Arial"/>
              </a:rPr>
              <a:t>dados a serem guardados na estrutura atleta</a:t>
            </a:r>
            <a:r>
              <a:rPr sz="2700" spc="-103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são  </a:t>
            </a:r>
            <a:r>
              <a:rPr sz="2700" spc="-6" dirty="0">
                <a:latin typeface="Arial"/>
                <a:cs typeface="Arial"/>
              </a:rPr>
              <a:t>os </a:t>
            </a:r>
            <a:r>
              <a:rPr sz="2700" dirty="0">
                <a:latin typeface="Arial"/>
                <a:cs typeface="Arial"/>
              </a:rPr>
              <a:t>seguintes: nome, medidas (estrutura definida </a:t>
            </a:r>
            <a:r>
              <a:rPr sz="2700" spc="-6" dirty="0">
                <a:latin typeface="Arial"/>
                <a:cs typeface="Arial"/>
              </a:rPr>
              <a:t>no  exercício </a:t>
            </a:r>
            <a:r>
              <a:rPr sz="2700" dirty="0">
                <a:latin typeface="Arial"/>
                <a:cs typeface="Arial"/>
              </a:rPr>
              <a:t>2), esporte praticado e</a:t>
            </a:r>
            <a:r>
              <a:rPr sz="2700" spc="-63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idade.</a:t>
            </a:r>
            <a:endParaRPr sz="2700">
              <a:latin typeface="Arial"/>
              <a:cs typeface="Arial"/>
            </a:endParaRPr>
          </a:p>
          <a:p>
            <a:pPr marL="698084"/>
            <a:r>
              <a:rPr sz="2700" spc="-6" dirty="0">
                <a:latin typeface="Arial"/>
                <a:cs typeface="Arial"/>
              </a:rPr>
              <a:t>Ao final, imprima </a:t>
            </a:r>
            <a:r>
              <a:rPr sz="2700" dirty="0">
                <a:latin typeface="Arial"/>
                <a:cs typeface="Arial"/>
              </a:rPr>
              <a:t>estas informações </a:t>
            </a:r>
            <a:r>
              <a:rPr sz="2700" spc="-6" dirty="0">
                <a:latin typeface="Arial"/>
                <a:cs typeface="Arial"/>
              </a:rPr>
              <a:t>na</a:t>
            </a:r>
            <a:r>
              <a:rPr sz="2700" spc="-23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tela.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72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</a:t>
            </a:r>
          </a:p>
        </p:txBody>
      </p:sp>
    </p:spTree>
    <p:extLst>
      <p:ext uri="{BB962C8B-B14F-4D97-AF65-F5344CB8AC3E}">
        <p14:creationId xmlns:p14="http://schemas.microsoft.com/office/powerpoint/2010/main" val="1033203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0380" y="1203443"/>
            <a:ext cx="9208947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Uma </a:t>
            </a:r>
            <a:r>
              <a:rPr sz="2700" dirty="0">
                <a:latin typeface="Arial"/>
                <a:cs typeface="Arial"/>
              </a:rPr>
              <a:t>das </a:t>
            </a:r>
            <a:r>
              <a:rPr sz="2700" spc="-6" dirty="0">
                <a:latin typeface="Arial"/>
                <a:cs typeface="Arial"/>
              </a:rPr>
              <a:t>vantagens ao utilizarmos </a:t>
            </a:r>
            <a:r>
              <a:rPr sz="2700" dirty="0">
                <a:latin typeface="Arial"/>
                <a:cs typeface="Arial"/>
              </a:rPr>
              <a:t>estruturas </a:t>
            </a:r>
            <a:r>
              <a:rPr sz="2700" spc="-6" dirty="0">
                <a:latin typeface="Arial"/>
                <a:cs typeface="Arial"/>
              </a:rPr>
              <a:t>é a  </a:t>
            </a:r>
            <a:r>
              <a:rPr sz="2700" dirty="0">
                <a:latin typeface="Arial"/>
                <a:cs typeface="Arial"/>
              </a:rPr>
              <a:t>possibilidade </a:t>
            </a:r>
            <a:r>
              <a:rPr sz="2700" spc="-6" dirty="0">
                <a:latin typeface="Arial"/>
                <a:cs typeface="Arial"/>
              </a:rPr>
              <a:t>de copiarmos toda a </a:t>
            </a:r>
            <a:r>
              <a:rPr sz="2700" dirty="0">
                <a:latin typeface="Arial"/>
                <a:cs typeface="Arial"/>
              </a:rPr>
              <a:t>informação </a:t>
            </a:r>
            <a:r>
              <a:rPr sz="2700" spc="-6" dirty="0">
                <a:latin typeface="Arial"/>
                <a:cs typeface="Arial"/>
              </a:rPr>
              <a:t>de uma  estrutura para outra do </a:t>
            </a:r>
            <a:r>
              <a:rPr sz="2700" dirty="0">
                <a:latin typeface="Arial"/>
                <a:cs typeface="Arial"/>
              </a:rPr>
              <a:t>mesmo </a:t>
            </a:r>
            <a:r>
              <a:rPr sz="2700" spc="-6" dirty="0">
                <a:latin typeface="Arial"/>
                <a:cs typeface="Arial"/>
              </a:rPr>
              <a:t>tipo com uma</a:t>
            </a:r>
            <a:r>
              <a:rPr sz="2700" spc="114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atribuição</a:t>
            </a:r>
            <a:endParaRPr sz="2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01383" y="2412763"/>
            <a:ext cx="1340388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dirty="0">
                <a:latin typeface="Arial"/>
                <a:cs typeface="Arial"/>
              </a:rPr>
              <a:t>simpl</a:t>
            </a:r>
            <a:r>
              <a:rPr sz="2700" spc="6" dirty="0">
                <a:latin typeface="Arial"/>
                <a:cs typeface="Arial"/>
              </a:rPr>
              <a:t>e</a:t>
            </a:r>
            <a:r>
              <a:rPr sz="2700" dirty="0">
                <a:latin typeface="Arial"/>
                <a:cs typeface="Arial"/>
              </a:rPr>
              <a:t>s: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83244" y="2599996"/>
            <a:ext cx="7595284" cy="5005318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6931" rIns="0" bIns="0" rtlCol="0">
            <a:spAutoFit/>
          </a:bodyPr>
          <a:lstStyle/>
          <a:p>
            <a:pPr marL="99933">
              <a:spcBef>
                <a:spcPts val="290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 struct</a:t>
            </a:r>
            <a:r>
              <a:rPr sz="23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44752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X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447527">
              <a:tabLst>
                <a:tab pos="1142715" algn="l"/>
              </a:tabLst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	</a:t>
            </a:r>
            <a:r>
              <a:rPr sz="2300" spc="-6" dirty="0">
                <a:latin typeface="Courier New"/>
                <a:cs typeface="Courier New"/>
              </a:rPr>
              <a:t>Y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993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3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Coordenadas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51"/>
              </a:spcBef>
            </a:pPr>
            <a:endParaRPr sz="2300">
              <a:latin typeface="Times New Roman"/>
              <a:cs typeface="Times New Roman"/>
            </a:endParaRPr>
          </a:p>
          <a:p>
            <a:pPr marL="9993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main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300">
              <a:latin typeface="Courier New"/>
              <a:cs typeface="Courier New"/>
            </a:endParaRPr>
          </a:p>
          <a:p>
            <a:pPr marL="9993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dirty="0">
                <a:latin typeface="Courier New"/>
                <a:cs typeface="Courier New"/>
              </a:rPr>
              <a:t>Coordenadas </a:t>
            </a:r>
            <a:r>
              <a:rPr sz="2300" spc="-6" dirty="0">
                <a:latin typeface="Courier New"/>
                <a:cs typeface="Courier New"/>
              </a:rPr>
              <a:t>primeira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segunda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spc="-6" dirty="0">
                <a:latin typeface="Courier New"/>
                <a:cs typeface="Courier New"/>
              </a:rPr>
              <a:t>primeira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X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20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spc="-6" dirty="0">
                <a:latin typeface="Courier New"/>
                <a:cs typeface="Courier New"/>
              </a:rPr>
              <a:t>primeira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Y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30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dirty="0">
                <a:latin typeface="Courier New"/>
                <a:cs typeface="Courier New"/>
              </a:rPr>
              <a:t>segunda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300" spc="-97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primeira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621324">
              <a:tabLst>
                <a:tab pos="2533091" algn="l"/>
              </a:tabLst>
            </a:pPr>
            <a:r>
              <a:rPr sz="2300" spc="-6" dirty="0">
                <a:latin typeface="Courier New"/>
                <a:cs typeface="Courier New"/>
              </a:rPr>
              <a:t>printf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"%d	%d"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300" spc="-6" dirty="0">
                <a:latin typeface="Courier New"/>
                <a:cs typeface="Courier New"/>
              </a:rPr>
              <a:t>segunda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X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segunda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300" spc="-6" dirty="0">
                <a:latin typeface="Courier New"/>
                <a:cs typeface="Courier New"/>
              </a:rPr>
              <a:t>Y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621324"/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sz="2300" b="1" spc="-125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99933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Atribuição de</a:t>
            </a:r>
            <a:r>
              <a:rPr spc="-91" dirty="0"/>
              <a:t> </a:t>
            </a:r>
            <a:r>
              <a:rPr dirty="0"/>
              <a:t>estruturas</a:t>
            </a:r>
          </a:p>
        </p:txBody>
      </p:sp>
    </p:spTree>
    <p:extLst>
      <p:ext uri="{BB962C8B-B14F-4D97-AF65-F5344CB8AC3E}">
        <p14:creationId xmlns:p14="http://schemas.microsoft.com/office/powerpoint/2010/main" val="38717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2864" y="6312477"/>
            <a:ext cx="9667873" cy="743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lnSpc>
                <a:spcPts val="2851"/>
              </a:lnSpc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Desenvolver </a:t>
            </a:r>
            <a:r>
              <a:rPr sz="3000" dirty="0">
                <a:latin typeface="Arial"/>
                <a:cs typeface="Arial"/>
              </a:rPr>
              <a:t>um </a:t>
            </a:r>
            <a:r>
              <a:rPr sz="3000" spc="-6" dirty="0">
                <a:latin typeface="Arial"/>
                <a:cs typeface="Arial"/>
              </a:rPr>
              <a:t>algoritmo para ler e imprimir o nome  e as </a:t>
            </a:r>
            <a:r>
              <a:rPr sz="3000" spc="-11" dirty="0">
                <a:latin typeface="Arial"/>
                <a:cs typeface="Arial"/>
              </a:rPr>
              <a:t>notas </a:t>
            </a:r>
            <a:r>
              <a:rPr sz="3000" spc="-6" dirty="0">
                <a:latin typeface="Arial"/>
                <a:cs typeface="Arial"/>
              </a:rPr>
              <a:t>de um</a:t>
            </a:r>
            <a:r>
              <a:rPr sz="3000" spc="40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aluno.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52863" y="1278308"/>
            <a:ext cx="9070082" cy="2523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lnSpc>
                <a:spcPts val="2851"/>
              </a:lnSpc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Considere </a:t>
            </a:r>
            <a:r>
              <a:rPr sz="3000" dirty="0">
                <a:latin typeface="Arial"/>
                <a:cs typeface="Arial"/>
              </a:rPr>
              <a:t>as </a:t>
            </a:r>
            <a:r>
              <a:rPr sz="3000" spc="-6" dirty="0">
                <a:latin typeface="Arial"/>
                <a:cs typeface="Arial"/>
              </a:rPr>
              <a:t>informações </a:t>
            </a:r>
            <a:r>
              <a:rPr sz="3000" dirty="0">
                <a:latin typeface="Arial"/>
                <a:cs typeface="Arial"/>
              </a:rPr>
              <a:t>de um </a:t>
            </a:r>
            <a:r>
              <a:rPr sz="3000" spc="-6" dirty="0">
                <a:latin typeface="Arial"/>
                <a:cs typeface="Arial"/>
              </a:rPr>
              <a:t>aluno que tem  </a:t>
            </a:r>
            <a:r>
              <a:rPr sz="3000" dirty="0">
                <a:latin typeface="Arial"/>
                <a:cs typeface="Arial"/>
              </a:rPr>
              <a:t>NOME </a:t>
            </a:r>
            <a:r>
              <a:rPr sz="3000" spc="-6" dirty="0">
                <a:latin typeface="Arial"/>
                <a:cs typeface="Arial"/>
              </a:rPr>
              <a:t>e 4 </a:t>
            </a:r>
            <a:r>
              <a:rPr sz="3000" spc="-11" dirty="0">
                <a:latin typeface="Arial"/>
                <a:cs typeface="Arial"/>
              </a:rPr>
              <a:t>notas </a:t>
            </a:r>
            <a:r>
              <a:rPr sz="3000" spc="-6" dirty="0">
                <a:latin typeface="Arial"/>
                <a:cs typeface="Arial"/>
              </a:rPr>
              <a:t>como campos de uma estrutura;  </a:t>
            </a:r>
            <a:r>
              <a:rPr sz="3000" dirty="0">
                <a:latin typeface="Arial"/>
                <a:cs typeface="Arial"/>
              </a:rPr>
              <a:t>veja </a:t>
            </a:r>
            <a:r>
              <a:rPr sz="3000" i="1" spc="-6" dirty="0">
                <a:latin typeface="Arial"/>
                <a:cs typeface="Arial"/>
              </a:rPr>
              <a:t>layout</a:t>
            </a:r>
            <a:r>
              <a:rPr sz="3000" i="1" spc="-40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abaixo.</a:t>
            </a:r>
            <a:endParaRPr sz="3000">
              <a:latin typeface="Arial"/>
              <a:cs typeface="Arial"/>
            </a:endParaRPr>
          </a:p>
          <a:p>
            <a:pPr>
              <a:spcBef>
                <a:spcPts val="29"/>
              </a:spcBef>
            </a:pPr>
            <a:endParaRPr sz="3300">
              <a:latin typeface="Times New Roman"/>
              <a:cs typeface="Times New Roman"/>
            </a:endParaRPr>
          </a:p>
          <a:p>
            <a:pPr marL="1668451"/>
            <a:r>
              <a:rPr sz="2300" dirty="0">
                <a:latin typeface="Arial"/>
                <a:cs typeface="Arial"/>
              </a:rPr>
              <a:t>Cadastro de notas</a:t>
            </a:r>
            <a:r>
              <a:rPr sz="2300" spc="-16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escolares</a:t>
            </a:r>
            <a:endParaRPr sz="2300">
              <a:latin typeface="Arial"/>
              <a:cs typeface="Arial"/>
            </a:endParaRPr>
          </a:p>
          <a:p>
            <a:pPr marL="1668451">
              <a:spcBef>
                <a:spcPts val="1483"/>
              </a:spcBef>
              <a:tabLst>
                <a:tab pos="6626009" algn="l"/>
              </a:tabLst>
            </a:pPr>
            <a:r>
              <a:rPr sz="2300" dirty="0">
                <a:latin typeface="Arial"/>
                <a:cs typeface="Arial"/>
              </a:rPr>
              <a:t>Nome:</a:t>
            </a:r>
            <a:r>
              <a:rPr sz="2300" u="heavy" dirty="0">
                <a:latin typeface="Arial"/>
                <a:cs typeface="Arial"/>
              </a:rPr>
              <a:t> 	</a:t>
            </a:r>
            <a:endParaRPr sz="23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175810" y="3876205"/>
          <a:ext cx="6570204" cy="19434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1140"/>
                <a:gridCol w="1641140"/>
                <a:gridCol w="1646784"/>
                <a:gridCol w="1641140"/>
              </a:tblGrid>
              <a:tr h="710031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838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dirty="0">
                          <a:latin typeface="Arial"/>
                          <a:cs typeface="Arial"/>
                        </a:rPr>
                        <a:t>Notas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895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1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2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3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4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3841">
                <a:tc>
                  <a:txBody>
                    <a:bodyPr/>
                    <a:lstStyle/>
                    <a:p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</p:spTree>
    <p:extLst>
      <p:ext uri="{BB962C8B-B14F-4D97-AF65-F5344CB8AC3E}">
        <p14:creationId xmlns:p14="http://schemas.microsoft.com/office/powerpoint/2010/main" val="1307338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3786" y="1468620"/>
            <a:ext cx="6133110" cy="2934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8750"/>
              <a:buChar char="•"/>
              <a:tabLst>
                <a:tab pos="535874" algn="l"/>
                <a:tab pos="536597" algn="l"/>
              </a:tabLst>
            </a:pPr>
            <a:r>
              <a:rPr sz="3600" spc="-6" dirty="0">
                <a:latin typeface="Arial"/>
                <a:cs typeface="Arial"/>
              </a:rPr>
              <a:t>Ideia básica do algoritmo</a:t>
            </a:r>
            <a:r>
              <a:rPr sz="3600" spc="-51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:</a:t>
            </a:r>
            <a:endParaRPr sz="3600">
              <a:latin typeface="Arial"/>
              <a:cs typeface="Arial"/>
            </a:endParaRPr>
          </a:p>
          <a:p>
            <a:pPr marL="1068851" lvl="1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1068851" algn="l"/>
                <a:tab pos="1069574" algn="l"/>
              </a:tabLst>
            </a:pPr>
            <a:r>
              <a:rPr sz="3200" dirty="0">
                <a:latin typeface="Arial"/>
                <a:cs typeface="Arial"/>
              </a:rPr>
              <a:t>Definir</a:t>
            </a:r>
            <a:r>
              <a:rPr sz="3200" spc="-8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endParaRPr sz="3200">
              <a:latin typeface="Arial"/>
              <a:cs typeface="Arial"/>
            </a:endParaRPr>
          </a:p>
          <a:p>
            <a:pPr marL="1068851" lvl="1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1068851" algn="l"/>
                <a:tab pos="1069574" algn="l"/>
              </a:tabLst>
            </a:pPr>
            <a:r>
              <a:rPr sz="3200" dirty="0">
                <a:latin typeface="Arial"/>
                <a:cs typeface="Arial"/>
              </a:rPr>
              <a:t>Declarar</a:t>
            </a:r>
            <a:r>
              <a:rPr sz="3200" spc="-68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variáveis</a:t>
            </a:r>
            <a:endParaRPr sz="3200">
              <a:latin typeface="Arial"/>
              <a:cs typeface="Arial"/>
            </a:endParaRPr>
          </a:p>
          <a:p>
            <a:pPr marL="1068851" lvl="1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1068851" algn="l"/>
                <a:tab pos="1069574" algn="l"/>
              </a:tabLst>
            </a:pPr>
            <a:r>
              <a:rPr sz="3200" dirty="0">
                <a:latin typeface="Arial"/>
                <a:cs typeface="Arial"/>
              </a:rPr>
              <a:t>Ler os dados de um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aluno</a:t>
            </a:r>
            <a:endParaRPr sz="3200">
              <a:latin typeface="Arial"/>
              <a:cs typeface="Arial"/>
            </a:endParaRPr>
          </a:p>
          <a:p>
            <a:pPr marL="1068851" lvl="1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1068851" algn="l"/>
                <a:tab pos="1069574" algn="l"/>
              </a:tabLst>
            </a:pPr>
            <a:r>
              <a:rPr sz="3200" dirty="0">
                <a:latin typeface="Arial"/>
                <a:cs typeface="Arial"/>
              </a:rPr>
              <a:t>Imprimir </a:t>
            </a:r>
            <a:r>
              <a:rPr sz="3200" spc="-6" dirty="0">
                <a:latin typeface="Arial"/>
                <a:cs typeface="Arial"/>
              </a:rPr>
              <a:t>os </a:t>
            </a:r>
            <a:r>
              <a:rPr sz="3200" dirty="0">
                <a:latin typeface="Arial"/>
                <a:cs typeface="Arial"/>
              </a:rPr>
              <a:t>dados </a:t>
            </a:r>
            <a:r>
              <a:rPr sz="3200" spc="-6" dirty="0">
                <a:latin typeface="Arial"/>
                <a:cs typeface="Arial"/>
              </a:rPr>
              <a:t>do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spc="-6" dirty="0">
                <a:latin typeface="Arial"/>
                <a:cs typeface="Arial"/>
              </a:rPr>
              <a:t>aluno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75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</p:spTree>
    <p:extLst>
      <p:ext uri="{BB962C8B-B14F-4D97-AF65-F5344CB8AC3E}">
        <p14:creationId xmlns:p14="http://schemas.microsoft.com/office/powerpoint/2010/main" val="266842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79105" y="1438533"/>
            <a:ext cx="3600111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601772" algn="l"/>
              </a:tabLst>
            </a:pPr>
            <a:r>
              <a:rPr sz="2200" spc="6" dirty="0">
                <a:solidFill>
                  <a:srgbClr val="852B34"/>
                </a:solidFill>
                <a:latin typeface="Arial"/>
                <a:cs typeface="Arial"/>
              </a:rPr>
              <a:t>1.	</a:t>
            </a:r>
            <a:r>
              <a:rPr sz="3200" dirty="0">
                <a:latin typeface="Arial"/>
                <a:cs typeface="Arial"/>
              </a:rPr>
              <a:t>Definir</a:t>
            </a:r>
            <a:r>
              <a:rPr sz="3200" spc="-6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14906" y="2835087"/>
            <a:ext cx="7069526" cy="2119215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1000" rIns="0" bIns="0" rtlCol="0">
            <a:spAutoFit/>
          </a:bodyPr>
          <a:lstStyle/>
          <a:p>
            <a:pPr marL="99209">
              <a:spcBef>
                <a:spcPts val="165"/>
              </a:spcBef>
            </a:pPr>
            <a:r>
              <a:rPr sz="2700" b="1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700"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700">
              <a:latin typeface="Courier New"/>
              <a:cs typeface="Courier New"/>
            </a:endParaRPr>
          </a:p>
          <a:p>
            <a:pPr marL="99209"/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517046">
              <a:lnSpc>
                <a:spcPts val="3284"/>
              </a:lnSpc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7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517046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sz="27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notas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99209">
              <a:spcBef>
                <a:spcPts val="68"/>
              </a:spcBef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7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Aluno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77169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9104" y="1438533"/>
            <a:ext cx="3975122" cy="10874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2496" indent="-588013">
              <a:buClr>
                <a:srgbClr val="852B34"/>
              </a:buClr>
              <a:buSzPct val="69642"/>
              <a:buAutoNum type="arabicPeriod"/>
              <a:tabLst>
                <a:tab pos="601772" algn="l"/>
                <a:tab pos="602496" algn="l"/>
              </a:tabLst>
            </a:pPr>
            <a:r>
              <a:rPr sz="3200" dirty="0">
                <a:latin typeface="Arial"/>
                <a:cs typeface="Arial"/>
              </a:rPr>
              <a:t>Definir</a:t>
            </a:r>
            <a:r>
              <a:rPr sz="3200" spc="-6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endParaRPr sz="3200">
              <a:latin typeface="Arial"/>
              <a:cs typeface="Arial"/>
            </a:endParaRPr>
          </a:p>
          <a:p>
            <a:pPr marL="602496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601772" algn="l"/>
                <a:tab pos="602496" algn="l"/>
              </a:tabLst>
            </a:pPr>
            <a:r>
              <a:rPr sz="3200" dirty="0">
                <a:latin typeface="Arial"/>
                <a:cs typeface="Arial"/>
              </a:rPr>
              <a:t>Declarar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spc="6" dirty="0">
                <a:latin typeface="Arial"/>
                <a:cs typeface="Arial"/>
              </a:rPr>
              <a:t>variáveis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8136" y="3904192"/>
            <a:ext cx="9656734" cy="1799566"/>
          </a:xfrm>
          <a:custGeom>
            <a:avLst/>
            <a:gdLst/>
            <a:ahLst/>
            <a:cxnLst/>
            <a:rect l="l" t="t" r="r" b="b"/>
            <a:pathLst>
              <a:path w="8257540" h="1633220">
                <a:moveTo>
                  <a:pt x="0" y="1633220"/>
                </a:moveTo>
                <a:lnTo>
                  <a:pt x="8257540" y="1633220"/>
                </a:lnTo>
                <a:lnTo>
                  <a:pt x="8257540" y="0"/>
                </a:lnTo>
                <a:lnTo>
                  <a:pt x="0" y="0"/>
                </a:lnTo>
                <a:lnTo>
                  <a:pt x="0" y="163322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8136" y="3904192"/>
            <a:ext cx="9656734" cy="1799566"/>
          </a:xfrm>
          <a:custGeom>
            <a:avLst/>
            <a:gdLst/>
            <a:ahLst/>
            <a:cxnLst/>
            <a:rect l="l" t="t" r="r" b="b"/>
            <a:pathLst>
              <a:path w="8257540" h="1633220">
                <a:moveTo>
                  <a:pt x="0" y="1633220"/>
                </a:moveTo>
                <a:lnTo>
                  <a:pt x="8257540" y="1633220"/>
                </a:lnTo>
                <a:lnTo>
                  <a:pt x="8257540" y="0"/>
                </a:lnTo>
                <a:lnTo>
                  <a:pt x="0" y="0"/>
                </a:lnTo>
                <a:lnTo>
                  <a:pt x="0" y="16332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95812" y="3931759"/>
            <a:ext cx="5169962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main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520667"/>
            <a:r>
              <a:rPr sz="2300" spc="-6" dirty="0">
                <a:latin typeface="Courier New"/>
                <a:cs typeface="Courier New"/>
              </a:rPr>
              <a:t>Aluno 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// dados do</a:t>
            </a:r>
            <a:r>
              <a:rPr sz="2300" spc="-46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aluno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77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4439245" y="4945309"/>
            <a:ext cx="5526409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A6A6A6"/>
                </a:solidFill>
                <a:latin typeface="Courier New"/>
                <a:cs typeface="Courier New"/>
              </a:rPr>
              <a:t>para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percorrer </a:t>
            </a:r>
            <a:r>
              <a:rPr sz="2300" dirty="0">
                <a:solidFill>
                  <a:srgbClr val="A6A6A6"/>
                </a:solidFill>
                <a:latin typeface="Courier New"/>
                <a:cs typeface="Courier New"/>
              </a:rPr>
              <a:t>o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vetor de</a:t>
            </a:r>
            <a:r>
              <a:rPr sz="2300" spc="-103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notas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0483" y="4945309"/>
            <a:ext cx="3030539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//</a:t>
            </a:r>
            <a:r>
              <a:rPr sz="2300" spc="-103" dirty="0">
                <a:solidFill>
                  <a:srgbClr val="A6A6A6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A6A6A6"/>
                </a:solidFill>
                <a:latin typeface="Courier New"/>
                <a:cs typeface="Courier New"/>
              </a:rPr>
              <a:t>contador</a:t>
            </a:r>
            <a:endParaRPr sz="2300">
              <a:latin typeface="Courier New"/>
              <a:cs typeface="Courier New"/>
            </a:endParaRPr>
          </a:p>
          <a:p>
            <a:pPr marL="37656"/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68495" y="1623248"/>
            <a:ext cx="4714006" cy="1415706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0414" rIns="0" bIns="0" rtlCol="0">
            <a:spAutoFit/>
          </a:bodyPr>
          <a:lstStyle/>
          <a:p>
            <a:pPr marL="99933">
              <a:spcBef>
                <a:spcPts val="239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9993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99933">
              <a:spcBef>
                <a:spcPts val="23"/>
              </a:spcBef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Aluno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1772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1804" y="1438532"/>
            <a:ext cx="4892973" cy="1682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2496" indent="-588013">
              <a:buClr>
                <a:srgbClr val="852B34"/>
              </a:buClr>
              <a:buSzPct val="69642"/>
              <a:buAutoNum type="arabicPeriod"/>
              <a:tabLst>
                <a:tab pos="602496" algn="l"/>
                <a:tab pos="603220" algn="l"/>
              </a:tabLst>
            </a:pPr>
            <a:r>
              <a:rPr sz="3200" dirty="0">
                <a:latin typeface="Arial"/>
                <a:cs typeface="Arial"/>
              </a:rPr>
              <a:t>Definir</a:t>
            </a:r>
            <a:r>
              <a:rPr sz="3200" spc="-8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endParaRPr sz="3200">
              <a:latin typeface="Arial"/>
              <a:cs typeface="Arial"/>
            </a:endParaRPr>
          </a:p>
          <a:p>
            <a:pPr marL="602496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602496" algn="l"/>
                <a:tab pos="603220" algn="l"/>
              </a:tabLst>
            </a:pPr>
            <a:r>
              <a:rPr sz="3200" dirty="0">
                <a:latin typeface="Arial"/>
                <a:cs typeface="Arial"/>
              </a:rPr>
              <a:t>Declarar</a:t>
            </a:r>
            <a:r>
              <a:rPr sz="3200" spc="-68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variáveis</a:t>
            </a:r>
            <a:endParaRPr sz="3200">
              <a:latin typeface="Arial"/>
              <a:cs typeface="Arial"/>
            </a:endParaRPr>
          </a:p>
          <a:p>
            <a:pPr marL="602496" indent="-588013">
              <a:spcBef>
                <a:spcPts val="798"/>
              </a:spcBef>
              <a:buClr>
                <a:srgbClr val="852B34"/>
              </a:buClr>
              <a:buSzPct val="69642"/>
              <a:buAutoNum type="arabicPeriod"/>
              <a:tabLst>
                <a:tab pos="602496" algn="l"/>
                <a:tab pos="603220" algn="l"/>
              </a:tabLst>
            </a:pPr>
            <a:r>
              <a:rPr sz="3200" spc="-6" dirty="0">
                <a:latin typeface="Arial"/>
                <a:cs typeface="Arial"/>
              </a:rPr>
              <a:t>Ler </a:t>
            </a:r>
            <a:r>
              <a:rPr sz="3200" dirty="0">
                <a:latin typeface="Arial"/>
                <a:cs typeface="Arial"/>
              </a:rPr>
              <a:t>dados </a:t>
            </a:r>
            <a:r>
              <a:rPr sz="3200" spc="-6" dirty="0">
                <a:latin typeface="Arial"/>
                <a:cs typeface="Arial"/>
              </a:rPr>
              <a:t>de um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aluno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68495" y="1270612"/>
            <a:ext cx="4714006" cy="3086970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6208" rIns="0" bIns="0" rtlCol="0">
            <a:spAutoFit/>
          </a:bodyPr>
          <a:lstStyle/>
          <a:p>
            <a:pPr marL="99933">
              <a:spcBef>
                <a:spcPts val="285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9993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378008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99933">
              <a:spcBef>
                <a:spcPts val="23"/>
              </a:spcBef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Aluno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 marL="99933">
              <a:spcBef>
                <a:spcPts val="6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1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>
              <a:latin typeface="Courier New"/>
              <a:cs typeface="Courier New"/>
            </a:endParaRPr>
          </a:p>
          <a:p>
            <a:pPr marL="99933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517046"/>
            <a:r>
              <a:rPr spc="-6" dirty="0">
                <a:latin typeface="Courier New"/>
                <a:cs typeface="Courier New"/>
              </a:rPr>
              <a:t>Aluno</a:t>
            </a:r>
            <a:r>
              <a:rPr spc="-114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a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517046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517046">
              <a:spcBef>
                <a:spcPts val="23"/>
              </a:spcBef>
            </a:pP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6550" y="4810971"/>
            <a:ext cx="6252669" cy="2135411"/>
          </a:xfrm>
          <a:custGeom>
            <a:avLst/>
            <a:gdLst/>
            <a:ahLst/>
            <a:cxnLst/>
            <a:rect l="l" t="t" r="r" b="b"/>
            <a:pathLst>
              <a:path w="5346700" h="1938020">
                <a:moveTo>
                  <a:pt x="0" y="1938020"/>
                </a:moveTo>
                <a:lnTo>
                  <a:pt x="5346700" y="1938020"/>
                </a:lnTo>
                <a:lnTo>
                  <a:pt x="5346700" y="0"/>
                </a:lnTo>
                <a:lnTo>
                  <a:pt x="0" y="0"/>
                </a:lnTo>
                <a:lnTo>
                  <a:pt x="0" y="193802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6550" y="4810971"/>
            <a:ext cx="6252669" cy="2135411"/>
          </a:xfrm>
          <a:custGeom>
            <a:avLst/>
            <a:gdLst/>
            <a:ahLst/>
            <a:cxnLst/>
            <a:rect l="l" t="t" r="r" b="b"/>
            <a:pathLst>
              <a:path w="5346700" h="1938020">
                <a:moveTo>
                  <a:pt x="0" y="1938020"/>
                </a:moveTo>
                <a:lnTo>
                  <a:pt x="5346700" y="1938020"/>
                </a:lnTo>
                <a:lnTo>
                  <a:pt x="5346700" y="0"/>
                </a:lnTo>
                <a:lnTo>
                  <a:pt x="0" y="0"/>
                </a:lnTo>
                <a:lnTo>
                  <a:pt x="0" y="19380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54970" y="4833361"/>
            <a:ext cx="5768495" cy="2090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a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700">
              <a:latin typeface="Courier New"/>
              <a:cs typeface="Courier New"/>
            </a:endParaRPr>
          </a:p>
          <a:p>
            <a:pPr>
              <a:tabLst>
                <a:tab pos="833501" algn="l"/>
              </a:tabLst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for	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6" dirty="0">
                <a:latin typeface="Courier New"/>
                <a:cs typeface="Courier New"/>
              </a:rPr>
              <a:t>i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700" dirty="0">
                <a:solidFill>
                  <a:srgbClr val="EF00EF"/>
                </a:solidFill>
                <a:latin typeface="Courier New"/>
                <a:cs typeface="Courier New"/>
              </a:rPr>
              <a:t>0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700" dirty="0">
                <a:latin typeface="Courier New"/>
                <a:cs typeface="Courier New"/>
              </a:rPr>
              <a:t>i 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&lt;= </a:t>
            </a:r>
            <a:r>
              <a:rPr sz="2700" dirty="0">
                <a:solidFill>
                  <a:srgbClr val="EF00EF"/>
                </a:solidFill>
                <a:latin typeface="Courier New"/>
                <a:cs typeface="Courier New"/>
              </a:rPr>
              <a:t>3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++</a:t>
            </a:r>
            <a:r>
              <a:rPr sz="2700" spc="-1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417113"/>
            <a:r>
              <a:rPr sz="2700" spc="-6" dirty="0">
                <a:latin typeface="Courier New"/>
                <a:cs typeface="Courier New"/>
              </a:rPr>
              <a:t>scanf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7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2700" spc="-6" dirty="0">
                <a:latin typeface="Courier New"/>
                <a:cs typeface="Courier New"/>
              </a:rPr>
              <a:t>a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z="2700" spc="-6" dirty="0">
                <a:latin typeface="Courier New"/>
                <a:cs typeface="Courier New"/>
              </a:rPr>
              <a:t>notas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700">
              <a:latin typeface="Courier New"/>
              <a:cs typeface="Courier New"/>
            </a:endParaRPr>
          </a:p>
          <a:p>
            <a:pPr>
              <a:spcBef>
                <a:spcPts val="68"/>
              </a:spcBef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731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79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32691" y="5286750"/>
            <a:ext cx="6252669" cy="558385"/>
          </a:xfrm>
          <a:prstGeom prst="rect">
            <a:avLst/>
          </a:prstGeom>
        </p:spPr>
        <p:txBody>
          <a:bodyPr vert="horz" wrap="square" lIns="0" tIns="4345" rIns="0" bIns="0" rtlCol="0">
            <a:spAutoFit/>
          </a:bodyPr>
          <a:lstStyle/>
          <a:p>
            <a:pPr>
              <a:spcBef>
                <a:spcPts val="34"/>
              </a:spcBef>
            </a:pPr>
            <a:endParaRPr>
              <a:latin typeface="Times New Roman"/>
              <a:cs typeface="Times New Roman"/>
            </a:endParaRPr>
          </a:p>
          <a:p>
            <a:pPr marR="419285" algn="r"/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…</a:t>
            </a:r>
            <a:endParaRPr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752" y="1192247"/>
          <a:ext cx="9849807" cy="6250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35801"/>
                <a:gridCol w="1116866"/>
                <a:gridCol w="3597140"/>
              </a:tblGrid>
              <a:tr h="4088906">
                <a:tc>
                  <a:txBody>
                    <a:bodyPr/>
                    <a:lstStyle/>
                    <a:p>
                      <a:pPr marL="604520" indent="-515620">
                        <a:lnSpc>
                          <a:spcPct val="100000"/>
                        </a:lnSpc>
                        <a:spcBef>
                          <a:spcPts val="1720"/>
                        </a:spcBef>
                        <a:buClr>
                          <a:srgbClr val="852B34"/>
                        </a:buClr>
                        <a:buSzPct val="69642"/>
                        <a:buAutoNum type="arabicPeriod"/>
                        <a:tabLst>
                          <a:tab pos="604520" algn="l"/>
                          <a:tab pos="605155" algn="l"/>
                        </a:tabLst>
                      </a:pPr>
                      <a:r>
                        <a:rPr sz="3100" dirty="0">
                          <a:latin typeface="Arial"/>
                          <a:cs typeface="Arial"/>
                        </a:rPr>
                        <a:t>Definir</a:t>
                      </a:r>
                      <a:r>
                        <a:rPr sz="31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estrutura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marL="604520" indent="-515620">
                        <a:lnSpc>
                          <a:spcPct val="100000"/>
                        </a:lnSpc>
                        <a:spcBef>
                          <a:spcPts val="700"/>
                        </a:spcBef>
                        <a:buClr>
                          <a:srgbClr val="852B34"/>
                        </a:buClr>
                        <a:buSzPct val="69642"/>
                        <a:buAutoNum type="arabicPeriod"/>
                        <a:tabLst>
                          <a:tab pos="604520" algn="l"/>
                          <a:tab pos="605155" algn="l"/>
                        </a:tabLst>
                      </a:pPr>
                      <a:r>
                        <a:rPr sz="3100" dirty="0">
                          <a:latin typeface="Arial"/>
                          <a:cs typeface="Arial"/>
                        </a:rPr>
                        <a:t>Declarar</a:t>
                      </a:r>
                      <a:r>
                        <a:rPr sz="31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variáveis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marL="604520" indent="-515620">
                        <a:lnSpc>
                          <a:spcPct val="100000"/>
                        </a:lnSpc>
                        <a:spcBef>
                          <a:spcPts val="700"/>
                        </a:spcBef>
                        <a:buClr>
                          <a:srgbClr val="852B34"/>
                        </a:buClr>
                        <a:buSzPct val="69642"/>
                        <a:buAutoNum type="arabicPeriod"/>
                        <a:tabLst>
                          <a:tab pos="604520" algn="l"/>
                          <a:tab pos="605155" algn="l"/>
                        </a:tabLst>
                      </a:pPr>
                      <a:r>
                        <a:rPr sz="3100" spc="-5" dirty="0">
                          <a:latin typeface="Arial"/>
                          <a:cs typeface="Arial"/>
                        </a:rPr>
                        <a:t>Ler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dados </a:t>
                      </a:r>
                      <a:r>
                        <a:rPr sz="3100" spc="-5" dirty="0">
                          <a:latin typeface="Arial"/>
                          <a:cs typeface="Arial"/>
                        </a:rPr>
                        <a:t>de um</a:t>
                      </a:r>
                      <a:r>
                        <a:rPr sz="31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aluno</a:t>
                      </a:r>
                      <a:endParaRPr sz="3100">
                        <a:latin typeface="Arial"/>
                        <a:cs typeface="Arial"/>
                      </a:endParaRPr>
                    </a:p>
                    <a:p>
                      <a:pPr marL="604520" indent="-515620">
                        <a:lnSpc>
                          <a:spcPct val="100000"/>
                        </a:lnSpc>
                        <a:spcBef>
                          <a:spcPts val="700"/>
                        </a:spcBef>
                        <a:buClr>
                          <a:srgbClr val="852B34"/>
                        </a:buClr>
                        <a:buSzPct val="69642"/>
                        <a:buAutoNum type="arabicPeriod"/>
                        <a:tabLst>
                          <a:tab pos="604520" algn="l"/>
                          <a:tab pos="605155" algn="l"/>
                        </a:tabLst>
                      </a:pPr>
                      <a:r>
                        <a:rPr sz="3100" dirty="0">
                          <a:latin typeface="Arial"/>
                          <a:cs typeface="Arial"/>
                        </a:rPr>
                        <a:t>Imprimir os</a:t>
                      </a:r>
                      <a:r>
                        <a:rPr sz="31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3100" dirty="0">
                          <a:latin typeface="Arial"/>
                          <a:cs typeface="Arial"/>
                        </a:rPr>
                        <a:t>dados</a:t>
                      </a:r>
                      <a:endParaRPr sz="3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typedef</a:t>
                      </a:r>
                      <a:r>
                        <a:rPr sz="1800" b="1" spc="-80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struct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3147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char</a:t>
                      </a:r>
                      <a:r>
                        <a:rPr sz="1800" b="1" spc="-6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nome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1800" spc="-5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40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33147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float</a:t>
                      </a:r>
                      <a:r>
                        <a:rPr sz="1800" b="1" spc="-6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notas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1800" spc="-5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r>
                        <a:rPr sz="1800" spc="-1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Aluno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1800" b="1" spc="-100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main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Aluno</a:t>
                      </a:r>
                      <a:r>
                        <a:rPr sz="1800" spc="-9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 marR="1971675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int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gets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1800" spc="15" dirty="0"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om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>
                        <a:lnSpc>
                          <a:spcPct val="100000"/>
                        </a:lnSpc>
                      </a:pPr>
                      <a:r>
                        <a:rPr sz="18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for 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sz="1800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0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1800" spc="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&lt;= </a:t>
                      </a:r>
                      <a:r>
                        <a:rPr sz="1800" spc="-5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</a:t>
                      </a:r>
                      <a:r>
                        <a:rPr sz="18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++</a:t>
                      </a:r>
                      <a:r>
                        <a:rPr sz="1800" spc="-3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697230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Courier New"/>
                          <a:cs typeface="Courier New"/>
                        </a:rPr>
                        <a:t>scanf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spc="-5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"%f"</a:t>
                      </a:r>
                      <a:r>
                        <a:rPr sz="18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1800" spc="-7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&amp;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notas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1800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 marL="45339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624110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600" spc="-5" dirty="0">
                          <a:latin typeface="Courier New"/>
                          <a:cs typeface="Courier New"/>
                        </a:rPr>
                        <a:t>puts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nome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);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1511300">
                <a:tc gridSpan="2">
                  <a:txBody>
                    <a:bodyPr/>
                    <a:lstStyle/>
                    <a:p>
                      <a:pPr marL="85090">
                        <a:lnSpc>
                          <a:spcPts val="1465"/>
                        </a:lnSpc>
                      </a:pPr>
                      <a:r>
                        <a:rPr sz="2600" b="1" spc="-5" dirty="0">
                          <a:solidFill>
                            <a:srgbClr val="00009F"/>
                          </a:solidFill>
                          <a:latin typeface="Courier New"/>
                          <a:cs typeface="Courier New"/>
                        </a:rPr>
                        <a:t>for 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= </a:t>
                      </a:r>
                      <a:r>
                        <a:rPr sz="2600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0 </a:t>
                      </a: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</a:t>
                      </a:r>
                      <a:r>
                        <a:rPr sz="2600" dirty="0">
                          <a:latin typeface="Courier New"/>
                          <a:cs typeface="Courier New"/>
                        </a:rPr>
                        <a:t>i 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&lt;= </a:t>
                      </a:r>
                      <a:r>
                        <a:rPr sz="2600" spc="-5" dirty="0">
                          <a:solidFill>
                            <a:srgbClr val="EF00EF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; 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++</a:t>
                      </a:r>
                      <a:r>
                        <a:rPr sz="2600" spc="-11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)</a:t>
                      </a:r>
                      <a:endParaRPr sz="2600">
                        <a:latin typeface="Courier New"/>
                        <a:cs typeface="Courier New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{</a:t>
                      </a:r>
                      <a:endParaRPr sz="2600">
                        <a:latin typeface="Courier New"/>
                        <a:cs typeface="Courier New"/>
                      </a:endParaRPr>
                    </a:p>
                    <a:p>
                      <a:pPr marL="450850">
                        <a:lnSpc>
                          <a:spcPct val="100000"/>
                        </a:lnSpc>
                      </a:pPr>
                      <a:r>
                        <a:rPr sz="2600" spc="-5" dirty="0">
                          <a:latin typeface="Courier New"/>
                          <a:cs typeface="Courier New"/>
                        </a:rPr>
                        <a:t>printf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2600" spc="-5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"%f"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600" spc="-12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notas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2600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2600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]);</a:t>
                      </a:r>
                      <a:endParaRPr sz="2600">
                        <a:latin typeface="Courier New"/>
                        <a:cs typeface="Courier New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600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}</a:t>
                      </a:r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T w="1016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5355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97" dirty="0"/>
              <a:t> </a:t>
            </a:r>
            <a:r>
              <a:rPr dirty="0"/>
              <a:t>completo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652557" y="1136273"/>
            <a:ext cx="4547665" cy="6175940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50691" rIns="0" bIns="0" rtlCol="0">
            <a:spAutoFit/>
          </a:bodyPr>
          <a:lstStyle/>
          <a:p>
            <a:pPr marL="377284" marR="1947249" indent="-278075">
              <a:spcBef>
                <a:spcPts val="399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typedef struct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99209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Aluno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>
              <a:spcBef>
                <a:spcPts val="29"/>
              </a:spcBef>
            </a:pPr>
            <a:endParaRPr sz="1900">
              <a:latin typeface="Times New Roman"/>
              <a:cs typeface="Times New Roman"/>
            </a:endParaRPr>
          </a:p>
          <a:p>
            <a:pPr marL="99209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>
              <a:latin typeface="Courier New"/>
              <a:cs typeface="Courier New"/>
            </a:endParaRPr>
          </a:p>
          <a:p>
            <a:pPr marL="99209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spc="-6" dirty="0">
                <a:latin typeface="Courier New"/>
                <a:cs typeface="Courier New"/>
              </a:rPr>
              <a:t>Aluno</a:t>
            </a:r>
            <a:r>
              <a:rPr spc="-103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spc="-6" dirty="0">
                <a:latin typeface="Courier New"/>
                <a:cs typeface="Courier New"/>
              </a:rPr>
              <a:t>gets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latin typeface="Courier New"/>
                <a:cs typeface="Courier New"/>
              </a:rPr>
              <a:t>i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dirty="0">
                <a:solidFill>
                  <a:srgbClr val="EF00EF"/>
                </a:solidFill>
                <a:latin typeface="Courier New"/>
                <a:cs typeface="Courier New"/>
              </a:rPr>
              <a:t>0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dirty="0">
                <a:latin typeface="Courier New"/>
                <a:cs typeface="Courier New"/>
              </a:rPr>
              <a:t>i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&lt;= </a:t>
            </a:r>
            <a:r>
              <a:rPr spc="11" dirty="0">
                <a:solidFill>
                  <a:srgbClr val="EF00EF"/>
                </a:solidFill>
                <a:latin typeface="Courier New"/>
                <a:cs typeface="Courier New"/>
              </a:rPr>
              <a:t>3</a:t>
            </a:r>
            <a:r>
              <a:rPr spc="11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++</a:t>
            </a:r>
            <a:r>
              <a:rPr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656084"/>
            <a:r>
              <a:rPr spc="-6" dirty="0">
                <a:latin typeface="Courier New"/>
                <a:cs typeface="Courier New"/>
              </a:rPr>
              <a:t>scanf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pc="-2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>
              <a:spcBef>
                <a:spcPts val="23"/>
              </a:spcBef>
            </a:pPr>
            <a:endParaRPr sz="1900">
              <a:latin typeface="Times New Roman"/>
              <a:cs typeface="Times New Roman"/>
            </a:endParaRPr>
          </a:p>
          <a:p>
            <a:pPr marL="377284"/>
            <a:r>
              <a:rPr spc="-6" dirty="0">
                <a:latin typeface="Courier New"/>
                <a:cs typeface="Courier New"/>
              </a:rPr>
              <a:t>puts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latin typeface="Courier New"/>
                <a:cs typeface="Courier New"/>
              </a:rPr>
              <a:t>i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dirty="0">
                <a:solidFill>
                  <a:srgbClr val="EF00EF"/>
                </a:solidFill>
                <a:latin typeface="Courier New"/>
                <a:cs typeface="Courier New"/>
              </a:rPr>
              <a:t>0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dirty="0">
                <a:latin typeface="Courier New"/>
                <a:cs typeface="Courier New"/>
              </a:rPr>
              <a:t>i 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&lt;= </a:t>
            </a:r>
            <a:r>
              <a:rPr spc="11" dirty="0">
                <a:solidFill>
                  <a:srgbClr val="EF00EF"/>
                </a:solidFill>
                <a:latin typeface="Courier New"/>
                <a:cs typeface="Courier New"/>
              </a:rPr>
              <a:t>3</a:t>
            </a:r>
            <a:r>
              <a:rPr spc="11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++</a:t>
            </a:r>
            <a:r>
              <a:rPr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656084"/>
            <a:r>
              <a:rPr spc="-6" dirty="0">
                <a:latin typeface="Courier New"/>
                <a:cs typeface="Courier New"/>
              </a:rPr>
              <a:t>printf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.</a:t>
            </a:r>
            <a:r>
              <a:rPr spc="-6" dirty="0">
                <a:latin typeface="Courier New"/>
                <a:cs typeface="Courier New"/>
              </a:rPr>
              <a:t>notas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latin typeface="Courier New"/>
                <a:cs typeface="Courier New"/>
              </a:rPr>
              <a:t>i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99209">
              <a:spcBef>
                <a:spcPts val="23"/>
              </a:spcBef>
            </a:pPr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67715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40" y="1105488"/>
            <a:ext cx="10420867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9047"/>
              <a:buChar char="•"/>
              <a:tabLst>
                <a:tab pos="404802" algn="l"/>
                <a:tab pos="405526" algn="l"/>
              </a:tabLst>
            </a:pPr>
            <a:r>
              <a:rPr sz="2400" spc="-6" dirty="0">
                <a:latin typeface="Arial"/>
                <a:cs typeface="Arial"/>
              </a:rPr>
              <a:t>Como </a:t>
            </a:r>
            <a:r>
              <a:rPr sz="2400" spc="-11" dirty="0">
                <a:latin typeface="Arial"/>
                <a:cs typeface="Arial"/>
              </a:rPr>
              <a:t>qualquer </a:t>
            </a:r>
            <a:r>
              <a:rPr sz="2400" spc="-6" dirty="0">
                <a:latin typeface="Arial"/>
                <a:cs typeface="Arial"/>
              </a:rPr>
              <a:t>outra variável, </a:t>
            </a:r>
            <a:r>
              <a:rPr sz="2400" spc="-11" dirty="0">
                <a:latin typeface="Arial"/>
                <a:cs typeface="Arial"/>
              </a:rPr>
              <a:t>uma </a:t>
            </a:r>
            <a:r>
              <a:rPr sz="2400" spc="-6" dirty="0">
                <a:latin typeface="Arial"/>
                <a:cs typeface="Arial"/>
              </a:rPr>
              <a:t>variável </a:t>
            </a:r>
            <a:r>
              <a:rPr sz="2400" spc="-11" dirty="0">
                <a:latin typeface="Arial"/>
                <a:cs typeface="Arial"/>
              </a:rPr>
              <a:t>do tipo </a:t>
            </a:r>
            <a:r>
              <a:rPr sz="2400" spc="-6" dirty="0">
                <a:latin typeface="Arial"/>
                <a:cs typeface="Arial"/>
              </a:rPr>
              <a:t>estrutura </a:t>
            </a:r>
            <a:r>
              <a:rPr sz="2400" spc="-11" dirty="0">
                <a:latin typeface="Arial"/>
                <a:cs typeface="Arial"/>
              </a:rPr>
              <a:t>pode</a:t>
            </a:r>
            <a:r>
              <a:rPr sz="2400" spc="114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ser</a:t>
            </a:r>
            <a:endParaRPr sz="2400">
              <a:latin typeface="Arial"/>
              <a:cs typeface="Arial"/>
            </a:endParaRPr>
          </a:p>
          <a:p>
            <a:pPr marL="405526"/>
            <a:r>
              <a:rPr sz="2400" spc="-6" dirty="0">
                <a:latin typeface="Arial"/>
                <a:cs typeface="Arial"/>
              </a:rPr>
              <a:t>usada como </a:t>
            </a:r>
            <a:r>
              <a:rPr sz="2400" b="1" spc="-6" dirty="0">
                <a:latin typeface="Arial"/>
                <a:cs typeface="Arial"/>
              </a:rPr>
              <a:t>parâmetro </a:t>
            </a:r>
            <a:r>
              <a:rPr sz="2400" spc="-6" dirty="0">
                <a:latin typeface="Arial"/>
                <a:cs typeface="Arial"/>
              </a:rPr>
              <a:t>ou </a:t>
            </a:r>
            <a:r>
              <a:rPr sz="2400" spc="-11" dirty="0">
                <a:latin typeface="Arial"/>
                <a:cs typeface="Arial"/>
              </a:rPr>
              <a:t>pode </a:t>
            </a:r>
            <a:r>
              <a:rPr sz="2400" dirty="0">
                <a:latin typeface="Arial"/>
                <a:cs typeface="Arial"/>
              </a:rPr>
              <a:t>ser o </a:t>
            </a:r>
            <a:r>
              <a:rPr sz="2400" b="1" spc="-6" dirty="0">
                <a:latin typeface="Arial"/>
                <a:cs typeface="Arial"/>
              </a:rPr>
              <a:t>valor </a:t>
            </a:r>
            <a:r>
              <a:rPr sz="2400" b="1" dirty="0">
                <a:latin typeface="Arial"/>
                <a:cs typeface="Arial"/>
              </a:rPr>
              <a:t>de </a:t>
            </a:r>
            <a:r>
              <a:rPr sz="2400" b="1" spc="-6" dirty="0">
                <a:latin typeface="Arial"/>
                <a:cs typeface="Arial"/>
              </a:rPr>
              <a:t>retorno </a:t>
            </a:r>
            <a:r>
              <a:rPr sz="2400" spc="-6" dirty="0">
                <a:latin typeface="Arial"/>
                <a:cs typeface="Arial"/>
              </a:rPr>
              <a:t>de </a:t>
            </a:r>
            <a:r>
              <a:rPr sz="2400" spc="-11" dirty="0">
                <a:latin typeface="Arial"/>
                <a:cs typeface="Arial"/>
              </a:rPr>
              <a:t>uma</a:t>
            </a:r>
            <a:r>
              <a:rPr sz="2400" spc="57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função.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811" y="2686476"/>
            <a:ext cx="2028776" cy="1103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typedef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struct</a:t>
            </a:r>
            <a:endParaRPr dirty="0"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 dirty="0"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812" y="3223686"/>
            <a:ext cx="1031468" cy="566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valorA;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valorB;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812" y="3761457"/>
            <a:ext cx="245725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MinhaEstrutura;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8101" y="2184107"/>
            <a:ext cx="4460039" cy="13727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void </a:t>
            </a:r>
            <a:r>
              <a:rPr b="1" spc="-6" dirty="0">
                <a:latin typeface="Courier New"/>
                <a:cs typeface="Courier New"/>
              </a:rPr>
              <a:t>imprime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</a:t>
            </a:r>
            <a:r>
              <a:rPr b="1" spc="-1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spc="-6"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 marR="422182" algn="just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e1.valorA</a:t>
            </a:r>
            <a:r>
              <a:rPr spc="-6" dirty="0">
                <a:latin typeface="Courier New"/>
                <a:cs typeface="Courier New"/>
              </a:rPr>
              <a:t>);  printf("\n%d",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e1.valorB</a:t>
            </a:r>
            <a:r>
              <a:rPr spc="-6" dirty="0">
                <a:latin typeface="Courier New"/>
                <a:cs typeface="Courier New"/>
              </a:rPr>
              <a:t>); 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e1.valorB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e1.valorA</a:t>
            </a:r>
            <a:r>
              <a:rPr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20049" y="3796722"/>
            <a:ext cx="2318389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b="1" spc="-6" dirty="0">
                <a:latin typeface="Courier New"/>
                <a:cs typeface="Courier New"/>
              </a:rPr>
              <a:t>novaEstrutura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spc="-57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78101" y="3528045"/>
            <a:ext cx="2028776" cy="835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5839" y="4334072"/>
            <a:ext cx="4032303" cy="1104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dirty="0">
                <a:latin typeface="Courier New"/>
                <a:cs typeface="Courier New"/>
              </a:rPr>
              <a:t>;  </a:t>
            </a:r>
            <a:r>
              <a:rPr spc="-6" dirty="0">
                <a:latin typeface="Courier New"/>
                <a:cs typeface="Courier New"/>
              </a:rPr>
              <a:t>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novaVar.valorA</a:t>
            </a:r>
            <a:r>
              <a:rPr spc="-6" dirty="0">
                <a:latin typeface="Courier New"/>
                <a:cs typeface="Courier New"/>
              </a:rPr>
              <a:t>);  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novaVar.valorB</a:t>
            </a:r>
            <a:r>
              <a:rPr spc="-6" dirty="0">
                <a:latin typeface="Courier New"/>
                <a:cs typeface="Courier New"/>
              </a:rPr>
              <a:t>);  return</a:t>
            </a:r>
            <a:r>
              <a:rPr spc="-68" dirty="0"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spc="-6"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78102" y="5409614"/>
            <a:ext cx="3603824" cy="16671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2190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int</a:t>
            </a:r>
            <a:r>
              <a:rPr spc="-108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main()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 marR="5793"/>
            <a:r>
              <a:rPr spc="-6" dirty="0">
                <a:latin typeface="Courier New"/>
                <a:cs typeface="Courier New"/>
              </a:rPr>
              <a:t>MinhaEstrutura </a:t>
            </a:r>
            <a:r>
              <a:rPr spc="6" dirty="0">
                <a:latin typeface="Courier New"/>
                <a:cs typeface="Courier New"/>
              </a:rPr>
              <a:t>var;  </a:t>
            </a:r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var </a:t>
            </a:r>
            <a:r>
              <a:rPr dirty="0">
                <a:solidFill>
                  <a:srgbClr val="21218A"/>
                </a:solidFill>
                <a:latin typeface="Courier New"/>
                <a:cs typeface="Courier New"/>
              </a:rPr>
              <a:t>= </a:t>
            </a:r>
            <a:r>
              <a:rPr b="1" spc="-6" dirty="0">
                <a:solidFill>
                  <a:srgbClr val="21218A"/>
                </a:solidFill>
                <a:latin typeface="Courier New"/>
                <a:cs typeface="Courier New"/>
              </a:rPr>
              <a:t>novaEstrutura</a:t>
            </a:r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();  </a:t>
            </a:r>
            <a:r>
              <a:rPr b="1" spc="-6" dirty="0">
                <a:solidFill>
                  <a:srgbClr val="00664D"/>
                </a:solidFill>
                <a:latin typeface="Courier New"/>
                <a:cs typeface="Courier New"/>
              </a:rPr>
              <a:t>imprime</a:t>
            </a:r>
            <a:r>
              <a:rPr spc="-6" dirty="0">
                <a:solidFill>
                  <a:srgbClr val="00664D"/>
                </a:solidFill>
                <a:latin typeface="Courier New"/>
                <a:cs typeface="Courier New"/>
              </a:rPr>
              <a:t>(var);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251480" y="4053642"/>
            <a:ext cx="4252112" cy="1074003"/>
          </a:xfrm>
          <a:custGeom>
            <a:avLst/>
            <a:gdLst/>
            <a:ahLst/>
            <a:cxnLst/>
            <a:rect l="l" t="t" r="r" b="b"/>
            <a:pathLst>
              <a:path w="3636009" h="974725">
                <a:moveTo>
                  <a:pt x="0" y="0"/>
                </a:moveTo>
                <a:lnTo>
                  <a:pt x="2485136" y="406907"/>
                </a:lnTo>
                <a:lnTo>
                  <a:pt x="2485136" y="812164"/>
                </a:lnTo>
                <a:lnTo>
                  <a:pt x="2490931" y="855266"/>
                </a:lnTo>
                <a:lnTo>
                  <a:pt x="2507285" y="894004"/>
                </a:lnTo>
                <a:lnTo>
                  <a:pt x="2532649" y="926830"/>
                </a:lnTo>
                <a:lnTo>
                  <a:pt x="2565475" y="952194"/>
                </a:lnTo>
                <a:lnTo>
                  <a:pt x="2604213" y="968548"/>
                </a:lnTo>
                <a:lnTo>
                  <a:pt x="2647315" y="974344"/>
                </a:lnTo>
                <a:lnTo>
                  <a:pt x="3473576" y="974344"/>
                </a:lnTo>
                <a:lnTo>
                  <a:pt x="3516678" y="968548"/>
                </a:lnTo>
                <a:lnTo>
                  <a:pt x="3555416" y="952194"/>
                </a:lnTo>
                <a:lnTo>
                  <a:pt x="3588242" y="926830"/>
                </a:lnTo>
                <a:lnTo>
                  <a:pt x="3613606" y="894004"/>
                </a:lnTo>
                <a:lnTo>
                  <a:pt x="3629960" y="855266"/>
                </a:lnTo>
                <a:lnTo>
                  <a:pt x="3635756" y="812164"/>
                </a:lnTo>
                <a:lnTo>
                  <a:pt x="3635756" y="163702"/>
                </a:lnTo>
                <a:lnTo>
                  <a:pt x="2485136" y="163702"/>
                </a:lnTo>
                <a:lnTo>
                  <a:pt x="0" y="0"/>
                </a:lnTo>
                <a:close/>
              </a:path>
              <a:path w="3636009" h="974725">
                <a:moveTo>
                  <a:pt x="3473576" y="1524"/>
                </a:moveTo>
                <a:lnTo>
                  <a:pt x="2647315" y="1524"/>
                </a:lnTo>
                <a:lnTo>
                  <a:pt x="2604213" y="7319"/>
                </a:lnTo>
                <a:lnTo>
                  <a:pt x="2565475" y="23673"/>
                </a:lnTo>
                <a:lnTo>
                  <a:pt x="2532649" y="49037"/>
                </a:lnTo>
                <a:lnTo>
                  <a:pt x="2507285" y="81863"/>
                </a:lnTo>
                <a:lnTo>
                  <a:pt x="2490931" y="120601"/>
                </a:lnTo>
                <a:lnTo>
                  <a:pt x="2485136" y="163702"/>
                </a:lnTo>
                <a:lnTo>
                  <a:pt x="3635756" y="163702"/>
                </a:lnTo>
                <a:lnTo>
                  <a:pt x="3629960" y="120601"/>
                </a:lnTo>
                <a:lnTo>
                  <a:pt x="3613606" y="81863"/>
                </a:lnTo>
                <a:lnTo>
                  <a:pt x="3588242" y="49037"/>
                </a:lnTo>
                <a:lnTo>
                  <a:pt x="3555416" y="23673"/>
                </a:lnTo>
                <a:lnTo>
                  <a:pt x="3516678" y="7319"/>
                </a:lnTo>
                <a:lnTo>
                  <a:pt x="3473576" y="1524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51480" y="4053642"/>
            <a:ext cx="4252112" cy="1074003"/>
          </a:xfrm>
          <a:custGeom>
            <a:avLst/>
            <a:gdLst/>
            <a:ahLst/>
            <a:cxnLst/>
            <a:rect l="l" t="t" r="r" b="b"/>
            <a:pathLst>
              <a:path w="3636009" h="974725">
                <a:moveTo>
                  <a:pt x="2485136" y="163702"/>
                </a:moveTo>
                <a:lnTo>
                  <a:pt x="2490931" y="120601"/>
                </a:lnTo>
                <a:lnTo>
                  <a:pt x="2507285" y="81863"/>
                </a:lnTo>
                <a:lnTo>
                  <a:pt x="2532649" y="49037"/>
                </a:lnTo>
                <a:lnTo>
                  <a:pt x="2565475" y="23673"/>
                </a:lnTo>
                <a:lnTo>
                  <a:pt x="2604213" y="7319"/>
                </a:lnTo>
                <a:lnTo>
                  <a:pt x="2647315" y="1524"/>
                </a:lnTo>
                <a:lnTo>
                  <a:pt x="2676906" y="1524"/>
                </a:lnTo>
                <a:lnTo>
                  <a:pt x="2964561" y="1524"/>
                </a:lnTo>
                <a:lnTo>
                  <a:pt x="3473576" y="1524"/>
                </a:lnTo>
                <a:lnTo>
                  <a:pt x="3516678" y="7319"/>
                </a:lnTo>
                <a:lnTo>
                  <a:pt x="3555416" y="23673"/>
                </a:lnTo>
                <a:lnTo>
                  <a:pt x="3588242" y="49037"/>
                </a:lnTo>
                <a:lnTo>
                  <a:pt x="3613606" y="81863"/>
                </a:lnTo>
                <a:lnTo>
                  <a:pt x="3629960" y="120601"/>
                </a:lnTo>
                <a:lnTo>
                  <a:pt x="3635756" y="163702"/>
                </a:lnTo>
                <a:lnTo>
                  <a:pt x="3635756" y="406907"/>
                </a:lnTo>
                <a:lnTo>
                  <a:pt x="3635756" y="812164"/>
                </a:lnTo>
                <a:lnTo>
                  <a:pt x="3629960" y="855266"/>
                </a:lnTo>
                <a:lnTo>
                  <a:pt x="3613606" y="894004"/>
                </a:lnTo>
                <a:lnTo>
                  <a:pt x="3588242" y="926830"/>
                </a:lnTo>
                <a:lnTo>
                  <a:pt x="3555416" y="952194"/>
                </a:lnTo>
                <a:lnTo>
                  <a:pt x="3516678" y="968548"/>
                </a:lnTo>
                <a:lnTo>
                  <a:pt x="3473576" y="974344"/>
                </a:lnTo>
                <a:lnTo>
                  <a:pt x="2964561" y="974344"/>
                </a:lnTo>
                <a:lnTo>
                  <a:pt x="2676906" y="974344"/>
                </a:lnTo>
                <a:lnTo>
                  <a:pt x="2647315" y="974344"/>
                </a:lnTo>
                <a:lnTo>
                  <a:pt x="2604213" y="968548"/>
                </a:lnTo>
                <a:lnTo>
                  <a:pt x="2565475" y="952194"/>
                </a:lnTo>
                <a:lnTo>
                  <a:pt x="2532649" y="926830"/>
                </a:lnTo>
                <a:lnTo>
                  <a:pt x="2507285" y="894004"/>
                </a:lnTo>
                <a:lnTo>
                  <a:pt x="2490931" y="855266"/>
                </a:lnTo>
                <a:lnTo>
                  <a:pt x="2485136" y="812164"/>
                </a:lnTo>
                <a:lnTo>
                  <a:pt x="2485136" y="406907"/>
                </a:lnTo>
                <a:lnTo>
                  <a:pt x="0" y="0"/>
                </a:lnTo>
                <a:lnTo>
                  <a:pt x="2485136" y="163702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199591" y="4183781"/>
            <a:ext cx="1070824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pc="-17" dirty="0">
                <a:latin typeface="Arial"/>
                <a:cs typeface="Arial"/>
              </a:rPr>
              <a:t>Tipo </a:t>
            </a:r>
            <a:r>
              <a:rPr spc="-11" dirty="0">
                <a:latin typeface="Arial"/>
                <a:cs typeface="Arial"/>
              </a:rPr>
              <a:t>de  </a:t>
            </a:r>
            <a:r>
              <a:rPr spc="-6" dirty="0">
                <a:latin typeface="Arial"/>
                <a:cs typeface="Arial"/>
              </a:rPr>
              <a:t>retorno  </a:t>
            </a:r>
            <a:r>
              <a:rPr spc="-11" dirty="0">
                <a:latin typeface="Arial"/>
                <a:cs typeface="Arial"/>
              </a:rPr>
              <a:t>da</a:t>
            </a:r>
            <a:r>
              <a:rPr spc="-91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função</a:t>
            </a:r>
            <a:endParaRPr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05839" y="7067049"/>
            <a:ext cx="131959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25"/>
              </a:lnSpc>
            </a:pPr>
            <a:r>
              <a:rPr spc="-6" dirty="0">
                <a:latin typeface="Courier New"/>
                <a:cs typeface="Courier New"/>
              </a:rPr>
              <a:t>return</a:t>
            </a:r>
            <a:r>
              <a:rPr spc="-97" dirty="0">
                <a:latin typeface="Courier New"/>
                <a:cs typeface="Courier New"/>
              </a:rPr>
              <a:t> </a:t>
            </a:r>
            <a:r>
              <a:rPr spc="17" dirty="0">
                <a:latin typeface="Courier New"/>
                <a:cs typeface="Courier New"/>
              </a:rPr>
              <a:t>0;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81</a:t>
            </a:fld>
            <a:endParaRPr dirty="0"/>
          </a:p>
        </p:txBody>
      </p:sp>
      <p:sp>
        <p:nvSpPr>
          <p:cNvPr id="17" name="object 17"/>
          <p:cNvSpPr txBox="1"/>
          <p:nvPr/>
        </p:nvSpPr>
        <p:spPr>
          <a:xfrm>
            <a:off x="4278102" y="7336330"/>
            <a:ext cx="17302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19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</a:t>
            </a:r>
            <a:r>
              <a:rPr spc="-6" dirty="0"/>
              <a:t>e</a:t>
            </a:r>
            <a:r>
              <a:rPr spc="-74" dirty="0"/>
              <a:t> </a:t>
            </a:r>
            <a:r>
              <a:rPr dirty="0"/>
              <a:t>funções</a:t>
            </a:r>
          </a:p>
        </p:txBody>
      </p:sp>
    </p:spTree>
    <p:extLst>
      <p:ext uri="{BB962C8B-B14F-4D97-AF65-F5344CB8AC3E}">
        <p14:creationId xmlns:p14="http://schemas.microsoft.com/office/powerpoint/2010/main" val="1330184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40" y="1105488"/>
            <a:ext cx="10420867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9047"/>
              <a:buChar char="•"/>
              <a:tabLst>
                <a:tab pos="404802" algn="l"/>
                <a:tab pos="405526" algn="l"/>
              </a:tabLst>
            </a:pPr>
            <a:r>
              <a:rPr sz="2400" spc="-6" dirty="0">
                <a:latin typeface="Arial"/>
                <a:cs typeface="Arial"/>
              </a:rPr>
              <a:t>Como </a:t>
            </a:r>
            <a:r>
              <a:rPr sz="2400" spc="-11" dirty="0">
                <a:latin typeface="Arial"/>
                <a:cs typeface="Arial"/>
              </a:rPr>
              <a:t>qualquer </a:t>
            </a:r>
            <a:r>
              <a:rPr sz="2400" spc="-6" dirty="0">
                <a:latin typeface="Arial"/>
                <a:cs typeface="Arial"/>
              </a:rPr>
              <a:t>outra variável, </a:t>
            </a:r>
            <a:r>
              <a:rPr sz="2400" spc="-11" dirty="0">
                <a:latin typeface="Arial"/>
                <a:cs typeface="Arial"/>
              </a:rPr>
              <a:t>uma </a:t>
            </a:r>
            <a:r>
              <a:rPr sz="2400" spc="-6" dirty="0">
                <a:latin typeface="Arial"/>
                <a:cs typeface="Arial"/>
              </a:rPr>
              <a:t>variável </a:t>
            </a:r>
            <a:r>
              <a:rPr sz="2400" spc="-11" dirty="0">
                <a:latin typeface="Arial"/>
                <a:cs typeface="Arial"/>
              </a:rPr>
              <a:t>do tipo </a:t>
            </a:r>
            <a:r>
              <a:rPr sz="2400" spc="-6" dirty="0">
                <a:latin typeface="Arial"/>
                <a:cs typeface="Arial"/>
              </a:rPr>
              <a:t>estrutura </a:t>
            </a:r>
            <a:r>
              <a:rPr sz="2400" spc="-11" dirty="0">
                <a:latin typeface="Arial"/>
                <a:cs typeface="Arial"/>
              </a:rPr>
              <a:t>pode</a:t>
            </a:r>
            <a:r>
              <a:rPr sz="2400" spc="114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ser</a:t>
            </a:r>
            <a:endParaRPr sz="2400">
              <a:latin typeface="Arial"/>
              <a:cs typeface="Arial"/>
            </a:endParaRPr>
          </a:p>
          <a:p>
            <a:pPr marL="405526"/>
            <a:r>
              <a:rPr sz="2400" spc="-6" dirty="0">
                <a:latin typeface="Arial"/>
                <a:cs typeface="Arial"/>
              </a:rPr>
              <a:t>usada como </a:t>
            </a:r>
            <a:r>
              <a:rPr sz="2400" b="1" spc="-6" dirty="0">
                <a:latin typeface="Arial"/>
                <a:cs typeface="Arial"/>
              </a:rPr>
              <a:t>parâmetro </a:t>
            </a:r>
            <a:r>
              <a:rPr sz="2400" spc="-6" dirty="0">
                <a:latin typeface="Arial"/>
                <a:cs typeface="Arial"/>
              </a:rPr>
              <a:t>ou </a:t>
            </a:r>
            <a:r>
              <a:rPr sz="2400" spc="-11" dirty="0">
                <a:latin typeface="Arial"/>
                <a:cs typeface="Arial"/>
              </a:rPr>
              <a:t>pode </a:t>
            </a:r>
            <a:r>
              <a:rPr sz="2400" dirty="0">
                <a:latin typeface="Arial"/>
                <a:cs typeface="Arial"/>
              </a:rPr>
              <a:t>ser o </a:t>
            </a:r>
            <a:r>
              <a:rPr sz="2400" b="1" spc="-6" dirty="0">
                <a:latin typeface="Arial"/>
                <a:cs typeface="Arial"/>
              </a:rPr>
              <a:t>valor </a:t>
            </a:r>
            <a:r>
              <a:rPr sz="2400" b="1" dirty="0">
                <a:latin typeface="Arial"/>
                <a:cs typeface="Arial"/>
              </a:rPr>
              <a:t>de </a:t>
            </a:r>
            <a:r>
              <a:rPr sz="2400" b="1" spc="-6" dirty="0">
                <a:latin typeface="Arial"/>
                <a:cs typeface="Arial"/>
              </a:rPr>
              <a:t>retorno </a:t>
            </a:r>
            <a:r>
              <a:rPr sz="2400" spc="-6" dirty="0">
                <a:latin typeface="Arial"/>
                <a:cs typeface="Arial"/>
              </a:rPr>
              <a:t>de </a:t>
            </a:r>
            <a:r>
              <a:rPr sz="2400" spc="-11" dirty="0">
                <a:latin typeface="Arial"/>
                <a:cs typeface="Arial"/>
              </a:rPr>
              <a:t>uma</a:t>
            </a:r>
            <a:r>
              <a:rPr sz="2400" spc="57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função.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812" y="2686476"/>
            <a:ext cx="2029518" cy="1103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typedef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812" y="3223686"/>
            <a:ext cx="1031468" cy="566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valorA;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valorB;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812" y="3761457"/>
            <a:ext cx="245725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MinhaEstrutura;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8102" y="2184108"/>
            <a:ext cx="3888982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void</a:t>
            </a:r>
            <a:r>
              <a:rPr spc="-34" dirty="0">
                <a:latin typeface="Courier New"/>
                <a:cs typeface="Courier New"/>
              </a:rPr>
              <a:t> </a:t>
            </a:r>
            <a:r>
              <a:rPr b="1" spc="-6" dirty="0">
                <a:latin typeface="Courier New"/>
                <a:cs typeface="Courier New"/>
              </a:rPr>
              <a:t>imprime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05839" y="2721740"/>
            <a:ext cx="3604567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e1.valorA</a:t>
            </a:r>
            <a:r>
              <a:rPr spc="-6" dirty="0"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05839" y="2990415"/>
            <a:ext cx="3604567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e1.valorB</a:t>
            </a:r>
            <a:r>
              <a:rPr spc="-6" dirty="0">
                <a:latin typeface="Courier New"/>
                <a:cs typeface="Courier New"/>
              </a:rPr>
              <a:t>);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e1.valorB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e1.valorA</a:t>
            </a:r>
            <a:r>
              <a:rPr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78101" y="3528045"/>
            <a:ext cx="4460039" cy="3052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spc="-6" dirty="0">
                <a:latin typeface="Courier New"/>
                <a:cs typeface="Courier New"/>
              </a:rPr>
              <a:t>novaEstrutura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spc="-23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 marR="579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dirty="0">
                <a:latin typeface="Courier New"/>
                <a:cs typeface="Courier New"/>
              </a:rPr>
              <a:t>;  </a:t>
            </a:r>
            <a:r>
              <a:rPr spc="-6" dirty="0">
                <a:latin typeface="Courier New"/>
                <a:cs typeface="Courier New"/>
              </a:rPr>
              <a:t>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novaVar.valorA</a:t>
            </a:r>
            <a:r>
              <a:rPr spc="-6" dirty="0">
                <a:latin typeface="Courier New"/>
                <a:cs typeface="Courier New"/>
              </a:rPr>
              <a:t>);  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novaVar.valorB</a:t>
            </a:r>
            <a:r>
              <a:rPr spc="-6" dirty="0">
                <a:latin typeface="Courier New"/>
                <a:cs typeface="Courier New"/>
              </a:rPr>
              <a:t>);  return</a:t>
            </a:r>
            <a:r>
              <a:rPr spc="-68" dirty="0"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spc="-6"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14483">
              <a:lnSpc>
                <a:spcPts val="2190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int</a:t>
            </a:r>
            <a:r>
              <a:rPr spc="-108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main()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/>
            <a:r>
              <a:rPr spc="-6" dirty="0">
                <a:latin typeface="Courier New"/>
                <a:cs typeface="Courier New"/>
              </a:rPr>
              <a:t>MinhaEstrutura</a:t>
            </a:r>
            <a:r>
              <a:rPr spc="-46" dirty="0">
                <a:latin typeface="Courier New"/>
                <a:cs typeface="Courier New"/>
              </a:rPr>
              <a:t> </a:t>
            </a:r>
            <a:r>
              <a:rPr spc="6" dirty="0">
                <a:latin typeface="Courier New"/>
                <a:cs typeface="Courier New"/>
              </a:rPr>
              <a:t>var;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05839" y="6484596"/>
            <a:ext cx="3176088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var </a:t>
            </a:r>
            <a:r>
              <a:rPr dirty="0">
                <a:solidFill>
                  <a:srgbClr val="21218A"/>
                </a:solidFill>
                <a:latin typeface="Courier New"/>
                <a:cs typeface="Courier New"/>
              </a:rPr>
              <a:t>= </a:t>
            </a:r>
            <a:r>
              <a:rPr b="1" spc="-6" dirty="0">
                <a:solidFill>
                  <a:srgbClr val="21218A"/>
                </a:solidFill>
                <a:latin typeface="Courier New"/>
                <a:cs typeface="Courier New"/>
              </a:rPr>
              <a:t>novaEstrutura</a:t>
            </a:r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();  </a:t>
            </a:r>
            <a:r>
              <a:rPr b="1" spc="-6" dirty="0">
                <a:solidFill>
                  <a:srgbClr val="00664D"/>
                </a:solidFill>
                <a:latin typeface="Courier New"/>
                <a:cs typeface="Courier New"/>
              </a:rPr>
              <a:t>imprime</a:t>
            </a:r>
            <a:r>
              <a:rPr spc="-6" dirty="0">
                <a:solidFill>
                  <a:srgbClr val="00664D"/>
                </a:solidFill>
                <a:latin typeface="Courier New"/>
                <a:cs typeface="Courier New"/>
              </a:rPr>
              <a:t>(var);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5359" y="3429251"/>
            <a:ext cx="4238002" cy="2492945"/>
          </a:xfrm>
          <a:custGeom>
            <a:avLst/>
            <a:gdLst/>
            <a:ahLst/>
            <a:cxnLst/>
            <a:rect l="l" t="t" r="r" b="b"/>
            <a:pathLst>
              <a:path w="3623945" h="2262504">
                <a:moveTo>
                  <a:pt x="2439670" y="852677"/>
                </a:moveTo>
                <a:lnTo>
                  <a:pt x="234950" y="852677"/>
                </a:lnTo>
                <a:lnTo>
                  <a:pt x="187600" y="857449"/>
                </a:lnTo>
                <a:lnTo>
                  <a:pt x="143498" y="871136"/>
                </a:lnTo>
                <a:lnTo>
                  <a:pt x="103588" y="892794"/>
                </a:lnTo>
                <a:lnTo>
                  <a:pt x="68816" y="921480"/>
                </a:lnTo>
                <a:lnTo>
                  <a:pt x="40126" y="956249"/>
                </a:lnTo>
                <a:lnTo>
                  <a:pt x="18464" y="996160"/>
                </a:lnTo>
                <a:lnTo>
                  <a:pt x="4773" y="1040267"/>
                </a:lnTo>
                <a:lnTo>
                  <a:pt x="0" y="1087627"/>
                </a:lnTo>
                <a:lnTo>
                  <a:pt x="0" y="2027427"/>
                </a:lnTo>
                <a:lnTo>
                  <a:pt x="4773" y="2074788"/>
                </a:lnTo>
                <a:lnTo>
                  <a:pt x="18464" y="2118895"/>
                </a:lnTo>
                <a:lnTo>
                  <a:pt x="40126" y="2158806"/>
                </a:lnTo>
                <a:lnTo>
                  <a:pt x="68816" y="2193575"/>
                </a:lnTo>
                <a:lnTo>
                  <a:pt x="103588" y="2222261"/>
                </a:lnTo>
                <a:lnTo>
                  <a:pt x="143498" y="2243919"/>
                </a:lnTo>
                <a:lnTo>
                  <a:pt x="187600" y="2257606"/>
                </a:lnTo>
                <a:lnTo>
                  <a:pt x="234950" y="2262378"/>
                </a:lnTo>
                <a:lnTo>
                  <a:pt x="2439670" y="2262378"/>
                </a:lnTo>
                <a:lnTo>
                  <a:pt x="2487030" y="2257606"/>
                </a:lnTo>
                <a:lnTo>
                  <a:pt x="2531137" y="2243919"/>
                </a:lnTo>
                <a:lnTo>
                  <a:pt x="2571048" y="2222261"/>
                </a:lnTo>
                <a:lnTo>
                  <a:pt x="2605817" y="2193575"/>
                </a:lnTo>
                <a:lnTo>
                  <a:pt x="2634503" y="2158806"/>
                </a:lnTo>
                <a:lnTo>
                  <a:pt x="2656161" y="2118895"/>
                </a:lnTo>
                <a:lnTo>
                  <a:pt x="2669848" y="2074788"/>
                </a:lnTo>
                <a:lnTo>
                  <a:pt x="2674620" y="2027427"/>
                </a:lnTo>
                <a:lnTo>
                  <a:pt x="2674620" y="1087627"/>
                </a:lnTo>
                <a:lnTo>
                  <a:pt x="2669848" y="1040267"/>
                </a:lnTo>
                <a:lnTo>
                  <a:pt x="2656161" y="996160"/>
                </a:lnTo>
                <a:lnTo>
                  <a:pt x="2634503" y="956249"/>
                </a:lnTo>
                <a:lnTo>
                  <a:pt x="2605817" y="921480"/>
                </a:lnTo>
                <a:lnTo>
                  <a:pt x="2571048" y="892794"/>
                </a:lnTo>
                <a:lnTo>
                  <a:pt x="2531137" y="871136"/>
                </a:lnTo>
                <a:lnTo>
                  <a:pt x="2487030" y="857449"/>
                </a:lnTo>
                <a:lnTo>
                  <a:pt x="2439670" y="852677"/>
                </a:lnTo>
                <a:close/>
              </a:path>
              <a:path w="3623945" h="2262504">
                <a:moveTo>
                  <a:pt x="3623817" y="0"/>
                </a:moveTo>
                <a:lnTo>
                  <a:pt x="1560195" y="852677"/>
                </a:lnTo>
                <a:lnTo>
                  <a:pt x="2228850" y="852677"/>
                </a:lnTo>
                <a:lnTo>
                  <a:pt x="3623817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65359" y="3429251"/>
            <a:ext cx="4238002" cy="2492945"/>
          </a:xfrm>
          <a:custGeom>
            <a:avLst/>
            <a:gdLst/>
            <a:ahLst/>
            <a:cxnLst/>
            <a:rect l="l" t="t" r="r" b="b"/>
            <a:pathLst>
              <a:path w="3623945" h="2262504">
                <a:moveTo>
                  <a:pt x="0" y="1087627"/>
                </a:moveTo>
                <a:lnTo>
                  <a:pt x="4773" y="1040267"/>
                </a:lnTo>
                <a:lnTo>
                  <a:pt x="18464" y="996160"/>
                </a:lnTo>
                <a:lnTo>
                  <a:pt x="40126" y="956249"/>
                </a:lnTo>
                <a:lnTo>
                  <a:pt x="68816" y="921480"/>
                </a:lnTo>
                <a:lnTo>
                  <a:pt x="103588" y="892794"/>
                </a:lnTo>
                <a:lnTo>
                  <a:pt x="143498" y="871136"/>
                </a:lnTo>
                <a:lnTo>
                  <a:pt x="187600" y="857449"/>
                </a:lnTo>
                <a:lnTo>
                  <a:pt x="234950" y="852677"/>
                </a:lnTo>
                <a:lnTo>
                  <a:pt x="1560195" y="852677"/>
                </a:lnTo>
                <a:lnTo>
                  <a:pt x="3623817" y="0"/>
                </a:lnTo>
                <a:lnTo>
                  <a:pt x="2228850" y="852677"/>
                </a:lnTo>
                <a:lnTo>
                  <a:pt x="2439670" y="852677"/>
                </a:lnTo>
                <a:lnTo>
                  <a:pt x="2487030" y="857449"/>
                </a:lnTo>
                <a:lnTo>
                  <a:pt x="2531137" y="871136"/>
                </a:lnTo>
                <a:lnTo>
                  <a:pt x="2571048" y="892794"/>
                </a:lnTo>
                <a:lnTo>
                  <a:pt x="2605817" y="921480"/>
                </a:lnTo>
                <a:lnTo>
                  <a:pt x="2634503" y="956249"/>
                </a:lnTo>
                <a:lnTo>
                  <a:pt x="2656161" y="996160"/>
                </a:lnTo>
                <a:lnTo>
                  <a:pt x="2669848" y="1040267"/>
                </a:lnTo>
                <a:lnTo>
                  <a:pt x="2674620" y="1087627"/>
                </a:lnTo>
                <a:lnTo>
                  <a:pt x="2674620" y="1440052"/>
                </a:lnTo>
                <a:lnTo>
                  <a:pt x="2674620" y="2027427"/>
                </a:lnTo>
                <a:lnTo>
                  <a:pt x="2669848" y="2074788"/>
                </a:lnTo>
                <a:lnTo>
                  <a:pt x="2656161" y="2118895"/>
                </a:lnTo>
                <a:lnTo>
                  <a:pt x="2634503" y="2158806"/>
                </a:lnTo>
                <a:lnTo>
                  <a:pt x="2605817" y="2193575"/>
                </a:lnTo>
                <a:lnTo>
                  <a:pt x="2571048" y="2222261"/>
                </a:lnTo>
                <a:lnTo>
                  <a:pt x="2531137" y="2243919"/>
                </a:lnTo>
                <a:lnTo>
                  <a:pt x="2487030" y="2257606"/>
                </a:lnTo>
                <a:lnTo>
                  <a:pt x="2439670" y="2262378"/>
                </a:lnTo>
                <a:lnTo>
                  <a:pt x="2228850" y="2262378"/>
                </a:lnTo>
                <a:lnTo>
                  <a:pt x="1560195" y="2262378"/>
                </a:lnTo>
                <a:lnTo>
                  <a:pt x="234950" y="2262378"/>
                </a:lnTo>
                <a:lnTo>
                  <a:pt x="187600" y="2257606"/>
                </a:lnTo>
                <a:lnTo>
                  <a:pt x="143498" y="2243919"/>
                </a:lnTo>
                <a:lnTo>
                  <a:pt x="103588" y="2222261"/>
                </a:lnTo>
                <a:lnTo>
                  <a:pt x="68816" y="2193575"/>
                </a:lnTo>
                <a:lnTo>
                  <a:pt x="40126" y="2158806"/>
                </a:lnTo>
                <a:lnTo>
                  <a:pt x="18464" y="2118895"/>
                </a:lnTo>
                <a:lnTo>
                  <a:pt x="4773" y="2074788"/>
                </a:lnTo>
                <a:lnTo>
                  <a:pt x="0" y="2027427"/>
                </a:lnTo>
                <a:lnTo>
                  <a:pt x="0" y="1440052"/>
                </a:lnTo>
                <a:lnTo>
                  <a:pt x="0" y="1087627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88258" y="4586376"/>
            <a:ext cx="2884990" cy="1104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5693" marR="147003" algn="ctr"/>
            <a:r>
              <a:rPr dirty="0">
                <a:latin typeface="Arial"/>
                <a:cs typeface="Arial"/>
              </a:rPr>
              <a:t>A </a:t>
            </a:r>
            <a:r>
              <a:rPr spc="-6" dirty="0">
                <a:latin typeface="Arial"/>
                <a:cs typeface="Arial"/>
              </a:rPr>
              <a:t>variável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b="1" spc="-71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Arial"/>
                <a:cs typeface="Arial"/>
              </a:rPr>
              <a:t>é </a:t>
            </a:r>
            <a:r>
              <a:rPr spc="-11" dirty="0">
                <a:latin typeface="Arial"/>
                <a:cs typeface="Arial"/>
              </a:rPr>
              <a:t>alterada.  </a:t>
            </a:r>
            <a:r>
              <a:rPr spc="-6" dirty="0">
                <a:latin typeface="Arial"/>
                <a:cs typeface="Arial"/>
              </a:rPr>
              <a:t>Observe </a:t>
            </a:r>
            <a:r>
              <a:rPr spc="-11" dirty="0">
                <a:latin typeface="Arial"/>
                <a:cs typeface="Arial"/>
              </a:rPr>
              <a:t>que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b="1" spc="-57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Arial"/>
                <a:cs typeface="Arial"/>
              </a:rPr>
              <a:t>é uma  cópia </a:t>
            </a:r>
            <a:r>
              <a:rPr spc="-11" dirty="0">
                <a:latin typeface="Arial"/>
                <a:cs typeface="Arial"/>
              </a:rPr>
              <a:t>de</a:t>
            </a:r>
            <a:r>
              <a:rPr spc="-74" dirty="0">
                <a:latin typeface="Arial"/>
                <a:cs typeface="Arial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var</a:t>
            </a:r>
            <a:r>
              <a:rPr spc="-6" dirty="0">
                <a:latin typeface="Arial"/>
                <a:cs typeface="Arial"/>
              </a:rPr>
              <a:t>.</a:t>
            </a:r>
            <a:endParaRPr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pc="-6" dirty="0">
                <a:latin typeface="Arial"/>
                <a:cs typeface="Arial"/>
              </a:rPr>
              <a:t>Assim,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var</a:t>
            </a:r>
            <a:r>
              <a:rPr b="1" spc="-559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11" dirty="0">
                <a:latin typeface="Arial"/>
                <a:cs typeface="Arial"/>
              </a:rPr>
              <a:t>não </a:t>
            </a:r>
            <a:r>
              <a:rPr spc="-6" dirty="0">
                <a:latin typeface="Arial"/>
                <a:cs typeface="Arial"/>
              </a:rPr>
              <a:t>é </a:t>
            </a:r>
            <a:r>
              <a:rPr spc="-11" dirty="0">
                <a:latin typeface="Arial"/>
                <a:cs typeface="Arial"/>
              </a:rPr>
              <a:t>alterada.</a:t>
            </a:r>
            <a:endParaRPr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</a:t>
            </a:r>
            <a:r>
              <a:rPr spc="-6" dirty="0"/>
              <a:t>e</a:t>
            </a:r>
            <a:r>
              <a:rPr spc="-74" dirty="0"/>
              <a:t> </a:t>
            </a:r>
            <a:r>
              <a:rPr dirty="0"/>
              <a:t>funções</a:t>
            </a:r>
          </a:p>
        </p:txBody>
      </p:sp>
      <p:sp>
        <p:nvSpPr>
          <p:cNvPr id="15" name="object 15"/>
          <p:cNvSpPr/>
          <p:nvPr/>
        </p:nvSpPr>
        <p:spPr>
          <a:xfrm>
            <a:off x="6588025" y="6266297"/>
            <a:ext cx="3981064" cy="1161462"/>
          </a:xfrm>
          <a:custGeom>
            <a:avLst/>
            <a:gdLst/>
            <a:ahLst/>
            <a:cxnLst/>
            <a:rect l="l" t="t" r="r" b="b"/>
            <a:pathLst>
              <a:path w="3404234" h="1054100">
                <a:moveTo>
                  <a:pt x="3403854" y="878408"/>
                </a:moveTo>
                <a:lnTo>
                  <a:pt x="1067054" y="878408"/>
                </a:lnTo>
                <a:lnTo>
                  <a:pt x="1073326" y="925112"/>
                </a:lnTo>
                <a:lnTo>
                  <a:pt x="1091028" y="967081"/>
                </a:lnTo>
                <a:lnTo>
                  <a:pt x="1118489" y="1002639"/>
                </a:lnTo>
                <a:lnTo>
                  <a:pt x="1154034" y="1030112"/>
                </a:lnTo>
                <a:lnTo>
                  <a:pt x="1195994" y="1047823"/>
                </a:lnTo>
                <a:lnTo>
                  <a:pt x="1242694" y="1054099"/>
                </a:lnTo>
                <a:lnTo>
                  <a:pt x="3228213" y="1054099"/>
                </a:lnTo>
                <a:lnTo>
                  <a:pt x="3274913" y="1047823"/>
                </a:lnTo>
                <a:lnTo>
                  <a:pt x="3316873" y="1030112"/>
                </a:lnTo>
                <a:lnTo>
                  <a:pt x="3352418" y="1002639"/>
                </a:lnTo>
                <a:lnTo>
                  <a:pt x="3379879" y="967081"/>
                </a:lnTo>
                <a:lnTo>
                  <a:pt x="3397581" y="925112"/>
                </a:lnTo>
                <a:lnTo>
                  <a:pt x="3403854" y="878408"/>
                </a:lnTo>
                <a:close/>
              </a:path>
              <a:path w="3404234" h="1054100">
                <a:moveTo>
                  <a:pt x="0" y="598804"/>
                </a:moveTo>
                <a:lnTo>
                  <a:pt x="1067054" y="878420"/>
                </a:lnTo>
                <a:lnTo>
                  <a:pt x="3403854" y="878408"/>
                </a:lnTo>
                <a:lnTo>
                  <a:pt x="3403854" y="614895"/>
                </a:lnTo>
                <a:lnTo>
                  <a:pt x="1067054" y="614895"/>
                </a:lnTo>
                <a:lnTo>
                  <a:pt x="0" y="598804"/>
                </a:lnTo>
                <a:close/>
              </a:path>
              <a:path w="3404234" h="1054100">
                <a:moveTo>
                  <a:pt x="3228213" y="0"/>
                </a:moveTo>
                <a:lnTo>
                  <a:pt x="1242694" y="0"/>
                </a:lnTo>
                <a:lnTo>
                  <a:pt x="1195994" y="6276"/>
                </a:lnTo>
                <a:lnTo>
                  <a:pt x="1154034" y="23987"/>
                </a:lnTo>
                <a:lnTo>
                  <a:pt x="1118489" y="51460"/>
                </a:lnTo>
                <a:lnTo>
                  <a:pt x="1091028" y="87018"/>
                </a:lnTo>
                <a:lnTo>
                  <a:pt x="1073326" y="128987"/>
                </a:lnTo>
                <a:lnTo>
                  <a:pt x="1067054" y="175691"/>
                </a:lnTo>
                <a:lnTo>
                  <a:pt x="1067054" y="614895"/>
                </a:lnTo>
                <a:lnTo>
                  <a:pt x="3403854" y="614895"/>
                </a:lnTo>
                <a:lnTo>
                  <a:pt x="3403854" y="175691"/>
                </a:lnTo>
                <a:lnTo>
                  <a:pt x="3397581" y="128987"/>
                </a:lnTo>
                <a:lnTo>
                  <a:pt x="3379879" y="87018"/>
                </a:lnTo>
                <a:lnTo>
                  <a:pt x="3352418" y="51460"/>
                </a:lnTo>
                <a:lnTo>
                  <a:pt x="3316873" y="23987"/>
                </a:lnTo>
                <a:lnTo>
                  <a:pt x="3274913" y="6276"/>
                </a:lnTo>
                <a:lnTo>
                  <a:pt x="3228213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588025" y="6266297"/>
            <a:ext cx="3981064" cy="1161462"/>
          </a:xfrm>
          <a:custGeom>
            <a:avLst/>
            <a:gdLst/>
            <a:ahLst/>
            <a:cxnLst/>
            <a:rect l="l" t="t" r="r" b="b"/>
            <a:pathLst>
              <a:path w="3404234" h="1054100">
                <a:moveTo>
                  <a:pt x="1067054" y="175691"/>
                </a:moveTo>
                <a:lnTo>
                  <a:pt x="1073326" y="128987"/>
                </a:lnTo>
                <a:lnTo>
                  <a:pt x="1091028" y="87018"/>
                </a:lnTo>
                <a:lnTo>
                  <a:pt x="1118489" y="51460"/>
                </a:lnTo>
                <a:lnTo>
                  <a:pt x="1154034" y="23987"/>
                </a:lnTo>
                <a:lnTo>
                  <a:pt x="1195994" y="6276"/>
                </a:lnTo>
                <a:lnTo>
                  <a:pt x="1242694" y="0"/>
                </a:lnTo>
                <a:lnTo>
                  <a:pt x="1456563" y="0"/>
                </a:lnTo>
                <a:lnTo>
                  <a:pt x="2040763" y="0"/>
                </a:lnTo>
                <a:lnTo>
                  <a:pt x="3228213" y="0"/>
                </a:lnTo>
                <a:lnTo>
                  <a:pt x="3274913" y="6276"/>
                </a:lnTo>
                <a:lnTo>
                  <a:pt x="3316873" y="23987"/>
                </a:lnTo>
                <a:lnTo>
                  <a:pt x="3352418" y="51460"/>
                </a:lnTo>
                <a:lnTo>
                  <a:pt x="3379879" y="87018"/>
                </a:lnTo>
                <a:lnTo>
                  <a:pt x="3397581" y="128987"/>
                </a:lnTo>
                <a:lnTo>
                  <a:pt x="3403854" y="175691"/>
                </a:lnTo>
                <a:lnTo>
                  <a:pt x="3403854" y="614895"/>
                </a:lnTo>
                <a:lnTo>
                  <a:pt x="3403854" y="878420"/>
                </a:lnTo>
                <a:lnTo>
                  <a:pt x="3397581" y="925112"/>
                </a:lnTo>
                <a:lnTo>
                  <a:pt x="3379879" y="967081"/>
                </a:lnTo>
                <a:lnTo>
                  <a:pt x="3352418" y="1002639"/>
                </a:lnTo>
                <a:lnTo>
                  <a:pt x="3316873" y="1030112"/>
                </a:lnTo>
                <a:lnTo>
                  <a:pt x="3274913" y="1047823"/>
                </a:lnTo>
                <a:lnTo>
                  <a:pt x="3228213" y="1054099"/>
                </a:lnTo>
                <a:lnTo>
                  <a:pt x="2040763" y="1054099"/>
                </a:lnTo>
                <a:lnTo>
                  <a:pt x="1456563" y="1054099"/>
                </a:lnTo>
                <a:lnTo>
                  <a:pt x="1242694" y="1054099"/>
                </a:lnTo>
                <a:lnTo>
                  <a:pt x="1195994" y="1047823"/>
                </a:lnTo>
                <a:lnTo>
                  <a:pt x="1154034" y="1030112"/>
                </a:lnTo>
                <a:lnTo>
                  <a:pt x="1118489" y="1002639"/>
                </a:lnTo>
                <a:lnTo>
                  <a:pt x="1091028" y="967081"/>
                </a:lnTo>
                <a:lnTo>
                  <a:pt x="1073326" y="925112"/>
                </a:lnTo>
                <a:lnTo>
                  <a:pt x="1067054" y="878408"/>
                </a:lnTo>
                <a:lnTo>
                  <a:pt x="0" y="598804"/>
                </a:lnTo>
                <a:lnTo>
                  <a:pt x="1067054" y="614895"/>
                </a:lnTo>
                <a:lnTo>
                  <a:pt x="1067054" y="175691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425954" y="6425124"/>
            <a:ext cx="155425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Arial"/>
                <a:cs typeface="Arial"/>
              </a:rPr>
              <a:t>A </a:t>
            </a:r>
            <a:r>
              <a:rPr spc="-6" dirty="0">
                <a:latin typeface="Arial"/>
                <a:cs typeface="Arial"/>
              </a:rPr>
              <a:t>variável</a:t>
            </a:r>
            <a:r>
              <a:rPr spc="-194" dirty="0">
                <a:latin typeface="Arial"/>
                <a:cs typeface="Arial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var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62583" y="6710942"/>
            <a:ext cx="1878028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11" dirty="0">
                <a:latin typeface="Arial"/>
                <a:cs typeface="Arial"/>
              </a:rPr>
              <a:t>não </a:t>
            </a:r>
            <a:r>
              <a:rPr spc="-6" dirty="0">
                <a:latin typeface="Arial"/>
                <a:cs typeface="Arial"/>
              </a:rPr>
              <a:t>é </a:t>
            </a:r>
            <a:r>
              <a:rPr spc="-11" dirty="0">
                <a:latin typeface="Arial"/>
                <a:cs typeface="Arial"/>
              </a:rPr>
              <a:t>alterada</a:t>
            </a:r>
            <a:r>
              <a:rPr spc="23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na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931531" y="2350911"/>
            <a:ext cx="2572357" cy="794832"/>
          </a:xfrm>
          <a:custGeom>
            <a:avLst/>
            <a:gdLst/>
            <a:ahLst/>
            <a:cxnLst/>
            <a:rect l="l" t="t" r="r" b="b"/>
            <a:pathLst>
              <a:path w="2199640" h="721360">
                <a:moveTo>
                  <a:pt x="2078863" y="0"/>
                </a:moveTo>
                <a:lnTo>
                  <a:pt x="648081" y="0"/>
                </a:lnTo>
                <a:lnTo>
                  <a:pt x="601267" y="9451"/>
                </a:lnTo>
                <a:lnTo>
                  <a:pt x="563038" y="35226"/>
                </a:lnTo>
                <a:lnTo>
                  <a:pt x="537263" y="73455"/>
                </a:lnTo>
                <a:lnTo>
                  <a:pt x="527812" y="120269"/>
                </a:lnTo>
                <a:lnTo>
                  <a:pt x="0" y="121158"/>
                </a:lnTo>
                <a:lnTo>
                  <a:pt x="527812" y="300609"/>
                </a:lnTo>
                <a:lnTo>
                  <a:pt x="527812" y="601090"/>
                </a:lnTo>
                <a:lnTo>
                  <a:pt x="537263" y="647904"/>
                </a:lnTo>
                <a:lnTo>
                  <a:pt x="563038" y="686133"/>
                </a:lnTo>
                <a:lnTo>
                  <a:pt x="601267" y="711908"/>
                </a:lnTo>
                <a:lnTo>
                  <a:pt x="648081" y="721360"/>
                </a:lnTo>
                <a:lnTo>
                  <a:pt x="2078863" y="721360"/>
                </a:lnTo>
                <a:lnTo>
                  <a:pt x="2125676" y="711908"/>
                </a:lnTo>
                <a:lnTo>
                  <a:pt x="2163905" y="686133"/>
                </a:lnTo>
                <a:lnTo>
                  <a:pt x="2189680" y="647904"/>
                </a:lnTo>
                <a:lnTo>
                  <a:pt x="2199132" y="601090"/>
                </a:lnTo>
                <a:lnTo>
                  <a:pt x="2199132" y="120269"/>
                </a:lnTo>
                <a:lnTo>
                  <a:pt x="2189680" y="73455"/>
                </a:lnTo>
                <a:lnTo>
                  <a:pt x="2163905" y="35226"/>
                </a:lnTo>
                <a:lnTo>
                  <a:pt x="2125676" y="9451"/>
                </a:lnTo>
                <a:lnTo>
                  <a:pt x="2078863" y="0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931531" y="2350911"/>
            <a:ext cx="2572357" cy="794832"/>
          </a:xfrm>
          <a:custGeom>
            <a:avLst/>
            <a:gdLst/>
            <a:ahLst/>
            <a:cxnLst/>
            <a:rect l="l" t="t" r="r" b="b"/>
            <a:pathLst>
              <a:path w="2199640" h="721360">
                <a:moveTo>
                  <a:pt x="527812" y="120269"/>
                </a:moveTo>
                <a:lnTo>
                  <a:pt x="537263" y="73455"/>
                </a:lnTo>
                <a:lnTo>
                  <a:pt x="563038" y="35226"/>
                </a:lnTo>
                <a:lnTo>
                  <a:pt x="601267" y="9451"/>
                </a:lnTo>
                <a:lnTo>
                  <a:pt x="648081" y="0"/>
                </a:lnTo>
                <a:lnTo>
                  <a:pt x="806323" y="0"/>
                </a:lnTo>
                <a:lnTo>
                  <a:pt x="1224152" y="0"/>
                </a:lnTo>
                <a:lnTo>
                  <a:pt x="2078863" y="0"/>
                </a:lnTo>
                <a:lnTo>
                  <a:pt x="2125676" y="9451"/>
                </a:lnTo>
                <a:lnTo>
                  <a:pt x="2163905" y="35226"/>
                </a:lnTo>
                <a:lnTo>
                  <a:pt x="2189680" y="73455"/>
                </a:lnTo>
                <a:lnTo>
                  <a:pt x="2199132" y="120269"/>
                </a:lnTo>
                <a:lnTo>
                  <a:pt x="2199132" y="300609"/>
                </a:lnTo>
                <a:lnTo>
                  <a:pt x="2199132" y="601090"/>
                </a:lnTo>
                <a:lnTo>
                  <a:pt x="2189680" y="647904"/>
                </a:lnTo>
                <a:lnTo>
                  <a:pt x="2163905" y="686133"/>
                </a:lnTo>
                <a:lnTo>
                  <a:pt x="2125676" y="711908"/>
                </a:lnTo>
                <a:lnTo>
                  <a:pt x="2078863" y="721360"/>
                </a:lnTo>
                <a:lnTo>
                  <a:pt x="1224152" y="721360"/>
                </a:lnTo>
                <a:lnTo>
                  <a:pt x="806323" y="721360"/>
                </a:lnTo>
                <a:lnTo>
                  <a:pt x="648081" y="721360"/>
                </a:lnTo>
                <a:lnTo>
                  <a:pt x="601267" y="711908"/>
                </a:lnTo>
                <a:lnTo>
                  <a:pt x="563038" y="686133"/>
                </a:lnTo>
                <a:lnTo>
                  <a:pt x="537263" y="647904"/>
                </a:lnTo>
                <a:lnTo>
                  <a:pt x="527812" y="601090"/>
                </a:lnTo>
                <a:lnTo>
                  <a:pt x="527812" y="300609"/>
                </a:lnTo>
                <a:lnTo>
                  <a:pt x="0" y="121158"/>
                </a:lnTo>
                <a:lnTo>
                  <a:pt x="527812" y="12026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80404" y="2184108"/>
            <a:ext cx="2157988" cy="8403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spc="-6"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375836" marR="5793" indent="-34759">
              <a:spcBef>
                <a:spcPts val="40"/>
              </a:spcBef>
            </a:pPr>
            <a:r>
              <a:rPr dirty="0">
                <a:latin typeface="Arial"/>
                <a:cs typeface="Arial"/>
              </a:rPr>
              <a:t>O </a:t>
            </a:r>
            <a:r>
              <a:rPr spc="-6" dirty="0">
                <a:latin typeface="Arial"/>
                <a:cs typeface="Arial"/>
              </a:rPr>
              <a:t>valor </a:t>
            </a:r>
            <a:r>
              <a:rPr spc="-11" dirty="0">
                <a:latin typeface="Arial"/>
                <a:cs typeface="Arial"/>
              </a:rPr>
              <a:t>de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var</a:t>
            </a:r>
            <a:r>
              <a:rPr b="1" spc="-61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Arial"/>
                <a:cs typeface="Arial"/>
              </a:rPr>
              <a:t>é  </a:t>
            </a:r>
            <a:r>
              <a:rPr u="sng" spc="-11" dirty="0">
                <a:latin typeface="Arial"/>
                <a:cs typeface="Arial"/>
              </a:rPr>
              <a:t>copiado </a:t>
            </a:r>
            <a:r>
              <a:rPr spc="-6" dirty="0">
                <a:latin typeface="Arial"/>
                <a:cs typeface="Arial"/>
              </a:rPr>
              <a:t>para</a:t>
            </a:r>
            <a:r>
              <a:rPr spc="-34" dirty="0">
                <a:latin typeface="Arial"/>
                <a:cs typeface="Arial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98078" y="6991301"/>
            <a:ext cx="1809709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955"/>
              </a:lnSpc>
            </a:pPr>
            <a:r>
              <a:rPr spc="-6" dirty="0">
                <a:latin typeface="Arial"/>
                <a:cs typeface="Arial"/>
              </a:rPr>
              <a:t>função</a:t>
            </a:r>
            <a:r>
              <a:rPr spc="-80" dirty="0">
                <a:latin typeface="Arial"/>
                <a:cs typeface="Arial"/>
              </a:rPr>
              <a:t> </a:t>
            </a:r>
            <a:r>
              <a:rPr b="1" spc="-6" dirty="0">
                <a:solidFill>
                  <a:srgbClr val="00664D"/>
                </a:solidFill>
                <a:latin typeface="Courier New"/>
                <a:cs typeface="Courier New"/>
              </a:rPr>
              <a:t>imprime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05839" y="7067049"/>
            <a:ext cx="131959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25"/>
              </a:lnSpc>
            </a:pPr>
            <a:r>
              <a:rPr spc="-6" dirty="0">
                <a:latin typeface="Courier New"/>
                <a:cs typeface="Courier New"/>
              </a:rPr>
              <a:t>return</a:t>
            </a:r>
            <a:r>
              <a:rPr spc="-97" dirty="0">
                <a:latin typeface="Courier New"/>
                <a:cs typeface="Courier New"/>
              </a:rPr>
              <a:t> </a:t>
            </a:r>
            <a:r>
              <a:rPr spc="17" dirty="0">
                <a:latin typeface="Courier New"/>
                <a:cs typeface="Courier New"/>
              </a:rPr>
              <a:t>0;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82</a:t>
            </a:fld>
            <a:endParaRPr dirty="0"/>
          </a:p>
        </p:txBody>
      </p:sp>
      <p:sp>
        <p:nvSpPr>
          <p:cNvPr id="25" name="object 25"/>
          <p:cNvSpPr txBox="1"/>
          <p:nvPr/>
        </p:nvSpPr>
        <p:spPr>
          <a:xfrm>
            <a:off x="4278102" y="7336330"/>
            <a:ext cx="17302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19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231045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440" y="1105488"/>
            <a:ext cx="10420867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9047"/>
              <a:buChar char="•"/>
              <a:tabLst>
                <a:tab pos="404802" algn="l"/>
                <a:tab pos="405526" algn="l"/>
              </a:tabLst>
            </a:pPr>
            <a:r>
              <a:rPr sz="2400" spc="-6" dirty="0">
                <a:latin typeface="Arial"/>
                <a:cs typeface="Arial"/>
              </a:rPr>
              <a:t>Como </a:t>
            </a:r>
            <a:r>
              <a:rPr sz="2400" spc="-11" dirty="0">
                <a:latin typeface="Arial"/>
                <a:cs typeface="Arial"/>
              </a:rPr>
              <a:t>qualquer </a:t>
            </a:r>
            <a:r>
              <a:rPr sz="2400" spc="-6" dirty="0">
                <a:latin typeface="Arial"/>
                <a:cs typeface="Arial"/>
              </a:rPr>
              <a:t>outra variável, </a:t>
            </a:r>
            <a:r>
              <a:rPr sz="2400" spc="-11" dirty="0">
                <a:latin typeface="Arial"/>
                <a:cs typeface="Arial"/>
              </a:rPr>
              <a:t>uma </a:t>
            </a:r>
            <a:r>
              <a:rPr sz="2400" spc="-6" dirty="0">
                <a:latin typeface="Arial"/>
                <a:cs typeface="Arial"/>
              </a:rPr>
              <a:t>variável </a:t>
            </a:r>
            <a:r>
              <a:rPr sz="2400" spc="-11" dirty="0">
                <a:latin typeface="Arial"/>
                <a:cs typeface="Arial"/>
              </a:rPr>
              <a:t>do tipo </a:t>
            </a:r>
            <a:r>
              <a:rPr sz="2400" spc="-6" dirty="0">
                <a:latin typeface="Arial"/>
                <a:cs typeface="Arial"/>
              </a:rPr>
              <a:t>estrutura </a:t>
            </a:r>
            <a:r>
              <a:rPr sz="2400" spc="-11" dirty="0">
                <a:latin typeface="Arial"/>
                <a:cs typeface="Arial"/>
              </a:rPr>
              <a:t>pode</a:t>
            </a:r>
            <a:r>
              <a:rPr sz="2400" spc="114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ser</a:t>
            </a:r>
            <a:endParaRPr sz="2400">
              <a:latin typeface="Arial"/>
              <a:cs typeface="Arial"/>
            </a:endParaRPr>
          </a:p>
          <a:p>
            <a:pPr marL="405526"/>
            <a:r>
              <a:rPr sz="2400" spc="-6" dirty="0">
                <a:latin typeface="Arial"/>
                <a:cs typeface="Arial"/>
              </a:rPr>
              <a:t>usada como </a:t>
            </a:r>
            <a:r>
              <a:rPr sz="2400" b="1" spc="-6" dirty="0">
                <a:latin typeface="Arial"/>
                <a:cs typeface="Arial"/>
              </a:rPr>
              <a:t>parâmetro </a:t>
            </a:r>
            <a:r>
              <a:rPr sz="2400" spc="-6" dirty="0">
                <a:latin typeface="Arial"/>
                <a:cs typeface="Arial"/>
              </a:rPr>
              <a:t>ou </a:t>
            </a:r>
            <a:r>
              <a:rPr sz="2400" spc="-11" dirty="0">
                <a:latin typeface="Arial"/>
                <a:cs typeface="Arial"/>
              </a:rPr>
              <a:t>pode </a:t>
            </a:r>
            <a:r>
              <a:rPr sz="2400" dirty="0">
                <a:latin typeface="Arial"/>
                <a:cs typeface="Arial"/>
              </a:rPr>
              <a:t>ser o </a:t>
            </a:r>
            <a:r>
              <a:rPr sz="2400" b="1" spc="-6" dirty="0">
                <a:latin typeface="Arial"/>
                <a:cs typeface="Arial"/>
              </a:rPr>
              <a:t>valor </a:t>
            </a:r>
            <a:r>
              <a:rPr sz="2400" b="1" dirty="0">
                <a:latin typeface="Arial"/>
                <a:cs typeface="Arial"/>
              </a:rPr>
              <a:t>de </a:t>
            </a:r>
            <a:r>
              <a:rPr sz="2400" b="1" spc="-6" dirty="0">
                <a:latin typeface="Arial"/>
                <a:cs typeface="Arial"/>
              </a:rPr>
              <a:t>retorno </a:t>
            </a:r>
            <a:r>
              <a:rPr sz="2400" spc="-6" dirty="0">
                <a:latin typeface="Arial"/>
                <a:cs typeface="Arial"/>
              </a:rPr>
              <a:t>de </a:t>
            </a:r>
            <a:r>
              <a:rPr sz="2400" spc="-11" dirty="0">
                <a:latin typeface="Arial"/>
                <a:cs typeface="Arial"/>
              </a:rPr>
              <a:t>uma</a:t>
            </a:r>
            <a:r>
              <a:rPr sz="2400" spc="57" dirty="0">
                <a:latin typeface="Arial"/>
                <a:cs typeface="Arial"/>
              </a:rPr>
              <a:t> </a:t>
            </a:r>
            <a:r>
              <a:rPr sz="2400" spc="-6" dirty="0">
                <a:latin typeface="Arial"/>
                <a:cs typeface="Arial"/>
              </a:rPr>
              <a:t>função.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812" y="2686476"/>
            <a:ext cx="2029518" cy="1103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typedef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>
              <a:latin typeface="Courier New"/>
              <a:cs typeface="Courier New"/>
            </a:endParaRPr>
          </a:p>
          <a:p>
            <a:pPr marL="570633"/>
            <a:r>
              <a:rPr spc="-6" dirty="0">
                <a:latin typeface="Courier New"/>
                <a:cs typeface="Courier New"/>
              </a:rPr>
              <a:t>int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812" y="3223686"/>
            <a:ext cx="1031468" cy="566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valorA;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valorB;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812" y="3761457"/>
            <a:ext cx="245725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MinhaEstrutura;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8102" y="2184108"/>
            <a:ext cx="5107198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void</a:t>
            </a:r>
            <a:r>
              <a:rPr spc="-34" dirty="0">
                <a:latin typeface="Courier New"/>
                <a:cs typeface="Courier New"/>
              </a:rPr>
              <a:t> </a:t>
            </a:r>
            <a:r>
              <a:rPr b="1" spc="-6" dirty="0" err="1" smtClean="0">
                <a:latin typeface="Courier New"/>
                <a:cs typeface="Courier New"/>
              </a:rPr>
              <a:t>imprime</a:t>
            </a:r>
            <a:r>
              <a:rPr spc="-6" dirty="0" smtClean="0">
                <a:latin typeface="Courier New"/>
                <a:cs typeface="Courier New"/>
              </a:rPr>
              <a:t>(</a:t>
            </a:r>
            <a:r>
              <a:rPr b="1" spc="-6" dirty="0" err="1" smtClean="0">
                <a:solidFill>
                  <a:srgbClr val="FF0000"/>
                </a:solidFill>
                <a:latin typeface="Courier New"/>
                <a:cs typeface="Courier New"/>
              </a:rPr>
              <a:t>MinhaEstrutura</a:t>
            </a:r>
            <a:r>
              <a:rPr lang="pt-BR"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lang="pt-BR" b="1" spc="-6" dirty="0" smtClean="0">
                <a:latin typeface="Courier New"/>
                <a:cs typeface="Courier New"/>
              </a:rPr>
              <a:t>*</a:t>
            </a:r>
            <a:r>
              <a:rPr lang="pt-BR"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lang="pt-BR" b="1" spc="-6" dirty="0" smtClean="0">
                <a:latin typeface="Courier New"/>
                <a:cs typeface="Courier New"/>
              </a:rPr>
              <a:t>)</a:t>
            </a:r>
            <a:endParaRPr dirty="0"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705839" y="2721740"/>
            <a:ext cx="3604567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lang="pt-BR" b="1" spc="-6" dirty="0" smtClean="0">
                <a:latin typeface="Courier New"/>
                <a:cs typeface="Courier New"/>
              </a:rPr>
              <a:t>-&gt;</a:t>
            </a:r>
            <a:r>
              <a:rPr b="1" spc="-6" dirty="0" err="1" smtClean="0">
                <a:solidFill>
                  <a:srgbClr val="FF0000"/>
                </a:solidFill>
                <a:latin typeface="Courier New"/>
                <a:cs typeface="Courier New"/>
              </a:rPr>
              <a:t>valorA</a:t>
            </a:r>
            <a:r>
              <a:rPr spc="-6" dirty="0">
                <a:latin typeface="Courier New"/>
                <a:cs typeface="Courier New"/>
              </a:rPr>
              <a:t>);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05839" y="2990415"/>
            <a:ext cx="3604567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Courier New"/>
                <a:cs typeface="Courier New"/>
              </a:rPr>
              <a:t>printf("\n%d",</a:t>
            </a:r>
            <a:r>
              <a:rPr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lang="pt-BR" b="1" spc="-6" dirty="0" smtClean="0">
                <a:latin typeface="Courier New"/>
                <a:cs typeface="Courier New"/>
              </a:rPr>
              <a:t>-&gt;</a:t>
            </a:r>
            <a:r>
              <a:rPr b="1" spc="-6" dirty="0" err="1" smtClean="0">
                <a:solidFill>
                  <a:srgbClr val="FF0000"/>
                </a:solidFill>
                <a:latin typeface="Courier New"/>
                <a:cs typeface="Courier New"/>
              </a:rPr>
              <a:t>valorB</a:t>
            </a:r>
            <a:r>
              <a:rPr spc="-6" dirty="0">
                <a:latin typeface="Courier New"/>
                <a:cs typeface="Courier New"/>
              </a:rPr>
              <a:t>);</a:t>
            </a:r>
            <a:endParaRPr dirty="0">
              <a:latin typeface="Courier New"/>
              <a:cs typeface="Courier New"/>
            </a:endParaRPr>
          </a:p>
          <a:p>
            <a:pPr marL="14483"/>
            <a:r>
              <a:rPr lang="pt-BR"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e</a:t>
            </a:r>
            <a:r>
              <a:rPr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1</a:t>
            </a:r>
            <a:r>
              <a:rPr lang="pt-BR" b="1" spc="-6" dirty="0" smtClean="0">
                <a:latin typeface="Courier New"/>
                <a:cs typeface="Courier New"/>
              </a:rPr>
              <a:t>-&gt;</a:t>
            </a:r>
            <a:r>
              <a:rPr b="1" spc="-6" dirty="0" err="1" smtClean="0">
                <a:solidFill>
                  <a:srgbClr val="FF0000"/>
                </a:solidFill>
                <a:latin typeface="Courier New"/>
                <a:cs typeface="Courier New"/>
              </a:rPr>
              <a:t>valorB</a:t>
            </a:r>
            <a:r>
              <a:rPr b="1" spc="-6" dirty="0" smtClean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=</a:t>
            </a:r>
            <a:r>
              <a:rPr spc="-86" dirty="0">
                <a:latin typeface="Courier New"/>
                <a:cs typeface="Courier New"/>
              </a:rPr>
              <a:t> </a:t>
            </a:r>
            <a:r>
              <a:rPr b="1" dirty="0" smtClean="0">
                <a:solidFill>
                  <a:srgbClr val="FF0000"/>
                </a:solidFill>
                <a:latin typeface="Courier New"/>
                <a:cs typeface="Courier New"/>
              </a:rPr>
              <a:t>e1</a:t>
            </a:r>
            <a:r>
              <a:rPr lang="pt-BR" b="1" dirty="0" smtClean="0">
                <a:latin typeface="Courier New"/>
                <a:cs typeface="Courier New"/>
              </a:rPr>
              <a:t>-&gt;</a:t>
            </a:r>
            <a:r>
              <a:rPr b="1" dirty="0" err="1" smtClean="0">
                <a:solidFill>
                  <a:srgbClr val="FF0000"/>
                </a:solidFill>
                <a:latin typeface="Courier New"/>
                <a:cs typeface="Courier New"/>
              </a:rPr>
              <a:t>valorA</a:t>
            </a:r>
            <a:r>
              <a:rPr dirty="0">
                <a:latin typeface="Courier New"/>
                <a:cs typeface="Courier New"/>
              </a:rPr>
              <a:t>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278101" y="3528045"/>
            <a:ext cx="4460039" cy="3052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spc="-6" dirty="0">
                <a:latin typeface="Courier New"/>
                <a:cs typeface="Courier New"/>
              </a:rPr>
              <a:t>novaEstrutura</a:t>
            </a:r>
            <a:r>
              <a:rPr spc="-6" dirty="0">
                <a:latin typeface="Courier New"/>
                <a:cs typeface="Courier New"/>
              </a:rPr>
              <a:t>(</a:t>
            </a:r>
            <a:r>
              <a:rPr spc="-23" dirty="0">
                <a:latin typeface="Courier New"/>
                <a:cs typeface="Courier New"/>
              </a:rPr>
              <a:t> </a:t>
            </a:r>
            <a:r>
              <a:rPr dirty="0">
                <a:latin typeface="Courier New"/>
                <a:cs typeface="Courier New"/>
              </a:rPr>
              <a:t>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 marR="5793"/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MinhaEstrutura </a:t>
            </a:r>
            <a:r>
              <a:rPr b="1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dirty="0">
                <a:latin typeface="Courier New"/>
                <a:cs typeface="Courier New"/>
              </a:rPr>
              <a:t>;  </a:t>
            </a:r>
            <a:r>
              <a:rPr spc="-6" dirty="0">
                <a:latin typeface="Courier New"/>
                <a:cs typeface="Courier New"/>
              </a:rPr>
              <a:t>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novaVar.valorA</a:t>
            </a:r>
            <a:r>
              <a:rPr spc="-6" dirty="0">
                <a:latin typeface="Courier New"/>
                <a:cs typeface="Courier New"/>
              </a:rPr>
              <a:t>);  scanf("%d",&amp;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novaVar.valorB</a:t>
            </a:r>
            <a:r>
              <a:rPr spc="-6" dirty="0">
                <a:latin typeface="Courier New"/>
                <a:cs typeface="Courier New"/>
              </a:rPr>
              <a:t>);  return</a:t>
            </a:r>
            <a:r>
              <a:rPr spc="-68" dirty="0"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FF0000"/>
                </a:solidFill>
                <a:latin typeface="Courier New"/>
                <a:cs typeface="Courier New"/>
              </a:rPr>
              <a:t>novaVar</a:t>
            </a:r>
            <a:r>
              <a:rPr spc="-6" dirty="0"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14483">
              <a:lnSpc>
                <a:spcPts val="2190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spc="-6" dirty="0">
                <a:latin typeface="Courier New"/>
                <a:cs typeface="Courier New"/>
              </a:rPr>
              <a:t>int</a:t>
            </a:r>
            <a:r>
              <a:rPr spc="-108" dirty="0"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main()</a:t>
            </a:r>
            <a:endParaRPr>
              <a:latin typeface="Courier New"/>
              <a:cs typeface="Courier New"/>
            </a:endParaRPr>
          </a:p>
          <a:p>
            <a:pPr marL="14483"/>
            <a:r>
              <a:rPr dirty="0"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431596"/>
            <a:r>
              <a:rPr spc="-6" dirty="0">
                <a:latin typeface="Courier New"/>
                <a:cs typeface="Courier New"/>
              </a:rPr>
              <a:t>MinhaEstrutura</a:t>
            </a:r>
            <a:r>
              <a:rPr spc="-46" dirty="0">
                <a:latin typeface="Courier New"/>
                <a:cs typeface="Courier New"/>
              </a:rPr>
              <a:t> </a:t>
            </a:r>
            <a:r>
              <a:rPr spc="6" dirty="0">
                <a:latin typeface="Courier New"/>
                <a:cs typeface="Courier New"/>
              </a:rPr>
              <a:t>var;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05839" y="6484596"/>
            <a:ext cx="3176088" cy="566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/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var </a:t>
            </a:r>
            <a:r>
              <a:rPr dirty="0">
                <a:solidFill>
                  <a:srgbClr val="21218A"/>
                </a:solidFill>
                <a:latin typeface="Courier New"/>
                <a:cs typeface="Courier New"/>
              </a:rPr>
              <a:t>= </a:t>
            </a:r>
            <a:r>
              <a:rPr b="1" spc="-6" dirty="0">
                <a:solidFill>
                  <a:srgbClr val="21218A"/>
                </a:solidFill>
                <a:latin typeface="Courier New"/>
                <a:cs typeface="Courier New"/>
              </a:rPr>
              <a:t>novaEstrutura</a:t>
            </a:r>
            <a:r>
              <a:rPr spc="-6" dirty="0">
                <a:solidFill>
                  <a:srgbClr val="21218A"/>
                </a:solidFill>
                <a:latin typeface="Courier New"/>
                <a:cs typeface="Courier New"/>
              </a:rPr>
              <a:t>();  </a:t>
            </a:r>
            <a:r>
              <a:rPr b="1" spc="-6" dirty="0" err="1">
                <a:solidFill>
                  <a:srgbClr val="00664D"/>
                </a:solidFill>
                <a:latin typeface="Courier New"/>
                <a:cs typeface="Courier New"/>
              </a:rPr>
              <a:t>imprime</a:t>
            </a:r>
            <a:r>
              <a:rPr spc="-6" dirty="0" smtClean="0">
                <a:solidFill>
                  <a:srgbClr val="00664D"/>
                </a:solidFill>
                <a:latin typeface="Courier New"/>
                <a:cs typeface="Courier New"/>
              </a:rPr>
              <a:t>(</a:t>
            </a:r>
            <a:r>
              <a:rPr lang="pt-BR" spc="-6" dirty="0" smtClean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pc="-6" dirty="0" err="1" smtClean="0">
                <a:solidFill>
                  <a:srgbClr val="00664D"/>
                </a:solidFill>
                <a:latin typeface="Courier New"/>
                <a:cs typeface="Courier New"/>
              </a:rPr>
              <a:t>var</a:t>
            </a:r>
            <a:r>
              <a:rPr spc="-6" dirty="0">
                <a:solidFill>
                  <a:srgbClr val="00664D"/>
                </a:solidFill>
                <a:latin typeface="Courier New"/>
                <a:cs typeface="Courier New"/>
              </a:rPr>
              <a:t>);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Estruturas </a:t>
            </a:r>
            <a:r>
              <a:rPr spc="-6" dirty="0"/>
              <a:t>e</a:t>
            </a:r>
            <a:r>
              <a:rPr spc="-74" dirty="0"/>
              <a:t> </a:t>
            </a:r>
            <a:r>
              <a:rPr dirty="0"/>
              <a:t>funções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705839" y="7067049"/>
            <a:ext cx="131959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25"/>
              </a:lnSpc>
            </a:pPr>
            <a:r>
              <a:rPr spc="-6" dirty="0">
                <a:latin typeface="Courier New"/>
                <a:cs typeface="Courier New"/>
              </a:rPr>
              <a:t>return</a:t>
            </a:r>
            <a:r>
              <a:rPr spc="-97" dirty="0">
                <a:latin typeface="Courier New"/>
                <a:cs typeface="Courier New"/>
              </a:rPr>
              <a:t> </a:t>
            </a:r>
            <a:r>
              <a:rPr spc="17" dirty="0">
                <a:latin typeface="Courier New"/>
                <a:cs typeface="Courier New"/>
              </a:rPr>
              <a:t>0;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83</a:t>
            </a:fld>
            <a:endParaRPr dirty="0"/>
          </a:p>
        </p:txBody>
      </p:sp>
      <p:sp>
        <p:nvSpPr>
          <p:cNvPr id="25" name="object 25"/>
          <p:cNvSpPr txBox="1"/>
          <p:nvPr/>
        </p:nvSpPr>
        <p:spPr>
          <a:xfrm>
            <a:off x="4278102" y="7336330"/>
            <a:ext cx="173025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1819"/>
              </a:lnSpc>
            </a:pPr>
            <a:r>
              <a:rPr dirty="0">
                <a:latin typeface="Courier New"/>
                <a:cs typeface="Courier New"/>
              </a:rPr>
              <a:t>}</a:t>
            </a:r>
            <a:endParaRPr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177979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923" y="1835950"/>
            <a:ext cx="9433213" cy="41293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Pode-se criar vetores de estruturas como se</a:t>
            </a:r>
            <a:r>
              <a:rPr sz="3000" spc="171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criam</a:t>
            </a:r>
            <a:endParaRPr sz="3000">
              <a:latin typeface="Arial"/>
              <a:cs typeface="Arial"/>
            </a:endParaRPr>
          </a:p>
          <a:p>
            <a:pPr marL="535874"/>
            <a:r>
              <a:rPr sz="3000" spc="-6" dirty="0">
                <a:latin typeface="Arial"/>
                <a:cs typeface="Arial"/>
              </a:rPr>
              <a:t>vetores </a:t>
            </a:r>
            <a:r>
              <a:rPr sz="3000" dirty="0">
                <a:latin typeface="Arial"/>
                <a:cs typeface="Arial"/>
              </a:rPr>
              <a:t>de </a:t>
            </a:r>
            <a:r>
              <a:rPr sz="3000" spc="-6" dirty="0">
                <a:latin typeface="Arial"/>
                <a:cs typeface="Arial"/>
              </a:rPr>
              <a:t>tipos</a:t>
            </a:r>
            <a:r>
              <a:rPr sz="3000" spc="23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primitivos.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 marL="535874" indent="-521391">
              <a:spcBef>
                <a:spcPts val="1745"/>
              </a:spcBef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dirty="0">
                <a:latin typeface="Arial"/>
                <a:cs typeface="Arial"/>
              </a:rPr>
              <a:t>Os </a:t>
            </a:r>
            <a:r>
              <a:rPr sz="3000" spc="-6" dirty="0">
                <a:latin typeface="Arial"/>
                <a:cs typeface="Arial"/>
              </a:rPr>
              <a:t>programas apresentados até </a:t>
            </a:r>
            <a:r>
              <a:rPr sz="3000" dirty="0">
                <a:latin typeface="Arial"/>
                <a:cs typeface="Arial"/>
              </a:rPr>
              <a:t>o </a:t>
            </a:r>
            <a:r>
              <a:rPr sz="3000" spc="-11" dirty="0">
                <a:latin typeface="Arial"/>
                <a:cs typeface="Arial"/>
              </a:rPr>
              <a:t>momento</a:t>
            </a:r>
            <a:r>
              <a:rPr sz="3000" spc="143" dirty="0">
                <a:latin typeface="Arial"/>
                <a:cs typeface="Arial"/>
              </a:rPr>
              <a:t> </a:t>
            </a:r>
            <a:r>
              <a:rPr sz="3000" dirty="0">
                <a:latin typeface="Arial"/>
                <a:cs typeface="Arial"/>
              </a:rPr>
              <a:t>só</a:t>
            </a:r>
            <a:endParaRPr sz="3000">
              <a:latin typeface="Arial"/>
              <a:cs typeface="Arial"/>
            </a:endParaRPr>
          </a:p>
          <a:p>
            <a:pPr marL="535874"/>
            <a:r>
              <a:rPr sz="3000" spc="-6" dirty="0">
                <a:latin typeface="Arial"/>
                <a:cs typeface="Arial"/>
              </a:rPr>
              <a:t>fizeram </a:t>
            </a:r>
            <a:r>
              <a:rPr sz="3000" spc="-11" dirty="0">
                <a:latin typeface="Arial"/>
                <a:cs typeface="Arial"/>
              </a:rPr>
              <a:t>menção </a:t>
            </a:r>
            <a:r>
              <a:rPr sz="3000" spc="-6" dirty="0">
                <a:latin typeface="Arial"/>
                <a:cs typeface="Arial"/>
              </a:rPr>
              <a:t>a </a:t>
            </a:r>
            <a:r>
              <a:rPr sz="3000" spc="-11" dirty="0">
                <a:latin typeface="Arial"/>
                <a:cs typeface="Arial"/>
              </a:rPr>
              <a:t>uma </a:t>
            </a:r>
            <a:r>
              <a:rPr sz="3000" spc="-6" dirty="0">
                <a:latin typeface="Arial"/>
                <a:cs typeface="Arial"/>
              </a:rPr>
              <a:t>única instância da</a:t>
            </a:r>
            <a:r>
              <a:rPr sz="3000" spc="188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estrutura.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 marL="535874" marR="588013" indent="-521391">
              <a:spcBef>
                <a:spcPts val="1745"/>
              </a:spcBef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dirty="0">
                <a:latin typeface="Arial"/>
                <a:cs typeface="Arial"/>
              </a:rPr>
              <a:t>É </a:t>
            </a:r>
            <a:r>
              <a:rPr sz="3000" spc="-6" dirty="0">
                <a:latin typeface="Arial"/>
                <a:cs typeface="Arial"/>
              </a:rPr>
              <a:t>necessário possuir </a:t>
            </a:r>
            <a:r>
              <a:rPr sz="3000" spc="-11" dirty="0">
                <a:latin typeface="Arial"/>
                <a:cs typeface="Arial"/>
              </a:rPr>
              <a:t>uma </a:t>
            </a:r>
            <a:r>
              <a:rPr sz="3000" spc="-6" dirty="0">
                <a:latin typeface="Arial"/>
                <a:cs typeface="Arial"/>
              </a:rPr>
              <a:t>definição da estrutura  </a:t>
            </a:r>
            <a:r>
              <a:rPr sz="3000" spc="-11" dirty="0">
                <a:latin typeface="Arial"/>
                <a:cs typeface="Arial"/>
              </a:rPr>
              <a:t>antes </a:t>
            </a:r>
            <a:r>
              <a:rPr sz="3000" spc="-6" dirty="0">
                <a:latin typeface="Arial"/>
                <a:cs typeface="Arial"/>
              </a:rPr>
              <a:t>de declarar um vetor de</a:t>
            </a:r>
            <a:r>
              <a:rPr sz="3000" spc="103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estrutura.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84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</p:spTree>
    <p:extLst>
      <p:ext uri="{BB962C8B-B14F-4D97-AF65-F5344CB8AC3E}">
        <p14:creationId xmlns:p14="http://schemas.microsoft.com/office/powerpoint/2010/main" val="115203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8262" y="1914732"/>
            <a:ext cx="9162907" cy="36907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 algn="just">
              <a:buClr>
                <a:srgbClr val="852B34"/>
              </a:buClr>
              <a:buSzPct val="69642"/>
              <a:buChar char="•"/>
              <a:tabLst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Suponha que </a:t>
            </a:r>
            <a:r>
              <a:rPr sz="3200" spc="-6" dirty="0">
                <a:latin typeface="Arial"/>
                <a:cs typeface="Arial"/>
              </a:rPr>
              <a:t>deseja-se </a:t>
            </a:r>
            <a:r>
              <a:rPr sz="3200" dirty="0">
                <a:latin typeface="Arial"/>
                <a:cs typeface="Arial"/>
              </a:rPr>
              <a:t>manter </a:t>
            </a:r>
            <a:r>
              <a:rPr sz="3200" spc="-6" dirty="0">
                <a:latin typeface="Arial"/>
                <a:cs typeface="Arial"/>
              </a:rPr>
              <a:t>um </a:t>
            </a:r>
            <a:r>
              <a:rPr sz="3200" dirty="0">
                <a:latin typeface="Arial"/>
                <a:cs typeface="Arial"/>
              </a:rPr>
              <a:t>registro de  informações relativas a passagens rodoviárias  </a:t>
            </a:r>
            <a:r>
              <a:rPr sz="3200" spc="-6" dirty="0">
                <a:latin typeface="Arial"/>
                <a:cs typeface="Arial"/>
              </a:rPr>
              <a:t>de </a:t>
            </a:r>
            <a:r>
              <a:rPr sz="3200" dirty="0">
                <a:latin typeface="Arial"/>
                <a:cs typeface="Arial"/>
              </a:rPr>
              <a:t>todos lugares (poltronas) </a:t>
            </a:r>
            <a:r>
              <a:rPr sz="3200" spc="-6" dirty="0">
                <a:latin typeface="Arial"/>
                <a:cs typeface="Arial"/>
              </a:rPr>
              <a:t>de um</a:t>
            </a:r>
            <a:r>
              <a:rPr sz="3200" spc="4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ônibus.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51"/>
              </a:spcBef>
              <a:buClr>
                <a:srgbClr val="852B34"/>
              </a:buClr>
              <a:buFont typeface="Arial"/>
              <a:buChar char="•"/>
            </a:pPr>
            <a:endParaRPr sz="4700">
              <a:latin typeface="Times New Roman"/>
              <a:cs typeface="Times New Roman"/>
            </a:endParaRPr>
          </a:p>
          <a:p>
            <a:pPr marL="535874" marR="532253" indent="-521391">
              <a:buClr>
                <a:srgbClr val="852B34"/>
              </a:buClr>
              <a:buSzPct val="69642"/>
              <a:buChar char="•"/>
              <a:tabLst>
                <a:tab pos="535150" algn="l"/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Pode-se utilizar uma estrutura referente a  cada poltrona </a:t>
            </a:r>
            <a:r>
              <a:rPr sz="3200" spc="-6" dirty="0">
                <a:latin typeface="Arial"/>
                <a:cs typeface="Arial"/>
              </a:rPr>
              <a:t>(</a:t>
            </a:r>
            <a:r>
              <a:rPr sz="3200" spc="-6" dirty="0">
                <a:latin typeface="Courier New"/>
                <a:cs typeface="Courier New"/>
              </a:rPr>
              <a:t>passagem</a:t>
            </a:r>
            <a:r>
              <a:rPr sz="3200" spc="-6" dirty="0">
                <a:latin typeface="Arial"/>
                <a:cs typeface="Arial"/>
              </a:rPr>
              <a:t>) e </a:t>
            </a:r>
            <a:r>
              <a:rPr sz="3200" dirty="0">
                <a:latin typeface="Arial"/>
                <a:cs typeface="Arial"/>
              </a:rPr>
              <a:t>para agrupar  todas elas utiliza-se um vetor de</a:t>
            </a:r>
            <a:r>
              <a:rPr sz="3200" spc="-29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85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</p:spTree>
    <p:extLst>
      <p:ext uri="{BB962C8B-B14F-4D97-AF65-F5344CB8AC3E}">
        <p14:creationId xmlns:p14="http://schemas.microsoft.com/office/powerpoint/2010/main" val="228683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05040" y="3837023"/>
            <a:ext cx="6987840" cy="1845745"/>
          </a:xfrm>
          <a:custGeom>
            <a:avLst/>
            <a:gdLst/>
            <a:ahLst/>
            <a:cxnLst/>
            <a:rect l="l" t="t" r="r" b="b"/>
            <a:pathLst>
              <a:path w="5975350" h="1675129">
                <a:moveTo>
                  <a:pt x="0" y="0"/>
                </a:moveTo>
                <a:lnTo>
                  <a:pt x="5975350" y="1674876"/>
                </a:lnTo>
              </a:path>
            </a:pathLst>
          </a:custGeom>
          <a:ln w="1016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3923" y="1470997"/>
            <a:ext cx="9639653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940" marR="5793" indent="-379457">
              <a:buClr>
                <a:srgbClr val="852B34"/>
              </a:buClr>
              <a:buSzPct val="68750"/>
              <a:buFont typeface="Wingdings"/>
              <a:buChar char=""/>
              <a:tabLst>
                <a:tab pos="393216" algn="l"/>
                <a:tab pos="393940" algn="l"/>
              </a:tabLst>
            </a:pPr>
            <a:r>
              <a:rPr sz="2700" dirty="0">
                <a:latin typeface="Arial"/>
                <a:cs typeface="Arial"/>
              </a:rPr>
              <a:t>Um ônibus possui 44 lugares numerados de 0 a 43,</a:t>
            </a:r>
            <a:r>
              <a:rPr sz="2700" spc="-114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passa  por </a:t>
            </a:r>
            <a:r>
              <a:rPr sz="2700" spc="-6" dirty="0">
                <a:latin typeface="Arial"/>
                <a:cs typeface="Arial"/>
              </a:rPr>
              <a:t>várias </a:t>
            </a:r>
            <a:r>
              <a:rPr sz="2700" dirty="0">
                <a:latin typeface="Arial"/>
                <a:cs typeface="Arial"/>
              </a:rPr>
              <a:t>cidades </a:t>
            </a:r>
            <a:r>
              <a:rPr sz="2700" spc="-6" dirty="0">
                <a:latin typeface="Arial"/>
                <a:cs typeface="Arial"/>
              </a:rPr>
              <a:t>e </a:t>
            </a:r>
            <a:r>
              <a:rPr sz="2700" dirty="0">
                <a:latin typeface="Arial"/>
                <a:cs typeface="Arial"/>
              </a:rPr>
              <a:t>precisa armazenar </a:t>
            </a:r>
            <a:r>
              <a:rPr sz="2700" spc="-6" dirty="0">
                <a:latin typeface="Arial"/>
                <a:cs typeface="Arial"/>
              </a:rPr>
              <a:t>as </a:t>
            </a:r>
            <a:r>
              <a:rPr sz="2700" dirty="0">
                <a:latin typeface="Arial"/>
                <a:cs typeface="Arial"/>
              </a:rPr>
              <a:t>informações  </a:t>
            </a:r>
            <a:r>
              <a:rPr sz="2700" spc="-6" dirty="0">
                <a:latin typeface="Arial"/>
                <a:cs typeface="Arial"/>
              </a:rPr>
              <a:t>abaixo: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76348" y="3671898"/>
            <a:ext cx="6318017" cy="2012268"/>
          </a:xfrm>
          <a:custGeom>
            <a:avLst/>
            <a:gdLst/>
            <a:ahLst/>
            <a:cxnLst/>
            <a:rect l="l" t="t" r="r" b="b"/>
            <a:pathLst>
              <a:path w="5402580" h="1826260">
                <a:moveTo>
                  <a:pt x="0" y="1826260"/>
                </a:moveTo>
                <a:lnTo>
                  <a:pt x="5402580" y="1826260"/>
                </a:lnTo>
                <a:lnTo>
                  <a:pt x="5402580" y="0"/>
                </a:lnTo>
                <a:lnTo>
                  <a:pt x="0" y="0"/>
                </a:lnTo>
                <a:lnTo>
                  <a:pt x="0" y="182626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76348" y="3671898"/>
            <a:ext cx="6318017" cy="2012268"/>
          </a:xfrm>
          <a:custGeom>
            <a:avLst/>
            <a:gdLst/>
            <a:ahLst/>
            <a:cxnLst/>
            <a:rect l="l" t="t" r="r" b="b"/>
            <a:pathLst>
              <a:path w="5402580" h="1826260">
                <a:moveTo>
                  <a:pt x="0" y="1826260"/>
                </a:moveTo>
                <a:lnTo>
                  <a:pt x="5402580" y="1826260"/>
                </a:lnTo>
                <a:lnTo>
                  <a:pt x="5402580" y="0"/>
                </a:lnTo>
                <a:lnTo>
                  <a:pt x="0" y="0"/>
                </a:lnTo>
                <a:lnTo>
                  <a:pt x="0" y="1826260"/>
                </a:lnTo>
                <a:close/>
              </a:path>
            </a:pathLst>
          </a:custGeom>
          <a:ln w="203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80758" y="3534371"/>
            <a:ext cx="2971131" cy="2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>
              <a:lnSpc>
                <a:spcPct val="154200"/>
              </a:lnSpc>
              <a:tabLst>
                <a:tab pos="1356340" algn="l"/>
                <a:tab pos="2079770" algn="l"/>
                <a:tab pos="2560609" algn="l"/>
                <a:tab pos="2802476" algn="l"/>
                <a:tab pos="2866202" algn="l"/>
              </a:tabLst>
            </a:pPr>
            <a:r>
              <a:rPr sz="2300" dirty="0">
                <a:latin typeface="Arial"/>
                <a:cs typeface="Arial"/>
              </a:rPr>
              <a:t>Nome:_ </a:t>
            </a:r>
            <a:r>
              <a:rPr sz="2300" u="heavy" dirty="0">
                <a:latin typeface="Arial"/>
                <a:cs typeface="Arial"/>
              </a:rPr>
              <a:t>			</a:t>
            </a:r>
            <a:r>
              <a:rPr sz="2300" dirty="0">
                <a:latin typeface="Arial"/>
                <a:cs typeface="Arial"/>
              </a:rPr>
              <a:t> De: </a:t>
            </a:r>
            <a:r>
              <a:rPr sz="2300" u="heavy" dirty="0">
                <a:latin typeface="Arial"/>
                <a:cs typeface="Arial"/>
              </a:rPr>
              <a:t>				</a:t>
            </a:r>
            <a:r>
              <a:rPr sz="2300" dirty="0">
                <a:latin typeface="Arial"/>
                <a:cs typeface="Arial"/>
              </a:rPr>
              <a:t> Data:_</a:t>
            </a:r>
            <a:r>
              <a:rPr sz="2300" u="heavy" dirty="0">
                <a:latin typeface="Arial"/>
                <a:cs typeface="Arial"/>
              </a:rPr>
              <a:t> 	</a:t>
            </a:r>
            <a:r>
              <a:rPr sz="2300" dirty="0">
                <a:latin typeface="Arial"/>
                <a:cs typeface="Arial"/>
              </a:rPr>
              <a:t>/</a:t>
            </a:r>
            <a:r>
              <a:rPr sz="2300" u="heavy" dirty="0">
                <a:latin typeface="Arial"/>
                <a:cs typeface="Arial"/>
              </a:rPr>
              <a:t> 	</a:t>
            </a:r>
            <a:r>
              <a:rPr sz="2300" dirty="0">
                <a:latin typeface="Arial"/>
                <a:cs typeface="Arial"/>
              </a:rPr>
              <a:t>/ </a:t>
            </a:r>
            <a:r>
              <a:rPr sz="2300" u="heavy" dirty="0">
                <a:latin typeface="Arial"/>
                <a:cs typeface="Arial"/>
              </a:rPr>
              <a:t>			</a:t>
            </a:r>
            <a:r>
              <a:rPr sz="2300" dirty="0">
                <a:latin typeface="Arial"/>
                <a:cs typeface="Arial"/>
              </a:rPr>
              <a:t> Poltrona:</a:t>
            </a:r>
            <a:r>
              <a:rPr sz="2300" u="heavy" dirty="0">
                <a:latin typeface="Arial"/>
                <a:cs typeface="Arial"/>
              </a:rPr>
              <a:t> 					</a:t>
            </a:r>
            <a:endParaRPr sz="2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93772" y="3534371"/>
            <a:ext cx="3187227" cy="2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451" marR="5793" indent="-112968">
              <a:lnSpc>
                <a:spcPct val="154200"/>
              </a:lnSpc>
              <a:tabLst>
                <a:tab pos="2815511" algn="l"/>
                <a:tab pos="2993653" algn="l"/>
                <a:tab pos="3092862" algn="l"/>
              </a:tabLst>
            </a:pPr>
            <a:r>
              <a:rPr sz="2300" dirty="0">
                <a:latin typeface="Arial"/>
                <a:cs typeface="Arial"/>
              </a:rPr>
              <a:t>Número: </a:t>
            </a:r>
            <a:r>
              <a:rPr sz="2300" u="heavy" dirty="0">
                <a:latin typeface="Arial"/>
                <a:cs typeface="Arial"/>
              </a:rPr>
              <a:t>	</a:t>
            </a:r>
            <a:r>
              <a:rPr sz="2300" dirty="0">
                <a:latin typeface="Arial"/>
                <a:cs typeface="Arial"/>
              </a:rPr>
              <a:t> Para: </a:t>
            </a:r>
            <a:r>
              <a:rPr sz="2300" u="heavy" dirty="0">
                <a:latin typeface="Arial"/>
                <a:cs typeface="Arial"/>
              </a:rPr>
              <a:t>		</a:t>
            </a:r>
            <a:r>
              <a:rPr sz="2300" dirty="0">
                <a:latin typeface="Arial"/>
                <a:cs typeface="Arial"/>
              </a:rPr>
              <a:t> Horário:_ </a:t>
            </a:r>
            <a:r>
              <a:rPr sz="2300" u="heavy" dirty="0">
                <a:latin typeface="Arial"/>
                <a:cs typeface="Arial"/>
              </a:rPr>
              <a:t>		</a:t>
            </a:r>
            <a:r>
              <a:rPr sz="2300" dirty="0">
                <a:latin typeface="Arial"/>
                <a:cs typeface="Arial"/>
              </a:rPr>
              <a:t> Distância:</a:t>
            </a:r>
            <a:r>
              <a:rPr sz="2300" u="heavy" dirty="0">
                <a:latin typeface="Arial"/>
                <a:cs typeface="Arial"/>
              </a:rPr>
              <a:t> 			</a:t>
            </a:r>
            <a:endParaRPr sz="2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99062" y="3064581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20"/>
                </a:moveTo>
                <a:lnTo>
                  <a:pt x="1031240" y="693420"/>
                </a:lnTo>
                <a:lnTo>
                  <a:pt x="1031240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solidFill>
            <a:srgbClr val="A4A4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99062" y="3064581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20"/>
                </a:moveTo>
                <a:lnTo>
                  <a:pt x="1031240" y="693420"/>
                </a:lnTo>
                <a:lnTo>
                  <a:pt x="1031240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99062" y="3837023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20"/>
                </a:moveTo>
                <a:lnTo>
                  <a:pt x="1031240" y="693420"/>
                </a:lnTo>
                <a:lnTo>
                  <a:pt x="1031240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99062" y="3837023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20"/>
                </a:moveTo>
                <a:lnTo>
                  <a:pt x="1031240" y="693420"/>
                </a:lnTo>
                <a:lnTo>
                  <a:pt x="1031240" y="0"/>
                </a:lnTo>
                <a:lnTo>
                  <a:pt x="0" y="0"/>
                </a:lnTo>
                <a:lnTo>
                  <a:pt x="0" y="69342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99062" y="4612264"/>
            <a:ext cx="1205978" cy="1542086"/>
          </a:xfrm>
          <a:custGeom>
            <a:avLst/>
            <a:gdLst/>
            <a:ahLst/>
            <a:cxnLst/>
            <a:rect l="l" t="t" r="r" b="b"/>
            <a:pathLst>
              <a:path w="1031239" h="1399539">
                <a:moveTo>
                  <a:pt x="0" y="1399539"/>
                </a:moveTo>
                <a:lnTo>
                  <a:pt x="1031240" y="1399539"/>
                </a:lnTo>
                <a:lnTo>
                  <a:pt x="1031240" y="0"/>
                </a:lnTo>
                <a:lnTo>
                  <a:pt x="0" y="0"/>
                </a:lnTo>
                <a:lnTo>
                  <a:pt x="0" y="1399539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99062" y="4612264"/>
            <a:ext cx="1205978" cy="1542086"/>
          </a:xfrm>
          <a:custGeom>
            <a:avLst/>
            <a:gdLst/>
            <a:ahLst/>
            <a:cxnLst/>
            <a:rect l="l" t="t" r="r" b="b"/>
            <a:pathLst>
              <a:path w="1031239" h="1399539">
                <a:moveTo>
                  <a:pt x="0" y="1399539"/>
                </a:moveTo>
                <a:lnTo>
                  <a:pt x="1031240" y="1399539"/>
                </a:lnTo>
                <a:lnTo>
                  <a:pt x="1031240" y="0"/>
                </a:lnTo>
                <a:lnTo>
                  <a:pt x="0" y="0"/>
                </a:lnTo>
                <a:lnTo>
                  <a:pt x="0" y="13995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99062" y="6165544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19"/>
                </a:moveTo>
                <a:lnTo>
                  <a:pt x="1031240" y="693419"/>
                </a:lnTo>
                <a:lnTo>
                  <a:pt x="1031240" y="0"/>
                </a:lnTo>
                <a:lnTo>
                  <a:pt x="0" y="0"/>
                </a:lnTo>
                <a:lnTo>
                  <a:pt x="0" y="693419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99062" y="6165544"/>
            <a:ext cx="1205978" cy="764046"/>
          </a:xfrm>
          <a:custGeom>
            <a:avLst/>
            <a:gdLst/>
            <a:ahLst/>
            <a:cxnLst/>
            <a:rect l="l" t="t" r="r" b="b"/>
            <a:pathLst>
              <a:path w="1031239" h="693420">
                <a:moveTo>
                  <a:pt x="0" y="693419"/>
                </a:moveTo>
                <a:lnTo>
                  <a:pt x="1031240" y="693419"/>
                </a:lnTo>
                <a:lnTo>
                  <a:pt x="1031240" y="0"/>
                </a:lnTo>
                <a:lnTo>
                  <a:pt x="0" y="0"/>
                </a:lnTo>
                <a:lnTo>
                  <a:pt x="0" y="69341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395340" y="3299671"/>
            <a:ext cx="19530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0</a:t>
            </a:r>
            <a:endParaRPr sz="2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95340" y="3966463"/>
            <a:ext cx="19530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1</a:t>
            </a:r>
            <a:endParaRPr sz="23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94467" y="6295683"/>
            <a:ext cx="362387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43</a:t>
            </a:r>
            <a:endParaRPr sz="23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245613" y="5188795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29210" y="0"/>
                </a:moveTo>
                <a:lnTo>
                  <a:pt x="17841" y="3498"/>
                </a:lnTo>
                <a:lnTo>
                  <a:pt x="8556" y="13033"/>
                </a:lnTo>
                <a:lnTo>
                  <a:pt x="2295" y="27164"/>
                </a:lnTo>
                <a:lnTo>
                  <a:pt x="0" y="44450"/>
                </a:lnTo>
                <a:lnTo>
                  <a:pt x="2295" y="61735"/>
                </a:lnTo>
                <a:lnTo>
                  <a:pt x="8556" y="75866"/>
                </a:lnTo>
                <a:lnTo>
                  <a:pt x="17841" y="85401"/>
                </a:lnTo>
                <a:lnTo>
                  <a:pt x="29210" y="88900"/>
                </a:lnTo>
                <a:lnTo>
                  <a:pt x="40578" y="85401"/>
                </a:lnTo>
                <a:lnTo>
                  <a:pt x="49863" y="75866"/>
                </a:lnTo>
                <a:lnTo>
                  <a:pt x="56124" y="61735"/>
                </a:lnTo>
                <a:lnTo>
                  <a:pt x="58420" y="44450"/>
                </a:lnTo>
                <a:lnTo>
                  <a:pt x="56124" y="27164"/>
                </a:lnTo>
                <a:lnTo>
                  <a:pt x="49863" y="13033"/>
                </a:lnTo>
                <a:lnTo>
                  <a:pt x="40578" y="3498"/>
                </a:lnTo>
                <a:lnTo>
                  <a:pt x="292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245613" y="5188795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0" y="44450"/>
                </a:moveTo>
                <a:lnTo>
                  <a:pt x="2295" y="27164"/>
                </a:lnTo>
                <a:lnTo>
                  <a:pt x="8556" y="13033"/>
                </a:lnTo>
                <a:lnTo>
                  <a:pt x="17841" y="3498"/>
                </a:lnTo>
                <a:lnTo>
                  <a:pt x="29210" y="0"/>
                </a:lnTo>
                <a:lnTo>
                  <a:pt x="40578" y="3498"/>
                </a:lnTo>
                <a:lnTo>
                  <a:pt x="49863" y="13033"/>
                </a:lnTo>
                <a:lnTo>
                  <a:pt x="56124" y="27164"/>
                </a:lnTo>
                <a:lnTo>
                  <a:pt x="58420" y="44450"/>
                </a:lnTo>
                <a:lnTo>
                  <a:pt x="56124" y="61735"/>
                </a:lnTo>
                <a:lnTo>
                  <a:pt x="49863" y="75866"/>
                </a:lnTo>
                <a:lnTo>
                  <a:pt x="40578" y="85401"/>
                </a:lnTo>
                <a:lnTo>
                  <a:pt x="29210" y="88900"/>
                </a:lnTo>
                <a:lnTo>
                  <a:pt x="17841" y="85401"/>
                </a:lnTo>
                <a:lnTo>
                  <a:pt x="8556" y="75866"/>
                </a:lnTo>
                <a:lnTo>
                  <a:pt x="2295" y="61735"/>
                </a:lnTo>
                <a:lnTo>
                  <a:pt x="0" y="4445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245613" y="5390303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29210" y="0"/>
                </a:moveTo>
                <a:lnTo>
                  <a:pt x="17841" y="3498"/>
                </a:lnTo>
                <a:lnTo>
                  <a:pt x="8556" y="13033"/>
                </a:lnTo>
                <a:lnTo>
                  <a:pt x="2295" y="27164"/>
                </a:lnTo>
                <a:lnTo>
                  <a:pt x="0" y="44450"/>
                </a:lnTo>
                <a:lnTo>
                  <a:pt x="2295" y="61735"/>
                </a:lnTo>
                <a:lnTo>
                  <a:pt x="8556" y="75866"/>
                </a:lnTo>
                <a:lnTo>
                  <a:pt x="17841" y="85401"/>
                </a:lnTo>
                <a:lnTo>
                  <a:pt x="29210" y="88900"/>
                </a:lnTo>
                <a:lnTo>
                  <a:pt x="40578" y="85401"/>
                </a:lnTo>
                <a:lnTo>
                  <a:pt x="49863" y="75866"/>
                </a:lnTo>
                <a:lnTo>
                  <a:pt x="56124" y="61735"/>
                </a:lnTo>
                <a:lnTo>
                  <a:pt x="58420" y="44450"/>
                </a:lnTo>
                <a:lnTo>
                  <a:pt x="56124" y="27164"/>
                </a:lnTo>
                <a:lnTo>
                  <a:pt x="49863" y="13033"/>
                </a:lnTo>
                <a:lnTo>
                  <a:pt x="40578" y="3498"/>
                </a:lnTo>
                <a:lnTo>
                  <a:pt x="292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245613" y="5390303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0" y="44450"/>
                </a:moveTo>
                <a:lnTo>
                  <a:pt x="2295" y="27164"/>
                </a:lnTo>
                <a:lnTo>
                  <a:pt x="8556" y="13033"/>
                </a:lnTo>
                <a:lnTo>
                  <a:pt x="17841" y="3498"/>
                </a:lnTo>
                <a:lnTo>
                  <a:pt x="29210" y="0"/>
                </a:lnTo>
                <a:lnTo>
                  <a:pt x="40578" y="3498"/>
                </a:lnTo>
                <a:lnTo>
                  <a:pt x="49863" y="13033"/>
                </a:lnTo>
                <a:lnTo>
                  <a:pt x="56124" y="27164"/>
                </a:lnTo>
                <a:lnTo>
                  <a:pt x="58420" y="44450"/>
                </a:lnTo>
                <a:lnTo>
                  <a:pt x="56124" y="61735"/>
                </a:lnTo>
                <a:lnTo>
                  <a:pt x="49863" y="75866"/>
                </a:lnTo>
                <a:lnTo>
                  <a:pt x="40578" y="85401"/>
                </a:lnTo>
                <a:lnTo>
                  <a:pt x="29210" y="88900"/>
                </a:lnTo>
                <a:lnTo>
                  <a:pt x="17841" y="85401"/>
                </a:lnTo>
                <a:lnTo>
                  <a:pt x="8556" y="75866"/>
                </a:lnTo>
                <a:lnTo>
                  <a:pt x="2295" y="61735"/>
                </a:lnTo>
                <a:lnTo>
                  <a:pt x="0" y="4445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45613" y="5605803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29210" y="0"/>
                </a:moveTo>
                <a:lnTo>
                  <a:pt x="17841" y="3498"/>
                </a:lnTo>
                <a:lnTo>
                  <a:pt x="8556" y="13033"/>
                </a:lnTo>
                <a:lnTo>
                  <a:pt x="2295" y="27164"/>
                </a:lnTo>
                <a:lnTo>
                  <a:pt x="0" y="44449"/>
                </a:lnTo>
                <a:lnTo>
                  <a:pt x="2295" y="61735"/>
                </a:lnTo>
                <a:lnTo>
                  <a:pt x="8556" y="75866"/>
                </a:lnTo>
                <a:lnTo>
                  <a:pt x="17841" y="85401"/>
                </a:lnTo>
                <a:lnTo>
                  <a:pt x="29210" y="88899"/>
                </a:lnTo>
                <a:lnTo>
                  <a:pt x="40578" y="85401"/>
                </a:lnTo>
                <a:lnTo>
                  <a:pt x="49863" y="75866"/>
                </a:lnTo>
                <a:lnTo>
                  <a:pt x="56124" y="61735"/>
                </a:lnTo>
                <a:lnTo>
                  <a:pt x="58420" y="44449"/>
                </a:lnTo>
                <a:lnTo>
                  <a:pt x="56124" y="27164"/>
                </a:lnTo>
                <a:lnTo>
                  <a:pt x="49863" y="13033"/>
                </a:lnTo>
                <a:lnTo>
                  <a:pt x="40578" y="3498"/>
                </a:lnTo>
                <a:lnTo>
                  <a:pt x="292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245613" y="5605803"/>
            <a:ext cx="68318" cy="97955"/>
          </a:xfrm>
          <a:custGeom>
            <a:avLst/>
            <a:gdLst/>
            <a:ahLst/>
            <a:cxnLst/>
            <a:rect l="l" t="t" r="r" b="b"/>
            <a:pathLst>
              <a:path w="58419" h="88900">
                <a:moveTo>
                  <a:pt x="0" y="44449"/>
                </a:moveTo>
                <a:lnTo>
                  <a:pt x="2295" y="27164"/>
                </a:lnTo>
                <a:lnTo>
                  <a:pt x="8556" y="13033"/>
                </a:lnTo>
                <a:lnTo>
                  <a:pt x="17841" y="3498"/>
                </a:lnTo>
                <a:lnTo>
                  <a:pt x="29210" y="0"/>
                </a:lnTo>
                <a:lnTo>
                  <a:pt x="40578" y="3498"/>
                </a:lnTo>
                <a:lnTo>
                  <a:pt x="49863" y="13033"/>
                </a:lnTo>
                <a:lnTo>
                  <a:pt x="56124" y="27164"/>
                </a:lnTo>
                <a:lnTo>
                  <a:pt x="58420" y="44449"/>
                </a:lnTo>
                <a:lnTo>
                  <a:pt x="56124" y="61735"/>
                </a:lnTo>
                <a:lnTo>
                  <a:pt x="49863" y="75866"/>
                </a:lnTo>
                <a:lnTo>
                  <a:pt x="40578" y="85401"/>
                </a:lnTo>
                <a:lnTo>
                  <a:pt x="29210" y="88899"/>
                </a:lnTo>
                <a:lnTo>
                  <a:pt x="17841" y="85401"/>
                </a:lnTo>
                <a:lnTo>
                  <a:pt x="8556" y="75866"/>
                </a:lnTo>
                <a:lnTo>
                  <a:pt x="2295" y="61735"/>
                </a:lnTo>
                <a:lnTo>
                  <a:pt x="0" y="4444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26" name="object 26"/>
          <p:cNvSpPr/>
          <p:nvPr/>
        </p:nvSpPr>
        <p:spPr>
          <a:xfrm>
            <a:off x="1699062" y="3086971"/>
            <a:ext cx="1878771" cy="575833"/>
          </a:xfrm>
          <a:custGeom>
            <a:avLst/>
            <a:gdLst/>
            <a:ahLst/>
            <a:cxnLst/>
            <a:rect l="l" t="t" r="r" b="b"/>
            <a:pathLst>
              <a:path w="1606550" h="522604">
                <a:moveTo>
                  <a:pt x="0" y="0"/>
                </a:moveTo>
                <a:lnTo>
                  <a:pt x="1606550" y="522350"/>
                </a:lnTo>
              </a:path>
            </a:pathLst>
          </a:custGeom>
          <a:ln w="1016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905040" y="3064580"/>
            <a:ext cx="6987840" cy="607319"/>
          </a:xfrm>
          <a:custGeom>
            <a:avLst/>
            <a:gdLst/>
            <a:ahLst/>
            <a:cxnLst/>
            <a:rect l="l" t="t" r="r" b="b"/>
            <a:pathLst>
              <a:path w="5975350" h="551179">
                <a:moveTo>
                  <a:pt x="0" y="0"/>
                </a:moveTo>
                <a:lnTo>
                  <a:pt x="5975350" y="550926"/>
                </a:lnTo>
              </a:path>
            </a:pathLst>
          </a:custGeom>
          <a:ln w="1016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699062" y="3837023"/>
            <a:ext cx="1893623" cy="1845745"/>
          </a:xfrm>
          <a:custGeom>
            <a:avLst/>
            <a:gdLst/>
            <a:ahLst/>
            <a:cxnLst/>
            <a:rect l="l" t="t" r="r" b="b"/>
            <a:pathLst>
              <a:path w="1619250" h="1675129">
                <a:moveTo>
                  <a:pt x="0" y="0"/>
                </a:moveTo>
                <a:lnTo>
                  <a:pt x="1619250" y="1674876"/>
                </a:lnTo>
              </a:path>
            </a:pathLst>
          </a:custGeom>
          <a:ln w="1016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88625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1462" y="5860485"/>
            <a:ext cx="692991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dirty="0">
                <a:latin typeface="Arial"/>
                <a:cs typeface="Arial"/>
              </a:rPr>
              <a:t>Declaração do vetor de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estruturas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87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93150" y="2166197"/>
            <a:ext cx="3104056" cy="3086970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36208" rIns="0" bIns="0" rtlCol="0">
            <a:spAutoFit/>
          </a:bodyPr>
          <a:lstStyle/>
          <a:p>
            <a:pPr marL="99209">
              <a:spcBef>
                <a:spcPts val="285"/>
              </a:spcBef>
            </a:pP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>
              <a:latin typeface="Courier New"/>
              <a:cs typeface="Courier New"/>
            </a:endParaRPr>
          </a:p>
          <a:p>
            <a:pPr marL="99209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nome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50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>
              <a:latin typeface="Courier New"/>
              <a:cs typeface="Courier New"/>
            </a:endParaRPr>
          </a:p>
          <a:p>
            <a:pPr marL="377284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numero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377284" marR="261420"/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origem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20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destino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20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data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char </a:t>
            </a:r>
            <a:r>
              <a:rPr spc="-6" dirty="0">
                <a:latin typeface="Courier New"/>
                <a:cs typeface="Courier New"/>
              </a:rPr>
              <a:t>horario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pc="-6" dirty="0">
                <a:solidFill>
                  <a:srgbClr val="EF00EF"/>
                </a:solidFill>
                <a:latin typeface="Courier New"/>
                <a:cs typeface="Courier New"/>
              </a:rPr>
              <a:t>5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pc="-6" dirty="0">
                <a:latin typeface="Courier New"/>
                <a:cs typeface="Courier New"/>
              </a:rPr>
              <a:t>poltrona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b="1" spc="-6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distancia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  <a:p>
            <a:pPr marL="99209"/>
            <a:r>
              <a:rPr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pc="-6" dirty="0">
                <a:latin typeface="Courier New"/>
                <a:cs typeface="Courier New"/>
              </a:rPr>
              <a:t>Passagem</a:t>
            </a:r>
            <a:r>
              <a:rPr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56484" y="6596544"/>
            <a:ext cx="7547758" cy="503411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0862" rIns="0" bIns="0" rtlCol="0">
            <a:spAutoFit/>
          </a:bodyPr>
          <a:lstStyle/>
          <a:p>
            <a:pPr marL="396112">
              <a:spcBef>
                <a:spcPts val="86"/>
              </a:spcBef>
            </a:pPr>
            <a:r>
              <a:rPr sz="3200" spc="-6" dirty="0">
                <a:latin typeface="Courier New"/>
                <a:cs typeface="Courier New"/>
              </a:rPr>
              <a:t>Passagem</a:t>
            </a:r>
            <a:r>
              <a:rPr sz="3200" spc="-114" dirty="0">
                <a:latin typeface="Courier New"/>
                <a:cs typeface="Courier New"/>
              </a:rPr>
              <a:t> </a:t>
            </a:r>
            <a:r>
              <a:rPr sz="3200" spc="-6" dirty="0">
                <a:latin typeface="Courier New"/>
                <a:cs typeface="Courier New"/>
              </a:rPr>
              <a:t>dadosPassagem</a:t>
            </a:r>
            <a:r>
              <a:rPr sz="32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3200" spc="-6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32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0745" y="1041398"/>
            <a:ext cx="473108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spc="-6" dirty="0">
                <a:latin typeface="Arial"/>
                <a:cs typeface="Arial"/>
              </a:rPr>
              <a:t>Definição da</a:t>
            </a:r>
            <a:r>
              <a:rPr sz="3200" spc="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968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1462" y="1438533"/>
            <a:ext cx="6929917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dirty="0">
                <a:latin typeface="Arial"/>
                <a:cs typeface="Arial"/>
              </a:rPr>
              <a:t>Declaração do vetor de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estruturas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88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56484" y="2177391"/>
            <a:ext cx="7547758" cy="500486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7966" rIns="0" bIns="0" rtlCol="0">
            <a:spAutoFit/>
          </a:bodyPr>
          <a:lstStyle/>
          <a:p>
            <a:pPr marL="396112">
              <a:spcBef>
                <a:spcPts val="63"/>
              </a:spcBef>
            </a:pPr>
            <a:r>
              <a:rPr sz="3200" b="1" spc="-6" dirty="0">
                <a:latin typeface="Courier New"/>
                <a:cs typeface="Courier New"/>
              </a:rPr>
              <a:t>Passagem</a:t>
            </a:r>
            <a:r>
              <a:rPr sz="3200" b="1" spc="-114" dirty="0">
                <a:latin typeface="Courier New"/>
                <a:cs typeface="Courier New"/>
              </a:rPr>
              <a:t> </a:t>
            </a:r>
            <a:r>
              <a:rPr sz="3200" b="1" spc="-6" dirty="0">
                <a:latin typeface="Courier New"/>
                <a:cs typeface="Courier New"/>
              </a:rPr>
              <a:t>dadosPassagem</a:t>
            </a:r>
            <a:r>
              <a:rPr sz="3200" b="1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3200" b="1" spc="-6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3200" b="1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0745" y="3417917"/>
            <a:ext cx="7716327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dirty="0">
                <a:latin typeface="Arial"/>
                <a:cs typeface="Arial"/>
              </a:rPr>
              <a:t>Observe </a:t>
            </a:r>
            <a:r>
              <a:rPr sz="3200" spc="-6" dirty="0">
                <a:latin typeface="Arial"/>
                <a:cs typeface="Arial"/>
              </a:rPr>
              <a:t>que cada </a:t>
            </a:r>
            <a:r>
              <a:rPr sz="3200" dirty="0">
                <a:latin typeface="Arial"/>
                <a:cs typeface="Arial"/>
              </a:rPr>
              <a:t>posição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spc="6" dirty="0">
                <a:latin typeface="Arial"/>
                <a:cs typeface="Arial"/>
              </a:rPr>
              <a:t>vetor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spc="-6" dirty="0">
                <a:latin typeface="Arial"/>
                <a:cs typeface="Arial"/>
              </a:rPr>
              <a:t>de  </a:t>
            </a:r>
            <a:r>
              <a:rPr sz="3200" dirty="0">
                <a:latin typeface="Arial"/>
                <a:cs typeface="Arial"/>
              </a:rPr>
              <a:t>estruturas pode ser vista como uma  variável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dirty="0">
                <a:latin typeface="Arial"/>
                <a:cs typeface="Arial"/>
              </a:rPr>
              <a:t>tipo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Passagem.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5395" y="5127224"/>
            <a:ext cx="7907175" cy="995122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10138" rIns="0" bIns="0" rtlCol="0">
            <a:spAutoFit/>
          </a:bodyPr>
          <a:lstStyle/>
          <a:p>
            <a:pPr marL="97761" marR="302696">
              <a:spcBef>
                <a:spcPts val="80"/>
              </a:spcBef>
            </a:pPr>
            <a:r>
              <a:rPr sz="3200" spc="-6" dirty="0">
                <a:latin typeface="Courier New"/>
                <a:cs typeface="Courier New"/>
              </a:rPr>
              <a:t>Passagem p</a:t>
            </a:r>
            <a:r>
              <a:rPr sz="32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3200" spc="-11" dirty="0">
                <a:latin typeface="Courier New"/>
                <a:cs typeface="Courier New"/>
              </a:rPr>
              <a:t>dadosPassagem</a:t>
            </a:r>
            <a:r>
              <a:rPr sz="32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3200" spc="-11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3200" spc="-11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3200" dirty="0">
                <a:latin typeface="Courier New"/>
                <a:cs typeface="Courier New"/>
              </a:rPr>
              <a:t>p </a:t>
            </a:r>
            <a:r>
              <a:rPr sz="32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32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3200" spc="-11" dirty="0">
                <a:latin typeface="Courier New"/>
                <a:cs typeface="Courier New"/>
              </a:rPr>
              <a:t>dadosPassagem</a:t>
            </a:r>
            <a:r>
              <a:rPr sz="32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3200" spc="-11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32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32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82113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546550" y="2622384"/>
            <a:ext cx="9683468" cy="4172867"/>
          </a:xfrm>
          <a:custGeom>
            <a:avLst/>
            <a:gdLst/>
            <a:ahLst/>
            <a:cxnLst/>
            <a:rect l="l" t="t" r="r" b="b"/>
            <a:pathLst>
              <a:path w="8280400" h="3787140">
                <a:moveTo>
                  <a:pt x="0" y="3787140"/>
                </a:moveTo>
                <a:lnTo>
                  <a:pt x="8280400" y="3787140"/>
                </a:lnTo>
                <a:lnTo>
                  <a:pt x="828040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46550" y="2622384"/>
            <a:ext cx="9683468" cy="4172867"/>
          </a:xfrm>
          <a:custGeom>
            <a:avLst/>
            <a:gdLst/>
            <a:ahLst/>
            <a:cxnLst/>
            <a:rect l="l" t="t" r="r" b="b"/>
            <a:pathLst>
              <a:path w="8280400" h="3787140">
                <a:moveTo>
                  <a:pt x="0" y="3787140"/>
                </a:moveTo>
                <a:lnTo>
                  <a:pt x="8280400" y="3787140"/>
                </a:lnTo>
                <a:lnTo>
                  <a:pt x="828040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5347" y="1354572"/>
            <a:ext cx="9259445" cy="5152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1044229" indent="-521391">
              <a:buClr>
                <a:srgbClr val="852B34"/>
              </a:buClr>
              <a:buSzPct val="69642"/>
              <a:buChar char="•"/>
              <a:tabLst>
                <a:tab pos="521391" algn="l"/>
                <a:tab pos="536597" algn="l"/>
              </a:tabLst>
            </a:pPr>
            <a:r>
              <a:rPr sz="3200" spc="-6" dirty="0">
                <a:latin typeface="Arial"/>
                <a:cs typeface="Arial"/>
              </a:rPr>
              <a:t>Em </a:t>
            </a:r>
            <a:r>
              <a:rPr sz="3200" dirty="0">
                <a:latin typeface="Arial"/>
                <a:cs typeface="Arial"/>
              </a:rPr>
              <a:t>cada posição do </a:t>
            </a:r>
            <a:r>
              <a:rPr sz="3200" spc="-29" dirty="0">
                <a:latin typeface="Arial"/>
                <a:cs typeface="Arial"/>
              </a:rPr>
              <a:t>vetor, </a:t>
            </a:r>
            <a:r>
              <a:rPr sz="3200" dirty="0">
                <a:latin typeface="Arial"/>
                <a:cs typeface="Arial"/>
              </a:rPr>
              <a:t>os campos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535874"/>
            <a:r>
              <a:rPr sz="3200" spc="-6" dirty="0">
                <a:latin typeface="Arial"/>
                <a:cs typeface="Arial"/>
              </a:rPr>
              <a:t>Passagem </a:t>
            </a:r>
            <a:r>
              <a:rPr sz="3200" dirty="0">
                <a:latin typeface="Arial"/>
                <a:cs typeface="Arial"/>
              </a:rPr>
              <a:t>podem </a:t>
            </a:r>
            <a:r>
              <a:rPr sz="3200" spc="-6" dirty="0">
                <a:latin typeface="Arial"/>
                <a:cs typeface="Arial"/>
              </a:rPr>
              <a:t>ser</a:t>
            </a:r>
            <a:r>
              <a:rPr sz="3200" spc="11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acessados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 marL="478665">
              <a:spcBef>
                <a:spcPts val="2543"/>
              </a:spcBef>
            </a:pPr>
            <a:r>
              <a:rPr sz="2700" spc="-6" dirty="0">
                <a:latin typeface="Courier New"/>
                <a:cs typeface="Courier New"/>
              </a:rPr>
              <a:t>Passagem</a:t>
            </a:r>
            <a:r>
              <a:rPr sz="2700" spc="-63" dirty="0"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>
              <a:spcBef>
                <a:spcPts val="6"/>
              </a:spcBef>
            </a:pPr>
            <a:endParaRPr sz="2900">
              <a:latin typeface="Times New Roman"/>
              <a:cs typeface="Times New Roman"/>
            </a:endParaRPr>
          </a:p>
          <a:p>
            <a:pPr marL="478665"/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numero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700" spc="-3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478665" marR="5793"/>
            <a:r>
              <a:rPr sz="2700" spc="-6" dirty="0">
                <a:latin typeface="Courier New"/>
                <a:cs typeface="Courier New"/>
              </a:rPr>
              <a:t>scanf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distancia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origem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destino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if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distancia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&gt;</a:t>
            </a:r>
            <a:r>
              <a:rPr sz="2700" spc="2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50.0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700">
              <a:latin typeface="Courier New"/>
              <a:cs typeface="Courier New"/>
            </a:endParaRPr>
          </a:p>
          <a:p>
            <a:pPr marR="980505" algn="ctr"/>
            <a:r>
              <a:rPr sz="2700" spc="-11" dirty="0">
                <a:latin typeface="Courier New"/>
                <a:cs typeface="Courier New"/>
              </a:rPr>
              <a:t>puts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89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2625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5346" y="1354572"/>
            <a:ext cx="8178966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874" algn="l"/>
                <a:tab pos="536597" algn="l"/>
              </a:tabLst>
            </a:pPr>
            <a:r>
              <a:rPr sz="3200" spc="-6" dirty="0">
                <a:latin typeface="Arial"/>
                <a:cs typeface="Arial"/>
              </a:rPr>
              <a:t>Em </a:t>
            </a:r>
            <a:r>
              <a:rPr sz="3200" dirty="0">
                <a:latin typeface="Arial"/>
                <a:cs typeface="Arial"/>
              </a:rPr>
              <a:t>cada posição do </a:t>
            </a:r>
            <a:r>
              <a:rPr sz="3200" spc="-29" dirty="0">
                <a:latin typeface="Arial"/>
                <a:cs typeface="Arial"/>
              </a:rPr>
              <a:t>vetor, </a:t>
            </a:r>
            <a:r>
              <a:rPr sz="3200" dirty="0">
                <a:latin typeface="Arial"/>
                <a:cs typeface="Arial"/>
              </a:rPr>
              <a:t>os campos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535874"/>
            <a:r>
              <a:rPr sz="3200" spc="-6" dirty="0">
                <a:latin typeface="Arial"/>
                <a:cs typeface="Arial"/>
              </a:rPr>
              <a:t>Passagem </a:t>
            </a:r>
            <a:r>
              <a:rPr sz="3200" dirty="0">
                <a:latin typeface="Arial"/>
                <a:cs typeface="Arial"/>
              </a:rPr>
              <a:t>podem </a:t>
            </a:r>
            <a:r>
              <a:rPr sz="3200" spc="-6" dirty="0">
                <a:latin typeface="Arial"/>
                <a:cs typeface="Arial"/>
              </a:rPr>
              <a:t>ser</a:t>
            </a:r>
            <a:r>
              <a:rPr sz="3200" spc="11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acessados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/>
          <p:nvPr/>
        </p:nvSpPr>
        <p:spPr>
          <a:xfrm>
            <a:off x="546550" y="2622384"/>
            <a:ext cx="9683468" cy="4172867"/>
          </a:xfrm>
          <a:custGeom>
            <a:avLst/>
            <a:gdLst/>
            <a:ahLst/>
            <a:cxnLst/>
            <a:rect l="l" t="t" r="r" b="b"/>
            <a:pathLst>
              <a:path w="8280400" h="3787140">
                <a:moveTo>
                  <a:pt x="0" y="3787140"/>
                </a:moveTo>
                <a:lnTo>
                  <a:pt x="8280400" y="3787140"/>
                </a:lnTo>
                <a:lnTo>
                  <a:pt x="828040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6550" y="2622384"/>
            <a:ext cx="9683468" cy="4172867"/>
          </a:xfrm>
          <a:custGeom>
            <a:avLst/>
            <a:gdLst/>
            <a:ahLst/>
            <a:cxnLst/>
            <a:rect l="l" t="t" r="r" b="b"/>
            <a:pathLst>
              <a:path w="8280400" h="3787140">
                <a:moveTo>
                  <a:pt x="0" y="3787140"/>
                </a:moveTo>
                <a:lnTo>
                  <a:pt x="8280400" y="3787140"/>
                </a:lnTo>
                <a:lnTo>
                  <a:pt x="828040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0118" y="2654990"/>
            <a:ext cx="1740648" cy="84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3284"/>
              </a:lnSpc>
            </a:pPr>
            <a:r>
              <a:rPr sz="2700" spc="-6" dirty="0">
                <a:latin typeface="Courier New"/>
                <a:cs typeface="Courier New"/>
              </a:rPr>
              <a:t>int</a:t>
            </a:r>
            <a:r>
              <a:rPr sz="2700" spc="-108" dirty="0"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14483"/>
            <a:r>
              <a:rPr sz="2700" spc="-6" dirty="0">
                <a:latin typeface="Courier New"/>
                <a:cs typeface="Courier New"/>
              </a:rPr>
              <a:t>Passagem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90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2565375" y="3057863"/>
            <a:ext cx="386893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0118" y="3461297"/>
            <a:ext cx="3233268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7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44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56808" y="3461297"/>
            <a:ext cx="152752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latin typeface="Courier New"/>
                <a:cs typeface="Courier New"/>
              </a:rPr>
              <a:t>i++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r>
              <a:rPr sz="27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0118" y="3864310"/>
            <a:ext cx="9424300" cy="2908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9428"/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numero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r>
              <a:rPr sz="2700" spc="-3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i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  <a:p>
            <a:pPr marL="639428" marR="5793"/>
            <a:r>
              <a:rPr sz="2700" spc="-6" dirty="0">
                <a:latin typeface="Courier New"/>
                <a:cs typeface="Courier New"/>
              </a:rPr>
              <a:t>scanf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distancia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origem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spc="-11" dirty="0">
                <a:latin typeface="Courier New"/>
                <a:cs typeface="Courier New"/>
              </a:rPr>
              <a:t>gets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destino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700" b="1" spc="-11" dirty="0">
                <a:solidFill>
                  <a:srgbClr val="00009F"/>
                </a:solidFill>
                <a:latin typeface="Courier New"/>
                <a:cs typeface="Courier New"/>
              </a:rPr>
              <a:t>if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distancia 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&gt;</a:t>
            </a:r>
            <a:r>
              <a:rPr sz="2700" spc="2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50.0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700">
              <a:latin typeface="Courier New"/>
              <a:cs typeface="Courier New"/>
            </a:endParaRPr>
          </a:p>
          <a:p>
            <a:pPr marL="1265821"/>
            <a:r>
              <a:rPr sz="2700" spc="-11" dirty="0">
                <a:latin typeface="Courier New"/>
                <a:cs typeface="Courier New"/>
              </a:rPr>
              <a:t>puts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700" spc="-11" dirty="0">
                <a:latin typeface="Courier New"/>
                <a:cs typeface="Courier New"/>
              </a:rPr>
              <a:t>dadosPassagem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latin typeface="Courier New"/>
                <a:cs typeface="Courier New"/>
              </a:rPr>
              <a:t>i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700">
              <a:latin typeface="Courier New"/>
              <a:cs typeface="Courier New"/>
            </a:endParaRPr>
          </a:p>
          <a:p>
            <a:pPr marL="14483"/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771026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7202" y="3788746"/>
            <a:ext cx="8770815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874" algn="l"/>
                <a:tab pos="536597" algn="l"/>
              </a:tabLst>
            </a:pPr>
            <a:r>
              <a:rPr sz="3000" spc="-6" dirty="0">
                <a:latin typeface="Arial"/>
                <a:cs typeface="Arial"/>
              </a:rPr>
              <a:t>Pode-se inicializar um vetor de estruturas</a:t>
            </a:r>
            <a:r>
              <a:rPr sz="3000" spc="165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no</a:t>
            </a:r>
            <a:endParaRPr sz="3000">
              <a:latin typeface="Arial"/>
              <a:cs typeface="Arial"/>
            </a:endParaRPr>
          </a:p>
          <a:p>
            <a:pPr marL="535874"/>
            <a:r>
              <a:rPr sz="3000" spc="-11" dirty="0">
                <a:latin typeface="Arial"/>
                <a:cs typeface="Arial"/>
              </a:rPr>
              <a:t>momento </a:t>
            </a:r>
            <a:r>
              <a:rPr sz="3000" dirty="0">
                <a:latin typeface="Arial"/>
                <a:cs typeface="Arial"/>
              </a:rPr>
              <a:t>de </a:t>
            </a:r>
            <a:r>
              <a:rPr sz="3000" spc="-6" dirty="0">
                <a:latin typeface="Arial"/>
                <a:cs typeface="Arial"/>
              </a:rPr>
              <a:t>sua criação como </a:t>
            </a:r>
            <a:r>
              <a:rPr sz="3000" dirty="0">
                <a:latin typeface="Arial"/>
                <a:cs typeface="Arial"/>
              </a:rPr>
              <a:t>o </a:t>
            </a:r>
            <a:r>
              <a:rPr sz="3000" spc="-6" dirty="0">
                <a:latin typeface="Arial"/>
                <a:cs typeface="Arial"/>
              </a:rPr>
              <a:t>código</a:t>
            </a:r>
            <a:r>
              <a:rPr sz="3000" spc="137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abaixo: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Inicialização de</a:t>
            </a:r>
            <a:r>
              <a:rPr spc="-80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51564" y="1444130"/>
            <a:ext cx="4785297" cy="1967489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0276" rIns="0" bIns="0" rtlCol="0">
            <a:spAutoFit/>
          </a:bodyPr>
          <a:lstStyle/>
          <a:p>
            <a:pPr marL="97761">
              <a:spcBef>
                <a:spcPts val="160"/>
              </a:spcBef>
            </a:pPr>
            <a:r>
              <a:rPr sz="25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500" b="1" spc="-6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500">
              <a:latin typeface="Courier New"/>
              <a:cs typeface="Courier New"/>
            </a:endParaRPr>
          </a:p>
          <a:p>
            <a:pPr marL="97761"/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500">
              <a:latin typeface="Courier New"/>
              <a:cs typeface="Courier New"/>
            </a:endParaRPr>
          </a:p>
          <a:p>
            <a:pPr marL="480114"/>
            <a:r>
              <a:rPr sz="25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5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codigo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500">
              <a:latin typeface="Courier New"/>
              <a:cs typeface="Courier New"/>
            </a:endParaRPr>
          </a:p>
          <a:p>
            <a:pPr marL="480114"/>
            <a:r>
              <a:rPr sz="2500" b="1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5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descricao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120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500">
              <a:latin typeface="Courier New"/>
              <a:cs typeface="Courier New"/>
            </a:endParaRPr>
          </a:p>
          <a:p>
            <a:pPr marL="97761">
              <a:spcBef>
                <a:spcPts val="46"/>
              </a:spcBef>
            </a:pP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5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500" spc="-6" dirty="0">
                <a:latin typeface="Courier New"/>
                <a:cs typeface="Courier New"/>
              </a:rPr>
              <a:t>produto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51518" y="5096439"/>
            <a:ext cx="9249790" cy="1220235"/>
          </a:xfrm>
          <a:custGeom>
            <a:avLst/>
            <a:gdLst/>
            <a:ahLst/>
            <a:cxnLst/>
            <a:rect l="l" t="t" r="r" b="b"/>
            <a:pathLst>
              <a:path w="7909559" h="1107439">
                <a:moveTo>
                  <a:pt x="0" y="1107440"/>
                </a:moveTo>
                <a:lnTo>
                  <a:pt x="7909559" y="1107440"/>
                </a:lnTo>
                <a:lnTo>
                  <a:pt x="7909559" y="0"/>
                </a:lnTo>
                <a:lnTo>
                  <a:pt x="0" y="0"/>
                </a:lnTo>
                <a:lnTo>
                  <a:pt x="0" y="11074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51518" y="5096439"/>
            <a:ext cx="9249790" cy="1220235"/>
          </a:xfrm>
          <a:custGeom>
            <a:avLst/>
            <a:gdLst/>
            <a:ahLst/>
            <a:cxnLst/>
            <a:rect l="l" t="t" r="r" b="b"/>
            <a:pathLst>
              <a:path w="7909559" h="1107439">
                <a:moveTo>
                  <a:pt x="0" y="1107440"/>
                </a:moveTo>
                <a:lnTo>
                  <a:pt x="7909559" y="1107440"/>
                </a:lnTo>
                <a:lnTo>
                  <a:pt x="7909559" y="0"/>
                </a:lnTo>
                <a:lnTo>
                  <a:pt x="0" y="0"/>
                </a:lnTo>
                <a:lnTo>
                  <a:pt x="0" y="11074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9936" y="5117431"/>
            <a:ext cx="3934279" cy="389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spc="-6" dirty="0">
                <a:latin typeface="Courier New"/>
                <a:cs typeface="Courier New"/>
              </a:rPr>
              <a:t>produto </a:t>
            </a:r>
            <a:r>
              <a:rPr sz="2500" dirty="0">
                <a:latin typeface="Courier New"/>
                <a:cs typeface="Courier New"/>
              </a:rPr>
              <a:t>estoque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6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]</a:t>
            </a:r>
            <a:r>
              <a:rPr sz="2500" spc="-5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91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5293114" y="5117430"/>
            <a:ext cx="1376033" cy="1154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{{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235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500">
              <a:latin typeface="Courier New"/>
              <a:cs typeface="Courier New"/>
            </a:endParaRPr>
          </a:p>
          <a:p>
            <a:pPr marL="190453"/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2500" spc="17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5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5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},</a:t>
            </a:r>
            <a:endParaRPr sz="2500">
              <a:latin typeface="Courier New"/>
              <a:cs typeface="Courier New"/>
            </a:endParaRPr>
          </a:p>
          <a:p>
            <a:pPr marL="193349">
              <a:spcBef>
                <a:spcPts val="46"/>
              </a:spcBef>
            </a:pP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2500" spc="-6" dirty="0">
                <a:solidFill>
                  <a:srgbClr val="EF00EF"/>
                </a:solidFill>
                <a:latin typeface="Courier New"/>
                <a:cs typeface="Courier New"/>
              </a:rPr>
              <a:t>515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71494" y="5117430"/>
            <a:ext cx="3345400" cy="11695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dirty="0">
                <a:solidFill>
                  <a:srgbClr val="0000FF"/>
                </a:solidFill>
                <a:latin typeface="Courier New"/>
                <a:cs typeface="Courier New"/>
              </a:rPr>
              <a:t>"Teclado</a:t>
            </a:r>
            <a:r>
              <a:rPr sz="2500" spc="-103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solidFill>
                  <a:srgbClr val="0000FF"/>
                </a:solidFill>
                <a:latin typeface="Courier New"/>
                <a:cs typeface="Courier New"/>
              </a:rPr>
              <a:t>USB"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},</a:t>
            </a:r>
            <a:endParaRPr sz="2500">
              <a:latin typeface="Courier New"/>
              <a:cs typeface="Courier New"/>
            </a:endParaRPr>
          </a:p>
          <a:p>
            <a:pPr>
              <a:spcBef>
                <a:spcPts val="40"/>
              </a:spcBef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2500" spc="-6" dirty="0">
                <a:solidFill>
                  <a:srgbClr val="0000FF"/>
                </a:solidFill>
                <a:latin typeface="Courier New"/>
                <a:cs typeface="Courier New"/>
              </a:rPr>
              <a:t>"Memoria DDR"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} };</a:t>
            </a:r>
            <a:endParaRPr sz="25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98116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809" y="3550855"/>
            <a:ext cx="919558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marR="5793" indent="-521391" algn="just">
              <a:buClr>
                <a:srgbClr val="852B34"/>
              </a:buClr>
              <a:buSzPct val="69230"/>
              <a:buChar char="•"/>
              <a:tabLst>
                <a:tab pos="535874" algn="l"/>
              </a:tabLst>
            </a:pPr>
            <a:r>
              <a:rPr sz="3000" dirty="0">
                <a:latin typeface="Arial"/>
                <a:cs typeface="Arial"/>
              </a:rPr>
              <a:t>Se </a:t>
            </a:r>
            <a:r>
              <a:rPr sz="3000" spc="-6" dirty="0">
                <a:latin typeface="Arial"/>
                <a:cs typeface="Arial"/>
              </a:rPr>
              <a:t>o </a:t>
            </a:r>
            <a:r>
              <a:rPr sz="3000" spc="-11" dirty="0">
                <a:latin typeface="Arial"/>
                <a:cs typeface="Arial"/>
              </a:rPr>
              <a:t>número </a:t>
            </a:r>
            <a:r>
              <a:rPr sz="3000" spc="-6" dirty="0">
                <a:latin typeface="Arial"/>
                <a:cs typeface="Arial"/>
              </a:rPr>
              <a:t>de elementos </a:t>
            </a:r>
            <a:r>
              <a:rPr sz="3000" dirty="0">
                <a:latin typeface="Arial"/>
                <a:cs typeface="Arial"/>
              </a:rPr>
              <a:t>inicializados for </a:t>
            </a:r>
            <a:r>
              <a:rPr sz="3000" spc="-6" dirty="0">
                <a:latin typeface="Arial"/>
                <a:cs typeface="Arial"/>
              </a:rPr>
              <a:t>menor  que </a:t>
            </a:r>
            <a:r>
              <a:rPr sz="3000" dirty="0">
                <a:latin typeface="Arial"/>
                <a:cs typeface="Arial"/>
              </a:rPr>
              <a:t>os </a:t>
            </a:r>
            <a:r>
              <a:rPr sz="3000" spc="-6" dirty="0">
                <a:latin typeface="Arial"/>
                <a:cs typeface="Arial"/>
              </a:rPr>
              <a:t>alocados </a:t>
            </a:r>
            <a:r>
              <a:rPr sz="3000" dirty="0">
                <a:latin typeface="Arial"/>
                <a:cs typeface="Arial"/>
              </a:rPr>
              <a:t>em </a:t>
            </a:r>
            <a:r>
              <a:rPr sz="3000" spc="-6" dirty="0">
                <a:latin typeface="Arial"/>
                <a:cs typeface="Arial"/>
              </a:rPr>
              <a:t>memória, </a:t>
            </a:r>
            <a:r>
              <a:rPr sz="3000" dirty="0">
                <a:latin typeface="Arial"/>
                <a:cs typeface="Arial"/>
              </a:rPr>
              <a:t>o </a:t>
            </a:r>
            <a:r>
              <a:rPr sz="3000" spc="-6" dirty="0">
                <a:latin typeface="Arial"/>
                <a:cs typeface="Arial"/>
              </a:rPr>
              <a:t>restante </a:t>
            </a:r>
            <a:r>
              <a:rPr sz="3000" dirty="0">
                <a:latin typeface="Arial"/>
                <a:cs typeface="Arial"/>
              </a:rPr>
              <a:t>do </a:t>
            </a:r>
            <a:r>
              <a:rPr sz="3000" spc="-6" dirty="0">
                <a:latin typeface="Arial"/>
                <a:cs typeface="Arial"/>
              </a:rPr>
              <a:t>vetor  ficará “zerado” (se numérico) ou vazio (se</a:t>
            </a:r>
            <a:r>
              <a:rPr sz="3000" spc="165" dirty="0">
                <a:latin typeface="Arial"/>
                <a:cs typeface="Arial"/>
              </a:rPr>
              <a:t> </a:t>
            </a:r>
            <a:r>
              <a:rPr sz="3000" i="1" spc="-6" dirty="0">
                <a:latin typeface="Arial"/>
                <a:cs typeface="Arial"/>
              </a:rPr>
              <a:t>strings</a:t>
            </a:r>
            <a:r>
              <a:rPr sz="3000" spc="-6" dirty="0">
                <a:latin typeface="Arial"/>
                <a:cs typeface="Arial"/>
              </a:rPr>
              <a:t>).</a:t>
            </a:r>
            <a:endParaRPr sz="3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Inicialização de</a:t>
            </a:r>
            <a:r>
              <a:rPr spc="-80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51564" y="1444130"/>
            <a:ext cx="4785297" cy="1967489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0276" rIns="0" bIns="0" rtlCol="0">
            <a:spAutoFit/>
          </a:bodyPr>
          <a:lstStyle/>
          <a:p>
            <a:pPr marL="97761">
              <a:spcBef>
                <a:spcPts val="160"/>
              </a:spcBef>
            </a:pPr>
            <a:r>
              <a:rPr sz="25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500" b="1" spc="-6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b="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500">
              <a:latin typeface="Courier New"/>
              <a:cs typeface="Courier New"/>
            </a:endParaRPr>
          </a:p>
          <a:p>
            <a:pPr marL="97761"/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500">
              <a:latin typeface="Courier New"/>
              <a:cs typeface="Courier New"/>
            </a:endParaRPr>
          </a:p>
          <a:p>
            <a:pPr marL="480114"/>
            <a:r>
              <a:rPr sz="25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5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codigo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500">
              <a:latin typeface="Courier New"/>
              <a:cs typeface="Courier New"/>
            </a:endParaRPr>
          </a:p>
          <a:p>
            <a:pPr marL="480114"/>
            <a:r>
              <a:rPr sz="2500" b="1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500" b="1" spc="-8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latin typeface="Courier New"/>
                <a:cs typeface="Courier New"/>
              </a:rPr>
              <a:t>descricao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120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500">
              <a:latin typeface="Courier New"/>
              <a:cs typeface="Courier New"/>
            </a:endParaRPr>
          </a:p>
          <a:p>
            <a:pPr marL="97761">
              <a:spcBef>
                <a:spcPts val="46"/>
              </a:spcBef>
            </a:pP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500" spc="-86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500" spc="-6" dirty="0">
                <a:latin typeface="Courier New"/>
                <a:cs typeface="Courier New"/>
              </a:rPr>
              <a:t>produto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51518" y="5096439"/>
            <a:ext cx="9249790" cy="1220235"/>
          </a:xfrm>
          <a:custGeom>
            <a:avLst/>
            <a:gdLst/>
            <a:ahLst/>
            <a:cxnLst/>
            <a:rect l="l" t="t" r="r" b="b"/>
            <a:pathLst>
              <a:path w="7909559" h="1107439">
                <a:moveTo>
                  <a:pt x="0" y="1107440"/>
                </a:moveTo>
                <a:lnTo>
                  <a:pt x="7909559" y="1107440"/>
                </a:lnTo>
                <a:lnTo>
                  <a:pt x="7909559" y="0"/>
                </a:lnTo>
                <a:lnTo>
                  <a:pt x="0" y="0"/>
                </a:lnTo>
                <a:lnTo>
                  <a:pt x="0" y="11074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51518" y="5096439"/>
            <a:ext cx="9249790" cy="1220235"/>
          </a:xfrm>
          <a:custGeom>
            <a:avLst/>
            <a:gdLst/>
            <a:ahLst/>
            <a:cxnLst/>
            <a:rect l="l" t="t" r="r" b="b"/>
            <a:pathLst>
              <a:path w="7909559" h="1107439">
                <a:moveTo>
                  <a:pt x="0" y="1107440"/>
                </a:moveTo>
                <a:lnTo>
                  <a:pt x="7909559" y="1107440"/>
                </a:lnTo>
                <a:lnTo>
                  <a:pt x="7909559" y="0"/>
                </a:lnTo>
                <a:lnTo>
                  <a:pt x="0" y="0"/>
                </a:lnTo>
                <a:lnTo>
                  <a:pt x="0" y="11074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9936" y="5117431"/>
            <a:ext cx="3934279" cy="389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spc="-6" dirty="0">
                <a:latin typeface="Courier New"/>
                <a:cs typeface="Courier New"/>
              </a:rPr>
              <a:t>produto </a:t>
            </a:r>
            <a:r>
              <a:rPr sz="2500" dirty="0">
                <a:latin typeface="Courier New"/>
                <a:cs typeface="Courier New"/>
              </a:rPr>
              <a:t>estoque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6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]</a:t>
            </a:r>
            <a:r>
              <a:rPr sz="2500" spc="-5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92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5293114" y="5117430"/>
            <a:ext cx="1376033" cy="11541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{{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235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500">
              <a:latin typeface="Courier New"/>
              <a:cs typeface="Courier New"/>
            </a:endParaRPr>
          </a:p>
          <a:p>
            <a:pPr marL="190453"/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2500" spc="17" dirty="0">
                <a:solidFill>
                  <a:srgbClr val="EF00EF"/>
                </a:solidFill>
                <a:latin typeface="Courier New"/>
                <a:cs typeface="Courier New"/>
              </a:rPr>
              <a:t>2</a:t>
            </a:r>
            <a:r>
              <a:rPr sz="25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500" dirty="0">
                <a:solidFill>
                  <a:srgbClr val="EF00EF"/>
                </a:solidFill>
                <a:latin typeface="Courier New"/>
                <a:cs typeface="Courier New"/>
              </a:rPr>
              <a:t>5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},</a:t>
            </a:r>
            <a:endParaRPr sz="2500">
              <a:latin typeface="Courier New"/>
              <a:cs typeface="Courier New"/>
            </a:endParaRPr>
          </a:p>
          <a:p>
            <a:pPr marL="193349">
              <a:spcBef>
                <a:spcPts val="46"/>
              </a:spcBef>
            </a:pP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r>
              <a:rPr sz="2500" spc="-6" dirty="0">
                <a:solidFill>
                  <a:srgbClr val="EF00EF"/>
                </a:solidFill>
                <a:latin typeface="Courier New"/>
                <a:cs typeface="Courier New"/>
              </a:rPr>
              <a:t>515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71494" y="5117430"/>
            <a:ext cx="3345400" cy="11695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500" dirty="0">
                <a:solidFill>
                  <a:srgbClr val="0000FF"/>
                </a:solidFill>
                <a:latin typeface="Courier New"/>
                <a:cs typeface="Courier New"/>
              </a:rPr>
              <a:t>"Teclado</a:t>
            </a:r>
            <a:r>
              <a:rPr sz="2500" spc="-103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500" dirty="0">
                <a:solidFill>
                  <a:srgbClr val="0000FF"/>
                </a:solidFill>
                <a:latin typeface="Courier New"/>
                <a:cs typeface="Courier New"/>
              </a:rPr>
              <a:t>USB"</a:t>
            </a:r>
            <a:r>
              <a:rPr sz="2500" dirty="0">
                <a:solidFill>
                  <a:srgbClr val="FF0000"/>
                </a:solidFill>
                <a:latin typeface="Courier New"/>
                <a:cs typeface="Courier New"/>
              </a:rPr>
              <a:t>},</a:t>
            </a:r>
            <a:endParaRPr sz="2500">
              <a:latin typeface="Courier New"/>
              <a:cs typeface="Courier New"/>
            </a:endParaRPr>
          </a:p>
          <a:p>
            <a:pPr>
              <a:spcBef>
                <a:spcPts val="40"/>
              </a:spcBef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2500" spc="-6" dirty="0">
                <a:solidFill>
                  <a:srgbClr val="0000FF"/>
                </a:solidFill>
                <a:latin typeface="Courier New"/>
                <a:cs typeface="Courier New"/>
              </a:rPr>
              <a:t>"Memoria DDR"</a:t>
            </a:r>
            <a:r>
              <a:rPr sz="2500" spc="-6" dirty="0">
                <a:solidFill>
                  <a:srgbClr val="FF0000"/>
                </a:solidFill>
                <a:latin typeface="Courier New"/>
                <a:cs typeface="Courier New"/>
              </a:rPr>
              <a:t>} };</a:t>
            </a:r>
            <a:endParaRPr sz="25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8950" y="6439818"/>
            <a:ext cx="9785204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230"/>
              <a:buChar char="•"/>
              <a:tabLst>
                <a:tab pos="535150" algn="l"/>
                <a:tab pos="535874" algn="l"/>
              </a:tabLst>
            </a:pPr>
            <a:r>
              <a:rPr sz="3000" spc="-6" dirty="0">
                <a:latin typeface="Arial"/>
                <a:cs typeface="Arial"/>
              </a:rPr>
              <a:t>No exemplo, o índice 1 do vetor terá descrição</a:t>
            </a:r>
            <a:r>
              <a:rPr sz="3000" spc="205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vazia</a:t>
            </a:r>
            <a:endParaRPr sz="3000">
              <a:latin typeface="Arial"/>
              <a:cs typeface="Arial"/>
            </a:endParaRPr>
          </a:p>
          <a:p>
            <a:pPr marL="535874"/>
            <a:r>
              <a:rPr sz="3000" dirty="0">
                <a:latin typeface="Arial"/>
                <a:cs typeface="Arial"/>
              </a:rPr>
              <a:t>e os </a:t>
            </a:r>
            <a:r>
              <a:rPr sz="3000" spc="-6" dirty="0">
                <a:latin typeface="Arial"/>
                <a:cs typeface="Arial"/>
              </a:rPr>
              <a:t>índices </a:t>
            </a:r>
            <a:r>
              <a:rPr sz="3000" dirty="0">
                <a:latin typeface="Arial"/>
                <a:cs typeface="Arial"/>
              </a:rPr>
              <a:t>3, 4 e 5 </a:t>
            </a:r>
            <a:r>
              <a:rPr sz="3000" spc="-6" dirty="0">
                <a:latin typeface="Arial"/>
                <a:cs typeface="Arial"/>
              </a:rPr>
              <a:t>terão código </a:t>
            </a:r>
            <a:r>
              <a:rPr sz="3000" dirty="0">
                <a:latin typeface="Arial"/>
                <a:cs typeface="Arial"/>
              </a:rPr>
              <a:t>0 e </a:t>
            </a:r>
            <a:r>
              <a:rPr sz="3000" spc="-6" dirty="0">
                <a:latin typeface="Arial"/>
                <a:cs typeface="Arial"/>
              </a:rPr>
              <a:t>descrição</a:t>
            </a:r>
            <a:r>
              <a:rPr sz="3000" spc="108" dirty="0">
                <a:latin typeface="Arial"/>
                <a:cs typeface="Arial"/>
              </a:rPr>
              <a:t> </a:t>
            </a:r>
            <a:r>
              <a:rPr sz="3000" spc="-6" dirty="0">
                <a:latin typeface="Arial"/>
                <a:cs typeface="Arial"/>
              </a:rPr>
              <a:t>vazia.</a:t>
            </a:r>
            <a:endParaRPr sz="3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199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3023" y="1519416"/>
            <a:ext cx="8303722" cy="28725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874" algn="l"/>
                <a:tab pos="536597" algn="l"/>
              </a:tabLst>
            </a:pPr>
            <a:r>
              <a:rPr sz="3400" dirty="0">
                <a:latin typeface="Arial"/>
                <a:cs typeface="Arial"/>
              </a:rPr>
              <a:t>Outro </a:t>
            </a:r>
            <a:r>
              <a:rPr sz="3400" spc="-11" dirty="0">
                <a:latin typeface="Arial"/>
                <a:cs typeface="Arial"/>
              </a:rPr>
              <a:t>exemplo </a:t>
            </a:r>
            <a:r>
              <a:rPr sz="3400" spc="-6" dirty="0">
                <a:latin typeface="Arial"/>
                <a:cs typeface="Arial"/>
              </a:rPr>
              <a:t>mais</a:t>
            </a:r>
            <a:r>
              <a:rPr sz="3400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completo....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3400">
              <a:latin typeface="Times New Roman"/>
              <a:cs typeface="Times New Roman"/>
            </a:endParaRPr>
          </a:p>
          <a:p>
            <a:pPr marL="535874" marR="5793" indent="-521391">
              <a:spcBef>
                <a:spcPts val="1996"/>
              </a:spcBef>
              <a:buClr>
                <a:srgbClr val="852B34"/>
              </a:buClr>
              <a:buSzPct val="70000"/>
              <a:buChar char="•"/>
              <a:tabLst>
                <a:tab pos="535874" algn="l"/>
                <a:tab pos="536597" algn="l"/>
              </a:tabLst>
            </a:pPr>
            <a:r>
              <a:rPr sz="3400" spc="-11" dirty="0">
                <a:latin typeface="Arial"/>
                <a:cs typeface="Arial"/>
              </a:rPr>
              <a:t>Considere que </a:t>
            </a:r>
            <a:r>
              <a:rPr sz="3400" spc="-6" dirty="0">
                <a:latin typeface="Arial"/>
                <a:cs typeface="Arial"/>
              </a:rPr>
              <a:t>você está fazendo um  programa </a:t>
            </a:r>
            <a:r>
              <a:rPr sz="3400" spc="-11" dirty="0">
                <a:latin typeface="Arial"/>
                <a:cs typeface="Arial"/>
              </a:rPr>
              <a:t>que </a:t>
            </a:r>
            <a:r>
              <a:rPr sz="3400" spc="-6" dirty="0">
                <a:latin typeface="Arial"/>
                <a:cs typeface="Arial"/>
              </a:rPr>
              <a:t>leia </a:t>
            </a:r>
            <a:r>
              <a:rPr sz="3400" dirty="0">
                <a:latin typeface="Arial"/>
                <a:cs typeface="Arial"/>
              </a:rPr>
              <a:t>o </a:t>
            </a:r>
            <a:r>
              <a:rPr sz="3400" spc="-6" dirty="0">
                <a:latin typeface="Arial"/>
                <a:cs typeface="Arial"/>
              </a:rPr>
              <a:t>nome </a:t>
            </a:r>
            <a:r>
              <a:rPr sz="3400" dirty="0">
                <a:latin typeface="Arial"/>
                <a:cs typeface="Arial"/>
              </a:rPr>
              <a:t>e as 4</a:t>
            </a:r>
            <a:r>
              <a:rPr sz="3400" spc="-74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notas  escolares de 8</a:t>
            </a:r>
            <a:r>
              <a:rPr sz="3400" spc="-68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alunos.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93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</p:spTree>
    <p:extLst>
      <p:ext uri="{BB962C8B-B14F-4D97-AF65-F5344CB8AC3E}">
        <p14:creationId xmlns:p14="http://schemas.microsoft.com/office/powerpoint/2010/main" val="3663408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426511" y="7290623"/>
            <a:ext cx="178223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100" dirty="0">
                <a:latin typeface="Times New Roman"/>
                <a:cs typeface="Times New Roman"/>
              </a:rPr>
              <a:t>46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28960" y="1318188"/>
            <a:ext cx="2106006" cy="1810761"/>
          </a:xfrm>
          <a:custGeom>
            <a:avLst/>
            <a:gdLst/>
            <a:ahLst/>
            <a:cxnLst/>
            <a:rect l="l" t="t" r="r" b="b"/>
            <a:pathLst>
              <a:path w="1800859" h="1643380">
                <a:moveTo>
                  <a:pt x="0" y="1643379"/>
                </a:moveTo>
                <a:lnTo>
                  <a:pt x="1800860" y="1643379"/>
                </a:lnTo>
                <a:lnTo>
                  <a:pt x="1800860" y="0"/>
                </a:lnTo>
                <a:lnTo>
                  <a:pt x="0" y="0"/>
                </a:lnTo>
                <a:lnTo>
                  <a:pt x="0" y="16433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133963" y="1362548"/>
            <a:ext cx="198273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1918283" algn="l"/>
              </a:tabLst>
            </a:pPr>
            <a:r>
              <a:rPr sz="2300" dirty="0">
                <a:latin typeface="Arial"/>
                <a:cs typeface="Arial"/>
              </a:rPr>
              <a:t>Nome:_</a:t>
            </a:r>
            <a:r>
              <a:rPr sz="2300" u="heavy" dirty="0">
                <a:latin typeface="Arial"/>
                <a:cs typeface="Arial"/>
              </a:rPr>
              <a:t> 	</a:t>
            </a:r>
            <a:endParaRPr sz="2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99313" y="2298435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02200" y="1869535"/>
            <a:ext cx="2358489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8747">
              <a:lnSpc>
                <a:spcPts val="2252"/>
              </a:lnSpc>
            </a:pPr>
            <a:r>
              <a:rPr sz="1900" spc="-6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5059">
              <a:spcBef>
                <a:spcPts val="1243"/>
              </a:spcBef>
              <a:tabLst>
                <a:tab pos="1619208" algn="l"/>
                <a:tab pos="2131185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030446" y="1795368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460689" y="2234764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460689" y="2604194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460689" y="3107960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30446" y="1795368"/>
            <a:ext cx="0" cy="74166"/>
          </a:xfrm>
          <a:custGeom>
            <a:avLst/>
            <a:gdLst/>
            <a:ahLst/>
            <a:cxnLst/>
            <a:rect l="l" t="t" r="r" b="b"/>
            <a:pathLst>
              <a:path h="67310">
                <a:moveTo>
                  <a:pt x="0" y="0"/>
                </a:moveTo>
                <a:lnTo>
                  <a:pt x="0" y="6731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136452" y="1795369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607723" y="2234764"/>
            <a:ext cx="0" cy="862001"/>
          </a:xfrm>
          <a:custGeom>
            <a:avLst/>
            <a:gdLst/>
            <a:ahLst/>
            <a:cxnLst/>
            <a:rect l="l" t="t" r="r" b="b"/>
            <a:pathLst>
              <a:path h="782319">
                <a:moveTo>
                  <a:pt x="0" y="0"/>
                </a:moveTo>
                <a:lnTo>
                  <a:pt x="0" y="78232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102200" y="1869535"/>
            <a:ext cx="2358489" cy="1905916"/>
          </a:xfrm>
          <a:custGeom>
            <a:avLst/>
            <a:gdLst/>
            <a:ahLst/>
            <a:cxnLst/>
            <a:rect l="l" t="t" r="r" b="b"/>
            <a:pathLst>
              <a:path w="2016759" h="1729739">
                <a:moveTo>
                  <a:pt x="0" y="1729739"/>
                </a:moveTo>
                <a:lnTo>
                  <a:pt x="2016760" y="1729739"/>
                </a:lnTo>
                <a:lnTo>
                  <a:pt x="2016760" y="0"/>
                </a:lnTo>
                <a:lnTo>
                  <a:pt x="0" y="0"/>
                </a:lnTo>
                <a:lnTo>
                  <a:pt x="0" y="17297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71512" y="1875132"/>
            <a:ext cx="2106006" cy="1810761"/>
          </a:xfrm>
          <a:custGeom>
            <a:avLst/>
            <a:gdLst/>
            <a:ahLst/>
            <a:cxnLst/>
            <a:rect l="l" t="t" r="r" b="b"/>
            <a:pathLst>
              <a:path w="1800859" h="1643379">
                <a:moveTo>
                  <a:pt x="0" y="1643379"/>
                </a:moveTo>
                <a:lnTo>
                  <a:pt x="1800860" y="1643379"/>
                </a:lnTo>
                <a:lnTo>
                  <a:pt x="1800860" y="0"/>
                </a:lnTo>
                <a:lnTo>
                  <a:pt x="0" y="0"/>
                </a:lnTo>
                <a:lnTo>
                  <a:pt x="0" y="16433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376217" y="1919210"/>
            <a:ext cx="198273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1918283" algn="l"/>
              </a:tabLst>
            </a:pPr>
            <a:r>
              <a:rPr sz="2300" dirty="0">
                <a:latin typeface="Arial"/>
                <a:cs typeface="Arial"/>
              </a:rPr>
              <a:t>Nome:_</a:t>
            </a:r>
            <a:r>
              <a:rPr sz="2300" u="heavy" dirty="0">
                <a:latin typeface="Arial"/>
                <a:cs typeface="Arial"/>
              </a:rPr>
              <a:t> 	</a:t>
            </a:r>
            <a:endParaRPr sz="2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041568" y="2854678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44751" y="2426476"/>
            <a:ext cx="2358489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8747">
              <a:lnSpc>
                <a:spcPts val="2247"/>
              </a:lnSpc>
            </a:pPr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5059">
              <a:spcBef>
                <a:spcPts val="1237"/>
              </a:spcBef>
              <a:tabLst>
                <a:tab pos="1618484" algn="l"/>
                <a:tab pos="2131185" algn="l"/>
              </a:tabLst>
            </a:pPr>
            <a:r>
              <a:rPr sz="1500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272997" y="2352310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703239" y="2788908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703239" y="3161135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703239" y="3664901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9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272997" y="2352310"/>
            <a:ext cx="0" cy="74166"/>
          </a:xfrm>
          <a:custGeom>
            <a:avLst/>
            <a:gdLst/>
            <a:ahLst/>
            <a:cxnLst/>
            <a:rect l="l" t="t" r="r" b="b"/>
            <a:pathLst>
              <a:path h="67310">
                <a:moveTo>
                  <a:pt x="0" y="0"/>
                </a:moveTo>
                <a:lnTo>
                  <a:pt x="0" y="6730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379003" y="2352311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850274" y="2788908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344751" y="2426476"/>
            <a:ext cx="2358489" cy="1905916"/>
          </a:xfrm>
          <a:custGeom>
            <a:avLst/>
            <a:gdLst/>
            <a:ahLst/>
            <a:cxnLst/>
            <a:rect l="l" t="t" r="r" b="b"/>
            <a:pathLst>
              <a:path w="2016759" h="1729739">
                <a:moveTo>
                  <a:pt x="0" y="1729740"/>
                </a:moveTo>
                <a:lnTo>
                  <a:pt x="2016760" y="1729740"/>
                </a:lnTo>
                <a:lnTo>
                  <a:pt x="2016760" y="0"/>
                </a:lnTo>
                <a:lnTo>
                  <a:pt x="0" y="0"/>
                </a:lnTo>
                <a:lnTo>
                  <a:pt x="0" y="17297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427920" y="2426475"/>
            <a:ext cx="2106006" cy="1810761"/>
          </a:xfrm>
          <a:custGeom>
            <a:avLst/>
            <a:gdLst/>
            <a:ahLst/>
            <a:cxnLst/>
            <a:rect l="l" t="t" r="r" b="b"/>
            <a:pathLst>
              <a:path w="1800859" h="1643379">
                <a:moveTo>
                  <a:pt x="0" y="1643380"/>
                </a:moveTo>
                <a:lnTo>
                  <a:pt x="1800860" y="1643380"/>
                </a:lnTo>
                <a:lnTo>
                  <a:pt x="1800860" y="0"/>
                </a:lnTo>
                <a:lnTo>
                  <a:pt x="0" y="0"/>
                </a:lnTo>
                <a:lnTo>
                  <a:pt x="0" y="1643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533073" y="2470135"/>
            <a:ext cx="1075281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Nome:_</a:t>
            </a:r>
            <a:endParaRPr sz="23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198274" y="3406021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04131" y="2980620"/>
            <a:ext cx="2355518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5850">
              <a:lnSpc>
                <a:spcPts val="2224"/>
              </a:lnSpc>
            </a:pPr>
            <a:r>
              <a:rPr sz="1900" spc="-6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2161">
              <a:spcBef>
                <a:spcPts val="1237"/>
              </a:spcBef>
              <a:tabLst>
                <a:tab pos="1616312" algn="l"/>
                <a:tab pos="2129013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429406" y="2903655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859649" y="3340252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859649" y="3712479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859649" y="4216246"/>
            <a:ext cx="663882" cy="0"/>
          </a:xfrm>
          <a:custGeom>
            <a:avLst/>
            <a:gdLst/>
            <a:ahLst/>
            <a:cxnLst/>
            <a:rect l="l" t="t" r="r" b="b"/>
            <a:pathLst>
              <a:path w="567690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429406" y="2903655"/>
            <a:ext cx="0" cy="76964"/>
          </a:xfrm>
          <a:custGeom>
            <a:avLst/>
            <a:gdLst/>
            <a:ahLst/>
            <a:cxnLst/>
            <a:rect l="l" t="t" r="r" b="b"/>
            <a:pathLst>
              <a:path h="69850">
                <a:moveTo>
                  <a:pt x="0" y="0"/>
                </a:moveTo>
                <a:lnTo>
                  <a:pt x="0" y="6985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535412" y="2903655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009652" y="3340252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504131" y="2980620"/>
            <a:ext cx="2355518" cy="1905916"/>
          </a:xfrm>
          <a:custGeom>
            <a:avLst/>
            <a:gdLst/>
            <a:ahLst/>
            <a:cxnLst/>
            <a:rect l="l" t="t" r="r" b="b"/>
            <a:pathLst>
              <a:path w="2014220" h="1729739">
                <a:moveTo>
                  <a:pt x="0" y="1729739"/>
                </a:moveTo>
                <a:lnTo>
                  <a:pt x="2014220" y="1729739"/>
                </a:lnTo>
                <a:lnTo>
                  <a:pt x="2014220" y="0"/>
                </a:lnTo>
                <a:lnTo>
                  <a:pt x="0" y="0"/>
                </a:lnTo>
                <a:lnTo>
                  <a:pt x="0" y="17297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661561" y="2980620"/>
            <a:ext cx="2103035" cy="1810761"/>
          </a:xfrm>
          <a:custGeom>
            <a:avLst/>
            <a:gdLst/>
            <a:ahLst/>
            <a:cxnLst/>
            <a:rect l="l" t="t" r="r" b="b"/>
            <a:pathLst>
              <a:path w="1798320" h="1643379">
                <a:moveTo>
                  <a:pt x="0" y="1643380"/>
                </a:moveTo>
                <a:lnTo>
                  <a:pt x="1798319" y="1643380"/>
                </a:lnTo>
                <a:lnTo>
                  <a:pt x="1798319" y="0"/>
                </a:lnTo>
                <a:lnTo>
                  <a:pt x="0" y="0"/>
                </a:lnTo>
                <a:lnTo>
                  <a:pt x="0" y="1643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5764486" y="3024979"/>
            <a:ext cx="107305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No</a:t>
            </a:r>
            <a:r>
              <a:rPr sz="2300" spc="6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r>
              <a:rPr sz="2300" spc="-6" dirty="0">
                <a:latin typeface="Arial"/>
                <a:cs typeface="Arial"/>
              </a:rPr>
              <a:t>_</a:t>
            </a:r>
            <a:endParaRPr sz="23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429686" y="3960864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999165" y="3537561"/>
            <a:ext cx="2355518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8775">
              <a:lnSpc>
                <a:spcPts val="2207"/>
              </a:lnSpc>
            </a:pPr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845088">
              <a:spcBef>
                <a:spcPts val="1243"/>
              </a:spcBef>
              <a:tabLst>
                <a:tab pos="1359237" algn="l"/>
                <a:tab pos="1871213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663045" y="3457798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69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354683" y="3894395"/>
            <a:ext cx="402488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416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354683" y="4266623"/>
            <a:ext cx="402488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416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354683" y="4770389"/>
            <a:ext cx="402488" cy="0"/>
          </a:xfrm>
          <a:custGeom>
            <a:avLst/>
            <a:gdLst/>
            <a:ahLst/>
            <a:cxnLst/>
            <a:rect l="l" t="t" r="r" b="b"/>
            <a:pathLst>
              <a:path w="344170">
                <a:moveTo>
                  <a:pt x="0" y="0"/>
                </a:moveTo>
                <a:lnTo>
                  <a:pt x="34416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663045" y="3457798"/>
            <a:ext cx="0" cy="79763"/>
          </a:xfrm>
          <a:custGeom>
            <a:avLst/>
            <a:gdLst/>
            <a:ahLst/>
            <a:cxnLst/>
            <a:rect l="l" t="t" r="r" b="b"/>
            <a:pathLst>
              <a:path h="72389">
                <a:moveTo>
                  <a:pt x="0" y="0"/>
                </a:moveTo>
                <a:lnTo>
                  <a:pt x="0" y="7238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766082" y="3457799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09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999165" y="3537561"/>
            <a:ext cx="2355518" cy="1903119"/>
          </a:xfrm>
          <a:custGeom>
            <a:avLst/>
            <a:gdLst/>
            <a:ahLst/>
            <a:cxnLst/>
            <a:rect l="l" t="t" r="r" b="b"/>
            <a:pathLst>
              <a:path w="2014220" h="1727200">
                <a:moveTo>
                  <a:pt x="0" y="1727200"/>
                </a:moveTo>
                <a:lnTo>
                  <a:pt x="2014220" y="1727200"/>
                </a:lnTo>
                <a:lnTo>
                  <a:pt x="2014220" y="0"/>
                </a:lnTo>
                <a:lnTo>
                  <a:pt x="0" y="0"/>
                </a:lnTo>
                <a:lnTo>
                  <a:pt x="0" y="17272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999165" y="3534764"/>
            <a:ext cx="2103035" cy="1807961"/>
          </a:xfrm>
          <a:custGeom>
            <a:avLst/>
            <a:gdLst/>
            <a:ahLst/>
            <a:cxnLst/>
            <a:rect l="l" t="t" r="r" b="b"/>
            <a:pathLst>
              <a:path w="1798320" h="1640839">
                <a:moveTo>
                  <a:pt x="0" y="1640839"/>
                </a:moveTo>
                <a:lnTo>
                  <a:pt x="1798320" y="1640839"/>
                </a:lnTo>
                <a:lnTo>
                  <a:pt x="1798320" y="0"/>
                </a:lnTo>
                <a:lnTo>
                  <a:pt x="0" y="0"/>
                </a:lnTo>
                <a:lnTo>
                  <a:pt x="0" y="16408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101346" y="3578143"/>
            <a:ext cx="1073796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N</a:t>
            </a:r>
            <a:r>
              <a:rPr sz="2300" dirty="0">
                <a:latin typeface="Arial"/>
                <a:cs typeface="Arial"/>
              </a:rPr>
              <a:t>o</a:t>
            </a:r>
            <a:r>
              <a:rPr sz="2300" spc="11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r>
              <a:rPr sz="2300" spc="-6" dirty="0">
                <a:latin typeface="Arial"/>
                <a:cs typeface="Arial"/>
              </a:rPr>
              <a:t>_</a:t>
            </a:r>
            <a:endParaRPr sz="23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766547" y="4513608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072403" y="4094503"/>
            <a:ext cx="2355518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5850">
              <a:lnSpc>
                <a:spcPts val="2172"/>
              </a:lnSpc>
            </a:pPr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2161">
              <a:spcBef>
                <a:spcPts val="1237"/>
              </a:spcBef>
              <a:tabLst>
                <a:tab pos="1616312" algn="l"/>
                <a:tab pos="2129013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5000650" y="4011942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427921" y="4448538"/>
            <a:ext cx="666852" cy="0"/>
          </a:xfrm>
          <a:custGeom>
            <a:avLst/>
            <a:gdLst/>
            <a:ahLst/>
            <a:cxnLst/>
            <a:rect l="l" t="t" r="r" b="b"/>
            <a:pathLst>
              <a:path w="570229">
                <a:moveTo>
                  <a:pt x="0" y="0"/>
                </a:moveTo>
                <a:lnTo>
                  <a:pt x="57023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427921" y="4817967"/>
            <a:ext cx="666852" cy="0"/>
          </a:xfrm>
          <a:custGeom>
            <a:avLst/>
            <a:gdLst/>
            <a:ahLst/>
            <a:cxnLst/>
            <a:rect l="l" t="t" r="r" b="b"/>
            <a:pathLst>
              <a:path w="570229">
                <a:moveTo>
                  <a:pt x="0" y="0"/>
                </a:moveTo>
                <a:lnTo>
                  <a:pt x="57023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427921" y="5321734"/>
            <a:ext cx="666852" cy="0"/>
          </a:xfrm>
          <a:custGeom>
            <a:avLst/>
            <a:gdLst/>
            <a:ahLst/>
            <a:cxnLst/>
            <a:rect l="l" t="t" r="r" b="b"/>
            <a:pathLst>
              <a:path w="570229">
                <a:moveTo>
                  <a:pt x="0" y="0"/>
                </a:moveTo>
                <a:lnTo>
                  <a:pt x="57023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000650" y="4011942"/>
            <a:ext cx="0" cy="82562"/>
          </a:xfrm>
          <a:custGeom>
            <a:avLst/>
            <a:gdLst/>
            <a:ahLst/>
            <a:cxnLst/>
            <a:rect l="l" t="t" r="r" b="b"/>
            <a:pathLst>
              <a:path h="74929">
                <a:moveTo>
                  <a:pt x="0" y="0"/>
                </a:moveTo>
                <a:lnTo>
                  <a:pt x="0" y="7493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103684" y="4011942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577925" y="4448539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072403" y="4094503"/>
            <a:ext cx="2355518" cy="1903119"/>
          </a:xfrm>
          <a:custGeom>
            <a:avLst/>
            <a:gdLst/>
            <a:ahLst/>
            <a:cxnLst/>
            <a:rect l="l" t="t" r="r" b="b"/>
            <a:pathLst>
              <a:path w="2014220" h="1727200">
                <a:moveTo>
                  <a:pt x="0" y="1727199"/>
                </a:moveTo>
                <a:lnTo>
                  <a:pt x="2014219" y="1727199"/>
                </a:lnTo>
                <a:lnTo>
                  <a:pt x="2014219" y="0"/>
                </a:lnTo>
                <a:lnTo>
                  <a:pt x="0" y="0"/>
                </a:lnTo>
                <a:lnTo>
                  <a:pt x="0" y="1727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229832" y="4091704"/>
            <a:ext cx="2106006" cy="1810761"/>
          </a:xfrm>
          <a:custGeom>
            <a:avLst/>
            <a:gdLst/>
            <a:ahLst/>
            <a:cxnLst/>
            <a:rect l="l" t="t" r="r" b="b"/>
            <a:pathLst>
              <a:path w="1800860" h="1643379">
                <a:moveTo>
                  <a:pt x="0" y="1643380"/>
                </a:moveTo>
                <a:lnTo>
                  <a:pt x="1800860" y="1643380"/>
                </a:lnTo>
                <a:lnTo>
                  <a:pt x="1800860" y="0"/>
                </a:lnTo>
                <a:lnTo>
                  <a:pt x="0" y="0"/>
                </a:lnTo>
                <a:lnTo>
                  <a:pt x="0" y="1643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4332759" y="4136204"/>
            <a:ext cx="908196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No</a:t>
            </a:r>
            <a:r>
              <a:rPr sz="2300" spc="11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endParaRPr sz="23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997959" y="5071951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484266" y="4643049"/>
            <a:ext cx="2355518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6794" algn="ctr">
              <a:lnSpc>
                <a:spcPts val="2252"/>
              </a:lnSpc>
            </a:pPr>
            <a:r>
              <a:rPr sz="1900" spc="-6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926193">
              <a:spcBef>
                <a:spcPts val="1243"/>
              </a:spcBef>
              <a:tabLst>
                <a:tab pos="1440342" algn="l"/>
                <a:tab pos="1952319" algn="l"/>
              </a:tabLst>
            </a:pPr>
            <a:r>
              <a:rPr sz="1500" spc="-6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4231318" y="4568884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5839784" y="5005482"/>
            <a:ext cx="485659" cy="0"/>
          </a:xfrm>
          <a:custGeom>
            <a:avLst/>
            <a:gdLst/>
            <a:ahLst/>
            <a:cxnLst/>
            <a:rect l="l" t="t" r="r" b="b"/>
            <a:pathLst>
              <a:path w="415289">
                <a:moveTo>
                  <a:pt x="0" y="0"/>
                </a:moveTo>
                <a:lnTo>
                  <a:pt x="4152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839784" y="5377708"/>
            <a:ext cx="485659" cy="0"/>
          </a:xfrm>
          <a:custGeom>
            <a:avLst/>
            <a:gdLst/>
            <a:ahLst/>
            <a:cxnLst/>
            <a:rect l="l" t="t" r="r" b="b"/>
            <a:pathLst>
              <a:path w="415289">
                <a:moveTo>
                  <a:pt x="0" y="0"/>
                </a:moveTo>
                <a:lnTo>
                  <a:pt x="4152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839784" y="5881475"/>
            <a:ext cx="485659" cy="0"/>
          </a:xfrm>
          <a:custGeom>
            <a:avLst/>
            <a:gdLst/>
            <a:ahLst/>
            <a:cxnLst/>
            <a:rect l="l" t="t" r="r" b="b"/>
            <a:pathLst>
              <a:path w="415289">
                <a:moveTo>
                  <a:pt x="0" y="0"/>
                </a:moveTo>
                <a:lnTo>
                  <a:pt x="41528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231318" y="4568884"/>
            <a:ext cx="0" cy="74166"/>
          </a:xfrm>
          <a:custGeom>
            <a:avLst/>
            <a:gdLst/>
            <a:ahLst/>
            <a:cxnLst/>
            <a:rect l="l" t="t" r="r" b="b"/>
            <a:pathLst>
              <a:path h="67310">
                <a:moveTo>
                  <a:pt x="0" y="0"/>
                </a:moveTo>
                <a:lnTo>
                  <a:pt x="0" y="6731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337325" y="4568884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484266" y="4643049"/>
            <a:ext cx="2355518" cy="1905916"/>
          </a:xfrm>
          <a:custGeom>
            <a:avLst/>
            <a:gdLst/>
            <a:ahLst/>
            <a:cxnLst/>
            <a:rect l="l" t="t" r="r" b="b"/>
            <a:pathLst>
              <a:path w="2014220" h="1729739">
                <a:moveTo>
                  <a:pt x="0" y="1729739"/>
                </a:moveTo>
                <a:lnTo>
                  <a:pt x="2014220" y="1729739"/>
                </a:lnTo>
                <a:lnTo>
                  <a:pt x="2014220" y="0"/>
                </a:lnTo>
                <a:lnTo>
                  <a:pt x="0" y="0"/>
                </a:lnTo>
                <a:lnTo>
                  <a:pt x="0" y="17297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567436" y="4648647"/>
            <a:ext cx="2103035" cy="1810761"/>
          </a:xfrm>
          <a:custGeom>
            <a:avLst/>
            <a:gdLst/>
            <a:ahLst/>
            <a:cxnLst/>
            <a:rect l="l" t="t" r="r" b="b"/>
            <a:pathLst>
              <a:path w="1798320" h="1643379">
                <a:moveTo>
                  <a:pt x="0" y="1643380"/>
                </a:moveTo>
                <a:lnTo>
                  <a:pt x="1798319" y="1643380"/>
                </a:lnTo>
                <a:lnTo>
                  <a:pt x="1798319" y="0"/>
                </a:lnTo>
                <a:lnTo>
                  <a:pt x="0" y="0"/>
                </a:lnTo>
                <a:lnTo>
                  <a:pt x="0" y="16433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3669619" y="4692727"/>
            <a:ext cx="107305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No</a:t>
            </a:r>
            <a:r>
              <a:rPr sz="2300" spc="6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r>
              <a:rPr sz="2300" spc="-6" dirty="0">
                <a:latin typeface="Arial"/>
                <a:cs typeface="Arial"/>
              </a:rPr>
              <a:t>_</a:t>
            </a:r>
            <a:endParaRPr sz="23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334819" y="5628193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640676" y="5199991"/>
            <a:ext cx="2358489" cy="679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5850">
              <a:lnSpc>
                <a:spcPts val="2252"/>
              </a:lnSpc>
            </a:pPr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2161">
              <a:spcBef>
                <a:spcPts val="1237"/>
              </a:spcBef>
              <a:tabLst>
                <a:tab pos="1616312" algn="l"/>
                <a:tab pos="2129013" algn="l"/>
              </a:tabLst>
            </a:pPr>
            <a:r>
              <a:rPr sz="1500" dirty="0">
                <a:latin typeface="Arial"/>
                <a:cs typeface="Arial"/>
              </a:rPr>
              <a:t>1	2	3</a:t>
            </a:r>
            <a:endParaRPr sz="1500">
              <a:latin typeface="Arial"/>
              <a:cs typeface="Arial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3568922" y="5125825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999164" y="5562424"/>
            <a:ext cx="663882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999164" y="5931851"/>
            <a:ext cx="663882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999164" y="6435618"/>
            <a:ext cx="663882" cy="0"/>
          </a:xfrm>
          <a:custGeom>
            <a:avLst/>
            <a:gdLst/>
            <a:ahLst/>
            <a:cxnLst/>
            <a:rect l="l" t="t" r="r" b="b"/>
            <a:pathLst>
              <a:path w="567689">
                <a:moveTo>
                  <a:pt x="0" y="0"/>
                </a:moveTo>
                <a:lnTo>
                  <a:pt x="567689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3568922" y="5125825"/>
            <a:ext cx="0" cy="74166"/>
          </a:xfrm>
          <a:custGeom>
            <a:avLst/>
            <a:gdLst/>
            <a:ahLst/>
            <a:cxnLst/>
            <a:rect l="l" t="t" r="r" b="b"/>
            <a:pathLst>
              <a:path h="67310">
                <a:moveTo>
                  <a:pt x="0" y="0"/>
                </a:moveTo>
                <a:lnTo>
                  <a:pt x="0" y="6730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671956" y="5125825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099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146199" y="5562424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2640676" y="5199991"/>
            <a:ext cx="2358489" cy="1903119"/>
          </a:xfrm>
          <a:custGeom>
            <a:avLst/>
            <a:gdLst/>
            <a:ahLst/>
            <a:cxnLst/>
            <a:rect l="l" t="t" r="r" b="b"/>
            <a:pathLst>
              <a:path w="2016760" h="1727200">
                <a:moveTo>
                  <a:pt x="0" y="1727199"/>
                </a:moveTo>
                <a:lnTo>
                  <a:pt x="2016760" y="1727199"/>
                </a:lnTo>
                <a:lnTo>
                  <a:pt x="2016760" y="0"/>
                </a:lnTo>
                <a:lnTo>
                  <a:pt x="0" y="0"/>
                </a:lnTo>
                <a:lnTo>
                  <a:pt x="0" y="17271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552863" y="1200644"/>
            <a:ext cx="4244686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69642"/>
              <a:buChar char="•"/>
              <a:tabLst>
                <a:tab pos="535150" algn="l"/>
                <a:tab pos="535874" algn="l"/>
              </a:tabLst>
            </a:pPr>
            <a:r>
              <a:rPr sz="3200" dirty="0">
                <a:latin typeface="Arial"/>
                <a:cs typeface="Arial"/>
              </a:rPr>
              <a:t>Esquematica</a:t>
            </a:r>
            <a:r>
              <a:rPr sz="3200" spc="11" dirty="0">
                <a:latin typeface="Arial"/>
                <a:cs typeface="Arial"/>
              </a:rPr>
              <a:t>m</a:t>
            </a:r>
            <a:r>
              <a:rPr sz="3200" dirty="0">
                <a:latin typeface="Arial"/>
                <a:cs typeface="Arial"/>
              </a:rPr>
              <a:t>ente:</a:t>
            </a:r>
            <a:endParaRPr sz="3200">
              <a:latin typeface="Arial"/>
              <a:cs typeface="Arial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2798105" y="5199992"/>
            <a:ext cx="2106006" cy="1807961"/>
          </a:xfrm>
          <a:custGeom>
            <a:avLst/>
            <a:gdLst/>
            <a:ahLst/>
            <a:cxnLst/>
            <a:rect l="l" t="t" r="r" b="b"/>
            <a:pathLst>
              <a:path w="1800860" h="1640839">
                <a:moveTo>
                  <a:pt x="0" y="1640839"/>
                </a:moveTo>
                <a:lnTo>
                  <a:pt x="1800860" y="1640839"/>
                </a:lnTo>
                <a:lnTo>
                  <a:pt x="1800860" y="0"/>
                </a:lnTo>
                <a:lnTo>
                  <a:pt x="0" y="0"/>
                </a:lnTo>
                <a:lnTo>
                  <a:pt x="0" y="16408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2901031" y="5243790"/>
            <a:ext cx="908196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Arial"/>
                <a:cs typeface="Arial"/>
              </a:rPr>
              <a:t>No</a:t>
            </a:r>
            <a:r>
              <a:rPr sz="2300" spc="11" dirty="0">
                <a:latin typeface="Arial"/>
                <a:cs typeface="Arial"/>
              </a:rPr>
              <a:t>m</a:t>
            </a:r>
            <a:r>
              <a:rPr sz="2300" dirty="0">
                <a:latin typeface="Arial"/>
                <a:cs typeface="Arial"/>
              </a:rPr>
              <a:t>e:</a:t>
            </a:r>
            <a:endParaRPr sz="23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566231" y="6179538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4</a:t>
            </a:r>
            <a:endParaRPr sz="15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040471" y="6179538"/>
            <a:ext cx="137380" cy="230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500" spc="-6" dirty="0">
                <a:latin typeface="Arial"/>
                <a:cs typeface="Arial"/>
              </a:rPr>
              <a:t>3</a:t>
            </a:r>
            <a:endParaRPr sz="15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2889148" y="5741961"/>
            <a:ext cx="763390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900" spc="-11" dirty="0">
                <a:latin typeface="Arial"/>
                <a:cs typeface="Arial"/>
              </a:rPr>
              <a:t>notas</a:t>
            </a:r>
            <a:endParaRPr sz="1900">
              <a:latin typeface="Arial"/>
              <a:cs typeface="Arial"/>
            </a:endParaRPr>
          </a:p>
          <a:p>
            <a:pPr marL="110071">
              <a:spcBef>
                <a:spcPts val="1237"/>
              </a:spcBef>
              <a:tabLst>
                <a:tab pos="624221" algn="l"/>
              </a:tabLst>
            </a:pPr>
            <a:r>
              <a:rPr sz="1500" spc="-6" dirty="0">
                <a:latin typeface="Arial"/>
                <a:cs typeface="Arial"/>
              </a:rPr>
              <a:t>1	2</a:t>
            </a:r>
            <a:endParaRPr sz="1500">
              <a:latin typeface="Arial"/>
              <a:cs typeface="Arial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2799592" y="5677170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2799592" y="6113767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2799592" y="6483196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2799592" y="6986963"/>
            <a:ext cx="2094124" cy="0"/>
          </a:xfrm>
          <a:custGeom>
            <a:avLst/>
            <a:gdLst/>
            <a:ahLst/>
            <a:cxnLst/>
            <a:rect l="l" t="t" r="r" b="b"/>
            <a:pathLst>
              <a:path w="1790700">
                <a:moveTo>
                  <a:pt x="0" y="0"/>
                </a:moveTo>
                <a:lnTo>
                  <a:pt x="1790700" y="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2799592" y="5677171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4905596" y="5677171"/>
            <a:ext cx="0" cy="1301397"/>
          </a:xfrm>
          <a:custGeom>
            <a:avLst/>
            <a:gdLst/>
            <a:ahLst/>
            <a:cxnLst/>
            <a:rect l="l" t="t" r="r" b="b"/>
            <a:pathLst>
              <a:path h="1181100">
                <a:moveTo>
                  <a:pt x="0" y="0"/>
                </a:moveTo>
                <a:lnTo>
                  <a:pt x="0" y="1181100"/>
                </a:lnTo>
              </a:path>
            </a:pathLst>
          </a:custGeom>
          <a:ln w="279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3325349" y="6113767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3851108" y="6113767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376868" y="6113767"/>
            <a:ext cx="0" cy="864799"/>
          </a:xfrm>
          <a:custGeom>
            <a:avLst/>
            <a:gdLst/>
            <a:ahLst/>
            <a:cxnLst/>
            <a:rect l="l" t="t" r="r" b="b"/>
            <a:pathLst>
              <a:path h="784860">
                <a:moveTo>
                  <a:pt x="0" y="0"/>
                </a:moveTo>
                <a:lnTo>
                  <a:pt x="0" y="78486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/>
          <p:nvPr/>
        </p:nvSpPr>
        <p:spPr>
          <a:xfrm>
            <a:off x="4195377" y="7046086"/>
            <a:ext cx="228720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dirty="0">
                <a:solidFill>
                  <a:srgbClr val="FF0000"/>
                </a:solidFill>
                <a:latin typeface="Arial"/>
                <a:cs typeface="Arial"/>
              </a:rPr>
              <a:t>0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5221944" y="6517831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5957560" y="5962988"/>
            <a:ext cx="228720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652186" y="5408495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3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7409635" y="4851833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4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8061635" y="4376053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5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8819084" y="3819531"/>
            <a:ext cx="227977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spc="-6" dirty="0">
                <a:solidFill>
                  <a:srgbClr val="FF0000"/>
                </a:solidFill>
                <a:latin typeface="Arial"/>
                <a:cs typeface="Arial"/>
              </a:rPr>
              <a:t>6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9641882" y="3184224"/>
            <a:ext cx="228720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700" dirty="0">
                <a:solidFill>
                  <a:srgbClr val="FF0000"/>
                </a:solidFill>
                <a:latin typeface="Arial"/>
                <a:cs typeface="Arial"/>
              </a:rPr>
              <a:t>7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7286810" y="5122047"/>
            <a:ext cx="2069321" cy="16059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6004343" y="3923782"/>
            <a:ext cx="4131067" cy="3198918"/>
          </a:xfrm>
          <a:custGeom>
            <a:avLst/>
            <a:gdLst/>
            <a:ahLst/>
            <a:cxnLst/>
            <a:rect l="l" t="t" r="r" b="b"/>
            <a:pathLst>
              <a:path w="3532504" h="2903220">
                <a:moveTo>
                  <a:pt x="3469234" y="43485"/>
                </a:moveTo>
                <a:lnTo>
                  <a:pt x="0" y="2893237"/>
                </a:lnTo>
                <a:lnTo>
                  <a:pt x="8128" y="2903042"/>
                </a:lnTo>
                <a:lnTo>
                  <a:pt x="3477253" y="53250"/>
                </a:lnTo>
                <a:lnTo>
                  <a:pt x="3469234" y="43485"/>
                </a:lnTo>
                <a:close/>
              </a:path>
              <a:path w="3532504" h="2903220">
                <a:moveTo>
                  <a:pt x="3516343" y="35433"/>
                </a:moveTo>
                <a:lnTo>
                  <a:pt x="3479038" y="35433"/>
                </a:lnTo>
                <a:lnTo>
                  <a:pt x="3487039" y="45212"/>
                </a:lnTo>
                <a:lnTo>
                  <a:pt x="3477253" y="53250"/>
                </a:lnTo>
                <a:lnTo>
                  <a:pt x="3497453" y="77851"/>
                </a:lnTo>
                <a:lnTo>
                  <a:pt x="3516343" y="35433"/>
                </a:lnTo>
                <a:close/>
              </a:path>
              <a:path w="3532504" h="2903220">
                <a:moveTo>
                  <a:pt x="3479038" y="35433"/>
                </a:moveTo>
                <a:lnTo>
                  <a:pt x="3469234" y="43485"/>
                </a:lnTo>
                <a:lnTo>
                  <a:pt x="3477253" y="53250"/>
                </a:lnTo>
                <a:lnTo>
                  <a:pt x="3487039" y="45212"/>
                </a:lnTo>
                <a:lnTo>
                  <a:pt x="3479038" y="35433"/>
                </a:lnTo>
                <a:close/>
              </a:path>
              <a:path w="3532504" h="2903220">
                <a:moveTo>
                  <a:pt x="3532124" y="0"/>
                </a:moveTo>
                <a:lnTo>
                  <a:pt x="3449066" y="18923"/>
                </a:lnTo>
                <a:lnTo>
                  <a:pt x="3469234" y="43485"/>
                </a:lnTo>
                <a:lnTo>
                  <a:pt x="3479038" y="35433"/>
                </a:lnTo>
                <a:lnTo>
                  <a:pt x="3516343" y="35433"/>
                </a:lnTo>
                <a:lnTo>
                  <a:pt x="3532124" y="0"/>
                </a:lnTo>
                <a:close/>
              </a:path>
            </a:pathLst>
          </a:custGeom>
          <a:solidFill>
            <a:srgbClr val="66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1978278" y="2051450"/>
            <a:ext cx="2946626" cy="740409"/>
          </a:xfrm>
          <a:prstGeom prst="rect">
            <a:avLst/>
          </a:prstGeom>
          <a:ln w="10160">
            <a:solidFill>
              <a:srgbClr val="000000"/>
            </a:solidFill>
          </a:ln>
        </p:spPr>
        <p:txBody>
          <a:bodyPr vert="horz" wrap="square" lIns="0" tIns="39828" rIns="0" bIns="0" rtlCol="0">
            <a:spAutoFit/>
          </a:bodyPr>
          <a:lstStyle/>
          <a:p>
            <a:pPr marL="107899">
              <a:lnSpc>
                <a:spcPts val="2737"/>
              </a:lnSpc>
              <a:spcBef>
                <a:spcPts val="314"/>
              </a:spcBef>
            </a:pPr>
            <a:r>
              <a:rPr sz="2300" dirty="0">
                <a:latin typeface="Arial"/>
                <a:cs typeface="Arial"/>
              </a:rPr>
              <a:t>Cadastro de</a:t>
            </a:r>
            <a:r>
              <a:rPr sz="2300" spc="-1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notas</a:t>
            </a:r>
            <a:endParaRPr sz="2300">
              <a:latin typeface="Arial"/>
              <a:cs typeface="Arial"/>
            </a:endParaRPr>
          </a:p>
          <a:p>
            <a:pPr marL="487356"/>
            <a:r>
              <a:rPr sz="2300" dirty="0">
                <a:latin typeface="Arial"/>
                <a:cs typeface="Arial"/>
              </a:rPr>
              <a:t>escolares</a:t>
            </a:r>
            <a:endParaRPr sz="2300">
              <a:latin typeface="Arial"/>
              <a:cs typeface="Arial"/>
            </a:endParaRPr>
          </a:p>
        </p:txBody>
      </p:sp>
      <p:sp>
        <p:nvSpPr>
          <p:cNvPr id="111" name="object 1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112" name="object 112"/>
          <p:cNvSpPr/>
          <p:nvPr/>
        </p:nvSpPr>
        <p:spPr>
          <a:xfrm>
            <a:off x="7594808" y="2796943"/>
            <a:ext cx="831709" cy="0"/>
          </a:xfrm>
          <a:custGeom>
            <a:avLst/>
            <a:gdLst/>
            <a:ahLst/>
            <a:cxnLst/>
            <a:rect l="l" t="t" r="r" b="b"/>
            <a:pathLst>
              <a:path w="711200">
                <a:moveTo>
                  <a:pt x="0" y="0"/>
                </a:moveTo>
                <a:lnTo>
                  <a:pt x="711071" y="0"/>
                </a:lnTo>
              </a:path>
            </a:pathLst>
          </a:custGeom>
          <a:ln w="160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6824024" y="3351728"/>
            <a:ext cx="829481" cy="0"/>
          </a:xfrm>
          <a:custGeom>
            <a:avLst/>
            <a:gdLst/>
            <a:ahLst/>
            <a:cxnLst/>
            <a:rect l="l" t="t" r="r" b="b"/>
            <a:pathLst>
              <a:path w="709295">
                <a:moveTo>
                  <a:pt x="0" y="0"/>
                </a:moveTo>
                <a:lnTo>
                  <a:pt x="709168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6162071" y="3904891"/>
            <a:ext cx="830966" cy="0"/>
          </a:xfrm>
          <a:custGeom>
            <a:avLst/>
            <a:gdLst/>
            <a:ahLst/>
            <a:cxnLst/>
            <a:rect l="l" t="t" r="r" b="b"/>
            <a:pathLst>
              <a:path w="710564">
                <a:moveTo>
                  <a:pt x="0" y="0"/>
                </a:moveTo>
                <a:lnTo>
                  <a:pt x="710184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5225565" y="4463011"/>
            <a:ext cx="995823" cy="0"/>
          </a:xfrm>
          <a:custGeom>
            <a:avLst/>
            <a:gdLst/>
            <a:ahLst/>
            <a:cxnLst/>
            <a:rect l="l" t="t" r="r" b="b"/>
            <a:pathLst>
              <a:path w="851535">
                <a:moveTo>
                  <a:pt x="0" y="0"/>
                </a:moveTo>
                <a:lnTo>
                  <a:pt x="851455" y="0"/>
                </a:lnTo>
              </a:path>
            </a:pathLst>
          </a:custGeom>
          <a:ln w="160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4729157" y="5019475"/>
            <a:ext cx="829481" cy="0"/>
          </a:xfrm>
          <a:custGeom>
            <a:avLst/>
            <a:gdLst/>
            <a:ahLst/>
            <a:cxnLst/>
            <a:rect l="l" t="t" r="r" b="b"/>
            <a:pathLst>
              <a:path w="709295">
                <a:moveTo>
                  <a:pt x="0" y="0"/>
                </a:moveTo>
                <a:lnTo>
                  <a:pt x="709168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3793837" y="5570598"/>
            <a:ext cx="995823" cy="0"/>
          </a:xfrm>
          <a:custGeom>
            <a:avLst/>
            <a:gdLst/>
            <a:ahLst/>
            <a:cxnLst/>
            <a:rect l="l" t="t" r="r" b="b"/>
            <a:pathLst>
              <a:path w="851535">
                <a:moveTo>
                  <a:pt x="0" y="0"/>
                </a:moveTo>
                <a:lnTo>
                  <a:pt x="851455" y="0"/>
                </a:lnTo>
              </a:path>
            </a:pathLst>
          </a:custGeom>
          <a:ln w="160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132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08048" y="3338854"/>
            <a:ext cx="4544695" cy="2594398"/>
          </a:xfrm>
          <a:custGeom>
            <a:avLst/>
            <a:gdLst/>
            <a:ahLst/>
            <a:cxnLst/>
            <a:rect l="l" t="t" r="r" b="b"/>
            <a:pathLst>
              <a:path w="3886200" h="2354579">
                <a:moveTo>
                  <a:pt x="0" y="0"/>
                </a:moveTo>
                <a:lnTo>
                  <a:pt x="3886200" y="2354198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52864" y="1200643"/>
            <a:ext cx="8905968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Visão esquemática </a:t>
            </a:r>
            <a:r>
              <a:rPr sz="3400" dirty="0">
                <a:latin typeface="Arial"/>
                <a:cs typeface="Arial"/>
              </a:rPr>
              <a:t>do vetor de</a:t>
            </a:r>
            <a:r>
              <a:rPr sz="3400" spc="-11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estruturas: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2483" y="3543158"/>
            <a:ext cx="2694143" cy="775241"/>
          </a:xfrm>
          <a:prstGeom prst="rect">
            <a:avLst/>
          </a:prstGeom>
          <a:ln w="10160">
            <a:solidFill>
              <a:srgbClr val="000000"/>
            </a:solidFill>
          </a:ln>
        </p:spPr>
        <p:txBody>
          <a:bodyPr vert="horz" wrap="square" lIns="0" tIns="41277" rIns="0" bIns="0" rtlCol="0">
            <a:spAutoFit/>
          </a:bodyPr>
          <a:lstStyle/>
          <a:p>
            <a:pPr marL="488080" marR="131072" indent="-379457">
              <a:spcBef>
                <a:spcPts val="325"/>
              </a:spcBef>
            </a:pPr>
            <a:r>
              <a:rPr sz="2300" dirty="0">
                <a:latin typeface="Arial"/>
                <a:cs typeface="Arial"/>
              </a:rPr>
              <a:t>Cadastro de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notas  escolares</a:t>
            </a:r>
            <a:endParaRPr sz="23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729879" y="3727872"/>
          <a:ext cx="2916920" cy="22361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4082"/>
                <a:gridCol w="727745"/>
                <a:gridCol w="727744"/>
                <a:gridCol w="717349"/>
              </a:tblGrid>
              <a:tr h="591926">
                <a:tc gridSpan="4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005"/>
                        </a:spcBef>
                        <a:tabLst>
                          <a:tab pos="1766570" algn="l"/>
                        </a:tabLst>
                      </a:pPr>
                      <a:r>
                        <a:rPr sz="2200" dirty="0">
                          <a:latin typeface="Arial"/>
                          <a:cs typeface="Arial"/>
                        </a:rPr>
                        <a:t>Nome:_</a:t>
                      </a:r>
                      <a:r>
                        <a:rPr sz="2200" u="heavy" dirty="0">
                          <a:latin typeface="Arial"/>
                          <a:cs typeface="Arial"/>
                        </a:rPr>
                        <a:t> 	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0160">
                      <a:solidFill>
                        <a:srgbClr val="000000"/>
                      </a:solidFill>
                      <a:prstDash val="solid"/>
                    </a:lnT>
                    <a:lnB w="27939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82129">
                <a:tc gridSpan="4"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900" spc="-10" dirty="0">
                          <a:latin typeface="Arial"/>
                          <a:cs typeface="Arial"/>
                        </a:rPr>
                        <a:t>notas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27939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8987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</a:tr>
              <a:tr h="603120"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16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016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0160">
                      <a:solidFill>
                        <a:srgbClr val="000000"/>
                      </a:solidFill>
                      <a:prstDash val="solid"/>
                    </a:lnB>
                    <a:solidFill>
                      <a:srgbClr val="CCEDDF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3421887" y="1970287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21887" y="1970287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421887" y="2655970"/>
            <a:ext cx="686160" cy="671689"/>
          </a:xfrm>
          <a:custGeom>
            <a:avLst/>
            <a:gdLst/>
            <a:ahLst/>
            <a:cxnLst/>
            <a:rect l="l" t="t" r="r" b="b"/>
            <a:pathLst>
              <a:path w="586739" h="609600">
                <a:moveTo>
                  <a:pt x="0" y="609600"/>
                </a:moveTo>
                <a:lnTo>
                  <a:pt x="586740" y="609600"/>
                </a:lnTo>
                <a:lnTo>
                  <a:pt x="58674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solidFill>
            <a:srgbClr val="3193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21887" y="2655970"/>
            <a:ext cx="686160" cy="671689"/>
          </a:xfrm>
          <a:custGeom>
            <a:avLst/>
            <a:gdLst/>
            <a:ahLst/>
            <a:cxnLst/>
            <a:rect l="l" t="t" r="r" b="b"/>
            <a:pathLst>
              <a:path w="586739" h="609600">
                <a:moveTo>
                  <a:pt x="0" y="609600"/>
                </a:moveTo>
                <a:lnTo>
                  <a:pt x="586740" y="609600"/>
                </a:lnTo>
                <a:lnTo>
                  <a:pt x="58674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21887" y="3338853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21887" y="3338853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21887" y="4027333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21887" y="4027333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21887" y="4710218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21887" y="4710218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21887" y="5395901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421887" y="5395901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39">
                <a:moveTo>
                  <a:pt x="0" y="612139"/>
                </a:moveTo>
                <a:lnTo>
                  <a:pt x="586740" y="612139"/>
                </a:lnTo>
                <a:lnTo>
                  <a:pt x="586740" y="0"/>
                </a:lnTo>
                <a:lnTo>
                  <a:pt x="0" y="0"/>
                </a:lnTo>
                <a:lnTo>
                  <a:pt x="0" y="61213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421887" y="6081583"/>
            <a:ext cx="686160" cy="671689"/>
          </a:xfrm>
          <a:custGeom>
            <a:avLst/>
            <a:gdLst/>
            <a:ahLst/>
            <a:cxnLst/>
            <a:rect l="l" t="t" r="r" b="b"/>
            <a:pathLst>
              <a:path w="586739" h="609600">
                <a:moveTo>
                  <a:pt x="0" y="609599"/>
                </a:moveTo>
                <a:lnTo>
                  <a:pt x="586740" y="609599"/>
                </a:lnTo>
                <a:lnTo>
                  <a:pt x="586740" y="0"/>
                </a:lnTo>
                <a:lnTo>
                  <a:pt x="0" y="0"/>
                </a:lnTo>
                <a:lnTo>
                  <a:pt x="0" y="609599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421887" y="6081583"/>
            <a:ext cx="686160" cy="671689"/>
          </a:xfrm>
          <a:custGeom>
            <a:avLst/>
            <a:gdLst/>
            <a:ahLst/>
            <a:cxnLst/>
            <a:rect l="l" t="t" r="r" b="b"/>
            <a:pathLst>
              <a:path w="586739" h="609600">
                <a:moveTo>
                  <a:pt x="0" y="609599"/>
                </a:moveTo>
                <a:lnTo>
                  <a:pt x="586740" y="609599"/>
                </a:lnTo>
                <a:lnTo>
                  <a:pt x="586740" y="0"/>
                </a:lnTo>
                <a:lnTo>
                  <a:pt x="0" y="0"/>
                </a:lnTo>
                <a:lnTo>
                  <a:pt x="0" y="60959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421887" y="6750472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40">
                <a:moveTo>
                  <a:pt x="0" y="612140"/>
                </a:moveTo>
                <a:lnTo>
                  <a:pt x="586740" y="612140"/>
                </a:lnTo>
                <a:lnTo>
                  <a:pt x="586740" y="0"/>
                </a:lnTo>
                <a:lnTo>
                  <a:pt x="0" y="0"/>
                </a:lnTo>
                <a:lnTo>
                  <a:pt x="0" y="612140"/>
                </a:lnTo>
                <a:close/>
              </a:path>
            </a:pathLst>
          </a:custGeom>
          <a:solidFill>
            <a:srgbClr val="CCED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421887" y="6750472"/>
            <a:ext cx="686160" cy="674488"/>
          </a:xfrm>
          <a:custGeom>
            <a:avLst/>
            <a:gdLst/>
            <a:ahLst/>
            <a:cxnLst/>
            <a:rect l="l" t="t" r="r" b="b"/>
            <a:pathLst>
              <a:path w="586739" h="612140">
                <a:moveTo>
                  <a:pt x="0" y="612140"/>
                </a:moveTo>
                <a:lnTo>
                  <a:pt x="586740" y="612140"/>
                </a:lnTo>
                <a:lnTo>
                  <a:pt x="586740" y="0"/>
                </a:lnTo>
                <a:lnTo>
                  <a:pt x="0" y="0"/>
                </a:lnTo>
                <a:lnTo>
                  <a:pt x="0" y="612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027569" y="2186766"/>
            <a:ext cx="195303" cy="9643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0</a:t>
            </a:r>
            <a:endParaRPr sz="2300">
              <a:latin typeface="Arial"/>
              <a:cs typeface="Arial"/>
            </a:endParaRPr>
          </a:p>
          <a:p>
            <a:pPr marL="14483">
              <a:spcBef>
                <a:spcPts val="2040"/>
              </a:spcBef>
            </a:pPr>
            <a:r>
              <a:rPr sz="2300" spc="-6" dirty="0">
                <a:latin typeface="Arial"/>
                <a:cs typeface="Arial"/>
              </a:rPr>
              <a:t>1</a:t>
            </a:r>
            <a:endParaRPr sz="23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27569" y="3508175"/>
            <a:ext cx="19530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2</a:t>
            </a:r>
            <a:endParaRPr sz="23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27569" y="4094224"/>
            <a:ext cx="19530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3</a:t>
            </a:r>
            <a:endParaRPr sz="23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27569" y="4830982"/>
            <a:ext cx="195303" cy="2380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Arial"/>
                <a:cs typeface="Arial"/>
              </a:rPr>
              <a:t>4</a:t>
            </a:r>
            <a:endParaRPr sz="2300">
              <a:latin typeface="Arial"/>
              <a:cs typeface="Arial"/>
            </a:endParaRPr>
          </a:p>
          <a:p>
            <a:pPr>
              <a:spcBef>
                <a:spcPts val="17"/>
              </a:spcBef>
            </a:pPr>
            <a:endParaRPr>
              <a:latin typeface="Times New Roman"/>
              <a:cs typeface="Times New Roman"/>
            </a:endParaRPr>
          </a:p>
          <a:p>
            <a:pPr marL="14483">
              <a:spcBef>
                <a:spcPts val="6"/>
              </a:spcBef>
            </a:pPr>
            <a:r>
              <a:rPr sz="2300" spc="-6" dirty="0">
                <a:latin typeface="Arial"/>
                <a:cs typeface="Arial"/>
              </a:rPr>
              <a:t>5</a:t>
            </a:r>
            <a:endParaRPr sz="2300">
              <a:latin typeface="Arial"/>
              <a:cs typeface="Arial"/>
            </a:endParaRPr>
          </a:p>
          <a:p>
            <a:pPr>
              <a:spcBef>
                <a:spcPts val="34"/>
              </a:spcBef>
            </a:pPr>
            <a:endParaRPr sz="2800">
              <a:latin typeface="Times New Roman"/>
              <a:cs typeface="Times New Roman"/>
            </a:endParaRPr>
          </a:p>
          <a:p>
            <a:pPr marL="14483"/>
            <a:r>
              <a:rPr sz="2300" dirty="0">
                <a:latin typeface="Arial"/>
                <a:cs typeface="Arial"/>
              </a:rPr>
              <a:t>6</a:t>
            </a:r>
            <a:endParaRPr sz="2300">
              <a:latin typeface="Arial"/>
              <a:cs typeface="Arial"/>
            </a:endParaRPr>
          </a:p>
          <a:p>
            <a:pPr marL="14483">
              <a:spcBef>
                <a:spcPts val="2040"/>
              </a:spcBef>
            </a:pPr>
            <a:r>
              <a:rPr sz="2300" spc="-6" dirty="0">
                <a:latin typeface="Arial"/>
                <a:cs typeface="Arial"/>
              </a:rPr>
              <a:t>7</a:t>
            </a:r>
            <a:endParaRPr sz="23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27" name="object 27"/>
          <p:cNvSpPr/>
          <p:nvPr/>
        </p:nvSpPr>
        <p:spPr>
          <a:xfrm>
            <a:off x="4108048" y="2655970"/>
            <a:ext cx="4529843" cy="1083098"/>
          </a:xfrm>
          <a:custGeom>
            <a:avLst/>
            <a:gdLst/>
            <a:ahLst/>
            <a:cxnLst/>
            <a:rect l="l" t="t" r="r" b="b"/>
            <a:pathLst>
              <a:path w="3873500" h="982979">
                <a:moveTo>
                  <a:pt x="0" y="0"/>
                </a:moveTo>
                <a:lnTo>
                  <a:pt x="3873500" y="982726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421887" y="2661566"/>
            <a:ext cx="2315418" cy="1074003"/>
          </a:xfrm>
          <a:custGeom>
            <a:avLst/>
            <a:gdLst/>
            <a:ahLst/>
            <a:cxnLst/>
            <a:rect l="l" t="t" r="r" b="b"/>
            <a:pathLst>
              <a:path w="1979929" h="974725">
                <a:moveTo>
                  <a:pt x="0" y="0"/>
                </a:moveTo>
                <a:lnTo>
                  <a:pt x="1979548" y="974725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421887" y="3324861"/>
            <a:ext cx="2311705" cy="2646874"/>
          </a:xfrm>
          <a:custGeom>
            <a:avLst/>
            <a:gdLst/>
            <a:ahLst/>
            <a:cxnLst/>
            <a:rect l="l" t="t" r="r" b="b"/>
            <a:pathLst>
              <a:path w="1976754" h="2402204">
                <a:moveTo>
                  <a:pt x="0" y="0"/>
                </a:moveTo>
                <a:lnTo>
                  <a:pt x="1976373" y="2401951"/>
                </a:lnTo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5042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7464" y="1704829"/>
            <a:ext cx="9565394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5874" indent="-521391">
              <a:buClr>
                <a:srgbClr val="852B34"/>
              </a:buClr>
              <a:buSzPct val="70000"/>
              <a:buChar char="•"/>
              <a:tabLst>
                <a:tab pos="535150" algn="l"/>
                <a:tab pos="535874" algn="l"/>
              </a:tabLst>
            </a:pPr>
            <a:r>
              <a:rPr sz="3400" spc="-6" dirty="0">
                <a:latin typeface="Arial"/>
                <a:cs typeface="Arial"/>
              </a:rPr>
              <a:t>Definição da </a:t>
            </a:r>
            <a:r>
              <a:rPr sz="3400" dirty="0">
                <a:latin typeface="Arial"/>
                <a:cs typeface="Arial"/>
              </a:rPr>
              <a:t>estrutura </a:t>
            </a:r>
            <a:r>
              <a:rPr sz="3400" spc="-6" dirty="0">
                <a:latin typeface="Arial"/>
                <a:cs typeface="Arial"/>
              </a:rPr>
              <a:t>e do </a:t>
            </a:r>
            <a:r>
              <a:rPr sz="3400" dirty="0">
                <a:latin typeface="Arial"/>
                <a:cs typeface="Arial"/>
              </a:rPr>
              <a:t>vetor </a:t>
            </a:r>
            <a:r>
              <a:rPr sz="3400" spc="-6" dirty="0">
                <a:latin typeface="Arial"/>
                <a:cs typeface="Arial"/>
              </a:rPr>
              <a:t>de 8</a:t>
            </a:r>
            <a:r>
              <a:rPr sz="3400" spc="-86" dirty="0">
                <a:latin typeface="Arial"/>
                <a:cs typeface="Arial"/>
              </a:rPr>
              <a:t> </a:t>
            </a:r>
            <a:r>
              <a:rPr sz="3400" spc="-6" dirty="0">
                <a:latin typeface="Arial"/>
                <a:cs typeface="Arial"/>
              </a:rPr>
              <a:t>alunos.</a:t>
            </a:r>
            <a:endParaRPr sz="3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29" dirty="0"/>
              <a:t>Vetores </a:t>
            </a:r>
            <a:r>
              <a:rPr dirty="0"/>
              <a:t>de</a:t>
            </a:r>
            <a:r>
              <a:rPr spc="-23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/>
          <p:nvPr/>
        </p:nvSpPr>
        <p:spPr>
          <a:xfrm>
            <a:off x="2382251" y="2700749"/>
            <a:ext cx="5489279" cy="4172867"/>
          </a:xfrm>
          <a:custGeom>
            <a:avLst/>
            <a:gdLst/>
            <a:ahLst/>
            <a:cxnLst/>
            <a:rect l="l" t="t" r="r" b="b"/>
            <a:pathLst>
              <a:path w="4693920" h="3787140">
                <a:moveTo>
                  <a:pt x="0" y="3787140"/>
                </a:moveTo>
                <a:lnTo>
                  <a:pt x="4693920" y="3787140"/>
                </a:lnTo>
                <a:lnTo>
                  <a:pt x="469392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82251" y="2700749"/>
            <a:ext cx="5489279" cy="4172867"/>
          </a:xfrm>
          <a:custGeom>
            <a:avLst/>
            <a:gdLst/>
            <a:ahLst/>
            <a:cxnLst/>
            <a:rect l="l" t="t" r="r" b="b"/>
            <a:pathLst>
              <a:path w="4693920" h="3787140">
                <a:moveTo>
                  <a:pt x="0" y="3787140"/>
                </a:moveTo>
                <a:lnTo>
                  <a:pt x="4693920" y="3787140"/>
                </a:lnTo>
                <a:lnTo>
                  <a:pt x="4693920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202804" y="2733913"/>
            <a:ext cx="1280980" cy="425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str</a:t>
            </a:r>
            <a:r>
              <a:rPr sz="2700" b="1" spc="-23" dirty="0">
                <a:solidFill>
                  <a:srgbClr val="00009F"/>
                </a:solidFill>
                <a:latin typeface="Courier New"/>
                <a:cs typeface="Courier New"/>
              </a:rPr>
              <a:t>u</a:t>
            </a: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ct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96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2491414" y="2733913"/>
            <a:ext cx="1497076" cy="16619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417113"/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char  float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91414" y="3540360"/>
            <a:ext cx="3630558" cy="1246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59894"/>
            <a:r>
              <a:rPr sz="2700" spc="-11" dirty="0">
                <a:latin typeface="Courier New"/>
                <a:cs typeface="Courier New"/>
              </a:rPr>
              <a:t>nome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11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z="27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1668451"/>
            <a:r>
              <a:rPr sz="2700" spc="-6" dirty="0">
                <a:latin typeface="Courier New"/>
                <a:cs typeface="Courier New"/>
              </a:rPr>
              <a:t>not</a:t>
            </a:r>
            <a:r>
              <a:rPr sz="2700" spc="-23" dirty="0">
                <a:latin typeface="Courier New"/>
                <a:cs typeface="Courier New"/>
              </a:rPr>
              <a:t>a</a:t>
            </a:r>
            <a:r>
              <a:rPr sz="2700" dirty="0">
                <a:latin typeface="Courier New"/>
                <a:cs typeface="Courier New"/>
              </a:rPr>
              <a:t>s</a:t>
            </a:r>
            <a:r>
              <a:rPr sz="2700" spc="-29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19150" y="4346666"/>
            <a:ext cx="1283951" cy="4254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spc="-6" dirty="0">
                <a:latin typeface="Courier New"/>
                <a:cs typeface="Courier New"/>
              </a:rPr>
              <a:t>Alun</a:t>
            </a:r>
            <a:r>
              <a:rPr sz="2700" dirty="0">
                <a:latin typeface="Courier New"/>
                <a:cs typeface="Courier New"/>
              </a:rPr>
              <a:t>o</a:t>
            </a: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7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91414" y="5152833"/>
            <a:ext cx="5132089" cy="16748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7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7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main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7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700">
              <a:latin typeface="Courier New"/>
              <a:cs typeface="Courier New"/>
            </a:endParaRPr>
          </a:p>
          <a:p>
            <a:pPr marL="624945">
              <a:spcBef>
                <a:spcPts val="68"/>
              </a:spcBef>
            </a:pPr>
            <a:r>
              <a:rPr sz="2700" spc="-6" dirty="0">
                <a:latin typeface="Courier New"/>
                <a:cs typeface="Courier New"/>
              </a:rPr>
              <a:t>Aluno</a:t>
            </a:r>
            <a:r>
              <a:rPr sz="2700" spc="-80" dirty="0">
                <a:latin typeface="Courier New"/>
                <a:cs typeface="Courier New"/>
              </a:rPr>
              <a:t> </a:t>
            </a:r>
            <a:r>
              <a:rPr sz="2700" spc="-6" dirty="0">
                <a:latin typeface="Courier New"/>
                <a:cs typeface="Courier New"/>
              </a:rPr>
              <a:t>notasAlunos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7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700" spc="-6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700">
              <a:latin typeface="Courier New"/>
              <a:cs typeface="Courier New"/>
            </a:endParaRPr>
          </a:p>
          <a:p>
            <a:pPr marL="576425"/>
            <a:r>
              <a:rPr sz="2700" spc="-6" dirty="0">
                <a:latin typeface="Courier New"/>
                <a:cs typeface="Courier New"/>
              </a:rPr>
              <a:t>...</a:t>
            </a:r>
            <a:endParaRPr sz="27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75364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18928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dirty="0"/>
              <a:t>Procedimento para ler os dados dos</a:t>
            </a:r>
            <a:r>
              <a:rPr spc="-97" dirty="0"/>
              <a:t> </a:t>
            </a:r>
            <a:r>
              <a:rPr dirty="0"/>
              <a:t>alunos:</a:t>
            </a:r>
          </a:p>
          <a:p>
            <a:pPr>
              <a:spcBef>
                <a:spcPts val="17"/>
              </a:spcBef>
            </a:pPr>
            <a:endParaRPr sz="3000">
              <a:latin typeface="Times New Roman"/>
              <a:cs typeface="Times New Roman"/>
            </a:endParaRPr>
          </a:p>
          <a:p>
            <a:pPr marL="130202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29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130202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164962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97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6157319" y="3318142"/>
            <a:ext cx="1426529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7319" y="4326515"/>
            <a:ext cx="1782976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13441" y="3318142"/>
            <a:ext cx="3565952" cy="176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i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56994" y="4998065"/>
            <a:ext cx="5882855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2782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  <a:p>
            <a:pPr marL="695188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08201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15388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dirty="0"/>
              <a:t>Procedimento para ler os dados dos</a:t>
            </a:r>
            <a:r>
              <a:rPr spc="-97" dirty="0"/>
              <a:t> </a:t>
            </a:r>
            <a:r>
              <a:rPr dirty="0"/>
              <a:t>alunos:</a:t>
            </a:r>
          </a:p>
          <a:p>
            <a:pPr>
              <a:spcBef>
                <a:spcPts val="17"/>
              </a:spcBef>
            </a:pPr>
            <a:endParaRPr sz="3000">
              <a:latin typeface="Times New Roman"/>
              <a:cs typeface="Times New Roman"/>
            </a:endParaRPr>
          </a:p>
          <a:p>
            <a:pPr marL="130202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29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130202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8590" y="2982298"/>
            <a:ext cx="5200408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42467" y="4326516"/>
            <a:ext cx="181268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5036" y="3990251"/>
            <a:ext cx="3239209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11482" y="4998065"/>
            <a:ext cx="4843219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55036" y="533433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8590" y="5670174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42143" y="6011616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49168" y="2660168"/>
            <a:ext cx="3763483" cy="3897195"/>
          </a:xfrm>
          <a:custGeom>
            <a:avLst/>
            <a:gdLst/>
            <a:ahLst/>
            <a:cxnLst/>
            <a:rect l="l" t="t" r="r" b="b"/>
            <a:pathLst>
              <a:path w="3218179" h="3536950">
                <a:moveTo>
                  <a:pt x="0" y="0"/>
                </a:moveTo>
                <a:lnTo>
                  <a:pt x="1010538" y="1561845"/>
                </a:lnTo>
                <a:lnTo>
                  <a:pt x="1010538" y="3169030"/>
                </a:lnTo>
                <a:lnTo>
                  <a:pt x="1013405" y="3215185"/>
                </a:lnTo>
                <a:lnTo>
                  <a:pt x="1021775" y="3259627"/>
                </a:lnTo>
                <a:lnTo>
                  <a:pt x="1035303" y="3302013"/>
                </a:lnTo>
                <a:lnTo>
                  <a:pt x="1053645" y="3341998"/>
                </a:lnTo>
                <a:lnTo>
                  <a:pt x="1076456" y="3379238"/>
                </a:lnTo>
                <a:lnTo>
                  <a:pt x="1103392" y="3413387"/>
                </a:lnTo>
                <a:lnTo>
                  <a:pt x="1134106" y="3444101"/>
                </a:lnTo>
                <a:lnTo>
                  <a:pt x="1168256" y="3471035"/>
                </a:lnTo>
                <a:lnTo>
                  <a:pt x="1205495" y="3493845"/>
                </a:lnTo>
                <a:lnTo>
                  <a:pt x="1245480" y="3512186"/>
                </a:lnTo>
                <a:lnTo>
                  <a:pt x="1287865" y="3525714"/>
                </a:lnTo>
                <a:lnTo>
                  <a:pt x="1332306" y="3534083"/>
                </a:lnTo>
                <a:lnTo>
                  <a:pt x="1378458" y="3536950"/>
                </a:lnTo>
                <a:lnTo>
                  <a:pt x="2849880" y="3536950"/>
                </a:lnTo>
                <a:lnTo>
                  <a:pt x="2896031" y="3534083"/>
                </a:lnTo>
                <a:lnTo>
                  <a:pt x="2940472" y="3525714"/>
                </a:lnTo>
                <a:lnTo>
                  <a:pt x="2982857" y="3512186"/>
                </a:lnTo>
                <a:lnTo>
                  <a:pt x="3022842" y="3493845"/>
                </a:lnTo>
                <a:lnTo>
                  <a:pt x="3060081" y="3471035"/>
                </a:lnTo>
                <a:lnTo>
                  <a:pt x="3094231" y="3444101"/>
                </a:lnTo>
                <a:lnTo>
                  <a:pt x="3124945" y="3413387"/>
                </a:lnTo>
                <a:lnTo>
                  <a:pt x="3151881" y="3379238"/>
                </a:lnTo>
                <a:lnTo>
                  <a:pt x="3174692" y="3341998"/>
                </a:lnTo>
                <a:lnTo>
                  <a:pt x="3193034" y="3302013"/>
                </a:lnTo>
                <a:lnTo>
                  <a:pt x="3206562" y="3259627"/>
                </a:lnTo>
                <a:lnTo>
                  <a:pt x="3214932" y="3215185"/>
                </a:lnTo>
                <a:lnTo>
                  <a:pt x="3217798" y="3169030"/>
                </a:lnTo>
                <a:lnTo>
                  <a:pt x="3217798" y="715390"/>
                </a:lnTo>
                <a:lnTo>
                  <a:pt x="1010538" y="715390"/>
                </a:lnTo>
                <a:lnTo>
                  <a:pt x="0" y="0"/>
                </a:lnTo>
                <a:close/>
              </a:path>
              <a:path w="3218179" h="3536950">
                <a:moveTo>
                  <a:pt x="2849880" y="151129"/>
                </a:moveTo>
                <a:lnTo>
                  <a:pt x="1378458" y="151129"/>
                </a:lnTo>
                <a:lnTo>
                  <a:pt x="1332306" y="153996"/>
                </a:lnTo>
                <a:lnTo>
                  <a:pt x="1287865" y="162366"/>
                </a:lnTo>
                <a:lnTo>
                  <a:pt x="1245480" y="175894"/>
                </a:lnTo>
                <a:lnTo>
                  <a:pt x="1205495" y="194236"/>
                </a:lnTo>
                <a:lnTo>
                  <a:pt x="1168256" y="217047"/>
                </a:lnTo>
                <a:lnTo>
                  <a:pt x="1134106" y="243983"/>
                </a:lnTo>
                <a:lnTo>
                  <a:pt x="1103392" y="274697"/>
                </a:lnTo>
                <a:lnTo>
                  <a:pt x="1076456" y="308847"/>
                </a:lnTo>
                <a:lnTo>
                  <a:pt x="1053645" y="346086"/>
                </a:lnTo>
                <a:lnTo>
                  <a:pt x="1035303" y="386071"/>
                </a:lnTo>
                <a:lnTo>
                  <a:pt x="1021775" y="428456"/>
                </a:lnTo>
                <a:lnTo>
                  <a:pt x="1013405" y="472897"/>
                </a:lnTo>
                <a:lnTo>
                  <a:pt x="1010538" y="519049"/>
                </a:lnTo>
                <a:lnTo>
                  <a:pt x="1010538" y="715390"/>
                </a:lnTo>
                <a:lnTo>
                  <a:pt x="3217798" y="715390"/>
                </a:lnTo>
                <a:lnTo>
                  <a:pt x="3217798" y="519049"/>
                </a:lnTo>
                <a:lnTo>
                  <a:pt x="3214932" y="472897"/>
                </a:lnTo>
                <a:lnTo>
                  <a:pt x="3206562" y="428456"/>
                </a:lnTo>
                <a:lnTo>
                  <a:pt x="3193034" y="386071"/>
                </a:lnTo>
                <a:lnTo>
                  <a:pt x="3174692" y="346086"/>
                </a:lnTo>
                <a:lnTo>
                  <a:pt x="3151881" y="308847"/>
                </a:lnTo>
                <a:lnTo>
                  <a:pt x="3124945" y="274697"/>
                </a:lnTo>
                <a:lnTo>
                  <a:pt x="3094231" y="243983"/>
                </a:lnTo>
                <a:lnTo>
                  <a:pt x="3060081" y="217047"/>
                </a:lnTo>
                <a:lnTo>
                  <a:pt x="3022842" y="194236"/>
                </a:lnTo>
                <a:lnTo>
                  <a:pt x="2982857" y="175894"/>
                </a:lnTo>
                <a:lnTo>
                  <a:pt x="2940472" y="162366"/>
                </a:lnTo>
                <a:lnTo>
                  <a:pt x="2896031" y="153996"/>
                </a:lnTo>
                <a:lnTo>
                  <a:pt x="2849880" y="151129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749168" y="2660168"/>
            <a:ext cx="3763483" cy="3897195"/>
          </a:xfrm>
          <a:custGeom>
            <a:avLst/>
            <a:gdLst/>
            <a:ahLst/>
            <a:cxnLst/>
            <a:rect l="l" t="t" r="r" b="b"/>
            <a:pathLst>
              <a:path w="3218179" h="3536950">
                <a:moveTo>
                  <a:pt x="1010538" y="519049"/>
                </a:moveTo>
                <a:lnTo>
                  <a:pt x="1013405" y="472897"/>
                </a:lnTo>
                <a:lnTo>
                  <a:pt x="1021775" y="428456"/>
                </a:lnTo>
                <a:lnTo>
                  <a:pt x="1035303" y="386071"/>
                </a:lnTo>
                <a:lnTo>
                  <a:pt x="1053645" y="346086"/>
                </a:lnTo>
                <a:lnTo>
                  <a:pt x="1076456" y="308847"/>
                </a:lnTo>
                <a:lnTo>
                  <a:pt x="1103392" y="274697"/>
                </a:lnTo>
                <a:lnTo>
                  <a:pt x="1134106" y="243983"/>
                </a:lnTo>
                <a:lnTo>
                  <a:pt x="1168256" y="217047"/>
                </a:lnTo>
                <a:lnTo>
                  <a:pt x="1205495" y="194236"/>
                </a:lnTo>
                <a:lnTo>
                  <a:pt x="1245480" y="175894"/>
                </a:lnTo>
                <a:lnTo>
                  <a:pt x="1287865" y="162366"/>
                </a:lnTo>
                <a:lnTo>
                  <a:pt x="1332306" y="153996"/>
                </a:lnTo>
                <a:lnTo>
                  <a:pt x="1378458" y="151129"/>
                </a:lnTo>
                <a:lnTo>
                  <a:pt x="1930272" y="151129"/>
                </a:lnTo>
                <a:lnTo>
                  <a:pt x="2849880" y="151129"/>
                </a:lnTo>
                <a:lnTo>
                  <a:pt x="2896031" y="153996"/>
                </a:lnTo>
                <a:lnTo>
                  <a:pt x="2940472" y="162366"/>
                </a:lnTo>
                <a:lnTo>
                  <a:pt x="2982857" y="175894"/>
                </a:lnTo>
                <a:lnTo>
                  <a:pt x="3022842" y="194236"/>
                </a:lnTo>
                <a:lnTo>
                  <a:pt x="3060081" y="217047"/>
                </a:lnTo>
                <a:lnTo>
                  <a:pt x="3094231" y="243983"/>
                </a:lnTo>
                <a:lnTo>
                  <a:pt x="3124945" y="274697"/>
                </a:lnTo>
                <a:lnTo>
                  <a:pt x="3151881" y="308847"/>
                </a:lnTo>
                <a:lnTo>
                  <a:pt x="3174692" y="346086"/>
                </a:lnTo>
                <a:lnTo>
                  <a:pt x="3193034" y="386071"/>
                </a:lnTo>
                <a:lnTo>
                  <a:pt x="3206562" y="428456"/>
                </a:lnTo>
                <a:lnTo>
                  <a:pt x="3214932" y="472897"/>
                </a:lnTo>
                <a:lnTo>
                  <a:pt x="3217798" y="519049"/>
                </a:lnTo>
                <a:lnTo>
                  <a:pt x="3217798" y="715390"/>
                </a:lnTo>
                <a:lnTo>
                  <a:pt x="3217798" y="1561845"/>
                </a:lnTo>
                <a:lnTo>
                  <a:pt x="3217798" y="3169030"/>
                </a:lnTo>
                <a:lnTo>
                  <a:pt x="3214932" y="3215185"/>
                </a:lnTo>
                <a:lnTo>
                  <a:pt x="3206562" y="3259627"/>
                </a:lnTo>
                <a:lnTo>
                  <a:pt x="3193034" y="3302013"/>
                </a:lnTo>
                <a:lnTo>
                  <a:pt x="3174692" y="3341998"/>
                </a:lnTo>
                <a:lnTo>
                  <a:pt x="3151881" y="3379238"/>
                </a:lnTo>
                <a:lnTo>
                  <a:pt x="3124945" y="3413387"/>
                </a:lnTo>
                <a:lnTo>
                  <a:pt x="3094231" y="3444101"/>
                </a:lnTo>
                <a:lnTo>
                  <a:pt x="3060081" y="3471035"/>
                </a:lnTo>
                <a:lnTo>
                  <a:pt x="3022842" y="3493845"/>
                </a:lnTo>
                <a:lnTo>
                  <a:pt x="2982857" y="3512186"/>
                </a:lnTo>
                <a:lnTo>
                  <a:pt x="2940472" y="3525714"/>
                </a:lnTo>
                <a:lnTo>
                  <a:pt x="2896031" y="3534083"/>
                </a:lnTo>
                <a:lnTo>
                  <a:pt x="2849880" y="3536950"/>
                </a:lnTo>
                <a:lnTo>
                  <a:pt x="1930272" y="3536950"/>
                </a:lnTo>
                <a:lnTo>
                  <a:pt x="1378458" y="3536950"/>
                </a:lnTo>
                <a:lnTo>
                  <a:pt x="1332306" y="3534083"/>
                </a:lnTo>
                <a:lnTo>
                  <a:pt x="1287865" y="3525714"/>
                </a:lnTo>
                <a:lnTo>
                  <a:pt x="1245480" y="3512186"/>
                </a:lnTo>
                <a:lnTo>
                  <a:pt x="1205495" y="3493845"/>
                </a:lnTo>
                <a:lnTo>
                  <a:pt x="1168256" y="3471035"/>
                </a:lnTo>
                <a:lnTo>
                  <a:pt x="1134106" y="3444101"/>
                </a:lnTo>
                <a:lnTo>
                  <a:pt x="1103392" y="3413387"/>
                </a:lnTo>
                <a:lnTo>
                  <a:pt x="1076456" y="3379238"/>
                </a:lnTo>
                <a:lnTo>
                  <a:pt x="1053645" y="3341998"/>
                </a:lnTo>
                <a:lnTo>
                  <a:pt x="1035303" y="3302013"/>
                </a:lnTo>
                <a:lnTo>
                  <a:pt x="1021775" y="3259627"/>
                </a:lnTo>
                <a:lnTo>
                  <a:pt x="1013405" y="3215185"/>
                </a:lnTo>
                <a:lnTo>
                  <a:pt x="1010538" y="3169030"/>
                </a:lnTo>
                <a:lnTo>
                  <a:pt x="1010538" y="1561845"/>
                </a:lnTo>
                <a:lnTo>
                  <a:pt x="0" y="0"/>
                </a:lnTo>
                <a:lnTo>
                  <a:pt x="1010538" y="715390"/>
                </a:lnTo>
                <a:lnTo>
                  <a:pt x="1010538" y="51904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065348" y="3069479"/>
            <a:ext cx="2314676" cy="10105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038" marR="126727" algn="ctr"/>
            <a:r>
              <a:rPr spc="-6" dirty="0">
                <a:latin typeface="Arial"/>
                <a:cs typeface="Arial"/>
              </a:rPr>
              <a:t>Assim como</a:t>
            </a:r>
            <a:r>
              <a:rPr spc="-51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ocorre  com tipos</a:t>
            </a:r>
            <a:r>
              <a:rPr spc="-57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básicos:</a:t>
            </a:r>
            <a:endParaRPr>
              <a:latin typeface="Arial"/>
              <a:cs typeface="Arial"/>
            </a:endParaRPr>
          </a:p>
          <a:p>
            <a:pPr algn="ctr">
              <a:spcBef>
                <a:spcPts val="1368"/>
              </a:spcBef>
            </a:pPr>
            <a:r>
              <a:rPr dirty="0">
                <a:latin typeface="Arial"/>
                <a:cs typeface="Arial"/>
              </a:rPr>
              <a:t>- </a:t>
            </a:r>
            <a:r>
              <a:rPr spc="-11" dirty="0">
                <a:latin typeface="Arial"/>
                <a:cs typeface="Arial"/>
              </a:rPr>
              <a:t>Alterações </a:t>
            </a:r>
            <a:r>
              <a:rPr spc="-6" dirty="0">
                <a:latin typeface="Arial"/>
                <a:cs typeface="Arial"/>
              </a:rPr>
              <a:t>feitas</a:t>
            </a:r>
            <a:r>
              <a:rPr spc="-74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em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98</a:t>
            </a:fld>
            <a:endParaRPr dirty="0"/>
          </a:p>
        </p:txBody>
      </p:sp>
      <p:sp>
        <p:nvSpPr>
          <p:cNvPr id="16" name="object 16"/>
          <p:cNvSpPr txBox="1"/>
          <p:nvPr/>
        </p:nvSpPr>
        <p:spPr>
          <a:xfrm>
            <a:off x="8508382" y="4043846"/>
            <a:ext cx="1430242" cy="5492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Arial"/>
                <a:cs typeface="Arial"/>
              </a:rPr>
              <a:t>uma</a:t>
            </a:r>
            <a:r>
              <a:rPr spc="-86" dirty="0">
                <a:latin typeface="Arial"/>
                <a:cs typeface="Arial"/>
              </a:rPr>
              <a:t> </a:t>
            </a:r>
            <a:r>
              <a:rPr b="1" spc="-17" dirty="0">
                <a:solidFill>
                  <a:srgbClr val="00664D"/>
                </a:solidFill>
                <a:latin typeface="Arial"/>
                <a:cs typeface="Arial"/>
              </a:rPr>
              <a:t>variável</a:t>
            </a:r>
            <a:endParaRPr>
              <a:latin typeface="Arial"/>
              <a:cs typeface="Arial"/>
            </a:endParaRPr>
          </a:p>
          <a:p>
            <a:pPr marL="60829"/>
            <a:r>
              <a:rPr spc="-11" dirty="0">
                <a:latin typeface="Arial"/>
                <a:cs typeface="Arial"/>
              </a:rPr>
              <a:t>passada</a:t>
            </a:r>
            <a:r>
              <a:rPr spc="-51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por</a:t>
            </a:r>
            <a:endParaRPr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65347" y="4581057"/>
            <a:ext cx="2315418" cy="9464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indent="2172" algn="ctr"/>
            <a:r>
              <a:rPr spc="-6" dirty="0">
                <a:latin typeface="Arial"/>
                <a:cs typeface="Arial"/>
              </a:rPr>
              <a:t>parâmetro </a:t>
            </a:r>
            <a:r>
              <a:rPr b="1" spc="-6" dirty="0">
                <a:solidFill>
                  <a:srgbClr val="00664D"/>
                </a:solidFill>
                <a:latin typeface="Arial"/>
                <a:cs typeface="Arial"/>
              </a:rPr>
              <a:t>não têm  efeito </a:t>
            </a:r>
            <a:r>
              <a:rPr dirty="0">
                <a:latin typeface="Arial"/>
                <a:cs typeface="Arial"/>
              </a:rPr>
              <a:t>fora </a:t>
            </a:r>
            <a:r>
              <a:rPr spc="-11" dirty="0">
                <a:latin typeface="Arial"/>
                <a:cs typeface="Arial"/>
              </a:rPr>
              <a:t>da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função;</a:t>
            </a:r>
            <a:endParaRPr>
              <a:latin typeface="Arial"/>
              <a:cs typeface="Arial"/>
            </a:endParaRPr>
          </a:p>
          <a:p>
            <a:pPr algn="ctr">
              <a:spcBef>
                <a:spcPts val="912"/>
              </a:spcBef>
            </a:pPr>
            <a:r>
              <a:rPr dirty="0">
                <a:latin typeface="Arial"/>
                <a:cs typeface="Arial"/>
              </a:rPr>
              <a:t>- </a:t>
            </a:r>
            <a:r>
              <a:rPr spc="-11" dirty="0">
                <a:latin typeface="Arial"/>
                <a:cs typeface="Arial"/>
              </a:rPr>
              <a:t>Alterações </a:t>
            </a:r>
            <a:r>
              <a:rPr spc="-6" dirty="0">
                <a:latin typeface="Arial"/>
                <a:cs typeface="Arial"/>
              </a:rPr>
              <a:t>feitas</a:t>
            </a:r>
            <a:r>
              <a:rPr spc="-68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em</a:t>
            </a:r>
            <a:endParaRPr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85156" y="5499453"/>
            <a:ext cx="1878771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indent="-4345" algn="ctr"/>
            <a:r>
              <a:rPr spc="-11" dirty="0">
                <a:latin typeface="Arial"/>
                <a:cs typeface="Arial"/>
              </a:rPr>
              <a:t>um </a:t>
            </a:r>
            <a:r>
              <a:rPr b="1" spc="-11" dirty="0">
                <a:solidFill>
                  <a:srgbClr val="00664D"/>
                </a:solidFill>
                <a:latin typeface="Arial"/>
                <a:cs typeface="Arial"/>
              </a:rPr>
              <a:t>vetor são  </a:t>
            </a:r>
            <a:r>
              <a:rPr b="1" spc="-6" dirty="0">
                <a:solidFill>
                  <a:srgbClr val="00664D"/>
                </a:solidFill>
                <a:latin typeface="Arial"/>
                <a:cs typeface="Arial"/>
              </a:rPr>
              <a:t>mantidas </a:t>
            </a:r>
            <a:r>
              <a:rPr dirty="0">
                <a:latin typeface="Arial"/>
                <a:cs typeface="Arial"/>
              </a:rPr>
              <a:t>fora</a:t>
            </a:r>
            <a:r>
              <a:rPr spc="-63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da  </a:t>
            </a:r>
            <a:r>
              <a:rPr spc="-6" dirty="0">
                <a:latin typeface="Arial"/>
                <a:cs typeface="Arial"/>
              </a:rPr>
              <a:t>função.</a:t>
            </a:r>
            <a:endParaRPr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6532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18928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dirty="0"/>
              <a:t>Procedimento para ler os dados dos</a:t>
            </a:r>
            <a:r>
              <a:rPr spc="-97" dirty="0"/>
              <a:t> </a:t>
            </a:r>
            <a:r>
              <a:rPr dirty="0"/>
              <a:t>alunos:</a:t>
            </a:r>
          </a:p>
          <a:p>
            <a:pPr>
              <a:spcBef>
                <a:spcPts val="17"/>
              </a:spcBef>
            </a:pPr>
            <a:endParaRPr sz="3000">
              <a:latin typeface="Times New Roman"/>
              <a:cs typeface="Times New Roman"/>
            </a:endParaRPr>
          </a:p>
          <a:p>
            <a:pPr marL="130202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29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130202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164962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8590" y="3318142"/>
            <a:ext cx="5200408" cy="704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9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42467" y="4326516"/>
            <a:ext cx="181268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5036" y="3990251"/>
            <a:ext cx="3239209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42142" y="4998064"/>
            <a:ext cx="5912559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57265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  <a:p>
            <a:pPr marL="709671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14483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7927" y="3137346"/>
            <a:ext cx="1991646" cy="822819"/>
          </a:xfrm>
          <a:custGeom>
            <a:avLst/>
            <a:gdLst/>
            <a:ahLst/>
            <a:cxnLst/>
            <a:rect l="l" t="t" r="r" b="b"/>
            <a:pathLst>
              <a:path w="1703070" h="746760">
                <a:moveTo>
                  <a:pt x="1244600" y="0"/>
                </a:moveTo>
                <a:lnTo>
                  <a:pt x="124460" y="0"/>
                </a:lnTo>
                <a:lnTo>
                  <a:pt x="76016" y="9784"/>
                </a:lnTo>
                <a:lnTo>
                  <a:pt x="36455" y="36464"/>
                </a:lnTo>
                <a:lnTo>
                  <a:pt x="9781" y="76027"/>
                </a:lnTo>
                <a:lnTo>
                  <a:pt x="0" y="124460"/>
                </a:lnTo>
                <a:lnTo>
                  <a:pt x="0" y="622300"/>
                </a:lnTo>
                <a:lnTo>
                  <a:pt x="9781" y="670732"/>
                </a:lnTo>
                <a:lnTo>
                  <a:pt x="36455" y="710295"/>
                </a:lnTo>
                <a:lnTo>
                  <a:pt x="76016" y="736975"/>
                </a:lnTo>
                <a:lnTo>
                  <a:pt x="124460" y="746760"/>
                </a:lnTo>
                <a:lnTo>
                  <a:pt x="1244600" y="746760"/>
                </a:lnTo>
                <a:lnTo>
                  <a:pt x="1293032" y="736975"/>
                </a:lnTo>
                <a:lnTo>
                  <a:pt x="1332595" y="710295"/>
                </a:lnTo>
                <a:lnTo>
                  <a:pt x="1359275" y="670732"/>
                </a:lnTo>
                <a:lnTo>
                  <a:pt x="1369060" y="622300"/>
                </a:lnTo>
                <a:lnTo>
                  <a:pt x="1369060" y="311150"/>
                </a:lnTo>
                <a:lnTo>
                  <a:pt x="1702943" y="276733"/>
                </a:lnTo>
                <a:lnTo>
                  <a:pt x="1369060" y="124460"/>
                </a:lnTo>
                <a:lnTo>
                  <a:pt x="1359275" y="76027"/>
                </a:lnTo>
                <a:lnTo>
                  <a:pt x="1332595" y="36464"/>
                </a:lnTo>
                <a:lnTo>
                  <a:pt x="1293032" y="9784"/>
                </a:lnTo>
                <a:lnTo>
                  <a:pt x="1244600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7927" y="3137346"/>
            <a:ext cx="1991646" cy="822819"/>
          </a:xfrm>
          <a:custGeom>
            <a:avLst/>
            <a:gdLst/>
            <a:ahLst/>
            <a:cxnLst/>
            <a:rect l="l" t="t" r="r" b="b"/>
            <a:pathLst>
              <a:path w="1703070" h="746760">
                <a:moveTo>
                  <a:pt x="0" y="124460"/>
                </a:moveTo>
                <a:lnTo>
                  <a:pt x="9781" y="76027"/>
                </a:lnTo>
                <a:lnTo>
                  <a:pt x="36455" y="36464"/>
                </a:lnTo>
                <a:lnTo>
                  <a:pt x="76016" y="9784"/>
                </a:lnTo>
                <a:lnTo>
                  <a:pt x="124460" y="0"/>
                </a:lnTo>
                <a:lnTo>
                  <a:pt x="798614" y="0"/>
                </a:lnTo>
                <a:lnTo>
                  <a:pt x="1140841" y="0"/>
                </a:lnTo>
                <a:lnTo>
                  <a:pt x="1244600" y="0"/>
                </a:lnTo>
                <a:lnTo>
                  <a:pt x="1293032" y="9784"/>
                </a:lnTo>
                <a:lnTo>
                  <a:pt x="1332595" y="36464"/>
                </a:lnTo>
                <a:lnTo>
                  <a:pt x="1359275" y="76027"/>
                </a:lnTo>
                <a:lnTo>
                  <a:pt x="1369060" y="124460"/>
                </a:lnTo>
                <a:lnTo>
                  <a:pt x="1702943" y="276733"/>
                </a:lnTo>
                <a:lnTo>
                  <a:pt x="1369060" y="311150"/>
                </a:lnTo>
                <a:lnTo>
                  <a:pt x="1369060" y="622300"/>
                </a:lnTo>
                <a:lnTo>
                  <a:pt x="1359275" y="670732"/>
                </a:lnTo>
                <a:lnTo>
                  <a:pt x="1332595" y="710295"/>
                </a:lnTo>
                <a:lnTo>
                  <a:pt x="1293032" y="736975"/>
                </a:lnTo>
                <a:lnTo>
                  <a:pt x="1244600" y="746760"/>
                </a:lnTo>
                <a:lnTo>
                  <a:pt x="1140841" y="746760"/>
                </a:lnTo>
                <a:lnTo>
                  <a:pt x="798614" y="746760"/>
                </a:lnTo>
                <a:lnTo>
                  <a:pt x="124460" y="746760"/>
                </a:lnTo>
                <a:lnTo>
                  <a:pt x="76016" y="736975"/>
                </a:lnTo>
                <a:lnTo>
                  <a:pt x="36455" y="710295"/>
                </a:lnTo>
                <a:lnTo>
                  <a:pt x="9781" y="670732"/>
                </a:lnTo>
                <a:lnTo>
                  <a:pt x="0" y="622300"/>
                </a:lnTo>
                <a:lnTo>
                  <a:pt x="0" y="311150"/>
                </a:lnTo>
                <a:lnTo>
                  <a:pt x="0" y="12446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62880" y="3275183"/>
            <a:ext cx="1491135" cy="5499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242"/>
            <a:r>
              <a:rPr spc="-11" dirty="0">
                <a:latin typeface="Arial"/>
                <a:cs typeface="Arial"/>
              </a:rPr>
              <a:t>Laço para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ler</a:t>
            </a:r>
            <a:endParaRPr>
              <a:latin typeface="Arial"/>
              <a:cs typeface="Arial"/>
            </a:endParaRPr>
          </a:p>
          <a:p>
            <a:pPr marL="14483"/>
            <a:r>
              <a:rPr spc="-11" dirty="0">
                <a:latin typeface="Arial"/>
                <a:cs typeface="Arial"/>
              </a:rPr>
              <a:t>os </a:t>
            </a:r>
            <a:r>
              <a:rPr spc="-6" dirty="0">
                <a:latin typeface="Arial"/>
                <a:cs typeface="Arial"/>
              </a:rPr>
              <a:t>oito</a:t>
            </a:r>
            <a:r>
              <a:rPr spc="-51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alunos</a:t>
            </a:r>
            <a:endParaRPr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32247" y="3303870"/>
            <a:ext cx="5557598" cy="397416"/>
          </a:xfrm>
          <a:custGeom>
            <a:avLst/>
            <a:gdLst/>
            <a:ahLst/>
            <a:cxnLst/>
            <a:rect l="l" t="t" r="r" b="b"/>
            <a:pathLst>
              <a:path w="4752340" h="360679">
                <a:moveTo>
                  <a:pt x="0" y="60070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0" y="0"/>
                </a:lnTo>
                <a:lnTo>
                  <a:pt x="4692269" y="0"/>
                </a:lnTo>
                <a:lnTo>
                  <a:pt x="4715638" y="4724"/>
                </a:lnTo>
                <a:lnTo>
                  <a:pt x="4734734" y="17605"/>
                </a:lnTo>
                <a:lnTo>
                  <a:pt x="4747615" y="36701"/>
                </a:lnTo>
                <a:lnTo>
                  <a:pt x="4752340" y="60070"/>
                </a:lnTo>
                <a:lnTo>
                  <a:pt x="4752340" y="300608"/>
                </a:lnTo>
                <a:lnTo>
                  <a:pt x="4747615" y="323978"/>
                </a:lnTo>
                <a:lnTo>
                  <a:pt x="4734734" y="343074"/>
                </a:lnTo>
                <a:lnTo>
                  <a:pt x="4715638" y="355955"/>
                </a:lnTo>
                <a:lnTo>
                  <a:pt x="4692269" y="360679"/>
                </a:lnTo>
                <a:lnTo>
                  <a:pt x="60070" y="360679"/>
                </a:lnTo>
                <a:lnTo>
                  <a:pt x="36701" y="355955"/>
                </a:lnTo>
                <a:lnTo>
                  <a:pt x="17605" y="343074"/>
                </a:lnTo>
                <a:lnTo>
                  <a:pt x="4724" y="323978"/>
                </a:lnTo>
                <a:lnTo>
                  <a:pt x="0" y="300608"/>
                </a:lnTo>
                <a:lnTo>
                  <a:pt x="0" y="60070"/>
                </a:lnTo>
                <a:close/>
              </a:path>
            </a:pathLst>
          </a:custGeom>
          <a:ln w="381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99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228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1804" y="1486811"/>
            <a:ext cx="7413348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Procedimento para ler os dados dos</a:t>
            </a:r>
            <a:r>
              <a:rPr sz="2700" spc="-97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alunos: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55213" y="2310331"/>
            <a:ext cx="92156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2142" y="2310330"/>
            <a:ext cx="4666481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</a:t>
            </a:r>
            <a:r>
              <a:rPr sz="2300" b="1" spc="-4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42467" y="3318143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8589" y="3318142"/>
            <a:ext cx="3595656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i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</a:pPr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55036" y="4326516"/>
            <a:ext cx="5200408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55036" y="466222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55036" y="533433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42143" y="5670174"/>
            <a:ext cx="565115" cy="710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077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14483"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0897" y="3778250"/>
            <a:ext cx="2463195" cy="901183"/>
          </a:xfrm>
          <a:custGeom>
            <a:avLst/>
            <a:gdLst/>
            <a:ahLst/>
            <a:cxnLst/>
            <a:rect l="l" t="t" r="r" b="b"/>
            <a:pathLst>
              <a:path w="2106295" h="817879">
                <a:moveTo>
                  <a:pt x="1446148" y="0"/>
                </a:moveTo>
                <a:lnTo>
                  <a:pt x="136321" y="0"/>
                </a:lnTo>
                <a:lnTo>
                  <a:pt x="93234" y="6954"/>
                </a:lnTo>
                <a:lnTo>
                  <a:pt x="55813" y="26314"/>
                </a:lnTo>
                <a:lnTo>
                  <a:pt x="26303" y="55824"/>
                </a:lnTo>
                <a:lnTo>
                  <a:pt x="6950" y="93228"/>
                </a:lnTo>
                <a:lnTo>
                  <a:pt x="0" y="136271"/>
                </a:lnTo>
                <a:lnTo>
                  <a:pt x="0" y="681608"/>
                </a:lnTo>
                <a:lnTo>
                  <a:pt x="6950" y="724651"/>
                </a:lnTo>
                <a:lnTo>
                  <a:pt x="26303" y="762055"/>
                </a:lnTo>
                <a:lnTo>
                  <a:pt x="55813" y="791565"/>
                </a:lnTo>
                <a:lnTo>
                  <a:pt x="93234" y="810925"/>
                </a:lnTo>
                <a:lnTo>
                  <a:pt x="136321" y="817880"/>
                </a:lnTo>
                <a:lnTo>
                  <a:pt x="1446148" y="817880"/>
                </a:lnTo>
                <a:lnTo>
                  <a:pt x="1489191" y="810925"/>
                </a:lnTo>
                <a:lnTo>
                  <a:pt x="1526595" y="791565"/>
                </a:lnTo>
                <a:lnTo>
                  <a:pt x="1556105" y="762055"/>
                </a:lnTo>
                <a:lnTo>
                  <a:pt x="1575465" y="724651"/>
                </a:lnTo>
                <a:lnTo>
                  <a:pt x="1582420" y="681608"/>
                </a:lnTo>
                <a:lnTo>
                  <a:pt x="1582420" y="340741"/>
                </a:lnTo>
                <a:lnTo>
                  <a:pt x="2023088" y="340741"/>
                </a:lnTo>
                <a:lnTo>
                  <a:pt x="1582420" y="136271"/>
                </a:lnTo>
                <a:lnTo>
                  <a:pt x="1575465" y="93228"/>
                </a:lnTo>
                <a:lnTo>
                  <a:pt x="1556105" y="55824"/>
                </a:lnTo>
                <a:lnTo>
                  <a:pt x="1526595" y="26314"/>
                </a:lnTo>
                <a:lnTo>
                  <a:pt x="1489191" y="6954"/>
                </a:lnTo>
                <a:lnTo>
                  <a:pt x="1446148" y="0"/>
                </a:lnTo>
                <a:close/>
              </a:path>
              <a:path w="2106295" h="817879">
                <a:moveTo>
                  <a:pt x="2023088" y="340741"/>
                </a:moveTo>
                <a:lnTo>
                  <a:pt x="1582420" y="340741"/>
                </a:lnTo>
                <a:lnTo>
                  <a:pt x="2106295" y="379349"/>
                </a:lnTo>
                <a:lnTo>
                  <a:pt x="2023088" y="340741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0897" y="3778250"/>
            <a:ext cx="2463195" cy="901183"/>
          </a:xfrm>
          <a:custGeom>
            <a:avLst/>
            <a:gdLst/>
            <a:ahLst/>
            <a:cxnLst/>
            <a:rect l="l" t="t" r="r" b="b"/>
            <a:pathLst>
              <a:path w="2106295" h="817879">
                <a:moveTo>
                  <a:pt x="0" y="136271"/>
                </a:moveTo>
                <a:lnTo>
                  <a:pt x="6950" y="93228"/>
                </a:lnTo>
                <a:lnTo>
                  <a:pt x="26303" y="55824"/>
                </a:lnTo>
                <a:lnTo>
                  <a:pt x="55813" y="26314"/>
                </a:lnTo>
                <a:lnTo>
                  <a:pt x="93234" y="6954"/>
                </a:lnTo>
                <a:lnTo>
                  <a:pt x="136321" y="0"/>
                </a:lnTo>
                <a:lnTo>
                  <a:pt x="923074" y="0"/>
                </a:lnTo>
                <a:lnTo>
                  <a:pt x="1318641" y="0"/>
                </a:lnTo>
                <a:lnTo>
                  <a:pt x="1446148" y="0"/>
                </a:lnTo>
                <a:lnTo>
                  <a:pt x="1489191" y="6954"/>
                </a:lnTo>
                <a:lnTo>
                  <a:pt x="1526595" y="26314"/>
                </a:lnTo>
                <a:lnTo>
                  <a:pt x="1556105" y="55824"/>
                </a:lnTo>
                <a:lnTo>
                  <a:pt x="1575465" y="93228"/>
                </a:lnTo>
                <a:lnTo>
                  <a:pt x="1582420" y="136271"/>
                </a:lnTo>
                <a:lnTo>
                  <a:pt x="2106295" y="379349"/>
                </a:lnTo>
                <a:lnTo>
                  <a:pt x="1582420" y="340741"/>
                </a:lnTo>
                <a:lnTo>
                  <a:pt x="1582420" y="681608"/>
                </a:lnTo>
                <a:lnTo>
                  <a:pt x="1575465" y="724651"/>
                </a:lnTo>
                <a:lnTo>
                  <a:pt x="1556105" y="762055"/>
                </a:lnTo>
                <a:lnTo>
                  <a:pt x="1526595" y="791565"/>
                </a:lnTo>
                <a:lnTo>
                  <a:pt x="1489191" y="810925"/>
                </a:lnTo>
                <a:lnTo>
                  <a:pt x="1446148" y="817880"/>
                </a:lnTo>
                <a:lnTo>
                  <a:pt x="1318641" y="817880"/>
                </a:lnTo>
                <a:lnTo>
                  <a:pt x="923074" y="817880"/>
                </a:lnTo>
                <a:lnTo>
                  <a:pt x="136321" y="817880"/>
                </a:lnTo>
                <a:lnTo>
                  <a:pt x="93234" y="810925"/>
                </a:lnTo>
                <a:lnTo>
                  <a:pt x="55813" y="791565"/>
                </a:lnTo>
                <a:lnTo>
                  <a:pt x="26303" y="762055"/>
                </a:lnTo>
                <a:lnTo>
                  <a:pt x="6950" y="724651"/>
                </a:lnTo>
                <a:lnTo>
                  <a:pt x="0" y="681608"/>
                </a:lnTo>
                <a:lnTo>
                  <a:pt x="0" y="340741"/>
                </a:lnTo>
                <a:lnTo>
                  <a:pt x="0" y="136271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41473" y="3821909"/>
            <a:ext cx="1388657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Arial"/>
                <a:cs typeface="Arial"/>
              </a:rPr>
              <a:t>gets é</a:t>
            </a:r>
            <a:r>
              <a:rPr spc="-46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usado</a:t>
            </a:r>
            <a:endParaRPr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9984" y="4090726"/>
            <a:ext cx="1693864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Arial"/>
                <a:cs typeface="Arial"/>
              </a:rPr>
              <a:t>para ler o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nome</a:t>
            </a:r>
            <a:endParaRPr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6125" y="4359261"/>
            <a:ext cx="1519354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11" dirty="0">
                <a:latin typeface="Arial"/>
                <a:cs typeface="Arial"/>
              </a:rPr>
              <a:t>de cada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aluno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821869" y="4376613"/>
            <a:ext cx="1702033" cy="1097792"/>
          </a:xfrm>
          <a:custGeom>
            <a:avLst/>
            <a:gdLst/>
            <a:ahLst/>
            <a:cxnLst/>
            <a:rect l="l" t="t" r="r" b="b"/>
            <a:pathLst>
              <a:path w="1455420" h="996314">
                <a:moveTo>
                  <a:pt x="1330960" y="249428"/>
                </a:moveTo>
                <a:lnTo>
                  <a:pt x="124460" y="249428"/>
                </a:lnTo>
                <a:lnTo>
                  <a:pt x="76027" y="259212"/>
                </a:lnTo>
                <a:lnTo>
                  <a:pt x="36464" y="285892"/>
                </a:lnTo>
                <a:lnTo>
                  <a:pt x="9784" y="325455"/>
                </a:lnTo>
                <a:lnTo>
                  <a:pt x="0" y="373888"/>
                </a:lnTo>
                <a:lnTo>
                  <a:pt x="0" y="871728"/>
                </a:lnTo>
                <a:lnTo>
                  <a:pt x="9784" y="920160"/>
                </a:lnTo>
                <a:lnTo>
                  <a:pt x="36464" y="959723"/>
                </a:lnTo>
                <a:lnTo>
                  <a:pt x="76027" y="986403"/>
                </a:lnTo>
                <a:lnTo>
                  <a:pt x="124460" y="996188"/>
                </a:lnTo>
                <a:lnTo>
                  <a:pt x="1330960" y="996188"/>
                </a:lnTo>
                <a:lnTo>
                  <a:pt x="1379392" y="986403"/>
                </a:lnTo>
                <a:lnTo>
                  <a:pt x="1418955" y="959723"/>
                </a:lnTo>
                <a:lnTo>
                  <a:pt x="1445635" y="920160"/>
                </a:lnTo>
                <a:lnTo>
                  <a:pt x="1455420" y="871728"/>
                </a:lnTo>
                <a:lnTo>
                  <a:pt x="1455420" y="373888"/>
                </a:lnTo>
                <a:lnTo>
                  <a:pt x="1445635" y="325455"/>
                </a:lnTo>
                <a:lnTo>
                  <a:pt x="1418955" y="285892"/>
                </a:lnTo>
                <a:lnTo>
                  <a:pt x="1379392" y="259212"/>
                </a:lnTo>
                <a:lnTo>
                  <a:pt x="1330960" y="249428"/>
                </a:lnTo>
                <a:close/>
              </a:path>
              <a:path w="1455420" h="996314">
                <a:moveTo>
                  <a:pt x="1093470" y="0"/>
                </a:moveTo>
                <a:lnTo>
                  <a:pt x="848995" y="249428"/>
                </a:lnTo>
                <a:lnTo>
                  <a:pt x="1212850" y="249428"/>
                </a:lnTo>
                <a:lnTo>
                  <a:pt x="1093470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821869" y="4376613"/>
            <a:ext cx="1702033" cy="1097792"/>
          </a:xfrm>
          <a:custGeom>
            <a:avLst/>
            <a:gdLst/>
            <a:ahLst/>
            <a:cxnLst/>
            <a:rect l="l" t="t" r="r" b="b"/>
            <a:pathLst>
              <a:path w="1455420" h="996314">
                <a:moveTo>
                  <a:pt x="0" y="373888"/>
                </a:moveTo>
                <a:lnTo>
                  <a:pt x="9784" y="325455"/>
                </a:lnTo>
                <a:lnTo>
                  <a:pt x="36464" y="285892"/>
                </a:lnTo>
                <a:lnTo>
                  <a:pt x="76027" y="259212"/>
                </a:lnTo>
                <a:lnTo>
                  <a:pt x="124460" y="249428"/>
                </a:lnTo>
                <a:lnTo>
                  <a:pt x="848995" y="249428"/>
                </a:lnTo>
                <a:lnTo>
                  <a:pt x="1093470" y="0"/>
                </a:lnTo>
                <a:lnTo>
                  <a:pt x="1212850" y="249428"/>
                </a:lnTo>
                <a:lnTo>
                  <a:pt x="1330960" y="249428"/>
                </a:lnTo>
                <a:lnTo>
                  <a:pt x="1379392" y="259212"/>
                </a:lnTo>
                <a:lnTo>
                  <a:pt x="1418955" y="285892"/>
                </a:lnTo>
                <a:lnTo>
                  <a:pt x="1445635" y="325455"/>
                </a:lnTo>
                <a:lnTo>
                  <a:pt x="1455420" y="373888"/>
                </a:lnTo>
                <a:lnTo>
                  <a:pt x="1455420" y="560578"/>
                </a:lnTo>
                <a:lnTo>
                  <a:pt x="1455420" y="871728"/>
                </a:lnTo>
                <a:lnTo>
                  <a:pt x="1445635" y="920160"/>
                </a:lnTo>
                <a:lnTo>
                  <a:pt x="1418955" y="959723"/>
                </a:lnTo>
                <a:lnTo>
                  <a:pt x="1379392" y="986403"/>
                </a:lnTo>
                <a:lnTo>
                  <a:pt x="1330960" y="996188"/>
                </a:lnTo>
                <a:lnTo>
                  <a:pt x="1212850" y="996188"/>
                </a:lnTo>
                <a:lnTo>
                  <a:pt x="848995" y="996188"/>
                </a:lnTo>
                <a:lnTo>
                  <a:pt x="124460" y="996188"/>
                </a:lnTo>
                <a:lnTo>
                  <a:pt x="76027" y="986403"/>
                </a:lnTo>
                <a:lnTo>
                  <a:pt x="36464" y="959723"/>
                </a:lnTo>
                <a:lnTo>
                  <a:pt x="9784" y="920160"/>
                </a:lnTo>
                <a:lnTo>
                  <a:pt x="0" y="871728"/>
                </a:lnTo>
                <a:lnTo>
                  <a:pt x="0" y="560578"/>
                </a:lnTo>
                <a:lnTo>
                  <a:pt x="0" y="373888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116680" y="4655223"/>
            <a:ext cx="1111667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>
                <a:latin typeface="Arial"/>
                <a:cs typeface="Arial"/>
              </a:rPr>
              <a:t>Índice i</a:t>
            </a:r>
            <a:r>
              <a:rPr spc="-74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do</a:t>
            </a:r>
            <a:endParaRPr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100</a:t>
            </a:fld>
            <a:endParaRPr dirty="0"/>
          </a:p>
        </p:txBody>
      </p:sp>
      <p:sp>
        <p:nvSpPr>
          <p:cNvPr id="22" name="object 22"/>
          <p:cNvSpPr txBox="1"/>
          <p:nvPr/>
        </p:nvSpPr>
        <p:spPr>
          <a:xfrm>
            <a:off x="3111482" y="4998065"/>
            <a:ext cx="4843219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513" dirty="0">
                <a:latin typeface="Courier New"/>
                <a:cs typeface="Courier New"/>
              </a:rPr>
              <a:t>s</a:t>
            </a:r>
            <a:r>
              <a:rPr sz="2700" spc="-770" baseline="32986" dirty="0">
                <a:latin typeface="Arial"/>
                <a:cs typeface="Arial"/>
              </a:rPr>
              <a:t>v</a:t>
            </a:r>
            <a:r>
              <a:rPr sz="2300" spc="-513" dirty="0">
                <a:latin typeface="Courier New"/>
                <a:cs typeface="Courier New"/>
              </a:rPr>
              <a:t>c</a:t>
            </a:r>
            <a:r>
              <a:rPr sz="2700" spc="-770" baseline="32986" dirty="0">
                <a:latin typeface="Arial"/>
                <a:cs typeface="Arial"/>
              </a:rPr>
              <a:t>e</a:t>
            </a:r>
            <a:r>
              <a:rPr sz="2300" spc="-513" dirty="0">
                <a:latin typeface="Courier New"/>
                <a:cs typeface="Courier New"/>
              </a:rPr>
              <a:t>a</a:t>
            </a:r>
            <a:r>
              <a:rPr sz="2700" spc="-770" baseline="32986" dirty="0">
                <a:latin typeface="Arial"/>
                <a:cs typeface="Arial"/>
              </a:rPr>
              <a:t>to</a:t>
            </a:r>
            <a:r>
              <a:rPr sz="2300" spc="-513" dirty="0">
                <a:latin typeface="Courier New"/>
                <a:cs typeface="Courier New"/>
              </a:rPr>
              <a:t>n</a:t>
            </a:r>
            <a:r>
              <a:rPr sz="2700" spc="-770" baseline="32986" dirty="0">
                <a:latin typeface="Arial"/>
                <a:cs typeface="Arial"/>
              </a:rPr>
              <a:t>r</a:t>
            </a:r>
            <a:r>
              <a:rPr sz="2700" spc="-76" baseline="32986" dirty="0">
                <a:latin typeface="Arial"/>
                <a:cs typeface="Arial"/>
              </a:rPr>
              <a:t> </a:t>
            </a:r>
            <a:r>
              <a:rPr sz="2300" spc="-86" dirty="0">
                <a:latin typeface="Courier New"/>
                <a:cs typeface="Courier New"/>
              </a:rPr>
              <a:t>f</a:t>
            </a:r>
            <a:r>
              <a:rPr sz="2700" spc="-128" baseline="32986" dirty="0">
                <a:latin typeface="Arial"/>
                <a:cs typeface="Arial"/>
              </a:rPr>
              <a:t>de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8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86" dirty="0">
                <a:latin typeface="Courier New"/>
                <a:cs typeface="Courier New"/>
              </a:rPr>
              <a:t>A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86" dirty="0">
                <a:latin typeface="Courier New"/>
                <a:cs typeface="Courier New"/>
              </a:rPr>
              <a:t>i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86" dirty="0">
                <a:latin typeface="Courier New"/>
                <a:cs typeface="Courier New"/>
              </a:rPr>
              <a:t>notas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86" dirty="0">
                <a:latin typeface="Courier New"/>
                <a:cs typeface="Courier New"/>
              </a:rPr>
              <a:t>j</a:t>
            </a:r>
            <a:r>
              <a:rPr sz="2300" spc="-8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09756" y="5192995"/>
            <a:ext cx="724775" cy="28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17" dirty="0">
                <a:latin typeface="Arial"/>
                <a:cs typeface="Arial"/>
              </a:rPr>
              <a:t>a</a:t>
            </a:r>
            <a:r>
              <a:rPr spc="-6" dirty="0">
                <a:latin typeface="Arial"/>
                <a:cs typeface="Arial"/>
              </a:rPr>
              <a:t>l</a:t>
            </a:r>
            <a:r>
              <a:rPr spc="-17" dirty="0">
                <a:latin typeface="Arial"/>
                <a:cs typeface="Arial"/>
              </a:rPr>
              <a:t>uno</a:t>
            </a:r>
            <a:r>
              <a:rPr dirty="0">
                <a:latin typeface="Arial"/>
                <a:cs typeface="Arial"/>
              </a:rPr>
              <a:t>s</a:t>
            </a:r>
            <a:endParaRPr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7131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1804" y="1486811"/>
            <a:ext cx="7413348" cy="4142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Procedimento para ler os dados dos</a:t>
            </a:r>
            <a:r>
              <a:rPr sz="2700" spc="-97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alunos: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4" name="object 4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55213" y="2310331"/>
            <a:ext cx="92156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2142" y="2310330"/>
            <a:ext cx="4666481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</a:t>
            </a:r>
            <a:r>
              <a:rPr sz="2300" b="1" spc="-4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42467" y="3318143"/>
            <a:ext cx="1456233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8589" y="3318142"/>
            <a:ext cx="3595656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i</a:t>
            </a:r>
            <a:endParaRPr sz="2300">
              <a:latin typeface="Courier New"/>
              <a:cs typeface="Courier New"/>
            </a:endParaRPr>
          </a:p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362077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42467" y="4326516"/>
            <a:ext cx="181268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55036" y="466222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11482" y="4998065"/>
            <a:ext cx="4843219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55036" y="5334330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98590" y="5670174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42143" y="6011616"/>
            <a:ext cx="20867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27727" y="4529563"/>
            <a:ext cx="2343637" cy="1311892"/>
          </a:xfrm>
          <a:custGeom>
            <a:avLst/>
            <a:gdLst/>
            <a:ahLst/>
            <a:cxnLst/>
            <a:rect l="l" t="t" r="r" b="b"/>
            <a:pathLst>
              <a:path w="2004060" h="1190625">
                <a:moveTo>
                  <a:pt x="1871980" y="397637"/>
                </a:moveTo>
                <a:lnTo>
                  <a:pt x="132080" y="397637"/>
                </a:lnTo>
                <a:lnTo>
                  <a:pt x="90331" y="404375"/>
                </a:lnTo>
                <a:lnTo>
                  <a:pt x="54073" y="423134"/>
                </a:lnTo>
                <a:lnTo>
                  <a:pt x="25482" y="451732"/>
                </a:lnTo>
                <a:lnTo>
                  <a:pt x="6733" y="487987"/>
                </a:lnTo>
                <a:lnTo>
                  <a:pt x="0" y="529717"/>
                </a:lnTo>
                <a:lnTo>
                  <a:pt x="0" y="1058037"/>
                </a:lnTo>
                <a:lnTo>
                  <a:pt x="6733" y="1099766"/>
                </a:lnTo>
                <a:lnTo>
                  <a:pt x="25482" y="1136021"/>
                </a:lnTo>
                <a:lnTo>
                  <a:pt x="54073" y="1164619"/>
                </a:lnTo>
                <a:lnTo>
                  <a:pt x="90331" y="1183378"/>
                </a:lnTo>
                <a:lnTo>
                  <a:pt x="132080" y="1190117"/>
                </a:lnTo>
                <a:lnTo>
                  <a:pt x="1871980" y="1190117"/>
                </a:lnTo>
                <a:lnTo>
                  <a:pt x="1913709" y="1183378"/>
                </a:lnTo>
                <a:lnTo>
                  <a:pt x="1949964" y="1164619"/>
                </a:lnTo>
                <a:lnTo>
                  <a:pt x="1978562" y="1136021"/>
                </a:lnTo>
                <a:lnTo>
                  <a:pt x="1997321" y="1099766"/>
                </a:lnTo>
                <a:lnTo>
                  <a:pt x="2004060" y="1058037"/>
                </a:lnTo>
                <a:lnTo>
                  <a:pt x="2004060" y="529717"/>
                </a:lnTo>
                <a:lnTo>
                  <a:pt x="1997321" y="487987"/>
                </a:lnTo>
                <a:lnTo>
                  <a:pt x="1978562" y="451732"/>
                </a:lnTo>
                <a:lnTo>
                  <a:pt x="1949964" y="423134"/>
                </a:lnTo>
                <a:lnTo>
                  <a:pt x="1913709" y="404375"/>
                </a:lnTo>
                <a:lnTo>
                  <a:pt x="1871980" y="397637"/>
                </a:lnTo>
                <a:close/>
              </a:path>
              <a:path w="2004060" h="1190625">
                <a:moveTo>
                  <a:pt x="1979295" y="0"/>
                </a:moveTo>
                <a:lnTo>
                  <a:pt x="1169035" y="397637"/>
                </a:lnTo>
                <a:lnTo>
                  <a:pt x="1670050" y="397637"/>
                </a:lnTo>
                <a:lnTo>
                  <a:pt x="1979295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27727" y="4529563"/>
            <a:ext cx="2343637" cy="1311892"/>
          </a:xfrm>
          <a:custGeom>
            <a:avLst/>
            <a:gdLst/>
            <a:ahLst/>
            <a:cxnLst/>
            <a:rect l="l" t="t" r="r" b="b"/>
            <a:pathLst>
              <a:path w="2004060" h="1190625">
                <a:moveTo>
                  <a:pt x="0" y="529717"/>
                </a:moveTo>
                <a:lnTo>
                  <a:pt x="6733" y="487987"/>
                </a:lnTo>
                <a:lnTo>
                  <a:pt x="25482" y="451732"/>
                </a:lnTo>
                <a:lnTo>
                  <a:pt x="54073" y="423134"/>
                </a:lnTo>
                <a:lnTo>
                  <a:pt x="90331" y="404375"/>
                </a:lnTo>
                <a:lnTo>
                  <a:pt x="132080" y="397637"/>
                </a:lnTo>
                <a:lnTo>
                  <a:pt x="1169035" y="397637"/>
                </a:lnTo>
                <a:lnTo>
                  <a:pt x="1979295" y="0"/>
                </a:lnTo>
                <a:lnTo>
                  <a:pt x="1670050" y="397637"/>
                </a:lnTo>
                <a:lnTo>
                  <a:pt x="1871980" y="397637"/>
                </a:lnTo>
                <a:lnTo>
                  <a:pt x="1913709" y="404375"/>
                </a:lnTo>
                <a:lnTo>
                  <a:pt x="1949964" y="423134"/>
                </a:lnTo>
                <a:lnTo>
                  <a:pt x="1978562" y="451732"/>
                </a:lnTo>
                <a:lnTo>
                  <a:pt x="1997321" y="487987"/>
                </a:lnTo>
                <a:lnTo>
                  <a:pt x="2004060" y="529717"/>
                </a:lnTo>
                <a:lnTo>
                  <a:pt x="2004060" y="727837"/>
                </a:lnTo>
                <a:lnTo>
                  <a:pt x="2004060" y="1058037"/>
                </a:lnTo>
                <a:lnTo>
                  <a:pt x="1997321" y="1099766"/>
                </a:lnTo>
                <a:lnTo>
                  <a:pt x="1978562" y="1136021"/>
                </a:lnTo>
                <a:lnTo>
                  <a:pt x="1949964" y="1164619"/>
                </a:lnTo>
                <a:lnTo>
                  <a:pt x="1913709" y="1183378"/>
                </a:lnTo>
                <a:lnTo>
                  <a:pt x="1871980" y="1190117"/>
                </a:lnTo>
                <a:lnTo>
                  <a:pt x="1670050" y="1190117"/>
                </a:lnTo>
                <a:lnTo>
                  <a:pt x="1169035" y="1190117"/>
                </a:lnTo>
                <a:lnTo>
                  <a:pt x="132080" y="1190117"/>
                </a:lnTo>
                <a:lnTo>
                  <a:pt x="90331" y="1183378"/>
                </a:lnTo>
                <a:lnTo>
                  <a:pt x="54073" y="1164619"/>
                </a:lnTo>
                <a:lnTo>
                  <a:pt x="25482" y="1136021"/>
                </a:lnTo>
                <a:lnTo>
                  <a:pt x="6733" y="1099766"/>
                </a:lnTo>
                <a:lnTo>
                  <a:pt x="0" y="1058037"/>
                </a:lnTo>
                <a:lnTo>
                  <a:pt x="0" y="727837"/>
                </a:lnTo>
                <a:lnTo>
                  <a:pt x="0" y="529717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86763" y="4998204"/>
            <a:ext cx="2221108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759" marR="5793" indent="-1448" algn="ctr"/>
            <a:r>
              <a:rPr spc="-6" dirty="0">
                <a:latin typeface="Arial"/>
                <a:cs typeface="Arial"/>
              </a:rPr>
              <a:t>Para </a:t>
            </a:r>
            <a:r>
              <a:rPr spc="-11" dirty="0">
                <a:latin typeface="Arial"/>
                <a:cs typeface="Arial"/>
              </a:rPr>
              <a:t>cada aluno, um  </a:t>
            </a:r>
            <a:r>
              <a:rPr spc="-6" dirty="0">
                <a:latin typeface="Arial"/>
                <a:cs typeface="Arial"/>
              </a:rPr>
              <a:t>laço para ler </a:t>
            </a:r>
            <a:r>
              <a:rPr spc="-11" dirty="0">
                <a:latin typeface="Arial"/>
                <a:cs typeface="Arial"/>
              </a:rPr>
              <a:t>as suas  quatro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notas</a:t>
            </a:r>
            <a:endParaRPr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84730" y="4333793"/>
            <a:ext cx="5557598" cy="397416"/>
          </a:xfrm>
          <a:custGeom>
            <a:avLst/>
            <a:gdLst/>
            <a:ahLst/>
            <a:cxnLst/>
            <a:rect l="l" t="t" r="r" b="b"/>
            <a:pathLst>
              <a:path w="4752340" h="360679">
                <a:moveTo>
                  <a:pt x="0" y="60071"/>
                </a:moveTo>
                <a:lnTo>
                  <a:pt x="4724" y="36701"/>
                </a:lnTo>
                <a:lnTo>
                  <a:pt x="17605" y="17605"/>
                </a:lnTo>
                <a:lnTo>
                  <a:pt x="36701" y="4724"/>
                </a:lnTo>
                <a:lnTo>
                  <a:pt x="60070" y="0"/>
                </a:lnTo>
                <a:lnTo>
                  <a:pt x="4692269" y="0"/>
                </a:lnTo>
                <a:lnTo>
                  <a:pt x="4715638" y="4724"/>
                </a:lnTo>
                <a:lnTo>
                  <a:pt x="4734734" y="17605"/>
                </a:lnTo>
                <a:lnTo>
                  <a:pt x="4747615" y="36701"/>
                </a:lnTo>
                <a:lnTo>
                  <a:pt x="4752340" y="60071"/>
                </a:lnTo>
                <a:lnTo>
                  <a:pt x="4752340" y="300609"/>
                </a:lnTo>
                <a:lnTo>
                  <a:pt x="4747615" y="323978"/>
                </a:lnTo>
                <a:lnTo>
                  <a:pt x="4734734" y="343074"/>
                </a:lnTo>
                <a:lnTo>
                  <a:pt x="4715638" y="355955"/>
                </a:lnTo>
                <a:lnTo>
                  <a:pt x="4692269" y="360680"/>
                </a:lnTo>
                <a:lnTo>
                  <a:pt x="60070" y="360680"/>
                </a:lnTo>
                <a:lnTo>
                  <a:pt x="36701" y="355955"/>
                </a:lnTo>
                <a:lnTo>
                  <a:pt x="17605" y="343074"/>
                </a:lnTo>
                <a:lnTo>
                  <a:pt x="4724" y="323978"/>
                </a:lnTo>
                <a:lnTo>
                  <a:pt x="0" y="300609"/>
                </a:lnTo>
                <a:lnTo>
                  <a:pt x="0" y="60071"/>
                </a:lnTo>
                <a:close/>
              </a:path>
            </a:pathLst>
          </a:custGeom>
          <a:ln w="38100">
            <a:solidFill>
              <a:srgbClr val="6F2F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101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436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Leitura 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-51" dirty="0"/>
              <a:t> </a:t>
            </a:r>
            <a:r>
              <a:rPr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48574" y="2269748"/>
            <a:ext cx="6335840" cy="4511509"/>
          </a:xfrm>
          <a:custGeom>
            <a:avLst/>
            <a:gdLst/>
            <a:ahLst/>
            <a:cxnLst/>
            <a:rect l="l" t="t" r="r" b="b"/>
            <a:pathLst>
              <a:path w="5417820" h="4094479">
                <a:moveTo>
                  <a:pt x="0" y="4094479"/>
                </a:moveTo>
                <a:lnTo>
                  <a:pt x="5417820" y="4094479"/>
                </a:lnTo>
                <a:lnTo>
                  <a:pt x="5417820" y="0"/>
                </a:lnTo>
                <a:lnTo>
                  <a:pt x="0" y="0"/>
                </a:lnTo>
                <a:lnTo>
                  <a:pt x="0" y="409447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18928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dirty="0"/>
              <a:t>Procedimento para ler os dados dos</a:t>
            </a:r>
            <a:r>
              <a:rPr spc="-97" dirty="0"/>
              <a:t> </a:t>
            </a:r>
            <a:r>
              <a:rPr dirty="0"/>
              <a:t>alunos:</a:t>
            </a:r>
          </a:p>
          <a:p>
            <a:pPr>
              <a:spcBef>
                <a:spcPts val="17"/>
              </a:spcBef>
            </a:pPr>
            <a:endParaRPr sz="3000">
              <a:latin typeface="Times New Roman"/>
              <a:cs typeface="Times New Roman"/>
            </a:endParaRPr>
          </a:p>
          <a:p>
            <a:pPr marL="1302029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le_vetor_alunos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29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1302029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1649623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7319" y="3318142"/>
            <a:ext cx="1426529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7319" y="4326515"/>
            <a:ext cx="1782976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13441" y="3318142"/>
            <a:ext cx="3565952" cy="1769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3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dirty="0">
                <a:latin typeface="Courier New"/>
                <a:cs typeface="Courier New"/>
              </a:rPr>
              <a:t>i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spc="-6" dirty="0">
                <a:latin typeface="Courier New"/>
                <a:cs typeface="Courier New"/>
              </a:rPr>
              <a:t>gets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69888" y="4998065"/>
            <a:ext cx="5169962" cy="7078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7594"/>
            <a:r>
              <a:rPr sz="2300" spc="-6" dirty="0">
                <a:latin typeface="Courier New"/>
                <a:cs typeface="Courier New"/>
              </a:rPr>
              <a:t>scanf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,&amp;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13442" y="5670174"/>
            <a:ext cx="178966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56995" y="6011616"/>
            <a:ext cx="178966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56632" y="5352521"/>
            <a:ext cx="1601040" cy="1073303"/>
          </a:xfrm>
          <a:custGeom>
            <a:avLst/>
            <a:gdLst/>
            <a:ahLst/>
            <a:cxnLst/>
            <a:rect l="l" t="t" r="r" b="b"/>
            <a:pathLst>
              <a:path w="1369059" h="974089">
                <a:moveTo>
                  <a:pt x="1244600" y="227330"/>
                </a:moveTo>
                <a:lnTo>
                  <a:pt x="124460" y="227330"/>
                </a:lnTo>
                <a:lnTo>
                  <a:pt x="76027" y="237114"/>
                </a:lnTo>
                <a:lnTo>
                  <a:pt x="36464" y="263794"/>
                </a:lnTo>
                <a:lnTo>
                  <a:pt x="9784" y="303357"/>
                </a:lnTo>
                <a:lnTo>
                  <a:pt x="0" y="351789"/>
                </a:lnTo>
                <a:lnTo>
                  <a:pt x="0" y="849630"/>
                </a:lnTo>
                <a:lnTo>
                  <a:pt x="9784" y="898073"/>
                </a:lnTo>
                <a:lnTo>
                  <a:pt x="36464" y="937634"/>
                </a:lnTo>
                <a:lnTo>
                  <a:pt x="76027" y="964308"/>
                </a:lnTo>
                <a:lnTo>
                  <a:pt x="124460" y="974090"/>
                </a:lnTo>
                <a:lnTo>
                  <a:pt x="1244600" y="974090"/>
                </a:lnTo>
                <a:lnTo>
                  <a:pt x="1293032" y="964308"/>
                </a:lnTo>
                <a:lnTo>
                  <a:pt x="1332595" y="937634"/>
                </a:lnTo>
                <a:lnTo>
                  <a:pt x="1359275" y="898073"/>
                </a:lnTo>
                <a:lnTo>
                  <a:pt x="1369059" y="849630"/>
                </a:lnTo>
                <a:lnTo>
                  <a:pt x="1369059" y="351789"/>
                </a:lnTo>
                <a:lnTo>
                  <a:pt x="1359275" y="303357"/>
                </a:lnTo>
                <a:lnTo>
                  <a:pt x="1332595" y="263794"/>
                </a:lnTo>
                <a:lnTo>
                  <a:pt x="1293032" y="237114"/>
                </a:lnTo>
                <a:lnTo>
                  <a:pt x="1244600" y="227330"/>
                </a:lnTo>
                <a:close/>
              </a:path>
              <a:path w="1369059" h="974089">
                <a:moveTo>
                  <a:pt x="830072" y="0"/>
                </a:moveTo>
                <a:lnTo>
                  <a:pt x="798576" y="227330"/>
                </a:lnTo>
                <a:lnTo>
                  <a:pt x="1140841" y="227330"/>
                </a:lnTo>
                <a:lnTo>
                  <a:pt x="830072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356632" y="5352521"/>
            <a:ext cx="1601040" cy="1073303"/>
          </a:xfrm>
          <a:custGeom>
            <a:avLst/>
            <a:gdLst/>
            <a:ahLst/>
            <a:cxnLst/>
            <a:rect l="l" t="t" r="r" b="b"/>
            <a:pathLst>
              <a:path w="1369059" h="974089">
                <a:moveTo>
                  <a:pt x="0" y="351789"/>
                </a:moveTo>
                <a:lnTo>
                  <a:pt x="9784" y="303357"/>
                </a:lnTo>
                <a:lnTo>
                  <a:pt x="36464" y="263794"/>
                </a:lnTo>
                <a:lnTo>
                  <a:pt x="76027" y="237114"/>
                </a:lnTo>
                <a:lnTo>
                  <a:pt x="124460" y="227330"/>
                </a:lnTo>
                <a:lnTo>
                  <a:pt x="798576" y="227330"/>
                </a:lnTo>
                <a:lnTo>
                  <a:pt x="830072" y="0"/>
                </a:lnTo>
                <a:lnTo>
                  <a:pt x="1140841" y="227330"/>
                </a:lnTo>
                <a:lnTo>
                  <a:pt x="1244600" y="227330"/>
                </a:lnTo>
                <a:lnTo>
                  <a:pt x="1293032" y="237114"/>
                </a:lnTo>
                <a:lnTo>
                  <a:pt x="1332595" y="263794"/>
                </a:lnTo>
                <a:lnTo>
                  <a:pt x="1359275" y="303357"/>
                </a:lnTo>
                <a:lnTo>
                  <a:pt x="1369059" y="351789"/>
                </a:lnTo>
                <a:lnTo>
                  <a:pt x="1369059" y="538480"/>
                </a:lnTo>
                <a:lnTo>
                  <a:pt x="1369059" y="849630"/>
                </a:lnTo>
                <a:lnTo>
                  <a:pt x="1359275" y="898073"/>
                </a:lnTo>
                <a:lnTo>
                  <a:pt x="1332595" y="937634"/>
                </a:lnTo>
                <a:lnTo>
                  <a:pt x="1293032" y="964308"/>
                </a:lnTo>
                <a:lnTo>
                  <a:pt x="1244600" y="974090"/>
                </a:lnTo>
                <a:lnTo>
                  <a:pt x="1140841" y="974090"/>
                </a:lnTo>
                <a:lnTo>
                  <a:pt x="798576" y="974090"/>
                </a:lnTo>
                <a:lnTo>
                  <a:pt x="124460" y="974090"/>
                </a:lnTo>
                <a:lnTo>
                  <a:pt x="76027" y="964308"/>
                </a:lnTo>
                <a:lnTo>
                  <a:pt x="36464" y="937634"/>
                </a:lnTo>
                <a:lnTo>
                  <a:pt x="9784" y="898073"/>
                </a:lnTo>
                <a:lnTo>
                  <a:pt x="0" y="849630"/>
                </a:lnTo>
                <a:lnTo>
                  <a:pt x="0" y="538480"/>
                </a:lnTo>
                <a:lnTo>
                  <a:pt x="0" y="351789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407128" y="5741961"/>
            <a:ext cx="1503017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205660"/>
            <a:r>
              <a:rPr spc="-6" dirty="0">
                <a:latin typeface="Arial"/>
                <a:cs typeface="Arial"/>
              </a:rPr>
              <a:t>Índice j </a:t>
            </a:r>
            <a:r>
              <a:rPr spc="-11" dirty="0">
                <a:latin typeface="Arial"/>
                <a:cs typeface="Arial"/>
              </a:rPr>
              <a:t>do  </a:t>
            </a:r>
            <a:r>
              <a:rPr spc="-6" dirty="0">
                <a:latin typeface="Arial"/>
                <a:cs typeface="Arial"/>
              </a:rPr>
              <a:t>vetor </a:t>
            </a:r>
            <a:r>
              <a:rPr spc="-11" dirty="0">
                <a:latin typeface="Arial"/>
                <a:cs typeface="Arial"/>
              </a:rPr>
              <a:t>de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notas</a:t>
            </a:r>
            <a:endParaRPr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419939" y="5328172"/>
            <a:ext cx="1705003" cy="1097792"/>
          </a:xfrm>
          <a:custGeom>
            <a:avLst/>
            <a:gdLst/>
            <a:ahLst/>
            <a:cxnLst/>
            <a:rect l="l" t="t" r="r" b="b"/>
            <a:pathLst>
              <a:path w="1457960" h="996314">
                <a:moveTo>
                  <a:pt x="1333500" y="249428"/>
                </a:moveTo>
                <a:lnTo>
                  <a:pt x="124459" y="249428"/>
                </a:lnTo>
                <a:lnTo>
                  <a:pt x="76027" y="259212"/>
                </a:lnTo>
                <a:lnTo>
                  <a:pt x="36464" y="285892"/>
                </a:lnTo>
                <a:lnTo>
                  <a:pt x="9784" y="325455"/>
                </a:lnTo>
                <a:lnTo>
                  <a:pt x="0" y="373888"/>
                </a:lnTo>
                <a:lnTo>
                  <a:pt x="0" y="871728"/>
                </a:lnTo>
                <a:lnTo>
                  <a:pt x="9784" y="920171"/>
                </a:lnTo>
                <a:lnTo>
                  <a:pt x="36464" y="959732"/>
                </a:lnTo>
                <a:lnTo>
                  <a:pt x="76027" y="986406"/>
                </a:lnTo>
                <a:lnTo>
                  <a:pt x="124459" y="996188"/>
                </a:lnTo>
                <a:lnTo>
                  <a:pt x="1333500" y="996188"/>
                </a:lnTo>
                <a:lnTo>
                  <a:pt x="1381932" y="986406"/>
                </a:lnTo>
                <a:lnTo>
                  <a:pt x="1421495" y="959732"/>
                </a:lnTo>
                <a:lnTo>
                  <a:pt x="1448175" y="920171"/>
                </a:lnTo>
                <a:lnTo>
                  <a:pt x="1457959" y="871728"/>
                </a:lnTo>
                <a:lnTo>
                  <a:pt x="1457959" y="373888"/>
                </a:lnTo>
                <a:lnTo>
                  <a:pt x="1448175" y="325455"/>
                </a:lnTo>
                <a:lnTo>
                  <a:pt x="1421495" y="285892"/>
                </a:lnTo>
                <a:lnTo>
                  <a:pt x="1381932" y="259212"/>
                </a:lnTo>
                <a:lnTo>
                  <a:pt x="1333500" y="249428"/>
                </a:lnTo>
                <a:close/>
              </a:path>
              <a:path w="1457960" h="996314">
                <a:moveTo>
                  <a:pt x="1095375" y="0"/>
                </a:moveTo>
                <a:lnTo>
                  <a:pt x="850518" y="249428"/>
                </a:lnTo>
                <a:lnTo>
                  <a:pt x="1215008" y="249428"/>
                </a:lnTo>
                <a:lnTo>
                  <a:pt x="1095375" y="0"/>
                </a:lnTo>
                <a:close/>
              </a:path>
            </a:pathLst>
          </a:custGeom>
          <a:solidFill>
            <a:srgbClr val="D2D2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19939" y="5328172"/>
            <a:ext cx="1705003" cy="1097792"/>
          </a:xfrm>
          <a:custGeom>
            <a:avLst/>
            <a:gdLst/>
            <a:ahLst/>
            <a:cxnLst/>
            <a:rect l="l" t="t" r="r" b="b"/>
            <a:pathLst>
              <a:path w="1457960" h="996314">
                <a:moveTo>
                  <a:pt x="0" y="373888"/>
                </a:moveTo>
                <a:lnTo>
                  <a:pt x="9784" y="325455"/>
                </a:lnTo>
                <a:lnTo>
                  <a:pt x="36464" y="285892"/>
                </a:lnTo>
                <a:lnTo>
                  <a:pt x="76027" y="259212"/>
                </a:lnTo>
                <a:lnTo>
                  <a:pt x="124459" y="249428"/>
                </a:lnTo>
                <a:lnTo>
                  <a:pt x="850518" y="249428"/>
                </a:lnTo>
                <a:lnTo>
                  <a:pt x="1095375" y="0"/>
                </a:lnTo>
                <a:lnTo>
                  <a:pt x="1215008" y="249428"/>
                </a:lnTo>
                <a:lnTo>
                  <a:pt x="1333500" y="249428"/>
                </a:lnTo>
                <a:lnTo>
                  <a:pt x="1381932" y="259212"/>
                </a:lnTo>
                <a:lnTo>
                  <a:pt x="1421495" y="285892"/>
                </a:lnTo>
                <a:lnTo>
                  <a:pt x="1448175" y="325455"/>
                </a:lnTo>
                <a:lnTo>
                  <a:pt x="1457959" y="373888"/>
                </a:lnTo>
                <a:lnTo>
                  <a:pt x="1457959" y="560578"/>
                </a:lnTo>
                <a:lnTo>
                  <a:pt x="1457959" y="871728"/>
                </a:lnTo>
                <a:lnTo>
                  <a:pt x="1448175" y="920171"/>
                </a:lnTo>
                <a:lnTo>
                  <a:pt x="1421495" y="959732"/>
                </a:lnTo>
                <a:lnTo>
                  <a:pt x="1381932" y="986406"/>
                </a:lnTo>
                <a:lnTo>
                  <a:pt x="1333500" y="996188"/>
                </a:lnTo>
                <a:lnTo>
                  <a:pt x="1215008" y="996188"/>
                </a:lnTo>
                <a:lnTo>
                  <a:pt x="850518" y="996188"/>
                </a:lnTo>
                <a:lnTo>
                  <a:pt x="124459" y="996188"/>
                </a:lnTo>
                <a:lnTo>
                  <a:pt x="76027" y="986406"/>
                </a:lnTo>
                <a:lnTo>
                  <a:pt x="36464" y="959732"/>
                </a:lnTo>
                <a:lnTo>
                  <a:pt x="9784" y="920171"/>
                </a:lnTo>
                <a:lnTo>
                  <a:pt x="0" y="871728"/>
                </a:lnTo>
                <a:lnTo>
                  <a:pt x="0" y="560578"/>
                </a:lnTo>
                <a:lnTo>
                  <a:pt x="0" y="373888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731829" y="5607203"/>
            <a:ext cx="1082707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pc="-6" dirty="0">
                <a:latin typeface="Arial"/>
                <a:cs typeface="Arial"/>
              </a:rPr>
              <a:t>Índice</a:t>
            </a:r>
            <a:r>
              <a:rPr spc="-29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</a:t>
            </a:r>
            <a:r>
              <a:rPr spc="-51" dirty="0">
                <a:latin typeface="Arial"/>
                <a:cs typeface="Arial"/>
              </a:rPr>
              <a:t> </a:t>
            </a:r>
            <a:r>
              <a:rPr spc="-11" dirty="0">
                <a:latin typeface="Arial"/>
                <a:cs typeface="Arial"/>
              </a:rPr>
              <a:t>do </a:t>
            </a:r>
            <a:r>
              <a:rPr dirty="0">
                <a:latin typeface="Arial"/>
                <a:cs typeface="Arial"/>
              </a:rPr>
              <a:t> </a:t>
            </a:r>
            <a:r>
              <a:rPr spc="-6" dirty="0">
                <a:latin typeface="Arial"/>
                <a:cs typeface="Arial"/>
              </a:rPr>
              <a:t>vetor </a:t>
            </a:r>
            <a:r>
              <a:rPr spc="-11" dirty="0">
                <a:latin typeface="Arial"/>
                <a:cs typeface="Arial"/>
              </a:rPr>
              <a:t>de  alunos</a:t>
            </a:r>
            <a:endParaRPr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102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1472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Impressão </a:t>
            </a:r>
            <a:r>
              <a:rPr dirty="0"/>
              <a:t>de </a:t>
            </a:r>
            <a:r>
              <a:rPr spc="-6" dirty="0"/>
              <a:t>vetor </a:t>
            </a:r>
            <a:r>
              <a:rPr dirty="0"/>
              <a:t>de</a:t>
            </a:r>
            <a:r>
              <a:rPr spc="17" dirty="0"/>
              <a:t> </a:t>
            </a:r>
            <a:r>
              <a:rPr spc="-6" dirty="0"/>
              <a:t>estruturas</a:t>
            </a:r>
          </a:p>
        </p:txBody>
      </p:sp>
      <p:sp>
        <p:nvSpPr>
          <p:cNvPr id="3" name="object 3"/>
          <p:cNvSpPr/>
          <p:nvPr/>
        </p:nvSpPr>
        <p:spPr>
          <a:xfrm>
            <a:off x="1304001" y="2462859"/>
            <a:ext cx="6876450" cy="4172867"/>
          </a:xfrm>
          <a:custGeom>
            <a:avLst/>
            <a:gdLst/>
            <a:ahLst/>
            <a:cxnLst/>
            <a:rect l="l" t="t" r="r" b="b"/>
            <a:pathLst>
              <a:path w="5880100" h="3787140">
                <a:moveTo>
                  <a:pt x="0" y="3787140"/>
                </a:moveTo>
                <a:lnTo>
                  <a:pt x="5880099" y="3787140"/>
                </a:lnTo>
                <a:lnTo>
                  <a:pt x="5880099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04001" y="2462859"/>
            <a:ext cx="6876450" cy="4172867"/>
          </a:xfrm>
          <a:custGeom>
            <a:avLst/>
            <a:gdLst/>
            <a:ahLst/>
            <a:cxnLst/>
            <a:rect l="l" t="t" r="r" b="b"/>
            <a:pathLst>
              <a:path w="5880100" h="3787140">
                <a:moveTo>
                  <a:pt x="0" y="3787140"/>
                </a:moveTo>
                <a:lnTo>
                  <a:pt x="5880099" y="3787140"/>
                </a:lnTo>
                <a:lnTo>
                  <a:pt x="5880099" y="0"/>
                </a:lnTo>
                <a:lnTo>
                  <a:pt x="0" y="0"/>
                </a:lnTo>
                <a:lnTo>
                  <a:pt x="0" y="37871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5346" y="1283906"/>
            <a:ext cx="8183421" cy="19851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O processo de </a:t>
            </a:r>
            <a:r>
              <a:rPr sz="2700" spc="-6" dirty="0">
                <a:latin typeface="Arial"/>
                <a:cs typeface="Arial"/>
              </a:rPr>
              <a:t>escrita </a:t>
            </a:r>
            <a:r>
              <a:rPr sz="2700" dirty="0">
                <a:latin typeface="Arial"/>
                <a:cs typeface="Arial"/>
              </a:rPr>
              <a:t>de um </a:t>
            </a:r>
            <a:r>
              <a:rPr sz="2700" spc="-6" dirty="0">
                <a:latin typeface="Arial"/>
                <a:cs typeface="Arial"/>
              </a:rPr>
              <a:t>vetor </a:t>
            </a:r>
            <a:r>
              <a:rPr sz="2700" dirty="0">
                <a:latin typeface="Arial"/>
                <a:cs typeface="Arial"/>
              </a:rPr>
              <a:t>de estrutura</a:t>
            </a:r>
            <a:r>
              <a:rPr sz="2700" spc="-46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é</a:t>
            </a:r>
            <a:endParaRPr sz="2700">
              <a:latin typeface="Arial"/>
              <a:cs typeface="Arial"/>
            </a:endParaRPr>
          </a:p>
          <a:p>
            <a:pPr marL="404802"/>
            <a:r>
              <a:rPr sz="2700" dirty="0">
                <a:latin typeface="Arial"/>
                <a:cs typeface="Arial"/>
              </a:rPr>
              <a:t>similar aos modos </a:t>
            </a:r>
            <a:r>
              <a:rPr sz="2700" spc="-6" dirty="0">
                <a:latin typeface="Arial"/>
                <a:cs typeface="Arial"/>
              </a:rPr>
              <a:t>de </a:t>
            </a:r>
            <a:r>
              <a:rPr sz="2700" dirty="0">
                <a:latin typeface="Arial"/>
                <a:cs typeface="Arial"/>
              </a:rPr>
              <a:t>escrita anteriores </a:t>
            </a:r>
            <a:r>
              <a:rPr sz="2700" spc="-6" dirty="0">
                <a:latin typeface="Arial"/>
                <a:cs typeface="Arial"/>
              </a:rPr>
              <a:t>já</a:t>
            </a:r>
            <a:r>
              <a:rPr sz="2700" spc="-68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vistos.</a:t>
            </a:r>
            <a:endParaRPr sz="2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 marL="591634">
              <a:spcBef>
                <a:spcPts val="6"/>
              </a:spcBef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300" spc="-6" dirty="0">
                <a:latin typeface="Courier New"/>
                <a:cs typeface="Courier New"/>
              </a:rPr>
              <a:t>imprime_vetor_alunos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Aluno</a:t>
            </a:r>
            <a:r>
              <a:rPr sz="2300" spc="-86" dirty="0"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300">
              <a:latin typeface="Courier New"/>
              <a:cs typeface="Courier New"/>
            </a:endParaRPr>
          </a:p>
          <a:p>
            <a:pPr marL="59163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103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3373618" y="3509154"/>
            <a:ext cx="3565952" cy="3547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8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i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1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8866" y="3173031"/>
            <a:ext cx="1426529" cy="1061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3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b="1" dirty="0">
                <a:solidFill>
                  <a:srgbClr val="00009F"/>
                </a:solidFill>
                <a:latin typeface="Courier New"/>
                <a:cs typeface="Courier New"/>
              </a:rPr>
              <a:t>for 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120" dirty="0">
                <a:latin typeface="Courier New"/>
                <a:cs typeface="Courier New"/>
              </a:rPr>
              <a:t>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</a:t>
            </a:r>
            <a:endParaRPr sz="2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12419" y="4180844"/>
            <a:ext cx="6240787" cy="2477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5188"/>
            <a:r>
              <a:rPr sz="2300" spc="-6" dirty="0">
                <a:latin typeface="Courier New"/>
                <a:cs typeface="Courier New"/>
              </a:rPr>
              <a:t>puts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nome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300">
              <a:latin typeface="Courier New"/>
              <a:cs typeface="Courier New"/>
            </a:endParaRPr>
          </a:p>
          <a:p>
            <a:pPr marL="695188">
              <a:tabLst>
                <a:tab pos="1390376" algn="l"/>
              </a:tabLst>
            </a:pPr>
            <a:r>
              <a:rPr sz="2300" b="1" spc="-6" dirty="0">
                <a:solidFill>
                  <a:srgbClr val="00009F"/>
                </a:solidFill>
                <a:latin typeface="Courier New"/>
                <a:cs typeface="Courier New"/>
              </a:rPr>
              <a:t>for	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300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300" dirty="0">
                <a:latin typeface="Courier New"/>
                <a:cs typeface="Courier New"/>
              </a:rPr>
              <a:t>j </a:t>
            </a: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+</a:t>
            </a:r>
            <a:r>
              <a:rPr sz="23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solidFill>
                  <a:srgbClr val="EF00EF"/>
                </a:solidFill>
                <a:latin typeface="Courier New"/>
                <a:cs typeface="Courier New"/>
              </a:rPr>
              <a:t>1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2300">
              <a:latin typeface="Courier New"/>
              <a:cs typeface="Courier New"/>
            </a:endParaRPr>
          </a:p>
          <a:p>
            <a:pPr marL="695188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300">
              <a:latin typeface="Courier New"/>
              <a:cs typeface="Courier New"/>
            </a:endParaRPr>
          </a:p>
          <a:p>
            <a:pPr marL="1042782"/>
            <a:r>
              <a:rPr sz="2300" spc="-6" dirty="0">
                <a:latin typeface="Courier New"/>
                <a:cs typeface="Courier New"/>
              </a:rPr>
              <a:t>printf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300" spc="-6" dirty="0">
                <a:solidFill>
                  <a:srgbClr val="0000FF"/>
                </a:solidFill>
                <a:latin typeface="Courier New"/>
                <a:cs typeface="Courier New"/>
              </a:rPr>
              <a:t>" %f"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300" spc="-6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300" spc="-6" dirty="0">
                <a:latin typeface="Courier New"/>
                <a:cs typeface="Courier New"/>
              </a:rPr>
              <a:t>A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i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300" spc="-6" dirty="0">
                <a:latin typeface="Courier New"/>
                <a:cs typeface="Courier New"/>
              </a:rPr>
              <a:t>notas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300" spc="-6" dirty="0">
                <a:latin typeface="Courier New"/>
                <a:cs typeface="Courier New"/>
              </a:rPr>
              <a:t>j</a:t>
            </a:r>
            <a:r>
              <a:rPr sz="2300" spc="-6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2300">
              <a:latin typeface="Courier New"/>
              <a:cs typeface="Courier New"/>
            </a:endParaRPr>
          </a:p>
          <a:p>
            <a:pPr marL="695188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 marL="347594"/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  <a:p>
            <a:pPr>
              <a:spcBef>
                <a:spcPts val="46"/>
              </a:spcBef>
            </a:pPr>
            <a:r>
              <a:rPr sz="23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3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93400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04" y="1710007"/>
            <a:ext cx="5037780" cy="5088043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49967" rIns="0" bIns="0" rtlCol="0">
            <a:spAutoFit/>
          </a:bodyPr>
          <a:lstStyle/>
          <a:p>
            <a:pPr marL="97761">
              <a:spcBef>
                <a:spcPts val="393"/>
              </a:spcBef>
            </a:pPr>
            <a:r>
              <a:rPr sz="1600" spc="-6" dirty="0">
                <a:solidFill>
                  <a:srgbClr val="009F00"/>
                </a:solidFill>
                <a:latin typeface="Courier New"/>
                <a:cs typeface="Courier New"/>
              </a:rPr>
              <a:t>#include</a:t>
            </a:r>
            <a:r>
              <a:rPr sz="1600" spc="-108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solidFill>
                  <a:srgbClr val="009F00"/>
                </a:solidFill>
                <a:latin typeface="Courier New"/>
                <a:cs typeface="Courier New"/>
              </a:rPr>
              <a:t>&lt;stdio.h&gt;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1"/>
              </a:spcBef>
            </a:pPr>
            <a:endParaRPr sz="1700">
              <a:latin typeface="Times New Roman"/>
              <a:cs typeface="Times New Roman"/>
            </a:endParaRPr>
          </a:p>
          <a:p>
            <a:pPr marL="97761">
              <a:spcBef>
                <a:spcPts val="6"/>
              </a:spcBef>
            </a:pP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1600" b="1" spc="-9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1600">
              <a:latin typeface="Courier New"/>
              <a:cs typeface="Courier New"/>
            </a:endParaRPr>
          </a:p>
          <a:p>
            <a:pPr marL="97761">
              <a:lnSpc>
                <a:spcPts val="1916"/>
              </a:lnSpc>
            </a:pP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1600"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nome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40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float</a:t>
            </a:r>
            <a:r>
              <a:rPr sz="1600" b="1" spc="-51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notas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 marL="97761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6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Aluno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1"/>
              </a:spcBef>
            </a:pPr>
            <a:endParaRPr sz="1700">
              <a:latin typeface="Times New Roman"/>
              <a:cs typeface="Times New Roman"/>
            </a:endParaRPr>
          </a:p>
          <a:p>
            <a:pPr marL="97761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1600" spc="-11" dirty="0">
                <a:latin typeface="Courier New"/>
                <a:cs typeface="Courier New"/>
              </a:rPr>
              <a:t>leVetorAlunos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Aluno </a:t>
            </a:r>
            <a:r>
              <a:rPr sz="1600" spc="-6" dirty="0">
                <a:latin typeface="Courier New"/>
                <a:cs typeface="Courier New"/>
              </a:rPr>
              <a:t>a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[], </a:t>
            </a: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1600" b="1" spc="-1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Courier New"/>
                <a:cs typeface="Courier New"/>
              </a:rPr>
              <a:t>n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  <a:p>
            <a:pPr marL="97761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1600" spc="-6" dirty="0">
                <a:latin typeface="Courier New"/>
                <a:cs typeface="Courier New"/>
              </a:rPr>
              <a:t>i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-97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j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1600" dirty="0">
                <a:latin typeface="Courier New"/>
                <a:cs typeface="Courier New"/>
              </a:rPr>
              <a:t>i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600" spc="-17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spc="-17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dirty="0">
                <a:latin typeface="Courier New"/>
                <a:cs typeface="Courier New"/>
              </a:rPr>
              <a:t>i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1600" spc="-6" dirty="0">
                <a:latin typeface="Courier New"/>
                <a:cs typeface="Courier New"/>
              </a:rPr>
              <a:t>n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1600" spc="-103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++)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585116" marR="181039"/>
            <a:r>
              <a:rPr sz="1600" spc="-11" dirty="0">
                <a:latin typeface="Courier New"/>
                <a:cs typeface="Courier New"/>
              </a:rPr>
              <a:t>printf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"Informe </a:t>
            </a:r>
            <a:r>
              <a:rPr sz="1600" dirty="0">
                <a:solidFill>
                  <a:srgbClr val="0000FF"/>
                </a:solidFill>
                <a:latin typeface="Courier New"/>
                <a:cs typeface="Courier New"/>
              </a:rPr>
              <a:t>o 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nome 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do 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aluno"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1600" spc="-11" dirty="0">
                <a:latin typeface="Courier New"/>
                <a:cs typeface="Courier New"/>
              </a:rPr>
              <a:t>gets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1600" spc="-11" dirty="0">
                <a:latin typeface="Courier New"/>
                <a:cs typeface="Courier New"/>
              </a:rPr>
              <a:t>nome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585116"/>
            <a:r>
              <a:rPr sz="1600" spc="-11" dirty="0">
                <a:latin typeface="Courier New"/>
                <a:cs typeface="Courier New"/>
              </a:rPr>
              <a:t>printf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"Informe 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as </a:t>
            </a:r>
            <a:r>
              <a:rPr sz="1600" dirty="0">
                <a:solidFill>
                  <a:srgbClr val="0000FF"/>
                </a:solidFill>
                <a:latin typeface="Courier New"/>
                <a:cs typeface="Courier New"/>
              </a:rPr>
              <a:t>4 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notas</a:t>
            </a:r>
            <a:r>
              <a:rPr sz="1600" spc="-74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"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828432" marR="302696" indent="-243316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1600" dirty="0">
                <a:latin typeface="Courier New"/>
                <a:cs typeface="Courier New"/>
              </a:rPr>
              <a:t>j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6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dirty="0">
                <a:latin typeface="Courier New"/>
                <a:cs typeface="Courier New"/>
              </a:rPr>
              <a:t>j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spc="-11" dirty="0">
                <a:latin typeface="Courier New"/>
                <a:cs typeface="Courier New"/>
              </a:rPr>
              <a:t>j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++)  </a:t>
            </a:r>
            <a:r>
              <a:rPr sz="1600" spc="-11" dirty="0">
                <a:latin typeface="Courier New"/>
                <a:cs typeface="Courier New"/>
              </a:rPr>
              <a:t>scanf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"%f%*c"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&amp;</a:t>
            </a:r>
            <a:r>
              <a:rPr sz="1600" spc="-11" dirty="0">
                <a:latin typeface="Courier New"/>
                <a:cs typeface="Courier New"/>
              </a:rPr>
              <a:t>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1600" spc="-11" dirty="0">
                <a:latin typeface="Courier New"/>
                <a:cs typeface="Courier New"/>
              </a:rPr>
              <a:t>notas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j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1600">
              <a:latin typeface="Courier New"/>
              <a:cs typeface="Courier New"/>
            </a:endParaRPr>
          </a:p>
          <a:p>
            <a:pPr marL="341077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97761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104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Programa</a:t>
            </a:r>
            <a:r>
              <a:rPr spc="-51" dirty="0"/>
              <a:t> </a:t>
            </a:r>
            <a:r>
              <a:rPr dirty="0"/>
              <a:t>completo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24913" y="1589663"/>
            <a:ext cx="5361552" cy="5323134"/>
          </a:xfrm>
          <a:prstGeom prst="rect">
            <a:avLst/>
          </a:prstGeom>
          <a:solidFill>
            <a:srgbClr val="F1F1F1"/>
          </a:solidFill>
          <a:ln w="10160">
            <a:solidFill>
              <a:srgbClr val="000000"/>
            </a:solidFill>
          </a:ln>
        </p:spPr>
        <p:txBody>
          <a:bodyPr vert="horz" wrap="square" lIns="0" tIns="22449" rIns="0" bIns="0" rtlCol="0">
            <a:spAutoFit/>
          </a:bodyPr>
          <a:lstStyle/>
          <a:p>
            <a:pPr marL="99209">
              <a:spcBef>
                <a:spcPts val="177"/>
              </a:spcBef>
            </a:pP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1600" spc="-11" dirty="0">
                <a:latin typeface="Courier New"/>
                <a:cs typeface="Courier New"/>
              </a:rPr>
              <a:t>imprimeVetorAlunos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Aluno </a:t>
            </a:r>
            <a:r>
              <a:rPr sz="1600" spc="-6" dirty="0">
                <a:latin typeface="Courier New"/>
                <a:cs typeface="Courier New"/>
              </a:rPr>
              <a:t>a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[], </a:t>
            </a:r>
            <a:r>
              <a:rPr sz="1600" b="1" spc="-11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1600" b="1" spc="2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n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  <a:p>
            <a:pPr marL="99209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2525" marR="2074701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 </a:t>
            </a:r>
            <a:r>
              <a:rPr sz="1600" spc="-6" dirty="0">
                <a:latin typeface="Courier New"/>
                <a:cs typeface="Courier New"/>
              </a:rPr>
              <a:t>i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, </a:t>
            </a:r>
            <a:r>
              <a:rPr sz="1600" dirty="0">
                <a:latin typeface="Courier New"/>
                <a:cs typeface="Courier New"/>
              </a:rPr>
              <a:t>j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;  </a:t>
            </a:r>
            <a:r>
              <a:rPr sz="1600" spc="-11" dirty="0">
                <a:latin typeface="Courier New"/>
                <a:cs typeface="Courier New"/>
              </a:rPr>
              <a:t>printf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"\nAlunos:"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1600" dirty="0">
                <a:latin typeface="Courier New"/>
                <a:cs typeface="Courier New"/>
              </a:rPr>
              <a:t>i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dirty="0">
                <a:latin typeface="Courier New"/>
                <a:cs typeface="Courier New"/>
              </a:rPr>
              <a:t>i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1600" spc="-6" dirty="0">
                <a:latin typeface="Courier New"/>
                <a:cs typeface="Courier New"/>
              </a:rPr>
              <a:t>n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1600" spc="-1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++)</a:t>
            </a:r>
            <a:endParaRPr sz="1600">
              <a:latin typeface="Courier New"/>
              <a:cs typeface="Courier New"/>
            </a:endParaRPr>
          </a:p>
          <a:p>
            <a:pPr marL="342525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585116"/>
            <a:r>
              <a:rPr sz="1600" spc="-6" dirty="0">
                <a:latin typeface="Courier New"/>
                <a:cs typeface="Courier New"/>
              </a:rPr>
              <a:t>printf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6" dirty="0">
                <a:solidFill>
                  <a:srgbClr val="0000FF"/>
                </a:solidFill>
                <a:latin typeface="Courier New"/>
                <a:cs typeface="Courier New"/>
              </a:rPr>
              <a:t>"\n%20s 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-5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1600" spc="-11" dirty="0">
                <a:latin typeface="Courier New"/>
                <a:cs typeface="Courier New"/>
              </a:rPr>
              <a:t>nome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829156" marR="617703" indent="-244040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1600" dirty="0">
                <a:latin typeface="Courier New"/>
                <a:cs typeface="Courier New"/>
              </a:rPr>
              <a:t>j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dirty="0">
                <a:latin typeface="Courier New"/>
                <a:cs typeface="Courier New"/>
              </a:rPr>
              <a:t>j 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4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600" spc="-11" dirty="0">
                <a:latin typeface="Courier New"/>
                <a:cs typeface="Courier New"/>
              </a:rPr>
              <a:t>j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++)  </a:t>
            </a:r>
            <a:r>
              <a:rPr sz="1600" spc="-11" dirty="0">
                <a:latin typeface="Courier New"/>
                <a:cs typeface="Courier New"/>
              </a:rPr>
              <a:t>printf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solidFill>
                  <a:srgbClr val="0000FF"/>
                </a:solidFill>
                <a:latin typeface="Courier New"/>
                <a:cs typeface="Courier New"/>
              </a:rPr>
              <a:t>"%.2f "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1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i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1600" spc="-11" dirty="0">
                <a:latin typeface="Courier New"/>
                <a:cs typeface="Courier New"/>
              </a:rPr>
              <a:t>notas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latin typeface="Courier New"/>
                <a:cs typeface="Courier New"/>
              </a:rPr>
              <a:t>j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]);</a:t>
            </a:r>
            <a:endParaRPr sz="1600">
              <a:latin typeface="Courier New"/>
              <a:cs typeface="Courier New"/>
            </a:endParaRPr>
          </a:p>
          <a:p>
            <a:pPr marL="342525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99209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1"/>
              </a:spcBef>
            </a:pPr>
            <a:endParaRPr sz="1700">
              <a:latin typeface="Times New Roman"/>
              <a:cs typeface="Times New Roman"/>
            </a:endParaRPr>
          </a:p>
          <a:p>
            <a:pPr marL="99209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1600" b="1" spc="-103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latin typeface="Courier New"/>
                <a:cs typeface="Courier New"/>
              </a:rPr>
              <a:t>main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1600">
              <a:latin typeface="Courier New"/>
              <a:cs typeface="Courier New"/>
            </a:endParaRPr>
          </a:p>
          <a:p>
            <a:pPr marL="99209"/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342525"/>
            <a:r>
              <a:rPr sz="1600" spc="-6" dirty="0">
                <a:latin typeface="Courier New"/>
                <a:cs typeface="Courier New"/>
              </a:rPr>
              <a:t>Aluno</a:t>
            </a:r>
            <a:r>
              <a:rPr sz="1600" spc="-57" dirty="0">
                <a:latin typeface="Courier New"/>
                <a:cs typeface="Courier New"/>
              </a:rPr>
              <a:t> </a:t>
            </a:r>
            <a:r>
              <a:rPr sz="1600" spc="-11" dirty="0">
                <a:latin typeface="Courier New"/>
                <a:cs typeface="Courier New"/>
              </a:rPr>
              <a:t>turma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35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1"/>
              </a:spcBef>
            </a:pPr>
            <a:endParaRPr sz="1700">
              <a:latin typeface="Times New Roman"/>
              <a:cs typeface="Times New Roman"/>
            </a:endParaRPr>
          </a:p>
          <a:p>
            <a:pPr marL="342525"/>
            <a:r>
              <a:rPr sz="1600" spc="-11" dirty="0">
                <a:latin typeface="Courier New"/>
                <a:cs typeface="Courier New"/>
              </a:rPr>
              <a:t>leVetorAlunos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turma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-17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11" dirty="0">
                <a:solidFill>
                  <a:srgbClr val="EF00EF"/>
                </a:solidFill>
                <a:latin typeface="Courier New"/>
                <a:cs typeface="Courier New"/>
              </a:rPr>
              <a:t>35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 marL="342525"/>
            <a:r>
              <a:rPr sz="1600" spc="-11" dirty="0">
                <a:latin typeface="Courier New"/>
                <a:cs typeface="Courier New"/>
              </a:rPr>
              <a:t>imprimeVetorAlunos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spc="-11" dirty="0">
                <a:latin typeface="Courier New"/>
                <a:cs typeface="Courier New"/>
              </a:rPr>
              <a:t>turma</a:t>
            </a:r>
            <a:r>
              <a:rPr sz="16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1600" spc="1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spc="-6" dirty="0">
                <a:solidFill>
                  <a:srgbClr val="EF00EF"/>
                </a:solidFill>
                <a:latin typeface="Courier New"/>
                <a:cs typeface="Courier New"/>
              </a:rPr>
              <a:t>35</a:t>
            </a:r>
            <a:r>
              <a:rPr sz="1600" spc="-6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1600">
              <a:latin typeface="Courier New"/>
              <a:cs typeface="Courier New"/>
            </a:endParaRPr>
          </a:p>
          <a:p>
            <a:pPr>
              <a:spcBef>
                <a:spcPts val="17"/>
              </a:spcBef>
            </a:pPr>
            <a:endParaRPr sz="1700">
              <a:latin typeface="Times New Roman"/>
              <a:cs typeface="Times New Roman"/>
            </a:endParaRPr>
          </a:p>
          <a:p>
            <a:pPr marL="342525"/>
            <a:r>
              <a:rPr sz="1600" b="1" spc="-6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sz="1600" b="1" spc="-10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600">
              <a:latin typeface="Courier New"/>
              <a:cs typeface="Courier New"/>
            </a:endParaRPr>
          </a:p>
          <a:p>
            <a:pPr marL="99209">
              <a:spcBef>
                <a:spcPts val="23"/>
              </a:spcBef>
            </a:pPr>
            <a:r>
              <a:rPr sz="16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585418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89251" y="996337"/>
            <a:ext cx="6020978" cy="68018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spcBef>
                <a:spcPts val="17"/>
              </a:spcBef>
            </a:pPr>
            <a:endParaRPr sz="1300">
              <a:latin typeface="Times New Roman"/>
              <a:cs typeface="Times New Roman"/>
            </a:endParaRPr>
          </a:p>
          <a:p>
            <a:pPr marR="10862" algn="r"/>
            <a:r>
              <a:rPr sz="1100" dirty="0">
                <a:latin typeface="Times New Roman"/>
                <a:cs typeface="Times New Roman"/>
              </a:rPr>
              <a:t>57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89251" y="996337"/>
            <a:ext cx="6020978" cy="6512584"/>
          </a:xfrm>
          <a:custGeom>
            <a:avLst/>
            <a:gdLst/>
            <a:ahLst/>
            <a:cxnLst/>
            <a:rect l="l" t="t" r="r" b="b"/>
            <a:pathLst>
              <a:path w="5148580" h="5910580">
                <a:moveTo>
                  <a:pt x="0" y="5910580"/>
                </a:moveTo>
                <a:lnTo>
                  <a:pt x="5148580" y="5910580"/>
                </a:lnTo>
                <a:lnTo>
                  <a:pt x="5148580" y="0"/>
                </a:lnTo>
                <a:lnTo>
                  <a:pt x="0" y="0"/>
                </a:lnTo>
                <a:lnTo>
                  <a:pt x="0" y="591058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89251" y="996337"/>
            <a:ext cx="6020978" cy="6512584"/>
          </a:xfrm>
          <a:custGeom>
            <a:avLst/>
            <a:gdLst/>
            <a:ahLst/>
            <a:cxnLst/>
            <a:rect l="l" t="t" r="r" b="b"/>
            <a:pathLst>
              <a:path w="5148580" h="5910580">
                <a:moveTo>
                  <a:pt x="0" y="5910580"/>
                </a:moveTo>
                <a:lnTo>
                  <a:pt x="5148580" y="5910580"/>
                </a:lnTo>
                <a:lnTo>
                  <a:pt x="5148580" y="0"/>
                </a:lnTo>
                <a:lnTo>
                  <a:pt x="0" y="0"/>
                </a:lnTo>
                <a:lnTo>
                  <a:pt x="0" y="591058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682817" y="1047415"/>
            <a:ext cx="5781862" cy="4201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void </a:t>
            </a:r>
            <a:r>
              <a:rPr sz="2100" spc="-11" dirty="0">
                <a:latin typeface="Courier New"/>
                <a:cs typeface="Courier New"/>
              </a:rPr>
              <a:t>leProdutos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Produto</a:t>
            </a:r>
            <a:r>
              <a:rPr sz="2100" spc="-68" dirty="0"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13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6" dirty="0">
                <a:latin typeface="Courier New"/>
                <a:cs typeface="Courier New"/>
              </a:rPr>
              <a:t>i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"Produtos</a:t>
            </a:r>
            <a:r>
              <a:rPr sz="2100" spc="-57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armazenados:\n"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2100" dirty="0">
                <a:latin typeface="Courier New"/>
                <a:cs typeface="Courier New"/>
              </a:rPr>
              <a:t>i </a:t>
            </a: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1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100" dirty="0">
                <a:latin typeface="Courier New"/>
                <a:cs typeface="Courier New"/>
              </a:rPr>
              <a:t>i </a:t>
            </a: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100" spc="-17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++)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639428">
              <a:tabLst>
                <a:tab pos="3754014" algn="l"/>
              </a:tabLst>
            </a:pPr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"Produto </a:t>
            </a:r>
            <a:r>
              <a:rPr sz="2100" spc="-6" dirty="0">
                <a:solidFill>
                  <a:srgbClr val="0000FF"/>
                </a:solidFill>
                <a:latin typeface="Courier New"/>
                <a:cs typeface="Courier New"/>
              </a:rPr>
              <a:t>%d:	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100" spc="-10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23" dirty="0">
                <a:latin typeface="Courier New"/>
                <a:cs typeface="Courier New"/>
              </a:rPr>
              <a:t>i</a:t>
            </a:r>
            <a:r>
              <a:rPr sz="2100" spc="-23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100">
              <a:latin typeface="Courier New"/>
              <a:cs typeface="Courier New"/>
            </a:endParaRPr>
          </a:p>
          <a:p>
            <a:pPr marL="639428" marR="472148"/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"Codigo: </a:t>
            </a:r>
            <a:r>
              <a:rPr sz="2100" spc="-6" dirty="0">
                <a:solidFill>
                  <a:srgbClr val="0000FF"/>
                </a:solidFill>
                <a:latin typeface="Courier New"/>
                <a:cs typeface="Courier New"/>
              </a:rPr>
              <a:t>"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spc="-11" dirty="0">
                <a:latin typeface="Courier New"/>
                <a:cs typeface="Courier New"/>
              </a:rPr>
              <a:t>scanf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"%d%*c"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, &amp;</a:t>
            </a:r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100" spc="-11" dirty="0">
                <a:latin typeface="Courier New"/>
                <a:cs typeface="Courier New"/>
              </a:rPr>
              <a:t>codigo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"Descricao: 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spc="-11" dirty="0">
                <a:latin typeface="Courier New"/>
                <a:cs typeface="Courier New"/>
              </a:rPr>
              <a:t>gets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100" spc="-11" dirty="0">
                <a:latin typeface="Courier New"/>
                <a:cs typeface="Courier New"/>
              </a:rPr>
              <a:t>descricao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14842" y="5280733"/>
            <a:ext cx="1150283" cy="3330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])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82817" y="5280734"/>
            <a:ext cx="4504595" cy="1615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void</a:t>
            </a:r>
            <a:r>
              <a:rPr sz="2100" b="1" spc="-74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imprimeProdutos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Produto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32659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13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6" dirty="0">
                <a:latin typeface="Courier New"/>
                <a:cs typeface="Courier New"/>
              </a:rPr>
              <a:t>i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639428" marR="161486" indent="-312835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for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( </a:t>
            </a:r>
            <a:r>
              <a:rPr sz="2100" dirty="0">
                <a:latin typeface="Courier New"/>
                <a:cs typeface="Courier New"/>
              </a:rPr>
              <a:t>i </a:t>
            </a: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= </a:t>
            </a:r>
            <a:r>
              <a:rPr sz="2100" spc="-6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100" spc="-6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2100" dirty="0">
                <a:latin typeface="Courier New"/>
                <a:cs typeface="Courier New"/>
              </a:rPr>
              <a:t>i </a:t>
            </a: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&lt; 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r>
              <a:rPr sz="2100" spc="-188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++)  </a:t>
            </a:r>
            <a:r>
              <a:rPr sz="2100" spc="-11" dirty="0">
                <a:latin typeface="Courier New"/>
                <a:cs typeface="Courier New"/>
              </a:rPr>
              <a:t>printf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"%3d </a:t>
            </a:r>
            <a:r>
              <a:rPr sz="2100" dirty="0">
                <a:solidFill>
                  <a:srgbClr val="0000FF"/>
                </a:solidFill>
                <a:latin typeface="Courier New"/>
                <a:cs typeface="Courier New"/>
              </a:rPr>
              <a:t>-</a:t>
            </a:r>
            <a:r>
              <a:rPr sz="2100" spc="-97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solidFill>
                  <a:srgbClr val="0000FF"/>
                </a:solidFill>
                <a:latin typeface="Courier New"/>
                <a:cs typeface="Courier New"/>
              </a:rPr>
              <a:t>%s\n"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42253" y="6792453"/>
            <a:ext cx="4662024" cy="3330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100" spc="-11" dirty="0">
                <a:latin typeface="Courier New"/>
                <a:cs typeface="Courier New"/>
              </a:rPr>
              <a:t>codigo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r>
              <a:rPr sz="2100" spc="-74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p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i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].</a:t>
            </a:r>
            <a:r>
              <a:rPr sz="2100" spc="-11" dirty="0">
                <a:latin typeface="Courier New"/>
                <a:cs typeface="Courier New"/>
              </a:rPr>
              <a:t>descricao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82818" y="7100660"/>
            <a:ext cx="190847" cy="3330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dirty="0"/>
              <a:t>Exemplo</a:t>
            </a:r>
            <a:r>
              <a:rPr spc="-103" dirty="0"/>
              <a:t> </a:t>
            </a:r>
            <a:r>
              <a:rPr spc="-6" dirty="0"/>
              <a:t>2</a:t>
            </a:r>
          </a:p>
        </p:txBody>
      </p:sp>
      <p:sp>
        <p:nvSpPr>
          <p:cNvPr id="11" name="object 11"/>
          <p:cNvSpPr/>
          <p:nvPr/>
        </p:nvSpPr>
        <p:spPr>
          <a:xfrm>
            <a:off x="41584" y="1001935"/>
            <a:ext cx="4547665" cy="4984491"/>
          </a:xfrm>
          <a:custGeom>
            <a:avLst/>
            <a:gdLst/>
            <a:ahLst/>
            <a:cxnLst/>
            <a:rect l="l" t="t" r="r" b="b"/>
            <a:pathLst>
              <a:path w="3888740" h="4523740">
                <a:moveTo>
                  <a:pt x="0" y="4523740"/>
                </a:moveTo>
                <a:lnTo>
                  <a:pt x="3888740" y="4523740"/>
                </a:lnTo>
                <a:lnTo>
                  <a:pt x="3888740" y="0"/>
                </a:lnTo>
                <a:lnTo>
                  <a:pt x="0" y="0"/>
                </a:lnTo>
                <a:lnTo>
                  <a:pt x="0" y="452374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1584" y="1001935"/>
            <a:ext cx="4547665" cy="4984491"/>
          </a:xfrm>
          <a:custGeom>
            <a:avLst/>
            <a:gdLst/>
            <a:ahLst/>
            <a:cxnLst/>
            <a:rect l="l" t="t" r="r" b="b"/>
            <a:pathLst>
              <a:path w="3888740" h="4523740">
                <a:moveTo>
                  <a:pt x="0" y="4523740"/>
                </a:moveTo>
                <a:lnTo>
                  <a:pt x="3888740" y="4523740"/>
                </a:lnTo>
                <a:lnTo>
                  <a:pt x="3888740" y="0"/>
                </a:lnTo>
                <a:lnTo>
                  <a:pt x="0" y="0"/>
                </a:lnTo>
                <a:lnTo>
                  <a:pt x="0" y="4523740"/>
                </a:lnTo>
                <a:close/>
              </a:path>
            </a:pathLst>
          </a:custGeom>
          <a:ln w="101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32924" y="1044616"/>
            <a:ext cx="4344194" cy="51706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spc="-11" dirty="0">
                <a:solidFill>
                  <a:srgbClr val="009F00"/>
                </a:solidFill>
                <a:latin typeface="Courier New"/>
                <a:cs typeface="Courier New"/>
              </a:rPr>
              <a:t>#include</a:t>
            </a:r>
            <a:r>
              <a:rPr sz="2100" spc="-57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solidFill>
                  <a:srgbClr val="009F00"/>
                </a:solidFill>
                <a:latin typeface="Courier New"/>
                <a:cs typeface="Courier New"/>
              </a:rPr>
              <a:t>&lt;stdio.h&gt;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spc="-11" dirty="0">
                <a:solidFill>
                  <a:srgbClr val="009F00"/>
                </a:solidFill>
                <a:latin typeface="Courier New"/>
                <a:cs typeface="Courier New"/>
              </a:rPr>
              <a:t>#define TAM</a:t>
            </a:r>
            <a:r>
              <a:rPr sz="2100" spc="-80" dirty="0">
                <a:solidFill>
                  <a:srgbClr val="009F00"/>
                </a:solidFill>
                <a:latin typeface="Courier New"/>
                <a:cs typeface="Courier New"/>
              </a:rPr>
              <a:t> </a:t>
            </a:r>
            <a:r>
              <a:rPr sz="2100" dirty="0">
                <a:solidFill>
                  <a:srgbClr val="009F00"/>
                </a:solidFill>
                <a:latin typeface="Courier New"/>
                <a:cs typeface="Courier New"/>
              </a:rPr>
              <a:t>4</a:t>
            </a:r>
            <a:endParaRPr sz="2100">
              <a:latin typeface="Courier New"/>
              <a:cs typeface="Courier New"/>
            </a:endParaRPr>
          </a:p>
          <a:p>
            <a:pPr>
              <a:spcBef>
                <a:spcPts val="34"/>
              </a:spcBef>
            </a:pPr>
            <a:endParaRPr sz="2100">
              <a:latin typeface="Times New Roman"/>
              <a:cs typeface="Times New Roman"/>
            </a:endParaRPr>
          </a:p>
          <a:p>
            <a:pPr marL="14483"/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typedef</a:t>
            </a:r>
            <a:r>
              <a:rPr sz="2100" b="1" spc="-68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struct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327318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97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codigo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327318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char</a:t>
            </a:r>
            <a:r>
              <a:rPr sz="2100" b="1" spc="-120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descricao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solidFill>
                  <a:srgbClr val="EF00EF"/>
                </a:solidFill>
                <a:latin typeface="Courier New"/>
                <a:cs typeface="Courier New"/>
              </a:rPr>
              <a:t>120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2100" spc="-8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Produto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>
              <a:spcBef>
                <a:spcPts val="34"/>
              </a:spcBef>
            </a:pPr>
            <a:endParaRPr sz="2100">
              <a:latin typeface="Times New Roman"/>
              <a:cs typeface="Times New Roman"/>
            </a:endParaRPr>
          </a:p>
          <a:p>
            <a:pPr marL="14483"/>
            <a:r>
              <a:rPr sz="2100" b="1" spc="-6" dirty="0">
                <a:solidFill>
                  <a:srgbClr val="00009F"/>
                </a:solidFill>
                <a:latin typeface="Courier New"/>
                <a:cs typeface="Courier New"/>
              </a:rPr>
              <a:t>int</a:t>
            </a:r>
            <a:r>
              <a:rPr sz="2100"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main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2100">
              <a:latin typeface="Courier New"/>
              <a:cs typeface="Courier New"/>
            </a:endParaRPr>
          </a:p>
          <a:p>
            <a:pPr marL="14483"/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327318" marR="5793"/>
            <a:r>
              <a:rPr sz="2100" spc="-11" dirty="0">
                <a:latin typeface="Courier New"/>
                <a:cs typeface="Courier New"/>
              </a:rPr>
              <a:t>Produto estoque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2100" spc="-11" dirty="0">
                <a:latin typeface="Courier New"/>
                <a:cs typeface="Courier New"/>
              </a:rPr>
              <a:t>TAM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];  </a:t>
            </a:r>
            <a:r>
              <a:rPr sz="2100" spc="-11" dirty="0">
                <a:latin typeface="Courier New"/>
                <a:cs typeface="Courier New"/>
              </a:rPr>
              <a:t>leProdutos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estoque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spc="-11" dirty="0">
                <a:latin typeface="Courier New"/>
                <a:cs typeface="Courier New"/>
              </a:rPr>
              <a:t>imprimeProdutos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2100" spc="-11" dirty="0">
                <a:latin typeface="Courier New"/>
                <a:cs typeface="Courier New"/>
              </a:rPr>
              <a:t>estoque</a:t>
            </a:r>
            <a:r>
              <a:rPr sz="2100" spc="-11" dirty="0">
                <a:solidFill>
                  <a:srgbClr val="FF0000"/>
                </a:solidFill>
                <a:latin typeface="Courier New"/>
                <a:cs typeface="Courier New"/>
              </a:rPr>
              <a:t>);  </a:t>
            </a:r>
            <a:r>
              <a:rPr sz="2100" b="1" spc="-11" dirty="0">
                <a:solidFill>
                  <a:srgbClr val="00009F"/>
                </a:solidFill>
                <a:latin typeface="Courier New"/>
                <a:cs typeface="Courier New"/>
              </a:rPr>
              <a:t>return</a:t>
            </a:r>
            <a:r>
              <a:rPr sz="2100" b="1" spc="-86" dirty="0">
                <a:solidFill>
                  <a:srgbClr val="00009F"/>
                </a:solidFill>
                <a:latin typeface="Courier New"/>
                <a:cs typeface="Courier New"/>
              </a:rPr>
              <a:t> </a:t>
            </a:r>
            <a:r>
              <a:rPr sz="2100" spc="-17" dirty="0">
                <a:solidFill>
                  <a:srgbClr val="EF00EF"/>
                </a:solidFill>
                <a:latin typeface="Courier New"/>
                <a:cs typeface="Courier New"/>
              </a:rPr>
              <a:t>0</a:t>
            </a:r>
            <a:r>
              <a:rPr sz="2100" spc="-17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2100">
              <a:latin typeface="Courier New"/>
              <a:cs typeface="Courier New"/>
            </a:endParaRPr>
          </a:p>
          <a:p>
            <a:pPr marL="14483">
              <a:spcBef>
                <a:spcPts val="46"/>
              </a:spcBef>
            </a:pPr>
            <a:r>
              <a:rPr sz="210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882478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2291" y="1282505"/>
            <a:ext cx="9729509" cy="52168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0633" indent="-556150">
              <a:lnSpc>
                <a:spcPts val="2714"/>
              </a:lnSpc>
              <a:buClr>
                <a:srgbClr val="C5000A"/>
              </a:buClr>
              <a:buAutoNum type="arabicParenR" startAt="5"/>
              <a:tabLst>
                <a:tab pos="564116" algn="l"/>
                <a:tab pos="564840" algn="l"/>
                <a:tab pos="5159597" algn="l"/>
              </a:tabLst>
            </a:pPr>
            <a:r>
              <a:rPr sz="2500" spc="-6" dirty="0">
                <a:solidFill>
                  <a:srgbClr val="C00000"/>
                </a:solidFill>
                <a:latin typeface="Arial"/>
                <a:cs typeface="Arial"/>
              </a:rPr>
              <a:t>a) </a:t>
            </a:r>
            <a:r>
              <a:rPr sz="2500" spc="-11" dirty="0">
                <a:latin typeface="Arial"/>
                <a:cs typeface="Arial"/>
              </a:rPr>
              <a:t>Crie </a:t>
            </a:r>
            <a:r>
              <a:rPr sz="2500" dirty="0">
                <a:latin typeface="Arial"/>
                <a:cs typeface="Arial"/>
              </a:rPr>
              <a:t>uma</a:t>
            </a:r>
            <a:r>
              <a:rPr sz="2500" spc="74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estrutura</a:t>
            </a:r>
            <a:r>
              <a:rPr sz="2500" spc="11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chamada	</a:t>
            </a:r>
            <a:r>
              <a:rPr sz="2500" spc="-6" dirty="0">
                <a:latin typeface="Courier New"/>
                <a:cs typeface="Courier New"/>
              </a:rPr>
              <a:t>ponto</a:t>
            </a:r>
            <a:r>
              <a:rPr sz="2500" spc="-764" dirty="0">
                <a:latin typeface="Courier New"/>
                <a:cs typeface="Courier New"/>
              </a:rPr>
              <a:t> </a:t>
            </a:r>
            <a:r>
              <a:rPr sz="2500" spc="-6" dirty="0">
                <a:latin typeface="Arial"/>
                <a:cs typeface="Arial"/>
              </a:rPr>
              <a:t>contendo apenas as</a:t>
            </a:r>
            <a:endParaRPr sz="2500">
              <a:latin typeface="Arial"/>
              <a:cs typeface="Arial"/>
            </a:endParaRPr>
          </a:p>
          <a:p>
            <a:pPr marL="570633">
              <a:lnSpc>
                <a:spcPts val="2714"/>
              </a:lnSpc>
            </a:pPr>
            <a:r>
              <a:rPr sz="2500" spc="-6" dirty="0">
                <a:latin typeface="Arial"/>
                <a:cs typeface="Arial"/>
              </a:rPr>
              <a:t>coordenadas</a:t>
            </a:r>
            <a:r>
              <a:rPr sz="2500" spc="46" dirty="0">
                <a:latin typeface="Arial"/>
                <a:cs typeface="Arial"/>
              </a:rPr>
              <a:t> </a:t>
            </a:r>
            <a:r>
              <a:rPr sz="2500" dirty="0">
                <a:latin typeface="Courier New"/>
                <a:cs typeface="Courier New"/>
              </a:rPr>
              <a:t>x</a:t>
            </a:r>
            <a:r>
              <a:rPr sz="2500" spc="-832" dirty="0">
                <a:latin typeface="Courier New"/>
                <a:cs typeface="Courier New"/>
              </a:rPr>
              <a:t> </a:t>
            </a:r>
            <a:r>
              <a:rPr sz="2500" dirty="0">
                <a:latin typeface="Arial"/>
                <a:cs typeface="Arial"/>
              </a:rPr>
              <a:t>e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Courier New"/>
                <a:cs typeface="Courier New"/>
              </a:rPr>
              <a:t>y</a:t>
            </a:r>
            <a:r>
              <a:rPr sz="2500" spc="-810" dirty="0">
                <a:latin typeface="Courier New"/>
                <a:cs typeface="Courier New"/>
              </a:rPr>
              <a:t> </a:t>
            </a:r>
            <a:r>
              <a:rPr sz="2500" spc="-6" dirty="0">
                <a:latin typeface="Arial"/>
                <a:cs typeface="Arial"/>
              </a:rPr>
              <a:t>(inteiros)</a:t>
            </a:r>
            <a:r>
              <a:rPr sz="2500" spc="34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do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ponto.</a:t>
            </a:r>
            <a:endParaRPr sz="2500">
              <a:latin typeface="Arial"/>
              <a:cs typeface="Arial"/>
            </a:endParaRPr>
          </a:p>
          <a:p>
            <a:pPr marL="570633" lvl="1">
              <a:lnSpc>
                <a:spcPts val="2714"/>
              </a:lnSpc>
              <a:spcBef>
                <a:spcPts val="1825"/>
              </a:spcBef>
              <a:buClr>
                <a:srgbClr val="C00000"/>
              </a:buClr>
              <a:buAutoNum type="alphaLcParenR" startAt="2"/>
              <a:tabLst>
                <a:tab pos="945021" algn="l"/>
              </a:tabLst>
            </a:pPr>
            <a:r>
              <a:rPr sz="2500" spc="-6" dirty="0">
                <a:latin typeface="Arial"/>
                <a:cs typeface="Arial"/>
              </a:rPr>
              <a:t>Faça </a:t>
            </a:r>
            <a:r>
              <a:rPr sz="2500" dirty="0">
                <a:latin typeface="Arial"/>
                <a:cs typeface="Arial"/>
              </a:rPr>
              <a:t>uma </a:t>
            </a:r>
            <a:r>
              <a:rPr sz="2500" spc="-6" dirty="0">
                <a:latin typeface="Arial"/>
                <a:cs typeface="Arial"/>
              </a:rPr>
              <a:t>função que receba </a:t>
            </a:r>
            <a:r>
              <a:rPr sz="2500" spc="-11" dirty="0">
                <a:latin typeface="Arial"/>
                <a:cs typeface="Arial"/>
              </a:rPr>
              <a:t>dois </a:t>
            </a:r>
            <a:r>
              <a:rPr sz="2500" spc="-6" dirty="0">
                <a:latin typeface="Arial"/>
                <a:cs typeface="Arial"/>
              </a:rPr>
              <a:t>pontos por </a:t>
            </a:r>
            <a:r>
              <a:rPr sz="2500" dirty="0">
                <a:latin typeface="Arial"/>
                <a:cs typeface="Arial"/>
              </a:rPr>
              <a:t>parâmetro</a:t>
            </a:r>
            <a:r>
              <a:rPr sz="2500" spc="148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e</a:t>
            </a:r>
            <a:endParaRPr sz="2500">
              <a:latin typeface="Arial"/>
              <a:cs typeface="Arial"/>
            </a:endParaRPr>
          </a:p>
          <a:p>
            <a:pPr marL="570633">
              <a:lnSpc>
                <a:spcPts val="2714"/>
              </a:lnSpc>
            </a:pPr>
            <a:r>
              <a:rPr sz="2500" dirty="0">
                <a:latin typeface="Arial"/>
                <a:cs typeface="Arial"/>
              </a:rPr>
              <a:t>retorne a </a:t>
            </a:r>
            <a:r>
              <a:rPr sz="2500" spc="-6" dirty="0">
                <a:latin typeface="Arial"/>
                <a:cs typeface="Arial"/>
              </a:rPr>
              <a:t>distância entre eles.</a:t>
            </a:r>
            <a:endParaRPr sz="2500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2100">
              <a:latin typeface="Times New Roman"/>
              <a:cs typeface="Times New Roman"/>
            </a:endParaRPr>
          </a:p>
          <a:p>
            <a:pPr marL="570633" marR="158590" lvl="1">
              <a:lnSpc>
                <a:spcPct val="80100"/>
              </a:lnSpc>
              <a:buClr>
                <a:srgbClr val="C00000"/>
              </a:buClr>
              <a:buAutoNum type="alphaLcParenR" startAt="3"/>
              <a:tabLst>
                <a:tab pos="927641" algn="l"/>
              </a:tabLst>
            </a:pPr>
            <a:r>
              <a:rPr sz="2500" spc="-6" dirty="0">
                <a:latin typeface="Arial"/>
                <a:cs typeface="Arial"/>
              </a:rPr>
              <a:t>Faça um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que declare 2 </a:t>
            </a:r>
            <a:r>
              <a:rPr sz="2500" dirty="0">
                <a:latin typeface="Arial"/>
                <a:cs typeface="Arial"/>
              </a:rPr>
              <a:t>pontos, </a:t>
            </a:r>
            <a:r>
              <a:rPr sz="2500" spc="-11" dirty="0">
                <a:latin typeface="Arial"/>
                <a:cs typeface="Arial"/>
              </a:rPr>
              <a:t>leia </a:t>
            </a:r>
            <a:r>
              <a:rPr sz="2500" spc="-6" dirty="0">
                <a:latin typeface="Arial"/>
                <a:cs typeface="Arial"/>
              </a:rPr>
              <a:t>as  coordenadas</a:t>
            </a:r>
            <a:r>
              <a:rPr sz="2500" spc="46" dirty="0">
                <a:latin typeface="Arial"/>
                <a:cs typeface="Arial"/>
              </a:rPr>
              <a:t> </a:t>
            </a:r>
            <a:r>
              <a:rPr sz="2500" dirty="0">
                <a:latin typeface="Courier New"/>
                <a:cs typeface="Courier New"/>
              </a:rPr>
              <a:t>x</a:t>
            </a:r>
            <a:r>
              <a:rPr sz="2500" spc="-832" dirty="0">
                <a:latin typeface="Courier New"/>
                <a:cs typeface="Courier New"/>
              </a:rPr>
              <a:t> </a:t>
            </a:r>
            <a:r>
              <a:rPr sz="2500" dirty="0">
                <a:latin typeface="Arial"/>
                <a:cs typeface="Arial"/>
              </a:rPr>
              <a:t>e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Courier New"/>
                <a:cs typeface="Courier New"/>
              </a:rPr>
              <a:t>y</a:t>
            </a:r>
            <a:r>
              <a:rPr sz="2500" spc="-810" dirty="0">
                <a:latin typeface="Courier New"/>
                <a:cs typeface="Courier New"/>
              </a:rPr>
              <a:t> </a:t>
            </a:r>
            <a:r>
              <a:rPr sz="2500" dirty="0">
                <a:latin typeface="Arial"/>
                <a:cs typeface="Arial"/>
              </a:rPr>
              <a:t>de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cada</a:t>
            </a:r>
            <a:r>
              <a:rPr sz="2500" spc="1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um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e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chame</a:t>
            </a:r>
            <a:r>
              <a:rPr sz="2500" spc="23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</a:t>
            </a:r>
            <a:r>
              <a:rPr sz="2500" spc="-1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função</a:t>
            </a:r>
            <a:r>
              <a:rPr sz="2500" spc="1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criada</a:t>
            </a:r>
            <a:r>
              <a:rPr sz="2500" spc="-6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para  </a:t>
            </a:r>
            <a:r>
              <a:rPr sz="2500" spc="-6" dirty="0">
                <a:latin typeface="Arial"/>
                <a:cs typeface="Arial"/>
              </a:rPr>
              <a:t>calcular a distância </a:t>
            </a:r>
            <a:r>
              <a:rPr sz="2500" dirty="0">
                <a:latin typeface="Arial"/>
                <a:cs typeface="Arial"/>
              </a:rPr>
              <a:t>entre </a:t>
            </a:r>
            <a:r>
              <a:rPr sz="2500" spc="-6" dirty="0">
                <a:latin typeface="Arial"/>
                <a:cs typeface="Arial"/>
              </a:rPr>
              <a:t>eles. Apresente no final a distância  </a:t>
            </a:r>
            <a:r>
              <a:rPr sz="2500" dirty="0">
                <a:latin typeface="Arial"/>
                <a:cs typeface="Arial"/>
              </a:rPr>
              <a:t>entre </a:t>
            </a:r>
            <a:r>
              <a:rPr sz="2500" spc="-6" dirty="0">
                <a:latin typeface="Arial"/>
                <a:cs typeface="Arial"/>
              </a:rPr>
              <a:t>os </a:t>
            </a:r>
            <a:r>
              <a:rPr sz="2500" spc="-11" dirty="0">
                <a:latin typeface="Arial"/>
                <a:cs typeface="Arial"/>
              </a:rPr>
              <a:t>dois</a:t>
            </a:r>
            <a:r>
              <a:rPr sz="2500" spc="-29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pontos.</a:t>
            </a:r>
            <a:endParaRPr sz="2500">
              <a:latin typeface="Arial"/>
              <a:cs typeface="Arial"/>
            </a:endParaRPr>
          </a:p>
          <a:p>
            <a:pPr lvl="1">
              <a:spcBef>
                <a:spcPts val="6"/>
              </a:spcBef>
              <a:buClr>
                <a:srgbClr val="C00000"/>
              </a:buClr>
              <a:buFont typeface="Arial"/>
              <a:buAutoNum type="alphaLcParenR" startAt="3"/>
            </a:pPr>
            <a:endParaRPr sz="3300">
              <a:latin typeface="Times New Roman"/>
              <a:cs typeface="Times New Roman"/>
            </a:endParaRPr>
          </a:p>
          <a:p>
            <a:pPr marL="570633" marR="5793" indent="-556150">
              <a:lnSpc>
                <a:spcPct val="80300"/>
              </a:lnSpc>
              <a:buClr>
                <a:srgbClr val="C5000A"/>
              </a:buClr>
              <a:buAutoNum type="arabicParenR" startAt="6"/>
              <a:tabLst>
                <a:tab pos="569909" algn="l"/>
                <a:tab pos="570633" algn="l"/>
              </a:tabLst>
            </a:pPr>
            <a:r>
              <a:rPr sz="2500" spc="-6" dirty="0">
                <a:latin typeface="Arial"/>
                <a:cs typeface="Arial"/>
              </a:rPr>
              <a:t>Utilizando a </a:t>
            </a:r>
            <a:r>
              <a:rPr sz="2500" dirty="0">
                <a:latin typeface="Arial"/>
                <a:cs typeface="Arial"/>
              </a:rPr>
              <a:t>estrutura </a:t>
            </a:r>
            <a:r>
              <a:rPr sz="2500" spc="-6" dirty="0">
                <a:latin typeface="Courier New"/>
                <a:cs typeface="Courier New"/>
              </a:rPr>
              <a:t>ponto</a:t>
            </a:r>
            <a:r>
              <a:rPr sz="2500" spc="-667" dirty="0">
                <a:latin typeface="Courier New"/>
                <a:cs typeface="Courier New"/>
              </a:rPr>
              <a:t> </a:t>
            </a:r>
            <a:r>
              <a:rPr sz="2500" spc="-6" dirty="0">
                <a:latin typeface="Arial"/>
                <a:cs typeface="Arial"/>
              </a:rPr>
              <a:t>definida no exercício </a:t>
            </a:r>
            <a:r>
              <a:rPr sz="2500" dirty="0">
                <a:latin typeface="Arial"/>
                <a:cs typeface="Arial"/>
              </a:rPr>
              <a:t>5, faça uma  </a:t>
            </a:r>
            <a:r>
              <a:rPr sz="2500" spc="-6" dirty="0">
                <a:latin typeface="Arial"/>
                <a:cs typeface="Arial"/>
              </a:rPr>
              <a:t>função que receba </a:t>
            </a:r>
            <a:r>
              <a:rPr sz="2500" dirty="0">
                <a:latin typeface="Arial"/>
                <a:cs typeface="Arial"/>
              </a:rPr>
              <a:t>2 </a:t>
            </a:r>
            <a:r>
              <a:rPr sz="2500" spc="-6" dirty="0">
                <a:latin typeface="Arial"/>
                <a:cs typeface="Arial"/>
              </a:rPr>
              <a:t>pontos </a:t>
            </a:r>
            <a:r>
              <a:rPr sz="2500" dirty="0">
                <a:latin typeface="Arial"/>
                <a:cs typeface="Arial"/>
              </a:rPr>
              <a:t>e retorne o </a:t>
            </a:r>
            <a:r>
              <a:rPr sz="2500" spc="-6" dirty="0">
                <a:latin typeface="Arial"/>
                <a:cs typeface="Arial"/>
              </a:rPr>
              <a:t>ponto mais próximo </a:t>
            </a:r>
            <a:r>
              <a:rPr sz="2500" dirty="0">
                <a:latin typeface="Arial"/>
                <a:cs typeface="Arial"/>
              </a:rPr>
              <a:t>da  </a:t>
            </a:r>
            <a:r>
              <a:rPr sz="2500" spc="-6" dirty="0">
                <a:latin typeface="Arial"/>
                <a:cs typeface="Arial"/>
              </a:rPr>
              <a:t>origem. Em seguida, modifique o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principal para ler 4  pontos e imprimir apenas as coordenadas do ponto mais  próximo </a:t>
            </a:r>
            <a:r>
              <a:rPr sz="2500" dirty="0">
                <a:latin typeface="Arial"/>
                <a:cs typeface="Arial"/>
              </a:rPr>
              <a:t>da</a:t>
            </a:r>
            <a:r>
              <a:rPr sz="2500" spc="-29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origem.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106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499486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62" y="1483245"/>
            <a:ext cx="9671586" cy="4526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7737" indent="-553254" algn="just">
              <a:lnSpc>
                <a:spcPts val="2144"/>
              </a:lnSpc>
              <a:buClr>
                <a:srgbClr val="C5000A"/>
              </a:buClr>
              <a:buAutoNum type="arabicParenR" startAt="7"/>
              <a:tabLst>
                <a:tab pos="567737" algn="l"/>
              </a:tabLst>
            </a:pPr>
            <a:r>
              <a:rPr sz="2500" spc="-6" dirty="0">
                <a:latin typeface="Arial"/>
                <a:cs typeface="Arial"/>
              </a:rPr>
              <a:t>Utilizando </a:t>
            </a:r>
            <a:r>
              <a:rPr sz="2500" dirty="0">
                <a:latin typeface="Arial"/>
                <a:cs typeface="Arial"/>
              </a:rPr>
              <a:t>a  estrutura </a:t>
            </a:r>
            <a:r>
              <a:rPr sz="2500" spc="-6" dirty="0">
                <a:latin typeface="Courier New"/>
                <a:cs typeface="Courier New"/>
              </a:rPr>
              <a:t>medidas </a:t>
            </a:r>
            <a:r>
              <a:rPr sz="2500" dirty="0">
                <a:latin typeface="Arial"/>
                <a:cs typeface="Arial"/>
              </a:rPr>
              <a:t>definida  </a:t>
            </a:r>
            <a:r>
              <a:rPr sz="2500" spc="-6" dirty="0">
                <a:latin typeface="Arial"/>
                <a:cs typeface="Arial"/>
              </a:rPr>
              <a:t>no exercício  2,</a:t>
            </a:r>
            <a:r>
              <a:rPr sz="2500" spc="-16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faça</a:t>
            </a:r>
            <a:endParaRPr sz="2500">
              <a:latin typeface="Arial"/>
              <a:cs typeface="Arial"/>
            </a:endParaRPr>
          </a:p>
          <a:p>
            <a:pPr marL="567737" marR="10862">
              <a:lnSpc>
                <a:spcPts val="2418"/>
              </a:lnSpc>
              <a:spcBef>
                <a:spcPts val="290"/>
              </a:spcBef>
              <a:tabLst>
                <a:tab pos="1184716" algn="l"/>
                <a:tab pos="2722819" algn="l"/>
                <a:tab pos="3430317" algn="l"/>
                <a:tab pos="4099436" algn="l"/>
                <a:tab pos="4449926" algn="l"/>
                <a:tab pos="5423189" algn="l"/>
                <a:tab pos="5773680" algn="l"/>
                <a:tab pos="6124895" algn="l"/>
                <a:tab pos="6990983" algn="l"/>
                <a:tab pos="7518167" algn="l"/>
                <a:tab pos="7868656" algn="l"/>
                <a:tab pos="9233687" algn="l"/>
              </a:tabLst>
            </a:pPr>
            <a:r>
              <a:rPr sz="2500" spc="-11" dirty="0">
                <a:latin typeface="Arial"/>
                <a:cs typeface="Arial"/>
              </a:rPr>
              <a:t>u</a:t>
            </a:r>
            <a:r>
              <a:rPr sz="2500" spc="-6" dirty="0">
                <a:latin typeface="Arial"/>
                <a:cs typeface="Arial"/>
              </a:rPr>
              <a:t>m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progra</a:t>
            </a:r>
            <a:r>
              <a:rPr sz="2500" dirty="0">
                <a:latin typeface="Arial"/>
                <a:cs typeface="Arial"/>
              </a:rPr>
              <a:t>m</a:t>
            </a:r>
            <a:r>
              <a:rPr sz="2500" spc="-6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q</a:t>
            </a:r>
            <a:r>
              <a:rPr sz="2500" dirty="0">
                <a:latin typeface="Arial"/>
                <a:cs typeface="Arial"/>
              </a:rPr>
              <a:t>u</a:t>
            </a:r>
            <a:r>
              <a:rPr sz="2500" spc="-6" dirty="0">
                <a:latin typeface="Arial"/>
                <a:cs typeface="Arial"/>
              </a:rPr>
              <a:t>e</a:t>
            </a:r>
            <a:r>
              <a:rPr sz="2500" dirty="0">
                <a:latin typeface="Arial"/>
                <a:cs typeface="Arial"/>
              </a:rPr>
              <a:t>	l</a:t>
            </a:r>
            <a:r>
              <a:rPr sz="2500" spc="-6" dirty="0">
                <a:latin typeface="Arial"/>
                <a:cs typeface="Arial"/>
              </a:rPr>
              <a:t>e</a:t>
            </a:r>
            <a:r>
              <a:rPr sz="2500" spc="-23" dirty="0">
                <a:latin typeface="Arial"/>
                <a:cs typeface="Arial"/>
              </a:rPr>
              <a:t>i</a:t>
            </a:r>
            <a:r>
              <a:rPr sz="2500" spc="-6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6" dirty="0">
                <a:latin typeface="Arial"/>
                <a:cs typeface="Arial"/>
              </a:rPr>
              <a:t>a</a:t>
            </a:r>
            <a:r>
              <a:rPr sz="2500" spc="-17" dirty="0">
                <a:latin typeface="Arial"/>
                <a:cs typeface="Arial"/>
              </a:rPr>
              <a:t>l</a:t>
            </a:r>
            <a:r>
              <a:rPr sz="2500" spc="6" dirty="0">
                <a:latin typeface="Arial"/>
                <a:cs typeface="Arial"/>
              </a:rPr>
              <a:t>t</a:t>
            </a:r>
            <a:r>
              <a:rPr sz="2500" spc="-6" dirty="0">
                <a:latin typeface="Arial"/>
                <a:cs typeface="Arial"/>
              </a:rPr>
              <a:t>ura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e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o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6" dirty="0">
                <a:latin typeface="Arial"/>
                <a:cs typeface="Arial"/>
              </a:rPr>
              <a:t>p</a:t>
            </a:r>
            <a:r>
              <a:rPr sz="2500" spc="-6" dirty="0">
                <a:latin typeface="Arial"/>
                <a:cs typeface="Arial"/>
              </a:rPr>
              <a:t>eso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11" dirty="0">
                <a:latin typeface="Arial"/>
                <a:cs typeface="Arial"/>
              </a:rPr>
              <a:t>d</a:t>
            </a:r>
            <a:r>
              <a:rPr sz="2500" spc="-6" dirty="0">
                <a:latin typeface="Arial"/>
                <a:cs typeface="Arial"/>
              </a:rPr>
              <a:t>e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-6" dirty="0">
                <a:latin typeface="Arial"/>
                <a:cs typeface="Arial"/>
              </a:rPr>
              <a:t>6</a:t>
            </a:r>
            <a:r>
              <a:rPr sz="2500" dirty="0">
                <a:latin typeface="Arial"/>
                <a:cs typeface="Arial"/>
              </a:rPr>
              <a:t>	</a:t>
            </a:r>
            <a:r>
              <a:rPr sz="2500" spc="6" dirty="0">
                <a:latin typeface="Arial"/>
                <a:cs typeface="Arial"/>
              </a:rPr>
              <a:t>p</a:t>
            </a:r>
            <a:r>
              <a:rPr sz="2500" spc="-6" dirty="0">
                <a:latin typeface="Arial"/>
                <a:cs typeface="Arial"/>
              </a:rPr>
              <a:t>esso</a:t>
            </a:r>
            <a:r>
              <a:rPr sz="2500" spc="-17" dirty="0">
                <a:latin typeface="Arial"/>
                <a:cs typeface="Arial"/>
              </a:rPr>
              <a:t>a</a:t>
            </a:r>
            <a:r>
              <a:rPr sz="2500" dirty="0">
                <a:latin typeface="Arial"/>
                <a:cs typeface="Arial"/>
              </a:rPr>
              <a:t>s	</a:t>
            </a:r>
            <a:r>
              <a:rPr sz="2500" spc="-6" dirty="0">
                <a:latin typeface="Arial"/>
                <a:cs typeface="Arial"/>
              </a:rPr>
              <a:t>e  imprima a média da altura e a média do peso do</a:t>
            </a:r>
            <a:r>
              <a:rPr sz="2500" spc="188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grupo.</a:t>
            </a:r>
            <a:endParaRPr sz="2500">
              <a:latin typeface="Arial"/>
              <a:cs typeface="Arial"/>
            </a:endParaRPr>
          </a:p>
          <a:p>
            <a:pPr marL="567737" marR="7242" indent="-553254" algn="just">
              <a:lnSpc>
                <a:spcPct val="80100"/>
              </a:lnSpc>
              <a:spcBef>
                <a:spcPts val="2058"/>
              </a:spcBef>
              <a:buClr>
                <a:srgbClr val="C00000"/>
              </a:buClr>
              <a:buAutoNum type="arabicParenR" startAt="8"/>
              <a:tabLst>
                <a:tab pos="567737" algn="l"/>
              </a:tabLst>
            </a:pPr>
            <a:r>
              <a:rPr sz="2500" spc="-6" dirty="0">
                <a:latin typeface="Arial"/>
                <a:cs typeface="Arial"/>
              </a:rPr>
              <a:t>Faça um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que receba </a:t>
            </a:r>
            <a:r>
              <a:rPr sz="2500" dirty="0">
                <a:latin typeface="Arial"/>
                <a:cs typeface="Arial"/>
              </a:rPr>
              <a:t>três </a:t>
            </a:r>
            <a:r>
              <a:rPr sz="2500" spc="-11" dirty="0">
                <a:latin typeface="Arial"/>
                <a:cs typeface="Arial"/>
              </a:rPr>
              <a:t>nomes </a:t>
            </a:r>
            <a:r>
              <a:rPr sz="2500" dirty="0">
                <a:latin typeface="Arial"/>
                <a:cs typeface="Arial"/>
              </a:rPr>
              <a:t>(de </a:t>
            </a:r>
            <a:r>
              <a:rPr sz="2500" spc="-6" dirty="0">
                <a:latin typeface="Arial"/>
                <a:cs typeface="Arial"/>
              </a:rPr>
              <a:t>no máximo  100 </a:t>
            </a:r>
            <a:r>
              <a:rPr sz="2500" dirty="0">
                <a:latin typeface="Arial"/>
                <a:cs typeface="Arial"/>
              </a:rPr>
              <a:t>caracteres cada) </a:t>
            </a:r>
            <a:r>
              <a:rPr sz="2500" spc="-6" dirty="0">
                <a:latin typeface="Arial"/>
                <a:cs typeface="Arial"/>
              </a:rPr>
              <a:t>e as idades das </a:t>
            </a:r>
            <a:r>
              <a:rPr sz="2500" dirty="0">
                <a:latin typeface="Arial"/>
                <a:cs typeface="Arial"/>
              </a:rPr>
              <a:t>respectivas pessoas </a:t>
            </a:r>
            <a:r>
              <a:rPr sz="2500" spc="11" dirty="0">
                <a:latin typeface="Arial"/>
                <a:cs typeface="Arial"/>
              </a:rPr>
              <a:t>em  </a:t>
            </a:r>
            <a:r>
              <a:rPr sz="2500" spc="-6" dirty="0">
                <a:latin typeface="Arial"/>
                <a:cs typeface="Arial"/>
              </a:rPr>
              <a:t>um </a:t>
            </a:r>
            <a:r>
              <a:rPr sz="2500" dirty="0">
                <a:latin typeface="Arial"/>
                <a:cs typeface="Arial"/>
              </a:rPr>
              <a:t>vetor </a:t>
            </a:r>
            <a:r>
              <a:rPr sz="2500" spc="-6" dirty="0">
                <a:latin typeface="Arial"/>
                <a:cs typeface="Arial"/>
              </a:rPr>
              <a:t>de </a:t>
            </a:r>
            <a:r>
              <a:rPr sz="2500" dirty="0">
                <a:latin typeface="Arial"/>
                <a:cs typeface="Arial"/>
              </a:rPr>
              <a:t>estruturas. </a:t>
            </a:r>
            <a:r>
              <a:rPr sz="2500" spc="-6" dirty="0">
                <a:latin typeface="Arial"/>
                <a:cs typeface="Arial"/>
              </a:rPr>
              <a:t>Após </a:t>
            </a:r>
            <a:r>
              <a:rPr sz="2500" dirty="0">
                <a:latin typeface="Arial"/>
                <a:cs typeface="Arial"/>
              </a:rPr>
              <a:t>o recebimento, </a:t>
            </a:r>
            <a:r>
              <a:rPr sz="2500" spc="-6" dirty="0">
                <a:latin typeface="Arial"/>
                <a:cs typeface="Arial"/>
              </a:rPr>
              <a:t>listar os </a:t>
            </a:r>
            <a:r>
              <a:rPr sz="2500" dirty="0">
                <a:latin typeface="Arial"/>
                <a:cs typeface="Arial"/>
              </a:rPr>
              <a:t>três  </a:t>
            </a:r>
            <a:r>
              <a:rPr sz="2500" spc="-6" dirty="0">
                <a:latin typeface="Arial"/>
                <a:cs typeface="Arial"/>
              </a:rPr>
              <a:t>nomes </a:t>
            </a:r>
            <a:r>
              <a:rPr sz="2500" dirty="0">
                <a:latin typeface="Arial"/>
                <a:cs typeface="Arial"/>
              </a:rPr>
              <a:t>armazenados </a:t>
            </a:r>
            <a:r>
              <a:rPr sz="2500" spc="-6" dirty="0">
                <a:latin typeface="Arial"/>
                <a:cs typeface="Arial"/>
              </a:rPr>
              <a:t>neste </a:t>
            </a:r>
            <a:r>
              <a:rPr sz="2500" dirty="0">
                <a:latin typeface="Arial"/>
                <a:cs typeface="Arial"/>
              </a:rPr>
              <a:t>vetor </a:t>
            </a:r>
            <a:r>
              <a:rPr sz="2500" spc="-6" dirty="0">
                <a:latin typeface="Arial"/>
                <a:cs typeface="Arial"/>
              </a:rPr>
              <a:t>por ordem crescente </a:t>
            </a:r>
            <a:r>
              <a:rPr sz="2500" spc="11" dirty="0">
                <a:latin typeface="Arial"/>
                <a:cs typeface="Arial"/>
              </a:rPr>
              <a:t>de  </a:t>
            </a:r>
            <a:r>
              <a:rPr sz="2500" spc="-6" dirty="0">
                <a:latin typeface="Arial"/>
                <a:cs typeface="Arial"/>
              </a:rPr>
              <a:t>idades.</a:t>
            </a:r>
            <a:endParaRPr sz="2500">
              <a:latin typeface="Arial"/>
              <a:cs typeface="Arial"/>
            </a:endParaRPr>
          </a:p>
          <a:p>
            <a:pPr marL="567737" marR="5793" indent="-553254" algn="just">
              <a:lnSpc>
                <a:spcPct val="80100"/>
              </a:lnSpc>
              <a:spcBef>
                <a:spcPts val="2036"/>
              </a:spcBef>
              <a:buClr>
                <a:srgbClr val="C5000A"/>
              </a:buClr>
              <a:buAutoNum type="arabicParenR" startAt="8"/>
              <a:tabLst>
                <a:tab pos="567737" algn="l"/>
              </a:tabLst>
            </a:pPr>
            <a:r>
              <a:rPr sz="2500" spc="-6" dirty="0">
                <a:latin typeface="Arial"/>
                <a:cs typeface="Arial"/>
              </a:rPr>
              <a:t>Faça um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que </a:t>
            </a:r>
            <a:r>
              <a:rPr sz="2500" dirty="0">
                <a:latin typeface="Arial"/>
                <a:cs typeface="Arial"/>
              </a:rPr>
              <a:t>armazene informações </a:t>
            </a:r>
            <a:r>
              <a:rPr sz="2500" spc="-6" dirty="0">
                <a:latin typeface="Arial"/>
                <a:cs typeface="Arial"/>
              </a:rPr>
              <a:t>de  </a:t>
            </a:r>
            <a:r>
              <a:rPr sz="2500" dirty="0">
                <a:latin typeface="Arial"/>
                <a:cs typeface="Arial"/>
              </a:rPr>
              <a:t>restaurantes. </a:t>
            </a:r>
            <a:r>
              <a:rPr sz="2500" spc="-6" dirty="0">
                <a:latin typeface="Arial"/>
                <a:cs typeface="Arial"/>
              </a:rPr>
              <a:t>Cada </a:t>
            </a:r>
            <a:r>
              <a:rPr sz="2500" dirty="0">
                <a:latin typeface="Arial"/>
                <a:cs typeface="Arial"/>
              </a:rPr>
              <a:t>restaurante </a:t>
            </a:r>
            <a:r>
              <a:rPr sz="2500" spc="-6" dirty="0">
                <a:latin typeface="Arial"/>
                <a:cs typeface="Arial"/>
              </a:rPr>
              <a:t>é identificado </a:t>
            </a:r>
            <a:r>
              <a:rPr sz="2500" spc="-11" dirty="0">
                <a:latin typeface="Arial"/>
                <a:cs typeface="Arial"/>
              </a:rPr>
              <a:t>pelo </a:t>
            </a:r>
            <a:r>
              <a:rPr sz="2500" spc="-6" dirty="0">
                <a:latin typeface="Arial"/>
                <a:cs typeface="Arial"/>
              </a:rPr>
              <a:t>nome, o  tipo de </a:t>
            </a:r>
            <a:r>
              <a:rPr sz="2500" dirty="0">
                <a:latin typeface="Arial"/>
                <a:cs typeface="Arial"/>
              </a:rPr>
              <a:t>comida </a:t>
            </a:r>
            <a:r>
              <a:rPr sz="2500" spc="-6" dirty="0">
                <a:latin typeface="Arial"/>
                <a:cs typeface="Arial"/>
              </a:rPr>
              <a:t>(brasileira, chinesa, francesa, italiana,  japonesa, </a:t>
            </a:r>
            <a:r>
              <a:rPr sz="2500" dirty="0">
                <a:latin typeface="Arial"/>
                <a:cs typeface="Arial"/>
              </a:rPr>
              <a:t>etc.) e </a:t>
            </a:r>
            <a:r>
              <a:rPr sz="2500" spc="-11" dirty="0">
                <a:latin typeface="Arial"/>
                <a:cs typeface="Arial"/>
              </a:rPr>
              <a:t>uma </a:t>
            </a:r>
            <a:r>
              <a:rPr sz="2500" spc="-6" dirty="0">
                <a:latin typeface="Arial"/>
                <a:cs typeface="Arial"/>
              </a:rPr>
              <a:t>nota para </a:t>
            </a:r>
            <a:r>
              <a:rPr sz="2500" dirty="0">
                <a:latin typeface="Arial"/>
                <a:cs typeface="Arial"/>
              </a:rPr>
              <a:t>a </a:t>
            </a:r>
            <a:r>
              <a:rPr sz="2500" spc="-6" dirty="0">
                <a:latin typeface="Arial"/>
                <a:cs typeface="Arial"/>
              </a:rPr>
              <a:t>cozinha </a:t>
            </a:r>
            <a:r>
              <a:rPr sz="2500" dirty="0">
                <a:latin typeface="Arial"/>
                <a:cs typeface="Arial"/>
              </a:rPr>
              <a:t>(entre 0 e 5). O  programa deverá ler </a:t>
            </a:r>
            <a:r>
              <a:rPr sz="2500" spc="-6" dirty="0">
                <a:latin typeface="Arial"/>
                <a:cs typeface="Arial"/>
              </a:rPr>
              <a:t>todas as informações e imprimir a </a:t>
            </a:r>
            <a:r>
              <a:rPr sz="2500" spc="-11" dirty="0">
                <a:latin typeface="Arial"/>
                <a:cs typeface="Arial"/>
              </a:rPr>
              <a:t>lista  </a:t>
            </a:r>
            <a:r>
              <a:rPr sz="2500" spc="-6" dirty="0">
                <a:latin typeface="Arial"/>
                <a:cs typeface="Arial"/>
              </a:rPr>
              <a:t>de todos os </a:t>
            </a:r>
            <a:r>
              <a:rPr sz="2500" dirty="0">
                <a:latin typeface="Arial"/>
                <a:cs typeface="Arial"/>
              </a:rPr>
              <a:t>restaurantes </a:t>
            </a:r>
            <a:r>
              <a:rPr sz="2500" spc="-6" dirty="0">
                <a:latin typeface="Arial"/>
                <a:cs typeface="Arial"/>
              </a:rPr>
              <a:t>e, ao final, o tipo de cozinha </a:t>
            </a:r>
            <a:r>
              <a:rPr sz="2500" spc="11" dirty="0">
                <a:latin typeface="Arial"/>
                <a:cs typeface="Arial"/>
              </a:rPr>
              <a:t>do  </a:t>
            </a:r>
            <a:r>
              <a:rPr sz="2500" dirty="0">
                <a:latin typeface="Arial"/>
                <a:cs typeface="Arial"/>
              </a:rPr>
              <a:t>restaurante com </a:t>
            </a:r>
            <a:r>
              <a:rPr sz="2500" spc="-6" dirty="0">
                <a:latin typeface="Arial"/>
                <a:cs typeface="Arial"/>
              </a:rPr>
              <a:t>maior</a:t>
            </a:r>
            <a:r>
              <a:rPr sz="2500" spc="-29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nota.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107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155954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4744" y="1125779"/>
            <a:ext cx="9580246" cy="6288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4287" marR="5793" indent="-509804" algn="just">
              <a:lnSpc>
                <a:spcPct val="80000"/>
              </a:lnSpc>
              <a:buClr>
                <a:srgbClr val="C00000"/>
              </a:buClr>
              <a:buAutoNum type="arabicParenR" startAt="10"/>
              <a:tabLst>
                <a:tab pos="625669" algn="l"/>
              </a:tabLst>
            </a:pPr>
            <a:r>
              <a:rPr sz="2500" dirty="0">
                <a:latin typeface="Arial"/>
                <a:cs typeface="Arial"/>
              </a:rPr>
              <a:t>Faça </a:t>
            </a:r>
            <a:r>
              <a:rPr sz="2500" spc="-6" dirty="0">
                <a:latin typeface="Arial"/>
                <a:cs typeface="Arial"/>
              </a:rPr>
              <a:t>um </a:t>
            </a:r>
            <a:r>
              <a:rPr sz="2500" dirty="0">
                <a:latin typeface="Arial"/>
                <a:cs typeface="Arial"/>
              </a:rPr>
              <a:t>programa </a:t>
            </a:r>
            <a:r>
              <a:rPr sz="2500" spc="-6" dirty="0">
                <a:latin typeface="Arial"/>
                <a:cs typeface="Arial"/>
              </a:rPr>
              <a:t>que </a:t>
            </a:r>
            <a:r>
              <a:rPr sz="2500" dirty="0">
                <a:latin typeface="Arial"/>
                <a:cs typeface="Arial"/>
              </a:rPr>
              <a:t>permita </a:t>
            </a:r>
            <a:r>
              <a:rPr sz="2500" spc="-6" dirty="0">
                <a:latin typeface="Arial"/>
                <a:cs typeface="Arial"/>
              </a:rPr>
              <a:t>o </a:t>
            </a:r>
            <a:r>
              <a:rPr sz="2500" dirty="0">
                <a:latin typeface="Arial"/>
                <a:cs typeface="Arial"/>
              </a:rPr>
              <a:t>cadastro </a:t>
            </a:r>
            <a:r>
              <a:rPr sz="2500" spc="-6" dirty="0">
                <a:latin typeface="Arial"/>
                <a:cs typeface="Arial"/>
              </a:rPr>
              <a:t>de </a:t>
            </a:r>
            <a:r>
              <a:rPr sz="2500" dirty="0">
                <a:latin typeface="Arial"/>
                <a:cs typeface="Arial"/>
              </a:rPr>
              <a:t>veículos. A  estrutura veículos </a:t>
            </a:r>
            <a:r>
              <a:rPr sz="2500" spc="-6" dirty="0">
                <a:latin typeface="Arial"/>
                <a:cs typeface="Arial"/>
              </a:rPr>
              <a:t>deverá </a:t>
            </a:r>
            <a:r>
              <a:rPr sz="2500" dirty="0">
                <a:latin typeface="Arial"/>
                <a:cs typeface="Arial"/>
              </a:rPr>
              <a:t>conter </a:t>
            </a:r>
            <a:r>
              <a:rPr sz="2500" spc="-6" dirty="0">
                <a:latin typeface="Arial"/>
                <a:cs typeface="Arial"/>
              </a:rPr>
              <a:t>os campos placa, </a:t>
            </a:r>
            <a:r>
              <a:rPr sz="2500" dirty="0">
                <a:latin typeface="Arial"/>
                <a:cs typeface="Arial"/>
              </a:rPr>
              <a:t>marca,  </a:t>
            </a:r>
            <a:r>
              <a:rPr sz="2500" spc="-6" dirty="0">
                <a:latin typeface="Arial"/>
                <a:cs typeface="Arial"/>
              </a:rPr>
              <a:t>modelo e </a:t>
            </a:r>
            <a:r>
              <a:rPr sz="2500" spc="-11" dirty="0">
                <a:latin typeface="Arial"/>
                <a:cs typeface="Arial"/>
              </a:rPr>
              <a:t>ano. </a:t>
            </a:r>
            <a:r>
              <a:rPr sz="2500" spc="-6" dirty="0">
                <a:latin typeface="Arial"/>
                <a:cs typeface="Arial"/>
              </a:rPr>
              <a:t>Faça um menu </a:t>
            </a:r>
            <a:r>
              <a:rPr sz="2500" dirty="0">
                <a:latin typeface="Arial"/>
                <a:cs typeface="Arial"/>
              </a:rPr>
              <a:t>com </a:t>
            </a:r>
            <a:r>
              <a:rPr sz="2500" spc="-6" dirty="0">
                <a:latin typeface="Arial"/>
                <a:cs typeface="Arial"/>
              </a:rPr>
              <a:t>as seguintes</a:t>
            </a:r>
            <a:r>
              <a:rPr sz="2500" spc="200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opções:</a:t>
            </a:r>
            <a:endParaRPr sz="2500">
              <a:latin typeface="Arial"/>
              <a:cs typeface="Arial"/>
            </a:endParaRPr>
          </a:p>
          <a:p>
            <a:pPr marL="1048575">
              <a:spcBef>
                <a:spcPts val="616"/>
              </a:spcBef>
            </a:pPr>
            <a:r>
              <a:rPr sz="2100" spc="-6" dirty="0">
                <a:latin typeface="Courier New"/>
                <a:cs typeface="Courier New"/>
              </a:rPr>
              <a:t>Menu:</a:t>
            </a:r>
            <a:endParaRPr sz="2100">
              <a:latin typeface="Courier New"/>
              <a:cs typeface="Courier New"/>
            </a:endParaRPr>
          </a:p>
          <a:p>
            <a:pPr marL="1697417" lvl="1" indent="-648842">
              <a:spcBef>
                <a:spcPts val="798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11" dirty="0">
                <a:latin typeface="Courier New"/>
                <a:cs typeface="Courier New"/>
              </a:rPr>
              <a:t>Ler </a:t>
            </a:r>
            <a:r>
              <a:rPr sz="2100" spc="-6" dirty="0">
                <a:latin typeface="Courier New"/>
                <a:cs typeface="Courier New"/>
              </a:rPr>
              <a:t>as </a:t>
            </a:r>
            <a:r>
              <a:rPr sz="2100" spc="-11" dirty="0">
                <a:latin typeface="Courier New"/>
                <a:cs typeface="Courier New"/>
              </a:rPr>
              <a:t>informações </a:t>
            </a:r>
            <a:r>
              <a:rPr sz="2100" spc="-6" dirty="0">
                <a:latin typeface="Courier New"/>
                <a:cs typeface="Courier New"/>
              </a:rPr>
              <a:t>de um</a:t>
            </a:r>
            <a:r>
              <a:rPr sz="2100" spc="-114" dirty="0"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veículo</a:t>
            </a:r>
            <a:endParaRPr sz="2100">
              <a:latin typeface="Courier New"/>
              <a:cs typeface="Courier New"/>
            </a:endParaRPr>
          </a:p>
          <a:p>
            <a:pPr marL="1697417" marR="498218" lvl="1" indent="-648842">
              <a:spcBef>
                <a:spcPts val="798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11" dirty="0">
                <a:latin typeface="Courier New"/>
                <a:cs typeface="Courier New"/>
              </a:rPr>
              <a:t>Verificar </a:t>
            </a:r>
            <a:r>
              <a:rPr sz="2100" spc="-6" dirty="0">
                <a:latin typeface="Courier New"/>
                <a:cs typeface="Courier New"/>
              </a:rPr>
              <a:t>se </a:t>
            </a:r>
            <a:r>
              <a:rPr sz="2100" spc="-17" dirty="0">
                <a:latin typeface="Courier New"/>
                <a:cs typeface="Courier New"/>
              </a:rPr>
              <a:t>uma </a:t>
            </a:r>
            <a:r>
              <a:rPr sz="2100" spc="-11" dirty="0">
                <a:latin typeface="Courier New"/>
                <a:cs typeface="Courier New"/>
              </a:rPr>
              <a:t>placa está no formato correto  (AAADDDD)</a:t>
            </a:r>
            <a:endParaRPr sz="2100">
              <a:latin typeface="Courier New"/>
              <a:cs typeface="Courier New"/>
            </a:endParaRPr>
          </a:p>
          <a:p>
            <a:pPr marL="1361410" lvl="1" indent="-312835">
              <a:spcBef>
                <a:spcPts val="798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11" dirty="0">
                <a:latin typeface="Courier New"/>
                <a:cs typeface="Courier New"/>
              </a:rPr>
              <a:t>Imprimir por</a:t>
            </a:r>
            <a:r>
              <a:rPr sz="2100" spc="-91" dirty="0">
                <a:latin typeface="Courier New"/>
                <a:cs typeface="Courier New"/>
              </a:rPr>
              <a:t> </a:t>
            </a:r>
            <a:r>
              <a:rPr sz="2100" spc="-17" dirty="0">
                <a:latin typeface="Courier New"/>
                <a:cs typeface="Courier New"/>
              </a:rPr>
              <a:t>ano</a:t>
            </a:r>
            <a:endParaRPr sz="2100">
              <a:latin typeface="Courier New"/>
              <a:cs typeface="Courier New"/>
            </a:endParaRPr>
          </a:p>
          <a:p>
            <a:pPr marL="1361410" lvl="1" indent="-312835">
              <a:spcBef>
                <a:spcPts val="798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11" dirty="0">
                <a:latin typeface="Courier New"/>
                <a:cs typeface="Courier New"/>
              </a:rPr>
              <a:t>Pesquisar veículo </a:t>
            </a:r>
            <a:r>
              <a:rPr sz="2100" spc="-6" dirty="0">
                <a:latin typeface="Courier New"/>
                <a:cs typeface="Courier New"/>
              </a:rPr>
              <a:t>por</a:t>
            </a:r>
            <a:r>
              <a:rPr sz="2100" spc="-103" dirty="0">
                <a:latin typeface="Courier New"/>
                <a:cs typeface="Courier New"/>
              </a:rPr>
              <a:t> </a:t>
            </a:r>
            <a:r>
              <a:rPr sz="2100" spc="-11" dirty="0">
                <a:latin typeface="Courier New"/>
                <a:cs typeface="Courier New"/>
              </a:rPr>
              <a:t>placa</a:t>
            </a:r>
            <a:endParaRPr sz="2100">
              <a:latin typeface="Courier New"/>
              <a:cs typeface="Courier New"/>
            </a:endParaRPr>
          </a:p>
          <a:p>
            <a:pPr marL="1361410" lvl="1" indent="-312835">
              <a:spcBef>
                <a:spcPts val="844"/>
              </a:spcBef>
              <a:buAutoNum type="arabicPlain"/>
              <a:tabLst>
                <a:tab pos="1362134" algn="l"/>
              </a:tabLst>
            </a:pPr>
            <a:r>
              <a:rPr sz="2100" dirty="0">
                <a:latin typeface="Courier New"/>
                <a:cs typeface="Courier New"/>
              </a:rPr>
              <a:t>- </a:t>
            </a:r>
            <a:r>
              <a:rPr sz="2100" spc="-6" dirty="0">
                <a:latin typeface="Courier New"/>
                <a:cs typeface="Courier New"/>
              </a:rPr>
              <a:t>Imprimir todos os veículos</a:t>
            </a:r>
            <a:r>
              <a:rPr sz="2100" spc="-268" dirty="0">
                <a:latin typeface="Courier New"/>
                <a:cs typeface="Courier New"/>
              </a:rPr>
              <a:t> </a:t>
            </a:r>
            <a:r>
              <a:rPr sz="2100" spc="-6" dirty="0">
                <a:latin typeface="Courier New"/>
                <a:cs typeface="Courier New"/>
              </a:rPr>
              <a:t>cadastrados</a:t>
            </a:r>
            <a:endParaRPr sz="2100">
              <a:latin typeface="Courier New"/>
              <a:cs typeface="Courier New"/>
            </a:endParaRPr>
          </a:p>
          <a:p>
            <a:pPr marL="523563">
              <a:spcBef>
                <a:spcPts val="205"/>
              </a:spcBef>
            </a:pPr>
            <a:r>
              <a:rPr sz="2500" dirty="0">
                <a:latin typeface="Arial"/>
                <a:cs typeface="Arial"/>
              </a:rPr>
              <a:t>O programa </a:t>
            </a:r>
            <a:r>
              <a:rPr sz="2500" spc="-6" dirty="0">
                <a:latin typeface="Arial"/>
                <a:cs typeface="Arial"/>
              </a:rPr>
              <a:t>deverá </a:t>
            </a:r>
            <a:r>
              <a:rPr sz="2500" dirty="0">
                <a:latin typeface="Arial"/>
                <a:cs typeface="Arial"/>
              </a:rPr>
              <a:t>ter </a:t>
            </a:r>
            <a:r>
              <a:rPr sz="2500" spc="-6" dirty="0">
                <a:latin typeface="Arial"/>
                <a:cs typeface="Arial"/>
              </a:rPr>
              <a:t>as seguintes</a:t>
            </a:r>
            <a:r>
              <a:rPr sz="2500" spc="17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características:</a:t>
            </a:r>
            <a:endParaRPr sz="2500">
              <a:latin typeface="Arial"/>
              <a:cs typeface="Arial"/>
            </a:endParaRPr>
          </a:p>
          <a:p>
            <a:pPr marL="1697417" indent="-648842">
              <a:lnSpc>
                <a:spcPts val="2714"/>
              </a:lnSpc>
              <a:spcBef>
                <a:spcPts val="91"/>
              </a:spcBef>
              <a:buClr>
                <a:srgbClr val="808080"/>
              </a:buClr>
              <a:buSzPct val="70454"/>
              <a:buFont typeface="Wingdings"/>
              <a:buChar char=""/>
              <a:tabLst>
                <a:tab pos="1697417" algn="l"/>
                <a:tab pos="1698141" algn="l"/>
              </a:tabLst>
            </a:pPr>
            <a:r>
              <a:rPr sz="2500" spc="-11" dirty="0">
                <a:latin typeface="Arial"/>
                <a:cs typeface="Arial"/>
              </a:rPr>
              <a:t>No </a:t>
            </a:r>
            <a:r>
              <a:rPr sz="2500" spc="-6" dirty="0">
                <a:latin typeface="Arial"/>
                <a:cs typeface="Arial"/>
              </a:rPr>
              <a:t>primeiro item, peça inicialmente </a:t>
            </a:r>
            <a:r>
              <a:rPr sz="2500" dirty="0">
                <a:latin typeface="Arial"/>
                <a:cs typeface="Arial"/>
              </a:rPr>
              <a:t>o </a:t>
            </a:r>
            <a:r>
              <a:rPr sz="2500" spc="-6" dirty="0">
                <a:latin typeface="Arial"/>
                <a:cs typeface="Arial"/>
              </a:rPr>
              <a:t>índice </a:t>
            </a:r>
            <a:r>
              <a:rPr sz="2500" dirty="0">
                <a:latin typeface="Arial"/>
                <a:cs typeface="Arial"/>
              </a:rPr>
              <a:t>do</a:t>
            </a:r>
            <a:r>
              <a:rPr sz="2500" spc="143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vetor</a:t>
            </a:r>
            <a:endParaRPr sz="2500">
              <a:latin typeface="Arial"/>
              <a:cs typeface="Arial"/>
            </a:endParaRPr>
          </a:p>
          <a:p>
            <a:pPr marL="1697417">
              <a:lnSpc>
                <a:spcPts val="2714"/>
              </a:lnSpc>
            </a:pPr>
            <a:r>
              <a:rPr sz="2500" spc="-6" dirty="0">
                <a:latin typeface="Arial"/>
                <a:cs typeface="Arial"/>
              </a:rPr>
              <a:t>que deseja</a:t>
            </a:r>
            <a:r>
              <a:rPr sz="2500" spc="-29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alterar.</a:t>
            </a:r>
            <a:endParaRPr sz="2500">
              <a:latin typeface="Arial"/>
              <a:cs typeface="Arial"/>
            </a:endParaRPr>
          </a:p>
          <a:p>
            <a:pPr marL="1697417" indent="-648842">
              <a:lnSpc>
                <a:spcPts val="2714"/>
              </a:lnSpc>
              <a:spcBef>
                <a:spcPts val="68"/>
              </a:spcBef>
              <a:buClr>
                <a:srgbClr val="808080"/>
              </a:buClr>
              <a:buSzPct val="68181"/>
              <a:buFont typeface="Wingdings"/>
              <a:buChar char=""/>
              <a:tabLst>
                <a:tab pos="1697417" algn="l"/>
                <a:tab pos="1698141" algn="l"/>
              </a:tabLst>
            </a:pPr>
            <a:r>
              <a:rPr sz="2500" spc="-11" dirty="0">
                <a:latin typeface="Arial"/>
                <a:cs typeface="Arial"/>
              </a:rPr>
              <a:t>No </a:t>
            </a:r>
            <a:r>
              <a:rPr sz="2500" spc="-6" dirty="0">
                <a:latin typeface="Arial"/>
                <a:cs typeface="Arial"/>
              </a:rPr>
              <a:t>terceiro </a:t>
            </a:r>
            <a:r>
              <a:rPr sz="2500" dirty="0">
                <a:latin typeface="Arial"/>
                <a:cs typeface="Arial"/>
              </a:rPr>
              <a:t>item, </a:t>
            </a:r>
            <a:r>
              <a:rPr sz="2500" spc="-6" dirty="0">
                <a:latin typeface="Arial"/>
                <a:cs typeface="Arial"/>
              </a:rPr>
              <a:t>peça o ano mínimo e </a:t>
            </a:r>
            <a:r>
              <a:rPr sz="2500" spc="-11" dirty="0">
                <a:latin typeface="Arial"/>
                <a:cs typeface="Arial"/>
              </a:rPr>
              <a:t>máximo</a:t>
            </a:r>
            <a:r>
              <a:rPr sz="2500" spc="130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e</a:t>
            </a:r>
            <a:endParaRPr sz="2500">
              <a:latin typeface="Arial"/>
              <a:cs typeface="Arial"/>
            </a:endParaRPr>
          </a:p>
          <a:p>
            <a:pPr marL="1697417">
              <a:lnSpc>
                <a:spcPts val="2714"/>
              </a:lnSpc>
            </a:pPr>
            <a:r>
              <a:rPr sz="2500" spc="-6" dirty="0">
                <a:latin typeface="Arial"/>
                <a:cs typeface="Arial"/>
              </a:rPr>
              <a:t>imprima </a:t>
            </a:r>
            <a:r>
              <a:rPr sz="2500" dirty="0">
                <a:latin typeface="Arial"/>
                <a:cs typeface="Arial"/>
              </a:rPr>
              <a:t>os </a:t>
            </a:r>
            <a:r>
              <a:rPr sz="2500" spc="-6" dirty="0">
                <a:latin typeface="Arial"/>
                <a:cs typeface="Arial"/>
              </a:rPr>
              <a:t>veículos que </a:t>
            </a:r>
            <a:r>
              <a:rPr sz="2500" dirty="0">
                <a:latin typeface="Arial"/>
                <a:cs typeface="Arial"/>
              </a:rPr>
              <a:t>estão </a:t>
            </a:r>
            <a:r>
              <a:rPr sz="2500" spc="-6" dirty="0">
                <a:latin typeface="Arial"/>
                <a:cs typeface="Arial"/>
              </a:rPr>
              <a:t>nesse</a:t>
            </a:r>
            <a:r>
              <a:rPr sz="2500" spc="103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intervalo.</a:t>
            </a:r>
            <a:endParaRPr sz="2500">
              <a:latin typeface="Arial"/>
              <a:cs typeface="Arial"/>
            </a:endParaRPr>
          </a:p>
          <a:p>
            <a:pPr marL="1697417" marR="101382" indent="-648842">
              <a:lnSpc>
                <a:spcPts val="2418"/>
              </a:lnSpc>
              <a:spcBef>
                <a:spcPts val="644"/>
              </a:spcBef>
              <a:buClr>
                <a:srgbClr val="808080"/>
              </a:buClr>
              <a:buSzPct val="70454"/>
              <a:buFont typeface="Wingdings"/>
              <a:buChar char=""/>
              <a:tabLst>
                <a:tab pos="1697417" algn="l"/>
                <a:tab pos="1698141" algn="l"/>
              </a:tabLst>
            </a:pPr>
            <a:r>
              <a:rPr sz="2500" spc="-6" dirty="0">
                <a:latin typeface="Arial"/>
                <a:cs typeface="Arial"/>
              </a:rPr>
              <a:t>Faça funções para realizar as operações de cada um  dos itens do</a:t>
            </a:r>
            <a:r>
              <a:rPr sz="2500" spc="-23" dirty="0">
                <a:latin typeface="Arial"/>
                <a:cs typeface="Arial"/>
              </a:rPr>
              <a:t> </a:t>
            </a:r>
            <a:r>
              <a:rPr sz="2500" spc="-6" dirty="0">
                <a:latin typeface="Arial"/>
                <a:cs typeface="Arial"/>
              </a:rPr>
              <a:t>menu.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dirty="0"/>
              <a:pPr marL="28966">
                <a:lnSpc>
                  <a:spcPts val="1260"/>
                </a:lnSpc>
              </a:pPr>
              <a:t>108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7661"/>
            <a:r>
              <a:rPr spc="-6" dirty="0"/>
              <a:t>Exercíc</a:t>
            </a:r>
            <a:r>
              <a:rPr dirty="0"/>
              <a:t>ios</a:t>
            </a:r>
          </a:p>
        </p:txBody>
      </p:sp>
    </p:spTree>
    <p:extLst>
      <p:ext uri="{BB962C8B-B14F-4D97-AF65-F5344CB8AC3E}">
        <p14:creationId xmlns:p14="http://schemas.microsoft.com/office/powerpoint/2010/main" val="2725450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109</a:t>
            </a:fld>
            <a:endParaRPr spc="-6" dirty="0"/>
          </a:p>
        </p:txBody>
      </p:sp>
      <p:sp>
        <p:nvSpPr>
          <p:cNvPr id="3" name="object 3"/>
          <p:cNvSpPr txBox="1"/>
          <p:nvPr/>
        </p:nvSpPr>
        <p:spPr>
          <a:xfrm>
            <a:off x="723349" y="1035050"/>
            <a:ext cx="9006962" cy="59636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 smtClean="0"/>
              <a:t>O </a:t>
            </a:r>
            <a:r>
              <a:rPr lang="pt-BR" sz="3200" i="1" dirty="0" err="1"/>
              <a:t>debugger</a:t>
            </a:r>
            <a:r>
              <a:rPr lang="pt-BR" sz="3200" i="1" dirty="0"/>
              <a:t> </a:t>
            </a:r>
            <a:r>
              <a:rPr lang="pt-BR" sz="3200" dirty="0"/>
              <a:t>ou depurador é uma funcionalidade do </a:t>
            </a:r>
            <a:r>
              <a:rPr lang="pt-BR" sz="3200" dirty="0" err="1"/>
              <a:t>Code</a:t>
            </a:r>
            <a:r>
              <a:rPr lang="pt-BR" sz="3200" dirty="0"/>
              <a:t>::</a:t>
            </a:r>
            <a:r>
              <a:rPr lang="pt-BR" sz="3200" dirty="0" err="1"/>
              <a:t>Blocks</a:t>
            </a:r>
            <a:r>
              <a:rPr lang="pt-BR" sz="3200" dirty="0"/>
              <a:t> e de outras </a:t>
            </a:r>
            <a:r>
              <a:rPr lang="pt-BR" sz="3200" dirty="0" err="1"/>
              <a:t>IDEs</a:t>
            </a:r>
            <a:r>
              <a:rPr lang="pt-BR" sz="3200" dirty="0"/>
              <a:t> que permite a </a:t>
            </a:r>
            <a:r>
              <a:rPr lang="pt-BR" sz="3200" dirty="0" smtClean="0"/>
              <a:t>verificação </a:t>
            </a:r>
            <a:r>
              <a:rPr lang="pt-BR" sz="3200" dirty="0"/>
              <a:t>passo-a-passo da execução de um algoritmo. </a:t>
            </a:r>
          </a:p>
          <a:p>
            <a:pPr>
              <a:spcBef>
                <a:spcPts val="11"/>
              </a:spcBef>
            </a:pPr>
            <a:endParaRPr sz="4300" dirty="0">
              <a:latin typeface="Times New Roman"/>
              <a:cs typeface="Times New Roman"/>
            </a:endParaRPr>
          </a:p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Impressões, leituras de </a:t>
            </a:r>
            <a:r>
              <a:rPr sz="3200" dirty="0">
                <a:latin typeface="Arial"/>
                <a:cs typeface="Arial"/>
              </a:rPr>
              <a:t>dados, variáveis,  vetores, strings </a:t>
            </a:r>
            <a:r>
              <a:rPr sz="3200" spc="-6" dirty="0">
                <a:latin typeface="Arial"/>
                <a:cs typeface="Arial"/>
              </a:rPr>
              <a:t>etc. </a:t>
            </a:r>
            <a:r>
              <a:rPr sz="3200" dirty="0">
                <a:latin typeface="Arial"/>
                <a:cs typeface="Arial"/>
              </a:rPr>
              <a:t>podem </a:t>
            </a:r>
            <a:r>
              <a:rPr sz="3200" spc="-6" dirty="0">
                <a:latin typeface="Arial"/>
                <a:cs typeface="Arial"/>
              </a:rPr>
              <a:t>ter </a:t>
            </a:r>
            <a:r>
              <a:rPr sz="3200" dirty="0">
                <a:latin typeface="Arial"/>
                <a:cs typeface="Arial"/>
              </a:rPr>
              <a:t>seus valores  verificados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cada </a:t>
            </a:r>
            <a:r>
              <a:rPr sz="3200" spc="-6" dirty="0">
                <a:latin typeface="Arial"/>
                <a:cs typeface="Arial"/>
              </a:rPr>
              <a:t>execução de </a:t>
            </a:r>
            <a:r>
              <a:rPr sz="3200" dirty="0">
                <a:latin typeface="Arial"/>
                <a:cs typeface="Arial"/>
              </a:rPr>
              <a:t>uma </a:t>
            </a:r>
            <a:r>
              <a:rPr sz="3200" spc="-6" dirty="0">
                <a:latin typeface="Arial"/>
                <a:cs typeface="Arial"/>
              </a:rPr>
              <a:t>nova  </a:t>
            </a:r>
            <a:r>
              <a:rPr sz="3200" dirty="0">
                <a:latin typeface="Arial"/>
                <a:cs typeface="Arial"/>
              </a:rPr>
              <a:t>instrução.</a:t>
            </a:r>
          </a:p>
          <a:p>
            <a:pPr>
              <a:spcBef>
                <a:spcPts val="40"/>
              </a:spcBef>
              <a:buClr>
                <a:srgbClr val="852B34"/>
              </a:buClr>
              <a:buFont typeface="Arial"/>
              <a:buChar char="•"/>
            </a:pPr>
            <a:endParaRPr sz="4300" dirty="0">
              <a:latin typeface="Times New Roman"/>
              <a:cs typeface="Times New Roman"/>
            </a:endParaRPr>
          </a:p>
          <a:p>
            <a:pPr marL="405526" marR="7966" indent="-391043" algn="just">
              <a:lnSpc>
                <a:spcPts val="3455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Assim, </a:t>
            </a:r>
            <a:r>
              <a:rPr sz="3200" dirty="0">
                <a:latin typeface="Arial"/>
                <a:cs typeface="Arial"/>
              </a:rPr>
              <a:t>possíveis </a:t>
            </a:r>
            <a:r>
              <a:rPr sz="3200" spc="-6" dirty="0">
                <a:latin typeface="Arial"/>
                <a:cs typeface="Arial"/>
              </a:rPr>
              <a:t>falhas no </a:t>
            </a:r>
            <a:r>
              <a:rPr sz="3200" dirty="0">
                <a:latin typeface="Arial"/>
                <a:cs typeface="Arial"/>
              </a:rPr>
              <a:t>algoritmo podem  ser detectadas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facilmente.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Debugger</a:t>
            </a:r>
            <a:r>
              <a:rPr spc="-51" dirty="0"/>
              <a:t> </a:t>
            </a:r>
            <a:r>
              <a:rPr spc="-6" dirty="0"/>
              <a:t>(Depurador)</a:t>
            </a:r>
          </a:p>
        </p:txBody>
      </p:sp>
    </p:spTree>
    <p:extLst>
      <p:ext uri="{BB962C8B-B14F-4D97-AF65-F5344CB8AC3E}">
        <p14:creationId xmlns:p14="http://schemas.microsoft.com/office/powerpoint/2010/main" val="3294580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32969"/>
            <a:ext cx="9009190" cy="5536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</a:t>
            </a:r>
            <a:r>
              <a:rPr sz="3200" i="1" dirty="0">
                <a:latin typeface="Arial"/>
                <a:cs typeface="Arial"/>
              </a:rPr>
              <a:t>debugger </a:t>
            </a:r>
            <a:r>
              <a:rPr sz="3200" dirty="0">
                <a:latin typeface="Arial"/>
                <a:cs typeface="Arial"/>
              </a:rPr>
              <a:t>também </a:t>
            </a:r>
            <a:r>
              <a:rPr sz="3200" spc="-6" dirty="0">
                <a:latin typeface="Arial"/>
                <a:cs typeface="Arial"/>
              </a:rPr>
              <a:t>serve como </a:t>
            </a:r>
            <a:r>
              <a:rPr sz="3200" dirty="0">
                <a:latin typeface="Arial"/>
                <a:cs typeface="Arial"/>
              </a:rPr>
              <a:t>uma  importante ferramenta </a:t>
            </a:r>
            <a:r>
              <a:rPr sz="3200" spc="-6" dirty="0">
                <a:latin typeface="Arial"/>
                <a:cs typeface="Arial"/>
              </a:rPr>
              <a:t>para o </a:t>
            </a:r>
            <a:r>
              <a:rPr sz="3200" dirty="0">
                <a:latin typeface="Arial"/>
                <a:cs typeface="Arial"/>
              </a:rPr>
              <a:t>aprendizado </a:t>
            </a:r>
            <a:r>
              <a:rPr sz="3200" spc="-6" dirty="0">
                <a:latin typeface="Arial"/>
                <a:cs typeface="Arial"/>
              </a:rPr>
              <a:t>de  </a:t>
            </a:r>
            <a:r>
              <a:rPr sz="3200" dirty="0">
                <a:latin typeface="Arial"/>
                <a:cs typeface="Arial"/>
              </a:rPr>
              <a:t>algoritmos, </a:t>
            </a:r>
            <a:r>
              <a:rPr sz="3200" spc="-6" dirty="0">
                <a:latin typeface="Arial"/>
                <a:cs typeface="Arial"/>
              </a:rPr>
              <a:t>permitindo </a:t>
            </a:r>
            <a:r>
              <a:rPr sz="3200" dirty="0">
                <a:latin typeface="Arial"/>
                <a:cs typeface="Arial"/>
              </a:rPr>
              <a:t>que </a:t>
            </a:r>
            <a:r>
              <a:rPr sz="3200" spc="-6" dirty="0">
                <a:latin typeface="Arial"/>
                <a:cs typeface="Arial"/>
              </a:rPr>
              <a:t>seja feito um </a:t>
            </a:r>
            <a:r>
              <a:rPr sz="3200" dirty="0">
                <a:latin typeface="Arial"/>
                <a:cs typeface="Arial"/>
              </a:rPr>
              <a:t>“teste  </a:t>
            </a:r>
            <a:r>
              <a:rPr sz="3200" spc="-6" dirty="0">
                <a:latin typeface="Arial"/>
                <a:cs typeface="Arial"/>
              </a:rPr>
              <a:t>de </a:t>
            </a:r>
            <a:r>
              <a:rPr sz="3200" dirty="0">
                <a:latin typeface="Arial"/>
                <a:cs typeface="Arial"/>
              </a:rPr>
              <a:t>mesa” </a:t>
            </a:r>
            <a:r>
              <a:rPr sz="3200" spc="-6" dirty="0">
                <a:latin typeface="Arial"/>
                <a:cs typeface="Arial"/>
              </a:rPr>
              <a:t>durante a execução do </a:t>
            </a:r>
            <a:r>
              <a:rPr sz="3200" dirty="0">
                <a:latin typeface="Arial"/>
                <a:cs typeface="Arial"/>
              </a:rPr>
              <a:t>próprio  algoritmo.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852B34"/>
              </a:buClr>
              <a:buFont typeface="Arial"/>
              <a:buChar char="•"/>
            </a:pPr>
            <a:endParaRPr sz="4300">
              <a:latin typeface="Times New Roman"/>
              <a:cs typeface="Times New Roman"/>
            </a:endParaRPr>
          </a:p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Através </a:t>
            </a:r>
            <a:r>
              <a:rPr sz="3200" spc="-11" dirty="0">
                <a:latin typeface="Arial"/>
                <a:cs typeface="Arial"/>
              </a:rPr>
              <a:t>do </a:t>
            </a:r>
            <a:r>
              <a:rPr sz="3200" spc="-6" dirty="0">
                <a:latin typeface="Arial"/>
                <a:cs typeface="Arial"/>
              </a:rPr>
              <a:t>processo de </a:t>
            </a:r>
            <a:r>
              <a:rPr sz="3200" i="1" dirty="0">
                <a:latin typeface="Arial"/>
                <a:cs typeface="Arial"/>
              </a:rPr>
              <a:t>debugging</a:t>
            </a:r>
            <a:r>
              <a:rPr sz="3200" dirty="0">
                <a:latin typeface="Arial"/>
                <a:cs typeface="Arial"/>
              </a:rPr>
              <a:t>, </a:t>
            </a:r>
            <a:r>
              <a:rPr sz="3200" spc="-6" dirty="0">
                <a:latin typeface="Arial"/>
                <a:cs typeface="Arial"/>
              </a:rPr>
              <a:t>o fluxo </a:t>
            </a:r>
            <a:r>
              <a:rPr sz="3200" dirty="0">
                <a:latin typeface="Arial"/>
                <a:cs typeface="Arial"/>
              </a:rPr>
              <a:t>de  </a:t>
            </a:r>
            <a:r>
              <a:rPr sz="3200" spc="-6" dirty="0">
                <a:latin typeface="Arial"/>
                <a:cs typeface="Arial"/>
              </a:rPr>
              <a:t>execução de um </a:t>
            </a:r>
            <a:r>
              <a:rPr sz="3200" dirty="0">
                <a:latin typeface="Arial"/>
                <a:cs typeface="Arial"/>
              </a:rPr>
              <a:t>código pode </a:t>
            </a:r>
            <a:r>
              <a:rPr sz="3200" spc="-6" dirty="0">
                <a:latin typeface="Arial"/>
                <a:cs typeface="Arial"/>
              </a:rPr>
              <a:t>ser </a:t>
            </a:r>
            <a:r>
              <a:rPr sz="3200" dirty="0">
                <a:latin typeface="Arial"/>
                <a:cs typeface="Arial"/>
              </a:rPr>
              <a:t>verificado  continuamente, por </a:t>
            </a:r>
            <a:r>
              <a:rPr sz="3200" spc="-6" dirty="0">
                <a:latin typeface="Arial"/>
                <a:cs typeface="Arial"/>
              </a:rPr>
              <a:t>meio da </a:t>
            </a:r>
            <a:r>
              <a:rPr sz="3200" dirty="0">
                <a:latin typeface="Arial"/>
                <a:cs typeface="Arial"/>
              </a:rPr>
              <a:t>checagem do  </a:t>
            </a:r>
            <a:r>
              <a:rPr sz="3200" spc="-6" dirty="0">
                <a:latin typeface="Arial"/>
                <a:cs typeface="Arial"/>
              </a:rPr>
              <a:t>resultado de </a:t>
            </a:r>
            <a:r>
              <a:rPr sz="3200" dirty="0">
                <a:latin typeface="Arial"/>
                <a:cs typeface="Arial"/>
              </a:rPr>
              <a:t>cada </a:t>
            </a:r>
            <a:r>
              <a:rPr sz="3200" spc="-6" dirty="0">
                <a:latin typeface="Arial"/>
                <a:cs typeface="Arial"/>
              </a:rPr>
              <a:t>teste condicional, de </a:t>
            </a:r>
            <a:r>
              <a:rPr sz="3200" dirty="0">
                <a:latin typeface="Arial"/>
                <a:cs typeface="Arial"/>
              </a:rPr>
              <a:t>cada  repetição, </a:t>
            </a:r>
            <a:r>
              <a:rPr sz="3200" spc="-6" dirty="0">
                <a:latin typeface="Arial"/>
                <a:cs typeface="Arial"/>
              </a:rPr>
              <a:t>de cada </a:t>
            </a:r>
            <a:r>
              <a:rPr sz="3200" dirty="0">
                <a:latin typeface="Arial"/>
                <a:cs typeface="Arial"/>
              </a:rPr>
              <a:t>operação </a:t>
            </a:r>
            <a:r>
              <a:rPr sz="3200" spc="-6" dirty="0">
                <a:latin typeface="Arial"/>
                <a:cs typeface="Arial"/>
              </a:rPr>
              <a:t>lógica e  matemática</a:t>
            </a:r>
            <a:r>
              <a:rPr sz="3200" spc="-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etc..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110</a:t>
            </a:fld>
            <a:endParaRPr spc="-6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Debugger</a:t>
            </a:r>
            <a:r>
              <a:rPr spc="-51" dirty="0"/>
              <a:t> </a:t>
            </a:r>
            <a:r>
              <a:rPr spc="-6" dirty="0"/>
              <a:t>(Depurador)</a:t>
            </a:r>
          </a:p>
        </p:txBody>
      </p:sp>
    </p:spTree>
    <p:extLst>
      <p:ext uri="{BB962C8B-B14F-4D97-AF65-F5344CB8AC3E}">
        <p14:creationId xmlns:p14="http://schemas.microsoft.com/office/powerpoint/2010/main" val="2772768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32969"/>
            <a:ext cx="9010675" cy="2304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8690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algoritmo </a:t>
            </a:r>
            <a:r>
              <a:rPr sz="3200" dirty="0">
                <a:latin typeface="Arial"/>
                <a:cs typeface="Arial"/>
              </a:rPr>
              <a:t>abaixo </a:t>
            </a:r>
            <a:r>
              <a:rPr sz="3200" spc="-6" dirty="0">
                <a:latin typeface="Arial"/>
                <a:cs typeface="Arial"/>
              </a:rPr>
              <a:t>será utilizado </a:t>
            </a:r>
            <a:r>
              <a:rPr sz="3200" dirty="0">
                <a:latin typeface="Arial"/>
                <a:cs typeface="Arial"/>
              </a:rPr>
              <a:t>para </a:t>
            </a:r>
            <a:r>
              <a:rPr sz="3200" spc="-6" dirty="0">
                <a:latin typeface="Arial"/>
                <a:cs typeface="Arial"/>
              </a:rPr>
              <a:t>a  </a:t>
            </a:r>
            <a:r>
              <a:rPr sz="3200" dirty="0">
                <a:latin typeface="Arial"/>
                <a:cs typeface="Arial"/>
              </a:rPr>
              <a:t>explicação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dirty="0">
                <a:latin typeface="Arial"/>
                <a:cs typeface="Arial"/>
              </a:rPr>
              <a:t>funcionamento </a:t>
            </a:r>
            <a:r>
              <a:rPr sz="3200" spc="-6" dirty="0">
                <a:latin typeface="Arial"/>
                <a:cs typeface="Arial"/>
              </a:rPr>
              <a:t>do </a:t>
            </a:r>
            <a:r>
              <a:rPr sz="3200" i="1" spc="-6" dirty="0">
                <a:latin typeface="Arial"/>
                <a:cs typeface="Arial"/>
              </a:rPr>
              <a:t>debugger </a:t>
            </a:r>
            <a:r>
              <a:rPr sz="3200" spc="-6" dirty="0">
                <a:latin typeface="Arial"/>
                <a:cs typeface="Arial"/>
              </a:rPr>
              <a:t>do  </a:t>
            </a:r>
            <a:r>
              <a:rPr sz="3200" dirty="0">
                <a:latin typeface="Arial"/>
                <a:cs typeface="Arial"/>
              </a:rPr>
              <a:t>Code::Blocks.</a:t>
            </a:r>
            <a:endParaRPr sz="3200">
              <a:latin typeface="Arial"/>
              <a:cs typeface="Arial"/>
            </a:endParaRPr>
          </a:p>
          <a:p>
            <a:pPr marL="405526" indent="-391043">
              <a:lnSpc>
                <a:spcPts val="3638"/>
              </a:lnSpc>
              <a:spcBef>
                <a:spcPts val="382"/>
              </a:spcBef>
              <a:buClr>
                <a:srgbClr val="852B34"/>
              </a:buClr>
              <a:buSzPct val="69642"/>
              <a:buChar char="•"/>
              <a:tabLst>
                <a:tab pos="404802" algn="l"/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</a:t>
            </a:r>
            <a:r>
              <a:rPr sz="3200" dirty="0">
                <a:latin typeface="Arial"/>
                <a:cs typeface="Arial"/>
              </a:rPr>
              <a:t>algoritmo inverte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ordem dos elementos</a:t>
            </a:r>
            <a:r>
              <a:rPr sz="3200" spc="29" dirty="0">
                <a:latin typeface="Arial"/>
                <a:cs typeface="Arial"/>
              </a:rPr>
              <a:t> </a:t>
            </a:r>
            <a:r>
              <a:rPr sz="3200" spc="11" dirty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404802">
              <a:lnSpc>
                <a:spcPts val="3638"/>
              </a:lnSpc>
            </a:pPr>
            <a:r>
              <a:rPr sz="3200" spc="-6" dirty="0">
                <a:latin typeface="Arial"/>
                <a:cs typeface="Arial"/>
              </a:rPr>
              <a:t>um </a:t>
            </a:r>
            <a:r>
              <a:rPr sz="3200" dirty="0">
                <a:latin typeface="Arial"/>
                <a:cs typeface="Arial"/>
              </a:rPr>
              <a:t>vetor </a:t>
            </a:r>
            <a:r>
              <a:rPr sz="3200" spc="-6" dirty="0">
                <a:latin typeface="Arial"/>
                <a:cs typeface="Arial"/>
              </a:rPr>
              <a:t>de</a:t>
            </a:r>
            <a:r>
              <a:rPr sz="3200" spc="-6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inteiros.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2483543" y="3554101"/>
            <a:ext cx="6059742" cy="37413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111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245817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40806"/>
            <a:ext cx="9009190" cy="23529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ts val="2954"/>
              </a:lnSpc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Antes de dar início ao </a:t>
            </a:r>
            <a:r>
              <a:rPr sz="2700" i="1" dirty="0">
                <a:latin typeface="Arial"/>
                <a:cs typeface="Arial"/>
              </a:rPr>
              <a:t>debugging, </a:t>
            </a:r>
            <a:r>
              <a:rPr sz="2700" spc="-6" dirty="0">
                <a:latin typeface="Arial"/>
                <a:cs typeface="Arial"/>
              </a:rPr>
              <a:t>é necessário  colocar  </a:t>
            </a:r>
            <a:r>
              <a:rPr sz="2700" i="1" spc="-6" dirty="0">
                <a:latin typeface="Arial"/>
                <a:cs typeface="Arial"/>
              </a:rPr>
              <a:t>breakpoints  </a:t>
            </a:r>
            <a:r>
              <a:rPr sz="2700" spc="-6" dirty="0">
                <a:latin typeface="Arial"/>
                <a:cs typeface="Arial"/>
              </a:rPr>
              <a:t>(pontos  de  parada)  nas </a:t>
            </a:r>
            <a:r>
              <a:rPr sz="2700" spc="718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linhas</a:t>
            </a:r>
            <a:endParaRPr sz="2700">
              <a:latin typeface="Arial"/>
              <a:cs typeface="Arial"/>
            </a:endParaRPr>
          </a:p>
          <a:p>
            <a:pPr marL="404802">
              <a:lnSpc>
                <a:spcPts val="2914"/>
              </a:lnSpc>
            </a:pPr>
            <a:r>
              <a:rPr sz="2700" spc="-6" dirty="0">
                <a:latin typeface="Arial"/>
                <a:cs typeface="Arial"/>
              </a:rPr>
              <a:t>cujas execuções devem ser</a:t>
            </a:r>
            <a:r>
              <a:rPr sz="2700" spc="91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verificadas.</a:t>
            </a:r>
            <a:endParaRPr sz="2700">
              <a:latin typeface="Arial"/>
              <a:cs typeface="Arial"/>
            </a:endParaRPr>
          </a:p>
          <a:p>
            <a:pPr marL="405526" marR="5793" indent="-391043" algn="just">
              <a:lnSpc>
                <a:spcPct val="90000"/>
              </a:lnSpc>
              <a:spcBef>
                <a:spcPts val="656"/>
              </a:spcBef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Basta clicar ao lado direito do número de cada </a:t>
            </a:r>
            <a:r>
              <a:rPr sz="2700" dirty="0">
                <a:latin typeface="Arial"/>
                <a:cs typeface="Arial"/>
              </a:rPr>
              <a:t>linha  desejada. Os </a:t>
            </a:r>
            <a:r>
              <a:rPr sz="2700" spc="-6" dirty="0">
                <a:latin typeface="Arial"/>
                <a:cs typeface="Arial"/>
              </a:rPr>
              <a:t>hexágonos em vermelho indicam a  criação de um</a:t>
            </a:r>
            <a:r>
              <a:rPr sz="2700" spc="11" dirty="0">
                <a:latin typeface="Arial"/>
                <a:cs typeface="Arial"/>
              </a:rPr>
              <a:t> </a:t>
            </a:r>
            <a:r>
              <a:rPr sz="2700" i="1" spc="-6" dirty="0">
                <a:latin typeface="Arial"/>
                <a:cs typeface="Arial"/>
              </a:rPr>
              <a:t>breakpoint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1306540" y="3615239"/>
            <a:ext cx="8168272" cy="37046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112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526392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194907"/>
            <a:ext cx="9010675" cy="182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8750"/>
              <a:buChar char="•"/>
              <a:tabLst>
                <a:tab pos="404802" algn="l"/>
                <a:tab pos="405526" algn="l"/>
              </a:tabLst>
            </a:pPr>
            <a:r>
              <a:rPr sz="2700" dirty="0">
                <a:latin typeface="Arial"/>
                <a:cs typeface="Arial"/>
              </a:rPr>
              <a:t>Outras formas </a:t>
            </a:r>
            <a:r>
              <a:rPr sz="2700" spc="-6" dirty="0">
                <a:latin typeface="Arial"/>
                <a:cs typeface="Arial"/>
              </a:rPr>
              <a:t>de se adicionar um</a:t>
            </a:r>
            <a:r>
              <a:rPr sz="2700" spc="17" dirty="0">
                <a:latin typeface="Arial"/>
                <a:cs typeface="Arial"/>
              </a:rPr>
              <a:t> </a:t>
            </a:r>
            <a:r>
              <a:rPr sz="2700" i="1" spc="-6" dirty="0">
                <a:latin typeface="Arial"/>
                <a:cs typeface="Arial"/>
              </a:rPr>
              <a:t>breakpoint</a:t>
            </a:r>
            <a:r>
              <a:rPr sz="2700" spc="-6" dirty="0">
                <a:latin typeface="Arial"/>
                <a:cs typeface="Arial"/>
              </a:rPr>
              <a:t>:</a:t>
            </a:r>
            <a:endParaRPr sz="2700">
              <a:latin typeface="Arial"/>
              <a:cs typeface="Arial"/>
            </a:endParaRPr>
          </a:p>
          <a:p>
            <a:pPr marL="803811" marR="5793" lvl="1" indent="-396836" algn="just">
              <a:lnSpc>
                <a:spcPct val="90100"/>
              </a:lnSpc>
              <a:spcBef>
                <a:spcPts val="547"/>
              </a:spcBef>
              <a:buClr>
                <a:srgbClr val="808080"/>
              </a:buClr>
              <a:buSzPct val="70000"/>
              <a:buFont typeface="Courier New"/>
              <a:buChar char="o"/>
              <a:tabLst>
                <a:tab pos="804535" algn="l"/>
              </a:tabLst>
            </a:pPr>
            <a:r>
              <a:rPr sz="2300" dirty="0">
                <a:latin typeface="Arial"/>
                <a:cs typeface="Arial"/>
              </a:rPr>
              <a:t>Clicar com o botão </a:t>
            </a:r>
            <a:r>
              <a:rPr sz="2300" spc="-6" dirty="0">
                <a:latin typeface="Arial"/>
                <a:cs typeface="Arial"/>
              </a:rPr>
              <a:t>esquerdo </a:t>
            </a:r>
            <a:r>
              <a:rPr sz="2300" dirty="0">
                <a:latin typeface="Arial"/>
                <a:cs typeface="Arial"/>
              </a:rPr>
              <a:t>do mouse ao </a:t>
            </a:r>
            <a:r>
              <a:rPr sz="2300" spc="-6" dirty="0">
                <a:latin typeface="Arial"/>
                <a:cs typeface="Arial"/>
              </a:rPr>
              <a:t>lado </a:t>
            </a:r>
            <a:r>
              <a:rPr sz="2300" dirty="0">
                <a:latin typeface="Arial"/>
                <a:cs typeface="Arial"/>
              </a:rPr>
              <a:t>direito do  número de cada linha desejada e </a:t>
            </a:r>
            <a:r>
              <a:rPr sz="2300" spc="-6" dirty="0">
                <a:latin typeface="Arial"/>
                <a:cs typeface="Arial"/>
              </a:rPr>
              <a:t>escolher </a:t>
            </a:r>
            <a:r>
              <a:rPr sz="2300" dirty="0">
                <a:latin typeface="Arial"/>
                <a:cs typeface="Arial"/>
              </a:rPr>
              <a:t>a opção </a:t>
            </a:r>
            <a:r>
              <a:rPr sz="2300" i="1" dirty="0">
                <a:latin typeface="Arial"/>
                <a:cs typeface="Arial"/>
              </a:rPr>
              <a:t>Add  breakpoint</a:t>
            </a:r>
            <a:r>
              <a:rPr sz="2300" dirty="0">
                <a:latin typeface="Arial"/>
                <a:cs typeface="Arial"/>
              </a:rPr>
              <a:t>;</a:t>
            </a:r>
            <a:endParaRPr sz="2300">
              <a:latin typeface="Arial"/>
              <a:cs typeface="Arial"/>
            </a:endParaRPr>
          </a:p>
          <a:p>
            <a:pPr marL="803811" lvl="1" indent="-396836">
              <a:spcBef>
                <a:spcPts val="274"/>
              </a:spcBef>
              <a:buClr>
                <a:srgbClr val="808080"/>
              </a:buClr>
              <a:buSzPct val="70000"/>
              <a:buFont typeface="Courier New"/>
              <a:buChar char="o"/>
              <a:tabLst>
                <a:tab pos="803811" algn="l"/>
                <a:tab pos="804535" algn="l"/>
                <a:tab pos="3087793" algn="l"/>
              </a:tabLst>
            </a:pPr>
            <a:r>
              <a:rPr sz="2300" dirty="0">
                <a:latin typeface="Arial"/>
                <a:cs typeface="Arial"/>
              </a:rPr>
              <a:t>Colocar</a:t>
            </a:r>
            <a:r>
              <a:rPr sz="2300" spc="-11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o</a:t>
            </a:r>
            <a:r>
              <a:rPr sz="2300" spc="-6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cursor	na linha desejada e pressionar a tecla</a:t>
            </a:r>
            <a:r>
              <a:rPr sz="2300" spc="-171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F5.</a:t>
            </a:r>
            <a:endParaRPr sz="2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1245974" y="3143461"/>
            <a:ext cx="8260652" cy="39770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113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422561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9" y="1232969"/>
            <a:ext cx="9009932" cy="1329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dirty="0">
                <a:latin typeface="Arial"/>
                <a:cs typeface="Arial"/>
              </a:rPr>
              <a:t>Com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adição dos </a:t>
            </a:r>
            <a:r>
              <a:rPr sz="3200" i="1" dirty="0">
                <a:latin typeface="Arial"/>
                <a:cs typeface="Arial"/>
              </a:rPr>
              <a:t>breakpoints</a:t>
            </a:r>
            <a:r>
              <a:rPr sz="3200" dirty="0">
                <a:latin typeface="Arial"/>
                <a:cs typeface="Arial"/>
              </a:rPr>
              <a:t>, nas </a:t>
            </a:r>
            <a:r>
              <a:rPr sz="3200" spc="-6" dirty="0">
                <a:latin typeface="Arial"/>
                <a:cs typeface="Arial"/>
              </a:rPr>
              <a:t>linhas </a:t>
            </a:r>
            <a:r>
              <a:rPr sz="3200" dirty="0">
                <a:latin typeface="Arial"/>
                <a:cs typeface="Arial"/>
              </a:rPr>
              <a:t>5,  </a:t>
            </a:r>
            <a:r>
              <a:rPr sz="3200" spc="-6" dirty="0">
                <a:latin typeface="Arial"/>
                <a:cs typeface="Arial"/>
              </a:rPr>
              <a:t>6, 8, 9, </a:t>
            </a:r>
            <a:r>
              <a:rPr sz="3200" spc="-11" dirty="0">
                <a:latin typeface="Arial"/>
                <a:cs typeface="Arial"/>
              </a:rPr>
              <a:t>10 </a:t>
            </a:r>
            <a:r>
              <a:rPr sz="3200" spc="-6" dirty="0">
                <a:latin typeface="Arial"/>
                <a:cs typeface="Arial"/>
              </a:rPr>
              <a:t>e 13 do </a:t>
            </a:r>
            <a:r>
              <a:rPr sz="3200" dirty="0">
                <a:latin typeface="Arial"/>
                <a:cs typeface="Arial"/>
              </a:rPr>
              <a:t>algoritmo abaixo, </a:t>
            </a:r>
            <a:r>
              <a:rPr sz="3200" spc="-6" dirty="0">
                <a:latin typeface="Arial"/>
                <a:cs typeface="Arial"/>
              </a:rPr>
              <a:t>ocorrerá  o </a:t>
            </a:r>
            <a:r>
              <a:rPr sz="3200" dirty="0">
                <a:latin typeface="Arial"/>
                <a:cs typeface="Arial"/>
              </a:rPr>
              <a:t>passo-a-passo </a:t>
            </a:r>
            <a:r>
              <a:rPr sz="3200" spc="-6" dirty="0">
                <a:latin typeface="Arial"/>
                <a:cs typeface="Arial"/>
              </a:rPr>
              <a:t>da </a:t>
            </a:r>
            <a:r>
              <a:rPr sz="3200" dirty="0">
                <a:latin typeface="Arial"/>
                <a:cs typeface="Arial"/>
              </a:rPr>
              <a:t>execução.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588524" y="349250"/>
            <a:ext cx="908939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588524" y="2826145"/>
            <a:ext cx="9558116" cy="43350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114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21646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9" y="1185951"/>
            <a:ext cx="9006962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lnSpc>
                <a:spcPts val="3638"/>
              </a:lnSpc>
              <a:buClr>
                <a:srgbClr val="852B34"/>
              </a:buClr>
              <a:buSzPct val="69642"/>
              <a:buChar char="•"/>
              <a:tabLst>
                <a:tab pos="404802" algn="l"/>
                <a:tab pos="405526" algn="l"/>
                <a:tab pos="3723600" algn="l"/>
              </a:tabLst>
            </a:pPr>
            <a:r>
              <a:rPr sz="3200" spc="-11" dirty="0">
                <a:latin typeface="Arial"/>
                <a:cs typeface="Arial"/>
              </a:rPr>
              <a:t>No</a:t>
            </a:r>
            <a:r>
              <a:rPr sz="3200" spc="5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menu</a:t>
            </a:r>
            <a:r>
              <a:rPr sz="3200" spc="57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Debug</a:t>
            </a:r>
            <a:r>
              <a:rPr sz="3200" dirty="0">
                <a:latin typeface="Arial"/>
                <a:cs typeface="Arial"/>
              </a:rPr>
              <a:t>,	</a:t>
            </a:r>
            <a:r>
              <a:rPr sz="3200" spc="-6" dirty="0">
                <a:latin typeface="Arial"/>
                <a:cs typeface="Arial"/>
              </a:rPr>
              <a:t>acesse </a:t>
            </a:r>
            <a:r>
              <a:rPr sz="3200" i="1" spc="-6" dirty="0">
                <a:latin typeface="Arial"/>
                <a:cs typeface="Arial"/>
              </a:rPr>
              <a:t>Debugging</a:t>
            </a:r>
            <a:r>
              <a:rPr sz="3200" i="1" spc="130" dirty="0">
                <a:latin typeface="Arial"/>
                <a:cs typeface="Arial"/>
              </a:rPr>
              <a:t> </a:t>
            </a:r>
            <a:r>
              <a:rPr sz="3200" i="1" spc="-6" dirty="0">
                <a:latin typeface="Arial"/>
                <a:cs typeface="Arial"/>
              </a:rPr>
              <a:t>windows</a:t>
            </a:r>
            <a:endParaRPr sz="3200">
              <a:latin typeface="Arial"/>
              <a:cs typeface="Arial"/>
            </a:endParaRPr>
          </a:p>
          <a:p>
            <a:pPr marL="404802">
              <a:lnSpc>
                <a:spcPts val="3638"/>
              </a:lnSpc>
            </a:pPr>
            <a:r>
              <a:rPr sz="3200" spc="-6" dirty="0">
                <a:latin typeface="Arial"/>
                <a:cs typeface="Arial"/>
              </a:rPr>
              <a:t>e clique em</a:t>
            </a:r>
            <a:r>
              <a:rPr sz="3200" spc="-29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Watches</a:t>
            </a:r>
            <a:r>
              <a:rPr sz="3200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546759" y="2270714"/>
            <a:ext cx="9686140" cy="49948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115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180193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185951"/>
            <a:ext cx="4059036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indent="-391043">
              <a:buClr>
                <a:srgbClr val="852B34"/>
              </a:buClr>
              <a:buSzPct val="69642"/>
              <a:buChar char="•"/>
              <a:tabLst>
                <a:tab pos="404802" algn="l"/>
                <a:tab pos="405526" algn="l"/>
                <a:tab pos="977608" algn="l"/>
                <a:tab pos="2365811" algn="l"/>
              </a:tabLst>
            </a:pPr>
            <a:r>
              <a:rPr sz="3200" spc="-6" dirty="0">
                <a:latin typeface="Arial"/>
                <a:cs typeface="Arial"/>
              </a:rPr>
              <a:t>A	janela	</a:t>
            </a:r>
            <a:r>
              <a:rPr sz="3200" i="1" spc="-6" dirty="0">
                <a:latin typeface="Arial"/>
                <a:cs typeface="Arial"/>
              </a:rPr>
              <a:t>Watches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63771" y="1185951"/>
            <a:ext cx="295702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1105782" algn="l"/>
              </a:tabLst>
            </a:pPr>
            <a:r>
              <a:rPr sz="3200" spc="-6" dirty="0">
                <a:latin typeface="Arial"/>
                <a:cs typeface="Arial"/>
              </a:rPr>
              <a:t>s</a:t>
            </a:r>
            <a:r>
              <a:rPr sz="3200" dirty="0">
                <a:latin typeface="Arial"/>
                <a:cs typeface="Arial"/>
              </a:rPr>
              <a:t>e</a:t>
            </a:r>
            <a:r>
              <a:rPr sz="3200" spc="-6" dirty="0">
                <a:latin typeface="Arial"/>
                <a:cs typeface="Arial"/>
              </a:rPr>
              <a:t>rá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a</a:t>
            </a:r>
            <a:r>
              <a:rPr sz="3200" dirty="0">
                <a:latin typeface="Arial"/>
                <a:cs typeface="Arial"/>
              </a:rPr>
              <a:t>c</a:t>
            </a:r>
            <a:r>
              <a:rPr sz="3200" spc="-6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o</a:t>
            </a:r>
            <a:r>
              <a:rPr sz="3200" spc="-6" dirty="0">
                <a:latin typeface="Arial"/>
                <a:cs typeface="Arial"/>
              </a:rPr>
              <a:t>n</a:t>
            </a:r>
            <a:r>
              <a:rPr sz="3200" dirty="0">
                <a:latin typeface="Arial"/>
                <a:cs typeface="Arial"/>
              </a:rPr>
              <a:t>a</a:t>
            </a:r>
            <a:r>
              <a:rPr sz="3200" spc="-6" dirty="0">
                <a:latin typeface="Arial"/>
                <a:cs typeface="Arial"/>
              </a:rPr>
              <a:t>d</a:t>
            </a:r>
            <a:r>
              <a:rPr sz="3200" spc="11" dirty="0">
                <a:latin typeface="Arial"/>
                <a:cs typeface="Arial"/>
              </a:rPr>
              <a:t>a</a:t>
            </a:r>
            <a:r>
              <a:rPr sz="3200" spc="-6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02831" y="1185951"/>
            <a:ext cx="1426529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1150681" algn="l"/>
              </a:tabLst>
            </a:pPr>
            <a:r>
              <a:rPr sz="3200" spc="-6" dirty="0">
                <a:latin typeface="Arial"/>
                <a:cs typeface="Arial"/>
              </a:rPr>
              <a:t>Nela	é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4351" y="1656132"/>
            <a:ext cx="8606702" cy="1329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algn="just">
              <a:lnSpc>
                <a:spcPct val="90000"/>
              </a:lnSpc>
            </a:pPr>
            <a:r>
              <a:rPr sz="3200" dirty="0">
                <a:latin typeface="Arial"/>
                <a:cs typeface="Arial"/>
              </a:rPr>
              <a:t>possível acompanhar </a:t>
            </a:r>
            <a:r>
              <a:rPr sz="3200" spc="-6" dirty="0">
                <a:latin typeface="Arial"/>
                <a:cs typeface="Arial"/>
              </a:rPr>
              <a:t>o </a:t>
            </a:r>
            <a:r>
              <a:rPr sz="3200" dirty="0">
                <a:latin typeface="Arial"/>
                <a:cs typeface="Arial"/>
              </a:rPr>
              <a:t>conteúdo das  variáveis, vetores, strings </a:t>
            </a:r>
            <a:r>
              <a:rPr sz="3200" spc="-6" dirty="0">
                <a:latin typeface="Arial"/>
                <a:cs typeface="Arial"/>
              </a:rPr>
              <a:t>etc., a cada </a:t>
            </a:r>
            <a:r>
              <a:rPr sz="3200" dirty="0">
                <a:latin typeface="Arial"/>
                <a:cs typeface="Arial"/>
              </a:rPr>
              <a:t>passo  </a:t>
            </a:r>
            <a:r>
              <a:rPr sz="3200" spc="-6" dirty="0">
                <a:latin typeface="Arial"/>
                <a:cs typeface="Arial"/>
              </a:rPr>
              <a:t>da </a:t>
            </a:r>
            <a:r>
              <a:rPr sz="3200" dirty="0">
                <a:latin typeface="Arial"/>
                <a:cs typeface="Arial"/>
              </a:rPr>
              <a:t>execução </a:t>
            </a:r>
            <a:r>
              <a:rPr sz="3200" spc="-6" dirty="0">
                <a:latin typeface="Arial"/>
                <a:cs typeface="Arial"/>
              </a:rPr>
              <a:t>do</a:t>
            </a:r>
            <a:r>
              <a:rPr sz="3200" spc="-29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algoritmo.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751175" y="6566766"/>
            <a:ext cx="5849438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1400" spc="-6" dirty="0">
                <a:latin typeface="Arial"/>
                <a:cs typeface="Arial"/>
              </a:rPr>
              <a:t>Inicialmente,</a:t>
            </a:r>
            <a:r>
              <a:rPr sz="1400" spc="-29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as </a:t>
            </a:r>
            <a:r>
              <a:rPr sz="1400" spc="-6" dirty="0">
                <a:latin typeface="Arial"/>
                <a:cs typeface="Arial"/>
              </a:rPr>
              <a:t>variáveis</a:t>
            </a:r>
            <a:r>
              <a:rPr sz="1400" spc="6" dirty="0">
                <a:latin typeface="Arial"/>
                <a:cs typeface="Arial"/>
              </a:rPr>
              <a:t> </a:t>
            </a:r>
            <a:r>
              <a:rPr sz="1400" dirty="0">
                <a:latin typeface="Courier New"/>
                <a:cs typeface="Courier New"/>
              </a:rPr>
              <a:t>i</a:t>
            </a:r>
            <a:r>
              <a:rPr sz="1400" spc="-439" dirty="0">
                <a:latin typeface="Courier New"/>
                <a:cs typeface="Courier New"/>
              </a:rPr>
              <a:t> </a:t>
            </a:r>
            <a:r>
              <a:rPr sz="1400" spc="-6" dirty="0">
                <a:latin typeface="Arial"/>
                <a:cs typeface="Arial"/>
              </a:rPr>
              <a:t>e </a:t>
            </a:r>
            <a:r>
              <a:rPr sz="1400" spc="23" dirty="0">
                <a:latin typeface="Arial"/>
                <a:cs typeface="Arial"/>
              </a:rPr>
              <a:t> </a:t>
            </a:r>
            <a:r>
              <a:rPr sz="1400" spc="-6" dirty="0">
                <a:latin typeface="Courier New"/>
                <a:cs typeface="Courier New"/>
              </a:rPr>
              <a:t>aux</a:t>
            </a:r>
            <a:r>
              <a:rPr sz="1400" spc="-428" dirty="0">
                <a:latin typeface="Courier New"/>
                <a:cs typeface="Courier New"/>
              </a:rPr>
              <a:t> </a:t>
            </a:r>
            <a:r>
              <a:rPr sz="1400" spc="-6" dirty="0">
                <a:latin typeface="Arial"/>
                <a:cs typeface="Arial"/>
              </a:rPr>
              <a:t>e</a:t>
            </a:r>
            <a:r>
              <a:rPr sz="1400" spc="-11" dirty="0">
                <a:latin typeface="Arial"/>
                <a:cs typeface="Arial"/>
              </a:rPr>
              <a:t> </a:t>
            </a:r>
            <a:r>
              <a:rPr sz="1400" spc="-6" dirty="0">
                <a:latin typeface="Arial"/>
                <a:cs typeface="Arial"/>
              </a:rPr>
              <a:t>o</a:t>
            </a:r>
            <a:r>
              <a:rPr sz="1400" spc="6" dirty="0">
                <a:latin typeface="Arial"/>
                <a:cs typeface="Arial"/>
              </a:rPr>
              <a:t> </a:t>
            </a:r>
            <a:r>
              <a:rPr sz="1400" spc="-6" dirty="0">
                <a:latin typeface="Arial"/>
                <a:cs typeface="Arial"/>
              </a:rPr>
              <a:t>vetor</a:t>
            </a:r>
            <a:r>
              <a:rPr sz="1400" dirty="0">
                <a:latin typeface="Arial"/>
                <a:cs typeface="Arial"/>
              </a:rPr>
              <a:t> </a:t>
            </a:r>
            <a:r>
              <a:rPr sz="1400" spc="-6" dirty="0">
                <a:latin typeface="Courier New"/>
                <a:cs typeface="Courier New"/>
              </a:rPr>
              <a:t>vet</a:t>
            </a:r>
            <a:r>
              <a:rPr sz="1400" spc="-428" dirty="0">
                <a:latin typeface="Courier New"/>
                <a:cs typeface="Courier New"/>
              </a:rPr>
              <a:t> </a:t>
            </a:r>
            <a:r>
              <a:rPr sz="1400" dirty="0">
                <a:latin typeface="Arial"/>
                <a:cs typeface="Arial"/>
              </a:rPr>
              <a:t>contém</a:t>
            </a:r>
            <a:r>
              <a:rPr sz="1400" spc="-34" dirty="0">
                <a:latin typeface="Arial"/>
                <a:cs typeface="Arial"/>
              </a:rPr>
              <a:t> </a:t>
            </a:r>
            <a:r>
              <a:rPr sz="1400" spc="-11" dirty="0">
                <a:latin typeface="Arial"/>
                <a:cs typeface="Arial"/>
              </a:rPr>
              <a:t>lixo</a:t>
            </a:r>
            <a:r>
              <a:rPr sz="1400" dirty="0">
                <a:latin typeface="Arial"/>
                <a:cs typeface="Arial"/>
              </a:rPr>
              <a:t> de</a:t>
            </a:r>
            <a:r>
              <a:rPr sz="1400" spc="-11" dirty="0">
                <a:latin typeface="Arial"/>
                <a:cs typeface="Arial"/>
              </a:rPr>
              <a:t> </a:t>
            </a:r>
            <a:r>
              <a:rPr sz="1400" spc="-6" dirty="0">
                <a:latin typeface="Arial"/>
                <a:cs typeface="Arial"/>
              </a:rPr>
              <a:t>memória.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94067" y="3021577"/>
            <a:ext cx="4210526" cy="34542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116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113383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9" y="1232969"/>
            <a:ext cx="9006962" cy="1329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Para </a:t>
            </a:r>
            <a:r>
              <a:rPr sz="3200" dirty="0">
                <a:latin typeface="Arial"/>
                <a:cs typeface="Arial"/>
              </a:rPr>
              <a:t>dar </a:t>
            </a:r>
            <a:r>
              <a:rPr sz="3200" spc="-6" dirty="0">
                <a:latin typeface="Arial"/>
                <a:cs typeface="Arial"/>
              </a:rPr>
              <a:t>início ao </a:t>
            </a:r>
            <a:r>
              <a:rPr sz="3200" i="1" dirty="0">
                <a:latin typeface="Arial"/>
                <a:cs typeface="Arial"/>
              </a:rPr>
              <a:t>debugging</a:t>
            </a:r>
            <a:r>
              <a:rPr sz="3200" dirty="0">
                <a:latin typeface="Arial"/>
                <a:cs typeface="Arial"/>
              </a:rPr>
              <a:t>, acesse </a:t>
            </a:r>
            <a:r>
              <a:rPr sz="3200" spc="-6" dirty="0">
                <a:latin typeface="Arial"/>
                <a:cs typeface="Arial"/>
              </a:rPr>
              <a:t>o menu  </a:t>
            </a:r>
            <a:r>
              <a:rPr sz="3200" i="1" dirty="0">
                <a:latin typeface="Arial"/>
                <a:cs typeface="Arial"/>
              </a:rPr>
              <a:t>Debug </a:t>
            </a:r>
            <a:r>
              <a:rPr sz="3200" spc="-6" dirty="0">
                <a:latin typeface="Arial"/>
                <a:cs typeface="Arial"/>
              </a:rPr>
              <a:t>e, em </a:t>
            </a:r>
            <a:r>
              <a:rPr sz="3200" dirty="0">
                <a:latin typeface="Arial"/>
                <a:cs typeface="Arial"/>
              </a:rPr>
              <a:t>seguida, escolha </a:t>
            </a:r>
            <a:r>
              <a:rPr sz="3200" spc="-6" dirty="0">
                <a:latin typeface="Arial"/>
                <a:cs typeface="Arial"/>
              </a:rPr>
              <a:t>a opção  </a:t>
            </a:r>
            <a:r>
              <a:rPr sz="3200" i="1" spc="-6" dirty="0">
                <a:latin typeface="Arial"/>
                <a:cs typeface="Arial"/>
              </a:rPr>
              <a:t>Start/Continue </a:t>
            </a:r>
            <a:r>
              <a:rPr sz="3200" spc="-6" dirty="0">
                <a:latin typeface="Arial"/>
                <a:cs typeface="Arial"/>
              </a:rPr>
              <a:t>ou </a:t>
            </a:r>
            <a:r>
              <a:rPr sz="3200" dirty="0">
                <a:latin typeface="Arial"/>
                <a:cs typeface="Arial"/>
              </a:rPr>
              <a:t>pressione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tecla</a:t>
            </a:r>
            <a:r>
              <a:rPr sz="3200" spc="68" dirty="0">
                <a:latin typeface="Arial"/>
                <a:cs typeface="Arial"/>
              </a:rPr>
              <a:t> </a:t>
            </a:r>
            <a:r>
              <a:rPr sz="3200" i="1" spc="-6" dirty="0">
                <a:latin typeface="Arial"/>
                <a:cs typeface="Arial"/>
              </a:rPr>
              <a:t>F8.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619754" y="196850"/>
            <a:ext cx="908939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4" name="object 4"/>
          <p:cNvSpPr/>
          <p:nvPr/>
        </p:nvSpPr>
        <p:spPr>
          <a:xfrm>
            <a:off x="1557226" y="2598806"/>
            <a:ext cx="7747961" cy="46175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117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626181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46700" y="3193805"/>
            <a:ext cx="6736693" cy="42316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23349" y="1232969"/>
            <a:ext cx="9005477" cy="1772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algoritmo será </a:t>
            </a:r>
            <a:r>
              <a:rPr sz="3200" dirty="0">
                <a:latin typeface="Arial"/>
                <a:cs typeface="Arial"/>
              </a:rPr>
              <a:t>executado normalmente até  </a:t>
            </a:r>
            <a:r>
              <a:rPr sz="3200" spc="-6" dirty="0">
                <a:latin typeface="Arial"/>
                <a:cs typeface="Arial"/>
              </a:rPr>
              <a:t>que </a:t>
            </a:r>
            <a:r>
              <a:rPr sz="3200" dirty="0">
                <a:latin typeface="Arial"/>
                <a:cs typeface="Arial"/>
              </a:rPr>
              <a:t>seja encontrado </a:t>
            </a:r>
            <a:r>
              <a:rPr sz="3200" spc="-6" dirty="0">
                <a:latin typeface="Arial"/>
                <a:cs typeface="Arial"/>
              </a:rPr>
              <a:t>um </a:t>
            </a:r>
            <a:r>
              <a:rPr sz="3200" i="1" dirty="0">
                <a:latin typeface="Arial"/>
                <a:cs typeface="Arial"/>
              </a:rPr>
              <a:t>breakpoint</a:t>
            </a:r>
            <a:r>
              <a:rPr sz="3200" dirty="0">
                <a:latin typeface="Arial"/>
                <a:cs typeface="Arial"/>
              </a:rPr>
              <a:t>. </a:t>
            </a:r>
            <a:r>
              <a:rPr sz="3200" spc="-6" dirty="0">
                <a:latin typeface="Arial"/>
                <a:cs typeface="Arial"/>
              </a:rPr>
              <a:t>A seta  em </a:t>
            </a:r>
            <a:r>
              <a:rPr sz="3200" dirty="0">
                <a:latin typeface="Arial"/>
                <a:cs typeface="Arial"/>
              </a:rPr>
              <a:t>amarelo indica </a:t>
            </a:r>
            <a:r>
              <a:rPr sz="3200" b="1" spc="-6" dirty="0">
                <a:latin typeface="Arial"/>
                <a:cs typeface="Arial"/>
              </a:rPr>
              <a:t>a linha </a:t>
            </a:r>
            <a:r>
              <a:rPr sz="3200" b="1" dirty="0">
                <a:latin typeface="Arial"/>
                <a:cs typeface="Arial"/>
              </a:rPr>
              <a:t>que </a:t>
            </a:r>
            <a:r>
              <a:rPr sz="3200" b="1" spc="-6" dirty="0">
                <a:latin typeface="Arial"/>
                <a:cs typeface="Arial"/>
              </a:rPr>
              <a:t>será  executada </a:t>
            </a:r>
            <a:r>
              <a:rPr sz="3200" spc="-6" dirty="0">
                <a:latin typeface="Arial"/>
                <a:cs typeface="Arial"/>
              </a:rPr>
              <a:t>(linha</a:t>
            </a:r>
            <a:r>
              <a:rPr sz="3200" spc="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5).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Como</a:t>
            </a:r>
            <a:r>
              <a:rPr spc="-63" dirty="0"/>
              <a:t> </a:t>
            </a:r>
            <a:r>
              <a:rPr spc="-6" dirty="0"/>
              <a:t>utilizar?</a:t>
            </a:r>
          </a:p>
        </p:txBody>
      </p:sp>
      <p:sp>
        <p:nvSpPr>
          <p:cNvPr id="5" name="object 5"/>
          <p:cNvSpPr/>
          <p:nvPr/>
        </p:nvSpPr>
        <p:spPr>
          <a:xfrm>
            <a:off x="2434529" y="4768990"/>
            <a:ext cx="2304428" cy="283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83543" y="4841758"/>
            <a:ext cx="2105263" cy="94456"/>
          </a:xfrm>
          <a:custGeom>
            <a:avLst/>
            <a:gdLst/>
            <a:ahLst/>
            <a:cxnLst/>
            <a:rect l="l" t="t" r="r" b="b"/>
            <a:pathLst>
              <a:path w="1800225" h="85725">
                <a:moveTo>
                  <a:pt x="1714500" y="0"/>
                </a:moveTo>
                <a:lnTo>
                  <a:pt x="1714500" y="85725"/>
                </a:lnTo>
                <a:lnTo>
                  <a:pt x="1771734" y="57150"/>
                </a:lnTo>
                <a:lnTo>
                  <a:pt x="1728851" y="57150"/>
                </a:lnTo>
                <a:lnTo>
                  <a:pt x="1728851" y="28575"/>
                </a:lnTo>
                <a:lnTo>
                  <a:pt x="1771565" y="28575"/>
                </a:lnTo>
                <a:lnTo>
                  <a:pt x="1714500" y="0"/>
                </a:lnTo>
                <a:close/>
              </a:path>
              <a:path w="1800225" h="85725">
                <a:moveTo>
                  <a:pt x="1714500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714500" y="57150"/>
                </a:lnTo>
                <a:lnTo>
                  <a:pt x="1714500" y="28575"/>
                </a:lnTo>
                <a:close/>
              </a:path>
              <a:path w="1800225" h="85725">
                <a:moveTo>
                  <a:pt x="1771565" y="28575"/>
                </a:moveTo>
                <a:lnTo>
                  <a:pt x="1728851" y="28575"/>
                </a:lnTo>
                <a:lnTo>
                  <a:pt x="1728851" y="57150"/>
                </a:lnTo>
                <a:lnTo>
                  <a:pt x="1771734" y="57150"/>
                </a:lnTo>
                <a:lnTo>
                  <a:pt x="1800225" y="42925"/>
                </a:lnTo>
                <a:lnTo>
                  <a:pt x="1771565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99332" y="4301019"/>
            <a:ext cx="2105263" cy="474029"/>
          </a:xfrm>
          <a:prstGeom prst="rect">
            <a:avLst/>
          </a:prstGeom>
          <a:solidFill>
            <a:srgbClr val="DDDDDD"/>
          </a:solidFill>
          <a:ln w="9525">
            <a:solidFill>
              <a:srgbClr val="000000"/>
            </a:solidFill>
          </a:ln>
        </p:spPr>
        <p:txBody>
          <a:bodyPr vert="horz" wrap="square" lIns="0" tIns="42725" rIns="0" bIns="0" rtlCol="0">
            <a:spAutoFit/>
          </a:bodyPr>
          <a:lstStyle/>
          <a:p>
            <a:pPr marL="204211" marR="169452" indent="-28242">
              <a:spcBef>
                <a:spcPts val="336"/>
              </a:spcBef>
            </a:pPr>
            <a:r>
              <a:rPr sz="1400" b="1" spc="-6" dirty="0">
                <a:latin typeface="Arial"/>
                <a:cs typeface="Arial"/>
              </a:rPr>
              <a:t>Execução parada </a:t>
            </a:r>
            <a:r>
              <a:rPr sz="1400" b="1" dirty="0">
                <a:latin typeface="Arial"/>
                <a:cs typeface="Arial"/>
              </a:rPr>
              <a:t>no  primeiro</a:t>
            </a:r>
            <a:r>
              <a:rPr sz="1400" b="1" spc="-1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breakpoint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118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09758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32969"/>
            <a:ext cx="9007704" cy="17727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O </a:t>
            </a:r>
            <a:r>
              <a:rPr sz="3200" dirty="0">
                <a:latin typeface="Arial"/>
                <a:cs typeface="Arial"/>
              </a:rPr>
              <a:t>controle </a:t>
            </a:r>
            <a:r>
              <a:rPr sz="3200" spc="-6" dirty="0">
                <a:latin typeface="Arial"/>
                <a:cs typeface="Arial"/>
              </a:rPr>
              <a:t>do fluxo de </a:t>
            </a:r>
            <a:r>
              <a:rPr sz="3200" dirty="0">
                <a:latin typeface="Arial"/>
                <a:cs typeface="Arial"/>
              </a:rPr>
              <a:t>execução pode ser  feito </a:t>
            </a:r>
            <a:r>
              <a:rPr sz="3200" spc="-6" dirty="0">
                <a:latin typeface="Arial"/>
                <a:cs typeface="Arial"/>
              </a:rPr>
              <a:t>através de alguns </a:t>
            </a:r>
            <a:r>
              <a:rPr sz="3200" dirty="0">
                <a:latin typeface="Arial"/>
                <a:cs typeface="Arial"/>
              </a:rPr>
              <a:t>comandos dispostos  </a:t>
            </a:r>
            <a:r>
              <a:rPr sz="3200" spc="-6" dirty="0">
                <a:latin typeface="Arial"/>
                <a:cs typeface="Arial"/>
              </a:rPr>
              <a:t>no menu </a:t>
            </a:r>
            <a:r>
              <a:rPr sz="3200" i="1" dirty="0">
                <a:latin typeface="Arial"/>
                <a:cs typeface="Arial"/>
              </a:rPr>
              <a:t>Debug</a:t>
            </a:r>
            <a:r>
              <a:rPr sz="3200" dirty="0">
                <a:latin typeface="Arial"/>
                <a:cs typeface="Arial"/>
              </a:rPr>
              <a:t>, destacado abaixo, que </a:t>
            </a:r>
            <a:r>
              <a:rPr sz="3200" spc="-6" dirty="0">
                <a:latin typeface="Arial"/>
                <a:cs typeface="Arial"/>
              </a:rPr>
              <a:t>é  </a:t>
            </a:r>
            <a:r>
              <a:rPr sz="3200" dirty="0">
                <a:latin typeface="Arial"/>
                <a:cs typeface="Arial"/>
              </a:rPr>
              <a:t>exibido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partir </a:t>
            </a:r>
            <a:r>
              <a:rPr sz="3200" spc="-6" dirty="0">
                <a:latin typeface="Arial"/>
                <a:cs typeface="Arial"/>
              </a:rPr>
              <a:t>do início do</a:t>
            </a:r>
            <a:r>
              <a:rPr sz="3200" spc="23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debugging</a:t>
            </a:r>
            <a:r>
              <a:rPr sz="3200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Controle </a:t>
            </a:r>
            <a:r>
              <a:rPr spc="-11" dirty="0"/>
              <a:t>da</a:t>
            </a:r>
            <a:r>
              <a:rPr dirty="0"/>
              <a:t> </a:t>
            </a:r>
            <a:r>
              <a:rPr spc="-6" dirty="0"/>
              <a:t>execução</a:t>
            </a:r>
          </a:p>
        </p:txBody>
      </p:sp>
      <p:sp>
        <p:nvSpPr>
          <p:cNvPr id="4" name="object 4"/>
          <p:cNvSpPr/>
          <p:nvPr/>
        </p:nvSpPr>
        <p:spPr>
          <a:xfrm>
            <a:off x="7963017" y="3304709"/>
            <a:ext cx="1885603" cy="2837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113914" y="3377057"/>
            <a:ext cx="1684211" cy="94456"/>
          </a:xfrm>
          <a:custGeom>
            <a:avLst/>
            <a:gdLst/>
            <a:ahLst/>
            <a:cxnLst/>
            <a:rect l="l" t="t" r="r" b="b"/>
            <a:pathLst>
              <a:path w="1440179" h="85725">
                <a:moveTo>
                  <a:pt x="85725" y="0"/>
                </a:moveTo>
                <a:lnTo>
                  <a:pt x="0" y="42925"/>
                </a:lnTo>
                <a:lnTo>
                  <a:pt x="85851" y="85725"/>
                </a:lnTo>
                <a:lnTo>
                  <a:pt x="85809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67" y="28552"/>
                </a:lnTo>
                <a:lnTo>
                  <a:pt x="85725" y="0"/>
                </a:lnTo>
                <a:close/>
              </a:path>
              <a:path w="1440179" h="85725">
                <a:moveTo>
                  <a:pt x="85767" y="28552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809" y="57127"/>
                </a:lnTo>
                <a:lnTo>
                  <a:pt x="85767" y="28552"/>
                </a:lnTo>
                <a:close/>
              </a:path>
              <a:path w="1440179" h="85725">
                <a:moveTo>
                  <a:pt x="85809" y="57127"/>
                </a:moveTo>
                <a:lnTo>
                  <a:pt x="71500" y="57150"/>
                </a:lnTo>
                <a:lnTo>
                  <a:pt x="85809" y="57150"/>
                </a:lnTo>
                <a:close/>
              </a:path>
              <a:path w="1440179" h="85725">
                <a:moveTo>
                  <a:pt x="1440179" y="26416"/>
                </a:moveTo>
                <a:lnTo>
                  <a:pt x="85767" y="28552"/>
                </a:lnTo>
                <a:lnTo>
                  <a:pt x="85809" y="57127"/>
                </a:lnTo>
                <a:lnTo>
                  <a:pt x="1440179" y="54991"/>
                </a:lnTo>
                <a:lnTo>
                  <a:pt x="1440179" y="264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041437" y="2984902"/>
            <a:ext cx="1937435" cy="287170"/>
          </a:xfrm>
          <a:prstGeom prst="rect">
            <a:avLst/>
          </a:prstGeom>
          <a:solidFill>
            <a:srgbClr val="DDDDDD"/>
          </a:solidFill>
          <a:ln w="9525">
            <a:solidFill>
              <a:srgbClr val="000000"/>
            </a:solidFill>
          </a:ln>
        </p:spPr>
        <p:txBody>
          <a:bodyPr vert="horz" wrap="square" lIns="0" tIns="40553" rIns="0" bIns="0" rtlCol="0">
            <a:spAutoFit/>
          </a:bodyPr>
          <a:lstStyle/>
          <a:p>
            <a:pPr marL="179590">
              <a:spcBef>
                <a:spcPts val="319"/>
              </a:spcBef>
            </a:pPr>
            <a:r>
              <a:rPr sz="1600" dirty="0">
                <a:latin typeface="Arial"/>
                <a:cs typeface="Arial"/>
              </a:rPr>
              <a:t>Atalhos do</a:t>
            </a:r>
            <a:r>
              <a:rPr sz="1600" spc="-130" dirty="0">
                <a:latin typeface="Arial"/>
                <a:cs typeface="Arial"/>
              </a:rPr>
              <a:t> </a:t>
            </a:r>
            <a:r>
              <a:rPr sz="1600" spc="-6" dirty="0">
                <a:latin typeface="Arial"/>
                <a:cs typeface="Arial"/>
              </a:rPr>
              <a:t>menu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46699" y="3064188"/>
            <a:ext cx="5859835" cy="43270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119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074306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77359" y="1344778"/>
            <a:ext cx="2250812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735740" algn="l"/>
              </a:tabLst>
            </a:pPr>
            <a:r>
              <a:rPr sz="3200" spc="-6" dirty="0">
                <a:latin typeface="Arial"/>
                <a:cs typeface="Arial"/>
              </a:rPr>
              <a:t>a	p</a:t>
            </a:r>
            <a:r>
              <a:rPr sz="3200" dirty="0">
                <a:latin typeface="Arial"/>
                <a:cs typeface="Arial"/>
              </a:rPr>
              <a:t>r</a:t>
            </a:r>
            <a:r>
              <a:rPr sz="3200" spc="-6" dirty="0">
                <a:latin typeface="Arial"/>
                <a:cs typeface="Arial"/>
              </a:rPr>
              <a:t>ó</a:t>
            </a:r>
            <a:r>
              <a:rPr sz="3200" dirty="0">
                <a:latin typeface="Arial"/>
                <a:cs typeface="Arial"/>
              </a:rPr>
              <a:t>x</a:t>
            </a:r>
            <a:r>
              <a:rPr sz="3200" spc="-6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m</a:t>
            </a:r>
            <a:r>
              <a:rPr sz="3200" spc="-6" dirty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3348" y="1344778"/>
            <a:ext cx="6273461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7151">
              <a:lnSpc>
                <a:spcPts val="3638"/>
              </a:lnSpc>
              <a:tabLst>
                <a:tab pos="1952319" algn="l"/>
                <a:tab pos="4544066" algn="l"/>
              </a:tabLst>
            </a:pPr>
            <a:r>
              <a:rPr sz="3200" b="1" i="1" spc="-6" dirty="0">
                <a:latin typeface="Arial"/>
                <a:cs typeface="Arial"/>
              </a:rPr>
              <a:t>Next	ins</a:t>
            </a:r>
            <a:r>
              <a:rPr sz="3200" b="1" i="1" dirty="0">
                <a:latin typeface="Arial"/>
                <a:cs typeface="Arial"/>
              </a:rPr>
              <a:t>t</a:t>
            </a:r>
            <a:r>
              <a:rPr sz="3200" b="1" i="1" spc="-6" dirty="0">
                <a:latin typeface="Arial"/>
                <a:cs typeface="Arial"/>
              </a:rPr>
              <a:t>r</a:t>
            </a:r>
            <a:r>
              <a:rPr sz="3200" b="1" i="1" dirty="0">
                <a:latin typeface="Arial"/>
                <a:cs typeface="Arial"/>
              </a:rPr>
              <a:t>u</a:t>
            </a:r>
            <a:r>
              <a:rPr sz="3200" b="1" i="1" spc="-6" dirty="0">
                <a:latin typeface="Arial"/>
                <a:cs typeface="Arial"/>
              </a:rPr>
              <a:t>c</a:t>
            </a:r>
            <a:r>
              <a:rPr sz="3200" b="1" i="1" dirty="0">
                <a:latin typeface="Arial"/>
                <a:cs typeface="Arial"/>
              </a:rPr>
              <a:t>t</a:t>
            </a:r>
            <a:r>
              <a:rPr sz="3200" b="1" i="1" spc="-6" dirty="0">
                <a:latin typeface="Arial"/>
                <a:cs typeface="Arial"/>
              </a:rPr>
              <a:t>ion</a:t>
            </a:r>
            <a:r>
              <a:rPr sz="3200" b="1" i="1" dirty="0">
                <a:latin typeface="Arial"/>
                <a:cs typeface="Arial"/>
              </a:rPr>
              <a:t>	</a:t>
            </a:r>
            <a:r>
              <a:rPr sz="3200" b="1" dirty="0">
                <a:latin typeface="Arial"/>
                <a:cs typeface="Arial"/>
              </a:rPr>
              <a:t>(</a:t>
            </a:r>
            <a:r>
              <a:rPr sz="3200" b="1" spc="-6" dirty="0">
                <a:latin typeface="Arial"/>
                <a:cs typeface="Arial"/>
              </a:rPr>
              <a:t>Al</a:t>
            </a:r>
            <a:r>
              <a:rPr sz="3200" b="1" dirty="0">
                <a:latin typeface="Arial"/>
                <a:cs typeface="Arial"/>
              </a:rPr>
              <a:t>t-</a:t>
            </a:r>
            <a:r>
              <a:rPr sz="3200" b="1" spc="-11" dirty="0">
                <a:latin typeface="Arial"/>
                <a:cs typeface="Arial"/>
              </a:rPr>
              <a:t>F</a:t>
            </a:r>
            <a:r>
              <a:rPr sz="3200" b="1" spc="6" dirty="0">
                <a:latin typeface="Arial"/>
                <a:cs typeface="Arial"/>
              </a:rPr>
              <a:t>7</a:t>
            </a:r>
            <a:r>
              <a:rPr sz="3200" b="1" dirty="0">
                <a:latin typeface="Arial"/>
                <a:cs typeface="Arial"/>
              </a:rPr>
              <a:t>)</a:t>
            </a:r>
            <a:r>
              <a:rPr sz="3200" b="1" spc="-6" dirty="0">
                <a:latin typeface="Arial"/>
                <a:cs typeface="Arial"/>
              </a:rPr>
              <a:t>:</a:t>
            </a:r>
            <a:endParaRPr sz="3200">
              <a:latin typeface="Arial"/>
              <a:cs typeface="Arial"/>
            </a:endParaRPr>
          </a:p>
          <a:p>
            <a:pPr marL="14483">
              <a:lnSpc>
                <a:spcPts val="3638"/>
              </a:lnSpc>
            </a:pPr>
            <a:r>
              <a:rPr sz="3200" dirty="0">
                <a:latin typeface="Arial"/>
                <a:cs typeface="Arial"/>
              </a:rPr>
              <a:t>instrução </a:t>
            </a:r>
            <a:r>
              <a:rPr sz="3200" spc="-6" dirty="0">
                <a:latin typeface="Arial"/>
                <a:cs typeface="Arial"/>
              </a:rPr>
              <a:t>é</a:t>
            </a:r>
            <a:r>
              <a:rPr sz="3200" spc="-7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executada.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3349" y="2856497"/>
            <a:ext cx="9006962" cy="24057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 marR="5793" indent="562668">
              <a:lnSpc>
                <a:spcPts val="3444"/>
              </a:lnSpc>
            </a:pPr>
            <a:r>
              <a:rPr sz="3200" b="1" i="1" spc="-6" dirty="0">
                <a:latin typeface="Arial"/>
                <a:cs typeface="Arial"/>
              </a:rPr>
              <a:t>Next line </a:t>
            </a:r>
            <a:r>
              <a:rPr sz="3200" b="1" dirty="0">
                <a:latin typeface="Arial"/>
                <a:cs typeface="Arial"/>
              </a:rPr>
              <a:t>(F7):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execução </a:t>
            </a:r>
            <a:r>
              <a:rPr sz="3200" spc="-6" dirty="0">
                <a:latin typeface="Arial"/>
                <a:cs typeface="Arial"/>
              </a:rPr>
              <a:t>é </a:t>
            </a:r>
            <a:r>
              <a:rPr sz="3200" dirty="0">
                <a:latin typeface="Arial"/>
                <a:cs typeface="Arial"/>
              </a:rPr>
              <a:t>desviada para  </a:t>
            </a:r>
            <a:r>
              <a:rPr sz="3200" spc="-6" dirty="0">
                <a:latin typeface="Arial"/>
                <a:cs typeface="Arial"/>
              </a:rPr>
              <a:t>a próxima</a:t>
            </a:r>
            <a:r>
              <a:rPr sz="3200" spc="-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linha.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300">
              <a:latin typeface="Times New Roman"/>
              <a:cs typeface="Times New Roman"/>
            </a:endParaRPr>
          </a:p>
          <a:p>
            <a:pPr marL="14483" marR="8690" indent="562668">
              <a:lnSpc>
                <a:spcPts val="3444"/>
              </a:lnSpc>
              <a:spcBef>
                <a:spcPts val="6"/>
              </a:spcBef>
            </a:pPr>
            <a:r>
              <a:rPr sz="3200" b="1" i="1" spc="-6" dirty="0">
                <a:latin typeface="Arial"/>
                <a:cs typeface="Arial"/>
              </a:rPr>
              <a:t>Run </a:t>
            </a:r>
            <a:r>
              <a:rPr sz="3200" b="1" i="1" spc="6" dirty="0">
                <a:latin typeface="Arial"/>
                <a:cs typeface="Arial"/>
              </a:rPr>
              <a:t>to </a:t>
            </a:r>
            <a:r>
              <a:rPr sz="3200" b="1" i="1" dirty="0">
                <a:latin typeface="Arial"/>
                <a:cs typeface="Arial"/>
              </a:rPr>
              <a:t>cursor </a:t>
            </a:r>
            <a:r>
              <a:rPr sz="3200" b="1" dirty="0">
                <a:latin typeface="Arial"/>
                <a:cs typeface="Arial"/>
              </a:rPr>
              <a:t>(F4): </a:t>
            </a:r>
            <a:r>
              <a:rPr sz="3200" spc="-6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execução </a:t>
            </a:r>
            <a:r>
              <a:rPr sz="3200" spc="-6" dirty="0">
                <a:latin typeface="Arial"/>
                <a:cs typeface="Arial"/>
              </a:rPr>
              <a:t>é desviada  </a:t>
            </a:r>
            <a:r>
              <a:rPr sz="3200" dirty="0">
                <a:latin typeface="Arial"/>
                <a:cs typeface="Arial"/>
              </a:rPr>
              <a:t>para </a:t>
            </a:r>
            <a:r>
              <a:rPr sz="3200" spc="-6" dirty="0">
                <a:latin typeface="Arial"/>
                <a:cs typeface="Arial"/>
              </a:rPr>
              <a:t>a linha na </a:t>
            </a:r>
            <a:r>
              <a:rPr sz="3200" dirty="0">
                <a:latin typeface="Arial"/>
                <a:cs typeface="Arial"/>
              </a:rPr>
              <a:t>qual se encontra </a:t>
            </a:r>
            <a:r>
              <a:rPr sz="3200" spc="-6" dirty="0">
                <a:latin typeface="Arial"/>
                <a:cs typeface="Arial"/>
              </a:rPr>
              <a:t>o</a:t>
            </a:r>
            <a:r>
              <a:rPr sz="3200" spc="34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cursor.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0792" y="5718592"/>
            <a:ext cx="4359788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3357178" algn="l"/>
              </a:tabLst>
            </a:pPr>
            <a:r>
              <a:rPr sz="3200" b="1" i="1" spc="-6" dirty="0">
                <a:latin typeface="Arial"/>
                <a:cs typeface="Arial"/>
              </a:rPr>
              <a:t>Sta</a:t>
            </a:r>
            <a:r>
              <a:rPr sz="3200" b="1" i="1" dirty="0">
                <a:latin typeface="Arial"/>
                <a:cs typeface="Arial"/>
              </a:rPr>
              <a:t>r</a:t>
            </a:r>
            <a:r>
              <a:rPr sz="3200" b="1" i="1" spc="-6" dirty="0">
                <a:latin typeface="Arial"/>
                <a:cs typeface="Arial"/>
              </a:rPr>
              <a:t>t/Cont</a:t>
            </a:r>
            <a:r>
              <a:rPr sz="3200" b="1" i="1" spc="6" dirty="0">
                <a:latin typeface="Arial"/>
                <a:cs typeface="Arial"/>
              </a:rPr>
              <a:t>i</a:t>
            </a:r>
            <a:r>
              <a:rPr sz="3200" b="1" i="1" spc="-6" dirty="0">
                <a:latin typeface="Arial"/>
                <a:cs typeface="Arial"/>
              </a:rPr>
              <a:t>n</a:t>
            </a:r>
            <a:r>
              <a:rPr sz="3200" b="1" i="1" spc="-17" dirty="0">
                <a:latin typeface="Arial"/>
                <a:cs typeface="Arial"/>
              </a:rPr>
              <a:t>u</a:t>
            </a:r>
            <a:r>
              <a:rPr sz="3200" b="1" i="1" spc="-6" dirty="0">
                <a:latin typeface="Arial"/>
                <a:cs typeface="Arial"/>
              </a:rPr>
              <a:t>e</a:t>
            </a:r>
            <a:r>
              <a:rPr sz="3200" b="1" i="1" dirty="0">
                <a:latin typeface="Arial"/>
                <a:cs typeface="Arial"/>
              </a:rPr>
              <a:t>	</a:t>
            </a:r>
            <a:r>
              <a:rPr sz="3200" b="1" dirty="0">
                <a:latin typeface="Arial"/>
                <a:cs typeface="Arial"/>
              </a:rPr>
              <a:t>(</a:t>
            </a:r>
            <a:r>
              <a:rPr sz="3200" b="1" spc="-11" dirty="0">
                <a:latin typeface="Arial"/>
                <a:cs typeface="Arial"/>
              </a:rPr>
              <a:t>F</a:t>
            </a:r>
            <a:r>
              <a:rPr sz="3200" b="1" dirty="0">
                <a:latin typeface="Arial"/>
                <a:cs typeface="Arial"/>
              </a:rPr>
              <a:t>8)</a:t>
            </a:r>
            <a:r>
              <a:rPr sz="3200" b="1" spc="-6" dirty="0">
                <a:latin typeface="Arial"/>
                <a:cs typeface="Arial"/>
              </a:rPr>
              <a:t>: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3349" y="6141700"/>
            <a:ext cx="6271234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tabLst>
                <a:tab pos="2188393" algn="l"/>
                <a:tab pos="2688060" algn="l"/>
                <a:tab pos="4336958" algn="l"/>
                <a:tab pos="5785266" algn="l"/>
              </a:tabLst>
            </a:pPr>
            <a:r>
              <a:rPr sz="3200" i="1" spc="-6" dirty="0">
                <a:latin typeface="Arial"/>
                <a:cs typeface="Arial"/>
              </a:rPr>
              <a:t>d</a:t>
            </a:r>
            <a:r>
              <a:rPr sz="3200" i="1" dirty="0">
                <a:latin typeface="Arial"/>
                <a:cs typeface="Arial"/>
              </a:rPr>
              <a:t>e</a:t>
            </a:r>
            <a:r>
              <a:rPr sz="3200" i="1" spc="-6" dirty="0">
                <a:latin typeface="Arial"/>
                <a:cs typeface="Arial"/>
              </a:rPr>
              <a:t>b</a:t>
            </a:r>
            <a:r>
              <a:rPr sz="3200" i="1" dirty="0">
                <a:latin typeface="Arial"/>
                <a:cs typeface="Arial"/>
              </a:rPr>
              <a:t>u</a:t>
            </a:r>
            <a:r>
              <a:rPr sz="3200" i="1" spc="-6" dirty="0">
                <a:latin typeface="Arial"/>
                <a:cs typeface="Arial"/>
              </a:rPr>
              <a:t>g</a:t>
            </a:r>
            <a:r>
              <a:rPr sz="3200" i="1" dirty="0">
                <a:latin typeface="Arial"/>
                <a:cs typeface="Arial"/>
              </a:rPr>
              <a:t>gin</a:t>
            </a:r>
            <a:r>
              <a:rPr sz="3200" i="1" spc="-6" dirty="0">
                <a:latin typeface="Arial"/>
                <a:cs typeface="Arial"/>
              </a:rPr>
              <a:t>g</a:t>
            </a:r>
            <a:r>
              <a:rPr sz="3200" i="1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é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n</a:t>
            </a:r>
            <a:r>
              <a:rPr sz="3200" spc="-6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c</a:t>
            </a:r>
            <a:r>
              <a:rPr sz="3200" spc="-17" dirty="0">
                <a:latin typeface="Arial"/>
                <a:cs typeface="Arial"/>
              </a:rPr>
              <a:t>i</a:t>
            </a:r>
            <a:r>
              <a:rPr sz="3200" spc="-6" dirty="0">
                <a:latin typeface="Arial"/>
                <a:cs typeface="Arial"/>
              </a:rPr>
              <a:t>a</a:t>
            </a:r>
            <a:r>
              <a:rPr sz="3200" dirty="0">
                <a:latin typeface="Arial"/>
                <a:cs typeface="Arial"/>
              </a:rPr>
              <a:t>d</a:t>
            </a:r>
            <a:r>
              <a:rPr sz="3200" spc="-6" dirty="0">
                <a:latin typeface="Arial"/>
                <a:cs typeface="Arial"/>
              </a:rPr>
              <a:t>o</a:t>
            </a:r>
            <a:r>
              <a:rPr sz="3200" dirty="0">
                <a:latin typeface="Arial"/>
                <a:cs typeface="Arial"/>
              </a:rPr>
              <a:t>	(</a:t>
            </a:r>
            <a:r>
              <a:rPr sz="3200" i="1" spc="-6" dirty="0">
                <a:latin typeface="Arial"/>
                <a:cs typeface="Arial"/>
              </a:rPr>
              <a:t>s</a:t>
            </a:r>
            <a:r>
              <a:rPr sz="3200" i="1" dirty="0">
                <a:latin typeface="Arial"/>
                <a:cs typeface="Arial"/>
              </a:rPr>
              <a:t>t</a:t>
            </a:r>
            <a:r>
              <a:rPr sz="3200" i="1" spc="-6" dirty="0">
                <a:latin typeface="Arial"/>
                <a:cs typeface="Arial"/>
              </a:rPr>
              <a:t>a</a:t>
            </a:r>
            <a:r>
              <a:rPr sz="3200" i="1" dirty="0">
                <a:latin typeface="Arial"/>
                <a:cs typeface="Arial"/>
              </a:rPr>
              <a:t>rt</a:t>
            </a:r>
            <a:r>
              <a:rPr sz="3200" dirty="0">
                <a:latin typeface="Arial"/>
                <a:cs typeface="Arial"/>
              </a:rPr>
              <a:t>)</a:t>
            </a:r>
            <a:r>
              <a:rPr sz="3200" spc="-6" dirty="0">
                <a:latin typeface="Arial"/>
                <a:cs typeface="Arial"/>
              </a:rPr>
              <a:t>.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94151" y="5718592"/>
            <a:ext cx="3537733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>
              <a:lnSpc>
                <a:spcPts val="3638"/>
              </a:lnSpc>
              <a:tabLst>
                <a:tab pos="787155" algn="l"/>
                <a:tab pos="2982790" algn="l"/>
              </a:tabLst>
            </a:pPr>
            <a:r>
              <a:rPr sz="3200" spc="-6" dirty="0">
                <a:latin typeface="Arial"/>
                <a:cs typeface="Arial"/>
              </a:rPr>
              <a:t>o	pro</a:t>
            </a:r>
            <a:r>
              <a:rPr sz="3200" dirty="0">
                <a:latin typeface="Arial"/>
                <a:cs typeface="Arial"/>
              </a:rPr>
              <a:t>c</a:t>
            </a:r>
            <a:r>
              <a:rPr sz="3200" spc="-6" dirty="0">
                <a:latin typeface="Arial"/>
                <a:cs typeface="Arial"/>
              </a:rPr>
              <a:t>e</a:t>
            </a:r>
            <a:r>
              <a:rPr sz="3200" dirty="0">
                <a:latin typeface="Arial"/>
                <a:cs typeface="Arial"/>
              </a:rPr>
              <a:t>s</a:t>
            </a:r>
            <a:r>
              <a:rPr sz="3200" spc="-6" dirty="0">
                <a:latin typeface="Arial"/>
                <a:cs typeface="Arial"/>
              </a:rPr>
              <a:t>so</a:t>
            </a:r>
            <a:r>
              <a:rPr sz="3200" dirty="0">
                <a:latin typeface="Arial"/>
                <a:cs typeface="Arial"/>
              </a:rPr>
              <a:t>	de</a:t>
            </a:r>
            <a:endParaRPr sz="3200">
              <a:latin typeface="Arial"/>
              <a:cs typeface="Arial"/>
            </a:endParaRPr>
          </a:p>
          <a:p>
            <a:pPr marL="1036264">
              <a:lnSpc>
                <a:spcPts val="3638"/>
              </a:lnSpc>
              <a:tabLst>
                <a:tab pos="3208726" algn="l"/>
              </a:tabLst>
            </a:pPr>
            <a:r>
              <a:rPr sz="3200" i="1" spc="-6" dirty="0">
                <a:latin typeface="Arial"/>
                <a:cs typeface="Arial"/>
              </a:rPr>
              <a:t>d</a:t>
            </a:r>
            <a:r>
              <a:rPr sz="3200" i="1" dirty="0">
                <a:latin typeface="Arial"/>
                <a:cs typeface="Arial"/>
              </a:rPr>
              <a:t>e</a:t>
            </a:r>
            <a:r>
              <a:rPr sz="3200" i="1" spc="-6" dirty="0">
                <a:latin typeface="Arial"/>
                <a:cs typeface="Arial"/>
              </a:rPr>
              <a:t>b</a:t>
            </a:r>
            <a:r>
              <a:rPr sz="3200" i="1" dirty="0">
                <a:latin typeface="Arial"/>
                <a:cs typeface="Arial"/>
              </a:rPr>
              <a:t>u</a:t>
            </a:r>
            <a:r>
              <a:rPr sz="3200" i="1" spc="-6" dirty="0">
                <a:latin typeface="Arial"/>
                <a:cs typeface="Arial"/>
              </a:rPr>
              <a:t>g</a:t>
            </a:r>
            <a:r>
              <a:rPr sz="3200" i="1" dirty="0">
                <a:latin typeface="Arial"/>
                <a:cs typeface="Arial"/>
              </a:rPr>
              <a:t>g</a:t>
            </a:r>
            <a:r>
              <a:rPr sz="3200" i="1" spc="-6" dirty="0">
                <a:latin typeface="Arial"/>
                <a:cs typeface="Arial"/>
              </a:rPr>
              <a:t>i</a:t>
            </a:r>
            <a:r>
              <a:rPr sz="3200" i="1" dirty="0">
                <a:latin typeface="Arial"/>
                <a:cs typeface="Arial"/>
              </a:rPr>
              <a:t>n</a:t>
            </a:r>
            <a:r>
              <a:rPr sz="3200" i="1" spc="-6" dirty="0">
                <a:latin typeface="Arial"/>
                <a:cs typeface="Arial"/>
              </a:rPr>
              <a:t>g</a:t>
            </a:r>
            <a:r>
              <a:rPr sz="3200" i="1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é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3349" y="6565200"/>
            <a:ext cx="6889074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3200" dirty="0">
                <a:latin typeface="Arial"/>
                <a:cs typeface="Arial"/>
              </a:rPr>
              <a:t>executado </a:t>
            </a:r>
            <a:r>
              <a:rPr sz="3200" spc="-6" dirty="0">
                <a:latin typeface="Arial"/>
                <a:cs typeface="Arial"/>
              </a:rPr>
              <a:t>passo-a-passo</a:t>
            </a:r>
            <a:r>
              <a:rPr sz="3200" spc="6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(</a:t>
            </a:r>
            <a:r>
              <a:rPr sz="3200" i="1" dirty="0">
                <a:latin typeface="Arial"/>
                <a:cs typeface="Arial"/>
              </a:rPr>
              <a:t>continue</a:t>
            </a:r>
            <a:r>
              <a:rPr sz="3200" dirty="0">
                <a:latin typeface="Arial"/>
                <a:cs typeface="Arial"/>
              </a:rPr>
              <a:t>).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Controle da</a:t>
            </a:r>
            <a:r>
              <a:rPr spc="-29" dirty="0"/>
              <a:t> </a:t>
            </a:r>
            <a:r>
              <a:rPr spc="-6" dirty="0"/>
              <a:t>execução</a:t>
            </a:r>
          </a:p>
        </p:txBody>
      </p:sp>
      <p:sp>
        <p:nvSpPr>
          <p:cNvPr id="10" name="object 10"/>
          <p:cNvSpPr/>
          <p:nvPr/>
        </p:nvSpPr>
        <p:spPr>
          <a:xfrm>
            <a:off x="588330" y="1345336"/>
            <a:ext cx="590543" cy="4763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9056" y="2826131"/>
            <a:ext cx="607177" cy="4759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0575" y="4333695"/>
            <a:ext cx="406052" cy="3467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87064" y="5761803"/>
            <a:ext cx="349169" cy="3669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120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4151393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454346"/>
            <a:ext cx="9008446" cy="4931562"/>
          </a:xfrm>
          <a:prstGeom prst="rect">
            <a:avLst/>
          </a:prstGeom>
        </p:spPr>
        <p:txBody>
          <a:bodyPr vert="horz" wrap="square" lIns="0" tIns="54312" rIns="0" bIns="0" rtlCol="0">
            <a:spAutoFit/>
          </a:bodyPr>
          <a:lstStyle/>
          <a:p>
            <a:pPr marL="14483" marR="6517" indent="562668" algn="just">
              <a:lnSpc>
                <a:spcPts val="3455"/>
              </a:lnSpc>
              <a:spcBef>
                <a:spcPts val="428"/>
              </a:spcBef>
            </a:pPr>
            <a:r>
              <a:rPr sz="3200" b="1" i="1" spc="-6" dirty="0">
                <a:latin typeface="Arial"/>
                <a:cs typeface="Arial"/>
              </a:rPr>
              <a:t>Step into </a:t>
            </a:r>
            <a:r>
              <a:rPr sz="3200" b="1" dirty="0">
                <a:latin typeface="Arial"/>
                <a:cs typeface="Arial"/>
              </a:rPr>
              <a:t>(Shitf-F7): </a:t>
            </a:r>
            <a:r>
              <a:rPr sz="3200" dirty="0">
                <a:latin typeface="Arial"/>
                <a:cs typeface="Arial"/>
              </a:rPr>
              <a:t>se </a:t>
            </a:r>
            <a:r>
              <a:rPr sz="3200" spc="-6" dirty="0">
                <a:latin typeface="Arial"/>
                <a:cs typeface="Arial"/>
              </a:rPr>
              <a:t>a instrução a </a:t>
            </a:r>
            <a:r>
              <a:rPr sz="3200" dirty="0">
                <a:latin typeface="Arial"/>
                <a:cs typeface="Arial"/>
              </a:rPr>
              <a:t>ser  executada </a:t>
            </a:r>
            <a:r>
              <a:rPr sz="3200" spc="-6" dirty="0">
                <a:latin typeface="Arial"/>
                <a:cs typeface="Arial"/>
              </a:rPr>
              <a:t>for uma </a:t>
            </a:r>
            <a:r>
              <a:rPr sz="3200" dirty="0">
                <a:latin typeface="Arial"/>
                <a:cs typeface="Arial"/>
              </a:rPr>
              <a:t>chamada de função, </a:t>
            </a:r>
            <a:r>
              <a:rPr sz="3200" spc="-6" dirty="0">
                <a:latin typeface="Arial"/>
                <a:cs typeface="Arial"/>
              </a:rPr>
              <a:t>a  execução é </a:t>
            </a:r>
            <a:r>
              <a:rPr sz="3200" dirty="0">
                <a:latin typeface="Arial"/>
                <a:cs typeface="Arial"/>
              </a:rPr>
              <a:t>desviada </a:t>
            </a:r>
            <a:r>
              <a:rPr sz="3200" spc="-6" dirty="0">
                <a:latin typeface="Arial"/>
                <a:cs typeface="Arial"/>
              </a:rPr>
              <a:t>para a</a:t>
            </a:r>
            <a:r>
              <a:rPr sz="3200" spc="2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função.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6"/>
              </a:spcBef>
            </a:pPr>
            <a:endParaRPr sz="4300">
              <a:latin typeface="Times New Roman"/>
              <a:cs typeface="Times New Roman"/>
            </a:endParaRPr>
          </a:p>
          <a:p>
            <a:pPr marL="14483" marR="6517" indent="562668" algn="just">
              <a:lnSpc>
                <a:spcPct val="90000"/>
              </a:lnSpc>
              <a:spcBef>
                <a:spcPts val="6"/>
              </a:spcBef>
            </a:pPr>
            <a:r>
              <a:rPr sz="3200" b="1" i="1" spc="-6" dirty="0">
                <a:latin typeface="Arial"/>
                <a:cs typeface="Arial"/>
              </a:rPr>
              <a:t>Step out </a:t>
            </a:r>
            <a:r>
              <a:rPr sz="3200" b="1" dirty="0">
                <a:latin typeface="Arial"/>
                <a:cs typeface="Arial"/>
              </a:rPr>
              <a:t>(Ctrl-F7): </a:t>
            </a:r>
            <a:r>
              <a:rPr sz="3200" spc="-6" dirty="0">
                <a:latin typeface="Arial"/>
                <a:cs typeface="Arial"/>
              </a:rPr>
              <a:t>a função em </a:t>
            </a:r>
            <a:r>
              <a:rPr sz="3200" dirty="0">
                <a:latin typeface="Arial"/>
                <a:cs typeface="Arial"/>
              </a:rPr>
              <a:t>execução </a:t>
            </a:r>
            <a:r>
              <a:rPr sz="3200" spc="-6" dirty="0">
                <a:latin typeface="Arial"/>
                <a:cs typeface="Arial"/>
              </a:rPr>
              <a:t>é  </a:t>
            </a:r>
            <a:r>
              <a:rPr sz="3200" dirty="0">
                <a:latin typeface="Arial"/>
                <a:cs typeface="Arial"/>
              </a:rPr>
              <a:t>interrompida. </a:t>
            </a:r>
            <a:r>
              <a:rPr sz="3200" spc="-6" dirty="0">
                <a:latin typeface="Arial"/>
                <a:cs typeface="Arial"/>
              </a:rPr>
              <a:t>O fluxo </a:t>
            </a:r>
            <a:r>
              <a:rPr sz="3200" dirty="0">
                <a:latin typeface="Arial"/>
                <a:cs typeface="Arial"/>
              </a:rPr>
              <a:t>retorna </a:t>
            </a:r>
            <a:r>
              <a:rPr sz="3200" spc="-6" dirty="0">
                <a:latin typeface="Arial"/>
                <a:cs typeface="Arial"/>
              </a:rPr>
              <a:t>para a </a:t>
            </a:r>
            <a:r>
              <a:rPr sz="3200" dirty="0">
                <a:latin typeface="Arial"/>
                <a:cs typeface="Arial"/>
              </a:rPr>
              <a:t>instrução  </a:t>
            </a:r>
            <a:r>
              <a:rPr sz="3200" spc="-6" dirty="0">
                <a:latin typeface="Arial"/>
                <a:cs typeface="Arial"/>
              </a:rPr>
              <a:t>seguinte à chamada da</a:t>
            </a:r>
            <a:r>
              <a:rPr sz="3200" spc="68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função.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6"/>
              </a:spcBef>
            </a:pPr>
            <a:endParaRPr sz="4000">
              <a:latin typeface="Times New Roman"/>
              <a:cs typeface="Times New Roman"/>
            </a:endParaRPr>
          </a:p>
          <a:p>
            <a:pPr marL="577151">
              <a:lnSpc>
                <a:spcPts val="3638"/>
              </a:lnSpc>
              <a:spcBef>
                <a:spcPts val="6"/>
              </a:spcBef>
              <a:tabLst>
                <a:tab pos="1698865" algn="l"/>
                <a:tab pos="3772118" algn="l"/>
                <a:tab pos="5910545" algn="l"/>
                <a:tab pos="6447143" algn="l"/>
                <a:tab pos="8317632" algn="l"/>
              </a:tabLst>
            </a:pPr>
            <a:r>
              <a:rPr sz="3200" b="1" i="1" spc="-6" dirty="0">
                <a:latin typeface="Arial"/>
                <a:cs typeface="Arial"/>
              </a:rPr>
              <a:t>Stop	d</a:t>
            </a:r>
            <a:r>
              <a:rPr sz="3200" b="1" i="1" dirty="0">
                <a:latin typeface="Arial"/>
                <a:cs typeface="Arial"/>
              </a:rPr>
              <a:t>e</a:t>
            </a:r>
            <a:r>
              <a:rPr sz="3200" b="1" i="1" spc="-6" dirty="0">
                <a:latin typeface="Arial"/>
                <a:cs typeface="Arial"/>
              </a:rPr>
              <a:t>bugg</a:t>
            </a:r>
            <a:r>
              <a:rPr sz="3200" b="1" i="1" dirty="0">
                <a:latin typeface="Arial"/>
                <a:cs typeface="Arial"/>
              </a:rPr>
              <a:t>e</a:t>
            </a:r>
            <a:r>
              <a:rPr sz="3200" b="1" i="1" spc="-6" dirty="0">
                <a:latin typeface="Arial"/>
                <a:cs typeface="Arial"/>
              </a:rPr>
              <a:t>r</a:t>
            </a:r>
            <a:r>
              <a:rPr sz="3200" b="1" i="1" dirty="0">
                <a:latin typeface="Arial"/>
                <a:cs typeface="Arial"/>
              </a:rPr>
              <a:t>	</a:t>
            </a:r>
            <a:r>
              <a:rPr sz="3200" b="1" spc="-6" dirty="0">
                <a:latin typeface="Arial"/>
                <a:cs typeface="Arial"/>
              </a:rPr>
              <a:t>(Shif</a:t>
            </a:r>
            <a:r>
              <a:rPr sz="3200" b="1" dirty="0">
                <a:latin typeface="Arial"/>
                <a:cs typeface="Arial"/>
              </a:rPr>
              <a:t>t</a:t>
            </a:r>
            <a:r>
              <a:rPr sz="3200" b="1" spc="-6" dirty="0">
                <a:latin typeface="Arial"/>
                <a:cs typeface="Arial"/>
              </a:rPr>
              <a:t>-</a:t>
            </a:r>
            <a:r>
              <a:rPr sz="3200" b="1" spc="-17" dirty="0">
                <a:latin typeface="Arial"/>
                <a:cs typeface="Arial"/>
              </a:rPr>
              <a:t>F</a:t>
            </a:r>
            <a:r>
              <a:rPr sz="3200" b="1" spc="-6" dirty="0">
                <a:latin typeface="Arial"/>
                <a:cs typeface="Arial"/>
              </a:rPr>
              <a:t>8):</a:t>
            </a:r>
            <a:r>
              <a:rPr sz="3200" b="1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O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processo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6" dirty="0"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  <a:p>
            <a:pPr marL="14483">
              <a:lnSpc>
                <a:spcPts val="3638"/>
              </a:lnSpc>
            </a:pPr>
            <a:r>
              <a:rPr sz="3200" i="1" spc="-6" dirty="0">
                <a:latin typeface="Arial"/>
                <a:cs typeface="Arial"/>
              </a:rPr>
              <a:t>debugging </a:t>
            </a:r>
            <a:r>
              <a:rPr sz="3200" spc="-6" dirty="0">
                <a:latin typeface="Arial"/>
                <a:cs typeface="Arial"/>
              </a:rPr>
              <a:t>é </a:t>
            </a:r>
            <a:r>
              <a:rPr sz="3200" dirty="0">
                <a:latin typeface="Arial"/>
                <a:cs typeface="Arial"/>
              </a:rPr>
              <a:t>finalizado.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Controle da</a:t>
            </a:r>
            <a:r>
              <a:rPr spc="-29" dirty="0"/>
              <a:t> </a:t>
            </a:r>
            <a:r>
              <a:rPr spc="-6" dirty="0"/>
              <a:t>execução</a:t>
            </a:r>
          </a:p>
        </p:txBody>
      </p:sp>
      <p:sp>
        <p:nvSpPr>
          <p:cNvPr id="4" name="object 4"/>
          <p:cNvSpPr/>
          <p:nvPr/>
        </p:nvSpPr>
        <p:spPr>
          <a:xfrm>
            <a:off x="715179" y="1556611"/>
            <a:ext cx="479227" cy="4091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15180" y="3394171"/>
            <a:ext cx="491316" cy="4007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81316" y="5285814"/>
            <a:ext cx="413091" cy="4271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121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003195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32969"/>
            <a:ext cx="9008446" cy="1329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5793" indent="-391043" algn="just">
              <a:lnSpc>
                <a:spcPct val="90000"/>
              </a:lnSpc>
              <a:buClr>
                <a:srgbClr val="852B34"/>
              </a:buClr>
              <a:buSzPct val="69642"/>
              <a:buChar char="•"/>
              <a:tabLst>
                <a:tab pos="405526" algn="l"/>
              </a:tabLst>
            </a:pPr>
            <a:r>
              <a:rPr sz="3200" spc="-6" dirty="0">
                <a:latin typeface="Arial"/>
                <a:cs typeface="Arial"/>
              </a:rPr>
              <a:t>A seguir, o algoritmo </a:t>
            </a:r>
            <a:r>
              <a:rPr sz="3200" dirty="0">
                <a:latin typeface="Arial"/>
                <a:cs typeface="Arial"/>
              </a:rPr>
              <a:t>descrito anteriormente  </a:t>
            </a:r>
            <a:r>
              <a:rPr sz="3200" spc="-6" dirty="0">
                <a:latin typeface="Arial"/>
                <a:cs typeface="Arial"/>
              </a:rPr>
              <a:t>será </a:t>
            </a:r>
            <a:r>
              <a:rPr sz="3200" dirty="0">
                <a:latin typeface="Arial"/>
                <a:cs typeface="Arial"/>
              </a:rPr>
              <a:t>executado </a:t>
            </a:r>
            <a:r>
              <a:rPr sz="3200" spc="-6" dirty="0">
                <a:latin typeface="Arial"/>
                <a:cs typeface="Arial"/>
              </a:rPr>
              <a:t>passo-a-passo por meio do  comando </a:t>
            </a:r>
            <a:r>
              <a:rPr sz="3200" i="1" spc="-6" dirty="0">
                <a:latin typeface="Arial"/>
                <a:cs typeface="Arial"/>
              </a:rPr>
              <a:t>Next line </a:t>
            </a:r>
            <a:r>
              <a:rPr sz="3200" spc="-6" dirty="0">
                <a:latin typeface="Arial"/>
                <a:cs typeface="Arial"/>
              </a:rPr>
              <a:t>(F7)     </a:t>
            </a:r>
            <a:r>
              <a:rPr sz="3200" spc="86" dirty="0">
                <a:latin typeface="Arial"/>
                <a:cs typeface="Arial"/>
              </a:rPr>
              <a:t> </a:t>
            </a:r>
            <a:r>
              <a:rPr sz="3200" spc="-6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682876" y="196850"/>
            <a:ext cx="908939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473075" y="2667500"/>
            <a:ext cx="7832173" cy="47121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97447" y="2032698"/>
            <a:ext cx="607177" cy="4759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122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662822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40806"/>
            <a:ext cx="9008446" cy="2013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7242" indent="-391043" algn="just">
              <a:lnSpc>
                <a:spcPts val="2954"/>
              </a:lnSpc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As linhas em destaque indicam as instruções </a:t>
            </a:r>
            <a:r>
              <a:rPr sz="2700" spc="-11" dirty="0">
                <a:latin typeface="Arial"/>
                <a:cs typeface="Arial"/>
              </a:rPr>
              <a:t>que  </a:t>
            </a:r>
            <a:r>
              <a:rPr sz="2700" spc="-6" dirty="0">
                <a:latin typeface="Arial"/>
                <a:cs typeface="Arial"/>
              </a:rPr>
              <a:t>serão executadas na</a:t>
            </a:r>
            <a:r>
              <a:rPr sz="2700" spc="34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sequência.</a:t>
            </a:r>
            <a:endParaRPr sz="2700">
              <a:latin typeface="Arial"/>
              <a:cs typeface="Arial"/>
            </a:endParaRPr>
          </a:p>
          <a:p>
            <a:pPr marL="405526" marR="5793" indent="-391043" algn="just">
              <a:lnSpc>
                <a:spcPts val="2954"/>
              </a:lnSpc>
              <a:spcBef>
                <a:spcPts val="661"/>
              </a:spcBef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Assim, em </a:t>
            </a:r>
            <a:r>
              <a:rPr sz="2700" i="1" spc="-6" dirty="0">
                <a:latin typeface="Arial"/>
                <a:cs typeface="Arial"/>
              </a:rPr>
              <a:t>Watches </a:t>
            </a:r>
            <a:r>
              <a:rPr sz="2700" spc="-6" dirty="0">
                <a:latin typeface="Arial"/>
                <a:cs typeface="Arial"/>
              </a:rPr>
              <a:t>e na tela de </a:t>
            </a:r>
            <a:r>
              <a:rPr sz="2700" dirty="0">
                <a:latin typeface="Arial"/>
                <a:cs typeface="Arial"/>
              </a:rPr>
              <a:t>impressão </a:t>
            </a:r>
            <a:r>
              <a:rPr sz="2700" spc="-11" dirty="0">
                <a:latin typeface="Arial"/>
                <a:cs typeface="Arial"/>
              </a:rPr>
              <a:t>os  </a:t>
            </a:r>
            <a:r>
              <a:rPr sz="2700" spc="-6" dirty="0">
                <a:latin typeface="Arial"/>
                <a:cs typeface="Arial"/>
              </a:rPr>
              <a:t>conteúdos </a:t>
            </a:r>
            <a:r>
              <a:rPr sz="2700" dirty="0">
                <a:latin typeface="Arial"/>
                <a:cs typeface="Arial"/>
              </a:rPr>
              <a:t>exibidos </a:t>
            </a:r>
            <a:r>
              <a:rPr sz="2700" spc="-6" dirty="0">
                <a:latin typeface="Arial"/>
                <a:cs typeface="Arial"/>
              </a:rPr>
              <a:t>se referem à última execução </a:t>
            </a:r>
            <a:r>
              <a:rPr sz="2700" dirty="0">
                <a:latin typeface="Arial"/>
                <a:cs typeface="Arial"/>
              </a:rPr>
              <a:t>do  </a:t>
            </a:r>
            <a:r>
              <a:rPr sz="2700" spc="-6" dirty="0">
                <a:latin typeface="Arial"/>
                <a:cs typeface="Arial"/>
              </a:rPr>
              <a:t>algoritmo realizada pelo</a:t>
            </a:r>
            <a:r>
              <a:rPr sz="2700" spc="68" dirty="0">
                <a:latin typeface="Arial"/>
                <a:cs typeface="Arial"/>
              </a:rPr>
              <a:t> </a:t>
            </a:r>
            <a:r>
              <a:rPr sz="2700" i="1" spc="-6" dirty="0">
                <a:latin typeface="Arial"/>
                <a:cs typeface="Arial"/>
              </a:rPr>
              <a:t>debugger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2461265" y="3302135"/>
            <a:ext cx="6283262" cy="40465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12587" y="5007439"/>
            <a:ext cx="1295684" cy="283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62490" y="5079788"/>
            <a:ext cx="1095331" cy="94456"/>
          </a:xfrm>
          <a:custGeom>
            <a:avLst/>
            <a:gdLst/>
            <a:ahLst/>
            <a:cxnLst/>
            <a:rect l="l" t="t" r="r" b="b"/>
            <a:pathLst>
              <a:path w="936625" h="85725">
                <a:moveTo>
                  <a:pt x="850392" y="0"/>
                </a:moveTo>
                <a:lnTo>
                  <a:pt x="850392" y="85725"/>
                </a:lnTo>
                <a:lnTo>
                  <a:pt x="907626" y="57150"/>
                </a:lnTo>
                <a:lnTo>
                  <a:pt x="864743" y="57150"/>
                </a:lnTo>
                <a:lnTo>
                  <a:pt x="864743" y="28575"/>
                </a:lnTo>
                <a:lnTo>
                  <a:pt x="907457" y="28575"/>
                </a:lnTo>
                <a:lnTo>
                  <a:pt x="850392" y="0"/>
                </a:lnTo>
                <a:close/>
              </a:path>
              <a:path w="936625" h="85725">
                <a:moveTo>
                  <a:pt x="850392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850392" y="57150"/>
                </a:lnTo>
                <a:lnTo>
                  <a:pt x="850392" y="28575"/>
                </a:lnTo>
                <a:close/>
              </a:path>
              <a:path w="936625" h="85725">
                <a:moveTo>
                  <a:pt x="907457" y="28575"/>
                </a:moveTo>
                <a:lnTo>
                  <a:pt x="864743" y="28575"/>
                </a:lnTo>
                <a:lnTo>
                  <a:pt x="864743" y="57150"/>
                </a:lnTo>
                <a:lnTo>
                  <a:pt x="907626" y="57150"/>
                </a:lnTo>
                <a:lnTo>
                  <a:pt x="936117" y="42925"/>
                </a:lnTo>
                <a:lnTo>
                  <a:pt x="907457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46699" y="4918190"/>
            <a:ext cx="2189918" cy="537779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8" rIns="0" bIns="0" rtlCol="0">
            <a:spAutoFit/>
          </a:bodyPr>
          <a:lstStyle/>
          <a:p>
            <a:pPr marL="304145" marR="296903" indent="95588">
              <a:spcBef>
                <a:spcPts val="354"/>
              </a:spcBef>
            </a:pPr>
            <a:r>
              <a:rPr sz="1600" b="1" dirty="0">
                <a:latin typeface="Arial"/>
                <a:cs typeface="Arial"/>
              </a:rPr>
              <a:t>Próxima </a:t>
            </a:r>
            <a:r>
              <a:rPr sz="1600" b="1" spc="-6" dirty="0">
                <a:latin typeface="Arial"/>
                <a:cs typeface="Arial"/>
              </a:rPr>
              <a:t>linha  </a:t>
            </a:r>
            <a:r>
              <a:rPr sz="1600" b="1" dirty="0">
                <a:latin typeface="Arial"/>
                <a:cs typeface="Arial"/>
              </a:rPr>
              <a:t>a ser</a:t>
            </a:r>
            <a:r>
              <a:rPr sz="1600" b="1" spc="-86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executada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01531" y="5020873"/>
            <a:ext cx="4099135" cy="2636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57225" y="5047743"/>
            <a:ext cx="3987747" cy="158826"/>
          </a:xfrm>
          <a:custGeom>
            <a:avLst/>
            <a:gdLst/>
            <a:ahLst/>
            <a:cxnLst/>
            <a:rect l="l" t="t" r="r" b="b"/>
            <a:pathLst>
              <a:path w="3409950" h="144145">
                <a:moveTo>
                  <a:pt x="0" y="144017"/>
                </a:moveTo>
                <a:lnTo>
                  <a:pt x="3409568" y="144017"/>
                </a:lnTo>
                <a:lnTo>
                  <a:pt x="3409568" y="0"/>
                </a:lnTo>
                <a:lnTo>
                  <a:pt x="0" y="0"/>
                </a:lnTo>
                <a:lnTo>
                  <a:pt x="0" y="14401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123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57233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348" y="1240806"/>
            <a:ext cx="9008446" cy="2013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5526" marR="7242" indent="-391043" algn="just">
              <a:lnSpc>
                <a:spcPts val="2954"/>
              </a:lnSpc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As linhas em destaque indicam as instruções </a:t>
            </a:r>
            <a:r>
              <a:rPr sz="2700" spc="-11" dirty="0">
                <a:latin typeface="Arial"/>
                <a:cs typeface="Arial"/>
              </a:rPr>
              <a:t>que  </a:t>
            </a:r>
            <a:r>
              <a:rPr sz="2700" spc="-6" dirty="0">
                <a:latin typeface="Arial"/>
                <a:cs typeface="Arial"/>
              </a:rPr>
              <a:t>serão executadas na</a:t>
            </a:r>
            <a:r>
              <a:rPr sz="2700" spc="34" dirty="0">
                <a:latin typeface="Arial"/>
                <a:cs typeface="Arial"/>
              </a:rPr>
              <a:t> </a:t>
            </a:r>
            <a:r>
              <a:rPr sz="2700" spc="-6" dirty="0">
                <a:latin typeface="Arial"/>
                <a:cs typeface="Arial"/>
              </a:rPr>
              <a:t>sequência.</a:t>
            </a:r>
            <a:endParaRPr sz="2700">
              <a:latin typeface="Arial"/>
              <a:cs typeface="Arial"/>
            </a:endParaRPr>
          </a:p>
          <a:p>
            <a:pPr marL="405526" marR="5793" indent="-391043" algn="just">
              <a:lnSpc>
                <a:spcPts val="2954"/>
              </a:lnSpc>
              <a:spcBef>
                <a:spcPts val="661"/>
              </a:spcBef>
              <a:buClr>
                <a:srgbClr val="852B34"/>
              </a:buClr>
              <a:buSzPct val="68750"/>
              <a:buChar char="•"/>
              <a:tabLst>
                <a:tab pos="405526" algn="l"/>
              </a:tabLst>
            </a:pPr>
            <a:r>
              <a:rPr sz="2700" spc="-6" dirty="0">
                <a:latin typeface="Arial"/>
                <a:cs typeface="Arial"/>
              </a:rPr>
              <a:t>Assim, em </a:t>
            </a:r>
            <a:r>
              <a:rPr sz="2700" i="1" spc="-6" dirty="0">
                <a:latin typeface="Arial"/>
                <a:cs typeface="Arial"/>
              </a:rPr>
              <a:t>Watches </a:t>
            </a:r>
            <a:r>
              <a:rPr sz="2700" spc="-6" dirty="0">
                <a:latin typeface="Arial"/>
                <a:cs typeface="Arial"/>
              </a:rPr>
              <a:t>e na tela de </a:t>
            </a:r>
            <a:r>
              <a:rPr sz="2700" dirty="0">
                <a:latin typeface="Arial"/>
                <a:cs typeface="Arial"/>
              </a:rPr>
              <a:t>impressão </a:t>
            </a:r>
            <a:r>
              <a:rPr sz="2700" spc="-11" dirty="0">
                <a:latin typeface="Arial"/>
                <a:cs typeface="Arial"/>
              </a:rPr>
              <a:t>os  </a:t>
            </a:r>
            <a:r>
              <a:rPr sz="2700" spc="-6" dirty="0">
                <a:latin typeface="Arial"/>
                <a:cs typeface="Arial"/>
              </a:rPr>
              <a:t>conteúdos </a:t>
            </a:r>
            <a:r>
              <a:rPr sz="2700" dirty="0">
                <a:latin typeface="Arial"/>
                <a:cs typeface="Arial"/>
              </a:rPr>
              <a:t>exibidos </a:t>
            </a:r>
            <a:r>
              <a:rPr sz="2700" spc="-6" dirty="0">
                <a:latin typeface="Arial"/>
                <a:cs typeface="Arial"/>
              </a:rPr>
              <a:t>se referem à última execução </a:t>
            </a:r>
            <a:r>
              <a:rPr sz="2700" dirty="0">
                <a:latin typeface="Arial"/>
                <a:cs typeface="Arial"/>
              </a:rPr>
              <a:t>do  </a:t>
            </a:r>
            <a:r>
              <a:rPr sz="2700" spc="-6" dirty="0">
                <a:latin typeface="Arial"/>
                <a:cs typeface="Arial"/>
              </a:rPr>
              <a:t>algoritmo realizada pelo</a:t>
            </a:r>
            <a:r>
              <a:rPr sz="2700" spc="68" dirty="0">
                <a:latin typeface="Arial"/>
                <a:cs typeface="Arial"/>
              </a:rPr>
              <a:t> </a:t>
            </a:r>
            <a:r>
              <a:rPr sz="2700" i="1" spc="-6" dirty="0">
                <a:latin typeface="Arial"/>
                <a:cs typeface="Arial"/>
              </a:rPr>
              <a:t>debugger</a:t>
            </a:r>
            <a:r>
              <a:rPr sz="2700" spc="-6" dirty="0"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2461265" y="3302135"/>
            <a:ext cx="6283262" cy="40465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43469" y="4382771"/>
            <a:ext cx="1620049" cy="6901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94960" y="4408377"/>
            <a:ext cx="1419846" cy="512163"/>
          </a:xfrm>
          <a:custGeom>
            <a:avLst/>
            <a:gdLst/>
            <a:ahLst/>
            <a:cxnLst/>
            <a:rect l="l" t="t" r="r" b="b"/>
            <a:pathLst>
              <a:path w="1214120" h="464820">
                <a:moveTo>
                  <a:pt x="65786" y="384175"/>
                </a:moveTo>
                <a:lnTo>
                  <a:pt x="0" y="453771"/>
                </a:lnTo>
                <a:lnTo>
                  <a:pt x="95123" y="464693"/>
                </a:lnTo>
                <a:lnTo>
                  <a:pt x="87117" y="442722"/>
                </a:lnTo>
                <a:lnTo>
                  <a:pt x="72009" y="442722"/>
                </a:lnTo>
                <a:lnTo>
                  <a:pt x="62230" y="415925"/>
                </a:lnTo>
                <a:lnTo>
                  <a:pt x="75581" y="411060"/>
                </a:lnTo>
                <a:lnTo>
                  <a:pt x="65786" y="384175"/>
                </a:lnTo>
                <a:close/>
              </a:path>
              <a:path w="1214120" h="464820">
                <a:moveTo>
                  <a:pt x="75581" y="411060"/>
                </a:moveTo>
                <a:lnTo>
                  <a:pt x="62230" y="415925"/>
                </a:lnTo>
                <a:lnTo>
                  <a:pt x="72009" y="442722"/>
                </a:lnTo>
                <a:lnTo>
                  <a:pt x="85347" y="437863"/>
                </a:lnTo>
                <a:lnTo>
                  <a:pt x="75581" y="411060"/>
                </a:lnTo>
                <a:close/>
              </a:path>
              <a:path w="1214120" h="464820">
                <a:moveTo>
                  <a:pt x="85347" y="437863"/>
                </a:moveTo>
                <a:lnTo>
                  <a:pt x="72009" y="442722"/>
                </a:lnTo>
                <a:lnTo>
                  <a:pt x="87117" y="442722"/>
                </a:lnTo>
                <a:lnTo>
                  <a:pt x="85347" y="437863"/>
                </a:lnTo>
                <a:close/>
              </a:path>
              <a:path w="1214120" h="464820">
                <a:moveTo>
                  <a:pt x="1203833" y="0"/>
                </a:moveTo>
                <a:lnTo>
                  <a:pt x="75581" y="411060"/>
                </a:lnTo>
                <a:lnTo>
                  <a:pt x="85347" y="437863"/>
                </a:lnTo>
                <a:lnTo>
                  <a:pt x="1213612" y="26924"/>
                </a:lnTo>
                <a:lnTo>
                  <a:pt x="120383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937083" y="3875323"/>
            <a:ext cx="2189918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8" rIns="0" bIns="0" rtlCol="0">
            <a:spAutoFit/>
          </a:bodyPr>
          <a:lstStyle/>
          <a:p>
            <a:pPr marL="157141" marR="147726" indent="79657" algn="just">
              <a:spcBef>
                <a:spcPts val="354"/>
              </a:spcBef>
            </a:pPr>
            <a:r>
              <a:rPr sz="1600" b="1" spc="-17" dirty="0">
                <a:latin typeface="Arial"/>
                <a:cs typeface="Arial"/>
              </a:rPr>
              <a:t>Vetor </a:t>
            </a:r>
            <a:r>
              <a:rPr sz="1600" b="1" spc="-6" dirty="0">
                <a:latin typeface="Arial"/>
                <a:cs typeface="Arial"/>
              </a:rPr>
              <a:t>inicializado  pela </a:t>
            </a:r>
            <a:r>
              <a:rPr sz="1600" b="1" dirty="0">
                <a:latin typeface="Arial"/>
                <a:cs typeface="Arial"/>
              </a:rPr>
              <a:t>última </a:t>
            </a:r>
            <a:r>
              <a:rPr sz="1600" b="1" spc="-6" dirty="0">
                <a:latin typeface="Arial"/>
                <a:cs typeface="Arial"/>
              </a:rPr>
              <a:t>linha  executada (linha</a:t>
            </a:r>
            <a:r>
              <a:rPr sz="1600" b="1" spc="-1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5)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75744" y="4552371"/>
            <a:ext cx="283374" cy="7556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25646" y="4590992"/>
            <a:ext cx="169312" cy="635306"/>
          </a:xfrm>
          <a:custGeom>
            <a:avLst/>
            <a:gdLst/>
            <a:ahLst/>
            <a:cxnLst/>
            <a:rect l="l" t="t" r="r" b="b"/>
            <a:pathLst>
              <a:path w="144780" h="576579">
                <a:moveTo>
                  <a:pt x="0" y="0"/>
                </a:moveTo>
                <a:lnTo>
                  <a:pt x="28188" y="938"/>
                </a:lnTo>
                <a:lnTo>
                  <a:pt x="51196" y="3508"/>
                </a:lnTo>
                <a:lnTo>
                  <a:pt x="66704" y="7340"/>
                </a:lnTo>
                <a:lnTo>
                  <a:pt x="72390" y="12064"/>
                </a:lnTo>
                <a:lnTo>
                  <a:pt x="72390" y="275970"/>
                </a:lnTo>
                <a:lnTo>
                  <a:pt x="78075" y="280642"/>
                </a:lnTo>
                <a:lnTo>
                  <a:pt x="93583" y="284479"/>
                </a:lnTo>
                <a:lnTo>
                  <a:pt x="116591" y="287079"/>
                </a:lnTo>
                <a:lnTo>
                  <a:pt x="144780" y="288035"/>
                </a:lnTo>
                <a:lnTo>
                  <a:pt x="116591" y="288974"/>
                </a:lnTo>
                <a:lnTo>
                  <a:pt x="93583" y="291544"/>
                </a:lnTo>
                <a:lnTo>
                  <a:pt x="78075" y="295376"/>
                </a:lnTo>
                <a:lnTo>
                  <a:pt x="72390" y="300100"/>
                </a:lnTo>
                <a:lnTo>
                  <a:pt x="72390" y="564006"/>
                </a:lnTo>
                <a:lnTo>
                  <a:pt x="66704" y="568678"/>
                </a:lnTo>
                <a:lnTo>
                  <a:pt x="51196" y="572515"/>
                </a:lnTo>
                <a:lnTo>
                  <a:pt x="28188" y="575115"/>
                </a:lnTo>
                <a:lnTo>
                  <a:pt x="0" y="576071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01531" y="5020873"/>
            <a:ext cx="4099135" cy="2636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757225" y="5047743"/>
            <a:ext cx="3987747" cy="158826"/>
          </a:xfrm>
          <a:custGeom>
            <a:avLst/>
            <a:gdLst/>
            <a:ahLst/>
            <a:cxnLst/>
            <a:rect l="l" t="t" r="r" b="b"/>
            <a:pathLst>
              <a:path w="3409950" h="144145">
                <a:moveTo>
                  <a:pt x="0" y="144017"/>
                </a:moveTo>
                <a:lnTo>
                  <a:pt x="3409568" y="144017"/>
                </a:lnTo>
                <a:lnTo>
                  <a:pt x="3409568" y="0"/>
                </a:lnTo>
                <a:lnTo>
                  <a:pt x="0" y="0"/>
                </a:lnTo>
                <a:lnTo>
                  <a:pt x="0" y="14401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124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741864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8" y="1080608"/>
            <a:ext cx="9725647" cy="626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661040" y="3523007"/>
            <a:ext cx="2573545" cy="283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11836" y="3595495"/>
            <a:ext cx="2371854" cy="94456"/>
          </a:xfrm>
          <a:custGeom>
            <a:avLst/>
            <a:gdLst/>
            <a:ahLst/>
            <a:cxnLst/>
            <a:rect l="l" t="t" r="r" b="b"/>
            <a:pathLst>
              <a:path w="2028189" h="85725">
                <a:moveTo>
                  <a:pt x="1942338" y="0"/>
                </a:moveTo>
                <a:lnTo>
                  <a:pt x="1942338" y="85725"/>
                </a:lnTo>
                <a:lnTo>
                  <a:pt x="1999572" y="57150"/>
                </a:lnTo>
                <a:lnTo>
                  <a:pt x="1956689" y="57150"/>
                </a:lnTo>
                <a:lnTo>
                  <a:pt x="1956689" y="28575"/>
                </a:lnTo>
                <a:lnTo>
                  <a:pt x="1999403" y="28575"/>
                </a:lnTo>
                <a:lnTo>
                  <a:pt x="1942338" y="0"/>
                </a:lnTo>
                <a:close/>
              </a:path>
              <a:path w="2028189" h="85725">
                <a:moveTo>
                  <a:pt x="1942338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1942338" y="57150"/>
                </a:lnTo>
                <a:lnTo>
                  <a:pt x="1942338" y="28575"/>
                </a:lnTo>
                <a:close/>
              </a:path>
              <a:path w="2028189" h="85725">
                <a:moveTo>
                  <a:pt x="1999403" y="28575"/>
                </a:moveTo>
                <a:lnTo>
                  <a:pt x="1956689" y="28575"/>
                </a:lnTo>
                <a:lnTo>
                  <a:pt x="1956689" y="57150"/>
                </a:lnTo>
                <a:lnTo>
                  <a:pt x="1999572" y="57150"/>
                </a:lnTo>
                <a:lnTo>
                  <a:pt x="2028063" y="42925"/>
                </a:lnTo>
                <a:lnTo>
                  <a:pt x="1999403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93223" y="3201661"/>
            <a:ext cx="2209227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175969">
              <a:spcBef>
                <a:spcPts val="352"/>
              </a:spcBef>
            </a:pPr>
            <a:r>
              <a:rPr sz="1600" b="1" dirty="0">
                <a:latin typeface="Arial"/>
                <a:cs typeface="Arial"/>
              </a:rPr>
              <a:t>Início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71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execução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27847" y="3512932"/>
            <a:ext cx="6241381" cy="3425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83543" y="3540221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125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419387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8" y="1080608"/>
            <a:ext cx="9725647" cy="626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6188806" y="4809698"/>
            <a:ext cx="1852780" cy="407211"/>
          </a:xfrm>
          <a:custGeom>
            <a:avLst/>
            <a:gdLst/>
            <a:ahLst/>
            <a:cxnLst/>
            <a:rect l="l" t="t" r="r" b="b"/>
            <a:pathLst>
              <a:path w="1584325" h="369570">
                <a:moveTo>
                  <a:pt x="0" y="369328"/>
                </a:moveTo>
                <a:lnTo>
                  <a:pt x="1584197" y="369328"/>
                </a:lnTo>
                <a:lnTo>
                  <a:pt x="1584197" y="0"/>
                </a:lnTo>
                <a:lnTo>
                  <a:pt x="0" y="0"/>
                </a:lnTo>
                <a:lnTo>
                  <a:pt x="0" y="369328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88806" y="4809698"/>
            <a:ext cx="1852780" cy="407211"/>
          </a:xfrm>
          <a:custGeom>
            <a:avLst/>
            <a:gdLst/>
            <a:ahLst/>
            <a:cxnLst/>
            <a:rect l="l" t="t" r="r" b="b"/>
            <a:pathLst>
              <a:path w="1584325" h="369570">
                <a:moveTo>
                  <a:pt x="0" y="369328"/>
                </a:moveTo>
                <a:lnTo>
                  <a:pt x="1584197" y="369328"/>
                </a:lnTo>
                <a:lnTo>
                  <a:pt x="1584197" y="0"/>
                </a:lnTo>
                <a:lnTo>
                  <a:pt x="0" y="0"/>
                </a:lnTo>
                <a:lnTo>
                  <a:pt x="0" y="369328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28859" y="4854631"/>
            <a:ext cx="1573564" cy="323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z="2100" b="1" spc="-6" dirty="0">
                <a:latin typeface="Arial"/>
                <a:cs typeface="Arial"/>
              </a:rPr>
              <a:t>Breakpoints</a:t>
            </a:r>
            <a:endParaRPr sz="21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48453" y="3826948"/>
            <a:ext cx="2721470" cy="10646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88806" y="3926441"/>
            <a:ext cx="2531514" cy="896983"/>
          </a:xfrm>
          <a:custGeom>
            <a:avLst/>
            <a:gdLst/>
            <a:ahLst/>
            <a:cxnLst/>
            <a:rect l="l" t="t" r="r" b="b"/>
            <a:pathLst>
              <a:path w="2164715" h="814070">
                <a:moveTo>
                  <a:pt x="75954" y="23811"/>
                </a:moveTo>
                <a:lnTo>
                  <a:pt x="67177" y="47682"/>
                </a:lnTo>
                <a:lnTo>
                  <a:pt x="2155825" y="813562"/>
                </a:lnTo>
                <a:lnTo>
                  <a:pt x="2164588" y="789686"/>
                </a:lnTo>
                <a:lnTo>
                  <a:pt x="75954" y="23811"/>
                </a:lnTo>
                <a:close/>
              </a:path>
              <a:path w="2164715" h="814070">
                <a:moveTo>
                  <a:pt x="84708" y="0"/>
                </a:moveTo>
                <a:lnTo>
                  <a:pt x="0" y="9525"/>
                </a:lnTo>
                <a:lnTo>
                  <a:pt x="58419" y="71501"/>
                </a:lnTo>
                <a:lnTo>
                  <a:pt x="67177" y="47682"/>
                </a:lnTo>
                <a:lnTo>
                  <a:pt x="55244" y="43307"/>
                </a:lnTo>
                <a:lnTo>
                  <a:pt x="64007" y="19431"/>
                </a:lnTo>
                <a:lnTo>
                  <a:pt x="77564" y="19431"/>
                </a:lnTo>
                <a:lnTo>
                  <a:pt x="84708" y="0"/>
                </a:lnTo>
                <a:close/>
              </a:path>
              <a:path w="2164715" h="814070">
                <a:moveTo>
                  <a:pt x="64007" y="19431"/>
                </a:moveTo>
                <a:lnTo>
                  <a:pt x="55244" y="43307"/>
                </a:lnTo>
                <a:lnTo>
                  <a:pt x="67177" y="47682"/>
                </a:lnTo>
                <a:lnTo>
                  <a:pt x="75954" y="23811"/>
                </a:lnTo>
                <a:lnTo>
                  <a:pt x="64007" y="19431"/>
                </a:lnTo>
                <a:close/>
              </a:path>
              <a:path w="2164715" h="814070">
                <a:moveTo>
                  <a:pt x="77564" y="19431"/>
                </a:moveTo>
                <a:lnTo>
                  <a:pt x="64007" y="19431"/>
                </a:lnTo>
                <a:lnTo>
                  <a:pt x="75954" y="23811"/>
                </a:lnTo>
                <a:lnTo>
                  <a:pt x="77564" y="1943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48454" y="4263544"/>
            <a:ext cx="1796490" cy="8312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88806" y="4367516"/>
            <a:ext cx="1606238" cy="659095"/>
          </a:xfrm>
          <a:custGeom>
            <a:avLst/>
            <a:gdLst/>
            <a:ahLst/>
            <a:cxnLst/>
            <a:rect l="l" t="t" r="r" b="b"/>
            <a:pathLst>
              <a:path w="1373504" h="598170">
                <a:moveTo>
                  <a:pt x="75126" y="23403"/>
                </a:moveTo>
                <a:lnTo>
                  <a:pt x="65184" y="46756"/>
                </a:lnTo>
                <a:lnTo>
                  <a:pt x="1363217" y="597661"/>
                </a:lnTo>
                <a:lnTo>
                  <a:pt x="1373123" y="574294"/>
                </a:lnTo>
                <a:lnTo>
                  <a:pt x="75126" y="23403"/>
                </a:lnTo>
                <a:close/>
              </a:path>
              <a:path w="1373504" h="598170">
                <a:moveTo>
                  <a:pt x="85089" y="0"/>
                </a:moveTo>
                <a:lnTo>
                  <a:pt x="0" y="5206"/>
                </a:lnTo>
                <a:lnTo>
                  <a:pt x="55244" y="70103"/>
                </a:lnTo>
                <a:lnTo>
                  <a:pt x="65184" y="46756"/>
                </a:lnTo>
                <a:lnTo>
                  <a:pt x="53466" y="41782"/>
                </a:lnTo>
                <a:lnTo>
                  <a:pt x="63372" y="18414"/>
                </a:lnTo>
                <a:lnTo>
                  <a:pt x="77250" y="18414"/>
                </a:lnTo>
                <a:lnTo>
                  <a:pt x="85089" y="0"/>
                </a:lnTo>
                <a:close/>
              </a:path>
              <a:path w="1373504" h="598170">
                <a:moveTo>
                  <a:pt x="63372" y="18414"/>
                </a:moveTo>
                <a:lnTo>
                  <a:pt x="53466" y="41782"/>
                </a:lnTo>
                <a:lnTo>
                  <a:pt x="65184" y="46756"/>
                </a:lnTo>
                <a:lnTo>
                  <a:pt x="75126" y="23403"/>
                </a:lnTo>
                <a:lnTo>
                  <a:pt x="63372" y="18414"/>
                </a:lnTo>
                <a:close/>
              </a:path>
              <a:path w="1373504" h="598170">
                <a:moveTo>
                  <a:pt x="77250" y="18414"/>
                </a:moveTo>
                <a:lnTo>
                  <a:pt x="63372" y="18414"/>
                </a:lnTo>
                <a:lnTo>
                  <a:pt x="75126" y="23403"/>
                </a:lnTo>
                <a:lnTo>
                  <a:pt x="77250" y="1841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48454" y="4543976"/>
            <a:ext cx="1709161" cy="5524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88805" y="4633393"/>
            <a:ext cx="1519354" cy="393918"/>
          </a:xfrm>
          <a:custGeom>
            <a:avLst/>
            <a:gdLst/>
            <a:ahLst/>
            <a:cxnLst/>
            <a:rect l="l" t="t" r="r" b="b"/>
            <a:pathLst>
              <a:path w="1299210" h="357504">
                <a:moveTo>
                  <a:pt x="77018" y="24579"/>
                </a:moveTo>
                <a:lnTo>
                  <a:pt x="70843" y="49197"/>
                </a:lnTo>
                <a:lnTo>
                  <a:pt x="1293114" y="356996"/>
                </a:lnTo>
                <a:lnTo>
                  <a:pt x="1299209" y="332358"/>
                </a:lnTo>
                <a:lnTo>
                  <a:pt x="77018" y="24579"/>
                </a:lnTo>
                <a:close/>
              </a:path>
              <a:path w="1299210" h="357504">
                <a:moveTo>
                  <a:pt x="83184" y="0"/>
                </a:moveTo>
                <a:lnTo>
                  <a:pt x="0" y="18287"/>
                </a:lnTo>
                <a:lnTo>
                  <a:pt x="64642" y="73913"/>
                </a:lnTo>
                <a:lnTo>
                  <a:pt x="70843" y="49197"/>
                </a:lnTo>
                <a:lnTo>
                  <a:pt x="58546" y="46100"/>
                </a:lnTo>
                <a:lnTo>
                  <a:pt x="64642" y="21462"/>
                </a:lnTo>
                <a:lnTo>
                  <a:pt x="77800" y="21462"/>
                </a:lnTo>
                <a:lnTo>
                  <a:pt x="83184" y="0"/>
                </a:lnTo>
                <a:close/>
              </a:path>
              <a:path w="1299210" h="357504">
                <a:moveTo>
                  <a:pt x="64642" y="21462"/>
                </a:moveTo>
                <a:lnTo>
                  <a:pt x="58546" y="46100"/>
                </a:lnTo>
                <a:lnTo>
                  <a:pt x="70843" y="49197"/>
                </a:lnTo>
                <a:lnTo>
                  <a:pt x="77018" y="24579"/>
                </a:lnTo>
                <a:lnTo>
                  <a:pt x="64642" y="21462"/>
                </a:lnTo>
                <a:close/>
              </a:path>
              <a:path w="1299210" h="357504">
                <a:moveTo>
                  <a:pt x="77800" y="21462"/>
                </a:moveTo>
                <a:lnTo>
                  <a:pt x="64642" y="21462"/>
                </a:lnTo>
                <a:lnTo>
                  <a:pt x="77018" y="24579"/>
                </a:lnTo>
                <a:lnTo>
                  <a:pt x="77800" y="2146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48453" y="4779065"/>
            <a:ext cx="1791145" cy="31737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88806" y="4854072"/>
            <a:ext cx="1601782" cy="173520"/>
          </a:xfrm>
          <a:custGeom>
            <a:avLst/>
            <a:gdLst/>
            <a:ahLst/>
            <a:cxnLst/>
            <a:rect l="l" t="t" r="r" b="b"/>
            <a:pathLst>
              <a:path w="1369695" h="157479">
                <a:moveTo>
                  <a:pt x="77005" y="25295"/>
                </a:moveTo>
                <a:lnTo>
                  <a:pt x="74881" y="50698"/>
                </a:lnTo>
                <a:lnTo>
                  <a:pt x="1367154" y="157099"/>
                </a:lnTo>
                <a:lnTo>
                  <a:pt x="1369186" y="131699"/>
                </a:lnTo>
                <a:lnTo>
                  <a:pt x="77005" y="25295"/>
                </a:lnTo>
                <a:close/>
              </a:path>
              <a:path w="1369695" h="157479">
                <a:moveTo>
                  <a:pt x="79120" y="0"/>
                </a:moveTo>
                <a:lnTo>
                  <a:pt x="0" y="31750"/>
                </a:lnTo>
                <a:lnTo>
                  <a:pt x="72770" y="75946"/>
                </a:lnTo>
                <a:lnTo>
                  <a:pt x="74881" y="50698"/>
                </a:lnTo>
                <a:lnTo>
                  <a:pt x="62229" y="49656"/>
                </a:lnTo>
                <a:lnTo>
                  <a:pt x="64388" y="24256"/>
                </a:lnTo>
                <a:lnTo>
                  <a:pt x="77092" y="24256"/>
                </a:lnTo>
                <a:lnTo>
                  <a:pt x="79120" y="0"/>
                </a:lnTo>
                <a:close/>
              </a:path>
              <a:path w="1369695" h="157479">
                <a:moveTo>
                  <a:pt x="64388" y="24256"/>
                </a:moveTo>
                <a:lnTo>
                  <a:pt x="62229" y="49656"/>
                </a:lnTo>
                <a:lnTo>
                  <a:pt x="74881" y="50698"/>
                </a:lnTo>
                <a:lnTo>
                  <a:pt x="77005" y="25295"/>
                </a:lnTo>
                <a:lnTo>
                  <a:pt x="64388" y="24256"/>
                </a:lnTo>
                <a:close/>
              </a:path>
              <a:path w="1369695" h="157479">
                <a:moveTo>
                  <a:pt x="77092" y="24256"/>
                </a:moveTo>
                <a:lnTo>
                  <a:pt x="64388" y="24256"/>
                </a:lnTo>
                <a:lnTo>
                  <a:pt x="77005" y="25295"/>
                </a:lnTo>
                <a:lnTo>
                  <a:pt x="77092" y="2425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34000" y="5177041"/>
            <a:ext cx="2548594" cy="57933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673016" y="5202790"/>
            <a:ext cx="2360715" cy="427502"/>
          </a:xfrm>
          <a:custGeom>
            <a:avLst/>
            <a:gdLst/>
            <a:ahLst/>
            <a:cxnLst/>
            <a:rect l="l" t="t" r="r" b="b"/>
            <a:pathLst>
              <a:path w="2018664" h="387985">
                <a:moveTo>
                  <a:pt x="68580" y="312673"/>
                </a:moveTo>
                <a:lnTo>
                  <a:pt x="0" y="363346"/>
                </a:lnTo>
                <a:lnTo>
                  <a:pt x="81661" y="387857"/>
                </a:lnTo>
                <a:lnTo>
                  <a:pt x="77683" y="364997"/>
                </a:lnTo>
                <a:lnTo>
                  <a:pt x="64770" y="364997"/>
                </a:lnTo>
                <a:lnTo>
                  <a:pt x="60325" y="339978"/>
                </a:lnTo>
                <a:lnTo>
                  <a:pt x="72948" y="337782"/>
                </a:lnTo>
                <a:lnTo>
                  <a:pt x="68580" y="312673"/>
                </a:lnTo>
                <a:close/>
              </a:path>
              <a:path w="2018664" h="387985">
                <a:moveTo>
                  <a:pt x="72948" y="337782"/>
                </a:moveTo>
                <a:lnTo>
                  <a:pt x="60325" y="339978"/>
                </a:lnTo>
                <a:lnTo>
                  <a:pt x="64770" y="364997"/>
                </a:lnTo>
                <a:lnTo>
                  <a:pt x="77304" y="362817"/>
                </a:lnTo>
                <a:lnTo>
                  <a:pt x="72948" y="337782"/>
                </a:lnTo>
                <a:close/>
              </a:path>
              <a:path w="2018664" h="387985">
                <a:moveTo>
                  <a:pt x="77304" y="362817"/>
                </a:moveTo>
                <a:lnTo>
                  <a:pt x="64770" y="364997"/>
                </a:lnTo>
                <a:lnTo>
                  <a:pt x="77683" y="364997"/>
                </a:lnTo>
                <a:lnTo>
                  <a:pt x="77304" y="362817"/>
                </a:lnTo>
                <a:close/>
              </a:path>
              <a:path w="2018664" h="387985">
                <a:moveTo>
                  <a:pt x="2014093" y="0"/>
                </a:moveTo>
                <a:lnTo>
                  <a:pt x="72948" y="337782"/>
                </a:lnTo>
                <a:lnTo>
                  <a:pt x="77304" y="362817"/>
                </a:lnTo>
                <a:lnTo>
                  <a:pt x="2018411" y="25145"/>
                </a:lnTo>
                <a:lnTo>
                  <a:pt x="201409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48453" y="3549874"/>
            <a:ext cx="2639488" cy="13416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588805" y="3659305"/>
            <a:ext cx="2449086" cy="1162861"/>
          </a:xfrm>
          <a:custGeom>
            <a:avLst/>
            <a:gdLst/>
            <a:ahLst/>
            <a:cxnLst/>
            <a:rect l="l" t="t" r="r" b="b"/>
            <a:pathLst>
              <a:path w="2094229" h="1055370">
                <a:moveTo>
                  <a:pt x="73863" y="22707"/>
                </a:moveTo>
                <a:lnTo>
                  <a:pt x="62509" y="45414"/>
                </a:lnTo>
                <a:lnTo>
                  <a:pt x="2082545" y="1055370"/>
                </a:lnTo>
                <a:lnTo>
                  <a:pt x="2093976" y="1032637"/>
                </a:lnTo>
                <a:lnTo>
                  <a:pt x="73863" y="22707"/>
                </a:lnTo>
                <a:close/>
              </a:path>
              <a:path w="2094229" h="1055370">
                <a:moveTo>
                  <a:pt x="85216" y="0"/>
                </a:moveTo>
                <a:lnTo>
                  <a:pt x="0" y="0"/>
                </a:lnTo>
                <a:lnTo>
                  <a:pt x="51180" y="68072"/>
                </a:lnTo>
                <a:lnTo>
                  <a:pt x="62509" y="45414"/>
                </a:lnTo>
                <a:lnTo>
                  <a:pt x="51180" y="39750"/>
                </a:lnTo>
                <a:lnTo>
                  <a:pt x="62483" y="17017"/>
                </a:lnTo>
                <a:lnTo>
                  <a:pt x="76707" y="17017"/>
                </a:lnTo>
                <a:lnTo>
                  <a:pt x="85216" y="0"/>
                </a:lnTo>
                <a:close/>
              </a:path>
              <a:path w="2094229" h="1055370">
                <a:moveTo>
                  <a:pt x="62483" y="17017"/>
                </a:moveTo>
                <a:lnTo>
                  <a:pt x="51180" y="39750"/>
                </a:lnTo>
                <a:lnTo>
                  <a:pt x="62509" y="45414"/>
                </a:lnTo>
                <a:lnTo>
                  <a:pt x="73863" y="22707"/>
                </a:lnTo>
                <a:lnTo>
                  <a:pt x="62483" y="17017"/>
                </a:lnTo>
                <a:close/>
              </a:path>
              <a:path w="2094229" h="1055370">
                <a:moveTo>
                  <a:pt x="76707" y="17017"/>
                </a:moveTo>
                <a:lnTo>
                  <a:pt x="62483" y="17017"/>
                </a:lnTo>
                <a:lnTo>
                  <a:pt x="73863" y="22707"/>
                </a:lnTo>
                <a:lnTo>
                  <a:pt x="76707" y="1701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027847" y="3512932"/>
            <a:ext cx="6241381" cy="34256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083543" y="3540221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126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671056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8" y="1080608"/>
            <a:ext cx="9725647" cy="626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826790" y="2465099"/>
            <a:ext cx="1889166" cy="6045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78278" y="2490846"/>
            <a:ext cx="1688666" cy="437997"/>
          </a:xfrm>
          <a:custGeom>
            <a:avLst/>
            <a:gdLst/>
            <a:ahLst/>
            <a:cxnLst/>
            <a:rect l="l" t="t" r="r" b="b"/>
            <a:pathLst>
              <a:path w="1443989" h="397510">
                <a:moveTo>
                  <a:pt x="72771" y="313816"/>
                </a:moveTo>
                <a:lnTo>
                  <a:pt x="0" y="376300"/>
                </a:lnTo>
                <a:lnTo>
                  <a:pt x="93599" y="397001"/>
                </a:lnTo>
                <a:lnTo>
                  <a:pt x="87525" y="372745"/>
                </a:lnTo>
                <a:lnTo>
                  <a:pt x="72771" y="372745"/>
                </a:lnTo>
                <a:lnTo>
                  <a:pt x="65786" y="345059"/>
                </a:lnTo>
                <a:lnTo>
                  <a:pt x="79715" y="341553"/>
                </a:lnTo>
                <a:lnTo>
                  <a:pt x="72771" y="313816"/>
                </a:lnTo>
                <a:close/>
              </a:path>
              <a:path w="1443989" h="397510">
                <a:moveTo>
                  <a:pt x="79715" y="341553"/>
                </a:moveTo>
                <a:lnTo>
                  <a:pt x="65786" y="345059"/>
                </a:lnTo>
                <a:lnTo>
                  <a:pt x="72771" y="372745"/>
                </a:lnTo>
                <a:lnTo>
                  <a:pt x="86650" y="369251"/>
                </a:lnTo>
                <a:lnTo>
                  <a:pt x="79715" y="341553"/>
                </a:lnTo>
                <a:close/>
              </a:path>
              <a:path w="1443989" h="397510">
                <a:moveTo>
                  <a:pt x="86650" y="369251"/>
                </a:moveTo>
                <a:lnTo>
                  <a:pt x="72771" y="372745"/>
                </a:lnTo>
                <a:lnTo>
                  <a:pt x="87525" y="372745"/>
                </a:lnTo>
                <a:lnTo>
                  <a:pt x="86650" y="369251"/>
                </a:lnTo>
                <a:close/>
              </a:path>
              <a:path w="1443989" h="397510">
                <a:moveTo>
                  <a:pt x="1436751" y="0"/>
                </a:moveTo>
                <a:lnTo>
                  <a:pt x="79715" y="341553"/>
                </a:lnTo>
                <a:lnTo>
                  <a:pt x="86650" y="369251"/>
                </a:lnTo>
                <a:lnTo>
                  <a:pt x="1443736" y="27686"/>
                </a:lnTo>
                <a:lnTo>
                  <a:pt x="143675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662490" y="2336442"/>
            <a:ext cx="49687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340352">
              <a:spcBef>
                <a:spcPts val="348"/>
              </a:spcBef>
            </a:pPr>
            <a:r>
              <a:rPr sz="1600" b="1" spc="-11" dirty="0">
                <a:latin typeface="Arial"/>
                <a:cs typeface="Arial"/>
              </a:rPr>
              <a:t>Variáveis </a:t>
            </a:r>
            <a:r>
              <a:rPr sz="1600" b="1" dirty="0">
                <a:latin typeface="Arial"/>
                <a:cs typeface="Arial"/>
              </a:rPr>
              <a:t>e </a:t>
            </a:r>
            <a:r>
              <a:rPr sz="1600" b="1" spc="-6" dirty="0">
                <a:latin typeface="Arial"/>
                <a:cs typeface="Arial"/>
              </a:rPr>
              <a:t>vetor contendo </a:t>
            </a:r>
            <a:r>
              <a:rPr sz="1600" b="1" dirty="0">
                <a:latin typeface="Arial"/>
                <a:cs typeface="Arial"/>
              </a:rPr>
              <a:t>lixo </a:t>
            </a:r>
            <a:r>
              <a:rPr sz="1600" b="1" spc="-6" dirty="0">
                <a:latin typeface="Arial"/>
                <a:cs typeface="Arial"/>
              </a:rPr>
              <a:t>de</a:t>
            </a:r>
            <a:r>
              <a:rPr sz="1600" b="1" spc="-177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memória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27847" y="3512932"/>
            <a:ext cx="6241381" cy="3425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83543" y="3540221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127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85271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8" y="1080608"/>
            <a:ext cx="9720895" cy="626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912336" y="3024278"/>
            <a:ext cx="1532719" cy="6800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63677" y="3049467"/>
            <a:ext cx="1332219" cy="501668"/>
          </a:xfrm>
          <a:custGeom>
            <a:avLst/>
            <a:gdLst/>
            <a:ahLst/>
            <a:cxnLst/>
            <a:rect l="l" t="t" r="r" b="b"/>
            <a:pathLst>
              <a:path w="1139189" h="455294">
                <a:moveTo>
                  <a:pt x="64897" y="374776"/>
                </a:moveTo>
                <a:lnTo>
                  <a:pt x="0" y="445388"/>
                </a:lnTo>
                <a:lnTo>
                  <a:pt x="95377" y="454913"/>
                </a:lnTo>
                <a:lnTo>
                  <a:pt x="87165" y="433324"/>
                </a:lnTo>
                <a:lnTo>
                  <a:pt x="71882" y="433324"/>
                </a:lnTo>
                <a:lnTo>
                  <a:pt x="61722" y="406653"/>
                </a:lnTo>
                <a:lnTo>
                  <a:pt x="75084" y="401560"/>
                </a:lnTo>
                <a:lnTo>
                  <a:pt x="64897" y="374776"/>
                </a:lnTo>
                <a:close/>
              </a:path>
              <a:path w="1139189" h="455294">
                <a:moveTo>
                  <a:pt x="75084" y="401560"/>
                </a:moveTo>
                <a:lnTo>
                  <a:pt x="61722" y="406653"/>
                </a:lnTo>
                <a:lnTo>
                  <a:pt x="71882" y="433324"/>
                </a:lnTo>
                <a:lnTo>
                  <a:pt x="85230" y="428236"/>
                </a:lnTo>
                <a:lnTo>
                  <a:pt x="75084" y="401560"/>
                </a:lnTo>
                <a:close/>
              </a:path>
              <a:path w="1139189" h="455294">
                <a:moveTo>
                  <a:pt x="85230" y="428236"/>
                </a:moveTo>
                <a:lnTo>
                  <a:pt x="71882" y="433324"/>
                </a:lnTo>
                <a:lnTo>
                  <a:pt x="87165" y="433324"/>
                </a:lnTo>
                <a:lnTo>
                  <a:pt x="85230" y="428236"/>
                </a:lnTo>
                <a:close/>
              </a:path>
              <a:path w="1139189" h="455294">
                <a:moveTo>
                  <a:pt x="1128522" y="0"/>
                </a:moveTo>
                <a:lnTo>
                  <a:pt x="75084" y="401560"/>
                </a:lnTo>
                <a:lnTo>
                  <a:pt x="85230" y="428236"/>
                </a:lnTo>
                <a:lnTo>
                  <a:pt x="1138809" y="26669"/>
                </a:lnTo>
                <a:lnTo>
                  <a:pt x="112852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294773" y="2725042"/>
            <a:ext cx="21899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236074">
              <a:spcBef>
                <a:spcPts val="348"/>
              </a:spcBef>
            </a:pPr>
            <a:r>
              <a:rPr sz="1600" b="1" spc="-17" dirty="0">
                <a:latin typeface="Arial"/>
                <a:cs typeface="Arial"/>
              </a:rPr>
              <a:t>Vetor</a:t>
            </a:r>
            <a:r>
              <a:rPr sz="1600" b="1" spc="-103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inicializado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80451" y="3025959"/>
            <a:ext cx="285156" cy="11133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30947" y="3064161"/>
            <a:ext cx="169312" cy="992140"/>
          </a:xfrm>
          <a:custGeom>
            <a:avLst/>
            <a:gdLst/>
            <a:ahLst/>
            <a:cxnLst/>
            <a:rect l="l" t="t" r="r" b="b"/>
            <a:pathLst>
              <a:path w="144780" h="900429">
                <a:moveTo>
                  <a:pt x="0" y="0"/>
                </a:moveTo>
                <a:lnTo>
                  <a:pt x="28188" y="956"/>
                </a:lnTo>
                <a:lnTo>
                  <a:pt x="51196" y="3555"/>
                </a:lnTo>
                <a:lnTo>
                  <a:pt x="66704" y="7393"/>
                </a:lnTo>
                <a:lnTo>
                  <a:pt x="72389" y="12064"/>
                </a:lnTo>
                <a:lnTo>
                  <a:pt x="72389" y="438022"/>
                </a:lnTo>
                <a:lnTo>
                  <a:pt x="78075" y="442694"/>
                </a:lnTo>
                <a:lnTo>
                  <a:pt x="93583" y="446531"/>
                </a:lnTo>
                <a:lnTo>
                  <a:pt x="116591" y="449131"/>
                </a:lnTo>
                <a:lnTo>
                  <a:pt x="144780" y="450088"/>
                </a:lnTo>
                <a:lnTo>
                  <a:pt x="116591" y="451026"/>
                </a:lnTo>
                <a:lnTo>
                  <a:pt x="93583" y="453596"/>
                </a:lnTo>
                <a:lnTo>
                  <a:pt x="78075" y="457428"/>
                </a:lnTo>
                <a:lnTo>
                  <a:pt x="72389" y="462152"/>
                </a:lnTo>
                <a:lnTo>
                  <a:pt x="72389" y="888110"/>
                </a:lnTo>
                <a:lnTo>
                  <a:pt x="66704" y="892762"/>
                </a:lnTo>
                <a:lnTo>
                  <a:pt x="51196" y="896556"/>
                </a:lnTo>
                <a:lnTo>
                  <a:pt x="28188" y="899112"/>
                </a:lnTo>
                <a:lnTo>
                  <a:pt x="0" y="900048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27847" y="3751382"/>
            <a:ext cx="6241381" cy="3425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083543" y="3778251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6"/>
                </a:moveTo>
                <a:lnTo>
                  <a:pt x="5241544" y="216026"/>
                </a:lnTo>
                <a:lnTo>
                  <a:pt x="5241544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128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671239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9" y="1084945"/>
            <a:ext cx="9734113" cy="62559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75103" y="2673320"/>
            <a:ext cx="684378" cy="2837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25405" y="2745248"/>
            <a:ext cx="484173" cy="94456"/>
          </a:xfrm>
          <a:custGeom>
            <a:avLst/>
            <a:gdLst/>
            <a:ahLst/>
            <a:cxnLst/>
            <a:rect l="l" t="t" r="r" b="b"/>
            <a:pathLst>
              <a:path w="41401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1" y="57150"/>
                </a:lnTo>
                <a:lnTo>
                  <a:pt x="71501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414019" h="85725">
                <a:moveTo>
                  <a:pt x="85725" y="28575"/>
                </a:moveTo>
                <a:lnTo>
                  <a:pt x="71501" y="28575"/>
                </a:lnTo>
                <a:lnTo>
                  <a:pt x="71501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414019" h="85725">
                <a:moveTo>
                  <a:pt x="413766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413766" y="57150"/>
                </a:lnTo>
                <a:lnTo>
                  <a:pt x="413766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561366" y="2623029"/>
            <a:ext cx="21899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12968">
              <a:spcBef>
                <a:spcPts val="348"/>
              </a:spcBef>
            </a:pPr>
            <a:r>
              <a:rPr sz="1600" b="1" spc="-11" dirty="0">
                <a:latin typeface="Arial"/>
                <a:cs typeface="Arial"/>
              </a:rPr>
              <a:t>Variável</a:t>
            </a:r>
            <a:r>
              <a:rPr sz="1600" b="1" spc="-114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inicializada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27847" y="4226603"/>
            <a:ext cx="6241381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83543" y="4254309"/>
            <a:ext cx="6130140" cy="238589"/>
          </a:xfrm>
          <a:custGeom>
            <a:avLst/>
            <a:gdLst/>
            <a:ahLst/>
            <a:cxnLst/>
            <a:rect l="l" t="t" r="r" b="b"/>
            <a:pathLst>
              <a:path w="5241925" h="216535">
                <a:moveTo>
                  <a:pt x="0" y="216027"/>
                </a:moveTo>
                <a:lnTo>
                  <a:pt x="5241544" y="216027"/>
                </a:lnTo>
                <a:lnTo>
                  <a:pt x="5241544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129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856618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7679" y="1084945"/>
            <a:ext cx="9734113" cy="62559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30547" y="3373557"/>
            <a:ext cx="898246" cy="8060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81445" y="3397765"/>
            <a:ext cx="698041" cy="618514"/>
          </a:xfrm>
          <a:custGeom>
            <a:avLst/>
            <a:gdLst/>
            <a:ahLst/>
            <a:cxnLst/>
            <a:rect l="l" t="t" r="r" b="b"/>
            <a:pathLst>
              <a:path w="596900" h="561339">
                <a:moveTo>
                  <a:pt x="33146" y="471424"/>
                </a:moveTo>
                <a:lnTo>
                  <a:pt x="0" y="561339"/>
                </a:lnTo>
                <a:lnTo>
                  <a:pt x="91820" y="533907"/>
                </a:lnTo>
                <a:lnTo>
                  <a:pt x="81445" y="522859"/>
                </a:lnTo>
                <a:lnTo>
                  <a:pt x="61849" y="522859"/>
                </a:lnTo>
                <a:lnTo>
                  <a:pt x="42290" y="502030"/>
                </a:lnTo>
                <a:lnTo>
                  <a:pt x="52706" y="492253"/>
                </a:lnTo>
                <a:lnTo>
                  <a:pt x="33146" y="471424"/>
                </a:lnTo>
                <a:close/>
              </a:path>
              <a:path w="596900" h="561339">
                <a:moveTo>
                  <a:pt x="52706" y="492253"/>
                </a:moveTo>
                <a:lnTo>
                  <a:pt x="42290" y="502030"/>
                </a:lnTo>
                <a:lnTo>
                  <a:pt x="61849" y="522859"/>
                </a:lnTo>
                <a:lnTo>
                  <a:pt x="72264" y="513081"/>
                </a:lnTo>
                <a:lnTo>
                  <a:pt x="52706" y="492253"/>
                </a:lnTo>
                <a:close/>
              </a:path>
              <a:path w="596900" h="561339">
                <a:moveTo>
                  <a:pt x="72264" y="513081"/>
                </a:moveTo>
                <a:lnTo>
                  <a:pt x="61849" y="522859"/>
                </a:lnTo>
                <a:lnTo>
                  <a:pt x="81445" y="522859"/>
                </a:lnTo>
                <a:lnTo>
                  <a:pt x="72264" y="513081"/>
                </a:lnTo>
                <a:close/>
              </a:path>
              <a:path w="596900" h="561339">
                <a:moveTo>
                  <a:pt x="577088" y="0"/>
                </a:moveTo>
                <a:lnTo>
                  <a:pt x="52706" y="492253"/>
                </a:lnTo>
                <a:lnTo>
                  <a:pt x="72264" y="513081"/>
                </a:lnTo>
                <a:lnTo>
                  <a:pt x="596645" y="20827"/>
                </a:lnTo>
                <a:lnTo>
                  <a:pt x="57708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8" y="3029316"/>
            <a:ext cx="891115" cy="3677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445" y="3126432"/>
            <a:ext cx="690615" cy="202206"/>
          </a:xfrm>
          <a:custGeom>
            <a:avLst/>
            <a:gdLst/>
            <a:ahLst/>
            <a:cxnLst/>
            <a:rect l="l" t="t" r="r" b="b"/>
            <a:pathLst>
              <a:path w="590550" h="183514">
                <a:moveTo>
                  <a:pt x="86583" y="27637"/>
                </a:moveTo>
                <a:lnTo>
                  <a:pt x="79551" y="55342"/>
                </a:lnTo>
                <a:lnTo>
                  <a:pt x="583438" y="183261"/>
                </a:lnTo>
                <a:lnTo>
                  <a:pt x="590422" y="155575"/>
                </a:lnTo>
                <a:lnTo>
                  <a:pt x="86583" y="27637"/>
                </a:lnTo>
                <a:close/>
              </a:path>
              <a:path w="590550" h="183514">
                <a:moveTo>
                  <a:pt x="93599" y="0"/>
                </a:moveTo>
                <a:lnTo>
                  <a:pt x="0" y="20446"/>
                </a:lnTo>
                <a:lnTo>
                  <a:pt x="72516" y="83057"/>
                </a:lnTo>
                <a:lnTo>
                  <a:pt x="79551" y="55342"/>
                </a:lnTo>
                <a:lnTo>
                  <a:pt x="65658" y="51815"/>
                </a:lnTo>
                <a:lnTo>
                  <a:pt x="72770" y="24129"/>
                </a:lnTo>
                <a:lnTo>
                  <a:pt x="87474" y="24129"/>
                </a:lnTo>
                <a:lnTo>
                  <a:pt x="93599" y="0"/>
                </a:lnTo>
                <a:close/>
              </a:path>
              <a:path w="590550" h="183514">
                <a:moveTo>
                  <a:pt x="72770" y="24129"/>
                </a:moveTo>
                <a:lnTo>
                  <a:pt x="65658" y="51815"/>
                </a:lnTo>
                <a:lnTo>
                  <a:pt x="79551" y="55342"/>
                </a:lnTo>
                <a:lnTo>
                  <a:pt x="86583" y="27637"/>
                </a:lnTo>
                <a:lnTo>
                  <a:pt x="72770" y="24129"/>
                </a:lnTo>
                <a:close/>
              </a:path>
              <a:path w="590550" h="183514">
                <a:moveTo>
                  <a:pt x="87474" y="24129"/>
                </a:moveTo>
                <a:lnTo>
                  <a:pt x="72770" y="24129"/>
                </a:lnTo>
                <a:lnTo>
                  <a:pt x="86583" y="27637"/>
                </a:lnTo>
                <a:lnTo>
                  <a:pt x="87474" y="2412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67752" y="3002266"/>
            <a:ext cx="2442401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184659" marR="174521" algn="ctr">
              <a:spcBef>
                <a:spcPts val="352"/>
              </a:spcBef>
            </a:pPr>
            <a:r>
              <a:rPr sz="1600" b="1" dirty="0">
                <a:latin typeface="Arial"/>
                <a:cs typeface="Arial"/>
              </a:rPr>
              <a:t>Início </a:t>
            </a:r>
            <a:r>
              <a:rPr sz="1600" b="1" spc="-6" dirty="0">
                <a:latin typeface="Arial"/>
                <a:cs typeface="Arial"/>
              </a:rPr>
              <a:t>da inversão</a:t>
            </a:r>
            <a:r>
              <a:rPr sz="1600" b="1" spc="-160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do  </a:t>
            </a:r>
            <a:r>
              <a:rPr sz="1600" b="1" dirty="0">
                <a:latin typeface="Arial"/>
                <a:cs typeface="Arial"/>
              </a:rPr>
              <a:t>primeiro elemento  </a:t>
            </a:r>
            <a:r>
              <a:rPr sz="1600" b="1" spc="-6" dirty="0">
                <a:latin typeface="Arial"/>
                <a:cs typeface="Arial"/>
              </a:rPr>
              <a:t>com </a:t>
            </a:r>
            <a:r>
              <a:rPr sz="1600" b="1" dirty="0">
                <a:latin typeface="Arial"/>
                <a:cs typeface="Arial"/>
              </a:rPr>
              <a:t>o</a:t>
            </a:r>
            <a:r>
              <a:rPr sz="1600" b="1" spc="-114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último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4473448"/>
            <a:ext cx="6341186" cy="342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4499897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130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51365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4307" y="1093524"/>
            <a:ext cx="9718221" cy="6270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02032" y="3529726"/>
            <a:ext cx="1345586" cy="6213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52036" y="3554493"/>
            <a:ext cx="1146570" cy="442895"/>
          </a:xfrm>
          <a:custGeom>
            <a:avLst/>
            <a:gdLst/>
            <a:ahLst/>
            <a:cxnLst/>
            <a:rect l="l" t="t" r="r" b="b"/>
            <a:pathLst>
              <a:path w="980439" h="401954">
                <a:moveTo>
                  <a:pt x="64389" y="321818"/>
                </a:moveTo>
                <a:lnTo>
                  <a:pt x="0" y="392811"/>
                </a:lnTo>
                <a:lnTo>
                  <a:pt x="95503" y="401700"/>
                </a:lnTo>
                <a:lnTo>
                  <a:pt x="87144" y="380238"/>
                </a:lnTo>
                <a:lnTo>
                  <a:pt x="71754" y="380238"/>
                </a:lnTo>
                <a:lnTo>
                  <a:pt x="61340" y="353568"/>
                </a:lnTo>
                <a:lnTo>
                  <a:pt x="74726" y="348358"/>
                </a:lnTo>
                <a:lnTo>
                  <a:pt x="64389" y="321818"/>
                </a:lnTo>
                <a:close/>
              </a:path>
              <a:path w="980439" h="401954">
                <a:moveTo>
                  <a:pt x="74726" y="348358"/>
                </a:moveTo>
                <a:lnTo>
                  <a:pt x="61340" y="353568"/>
                </a:lnTo>
                <a:lnTo>
                  <a:pt x="71754" y="380238"/>
                </a:lnTo>
                <a:lnTo>
                  <a:pt x="85117" y="375036"/>
                </a:lnTo>
                <a:lnTo>
                  <a:pt x="74726" y="348358"/>
                </a:lnTo>
                <a:close/>
              </a:path>
              <a:path w="980439" h="401954">
                <a:moveTo>
                  <a:pt x="85117" y="375036"/>
                </a:moveTo>
                <a:lnTo>
                  <a:pt x="71754" y="380238"/>
                </a:lnTo>
                <a:lnTo>
                  <a:pt x="87144" y="380238"/>
                </a:lnTo>
                <a:lnTo>
                  <a:pt x="85117" y="375036"/>
                </a:lnTo>
                <a:close/>
              </a:path>
              <a:path w="980439" h="401954">
                <a:moveTo>
                  <a:pt x="969772" y="0"/>
                </a:moveTo>
                <a:lnTo>
                  <a:pt x="74726" y="348358"/>
                </a:lnTo>
                <a:lnTo>
                  <a:pt x="85117" y="375036"/>
                </a:lnTo>
                <a:lnTo>
                  <a:pt x="980059" y="26670"/>
                </a:lnTo>
                <a:lnTo>
                  <a:pt x="9697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051146"/>
            <a:ext cx="1343804" cy="39293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444" y="3140705"/>
            <a:ext cx="1143600" cy="235091"/>
          </a:xfrm>
          <a:custGeom>
            <a:avLst/>
            <a:gdLst/>
            <a:ahLst/>
            <a:cxnLst/>
            <a:rect l="l" t="t" r="r" b="b"/>
            <a:pathLst>
              <a:path w="977900" h="213360">
                <a:moveTo>
                  <a:pt x="86870" y="28138"/>
                </a:moveTo>
                <a:lnTo>
                  <a:pt x="81910" y="56328"/>
                </a:lnTo>
                <a:lnTo>
                  <a:pt x="972438" y="213106"/>
                </a:lnTo>
                <a:lnTo>
                  <a:pt x="977391" y="185038"/>
                </a:lnTo>
                <a:lnTo>
                  <a:pt x="86870" y="28138"/>
                </a:lnTo>
                <a:close/>
              </a:path>
              <a:path w="977900" h="213360">
                <a:moveTo>
                  <a:pt x="91820" y="0"/>
                </a:moveTo>
                <a:lnTo>
                  <a:pt x="0" y="27432"/>
                </a:lnTo>
                <a:lnTo>
                  <a:pt x="76962" y="84454"/>
                </a:lnTo>
                <a:lnTo>
                  <a:pt x="81910" y="56328"/>
                </a:lnTo>
                <a:lnTo>
                  <a:pt x="67818" y="53848"/>
                </a:lnTo>
                <a:lnTo>
                  <a:pt x="72770" y="25653"/>
                </a:lnTo>
                <a:lnTo>
                  <a:pt x="87307" y="25653"/>
                </a:lnTo>
                <a:lnTo>
                  <a:pt x="91820" y="0"/>
                </a:lnTo>
                <a:close/>
              </a:path>
              <a:path w="977900" h="213360">
                <a:moveTo>
                  <a:pt x="72770" y="25653"/>
                </a:moveTo>
                <a:lnTo>
                  <a:pt x="67818" y="53848"/>
                </a:lnTo>
                <a:lnTo>
                  <a:pt x="81910" y="56328"/>
                </a:lnTo>
                <a:lnTo>
                  <a:pt x="86870" y="28138"/>
                </a:lnTo>
                <a:lnTo>
                  <a:pt x="72770" y="25653"/>
                </a:lnTo>
                <a:close/>
              </a:path>
              <a:path w="977900" h="213360">
                <a:moveTo>
                  <a:pt x="87307" y="25653"/>
                </a:moveTo>
                <a:lnTo>
                  <a:pt x="72770" y="25653"/>
                </a:lnTo>
                <a:lnTo>
                  <a:pt x="86870" y="28138"/>
                </a:lnTo>
                <a:lnTo>
                  <a:pt x="87307" y="2565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992221" y="3265472"/>
            <a:ext cx="2189918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366422">
              <a:spcBef>
                <a:spcPts val="352"/>
              </a:spcBef>
            </a:pPr>
            <a:r>
              <a:rPr sz="1600" b="1" spc="-6" dirty="0">
                <a:latin typeface="Arial"/>
                <a:cs typeface="Arial"/>
              </a:rPr>
              <a:t>Continuação...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4782426"/>
            <a:ext cx="6341186" cy="342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4809712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131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95902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4307" y="1093524"/>
            <a:ext cx="9728321" cy="6270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646782" y="3321502"/>
            <a:ext cx="1432916" cy="8731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97086" y="3346409"/>
            <a:ext cx="1233454" cy="684283"/>
          </a:xfrm>
          <a:custGeom>
            <a:avLst/>
            <a:gdLst/>
            <a:ahLst/>
            <a:cxnLst/>
            <a:rect l="l" t="t" r="r" b="b"/>
            <a:pathLst>
              <a:path w="1054735" h="621029">
                <a:moveTo>
                  <a:pt x="52578" y="540385"/>
                </a:moveTo>
                <a:lnTo>
                  <a:pt x="0" y="620522"/>
                </a:lnTo>
                <a:lnTo>
                  <a:pt x="95631" y="614553"/>
                </a:lnTo>
                <a:lnTo>
                  <a:pt x="85457" y="597027"/>
                </a:lnTo>
                <a:lnTo>
                  <a:pt x="68961" y="597027"/>
                </a:lnTo>
                <a:lnTo>
                  <a:pt x="54609" y="572262"/>
                </a:lnTo>
                <a:lnTo>
                  <a:pt x="66928" y="565107"/>
                </a:lnTo>
                <a:lnTo>
                  <a:pt x="52578" y="540385"/>
                </a:lnTo>
                <a:close/>
              </a:path>
              <a:path w="1054735" h="621029">
                <a:moveTo>
                  <a:pt x="66928" y="565107"/>
                </a:moveTo>
                <a:lnTo>
                  <a:pt x="54609" y="572262"/>
                </a:lnTo>
                <a:lnTo>
                  <a:pt x="68961" y="597027"/>
                </a:lnTo>
                <a:lnTo>
                  <a:pt x="81298" y="589861"/>
                </a:lnTo>
                <a:lnTo>
                  <a:pt x="66928" y="565107"/>
                </a:lnTo>
                <a:close/>
              </a:path>
              <a:path w="1054735" h="621029">
                <a:moveTo>
                  <a:pt x="81298" y="589861"/>
                </a:moveTo>
                <a:lnTo>
                  <a:pt x="68961" y="597027"/>
                </a:lnTo>
                <a:lnTo>
                  <a:pt x="85457" y="597027"/>
                </a:lnTo>
                <a:lnTo>
                  <a:pt x="81298" y="589861"/>
                </a:lnTo>
                <a:close/>
              </a:path>
              <a:path w="1054735" h="621029">
                <a:moveTo>
                  <a:pt x="1039876" y="0"/>
                </a:moveTo>
                <a:lnTo>
                  <a:pt x="66928" y="565107"/>
                </a:lnTo>
                <a:lnTo>
                  <a:pt x="81298" y="589861"/>
                </a:lnTo>
                <a:lnTo>
                  <a:pt x="1054227" y="24764"/>
                </a:lnTo>
                <a:lnTo>
                  <a:pt x="10398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052826"/>
            <a:ext cx="1343804" cy="3912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444" y="3142103"/>
            <a:ext cx="1143600" cy="233692"/>
          </a:xfrm>
          <a:custGeom>
            <a:avLst/>
            <a:gdLst/>
            <a:ahLst/>
            <a:cxnLst/>
            <a:rect l="l" t="t" r="r" b="b"/>
            <a:pathLst>
              <a:path w="977900" h="212089">
                <a:moveTo>
                  <a:pt x="86893" y="28247"/>
                </a:moveTo>
                <a:lnTo>
                  <a:pt x="81999" y="56302"/>
                </a:lnTo>
                <a:lnTo>
                  <a:pt x="972438" y="211836"/>
                </a:lnTo>
                <a:lnTo>
                  <a:pt x="977391" y="183768"/>
                </a:lnTo>
                <a:lnTo>
                  <a:pt x="86893" y="28247"/>
                </a:lnTo>
                <a:close/>
              </a:path>
              <a:path w="977900" h="212089">
                <a:moveTo>
                  <a:pt x="91820" y="0"/>
                </a:moveTo>
                <a:lnTo>
                  <a:pt x="0" y="27558"/>
                </a:lnTo>
                <a:lnTo>
                  <a:pt x="77088" y="84454"/>
                </a:lnTo>
                <a:lnTo>
                  <a:pt x="81999" y="56302"/>
                </a:lnTo>
                <a:lnTo>
                  <a:pt x="67944" y="53847"/>
                </a:lnTo>
                <a:lnTo>
                  <a:pt x="72770" y="25780"/>
                </a:lnTo>
                <a:lnTo>
                  <a:pt x="87323" y="25780"/>
                </a:lnTo>
                <a:lnTo>
                  <a:pt x="91820" y="0"/>
                </a:lnTo>
                <a:close/>
              </a:path>
              <a:path w="977900" h="212089">
                <a:moveTo>
                  <a:pt x="72770" y="25780"/>
                </a:moveTo>
                <a:lnTo>
                  <a:pt x="67944" y="53847"/>
                </a:lnTo>
                <a:lnTo>
                  <a:pt x="81999" y="56302"/>
                </a:lnTo>
                <a:lnTo>
                  <a:pt x="86893" y="28247"/>
                </a:lnTo>
                <a:lnTo>
                  <a:pt x="72770" y="25780"/>
                </a:lnTo>
                <a:close/>
              </a:path>
              <a:path w="977900" h="212089">
                <a:moveTo>
                  <a:pt x="87323" y="25780"/>
                </a:moveTo>
                <a:lnTo>
                  <a:pt x="72770" y="25780"/>
                </a:lnTo>
                <a:lnTo>
                  <a:pt x="86893" y="28247"/>
                </a:lnTo>
                <a:lnTo>
                  <a:pt x="87323" y="2578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23113" y="3151704"/>
            <a:ext cx="2189918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294007">
              <a:spcBef>
                <a:spcPts val="352"/>
              </a:spcBef>
            </a:pPr>
            <a:r>
              <a:rPr sz="1600" b="1" spc="-6" dirty="0">
                <a:latin typeface="Arial"/>
                <a:cs typeface="Arial"/>
              </a:rPr>
              <a:t>Fim da</a:t>
            </a:r>
            <a:r>
              <a:rPr sz="1600" b="1" spc="-91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inversão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3751382"/>
            <a:ext cx="6341186" cy="3425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3778251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132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90821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4307" y="1093426"/>
            <a:ext cx="9728321" cy="62174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41241" y="2698510"/>
            <a:ext cx="1056863" cy="2837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92583" y="2770717"/>
            <a:ext cx="856957" cy="94456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20319" y="2367800"/>
            <a:ext cx="2599833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69452" marR="160762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Incremento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4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variável  </a:t>
            </a:r>
            <a:r>
              <a:rPr sz="1600" b="1" dirty="0">
                <a:latin typeface="Arial"/>
                <a:cs typeface="Arial"/>
              </a:rPr>
              <a:t>e teste </a:t>
            </a:r>
            <a:r>
              <a:rPr sz="1600" b="1" spc="-6" dirty="0">
                <a:latin typeface="Arial"/>
                <a:cs typeface="Arial"/>
              </a:rPr>
              <a:t>da condição  </a:t>
            </a:r>
            <a:r>
              <a:rPr sz="1600" b="1" u="sng" spc="-6" dirty="0">
                <a:latin typeface="Arial"/>
                <a:cs typeface="Arial"/>
              </a:rPr>
              <a:t>verdadeiro</a:t>
            </a:r>
            <a:r>
              <a:rPr sz="1600" b="1" spc="-6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60318" y="4226603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15120" y="4254309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133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541229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688" y="1093775"/>
            <a:ext cx="9702923" cy="62293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30547" y="3276161"/>
            <a:ext cx="898246" cy="745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81741" y="3301070"/>
            <a:ext cx="697299" cy="556941"/>
          </a:xfrm>
          <a:custGeom>
            <a:avLst/>
            <a:gdLst/>
            <a:ahLst/>
            <a:cxnLst/>
            <a:rect l="l" t="t" r="r" b="b"/>
            <a:pathLst>
              <a:path w="596264" h="505460">
                <a:moveTo>
                  <a:pt x="37972" y="417068"/>
                </a:moveTo>
                <a:lnTo>
                  <a:pt x="0" y="505079"/>
                </a:lnTo>
                <a:lnTo>
                  <a:pt x="93217" y="482600"/>
                </a:lnTo>
                <a:lnTo>
                  <a:pt x="82618" y="470027"/>
                </a:lnTo>
                <a:lnTo>
                  <a:pt x="63880" y="470027"/>
                </a:lnTo>
                <a:lnTo>
                  <a:pt x="45465" y="448183"/>
                </a:lnTo>
                <a:lnTo>
                  <a:pt x="56422" y="438952"/>
                </a:lnTo>
                <a:lnTo>
                  <a:pt x="37972" y="417068"/>
                </a:lnTo>
                <a:close/>
              </a:path>
              <a:path w="596264" h="505460">
                <a:moveTo>
                  <a:pt x="56422" y="438952"/>
                </a:moveTo>
                <a:lnTo>
                  <a:pt x="45465" y="448183"/>
                </a:lnTo>
                <a:lnTo>
                  <a:pt x="63880" y="470027"/>
                </a:lnTo>
                <a:lnTo>
                  <a:pt x="74837" y="460796"/>
                </a:lnTo>
                <a:lnTo>
                  <a:pt x="56422" y="438952"/>
                </a:lnTo>
                <a:close/>
              </a:path>
              <a:path w="596264" h="505460">
                <a:moveTo>
                  <a:pt x="74837" y="460796"/>
                </a:moveTo>
                <a:lnTo>
                  <a:pt x="63880" y="470027"/>
                </a:lnTo>
                <a:lnTo>
                  <a:pt x="82618" y="470027"/>
                </a:lnTo>
                <a:lnTo>
                  <a:pt x="74837" y="460796"/>
                </a:lnTo>
                <a:close/>
              </a:path>
              <a:path w="596264" h="505460">
                <a:moveTo>
                  <a:pt x="577468" y="0"/>
                </a:moveTo>
                <a:lnTo>
                  <a:pt x="56422" y="438952"/>
                </a:lnTo>
                <a:lnTo>
                  <a:pt x="74837" y="460796"/>
                </a:lnTo>
                <a:lnTo>
                  <a:pt x="595884" y="21844"/>
                </a:lnTo>
                <a:lnTo>
                  <a:pt x="57746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8" y="3193881"/>
            <a:ext cx="889334" cy="2837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740" y="3252234"/>
            <a:ext cx="687645" cy="101453"/>
          </a:xfrm>
          <a:custGeom>
            <a:avLst/>
            <a:gdLst/>
            <a:ahLst/>
            <a:cxnLst/>
            <a:rect l="l" t="t" r="r" b="b"/>
            <a:pathLst>
              <a:path w="588010" h="92075">
                <a:moveTo>
                  <a:pt x="82549" y="6476"/>
                </a:moveTo>
                <a:lnTo>
                  <a:pt x="0" y="55244"/>
                </a:lnTo>
                <a:lnTo>
                  <a:pt x="88518" y="91947"/>
                </a:lnTo>
                <a:lnTo>
                  <a:pt x="86603" y="64515"/>
                </a:lnTo>
                <a:lnTo>
                  <a:pt x="72262" y="64515"/>
                </a:lnTo>
                <a:lnTo>
                  <a:pt x="70358" y="35940"/>
                </a:lnTo>
                <a:lnTo>
                  <a:pt x="84538" y="34952"/>
                </a:lnTo>
                <a:lnTo>
                  <a:pt x="82549" y="6476"/>
                </a:lnTo>
                <a:close/>
              </a:path>
              <a:path w="588010" h="92075">
                <a:moveTo>
                  <a:pt x="84538" y="34952"/>
                </a:moveTo>
                <a:lnTo>
                  <a:pt x="70358" y="35940"/>
                </a:lnTo>
                <a:lnTo>
                  <a:pt x="72262" y="64515"/>
                </a:lnTo>
                <a:lnTo>
                  <a:pt x="86533" y="63521"/>
                </a:lnTo>
                <a:lnTo>
                  <a:pt x="84538" y="34952"/>
                </a:lnTo>
                <a:close/>
              </a:path>
              <a:path w="588010" h="92075">
                <a:moveTo>
                  <a:pt x="86533" y="63521"/>
                </a:moveTo>
                <a:lnTo>
                  <a:pt x="72262" y="64515"/>
                </a:lnTo>
                <a:lnTo>
                  <a:pt x="86603" y="64515"/>
                </a:lnTo>
                <a:lnTo>
                  <a:pt x="86533" y="63521"/>
                </a:lnTo>
                <a:close/>
              </a:path>
              <a:path w="588010" h="92075">
                <a:moveTo>
                  <a:pt x="585978" y="0"/>
                </a:moveTo>
                <a:lnTo>
                  <a:pt x="84538" y="34952"/>
                </a:lnTo>
                <a:lnTo>
                  <a:pt x="86533" y="63521"/>
                </a:lnTo>
                <a:lnTo>
                  <a:pt x="588010" y="28575"/>
                </a:lnTo>
                <a:lnTo>
                  <a:pt x="5859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67752" y="2906131"/>
            <a:ext cx="2442401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84659" marR="174521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Início </a:t>
            </a:r>
            <a:r>
              <a:rPr sz="1600" b="1" spc="-6" dirty="0">
                <a:latin typeface="Arial"/>
                <a:cs typeface="Arial"/>
              </a:rPr>
              <a:t>da inversão</a:t>
            </a:r>
            <a:r>
              <a:rPr sz="1600" b="1" spc="-160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do  segundo </a:t>
            </a:r>
            <a:r>
              <a:rPr sz="1600" b="1" dirty="0">
                <a:latin typeface="Arial"/>
                <a:cs typeface="Arial"/>
              </a:rPr>
              <a:t>elemento  </a:t>
            </a:r>
            <a:r>
              <a:rPr sz="1600" b="1" spc="-6" dirty="0">
                <a:latin typeface="Arial"/>
                <a:cs typeface="Arial"/>
              </a:rPr>
              <a:t>com </a:t>
            </a:r>
            <a:r>
              <a:rPr sz="1600" b="1" dirty="0">
                <a:latin typeface="Arial"/>
                <a:cs typeface="Arial"/>
              </a:rPr>
              <a:t>o</a:t>
            </a:r>
            <a:r>
              <a:rPr sz="1600" b="1" spc="-80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penúltimo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4465051"/>
            <a:ext cx="6341186" cy="342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4492339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134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764211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3" y="1093804"/>
            <a:ext cx="9702923" cy="6232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43024" y="3319823"/>
            <a:ext cx="1334893" cy="6229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94067" y="3345431"/>
            <a:ext cx="1133945" cy="442195"/>
          </a:xfrm>
          <a:custGeom>
            <a:avLst/>
            <a:gdLst/>
            <a:ahLst/>
            <a:cxnLst/>
            <a:rect l="l" t="t" r="r" b="b"/>
            <a:pathLst>
              <a:path w="969644" h="401320">
                <a:moveTo>
                  <a:pt x="64135" y="321563"/>
                </a:moveTo>
                <a:lnTo>
                  <a:pt x="0" y="392811"/>
                </a:lnTo>
                <a:lnTo>
                  <a:pt x="95504" y="401320"/>
                </a:lnTo>
                <a:lnTo>
                  <a:pt x="87112" y="379984"/>
                </a:lnTo>
                <a:lnTo>
                  <a:pt x="71755" y="379984"/>
                </a:lnTo>
                <a:lnTo>
                  <a:pt x="61341" y="353313"/>
                </a:lnTo>
                <a:lnTo>
                  <a:pt x="74573" y="348104"/>
                </a:lnTo>
                <a:lnTo>
                  <a:pt x="64135" y="321563"/>
                </a:lnTo>
                <a:close/>
              </a:path>
              <a:path w="969644" h="401320">
                <a:moveTo>
                  <a:pt x="74573" y="348104"/>
                </a:moveTo>
                <a:lnTo>
                  <a:pt x="61341" y="353313"/>
                </a:lnTo>
                <a:lnTo>
                  <a:pt x="71755" y="379984"/>
                </a:lnTo>
                <a:lnTo>
                  <a:pt x="85052" y="374747"/>
                </a:lnTo>
                <a:lnTo>
                  <a:pt x="74573" y="348104"/>
                </a:lnTo>
                <a:close/>
              </a:path>
              <a:path w="969644" h="401320">
                <a:moveTo>
                  <a:pt x="85052" y="374747"/>
                </a:moveTo>
                <a:lnTo>
                  <a:pt x="71755" y="379984"/>
                </a:lnTo>
                <a:lnTo>
                  <a:pt x="87112" y="379984"/>
                </a:lnTo>
                <a:lnTo>
                  <a:pt x="85052" y="374747"/>
                </a:lnTo>
                <a:close/>
              </a:path>
              <a:path w="969644" h="401320">
                <a:moveTo>
                  <a:pt x="958850" y="0"/>
                </a:moveTo>
                <a:lnTo>
                  <a:pt x="74573" y="348104"/>
                </a:lnTo>
                <a:lnTo>
                  <a:pt x="85052" y="374747"/>
                </a:lnTo>
                <a:lnTo>
                  <a:pt x="969391" y="26543"/>
                </a:lnTo>
                <a:lnTo>
                  <a:pt x="9588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43024" y="3145182"/>
            <a:ext cx="1329546" cy="29890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94068" y="3226765"/>
            <a:ext cx="1129490" cy="149031"/>
          </a:xfrm>
          <a:custGeom>
            <a:avLst/>
            <a:gdLst/>
            <a:ahLst/>
            <a:cxnLst/>
            <a:rect l="l" t="t" r="r" b="b"/>
            <a:pathLst>
              <a:path w="965835" h="135255">
                <a:moveTo>
                  <a:pt x="86745" y="28444"/>
                </a:moveTo>
                <a:lnTo>
                  <a:pt x="84208" y="56895"/>
                </a:lnTo>
                <a:lnTo>
                  <a:pt x="962787" y="135255"/>
                </a:lnTo>
                <a:lnTo>
                  <a:pt x="965326" y="106680"/>
                </a:lnTo>
                <a:lnTo>
                  <a:pt x="86745" y="28444"/>
                </a:lnTo>
                <a:close/>
              </a:path>
              <a:path w="965835" h="135255">
                <a:moveTo>
                  <a:pt x="89281" y="0"/>
                </a:moveTo>
                <a:lnTo>
                  <a:pt x="0" y="35179"/>
                </a:lnTo>
                <a:lnTo>
                  <a:pt x="81661" y="85471"/>
                </a:lnTo>
                <a:lnTo>
                  <a:pt x="84208" y="56895"/>
                </a:lnTo>
                <a:lnTo>
                  <a:pt x="69976" y="55626"/>
                </a:lnTo>
                <a:lnTo>
                  <a:pt x="72517" y="27178"/>
                </a:lnTo>
                <a:lnTo>
                  <a:pt x="86857" y="27178"/>
                </a:lnTo>
                <a:lnTo>
                  <a:pt x="89281" y="0"/>
                </a:lnTo>
                <a:close/>
              </a:path>
              <a:path w="965835" h="135255">
                <a:moveTo>
                  <a:pt x="72517" y="27178"/>
                </a:moveTo>
                <a:lnTo>
                  <a:pt x="69976" y="55626"/>
                </a:lnTo>
                <a:lnTo>
                  <a:pt x="84208" y="56895"/>
                </a:lnTo>
                <a:lnTo>
                  <a:pt x="86745" y="28444"/>
                </a:lnTo>
                <a:lnTo>
                  <a:pt x="72517" y="27178"/>
                </a:lnTo>
                <a:close/>
              </a:path>
              <a:path w="965835" h="135255">
                <a:moveTo>
                  <a:pt x="86857" y="27178"/>
                </a:moveTo>
                <a:lnTo>
                  <a:pt x="72517" y="27178"/>
                </a:lnTo>
                <a:lnTo>
                  <a:pt x="86745" y="28444"/>
                </a:lnTo>
                <a:lnTo>
                  <a:pt x="86857" y="2717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08707" y="3170876"/>
            <a:ext cx="2189918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367146">
              <a:spcBef>
                <a:spcPts val="352"/>
              </a:spcBef>
            </a:pPr>
            <a:r>
              <a:rPr sz="1600" b="1" spc="-6" dirty="0">
                <a:latin typeface="Arial"/>
                <a:cs typeface="Arial"/>
              </a:rPr>
              <a:t>Continuação...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4782426"/>
            <a:ext cx="6341186" cy="3425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4809712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135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164463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093804"/>
            <a:ext cx="9698171" cy="6232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30548" y="3321502"/>
            <a:ext cx="1347368" cy="7002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81445" y="3345710"/>
            <a:ext cx="1147313" cy="515661"/>
          </a:xfrm>
          <a:custGeom>
            <a:avLst/>
            <a:gdLst/>
            <a:ahLst/>
            <a:cxnLst/>
            <a:rect l="l" t="t" r="r" b="b"/>
            <a:pathLst>
              <a:path w="981075" h="467995">
                <a:moveTo>
                  <a:pt x="59689" y="389636"/>
                </a:moveTo>
                <a:lnTo>
                  <a:pt x="0" y="464566"/>
                </a:lnTo>
                <a:lnTo>
                  <a:pt x="95757" y="467487"/>
                </a:lnTo>
                <a:lnTo>
                  <a:pt x="86520" y="447548"/>
                </a:lnTo>
                <a:lnTo>
                  <a:pt x="70738" y="447548"/>
                </a:lnTo>
                <a:lnTo>
                  <a:pt x="58800" y="421513"/>
                </a:lnTo>
                <a:lnTo>
                  <a:pt x="71692" y="415542"/>
                </a:lnTo>
                <a:lnTo>
                  <a:pt x="59689" y="389636"/>
                </a:lnTo>
                <a:close/>
              </a:path>
              <a:path w="981075" h="467995">
                <a:moveTo>
                  <a:pt x="71692" y="415542"/>
                </a:moveTo>
                <a:lnTo>
                  <a:pt x="58800" y="421513"/>
                </a:lnTo>
                <a:lnTo>
                  <a:pt x="70738" y="447548"/>
                </a:lnTo>
                <a:lnTo>
                  <a:pt x="83732" y="441530"/>
                </a:lnTo>
                <a:lnTo>
                  <a:pt x="71692" y="415542"/>
                </a:lnTo>
                <a:close/>
              </a:path>
              <a:path w="981075" h="467995">
                <a:moveTo>
                  <a:pt x="83732" y="441530"/>
                </a:moveTo>
                <a:lnTo>
                  <a:pt x="70738" y="447548"/>
                </a:lnTo>
                <a:lnTo>
                  <a:pt x="86520" y="447548"/>
                </a:lnTo>
                <a:lnTo>
                  <a:pt x="83732" y="441530"/>
                </a:lnTo>
                <a:close/>
              </a:path>
              <a:path w="981075" h="467995">
                <a:moveTo>
                  <a:pt x="968882" y="0"/>
                </a:moveTo>
                <a:lnTo>
                  <a:pt x="71692" y="415542"/>
                </a:lnTo>
                <a:lnTo>
                  <a:pt x="83732" y="441530"/>
                </a:lnTo>
                <a:lnTo>
                  <a:pt x="980947" y="26035"/>
                </a:lnTo>
                <a:lnTo>
                  <a:pt x="96888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200598"/>
            <a:ext cx="1342022" cy="2854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444" y="3277423"/>
            <a:ext cx="1140629" cy="98654"/>
          </a:xfrm>
          <a:custGeom>
            <a:avLst/>
            <a:gdLst/>
            <a:ahLst/>
            <a:cxnLst/>
            <a:rect l="l" t="t" r="r" b="b"/>
            <a:pathLst>
              <a:path w="975360" h="89535">
                <a:moveTo>
                  <a:pt x="86190" y="28583"/>
                </a:moveTo>
                <a:lnTo>
                  <a:pt x="85132" y="57157"/>
                </a:lnTo>
                <a:lnTo>
                  <a:pt x="974344" y="89281"/>
                </a:lnTo>
                <a:lnTo>
                  <a:pt x="975359" y="60706"/>
                </a:lnTo>
                <a:lnTo>
                  <a:pt x="86190" y="28583"/>
                </a:lnTo>
                <a:close/>
              </a:path>
              <a:path w="975360" h="89535">
                <a:moveTo>
                  <a:pt x="87249" y="0"/>
                </a:moveTo>
                <a:lnTo>
                  <a:pt x="0" y="39750"/>
                </a:lnTo>
                <a:lnTo>
                  <a:pt x="84074" y="85725"/>
                </a:lnTo>
                <a:lnTo>
                  <a:pt x="85132" y="57157"/>
                </a:lnTo>
                <a:lnTo>
                  <a:pt x="70865" y="56642"/>
                </a:lnTo>
                <a:lnTo>
                  <a:pt x="71881" y="28067"/>
                </a:lnTo>
                <a:lnTo>
                  <a:pt x="86209" y="28067"/>
                </a:lnTo>
                <a:lnTo>
                  <a:pt x="87249" y="0"/>
                </a:lnTo>
                <a:close/>
              </a:path>
              <a:path w="975360" h="89535">
                <a:moveTo>
                  <a:pt x="71881" y="28067"/>
                </a:moveTo>
                <a:lnTo>
                  <a:pt x="70865" y="56642"/>
                </a:lnTo>
                <a:lnTo>
                  <a:pt x="85132" y="57157"/>
                </a:lnTo>
                <a:lnTo>
                  <a:pt x="86190" y="28583"/>
                </a:lnTo>
                <a:lnTo>
                  <a:pt x="71881" y="28067"/>
                </a:lnTo>
                <a:close/>
              </a:path>
              <a:path w="975360" h="89535">
                <a:moveTo>
                  <a:pt x="86209" y="28067"/>
                </a:moveTo>
                <a:lnTo>
                  <a:pt x="71881" y="28067"/>
                </a:lnTo>
                <a:lnTo>
                  <a:pt x="86190" y="28583"/>
                </a:lnTo>
                <a:lnTo>
                  <a:pt x="86209" y="2806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23113" y="3151704"/>
            <a:ext cx="2189918" cy="29155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6" rIns="0" bIns="0" rtlCol="0">
            <a:spAutoFit/>
          </a:bodyPr>
          <a:lstStyle/>
          <a:p>
            <a:pPr marL="294007">
              <a:spcBef>
                <a:spcPts val="352"/>
              </a:spcBef>
            </a:pPr>
            <a:r>
              <a:rPr sz="1600" b="1" spc="-6" dirty="0">
                <a:latin typeface="Arial"/>
                <a:cs typeface="Arial"/>
              </a:rPr>
              <a:t>Fim da</a:t>
            </a:r>
            <a:r>
              <a:rPr sz="1600" b="1" spc="-91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inversão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60318" y="3751382"/>
            <a:ext cx="6341186" cy="3425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15120" y="3778251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136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584951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093804"/>
            <a:ext cx="9698171" cy="6232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09704" y="1093804"/>
            <a:ext cx="9722825" cy="62322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5" name="object 5"/>
          <p:cNvSpPr/>
          <p:nvPr/>
        </p:nvSpPr>
        <p:spPr>
          <a:xfrm>
            <a:off x="3860318" y="4226603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15120" y="4254309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41241" y="2698510"/>
            <a:ext cx="1056863" cy="2837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92583" y="2770717"/>
            <a:ext cx="856957" cy="94456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320319" y="2367800"/>
            <a:ext cx="2599833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69452" marR="160762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Incremento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4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variável  </a:t>
            </a:r>
            <a:r>
              <a:rPr sz="1600" b="1" dirty="0">
                <a:latin typeface="Arial"/>
                <a:cs typeface="Arial"/>
              </a:rPr>
              <a:t>e teste </a:t>
            </a:r>
            <a:r>
              <a:rPr sz="1600" b="1" spc="-6" dirty="0">
                <a:latin typeface="Arial"/>
                <a:cs typeface="Arial"/>
              </a:rPr>
              <a:t>da condição  </a:t>
            </a:r>
            <a:r>
              <a:rPr sz="1600" b="1" u="sng" spc="-6" dirty="0">
                <a:latin typeface="Arial"/>
                <a:cs typeface="Arial"/>
              </a:rPr>
              <a:t>verdadeiro</a:t>
            </a:r>
            <a:r>
              <a:rPr sz="1600" b="1" spc="-6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137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592007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093804"/>
            <a:ext cx="9732776" cy="6232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4465051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4492339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475989"/>
            <a:ext cx="1015873" cy="3072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741" y="3500898"/>
            <a:ext cx="814629" cy="153229"/>
          </a:xfrm>
          <a:custGeom>
            <a:avLst/>
            <a:gdLst/>
            <a:ahLst/>
            <a:cxnLst/>
            <a:rect l="l" t="t" r="r" b="b"/>
            <a:pathLst>
              <a:path w="696594" h="139064">
                <a:moveTo>
                  <a:pt x="79247" y="53721"/>
                </a:moveTo>
                <a:lnTo>
                  <a:pt x="0" y="107696"/>
                </a:lnTo>
                <a:lnTo>
                  <a:pt x="90678" y="138684"/>
                </a:lnTo>
                <a:lnTo>
                  <a:pt x="87124" y="112267"/>
                </a:lnTo>
                <a:lnTo>
                  <a:pt x="72771" y="112267"/>
                </a:lnTo>
                <a:lnTo>
                  <a:pt x="68960" y="83947"/>
                </a:lnTo>
                <a:lnTo>
                  <a:pt x="83059" y="82049"/>
                </a:lnTo>
                <a:lnTo>
                  <a:pt x="79247" y="53721"/>
                </a:lnTo>
                <a:close/>
              </a:path>
              <a:path w="696594" h="139064">
                <a:moveTo>
                  <a:pt x="83059" y="82049"/>
                </a:moveTo>
                <a:lnTo>
                  <a:pt x="68960" y="83947"/>
                </a:lnTo>
                <a:lnTo>
                  <a:pt x="72771" y="112267"/>
                </a:lnTo>
                <a:lnTo>
                  <a:pt x="86869" y="110370"/>
                </a:lnTo>
                <a:lnTo>
                  <a:pt x="83059" y="82049"/>
                </a:lnTo>
                <a:close/>
              </a:path>
              <a:path w="696594" h="139064">
                <a:moveTo>
                  <a:pt x="86869" y="110370"/>
                </a:moveTo>
                <a:lnTo>
                  <a:pt x="72771" y="112267"/>
                </a:lnTo>
                <a:lnTo>
                  <a:pt x="87124" y="112267"/>
                </a:lnTo>
                <a:lnTo>
                  <a:pt x="86869" y="110370"/>
                </a:lnTo>
                <a:close/>
              </a:path>
              <a:path w="696594" h="139064">
                <a:moveTo>
                  <a:pt x="692785" y="0"/>
                </a:moveTo>
                <a:lnTo>
                  <a:pt x="83059" y="82049"/>
                </a:lnTo>
                <a:lnTo>
                  <a:pt x="86869" y="110370"/>
                </a:lnTo>
                <a:lnTo>
                  <a:pt x="696595" y="28321"/>
                </a:lnTo>
                <a:lnTo>
                  <a:pt x="69278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30547" y="3341652"/>
            <a:ext cx="1014091" cy="2837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81740" y="3420576"/>
            <a:ext cx="813887" cy="111948"/>
          </a:xfrm>
          <a:custGeom>
            <a:avLst/>
            <a:gdLst/>
            <a:ahLst/>
            <a:cxnLst/>
            <a:rect l="l" t="t" r="r" b="b"/>
            <a:pathLst>
              <a:path w="695960" h="101600">
                <a:moveTo>
                  <a:pt x="86567" y="28590"/>
                </a:moveTo>
                <a:lnTo>
                  <a:pt x="84498" y="57044"/>
                </a:lnTo>
                <a:lnTo>
                  <a:pt x="693673" y="101346"/>
                </a:lnTo>
                <a:lnTo>
                  <a:pt x="695705" y="72898"/>
                </a:lnTo>
                <a:lnTo>
                  <a:pt x="86567" y="28590"/>
                </a:lnTo>
                <a:close/>
              </a:path>
              <a:path w="695960" h="101600">
                <a:moveTo>
                  <a:pt x="88646" y="0"/>
                </a:moveTo>
                <a:lnTo>
                  <a:pt x="0" y="36575"/>
                </a:lnTo>
                <a:lnTo>
                  <a:pt x="82422" y="85598"/>
                </a:lnTo>
                <a:lnTo>
                  <a:pt x="84498" y="57044"/>
                </a:lnTo>
                <a:lnTo>
                  <a:pt x="70230" y="56007"/>
                </a:lnTo>
                <a:lnTo>
                  <a:pt x="72390" y="27559"/>
                </a:lnTo>
                <a:lnTo>
                  <a:pt x="86642" y="27559"/>
                </a:lnTo>
                <a:lnTo>
                  <a:pt x="88646" y="0"/>
                </a:lnTo>
                <a:close/>
              </a:path>
              <a:path w="695960" h="101600">
                <a:moveTo>
                  <a:pt x="72390" y="27559"/>
                </a:moveTo>
                <a:lnTo>
                  <a:pt x="70230" y="56007"/>
                </a:lnTo>
                <a:lnTo>
                  <a:pt x="84498" y="57044"/>
                </a:lnTo>
                <a:lnTo>
                  <a:pt x="86567" y="28590"/>
                </a:lnTo>
                <a:lnTo>
                  <a:pt x="72390" y="27559"/>
                </a:lnTo>
                <a:close/>
              </a:path>
              <a:path w="695960" h="101600">
                <a:moveTo>
                  <a:pt x="86642" y="27559"/>
                </a:moveTo>
                <a:lnTo>
                  <a:pt x="72390" y="27559"/>
                </a:lnTo>
                <a:lnTo>
                  <a:pt x="86567" y="28590"/>
                </a:lnTo>
                <a:lnTo>
                  <a:pt x="86642" y="2755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94142" y="3109597"/>
            <a:ext cx="2442401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09347" marR="101382" indent="724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Início </a:t>
            </a:r>
            <a:r>
              <a:rPr sz="1600" b="1" spc="-6" dirty="0">
                <a:latin typeface="Arial"/>
                <a:cs typeface="Arial"/>
              </a:rPr>
              <a:t>da inversão do  </a:t>
            </a:r>
            <a:r>
              <a:rPr sz="1600" b="1" dirty="0">
                <a:latin typeface="Arial"/>
                <a:cs typeface="Arial"/>
              </a:rPr>
              <a:t>terceiro elemento</a:t>
            </a:r>
            <a:r>
              <a:rPr sz="1600" b="1" spc="-171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com  </a:t>
            </a:r>
            <a:r>
              <a:rPr sz="1600" b="1" dirty="0">
                <a:latin typeface="Arial"/>
                <a:cs typeface="Arial"/>
              </a:rPr>
              <a:t>o</a:t>
            </a:r>
            <a:r>
              <a:rPr sz="1600" b="1" spc="-80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antepenúltimo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138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130511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116402"/>
            <a:ext cx="9732776" cy="62511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09704" y="1116458"/>
            <a:ext cx="9732776" cy="62728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5" name="object 5"/>
          <p:cNvSpPr/>
          <p:nvPr/>
        </p:nvSpPr>
        <p:spPr>
          <a:xfrm>
            <a:off x="3860318" y="4782426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15120" y="4809712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30548" y="3475990"/>
            <a:ext cx="1017655" cy="3744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81741" y="3501178"/>
            <a:ext cx="816114" cy="210602"/>
          </a:xfrm>
          <a:custGeom>
            <a:avLst/>
            <a:gdLst/>
            <a:ahLst/>
            <a:cxnLst/>
            <a:rect l="l" t="t" r="r" b="b"/>
            <a:pathLst>
              <a:path w="697864" h="191135">
                <a:moveTo>
                  <a:pt x="74422" y="107442"/>
                </a:moveTo>
                <a:lnTo>
                  <a:pt x="0" y="167894"/>
                </a:lnTo>
                <a:lnTo>
                  <a:pt x="93090" y="191135"/>
                </a:lnTo>
                <a:lnTo>
                  <a:pt x="87566" y="166370"/>
                </a:lnTo>
                <a:lnTo>
                  <a:pt x="72897" y="166370"/>
                </a:lnTo>
                <a:lnTo>
                  <a:pt x="66674" y="138430"/>
                </a:lnTo>
                <a:lnTo>
                  <a:pt x="80644" y="135335"/>
                </a:lnTo>
                <a:lnTo>
                  <a:pt x="74422" y="107442"/>
                </a:lnTo>
                <a:close/>
              </a:path>
              <a:path w="697864" h="191135">
                <a:moveTo>
                  <a:pt x="80644" y="135335"/>
                </a:moveTo>
                <a:lnTo>
                  <a:pt x="66674" y="138430"/>
                </a:lnTo>
                <a:lnTo>
                  <a:pt x="72897" y="166370"/>
                </a:lnTo>
                <a:lnTo>
                  <a:pt x="86876" y="163273"/>
                </a:lnTo>
                <a:lnTo>
                  <a:pt x="80644" y="135335"/>
                </a:lnTo>
                <a:close/>
              </a:path>
              <a:path w="697864" h="191135">
                <a:moveTo>
                  <a:pt x="86876" y="163273"/>
                </a:moveTo>
                <a:lnTo>
                  <a:pt x="72897" y="166370"/>
                </a:lnTo>
                <a:lnTo>
                  <a:pt x="87566" y="166370"/>
                </a:lnTo>
                <a:lnTo>
                  <a:pt x="86876" y="163273"/>
                </a:lnTo>
                <a:close/>
              </a:path>
              <a:path w="697864" h="191135">
                <a:moveTo>
                  <a:pt x="691515" y="0"/>
                </a:moveTo>
                <a:lnTo>
                  <a:pt x="80644" y="135335"/>
                </a:lnTo>
                <a:lnTo>
                  <a:pt x="86876" y="163273"/>
                </a:lnTo>
                <a:lnTo>
                  <a:pt x="697737" y="27939"/>
                </a:lnTo>
                <a:lnTo>
                  <a:pt x="6915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30547" y="3397065"/>
            <a:ext cx="1014091" cy="2837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81740" y="3469273"/>
            <a:ext cx="812401" cy="94456"/>
          </a:xfrm>
          <a:custGeom>
            <a:avLst/>
            <a:gdLst/>
            <a:ahLst/>
            <a:cxnLst/>
            <a:rect l="l" t="t" r="r" b="b"/>
            <a:pathLst>
              <a:path w="694689" h="85725">
                <a:moveTo>
                  <a:pt x="85724" y="0"/>
                </a:moveTo>
                <a:lnTo>
                  <a:pt x="0" y="42925"/>
                </a:lnTo>
                <a:lnTo>
                  <a:pt x="85724" y="85725"/>
                </a:lnTo>
                <a:lnTo>
                  <a:pt x="85724" y="57150"/>
                </a:lnTo>
                <a:lnTo>
                  <a:pt x="71501" y="57150"/>
                </a:lnTo>
                <a:lnTo>
                  <a:pt x="71501" y="28575"/>
                </a:lnTo>
                <a:lnTo>
                  <a:pt x="85724" y="28575"/>
                </a:lnTo>
                <a:lnTo>
                  <a:pt x="85724" y="0"/>
                </a:lnTo>
                <a:close/>
              </a:path>
              <a:path w="694689" h="85725">
                <a:moveTo>
                  <a:pt x="85724" y="28575"/>
                </a:moveTo>
                <a:lnTo>
                  <a:pt x="71501" y="28575"/>
                </a:lnTo>
                <a:lnTo>
                  <a:pt x="71501" y="57150"/>
                </a:lnTo>
                <a:lnTo>
                  <a:pt x="85724" y="57150"/>
                </a:lnTo>
                <a:lnTo>
                  <a:pt x="85724" y="28575"/>
                </a:lnTo>
                <a:close/>
              </a:path>
              <a:path w="694689" h="85725">
                <a:moveTo>
                  <a:pt x="694690" y="28575"/>
                </a:moveTo>
                <a:lnTo>
                  <a:pt x="85724" y="28575"/>
                </a:lnTo>
                <a:lnTo>
                  <a:pt x="85724" y="57150"/>
                </a:lnTo>
                <a:lnTo>
                  <a:pt x="694690" y="57150"/>
                </a:lnTo>
                <a:lnTo>
                  <a:pt x="694690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688349" y="3347054"/>
            <a:ext cx="21899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367146">
              <a:spcBef>
                <a:spcPts val="348"/>
              </a:spcBef>
            </a:pPr>
            <a:r>
              <a:rPr sz="1600" b="1" spc="-6" dirty="0">
                <a:latin typeface="Arial"/>
                <a:cs typeface="Arial"/>
              </a:rPr>
              <a:t>Continuação...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139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549599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116402"/>
            <a:ext cx="9747330" cy="62511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3751382"/>
            <a:ext cx="6341186" cy="3425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3778251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0547" y="3511253"/>
            <a:ext cx="1015873" cy="3072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81741" y="3535462"/>
            <a:ext cx="814629" cy="153229"/>
          </a:xfrm>
          <a:custGeom>
            <a:avLst/>
            <a:gdLst/>
            <a:ahLst/>
            <a:cxnLst/>
            <a:rect l="l" t="t" r="r" b="b"/>
            <a:pathLst>
              <a:path w="696594" h="139064">
                <a:moveTo>
                  <a:pt x="79247" y="53721"/>
                </a:moveTo>
                <a:lnTo>
                  <a:pt x="0" y="107696"/>
                </a:lnTo>
                <a:lnTo>
                  <a:pt x="90678" y="138684"/>
                </a:lnTo>
                <a:lnTo>
                  <a:pt x="87124" y="112268"/>
                </a:lnTo>
                <a:lnTo>
                  <a:pt x="72771" y="112268"/>
                </a:lnTo>
                <a:lnTo>
                  <a:pt x="68960" y="83947"/>
                </a:lnTo>
                <a:lnTo>
                  <a:pt x="83059" y="82049"/>
                </a:lnTo>
                <a:lnTo>
                  <a:pt x="79247" y="53721"/>
                </a:lnTo>
                <a:close/>
              </a:path>
              <a:path w="696594" h="139064">
                <a:moveTo>
                  <a:pt x="83059" y="82049"/>
                </a:moveTo>
                <a:lnTo>
                  <a:pt x="68960" y="83947"/>
                </a:lnTo>
                <a:lnTo>
                  <a:pt x="72771" y="112268"/>
                </a:lnTo>
                <a:lnTo>
                  <a:pt x="86869" y="110370"/>
                </a:lnTo>
                <a:lnTo>
                  <a:pt x="83059" y="82049"/>
                </a:lnTo>
                <a:close/>
              </a:path>
              <a:path w="696594" h="139064">
                <a:moveTo>
                  <a:pt x="86869" y="110370"/>
                </a:moveTo>
                <a:lnTo>
                  <a:pt x="72771" y="112268"/>
                </a:lnTo>
                <a:lnTo>
                  <a:pt x="87124" y="112268"/>
                </a:lnTo>
                <a:lnTo>
                  <a:pt x="86869" y="110370"/>
                </a:lnTo>
                <a:close/>
              </a:path>
              <a:path w="696594" h="139064">
                <a:moveTo>
                  <a:pt x="692785" y="0"/>
                </a:moveTo>
                <a:lnTo>
                  <a:pt x="83059" y="82049"/>
                </a:lnTo>
                <a:lnTo>
                  <a:pt x="86869" y="110370"/>
                </a:lnTo>
                <a:lnTo>
                  <a:pt x="696595" y="28321"/>
                </a:lnTo>
                <a:lnTo>
                  <a:pt x="69278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30547" y="3375236"/>
            <a:ext cx="1014091" cy="2837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81740" y="3455140"/>
            <a:ext cx="813887" cy="111948"/>
          </a:xfrm>
          <a:custGeom>
            <a:avLst/>
            <a:gdLst/>
            <a:ahLst/>
            <a:cxnLst/>
            <a:rect l="l" t="t" r="r" b="b"/>
            <a:pathLst>
              <a:path w="695960" h="101600">
                <a:moveTo>
                  <a:pt x="86567" y="28590"/>
                </a:moveTo>
                <a:lnTo>
                  <a:pt x="84498" y="57044"/>
                </a:lnTo>
                <a:lnTo>
                  <a:pt x="693673" y="101345"/>
                </a:lnTo>
                <a:lnTo>
                  <a:pt x="695705" y="72897"/>
                </a:lnTo>
                <a:lnTo>
                  <a:pt x="86567" y="28590"/>
                </a:lnTo>
                <a:close/>
              </a:path>
              <a:path w="695960" h="101600">
                <a:moveTo>
                  <a:pt x="88646" y="0"/>
                </a:moveTo>
                <a:lnTo>
                  <a:pt x="0" y="36575"/>
                </a:lnTo>
                <a:lnTo>
                  <a:pt x="82422" y="85597"/>
                </a:lnTo>
                <a:lnTo>
                  <a:pt x="84498" y="57044"/>
                </a:lnTo>
                <a:lnTo>
                  <a:pt x="70230" y="56006"/>
                </a:lnTo>
                <a:lnTo>
                  <a:pt x="72390" y="27558"/>
                </a:lnTo>
                <a:lnTo>
                  <a:pt x="86642" y="27558"/>
                </a:lnTo>
                <a:lnTo>
                  <a:pt x="88646" y="0"/>
                </a:lnTo>
                <a:close/>
              </a:path>
              <a:path w="695960" h="101600">
                <a:moveTo>
                  <a:pt x="72390" y="27558"/>
                </a:moveTo>
                <a:lnTo>
                  <a:pt x="70230" y="56006"/>
                </a:lnTo>
                <a:lnTo>
                  <a:pt x="84498" y="57044"/>
                </a:lnTo>
                <a:lnTo>
                  <a:pt x="86567" y="28590"/>
                </a:lnTo>
                <a:lnTo>
                  <a:pt x="72390" y="27558"/>
                </a:lnTo>
                <a:close/>
              </a:path>
              <a:path w="695960" h="101600">
                <a:moveTo>
                  <a:pt x="86642" y="27558"/>
                </a:moveTo>
                <a:lnTo>
                  <a:pt x="72390" y="27558"/>
                </a:lnTo>
                <a:lnTo>
                  <a:pt x="86567" y="28590"/>
                </a:lnTo>
                <a:lnTo>
                  <a:pt x="86642" y="2755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63696" y="3381478"/>
            <a:ext cx="2189918" cy="29082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294007">
              <a:spcBef>
                <a:spcPts val="348"/>
              </a:spcBef>
            </a:pPr>
            <a:r>
              <a:rPr sz="1600" b="1" spc="-6" dirty="0">
                <a:latin typeface="Arial"/>
                <a:cs typeface="Arial"/>
              </a:rPr>
              <a:t>Fim da</a:t>
            </a:r>
            <a:r>
              <a:rPr sz="1600" b="1" spc="-91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inversão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140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844881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704" y="1121216"/>
            <a:ext cx="9747330" cy="62699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1741241" y="2698510"/>
            <a:ext cx="1056863" cy="2837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92583" y="2770717"/>
            <a:ext cx="856957" cy="94456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20319" y="2367800"/>
            <a:ext cx="2599833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69452" marR="160762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Incremento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4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variável  </a:t>
            </a:r>
            <a:r>
              <a:rPr sz="1600" b="1" dirty="0">
                <a:latin typeface="Arial"/>
                <a:cs typeface="Arial"/>
              </a:rPr>
              <a:t>e teste </a:t>
            </a:r>
            <a:r>
              <a:rPr sz="1600" b="1" spc="-6" dirty="0">
                <a:latin typeface="Arial"/>
                <a:cs typeface="Arial"/>
              </a:rPr>
              <a:t>da condição  </a:t>
            </a:r>
            <a:r>
              <a:rPr sz="1600" b="1" u="sng" dirty="0">
                <a:latin typeface="Arial"/>
                <a:cs typeface="Arial"/>
              </a:rPr>
              <a:t>falso</a:t>
            </a:r>
            <a:r>
              <a:rPr sz="1600" b="1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60318" y="5324813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15120" y="5351262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141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636077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372" y="1121216"/>
            <a:ext cx="9776738" cy="62699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64022" y="5563262"/>
            <a:ext cx="1933722" cy="3224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13627" y="5588031"/>
            <a:ext cx="1733222" cy="174919"/>
          </a:xfrm>
          <a:custGeom>
            <a:avLst/>
            <a:gdLst/>
            <a:ahLst/>
            <a:cxnLst/>
            <a:rect l="l" t="t" r="r" b="b"/>
            <a:pathLst>
              <a:path w="1482089" h="158750">
                <a:moveTo>
                  <a:pt x="1399539" y="72770"/>
                </a:moveTo>
                <a:lnTo>
                  <a:pt x="1397470" y="101200"/>
                </a:lnTo>
                <a:lnTo>
                  <a:pt x="1411732" y="102234"/>
                </a:lnTo>
                <a:lnTo>
                  <a:pt x="1409700" y="130809"/>
                </a:lnTo>
                <a:lnTo>
                  <a:pt x="1395314" y="130809"/>
                </a:lnTo>
                <a:lnTo>
                  <a:pt x="1393316" y="158241"/>
                </a:lnTo>
                <a:lnTo>
                  <a:pt x="1459801" y="130809"/>
                </a:lnTo>
                <a:lnTo>
                  <a:pt x="1409700" y="130809"/>
                </a:lnTo>
                <a:lnTo>
                  <a:pt x="1395389" y="129772"/>
                </a:lnTo>
                <a:lnTo>
                  <a:pt x="1462316" y="129772"/>
                </a:lnTo>
                <a:lnTo>
                  <a:pt x="1481963" y="121665"/>
                </a:lnTo>
                <a:lnTo>
                  <a:pt x="1399539" y="72770"/>
                </a:lnTo>
                <a:close/>
              </a:path>
              <a:path w="1482089" h="158750">
                <a:moveTo>
                  <a:pt x="1397470" y="101200"/>
                </a:moveTo>
                <a:lnTo>
                  <a:pt x="1395389" y="129772"/>
                </a:lnTo>
                <a:lnTo>
                  <a:pt x="1409700" y="130809"/>
                </a:lnTo>
                <a:lnTo>
                  <a:pt x="1411732" y="102234"/>
                </a:lnTo>
                <a:lnTo>
                  <a:pt x="1397470" y="101200"/>
                </a:lnTo>
                <a:close/>
              </a:path>
              <a:path w="1482089" h="158750">
                <a:moveTo>
                  <a:pt x="2158" y="0"/>
                </a:moveTo>
                <a:lnTo>
                  <a:pt x="0" y="28574"/>
                </a:lnTo>
                <a:lnTo>
                  <a:pt x="1395389" y="129772"/>
                </a:lnTo>
                <a:lnTo>
                  <a:pt x="1397470" y="101200"/>
                </a:lnTo>
                <a:lnTo>
                  <a:pt x="215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15180" y="5027199"/>
            <a:ext cx="2599833" cy="537779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898" rIns="0" bIns="0" rtlCol="0">
            <a:spAutoFit/>
          </a:bodyPr>
          <a:lstStyle/>
          <a:p>
            <a:pPr marL="339628" marR="330214" indent="156417">
              <a:spcBef>
                <a:spcPts val="354"/>
              </a:spcBef>
            </a:pPr>
            <a:r>
              <a:rPr sz="1600" b="1" dirty="0">
                <a:latin typeface="Arial"/>
                <a:cs typeface="Arial"/>
              </a:rPr>
              <a:t>Impressões </a:t>
            </a:r>
            <a:r>
              <a:rPr sz="1600" b="1" spc="-6" dirty="0">
                <a:latin typeface="Arial"/>
                <a:cs typeface="Arial"/>
              </a:rPr>
              <a:t>dos  elementos do</a:t>
            </a:r>
            <a:r>
              <a:rPr sz="1600" b="1" spc="-10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vetor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75103" y="2673320"/>
            <a:ext cx="684378" cy="2837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25405" y="2745248"/>
            <a:ext cx="484173" cy="94456"/>
          </a:xfrm>
          <a:custGeom>
            <a:avLst/>
            <a:gdLst/>
            <a:ahLst/>
            <a:cxnLst/>
            <a:rect l="l" t="t" r="r" b="b"/>
            <a:pathLst>
              <a:path w="41401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1" y="57150"/>
                </a:lnTo>
                <a:lnTo>
                  <a:pt x="71501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414019" h="85725">
                <a:moveTo>
                  <a:pt x="85725" y="28575"/>
                </a:moveTo>
                <a:lnTo>
                  <a:pt x="71501" y="28575"/>
                </a:lnTo>
                <a:lnTo>
                  <a:pt x="71501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414019" h="85725">
                <a:moveTo>
                  <a:pt x="413766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413766" y="57150"/>
                </a:lnTo>
                <a:lnTo>
                  <a:pt x="413766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561366" y="2622973"/>
            <a:ext cx="2189918" cy="537047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530081" marR="104278" indent="-417113">
              <a:spcBef>
                <a:spcPts val="348"/>
              </a:spcBef>
            </a:pPr>
            <a:r>
              <a:rPr sz="1600" b="1" spc="-11" dirty="0">
                <a:latin typeface="Arial"/>
                <a:cs typeface="Arial"/>
              </a:rPr>
              <a:t>Variável </a:t>
            </a:r>
            <a:r>
              <a:rPr sz="1600" b="1" spc="-6" dirty="0">
                <a:latin typeface="Arial"/>
                <a:cs typeface="Arial"/>
              </a:rPr>
              <a:t>inicializada  novamente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142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52406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372" y="1121237"/>
            <a:ext cx="9776738" cy="62982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74575" y="5338248"/>
            <a:ext cx="6342968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29824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03230" y="6194650"/>
            <a:ext cx="3516346" cy="92189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52687" y="6220329"/>
            <a:ext cx="3316439" cy="757049"/>
          </a:xfrm>
          <a:custGeom>
            <a:avLst/>
            <a:gdLst/>
            <a:ahLst/>
            <a:cxnLst/>
            <a:rect l="l" t="t" r="r" b="b"/>
            <a:pathLst>
              <a:path w="2835910" h="687070">
                <a:moveTo>
                  <a:pt x="2748829" y="658727"/>
                </a:moveTo>
                <a:lnTo>
                  <a:pt x="2742437" y="686574"/>
                </a:lnTo>
                <a:lnTo>
                  <a:pt x="2835529" y="663981"/>
                </a:lnTo>
                <a:lnTo>
                  <a:pt x="2833034" y="661924"/>
                </a:lnTo>
                <a:lnTo>
                  <a:pt x="2762758" y="661924"/>
                </a:lnTo>
                <a:lnTo>
                  <a:pt x="2748829" y="658727"/>
                </a:lnTo>
                <a:close/>
              </a:path>
              <a:path w="2835910" h="687070">
                <a:moveTo>
                  <a:pt x="2755219" y="630885"/>
                </a:moveTo>
                <a:lnTo>
                  <a:pt x="2748829" y="658727"/>
                </a:lnTo>
                <a:lnTo>
                  <a:pt x="2762758" y="661924"/>
                </a:lnTo>
                <a:lnTo>
                  <a:pt x="2769108" y="634072"/>
                </a:lnTo>
                <a:lnTo>
                  <a:pt x="2755219" y="630885"/>
                </a:lnTo>
                <a:close/>
              </a:path>
              <a:path w="2835910" h="687070">
                <a:moveTo>
                  <a:pt x="2761615" y="603021"/>
                </a:moveTo>
                <a:lnTo>
                  <a:pt x="2755219" y="630885"/>
                </a:lnTo>
                <a:lnTo>
                  <a:pt x="2769108" y="634072"/>
                </a:lnTo>
                <a:lnTo>
                  <a:pt x="2762758" y="661924"/>
                </a:lnTo>
                <a:lnTo>
                  <a:pt x="2833034" y="661924"/>
                </a:lnTo>
                <a:lnTo>
                  <a:pt x="2761615" y="603021"/>
                </a:lnTo>
                <a:close/>
              </a:path>
              <a:path w="2835910" h="687070">
                <a:moveTo>
                  <a:pt x="6476" y="0"/>
                </a:moveTo>
                <a:lnTo>
                  <a:pt x="0" y="27851"/>
                </a:lnTo>
                <a:lnTo>
                  <a:pt x="2748829" y="658727"/>
                </a:lnTo>
                <a:lnTo>
                  <a:pt x="2755219" y="630885"/>
                </a:lnTo>
                <a:lnTo>
                  <a:pt x="64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56752" y="5659174"/>
            <a:ext cx="2599833" cy="538510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5622" rIns="0" bIns="0" rtlCol="0">
            <a:spAutoFit/>
          </a:bodyPr>
          <a:lstStyle/>
          <a:p>
            <a:pPr marL="339628" marR="330214" indent="156417">
              <a:spcBef>
                <a:spcPts val="359"/>
              </a:spcBef>
            </a:pPr>
            <a:r>
              <a:rPr sz="1600" b="1" dirty="0">
                <a:latin typeface="Arial"/>
                <a:cs typeface="Arial"/>
              </a:rPr>
              <a:t>Impressões </a:t>
            </a:r>
            <a:r>
              <a:rPr sz="1600" b="1" spc="-6" dirty="0">
                <a:latin typeface="Arial"/>
                <a:cs typeface="Arial"/>
              </a:rPr>
              <a:t>dos  elementos do</a:t>
            </a:r>
            <a:r>
              <a:rPr sz="1600" b="1" spc="-10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vetor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51963" y="6235680"/>
            <a:ext cx="2105263" cy="525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143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504026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372" y="1121169"/>
            <a:ext cx="9776738" cy="63359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851963" y="6235680"/>
            <a:ext cx="2105263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144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72713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372" y="1121239"/>
            <a:ext cx="9791293" cy="62982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9372" y="1136422"/>
            <a:ext cx="9767677" cy="63207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5" name="object 5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57226" y="6235680"/>
            <a:ext cx="1599999" cy="525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145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2426000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8951" y="1136462"/>
            <a:ext cx="9758173" cy="6330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08308" y="1136442"/>
            <a:ext cx="9787283" cy="2069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08308" y="1136442"/>
            <a:ext cx="9787283" cy="37485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104594" y="6621047"/>
            <a:ext cx="1161644" cy="525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357226" y="6235680"/>
            <a:ext cx="1599999" cy="525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146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4135728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36462"/>
            <a:ext cx="9787283" cy="6330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62488" y="6235680"/>
            <a:ext cx="1094722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147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51088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38561"/>
            <a:ext cx="9798570" cy="6328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62488" y="6235680"/>
            <a:ext cx="1094722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148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967177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40966"/>
            <a:ext cx="9798570" cy="63501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99330" y="6235680"/>
            <a:ext cx="757880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149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151019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41006"/>
            <a:ext cx="9798570" cy="63376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99330" y="6235680"/>
            <a:ext cx="757880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150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280432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40950"/>
            <a:ext cx="9798570" cy="63471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78205" y="6235680"/>
            <a:ext cx="378947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151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487861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308" y="1141004"/>
            <a:ext cx="9798570" cy="63376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576697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603146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78205" y="6235680"/>
            <a:ext cx="378947" cy="525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152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909685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3204" y="1141045"/>
            <a:ext cx="9783718" cy="63309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338248"/>
            <a:ext cx="6341186" cy="3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36511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7"/>
                </a:moveTo>
                <a:lnTo>
                  <a:pt x="5328539" y="216027"/>
                </a:lnTo>
                <a:lnTo>
                  <a:pt x="5328539" y="0"/>
                </a:lnTo>
                <a:lnTo>
                  <a:pt x="0" y="0"/>
                </a:lnTo>
                <a:lnTo>
                  <a:pt x="0" y="216027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153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1566339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3204" y="1140986"/>
            <a:ext cx="9783718" cy="63215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3860318" y="5813468"/>
            <a:ext cx="6341186" cy="3425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5120" y="5841175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41241" y="2698510"/>
            <a:ext cx="1056863" cy="2837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92583" y="2770717"/>
            <a:ext cx="856957" cy="94456"/>
          </a:xfrm>
          <a:custGeom>
            <a:avLst/>
            <a:gdLst/>
            <a:ahLst/>
            <a:cxnLst/>
            <a:rect l="l" t="t" r="r" b="b"/>
            <a:pathLst>
              <a:path w="732789" h="85725">
                <a:moveTo>
                  <a:pt x="85725" y="0"/>
                </a:moveTo>
                <a:lnTo>
                  <a:pt x="0" y="42925"/>
                </a:lnTo>
                <a:lnTo>
                  <a:pt x="85725" y="85725"/>
                </a:lnTo>
                <a:lnTo>
                  <a:pt x="85725" y="57150"/>
                </a:lnTo>
                <a:lnTo>
                  <a:pt x="71500" y="57150"/>
                </a:lnTo>
                <a:lnTo>
                  <a:pt x="71500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732789" h="85725">
                <a:moveTo>
                  <a:pt x="85725" y="28575"/>
                </a:moveTo>
                <a:lnTo>
                  <a:pt x="71500" y="28575"/>
                </a:lnTo>
                <a:lnTo>
                  <a:pt x="71500" y="57150"/>
                </a:lnTo>
                <a:lnTo>
                  <a:pt x="85725" y="57150"/>
                </a:lnTo>
                <a:lnTo>
                  <a:pt x="85725" y="28575"/>
                </a:lnTo>
                <a:close/>
              </a:path>
              <a:path w="732789" h="85725">
                <a:moveTo>
                  <a:pt x="732282" y="28575"/>
                </a:moveTo>
                <a:lnTo>
                  <a:pt x="85725" y="28575"/>
                </a:lnTo>
                <a:lnTo>
                  <a:pt x="85725" y="57150"/>
                </a:lnTo>
                <a:lnTo>
                  <a:pt x="732282" y="57150"/>
                </a:lnTo>
                <a:lnTo>
                  <a:pt x="732282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20319" y="2367800"/>
            <a:ext cx="2599833" cy="814423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4173" rIns="0" bIns="0" rtlCol="0">
            <a:spAutoFit/>
          </a:bodyPr>
          <a:lstStyle/>
          <a:p>
            <a:pPr marL="169452" marR="160762" algn="ctr">
              <a:spcBef>
                <a:spcPts val="348"/>
              </a:spcBef>
            </a:pPr>
            <a:r>
              <a:rPr sz="1600" b="1" dirty="0">
                <a:latin typeface="Arial"/>
                <a:cs typeface="Arial"/>
              </a:rPr>
              <a:t>Incremento </a:t>
            </a:r>
            <a:r>
              <a:rPr sz="1600" b="1" spc="-6" dirty="0">
                <a:latin typeface="Arial"/>
                <a:cs typeface="Arial"/>
              </a:rPr>
              <a:t>da</a:t>
            </a:r>
            <a:r>
              <a:rPr sz="1600" b="1" spc="-148" dirty="0">
                <a:latin typeface="Arial"/>
                <a:cs typeface="Arial"/>
              </a:rPr>
              <a:t> </a:t>
            </a:r>
            <a:r>
              <a:rPr sz="1600" b="1" spc="-6" dirty="0">
                <a:latin typeface="Arial"/>
                <a:cs typeface="Arial"/>
              </a:rPr>
              <a:t>variável  </a:t>
            </a:r>
            <a:r>
              <a:rPr sz="1600" b="1" dirty="0">
                <a:latin typeface="Arial"/>
                <a:cs typeface="Arial"/>
              </a:rPr>
              <a:t>e teste </a:t>
            </a:r>
            <a:r>
              <a:rPr sz="1600" b="1" spc="-6" dirty="0">
                <a:latin typeface="Arial"/>
                <a:cs typeface="Arial"/>
              </a:rPr>
              <a:t>da condição  </a:t>
            </a:r>
            <a:r>
              <a:rPr sz="1600" b="1" u="sng" dirty="0">
                <a:latin typeface="Arial"/>
                <a:cs typeface="Arial"/>
              </a:rPr>
              <a:t>falso</a:t>
            </a:r>
            <a:r>
              <a:rPr sz="1600" b="1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93390" y="6235162"/>
            <a:ext cx="4536823" cy="11795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154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044072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3204" y="1141040"/>
            <a:ext cx="9783718" cy="6396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Execu</a:t>
            </a:r>
            <a:r>
              <a:rPr dirty="0"/>
              <a:t>ç</a:t>
            </a:r>
            <a:r>
              <a:rPr spc="-6" dirty="0"/>
              <a:t>ão</a:t>
            </a:r>
          </a:p>
        </p:txBody>
      </p:sp>
      <p:sp>
        <p:nvSpPr>
          <p:cNvPr id="4" name="object 4"/>
          <p:cNvSpPr/>
          <p:nvPr/>
        </p:nvSpPr>
        <p:spPr>
          <a:xfrm>
            <a:off x="2512948" y="5828579"/>
            <a:ext cx="1552324" cy="5507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63446" y="5853908"/>
            <a:ext cx="1352270" cy="382023"/>
          </a:xfrm>
          <a:custGeom>
            <a:avLst/>
            <a:gdLst/>
            <a:ahLst/>
            <a:cxnLst/>
            <a:rect l="l" t="t" r="r" b="b"/>
            <a:pathLst>
              <a:path w="1156335" h="346710">
                <a:moveTo>
                  <a:pt x="1069341" y="318560"/>
                </a:moveTo>
                <a:lnTo>
                  <a:pt x="1061846" y="346151"/>
                </a:lnTo>
                <a:lnTo>
                  <a:pt x="1155827" y="327291"/>
                </a:lnTo>
                <a:lnTo>
                  <a:pt x="1150270" y="322326"/>
                </a:lnTo>
                <a:lnTo>
                  <a:pt x="1083183" y="322326"/>
                </a:lnTo>
                <a:lnTo>
                  <a:pt x="1069341" y="318560"/>
                </a:lnTo>
                <a:close/>
              </a:path>
              <a:path w="1156335" h="346710">
                <a:moveTo>
                  <a:pt x="1076831" y="290987"/>
                </a:moveTo>
                <a:lnTo>
                  <a:pt x="1069341" y="318560"/>
                </a:lnTo>
                <a:lnTo>
                  <a:pt x="1083183" y="322326"/>
                </a:lnTo>
                <a:lnTo>
                  <a:pt x="1090676" y="294754"/>
                </a:lnTo>
                <a:lnTo>
                  <a:pt x="1076831" y="290987"/>
                </a:lnTo>
                <a:close/>
              </a:path>
              <a:path w="1156335" h="346710">
                <a:moveTo>
                  <a:pt x="1084326" y="263398"/>
                </a:moveTo>
                <a:lnTo>
                  <a:pt x="1076831" y="290987"/>
                </a:lnTo>
                <a:lnTo>
                  <a:pt x="1090676" y="294754"/>
                </a:lnTo>
                <a:lnTo>
                  <a:pt x="1083183" y="322326"/>
                </a:lnTo>
                <a:lnTo>
                  <a:pt x="1150270" y="322326"/>
                </a:lnTo>
                <a:lnTo>
                  <a:pt x="1084326" y="263398"/>
                </a:lnTo>
                <a:close/>
              </a:path>
              <a:path w="1156335" h="346710">
                <a:moveTo>
                  <a:pt x="7493" y="0"/>
                </a:moveTo>
                <a:lnTo>
                  <a:pt x="0" y="27686"/>
                </a:lnTo>
                <a:lnTo>
                  <a:pt x="1069341" y="318560"/>
                </a:lnTo>
                <a:lnTo>
                  <a:pt x="1076831" y="290987"/>
                </a:lnTo>
                <a:lnTo>
                  <a:pt x="749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57226" y="5654711"/>
            <a:ext cx="1010675" cy="397816"/>
          </a:xfrm>
          <a:prstGeom prst="rect">
            <a:avLst/>
          </a:prstGeom>
          <a:solidFill>
            <a:srgbClr val="DDDDDD"/>
          </a:solidFill>
          <a:ln w="3175">
            <a:solidFill>
              <a:srgbClr val="000000"/>
            </a:solidFill>
          </a:ln>
        </p:spPr>
        <p:txBody>
          <a:bodyPr vert="horz" wrap="square" lIns="0" tIns="43449" rIns="0" bIns="0" rtlCol="0">
            <a:spAutoFit/>
          </a:bodyPr>
          <a:lstStyle/>
          <a:p>
            <a:pPr marL="241867">
              <a:spcBef>
                <a:spcPts val="342"/>
              </a:spcBef>
            </a:pPr>
            <a:r>
              <a:rPr sz="2300" b="1" dirty="0">
                <a:latin typeface="Arial"/>
                <a:cs typeface="Arial"/>
              </a:rPr>
              <a:t>FIM</a:t>
            </a:r>
            <a:endParaRPr sz="23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93390" y="6333558"/>
            <a:ext cx="4536823" cy="1179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60318" y="6068708"/>
            <a:ext cx="6341186" cy="3425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15120" y="6095521"/>
            <a:ext cx="6231876" cy="238589"/>
          </a:xfrm>
          <a:custGeom>
            <a:avLst/>
            <a:gdLst/>
            <a:ahLst/>
            <a:cxnLst/>
            <a:rect l="l" t="t" r="r" b="b"/>
            <a:pathLst>
              <a:path w="5328920" h="216535">
                <a:moveTo>
                  <a:pt x="0" y="216026"/>
                </a:moveTo>
                <a:lnTo>
                  <a:pt x="5328539" y="216026"/>
                </a:lnTo>
                <a:lnTo>
                  <a:pt x="5328539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155</a:t>
            </a:fld>
            <a:endParaRPr spc="-6" dirty="0"/>
          </a:p>
        </p:txBody>
      </p:sp>
    </p:spTree>
    <p:extLst>
      <p:ext uri="{BB962C8B-B14F-4D97-AF65-F5344CB8AC3E}">
        <p14:creationId xmlns:p14="http://schemas.microsoft.com/office/powerpoint/2010/main" val="371400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260"/>
              </a:lnSpc>
            </a:pPr>
            <a:fld id="{81D60167-4931-47E6-BA6A-407CBD079E47}" type="slidenum">
              <a:rPr spc="-6" dirty="0"/>
              <a:pPr marL="28966">
                <a:lnSpc>
                  <a:spcPts val="1260"/>
                </a:lnSpc>
              </a:pPr>
              <a:t>156</a:t>
            </a:fld>
            <a:endParaRPr spc="-6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79500" y="1339850"/>
            <a:ext cx="8686800" cy="39934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endParaRPr lang="pt-BR" b="0" dirty="0"/>
          </a:p>
          <a:p>
            <a:endParaRPr lang="pt-BR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chemeClr val="tx1"/>
                </a:solidFill>
                <a:latin typeface="Arial"/>
                <a:cs typeface="Arial"/>
              </a:rPr>
              <a:t>Para maiores informações sobre o </a:t>
            </a:r>
            <a:r>
              <a:rPr lang="pt-BR" sz="3500" dirty="0" err="1">
                <a:solidFill>
                  <a:schemeClr val="tx1"/>
                </a:solidFill>
                <a:latin typeface="Arial"/>
                <a:cs typeface="Arial"/>
              </a:rPr>
              <a:t>debugger</a:t>
            </a:r>
            <a:r>
              <a:rPr lang="pt-BR" sz="3500" dirty="0">
                <a:solidFill>
                  <a:schemeClr val="tx1"/>
                </a:solidFill>
                <a:latin typeface="Arial"/>
                <a:cs typeface="Arial"/>
              </a:rPr>
              <a:t> do </a:t>
            </a:r>
            <a:r>
              <a:rPr lang="pt-BR" sz="3500" dirty="0" err="1">
                <a:solidFill>
                  <a:schemeClr val="tx1"/>
                </a:solidFill>
                <a:latin typeface="Arial"/>
                <a:cs typeface="Arial"/>
              </a:rPr>
              <a:t>Code</a:t>
            </a:r>
            <a:r>
              <a:rPr lang="pt-BR" sz="3500" dirty="0">
                <a:solidFill>
                  <a:schemeClr val="tx1"/>
                </a:solidFill>
                <a:latin typeface="Arial"/>
                <a:cs typeface="Arial"/>
              </a:rPr>
              <a:t>::</a:t>
            </a:r>
            <a:r>
              <a:rPr lang="pt-BR" sz="3500" dirty="0" err="1">
                <a:solidFill>
                  <a:schemeClr val="tx1"/>
                </a:solidFill>
                <a:latin typeface="Arial"/>
                <a:cs typeface="Arial"/>
              </a:rPr>
              <a:t>Blocks</a:t>
            </a:r>
            <a:r>
              <a:rPr lang="pt-BR" sz="3500" dirty="0">
                <a:solidFill>
                  <a:schemeClr val="tx1"/>
                </a:solidFill>
                <a:latin typeface="Arial"/>
                <a:cs typeface="Arial"/>
              </a:rPr>
              <a:t>, acesse o endereço abaixo: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b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3200" u="sng" dirty="0">
              <a:solidFill>
                <a:schemeClr val="accent1"/>
              </a:solidFill>
              <a:latin typeface="Arial"/>
              <a:cs typeface="Arial"/>
            </a:endParaRPr>
          </a:p>
          <a:p>
            <a:r>
              <a:rPr lang="pt-BR" sz="3200" u="sng" dirty="0">
                <a:solidFill>
                  <a:schemeClr val="accent1"/>
                </a:solidFill>
                <a:latin typeface="Arial"/>
                <a:cs typeface="Arial"/>
              </a:rPr>
              <a:t>http://wiki.codeblocks.org/index.php/Debugging_with_Code::Blocks 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83"/>
            <a:r>
              <a:rPr spc="-6" dirty="0"/>
              <a:t>Dica</a:t>
            </a:r>
          </a:p>
        </p:txBody>
      </p:sp>
    </p:spTree>
    <p:extLst>
      <p:ext uri="{BB962C8B-B14F-4D97-AF65-F5344CB8AC3E}">
        <p14:creationId xmlns:p14="http://schemas.microsoft.com/office/powerpoint/2010/main" val="2853786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P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ojet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d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e A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lgo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it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m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s – C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ap</a:t>
            </a:r>
            <a:r>
              <a:rPr sz="1200" spc="15" dirty="0">
                <a:solidFill>
                  <a:prstClr val="black"/>
                </a:solidFill>
                <a:latin typeface="Times New Roman"/>
                <a:cs typeface="Times New Roman"/>
              </a:rPr>
              <a:t>.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1 I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nt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oduçã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–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Seçã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.2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3916" y="343777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7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8557260" cy="645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Tipos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strat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(</a:t>
            </a: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AD)</a:t>
            </a:r>
            <a:endParaRPr sz="24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11493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lo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ic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panhad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definida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obr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o 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odel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852169" marR="5080" indent="-262890">
              <a:lnSpc>
                <a:spcPct val="116300"/>
              </a:lnSpc>
              <a:spcBef>
                <a:spcPts val="540"/>
              </a:spcBef>
              <a:tabLst>
                <a:tab pos="852169" algn="l"/>
              </a:tabLst>
            </a:pPr>
            <a:r>
              <a:rPr sz="2050" b="1" spc="5" dirty="0">
                <a:solidFill>
                  <a:prstClr val="black"/>
                </a:solidFill>
                <a:latin typeface="Times New Roman"/>
                <a:cs typeface="Times New Roman"/>
              </a:rPr>
              <a:t>–	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-6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plo:</a:t>
            </a:r>
            <a:r>
              <a:rPr sz="205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onjun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eiro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panhad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e </a:t>
            </a:r>
            <a:r>
              <a:rPr sz="2050" spc="-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indent="-262255"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Ds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ilizado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ba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proje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algo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235585" indent="-262255" algn="just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algo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linguage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pro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6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xi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repre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adore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upo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20701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repre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ico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rá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ab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é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rea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edian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dado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3937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si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Ds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gene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gene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64452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en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la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defin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fic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lo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pro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994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P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ojet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d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e A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lgo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it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m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s – C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ap</a:t>
            </a:r>
            <a:r>
              <a:rPr sz="1200" spc="15" dirty="0">
                <a:solidFill>
                  <a:prstClr val="black"/>
                </a:solidFill>
                <a:latin typeface="Times New Roman"/>
                <a:cs typeface="Times New Roman"/>
              </a:rPr>
              <a:t>.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1 I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nt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oduçã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–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Seçã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.2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3916" y="343777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8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737600" cy="397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ADs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(1)</a:t>
            </a:r>
            <a:endParaRPr sz="245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</a:pP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84505" marR="445770" indent="-262255">
              <a:lnSpc>
                <a:spcPct val="1123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si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eiro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9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definir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eguin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s: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852169" lvl="1" indent="-330835">
              <a:spcBef>
                <a:spcPts val="1205"/>
              </a:spcBef>
              <a:buFontTx/>
              <a:buAutoNum type="arabicPeriod"/>
              <a:tabLst>
                <a:tab pos="852805" algn="l"/>
              </a:tabLst>
            </a:pPr>
            <a:r>
              <a:rPr sz="1850" spc="-5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-3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zia;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852169" marR="5080" lvl="1" indent="-330835">
              <a:lnSpc>
                <a:spcPct val="124500"/>
              </a:lnSpc>
              <a:spcBef>
                <a:spcPts val="700"/>
              </a:spcBef>
              <a:buFontTx/>
              <a:buAutoNum type="arabicPeriod"/>
              <a:tabLst>
                <a:tab pos="852805" algn="l"/>
              </a:tabLst>
            </a:pP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ob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enha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18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imei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a;</a:t>
            </a:r>
            <a:r>
              <a:rPr sz="1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1850" spc="-3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-3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zia,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ulo;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852169" lvl="1" indent="-330835">
              <a:spcBef>
                <a:spcPts val="1245"/>
              </a:spcBef>
              <a:buFontTx/>
              <a:buAutoNum type="arabicPeriod"/>
              <a:tabLst>
                <a:tab pos="852805" algn="l"/>
              </a:tabLst>
            </a:pP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ins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20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4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Há v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050" spc="5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mi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eficien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(po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6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anjo).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6037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P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ojet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d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e A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lgo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it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m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s – C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ap</a:t>
            </a:r>
            <a:r>
              <a:rPr sz="1200" spc="15" dirty="0">
                <a:solidFill>
                  <a:prstClr val="black"/>
                </a:solidFill>
                <a:latin typeface="Times New Roman"/>
                <a:cs typeface="Times New Roman"/>
              </a:rPr>
              <a:t>.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1 I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nt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oduçã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–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Seçã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.2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3916" y="343777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9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609330" cy="4206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ADs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(2)</a:t>
            </a:r>
            <a:endParaRPr sz="245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</a:pP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84505" marR="20256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ab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é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linguage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olhida.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480059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ualque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fica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à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en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ulada,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ódig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7321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onjun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050" spc="-6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eren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defin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di</a:t>
            </a:r>
            <a:r>
              <a:rPr sz="2050" spc="-6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eren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smo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smo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lo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ic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olh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adequad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depend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spc="-6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a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ere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rea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obr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odel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9159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679190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55273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87666" y="862711"/>
            <a:ext cx="6852920" cy="50099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údo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apí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49"/>
              </a:spcBef>
              <a:buFont typeface="Arial"/>
              <a:buAutoNum type="arabicPeriod"/>
            </a:pPr>
            <a:endParaRPr sz="1600">
              <a:latin typeface="Times New Roman"/>
              <a:cs typeface="Times New Roman"/>
            </a:endParaRPr>
          </a:p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50"/>
              </a:spcBef>
              <a:buFont typeface="Arial"/>
              <a:buAutoNum type="arabicPeriod"/>
            </a:pPr>
            <a:endParaRPr sz="1600">
              <a:latin typeface="Times New Roman"/>
              <a:cs typeface="Times New Roman"/>
            </a:endParaRPr>
          </a:p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dirty="0">
                <a:latin typeface="Arial"/>
                <a:cs typeface="Arial"/>
              </a:rPr>
              <a:t>Fila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04580" cy="6163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marR="81661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liga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definida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876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imi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uir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22479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s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ún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a, 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7399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dequada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 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ind</a:t>
            </a:r>
            <a:r>
              <a:rPr sz="2050" spc="5" dirty="0">
                <a:latin typeface="Arial"/>
                <a:cs typeface="Arial"/>
              </a:rPr>
              <a:t>o 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anipula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im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im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484505" marR="29400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ú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anipula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sim</a:t>
            </a:r>
            <a:r>
              <a:rPr sz="2050" dirty="0">
                <a:latin typeface="Arial"/>
                <a:cs typeface="Arial"/>
              </a:rPr>
              <a:t>bó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a, gerên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</a:t>
            </a:r>
            <a:r>
              <a:rPr sz="2050" spc="5" dirty="0">
                <a:latin typeface="Arial"/>
                <a:cs typeface="Arial"/>
              </a:rPr>
              <a:t> si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62711"/>
            <a:ext cx="8618855" cy="4589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efiniçã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46545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112" baseline="-12345" dirty="0">
                <a:latin typeface="Tahoma"/>
                <a:cs typeface="Tahoma"/>
              </a:rPr>
              <a:t>1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112" baseline="-12345" dirty="0">
                <a:latin typeface="Tahoma"/>
                <a:cs typeface="Tahoma"/>
              </a:rPr>
              <a:t>2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72" baseline="-12345" dirty="0">
                <a:latin typeface="Verdana"/>
                <a:cs typeface="Verdana"/>
              </a:rPr>
              <a:t>n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95" dirty="0">
                <a:latin typeface="Verdana"/>
                <a:cs typeface="Verdana"/>
              </a:rPr>
              <a:t>n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 prop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iedad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40" dirty="0">
                <a:latin typeface="Arial"/>
                <a:cs typeface="Arial"/>
              </a:rPr>
              <a:t>n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ol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8572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Ass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95" dirty="0">
                <a:latin typeface="Verdana"/>
                <a:cs typeface="Verdana"/>
              </a:rPr>
              <a:t>n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spc="225" baseline="-12345" dirty="0">
                <a:latin typeface="Tahoma"/>
                <a:cs typeface="Tahoma"/>
              </a:rPr>
              <a:t>+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95" dirty="0">
                <a:latin typeface="Verdana"/>
                <a:cs typeface="Verdana"/>
              </a:rPr>
              <a:t>n</a:t>
            </a:r>
            <a:r>
              <a:rPr sz="2050" i="1" spc="-265" dirty="0">
                <a:latin typeface="Verdana"/>
                <a:cs typeface="Verdan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endParaRPr sz="2050">
              <a:latin typeface="Tahoma"/>
              <a:cs typeface="Tahoma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spc="517" baseline="-12345" dirty="0">
                <a:latin typeface="Arial"/>
                <a:cs typeface="Arial"/>
              </a:rPr>
              <a:t>−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95" dirty="0">
                <a:latin typeface="Verdana"/>
                <a:cs typeface="Verdana"/>
              </a:rPr>
              <a:t>n</a:t>
            </a:r>
            <a:endParaRPr sz="2050">
              <a:latin typeface="Verdana"/>
              <a:cs typeface="Verdana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67"/>
            <a:ext cx="8737600" cy="645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depend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é: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edia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marR="249554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-5" dirty="0">
                <a:latin typeface="Arial"/>
                <a:cs typeface="Arial"/>
              </a:rPr>
              <a:t>/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eúd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bina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ún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óp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96265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562340" cy="5957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marR="1714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6573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F</a:t>
            </a:r>
            <a:r>
              <a:rPr sz="2050" spc="-225" dirty="0">
                <a:latin typeface="Arial"/>
                <a:cs typeface="Arial"/>
              </a:rPr>
              <a:t>L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ere(</a:t>
            </a:r>
            <a:r>
              <a:rPr sz="2050" spc="5" dirty="0">
                <a:latin typeface="Arial"/>
                <a:cs typeface="Arial"/>
              </a:rPr>
              <a:t>x,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x</a:t>
            </a:r>
            <a:r>
              <a:rPr sz="2050" dirty="0">
                <a:latin typeface="Arial"/>
                <a:cs typeface="Arial"/>
              </a:rPr>
              <a:t> apó</a:t>
            </a:r>
            <a:r>
              <a:rPr sz="2050" spc="5" dirty="0">
                <a:latin typeface="Arial"/>
                <a:cs typeface="Arial"/>
              </a:rPr>
              <a:t>s o</a:t>
            </a:r>
            <a:r>
              <a:rPr sz="2050" dirty="0">
                <a:latin typeface="Arial"/>
                <a:cs typeface="Arial"/>
              </a:rPr>
              <a:t> 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p+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a;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00"/>
              </a:spcBef>
            </a:pPr>
            <a:r>
              <a:rPr sz="2050" i="1" spc="-6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ls</a:t>
            </a:r>
            <a:r>
              <a:rPr sz="2050" i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5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e(L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orrên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023734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303" y="1392146"/>
            <a:ext cx="4481195" cy="2878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qual- 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dire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62482" y="1459166"/>
            <a:ext cx="49085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It</a:t>
            </a:r>
            <a:r>
              <a:rPr sz="1850" spc="15" dirty="0">
                <a:latin typeface="Times New Roman"/>
                <a:cs typeface="Times New Roman"/>
              </a:rPr>
              <a:t>e</a:t>
            </a:r>
            <a:r>
              <a:rPr sz="1850" spc="10" dirty="0">
                <a:latin typeface="Times New Roman"/>
                <a:cs typeface="Times New Roman"/>
              </a:rPr>
              <a:t>ns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01972" y="1770215"/>
            <a:ext cx="1296035" cy="605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5" dirty="0">
                <a:latin typeface="Times New Roman"/>
                <a:cs typeface="Times New Roman"/>
              </a:rPr>
              <a:t>P</a:t>
            </a:r>
            <a:r>
              <a:rPr sz="1850" spc="5" dirty="0">
                <a:latin typeface="Times New Roman"/>
                <a:cs typeface="Times New Roman"/>
              </a:rPr>
              <a:t>ri</a:t>
            </a:r>
            <a:r>
              <a:rPr sz="1850" spc="20" dirty="0">
                <a:latin typeface="Times New Roman"/>
                <a:cs typeface="Times New Roman"/>
              </a:rPr>
              <a:t>me</a:t>
            </a:r>
            <a:r>
              <a:rPr sz="1850" spc="5" dirty="0">
                <a:latin typeface="Times New Roman"/>
                <a:cs typeface="Times New Roman"/>
              </a:rPr>
              <a:t>ir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114" dirty="0">
                <a:latin typeface="Tahoma"/>
                <a:cs typeface="Tahoma"/>
              </a:rPr>
              <a:t>=</a:t>
            </a:r>
            <a:r>
              <a:rPr sz="1850" spc="-55" dirty="0">
                <a:latin typeface="Tahoma"/>
                <a:cs typeface="Tahoma"/>
              </a:rPr>
              <a:t> </a:t>
            </a:r>
            <a:r>
              <a:rPr sz="1850" spc="-70" dirty="0">
                <a:latin typeface="Tahoma"/>
                <a:cs typeface="Tahoma"/>
              </a:rPr>
              <a:t>1</a:t>
            </a:r>
            <a:endParaRPr sz="1850">
              <a:latin typeface="Tahoma"/>
              <a:cs typeface="Tahoma"/>
            </a:endParaRPr>
          </a:p>
          <a:p>
            <a:pPr marR="78740" algn="r">
              <a:lnSpc>
                <a:spcPct val="100000"/>
              </a:lnSpc>
              <a:spcBef>
                <a:spcPts val="225"/>
              </a:spcBef>
            </a:pPr>
            <a:r>
              <a:rPr sz="1850" spc="15" dirty="0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69445" y="2889859"/>
            <a:ext cx="101028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Últi</a:t>
            </a:r>
            <a:r>
              <a:rPr sz="1850" spc="25" dirty="0">
                <a:latin typeface="Times New Roman"/>
                <a:cs typeface="Times New Roman"/>
              </a:rPr>
              <a:t>m</a:t>
            </a:r>
            <a:r>
              <a:rPr sz="1850" spc="10" dirty="0">
                <a:latin typeface="Times New Roman"/>
                <a:cs typeface="Times New Roman"/>
              </a:rPr>
              <a:t>o</a:t>
            </a:r>
            <a:r>
              <a:rPr sz="1850" spc="-10" dirty="0">
                <a:latin typeface="Lucida Sans Unicode"/>
                <a:cs typeface="Lucida Sans Unicode"/>
              </a:rPr>
              <a:t>−</a:t>
            </a:r>
            <a:r>
              <a:rPr sz="1850" spc="-70" dirty="0">
                <a:latin typeface="Tahoma"/>
                <a:cs typeface="Tahoma"/>
              </a:rPr>
              <a:t>1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93918" y="3698646"/>
            <a:ext cx="883919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20" dirty="0">
                <a:latin typeface="Times New Roman"/>
                <a:cs typeface="Times New Roman"/>
              </a:rPr>
              <a:t>Ma</a:t>
            </a:r>
            <a:r>
              <a:rPr sz="1850" spc="10" dirty="0">
                <a:latin typeface="Times New Roman"/>
                <a:cs typeface="Times New Roman"/>
              </a:rPr>
              <a:t>x</a:t>
            </a: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20" dirty="0">
                <a:latin typeface="Times New Roman"/>
                <a:cs typeface="Times New Roman"/>
              </a:rPr>
              <a:t>am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54647" y="1468551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459042" y="1468488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213672" y="1468488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454647" y="4096753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221305" y="4318684"/>
            <a:ext cx="8414385" cy="16852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apó</a:t>
            </a:r>
            <a:r>
              <a:rPr sz="2050" spc="5" dirty="0">
                <a:latin typeface="Arial"/>
                <a:cs typeface="Arial"/>
              </a:rPr>
              <a:t>s o</a:t>
            </a:r>
            <a:r>
              <a:rPr sz="2050" dirty="0">
                <a:latin typeface="Arial"/>
                <a:cs typeface="Arial"/>
              </a:rPr>
              <a:t> 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42037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reque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preen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ix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893197" y="1778590"/>
          <a:ext cx="1252943" cy="2248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2943"/>
              </a:tblGrid>
              <a:tr h="315455">
                <a:tc>
                  <a:txBody>
                    <a:bodyPr/>
                    <a:lstStyle/>
                    <a:p>
                      <a:pPr marR="3175" algn="ctr">
                        <a:lnSpc>
                          <a:spcPts val="1860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1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2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i="1" baseline="-12345" dirty="0">
                          <a:latin typeface="Verdana"/>
                          <a:cs typeface="Verdana"/>
                        </a:rPr>
                        <a:t>n</a:t>
                      </a:r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5480">
                <a:tc>
                  <a:txBody>
                    <a:bodyPr/>
                    <a:lstStyle/>
                    <a:p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35" y="862672"/>
            <a:ext cx="515175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4203" y="1770749"/>
            <a:ext cx="2802255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INICI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ARRAN</a:t>
            </a:r>
            <a:r>
              <a:rPr sz="1700" spc="5" dirty="0">
                <a:latin typeface="Arial"/>
                <a:cs typeface="Arial"/>
              </a:rPr>
              <a:t>J</a:t>
            </a:r>
            <a:r>
              <a:rPr sz="1700" spc="15" dirty="0">
                <a:latin typeface="Arial"/>
                <a:cs typeface="Arial"/>
              </a:rPr>
              <a:t>O</a:t>
            </a:r>
            <a:r>
              <a:rPr sz="1700" spc="1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100</a:t>
            </a:r>
            <a:r>
              <a:rPr sz="1700" spc="10" dirty="0">
                <a:latin typeface="Arial"/>
                <a:cs typeface="Arial"/>
              </a:rPr>
              <a:t>0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897" y="2719721"/>
            <a:ext cx="3656965" cy="3461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870585">
              <a:lnSpc>
                <a:spcPct val="1332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0979">
              <a:lnSpc>
                <a:spcPct val="100000"/>
              </a:lnSpc>
              <a:spcBef>
                <a:spcPts val="67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200" dirty="0">
                <a:latin typeface="Lucida Sans Unicode"/>
                <a:cs typeface="Lucida Sans Unicode"/>
              </a:rPr>
              <a:t> 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45" dirty="0">
                <a:latin typeface="Arial"/>
                <a:cs typeface="Arial"/>
              </a:rPr>
              <a:t>s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10" dirty="0">
                <a:latin typeface="Lucida Sans Unicode"/>
                <a:cs typeface="Lucida Sans Unicode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7329" marR="120014" indent="3175">
              <a:lnSpc>
                <a:spcPts val="2720"/>
              </a:lnSpc>
              <a:spcBef>
                <a:spcPts val="200"/>
              </a:spcBef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2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78536" y="1625204"/>
            <a:ext cx="4170679" cy="48849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3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-2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3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</a:t>
            </a:r>
            <a:r>
              <a:rPr sz="2050" spc="5" dirty="0">
                <a:latin typeface="Arial"/>
                <a:cs typeface="Arial"/>
              </a:rPr>
              <a:t>r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Ú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- 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spc="5" dirty="0">
                <a:latin typeface="Arial"/>
                <a:cs typeface="Arial"/>
              </a:rPr>
              <a:t>- 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y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i="1" spc="-105" dirty="0">
                <a:latin typeface="Verdana"/>
                <a:cs typeface="Verdana"/>
              </a:rPr>
              <a:t>&lt;</a:t>
            </a:r>
            <a:r>
              <a:rPr sz="2050" spc="5" dirty="0">
                <a:latin typeface="Arial"/>
                <a:cs typeface="Arial"/>
              </a:rPr>
              <a:t>Ú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defin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 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29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spc="229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29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2"/>
            <a:ext cx="7705725" cy="1412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9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409257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INICI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ARRAN</a:t>
            </a:r>
            <a:r>
              <a:rPr sz="1700" spc="5" dirty="0">
                <a:latin typeface="Arial"/>
                <a:cs typeface="Arial"/>
              </a:rPr>
              <a:t>J</a:t>
            </a:r>
            <a:r>
              <a:rPr sz="1700" spc="15" dirty="0">
                <a:latin typeface="Arial"/>
                <a:cs typeface="Arial"/>
              </a:rPr>
              <a:t>O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4949" y="2677452"/>
            <a:ext cx="4703445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675"/>
              </a:spcBef>
              <a:tabLst>
                <a:tab pos="461708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54229" y="3022410"/>
            <a:ext cx="117475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130" dirty="0">
                <a:latin typeface="Lucida Sans Unicode"/>
                <a:cs typeface="Lucida Sans Unicode"/>
              </a:rPr>
              <a:t> </a:t>
            </a:r>
            <a:r>
              <a:rPr sz="1700" i="1" spc="-5" dirty="0">
                <a:latin typeface="Arial"/>
                <a:cs typeface="Arial"/>
              </a:rPr>
              <a:t>Vazi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7218" y="3712477"/>
            <a:ext cx="5149215" cy="2340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59524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7359" marR="1553845" indent="-424180">
              <a:lnSpc>
                <a:spcPts val="2720"/>
              </a:lnSpc>
              <a:spcBef>
                <a:spcPts val="200"/>
              </a:spcBef>
              <a:tabLst>
                <a:tab pos="257810" algn="l"/>
                <a:tab pos="55943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45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chei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470"/>
              </a:spcBef>
              <a:tabLst>
                <a:tab pos="993140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993140">
              <a:lnSpc>
                <a:spcPct val="100000"/>
              </a:lnSpc>
              <a:spcBef>
                <a:spcPts val="675"/>
              </a:spcBef>
            </a:pP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45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3500120" algn="ctr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352425" algn="l"/>
              </a:tabLst>
            </a:pPr>
            <a:r>
              <a:rPr sz="1700" spc="5" dirty="0">
                <a:latin typeface="Arial"/>
                <a:cs typeface="Arial"/>
              </a:rPr>
              <a:t>}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40" dirty="0">
                <a:latin typeface="Arial"/>
                <a:cs typeface="Arial"/>
              </a:rPr>
              <a:t>I</a:t>
            </a:r>
            <a:r>
              <a:rPr sz="1700" i="1" spc="50" dirty="0">
                <a:latin typeface="Arial"/>
                <a:cs typeface="Arial"/>
              </a:rPr>
              <a:t>n</a:t>
            </a:r>
            <a:r>
              <a:rPr sz="1700" i="1" spc="45" dirty="0">
                <a:latin typeface="Arial"/>
                <a:cs typeface="Arial"/>
              </a:rPr>
              <a:t>s</a:t>
            </a:r>
            <a:r>
              <a:rPr sz="1700" i="1" spc="50" dirty="0">
                <a:latin typeface="Arial"/>
                <a:cs typeface="Arial"/>
              </a:rPr>
              <a:t>e</a:t>
            </a:r>
            <a:r>
              <a:rPr sz="1700" i="1" spc="40" dirty="0">
                <a:latin typeface="Arial"/>
                <a:cs typeface="Arial"/>
              </a:rPr>
              <a:t>r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50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51967"/>
            <a:ext cx="7102475" cy="6062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13118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300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447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9435" algn="l"/>
                <a:tab pos="2192020" algn="l"/>
                <a:tab pos="247332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50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7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467359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Posica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na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exist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5474970" algn="ctr">
              <a:lnSpc>
                <a:spcPct val="100000"/>
              </a:lnSpc>
              <a:spcBef>
                <a:spcPts val="60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43204" marR="3769360" indent="-13970">
              <a:lnSpc>
                <a:spcPct val="129700"/>
              </a:lnSpc>
            </a:pPr>
            <a:r>
              <a:rPr sz="1700" spc="-50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130" dirty="0">
                <a:latin typeface="Arial"/>
                <a:cs typeface="Arial"/>
              </a:rPr>
              <a:t>[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75" dirty="0">
                <a:latin typeface="Arial"/>
                <a:cs typeface="Arial"/>
              </a:rPr>
              <a:t>o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57200" marR="1965960" indent="-219710">
              <a:lnSpc>
                <a:spcPct val="129700"/>
              </a:lnSpc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-114" dirty="0">
                <a:latin typeface="Arial"/>
                <a:cs typeface="Arial"/>
              </a:rPr>
              <a:t>x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[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[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4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352425" algn="l"/>
                <a:tab pos="668020" algn="l"/>
                <a:tab pos="1423670" algn="l"/>
              </a:tabLst>
            </a:pPr>
            <a:r>
              <a:rPr sz="1700" spc="5" dirty="0">
                <a:latin typeface="Arial"/>
                <a:cs typeface="Arial"/>
              </a:rPr>
              <a:t>}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	</a:t>
            </a:r>
            <a:r>
              <a:rPr sz="1700" i="1" spc="70" dirty="0">
                <a:latin typeface="Arial"/>
                <a:cs typeface="Arial"/>
              </a:rPr>
              <a:t>Retir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	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447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7359" marR="5080" indent="-229235">
              <a:lnSpc>
                <a:spcPct val="129700"/>
              </a:lnSpc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10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90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2)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14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-114" dirty="0">
                <a:latin typeface="Arial"/>
                <a:cs typeface="Arial"/>
              </a:rPr>
              <a:t>x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385" dirty="0">
                <a:latin typeface="Arial"/>
                <a:cs typeface="Arial"/>
              </a:rPr>
              <a:t>%</a:t>
            </a:r>
            <a:r>
              <a:rPr sz="1700" spc="130" dirty="0">
                <a:latin typeface="Arial"/>
                <a:cs typeface="Arial"/>
              </a:rPr>
              <a:t>d\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 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[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4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352425" algn="l"/>
              </a:tabLst>
            </a:pPr>
            <a:r>
              <a:rPr sz="1700" spc="5" dirty="0">
                <a:latin typeface="Arial"/>
                <a:cs typeface="Arial"/>
              </a:rPr>
              <a:t>}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 </a:t>
            </a:r>
            <a:r>
              <a:rPr sz="1700" i="1" spc="-30" dirty="0">
                <a:latin typeface="Arial"/>
                <a:cs typeface="Arial"/>
              </a:rPr>
              <a:t>Imprim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30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711"/>
            <a:ext cx="8606790" cy="4463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-1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4292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5" dirty="0">
                <a:latin typeface="Arial"/>
                <a:cs typeface="Arial"/>
              </a:rPr>
              <a:t>m: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ono</a:t>
            </a:r>
            <a:r>
              <a:rPr sz="2050" spc="5" dirty="0">
                <a:latin typeface="Arial"/>
                <a:cs typeface="Arial"/>
              </a:rPr>
              <a:t>mia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(o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a).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54546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o;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linguagen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al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ica </a:t>
            </a:r>
            <a:r>
              <a:rPr sz="2050" dirty="0">
                <a:latin typeface="Arial"/>
                <a:cs typeface="Arial"/>
              </a:rPr>
              <a:t>porqu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sse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48" y="862672"/>
            <a:ext cx="8698865" cy="3524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adead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484505" marR="6032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Há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cé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u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cabeç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sim</a:t>
            </a:r>
            <a:r>
              <a:rPr sz="2050" dirty="0">
                <a:latin typeface="Arial"/>
                <a:cs typeface="Arial"/>
              </a:rPr>
              <a:t>plifica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43182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47740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47740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43065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  <a:path w="104140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43065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82598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987184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20739" y="8295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40" h="83185">
                <a:moveTo>
                  <a:pt x="0" y="0"/>
                </a:moveTo>
                <a:lnTo>
                  <a:pt x="20739" y="41465"/>
                </a:lnTo>
                <a:lnTo>
                  <a:pt x="20739" y="82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987184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74655" y="472393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118772" y="472393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58189" y="472393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754947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59509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259509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999064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03701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503701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377008" y="4723928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39" h="248920">
                <a:moveTo>
                  <a:pt x="497646" y="248820"/>
                </a:moveTo>
                <a:lnTo>
                  <a:pt x="497646" y="0"/>
                </a:lnTo>
                <a:lnTo>
                  <a:pt x="0" y="0"/>
                </a:lnTo>
                <a:lnTo>
                  <a:pt x="0" y="248820"/>
                </a:lnTo>
                <a:lnTo>
                  <a:pt x="497646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563620" y="4723930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750246" y="4723930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377006" y="4723930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621121" y="4723928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39" h="248920">
                <a:moveTo>
                  <a:pt x="497652" y="248820"/>
                </a:moveTo>
                <a:lnTo>
                  <a:pt x="497652" y="0"/>
                </a:lnTo>
                <a:lnTo>
                  <a:pt x="0" y="0"/>
                </a:lnTo>
                <a:lnTo>
                  <a:pt x="0" y="248820"/>
                </a:lnTo>
                <a:lnTo>
                  <a:pt x="497652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860542" y="4723928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40" h="248920">
                <a:moveTo>
                  <a:pt x="497646" y="248820"/>
                </a:moveTo>
                <a:lnTo>
                  <a:pt x="497646" y="0"/>
                </a:lnTo>
                <a:lnTo>
                  <a:pt x="0" y="0"/>
                </a:lnTo>
                <a:lnTo>
                  <a:pt x="0" y="248820"/>
                </a:lnTo>
                <a:lnTo>
                  <a:pt x="497646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976963" y="4645101"/>
            <a:ext cx="931544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18210" algn="l"/>
              </a:tabLst>
            </a:pPr>
            <a:r>
              <a:rPr sz="1600" spc="5" dirty="0">
                <a:latin typeface="Times New Roman"/>
                <a:cs typeface="Times New Roman"/>
              </a:rPr>
              <a:t>... 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u="sng" spc="5" dirty="0">
                <a:latin typeface="Times New Roman"/>
                <a:cs typeface="Times New Roman"/>
              </a:rPr>
              <a:t> </a:t>
            </a:r>
            <a:r>
              <a:rPr sz="1600" u="sng" dirty="0">
                <a:latin typeface="Times New Roman"/>
                <a:cs typeface="Times New Roman"/>
              </a:rPr>
              <a:t>	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06815" y="4707345"/>
            <a:ext cx="440690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Lista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154166" y="4707345"/>
            <a:ext cx="24447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nil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777079" y="4668392"/>
            <a:ext cx="2448560" cy="299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51710" algn="l"/>
              </a:tabLst>
            </a:pPr>
            <a:r>
              <a:rPr sz="1950" i="1" dirty="0">
                <a:latin typeface="Times New Roman"/>
                <a:cs typeface="Times New Roman"/>
              </a:rPr>
              <a:t>x</a:t>
            </a:r>
            <a:r>
              <a:rPr sz="1725" spc="-7" baseline="-9661" dirty="0">
                <a:latin typeface="Times New Roman"/>
                <a:cs typeface="Times New Roman"/>
              </a:rPr>
              <a:t>1	</a:t>
            </a:r>
            <a:r>
              <a:rPr sz="1950" i="1" dirty="0">
                <a:latin typeface="Times New Roman"/>
                <a:cs typeface="Times New Roman"/>
              </a:rPr>
              <a:t>x</a:t>
            </a:r>
            <a:r>
              <a:rPr sz="1725" spc="-7" baseline="-9661" dirty="0">
                <a:latin typeface="Times New Roman"/>
                <a:cs typeface="Times New Roman"/>
              </a:rPr>
              <a:t>n</a:t>
            </a:r>
            <a:endParaRPr sz="1725" baseline="-9661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597344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7901" y="1770749"/>
            <a:ext cx="4398645" cy="3375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0979" marR="2468880" indent="-20891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470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405" dirty="0">
                <a:latin typeface="Lucida Sans Unicode"/>
                <a:cs typeface="Lucida Sans Unicode"/>
              </a:rPr>
              <a:t>∗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6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915" y="5565852"/>
            <a:ext cx="3541395" cy="9601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7329">
              <a:lnSpc>
                <a:spcPct val="100000"/>
              </a:lnSpc>
              <a:spcBef>
                <a:spcPts val="675"/>
              </a:spcBef>
            </a:pP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2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02884" y="1720659"/>
            <a:ext cx="4046220" cy="3193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élula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TipoL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 e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ima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0"/>
            <a:ext cx="7179309" cy="5116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20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9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1300" marR="190500" indent="-198120">
              <a:lnSpc>
                <a:spcPts val="2720"/>
              </a:lnSpc>
              <a:spcBef>
                <a:spcPts val="200"/>
              </a:spcBef>
              <a:tabLst>
                <a:tab pos="3776979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5" dirty="0">
                <a:latin typeface="Arial"/>
                <a:cs typeface="Arial"/>
              </a:rPr>
              <a:t>&gt;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-9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43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259524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1300" marR="5080" indent="-198120">
              <a:lnSpc>
                <a:spcPct val="133200"/>
              </a:lnSpc>
              <a:tabLst>
                <a:tab pos="4204970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6871334" cy="6273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  <a:tabLst>
                <a:tab pos="313118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300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574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590" dirty="0">
                <a:latin typeface="Lucida Sans Unicode"/>
                <a:cs typeface="Lucida Sans Unicode"/>
              </a:rPr>
              <a:t>∗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i="1" spc="15" dirty="0">
                <a:latin typeface="Arial"/>
                <a:cs typeface="Arial"/>
              </a:rPr>
              <a:t>O</a:t>
            </a:r>
            <a:r>
              <a:rPr sz="1700" i="1" spc="145" dirty="0">
                <a:latin typeface="Arial"/>
                <a:cs typeface="Arial"/>
              </a:rPr>
              <a:t> </a:t>
            </a:r>
            <a:r>
              <a:rPr sz="1700" i="1" spc="25" dirty="0">
                <a:latin typeface="Arial"/>
                <a:cs typeface="Arial"/>
              </a:rPr>
              <a:t>ite</a:t>
            </a:r>
            <a:r>
              <a:rPr sz="1700" i="1" spc="15" dirty="0">
                <a:latin typeface="Arial"/>
                <a:cs typeface="Arial"/>
              </a:rPr>
              <a:t>m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25" dirty="0">
                <a:latin typeface="Arial"/>
                <a:cs typeface="Arial"/>
              </a:rPr>
              <a:t> </a:t>
            </a:r>
            <a:r>
              <a:rPr sz="1700" i="1" spc="40" dirty="0">
                <a:latin typeface="Arial"/>
                <a:cs typeface="Arial"/>
              </a:rPr>
              <a:t>s</a:t>
            </a:r>
            <a:r>
              <a:rPr sz="1700" i="1" spc="45" dirty="0">
                <a:latin typeface="Arial"/>
                <a:cs typeface="Arial"/>
              </a:rPr>
              <a:t>e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30" dirty="0">
                <a:latin typeface="Arial"/>
                <a:cs typeface="Arial"/>
              </a:rPr>
              <a:t> </a:t>
            </a:r>
            <a:r>
              <a:rPr sz="1700" i="1" spc="105" dirty="0">
                <a:latin typeface="Arial"/>
                <a:cs typeface="Arial"/>
              </a:rPr>
              <a:t>retirad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6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22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35" dirty="0">
                <a:latin typeface="Arial"/>
                <a:cs typeface="Arial"/>
              </a:rPr>
              <a:t>seguint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a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229" dirty="0">
                <a:latin typeface="Arial"/>
                <a:cs typeface="Arial"/>
              </a:rPr>
              <a:t> </a:t>
            </a:r>
            <a:r>
              <a:rPr sz="1700" i="1" spc="-40" dirty="0">
                <a:latin typeface="Arial"/>
                <a:cs typeface="Arial"/>
              </a:rPr>
              <a:t>apontad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45" dirty="0">
                <a:latin typeface="Arial"/>
                <a:cs typeface="Arial"/>
              </a:rPr>
              <a:t> </a:t>
            </a:r>
            <a:r>
              <a:rPr sz="1700" i="1" spc="20" dirty="0">
                <a:latin typeface="Arial"/>
                <a:cs typeface="Arial"/>
              </a:rPr>
              <a:t>po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0" dirty="0">
                <a:latin typeface="Arial"/>
                <a:cs typeface="Arial"/>
              </a:rPr>
              <a:t> </a:t>
            </a:r>
            <a:r>
              <a:rPr sz="1700" i="1" spc="114" dirty="0">
                <a:latin typeface="Arial"/>
                <a:cs typeface="Arial"/>
              </a:rPr>
              <a:t>p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-5" dirty="0">
                <a:latin typeface="Lucida Sans Unicode"/>
                <a:cs typeface="Lucida Sans Unicode"/>
              </a:rPr>
              <a:t>−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27965">
              <a:lnSpc>
                <a:spcPct val="100000"/>
              </a:lnSpc>
              <a:spcBef>
                <a:spcPts val="605"/>
              </a:spcBef>
            </a:pP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9435" algn="l"/>
                <a:tab pos="2192020" algn="l"/>
                <a:tab pos="2473325" algn="l"/>
                <a:tab pos="3712845" algn="l"/>
                <a:tab pos="399859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467359" algn="l"/>
                <a:tab pos="206438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o</a:t>
            </a:r>
            <a:r>
              <a:rPr sz="1700" spc="10" dirty="0">
                <a:latin typeface="Arial"/>
                <a:cs typeface="Arial"/>
              </a:rPr>
              <a:t>u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posica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na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exist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6405">
              <a:lnSpc>
                <a:spcPct val="100000"/>
              </a:lnSpc>
              <a:spcBef>
                <a:spcPts val="60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23520">
              <a:lnSpc>
                <a:spcPct val="100000"/>
              </a:lnSpc>
              <a:spcBef>
                <a:spcPts val="605"/>
              </a:spcBef>
              <a:tabLst>
                <a:tab pos="3654425" algn="l"/>
              </a:tabLst>
            </a:pP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5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1300" marR="2346960" indent="15875">
              <a:lnSpc>
                <a:spcPct val="129700"/>
              </a:lnSpc>
              <a:tabLst>
                <a:tab pos="55943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165" dirty="0">
                <a:latin typeface="Arial"/>
                <a:cs typeface="Arial"/>
              </a:rPr>
              <a:t>q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7170">
              <a:lnSpc>
                <a:spcPct val="100000"/>
              </a:lnSpc>
              <a:spcBef>
                <a:spcPts val="605"/>
              </a:spcBef>
            </a:pP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-9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0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90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  <a:tabLst>
                <a:tab pos="68135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385" dirty="0">
                <a:latin typeface="Arial"/>
                <a:cs typeface="Arial"/>
              </a:rPr>
              <a:t>%</a:t>
            </a:r>
            <a:r>
              <a:rPr sz="1700" spc="130" dirty="0">
                <a:latin typeface="Arial"/>
                <a:cs typeface="Arial"/>
              </a:rPr>
              <a:t>d\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 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Au</a:t>
            </a:r>
            <a:r>
              <a:rPr sz="1700" spc="-33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2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Au</a:t>
            </a:r>
            <a:r>
              <a:rPr sz="1700" spc="-33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067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-1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).</a:t>
            </a:r>
            <a:endParaRPr sz="2050">
              <a:latin typeface="Arial"/>
              <a:cs typeface="Arial"/>
            </a:endParaRPr>
          </a:p>
          <a:p>
            <a:pPr marL="852169" marR="39687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cisa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Times New Roman"/>
                <a:cs typeface="Times New Roman"/>
              </a:rPr>
              <a:t>a</a:t>
            </a:r>
            <a:r>
              <a:rPr sz="2050" i="1" dirty="0">
                <a:latin typeface="Times New Roman"/>
                <a:cs typeface="Times New Roman"/>
              </a:rPr>
              <a:t> </a:t>
            </a:r>
            <a:r>
              <a:rPr sz="2050" i="1" spc="5" dirty="0">
                <a:latin typeface="Times New Roman"/>
                <a:cs typeface="Times New Roman"/>
              </a:rPr>
              <a:t>pr</a:t>
            </a:r>
            <a:r>
              <a:rPr sz="2050" i="1" spc="-5" dirty="0">
                <a:latin typeface="Times New Roman"/>
                <a:cs typeface="Times New Roman"/>
              </a:rPr>
              <a:t>i</a:t>
            </a:r>
            <a:r>
              <a:rPr sz="2050" i="1" spc="5" dirty="0">
                <a:latin typeface="Times New Roman"/>
                <a:cs typeface="Times New Roman"/>
              </a:rPr>
              <a:t>or</a:t>
            </a:r>
            <a:r>
              <a:rPr sz="2050" i="1" spc="-5" dirty="0">
                <a:latin typeface="Times New Roman"/>
                <a:cs typeface="Times New Roman"/>
              </a:rPr>
              <a:t>i</a:t>
            </a:r>
            <a:r>
              <a:rPr sz="2050" dirty="0">
                <a:latin typeface="Arial"/>
                <a:cs typeface="Arial"/>
              </a:rPr>
              <a:t>).</a:t>
            </a:r>
            <a:endParaRPr sz="2050">
              <a:latin typeface="Arial"/>
              <a:cs typeface="Arial"/>
            </a:endParaRPr>
          </a:p>
          <a:p>
            <a:pPr marL="484505" marR="99314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5" dirty="0">
                <a:latin typeface="Arial"/>
                <a:cs typeface="Arial"/>
              </a:rPr>
              <a:t>m: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50048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2509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f</a:t>
            </a:r>
            <a:r>
              <a:rPr sz="2050" dirty="0">
                <a:latin typeface="Arial"/>
                <a:cs typeface="Arial"/>
              </a:rPr>
              <a:t>und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908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40" dirty="0">
                <a:latin typeface="Arial"/>
                <a:cs typeface="Arial"/>
              </a:rPr>
              <a:t>n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upe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7241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reqüen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ô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qual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ep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/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1168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8468" y="829411"/>
            <a:ext cx="8737600" cy="6176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724265" algn="l"/>
              </a:tabLst>
            </a:pP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u="heavy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ri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Aplicaç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484505" marR="5080" indent="-250825">
              <a:lnSpc>
                <a:spcPct val="120900"/>
              </a:lnSpc>
              <a:spcBef>
                <a:spcPts val="137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op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iedade:</a:t>
            </a:r>
            <a:r>
              <a:rPr sz="1850" spc="12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úl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imo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ins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ido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imei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pode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a.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São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hamadas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li</a:t>
            </a:r>
            <a:r>
              <a:rPr sz="1850" b="1" spc="-30" dirty="0">
                <a:latin typeface="Arial"/>
                <a:cs typeface="Arial"/>
              </a:rPr>
              <a:t>f</a:t>
            </a:r>
            <a:r>
              <a:rPr sz="1850" b="1" spc="20" dirty="0">
                <a:latin typeface="Arial"/>
                <a:cs typeface="Arial"/>
              </a:rPr>
              <a:t>o</a:t>
            </a:r>
            <a:r>
              <a:rPr sz="1850" b="1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(“</a:t>
            </a:r>
            <a:r>
              <a:rPr sz="1850" spc="10" dirty="0">
                <a:latin typeface="Arial"/>
                <a:cs typeface="Arial"/>
              </a:rPr>
              <a:t>las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-</a:t>
            </a:r>
            <a:r>
              <a:rPr sz="1850" spc="10" dirty="0">
                <a:latin typeface="Arial"/>
                <a:cs typeface="Arial"/>
              </a:rPr>
              <a:t>in, </a:t>
            </a:r>
            <a:r>
              <a:rPr sz="1850" spc="5" dirty="0">
                <a:latin typeface="Arial"/>
                <a:cs typeface="Arial"/>
              </a:rPr>
              <a:t>f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-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”).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linear</a:t>
            </a:r>
            <a:r>
              <a:rPr sz="1850" spc="-1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pilha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,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“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menos</a:t>
            </a:r>
            <a:r>
              <a:rPr sz="1850" spc="-15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”.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ideal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aninhadas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undidade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imp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v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el.</a:t>
            </a:r>
            <a:endParaRPr sz="1850">
              <a:latin typeface="Arial"/>
              <a:cs typeface="Arial"/>
            </a:endParaRPr>
          </a:p>
          <a:p>
            <a:pPr marL="484505" marR="282575" indent="-250825">
              <a:lnSpc>
                <a:spcPct val="120900"/>
              </a:lnSpc>
              <a:spcBef>
                <a:spcPts val="10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pilha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ém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eqüên</a:t>
            </a:r>
            <a:r>
              <a:rPr sz="1850" spc="10" dirty="0">
                <a:latin typeface="Arial"/>
                <a:cs typeface="Arial"/>
              </a:rPr>
              <a:t>cia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ob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iga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adiada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20" dirty="0">
                <a:latin typeface="Arial"/>
                <a:cs typeface="Arial"/>
              </a:rPr>
              <a:t>emo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ga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nas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es 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10" dirty="0">
                <a:latin typeface="Arial"/>
                <a:cs typeface="Arial"/>
              </a:rPr>
              <a:t>Aplic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aninhada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:</a:t>
            </a:r>
            <a:endParaRPr sz="1850">
              <a:latin typeface="Arial"/>
              <a:cs typeface="Arial"/>
            </a:endParaRPr>
          </a:p>
          <a:p>
            <a:pPr marL="852169" marR="102235" lvl="1" indent="-250825">
              <a:lnSpc>
                <a:spcPct val="120900"/>
              </a:lnSpc>
              <a:spcBef>
                <a:spcPts val="509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Quando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aminhar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onjun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gua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cois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-55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5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lvl="1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ole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eqüên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hamadas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ubp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5" dirty="0">
                <a:latin typeface="Arial"/>
                <a:cs typeface="Arial"/>
              </a:rPr>
              <a:t>g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ama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lvl="1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sin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45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mé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143510" indent="-250825">
              <a:lnSpc>
                <a:spcPct val="120900"/>
              </a:lnSpc>
              <a:spcBef>
                <a:spcPts val="10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pilhas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rr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(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omo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65" dirty="0">
                <a:latin typeface="Arial"/>
                <a:cs typeface="Arial"/>
              </a:rPr>
              <a:t>r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).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ili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implemen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b="1" spc="15" dirty="0">
                <a:latin typeface="Arial"/>
                <a:cs typeface="Arial"/>
              </a:rPr>
              <a:t>recu</a:t>
            </a:r>
            <a:r>
              <a:rPr sz="1850" b="1" spc="-20" dirty="0">
                <a:latin typeface="Arial"/>
                <a:cs typeface="Arial"/>
              </a:rPr>
              <a:t>r</a:t>
            </a:r>
            <a:r>
              <a:rPr sz="1850" b="1" spc="15" dirty="0">
                <a:latin typeface="Arial"/>
                <a:cs typeface="Arial"/>
              </a:rPr>
              <a:t>s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15" dirty="0">
                <a:latin typeface="Arial"/>
                <a:cs typeface="Arial"/>
              </a:rPr>
              <a:t>v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20" dirty="0">
                <a:latin typeface="Arial"/>
                <a:cs typeface="Arial"/>
              </a:rPr>
              <a:t>dade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4978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8024"/>
            <a:ext cx="8731250" cy="586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22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F</a:t>
            </a:r>
            <a:r>
              <a:rPr sz="2050" spc="10" dirty="0">
                <a:latin typeface="Arial"/>
                <a:cs typeface="Arial"/>
              </a:rPr>
              <a:t>P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a</a:t>
            </a:r>
            <a:r>
              <a:rPr sz="2050" dirty="0">
                <a:latin typeface="Arial"/>
                <a:cs typeface="Arial"/>
              </a:rPr>
              <a:t> 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marR="539750" lvl="1" indent="-349885">
              <a:lnSpc>
                <a:spcPct val="118200"/>
              </a:lnSpc>
              <a:spcBef>
                <a:spcPts val="630"/>
              </a:spcBef>
              <a:buAutoNum type="arabicPeriod"/>
              <a:tabLst>
                <a:tab pos="852805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a;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6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ls</a:t>
            </a:r>
            <a:r>
              <a:rPr sz="2050" i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Em</a:t>
            </a:r>
            <a:r>
              <a:rPr sz="2050" dirty="0">
                <a:latin typeface="Arial"/>
                <a:cs typeface="Arial"/>
              </a:rPr>
              <a:t>pilha(</a:t>
            </a:r>
            <a:r>
              <a:rPr sz="2050" spc="5" dirty="0">
                <a:latin typeface="Arial"/>
                <a:cs typeface="Arial"/>
              </a:rPr>
              <a:t>x,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8200"/>
              </a:lnSpc>
              <a:spcBef>
                <a:spcPts val="63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ha,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anho(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  <a:p>
            <a:pPr marL="484505" marR="110489" indent="-262255">
              <a:lnSpc>
                <a:spcPct val="118200"/>
              </a:lnSpc>
              <a:spcBef>
                <a:spcPts val="126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34645" indent="-262255">
              <a:lnSpc>
                <a:spcPct val="118200"/>
              </a:lnSpc>
              <a:spcBef>
                <a:spcPts val="126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ar</a:t>
            </a:r>
            <a:r>
              <a:rPr sz="2050" i="1" spc="-20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anjo</a:t>
            </a:r>
            <a:r>
              <a:rPr sz="2050" i="1" spc="5" dirty="0">
                <a:latin typeface="Arial"/>
                <a:cs typeface="Arial"/>
              </a:rPr>
              <a:t>s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apon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dirty="0">
                <a:latin typeface="Arial"/>
                <a:cs typeface="Arial"/>
              </a:rPr>
              <a:t>adore</a:t>
            </a:r>
            <a:r>
              <a:rPr sz="2050" i="1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11353" y="862672"/>
            <a:ext cx="8689975" cy="5581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96139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pilha,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top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1850">
              <a:latin typeface="Times New Roman"/>
              <a:cs typeface="Times New Roman"/>
            </a:endParaRPr>
          </a:p>
          <a:p>
            <a:pPr marL="1323975" algn="ctr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It</a:t>
            </a:r>
            <a:r>
              <a:rPr sz="1850" spc="15" dirty="0">
                <a:latin typeface="Times New Roman"/>
                <a:cs typeface="Times New Roman"/>
              </a:rPr>
              <a:t>e</a:t>
            </a:r>
            <a:r>
              <a:rPr sz="1850" spc="10" dirty="0">
                <a:latin typeface="Times New Roman"/>
                <a:cs typeface="Times New Roman"/>
              </a:rPr>
              <a:t>ns</a:t>
            </a:r>
            <a:endParaRPr sz="1850">
              <a:latin typeface="Times New Roman"/>
              <a:cs typeface="Times New Roman"/>
            </a:endParaRPr>
          </a:p>
          <a:p>
            <a:pPr marR="1384300" algn="ctr">
              <a:lnSpc>
                <a:spcPct val="100000"/>
              </a:lnSpc>
              <a:spcBef>
                <a:spcPts val="225"/>
              </a:spcBef>
            </a:pPr>
            <a:r>
              <a:rPr sz="1850" spc="15" dirty="0">
                <a:latin typeface="Times New Roman"/>
                <a:cs typeface="Times New Roman"/>
              </a:rPr>
              <a:t>P</a:t>
            </a:r>
            <a:r>
              <a:rPr sz="1850" spc="5" dirty="0">
                <a:latin typeface="Times New Roman"/>
                <a:cs typeface="Times New Roman"/>
              </a:rPr>
              <a:t>ri</a:t>
            </a:r>
            <a:r>
              <a:rPr sz="1850" spc="20" dirty="0">
                <a:latin typeface="Times New Roman"/>
                <a:cs typeface="Times New Roman"/>
              </a:rPr>
              <a:t>me</a:t>
            </a:r>
            <a:r>
              <a:rPr sz="1850" spc="5" dirty="0">
                <a:latin typeface="Times New Roman"/>
                <a:cs typeface="Times New Roman"/>
              </a:rPr>
              <a:t>ir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114" dirty="0">
                <a:latin typeface="Tahoma"/>
                <a:cs typeface="Tahoma"/>
              </a:rPr>
              <a:t>=</a:t>
            </a:r>
            <a:r>
              <a:rPr sz="1850" spc="-55" dirty="0">
                <a:latin typeface="Tahoma"/>
                <a:cs typeface="Tahoma"/>
              </a:rPr>
              <a:t> </a:t>
            </a:r>
            <a:r>
              <a:rPr sz="1850" spc="-70" dirty="0">
                <a:latin typeface="Tahoma"/>
                <a:cs typeface="Tahoma"/>
              </a:rPr>
              <a:t>1</a:t>
            </a:r>
            <a:endParaRPr sz="1850">
              <a:latin typeface="Tahoma"/>
              <a:cs typeface="Tahoma"/>
            </a:endParaRPr>
          </a:p>
          <a:p>
            <a:pPr marR="382270" algn="ctr">
              <a:lnSpc>
                <a:spcPct val="100000"/>
              </a:lnSpc>
              <a:spcBef>
                <a:spcPts val="229"/>
              </a:spcBef>
            </a:pPr>
            <a:r>
              <a:rPr sz="1850" spc="15" dirty="0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  <a:p>
            <a:pPr marL="3405504" marR="4416425" indent="372745">
              <a:lnSpc>
                <a:spcPct val="286800"/>
              </a:lnSpc>
            </a:pP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10" dirty="0">
                <a:latin typeface="Times New Roman"/>
                <a:cs typeface="Times New Roman"/>
              </a:rPr>
              <a:t>op</a:t>
            </a:r>
            <a:r>
              <a:rPr sz="1850" spc="15" dirty="0">
                <a:latin typeface="Times New Roman"/>
                <a:cs typeface="Times New Roman"/>
              </a:rPr>
              <a:t>o Ma</a:t>
            </a:r>
            <a:r>
              <a:rPr sz="1850" spc="10" dirty="0">
                <a:latin typeface="Times New Roman"/>
                <a:cs typeface="Times New Roman"/>
              </a:rPr>
              <a:t>x</a:t>
            </a: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20" dirty="0">
                <a:latin typeface="Times New Roman"/>
                <a:cs typeface="Times New Roman"/>
              </a:rPr>
              <a:t>am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64965" y="3864038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69359" y="3863987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7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23989" y="3863987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7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64965" y="6492260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403551" y="4173963"/>
          <a:ext cx="1252829" cy="22482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2829"/>
              </a:tblGrid>
              <a:tr h="315468">
                <a:tc>
                  <a:txBody>
                    <a:bodyPr/>
                    <a:lstStyle/>
                    <a:p>
                      <a:pPr marR="3175" algn="ctr">
                        <a:lnSpc>
                          <a:spcPts val="1860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1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2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i="1" baseline="-12345" dirty="0">
                          <a:latin typeface="Verdana"/>
                          <a:cs typeface="Verdana"/>
                        </a:rPr>
                        <a:t>n</a:t>
                      </a:r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5474">
                <a:tc>
                  <a:txBody>
                    <a:bodyPr/>
                    <a:lstStyle/>
                    <a:p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4112" y="851928"/>
            <a:ext cx="8716010" cy="6273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>
              <a:latin typeface="Arial"/>
              <a:cs typeface="Arial"/>
            </a:endParaRPr>
          </a:p>
          <a:p>
            <a:pPr marL="49212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  <a:p>
            <a:pPr marL="492125" marR="22796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  <a:p>
            <a:pPr marL="49212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defin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 marL="15875" marR="5925820" indent="-3810">
              <a:lnSpc>
                <a:spcPct val="129800"/>
              </a:lnSpc>
              <a:spcBef>
                <a:spcPts val="1825"/>
              </a:spcBef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100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60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60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200" dirty="0">
                <a:latin typeface="Lucida Sans Unicode"/>
                <a:cs typeface="Lucida Sans Unicode"/>
              </a:rPr>
              <a:t> 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45" dirty="0">
                <a:latin typeface="Arial"/>
                <a:cs typeface="Arial"/>
              </a:rPr>
              <a:t>s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10" dirty="0">
                <a:latin typeface="Lucida Sans Unicode"/>
                <a:cs typeface="Lucida Sans Unicode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0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31140" marR="5881370" indent="3175">
              <a:lnSpc>
                <a:spcPct val="129700"/>
              </a:lnSpc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23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6240780" cy="23960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29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65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160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7230" y="3618408"/>
            <a:ext cx="4514215" cy="606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70002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Empilh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57810" algn="l"/>
                <a:tab pos="559435" algn="l"/>
                <a:tab pos="314579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MaxTa</a:t>
            </a:r>
            <a:r>
              <a:rPr sz="1700" spc="-1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30419" y="3954526"/>
            <a:ext cx="223647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10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chei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7302" y="4290721"/>
            <a:ext cx="6988175" cy="2623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1140">
              <a:lnSpc>
                <a:spcPct val="100000"/>
              </a:lnSpc>
              <a:tabLst>
                <a:tab pos="988060" algn="l"/>
                <a:tab pos="270192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90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25" dirty="0">
                <a:latin typeface="Lucida Sans Unicode"/>
                <a:cs typeface="Lucida Sans Unicode"/>
              </a:rPr>
              <a:t>∗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57810" algn="l"/>
                <a:tab pos="559435" algn="l"/>
                <a:tab pos="2288540" algn="l"/>
                <a:tab pos="377825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4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605"/>
              </a:spcBef>
              <a:tabLst>
                <a:tab pos="516572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210" dirty="0">
                <a:latin typeface="Lucida Sans Unicode"/>
                <a:cs typeface="Lucida Sans Unicode"/>
              </a:rPr>
              <a:t> </a:t>
            </a:r>
            <a:r>
              <a:rPr sz="1700" spc="14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3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68858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300" y="1828390"/>
            <a:ext cx="4294505" cy="476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Há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a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baseline="-12345" dirty="0">
                <a:latin typeface="Verdana"/>
                <a:cs typeface="Verdana"/>
              </a:rPr>
              <a:t> </a:t>
            </a:r>
            <a:r>
              <a:rPr sz="2025" i="1" spc="-157" baseline="-12345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sli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9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spc="82" baseline="-12345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m,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</a:t>
            </a:r>
            <a:r>
              <a:rPr sz="2050" spc="-9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- 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iga.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38045" y="5656376"/>
            <a:ext cx="730250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5" dirty="0">
                <a:latin typeface="Times New Roman"/>
                <a:cs typeface="Times New Roman"/>
              </a:rPr>
              <a:t>Ca</a:t>
            </a:r>
            <a:r>
              <a:rPr sz="1850" spc="10" dirty="0">
                <a:latin typeface="Times New Roman"/>
                <a:cs typeface="Times New Roman"/>
              </a:rPr>
              <a:t>b</a:t>
            </a:r>
            <a:r>
              <a:rPr sz="1850" spc="15" dirty="0">
                <a:latin typeface="Times New Roman"/>
                <a:cs typeface="Times New Roman"/>
              </a:rPr>
              <a:t>eça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45075" y="5251970"/>
            <a:ext cx="511809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10" dirty="0">
                <a:latin typeface="Times New Roman"/>
                <a:cs typeface="Times New Roman"/>
              </a:rPr>
              <a:t>op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67079" y="5208854"/>
            <a:ext cx="336550" cy="271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u="sng" spc="5" dirty="0">
                <a:latin typeface="Times New Roman"/>
                <a:cs typeface="Times New Roman"/>
              </a:rPr>
              <a:t> </a:t>
            </a:r>
            <a:r>
              <a:rPr sz="1700" u="sng" spc="-130" dirty="0">
                <a:latin typeface="Times New Roman"/>
                <a:cs typeface="Times New Roman"/>
              </a:rPr>
              <a:t> </a:t>
            </a:r>
            <a:r>
              <a:rPr sz="1700" u="sng" spc="210" dirty="0">
                <a:latin typeface="Meiryo UI"/>
                <a:cs typeface="Meiryo UI"/>
              </a:rPr>
              <a:t>✲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82879" y="2763672"/>
            <a:ext cx="1021080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5" dirty="0">
                <a:latin typeface="Times New Roman"/>
                <a:cs typeface="Times New Roman"/>
              </a:rPr>
              <a:t>F</a:t>
            </a:r>
            <a:r>
              <a:rPr sz="1850" spc="10" dirty="0">
                <a:latin typeface="Times New Roman"/>
                <a:cs typeface="Times New Roman"/>
              </a:rPr>
              <a:t>und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2550" u="sng" spc="7" baseline="16339" dirty="0">
                <a:latin typeface="Times New Roman"/>
                <a:cs typeface="Times New Roman"/>
              </a:rPr>
              <a:t> </a:t>
            </a:r>
            <a:r>
              <a:rPr sz="2550" u="sng" spc="-195" baseline="16339" dirty="0">
                <a:latin typeface="Times New Roman"/>
                <a:cs typeface="Times New Roman"/>
              </a:rPr>
              <a:t> </a:t>
            </a:r>
            <a:r>
              <a:rPr sz="2550" u="sng" spc="315" baseline="16339" dirty="0">
                <a:latin typeface="Meiryo UI"/>
                <a:cs typeface="Meiryo UI"/>
              </a:rPr>
              <a:t>✲</a:t>
            </a:r>
            <a:endParaRPr sz="2550" baseline="16339">
              <a:latin typeface="Meiryo UI"/>
              <a:cs typeface="Meiryo U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768755" y="4331652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773149" y="4336080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169136" y="4290302"/>
            <a:ext cx="274955" cy="286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20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endParaRPr sz="2025" baseline="-12345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026004" y="4336080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768755" y="4651578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710638" y="4336080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866098" y="4180484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399654" y="4180547"/>
            <a:ext cx="466725" cy="0"/>
          </a:xfrm>
          <a:custGeom>
            <a:avLst/>
            <a:gdLst/>
            <a:ahLst/>
            <a:cxnLst/>
            <a:rect l="l" t="t" r="r" b="b"/>
            <a:pathLst>
              <a:path w="466725">
                <a:moveTo>
                  <a:pt x="0" y="0"/>
                </a:moveTo>
                <a:lnTo>
                  <a:pt x="466572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399627" y="3931767"/>
            <a:ext cx="0" cy="248920"/>
          </a:xfrm>
          <a:custGeom>
            <a:avLst/>
            <a:gdLst/>
            <a:ahLst/>
            <a:cxnLst/>
            <a:rect l="l" t="t" r="r" b="b"/>
            <a:pathLst>
              <a:path h="248920">
                <a:moveTo>
                  <a:pt x="0" y="2488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386954" y="3934562"/>
            <a:ext cx="24447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</a:pPr>
            <a:r>
              <a:rPr sz="1700" spc="210" dirty="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355864" y="3428555"/>
            <a:ext cx="85725" cy="284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470" dirty="0">
                <a:latin typeface="Times New Roman"/>
                <a:cs typeface="Times New Roman"/>
              </a:rPr>
              <a:t>.</a:t>
            </a:r>
            <a:r>
              <a:rPr sz="2775" spc="7" baseline="-21021" dirty="0">
                <a:latin typeface="Times New Roman"/>
                <a:cs typeface="Times New Roman"/>
              </a:rPr>
              <a:t>.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55864" y="3603434"/>
            <a:ext cx="8572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99627" y="3247453"/>
            <a:ext cx="0" cy="248920"/>
          </a:xfrm>
          <a:custGeom>
            <a:avLst/>
            <a:gdLst/>
            <a:ahLst/>
            <a:cxnLst/>
            <a:rect l="l" t="t" r="r" b="b"/>
            <a:pathLst>
              <a:path h="248920">
                <a:moveTo>
                  <a:pt x="0" y="2488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386954" y="3250248"/>
            <a:ext cx="24447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</a:pPr>
            <a:r>
              <a:rPr sz="1700" spc="210" dirty="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768755" y="2776473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773149" y="2780766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169135" y="2735098"/>
            <a:ext cx="255270" cy="284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20" dirty="0">
                <a:latin typeface="Verdana"/>
                <a:cs typeface="Verdana"/>
              </a:rPr>
              <a:t>x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endParaRPr sz="2025" baseline="-12345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026004" y="2780766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768755" y="3096285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710638" y="2780766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866098" y="2438780"/>
            <a:ext cx="0" cy="497840"/>
          </a:xfrm>
          <a:custGeom>
            <a:avLst/>
            <a:gdLst/>
            <a:ahLst/>
            <a:cxnLst/>
            <a:rect l="l" t="t" r="r" b="b"/>
            <a:pathLst>
              <a:path h="497839">
                <a:moveTo>
                  <a:pt x="0" y="497662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853527" y="2441576"/>
            <a:ext cx="24447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</a:pPr>
            <a:r>
              <a:rPr sz="1700" spc="210" dirty="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97964" y="2079358"/>
            <a:ext cx="27876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nil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454647" y="2088857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459042" y="2088833"/>
            <a:ext cx="0" cy="3872865"/>
          </a:xfrm>
          <a:custGeom>
            <a:avLst/>
            <a:gdLst/>
            <a:ahLst/>
            <a:cxnLst/>
            <a:rect l="l" t="t" r="r" b="b"/>
            <a:pathLst>
              <a:path h="3872865">
                <a:moveTo>
                  <a:pt x="0" y="387248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213672" y="2088833"/>
            <a:ext cx="0" cy="3872865"/>
          </a:xfrm>
          <a:custGeom>
            <a:avLst/>
            <a:gdLst/>
            <a:ahLst/>
            <a:cxnLst/>
            <a:rect l="l" t="t" r="r" b="b"/>
            <a:pathLst>
              <a:path h="3872865">
                <a:moveTo>
                  <a:pt x="0" y="387248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454647" y="5961227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7768749" y="4802504"/>
          <a:ext cx="1252853" cy="1088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478"/>
                <a:gridCol w="311010"/>
                <a:gridCol w="155460"/>
                <a:gridCol w="159905"/>
              </a:tblGrid>
              <a:tr h="311175">
                <a:tc>
                  <a:txBody>
                    <a:bodyPr/>
                    <a:lstStyle/>
                    <a:p>
                      <a:endParaRPr sz="2600" baseline="16339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dirty="0">
                          <a:latin typeface="Meiryo UI"/>
                          <a:cs typeface="Meiryo UI"/>
                        </a:rPr>
                        <a:t>✻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59080">
                <a:tc gridSpan="3"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9080">
                <a:tc rowSpan="2" gridSpan="2">
                  <a:txBody>
                    <a:bodyPr/>
                    <a:lstStyle/>
                    <a:p>
                      <a:pPr>
                        <a:lnSpc>
                          <a:spcPts val="1964"/>
                        </a:lnSpc>
                      </a:pP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470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470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470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470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dirty="0">
                          <a:latin typeface="Meiryo UI"/>
                          <a:cs typeface="Meiryo UI"/>
                        </a:rPr>
                        <a:t>/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5908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31" y="851928"/>
            <a:ext cx="599122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298" y="1619221"/>
            <a:ext cx="3548379" cy="476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lula.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Tipo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9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00142" y="1738402"/>
            <a:ext cx="4398645" cy="4755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4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67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2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405" dirty="0">
                <a:latin typeface="Lucida Sans Unicode"/>
                <a:cs typeface="Lucida Sans Unicode"/>
              </a:rPr>
              <a:t>∗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6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397635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Fund</a:t>
            </a:r>
            <a:r>
              <a:rPr sz="1700" spc="6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51928"/>
            <a:ext cx="6887845" cy="6492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38125" marR="570865" indent="-194945">
              <a:lnSpc>
                <a:spcPct val="129700"/>
              </a:lnSpc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70" dirty="0">
                <a:latin typeface="Arial"/>
                <a:cs typeface="Arial"/>
              </a:rPr>
              <a:t>&gt;</a:t>
            </a:r>
            <a:r>
              <a:rPr sz="1700" spc="-105" dirty="0">
                <a:latin typeface="Arial"/>
                <a:cs typeface="Arial"/>
              </a:rPr>
              <a:t>Fund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 marR="3993515">
              <a:lnSpc>
                <a:spcPct val="129700"/>
              </a:lnSpc>
            </a:pP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50" dirty="0">
                <a:latin typeface="Arial"/>
                <a:cs typeface="Arial"/>
              </a:rPr>
              <a:t>&gt;</a:t>
            </a:r>
            <a:r>
              <a:rPr sz="1700" spc="-85" dirty="0">
                <a:latin typeface="Arial"/>
                <a:cs typeface="Arial"/>
              </a:rPr>
              <a:t>Top</a:t>
            </a:r>
            <a:r>
              <a:rPr sz="1700" spc="-34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NUL</a:t>
            </a:r>
            <a:r>
              <a:rPr sz="1700" spc="-1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30" dirty="0">
                <a:latin typeface="Arial"/>
                <a:cs typeface="Arial"/>
              </a:rPr>
              <a:t>&gt;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5" dirty="0">
                <a:latin typeface="Arial"/>
                <a:cs typeface="Arial"/>
              </a:rPr>
              <a:t>Fund</a:t>
            </a:r>
            <a:r>
              <a:rPr sz="1700" spc="1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270002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Empilh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 marR="1427480" indent="-20955">
              <a:lnSpc>
                <a:spcPts val="2650"/>
              </a:lnSpc>
              <a:spcBef>
                <a:spcPts val="185"/>
              </a:spcBef>
            </a:pP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50" dirty="0">
                <a:latin typeface="Arial"/>
                <a:cs typeface="Arial"/>
              </a:rPr>
              <a:t>&gt;</a:t>
            </a:r>
            <a:r>
              <a:rPr sz="1700" spc="-85" dirty="0">
                <a:latin typeface="Arial"/>
                <a:cs typeface="Arial"/>
              </a:rPr>
              <a:t>Top</a:t>
            </a:r>
            <a:r>
              <a:rPr sz="1700" spc="-34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9710">
              <a:lnSpc>
                <a:spcPct val="100000"/>
              </a:lnSpc>
              <a:spcBef>
                <a:spcPts val="415"/>
              </a:spcBef>
            </a:pPr>
            <a:r>
              <a:rPr sz="1700" spc="-80" dirty="0">
                <a:latin typeface="Arial"/>
                <a:cs typeface="Arial"/>
              </a:rPr>
              <a:t>Au</a:t>
            </a:r>
            <a:r>
              <a:rPr sz="1700" spc="-33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 marR="4743450">
              <a:lnSpc>
                <a:spcPts val="2650"/>
              </a:lnSpc>
              <a:spcBef>
                <a:spcPts val="185"/>
              </a:spcBef>
            </a:pP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30" dirty="0">
                <a:latin typeface="Arial"/>
                <a:cs typeface="Arial"/>
              </a:rPr>
              <a:t>&gt;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155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2"/>
            <a:ext cx="6887845" cy="1412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25" dirty="0">
                <a:latin typeface="Lucida Sans Unicode"/>
                <a:cs typeface="Lucida Sans Unicode"/>
              </a:rPr>
              <a:t>∗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99894" y="2332380"/>
            <a:ext cx="51244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dirty="0">
                <a:latin typeface="Arial"/>
                <a:cs typeface="Arial"/>
              </a:rPr>
              <a:t>l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st</a:t>
            </a:r>
            <a:r>
              <a:rPr sz="1700" spc="10" dirty="0">
                <a:latin typeface="Arial"/>
                <a:cs typeface="Arial"/>
              </a:rPr>
              <a:t>a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22301" y="2332380"/>
            <a:ext cx="213233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8425" y="2246365"/>
            <a:ext cx="3660140" cy="1736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3655">
              <a:lnSpc>
                <a:spcPct val="133200"/>
              </a:lnSpc>
              <a:tabLst>
                <a:tab pos="348615" algn="l"/>
                <a:tab pos="229171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4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 q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6670">
              <a:lnSpc>
                <a:spcPct val="100000"/>
              </a:lnSpc>
              <a:spcBef>
                <a:spcPts val="675"/>
              </a:spcBef>
            </a:pP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675"/>
              </a:spcBef>
            </a:pPr>
            <a:r>
              <a:rPr sz="1700" spc="-50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85" dirty="0">
                <a:latin typeface="Arial"/>
                <a:cs typeface="Arial"/>
              </a:rPr>
              <a:t>&gt;</a:t>
            </a:r>
            <a:r>
              <a:rPr sz="1700" spc="-20" dirty="0">
                <a:latin typeface="Arial"/>
                <a:cs typeface="Arial"/>
              </a:rPr>
              <a:t>Pro</a:t>
            </a:r>
            <a:r>
              <a:rPr sz="1700" spc="-21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75"/>
              </a:spcBef>
              <a:tabLst>
                <a:tab pos="1097915" algn="l"/>
              </a:tabLst>
            </a:pP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200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10" dirty="0">
                <a:latin typeface="Arial"/>
                <a:cs typeface="Arial"/>
              </a:rPr>
              <a:t>&gt;</a:t>
            </a:r>
            <a:r>
              <a:rPr sz="1700" spc="-145" dirty="0">
                <a:latin typeface="Arial"/>
                <a:cs typeface="Arial"/>
              </a:rPr>
              <a:t>Tamanh</a:t>
            </a:r>
            <a:r>
              <a:rPr sz="1700" spc="-420" dirty="0">
                <a:latin typeface="Arial"/>
                <a:cs typeface="Arial"/>
              </a:rPr>
              <a:t>o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4915" y="4057435"/>
            <a:ext cx="2994660" cy="1305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3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.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9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670290" cy="6026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endParaRPr sz="2450">
              <a:latin typeface="Arial"/>
              <a:cs typeface="Arial"/>
            </a:endParaRPr>
          </a:p>
          <a:p>
            <a:pPr marL="484505" marR="265430" indent="-262255" algn="just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39941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hega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fim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-40" dirty="0">
                <a:latin typeface="Arial"/>
                <a:cs typeface="Arial"/>
              </a:rPr>
              <a:t>f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(“fir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-in”,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“fir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-ou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”).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“orde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hegada”.</a:t>
            </a:r>
            <a:endParaRPr sz="2050">
              <a:latin typeface="Arial"/>
              <a:cs typeface="Arial"/>
            </a:endParaRPr>
          </a:p>
          <a:p>
            <a:pPr marL="484505" marR="37592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eja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“p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eiro-que-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hega,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eiro-a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endido”.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Sis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regula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qual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62711"/>
            <a:ext cx="8451215" cy="36912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FF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a(Fila).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5" dirty="0">
                <a:latin typeface="Arial"/>
                <a:cs typeface="Arial"/>
              </a:rPr>
              <a:t>x,</a:t>
            </a:r>
            <a:r>
              <a:rPr sz="2050" dirty="0">
                <a:latin typeface="Arial"/>
                <a:cs typeface="Arial"/>
              </a:rPr>
              <a:t> Fila).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final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a(Fila,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fila.</a:t>
            </a:r>
            <a:endParaRPr sz="2050">
              <a:latin typeface="Arial"/>
              <a:cs typeface="Arial"/>
            </a:endParaRPr>
          </a:p>
          <a:p>
            <a:pPr marL="852169" marR="28194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a(Fila).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a;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6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ls</a:t>
            </a:r>
            <a:r>
              <a:rPr sz="2050" i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51928"/>
            <a:ext cx="8654415" cy="4572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pandir-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air-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609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fila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upand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1272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ai 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limi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ela.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agina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77905" y="6789454"/>
            <a:ext cx="39433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0" dirty="0">
                <a:latin typeface="Times New Roman"/>
                <a:cs typeface="Times New Roman"/>
              </a:rPr>
              <a:t>T</a:t>
            </a:r>
            <a:r>
              <a:rPr sz="1600" spc="-65" dirty="0">
                <a:latin typeface="Times New Roman"/>
                <a:cs typeface="Times New Roman"/>
              </a:rPr>
              <a:t>r</a:t>
            </a:r>
            <a:r>
              <a:rPr sz="1600" spc="-465" dirty="0">
                <a:latin typeface="Times New Roman"/>
                <a:cs typeface="Times New Roman"/>
              </a:rPr>
              <a:t>´</a:t>
            </a:r>
            <a:r>
              <a:rPr sz="1600" spc="10" dirty="0">
                <a:latin typeface="Times New Roman"/>
                <a:cs typeface="Times New Roman"/>
              </a:rPr>
              <a:t>as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42992" y="5743356"/>
            <a:ext cx="1254485" cy="12544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41730" y="6042990"/>
            <a:ext cx="129539" cy="62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600" spc="15" dirty="0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55096" y="6789455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08704" y="6976075"/>
            <a:ext cx="56451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7675" algn="l"/>
              </a:tabLst>
            </a:pPr>
            <a:r>
              <a:rPr sz="1600" spc="15" dirty="0">
                <a:latin typeface="Times New Roman"/>
                <a:cs typeface="Times New Roman"/>
              </a:rPr>
              <a:t>7	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97668" y="6789455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68238" y="5810745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31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68246" y="576930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41478"/>
                </a:moveTo>
                <a:lnTo>
                  <a:pt x="103682" y="82943"/>
                </a:lnTo>
                <a:lnTo>
                  <a:pt x="82943" y="41478"/>
                </a:lnTo>
                <a:lnTo>
                  <a:pt x="82943" y="8296"/>
                </a:lnTo>
                <a:lnTo>
                  <a:pt x="0" y="41478"/>
                </a:lnTo>
                <a:close/>
              </a:path>
              <a:path w="104139" h="83185">
                <a:moveTo>
                  <a:pt x="82943" y="8296"/>
                </a:moveTo>
                <a:lnTo>
                  <a:pt x="82943" y="41478"/>
                </a:lnTo>
                <a:lnTo>
                  <a:pt x="103682" y="0"/>
                </a:lnTo>
                <a:lnTo>
                  <a:pt x="82943" y="82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68246" y="576930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103682" y="0"/>
                </a:moveTo>
                <a:lnTo>
                  <a:pt x="0" y="41478"/>
                </a:lnTo>
                <a:lnTo>
                  <a:pt x="103682" y="82943"/>
                </a:lnTo>
                <a:lnTo>
                  <a:pt x="82943" y="41478"/>
                </a:lnTo>
                <a:lnTo>
                  <a:pt x="103682" y="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88244" y="6930449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19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68471" y="6889020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4">
                <a:moveTo>
                  <a:pt x="0" y="82941"/>
                </a:moveTo>
                <a:lnTo>
                  <a:pt x="103670" y="41468"/>
                </a:lnTo>
                <a:lnTo>
                  <a:pt x="20726" y="8290"/>
                </a:lnTo>
                <a:lnTo>
                  <a:pt x="20726" y="41468"/>
                </a:lnTo>
                <a:lnTo>
                  <a:pt x="0" y="82941"/>
                </a:lnTo>
                <a:close/>
              </a:path>
              <a:path w="104139" h="83184">
                <a:moveTo>
                  <a:pt x="0" y="0"/>
                </a:moveTo>
                <a:lnTo>
                  <a:pt x="20726" y="41468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68471" y="6889020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4">
                <a:moveTo>
                  <a:pt x="0" y="82941"/>
                </a:moveTo>
                <a:lnTo>
                  <a:pt x="103670" y="41468"/>
                </a:lnTo>
                <a:lnTo>
                  <a:pt x="0" y="0"/>
                </a:lnTo>
                <a:lnTo>
                  <a:pt x="20726" y="41468"/>
                </a:lnTo>
                <a:lnTo>
                  <a:pt x="0" y="8294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946499" y="5483174"/>
            <a:ext cx="6267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09905" algn="l"/>
              </a:tabLst>
            </a:pPr>
            <a:r>
              <a:rPr sz="1600" spc="15" dirty="0">
                <a:latin typeface="Times New Roman"/>
                <a:cs typeface="Times New Roman"/>
              </a:rPr>
              <a:t>n	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55094" y="5669750"/>
            <a:ext cx="1363980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21055" algn="l"/>
              </a:tabLst>
            </a:pPr>
            <a:r>
              <a:rPr sz="1600" spc="15" dirty="0">
                <a:latin typeface="Times New Roman"/>
                <a:cs typeface="Times New Roman"/>
              </a:rPr>
              <a:t>2	</a:t>
            </a:r>
            <a:r>
              <a:rPr sz="1600" spc="10" dirty="0">
                <a:latin typeface="Times New Roman"/>
                <a:cs typeface="Times New Roman"/>
              </a:rPr>
              <a:t>Frente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777" y="6209332"/>
            <a:ext cx="218008" cy="1809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sz="1600" dirty="0">
                <a:latin typeface="Times New Roman"/>
                <a:cs typeface="Times New Roman"/>
              </a:rPr>
              <a:t>...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683133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577905" y="2776613"/>
            <a:ext cx="39433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0" dirty="0">
                <a:latin typeface="Times New Roman"/>
                <a:cs typeface="Times New Roman"/>
              </a:rPr>
              <a:t>T</a:t>
            </a:r>
            <a:r>
              <a:rPr sz="1600" spc="-65" dirty="0">
                <a:latin typeface="Times New Roman"/>
                <a:cs typeface="Times New Roman"/>
              </a:rPr>
              <a:t>r</a:t>
            </a:r>
            <a:r>
              <a:rPr sz="1600" spc="-465" dirty="0">
                <a:latin typeface="Times New Roman"/>
                <a:cs typeface="Times New Roman"/>
              </a:rPr>
              <a:t>´</a:t>
            </a:r>
            <a:r>
              <a:rPr sz="1600" spc="10" dirty="0">
                <a:latin typeface="Times New Roman"/>
                <a:cs typeface="Times New Roman"/>
              </a:rPr>
              <a:t>as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42992" y="1730551"/>
            <a:ext cx="1254485" cy="12544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563771" y="1656918"/>
            <a:ext cx="55562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Frente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41730" y="2030145"/>
            <a:ext cx="129539" cy="62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600" spc="15" dirty="0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55096" y="2776613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08704" y="2963258"/>
            <a:ext cx="56451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7675" algn="l"/>
              </a:tabLst>
            </a:pPr>
            <a:r>
              <a:rPr sz="1600" spc="15" dirty="0">
                <a:latin typeface="Times New Roman"/>
                <a:cs typeface="Times New Roman"/>
              </a:rPr>
              <a:t>7	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97668" y="2776613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68238" y="1797900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31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68246" y="17564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41465"/>
                </a:moveTo>
                <a:lnTo>
                  <a:pt x="103682" y="82931"/>
                </a:lnTo>
                <a:lnTo>
                  <a:pt x="82943" y="41465"/>
                </a:lnTo>
                <a:lnTo>
                  <a:pt x="82943" y="8294"/>
                </a:lnTo>
                <a:lnTo>
                  <a:pt x="0" y="41465"/>
                </a:lnTo>
                <a:close/>
              </a:path>
              <a:path w="104139" h="83185">
                <a:moveTo>
                  <a:pt x="82943" y="8294"/>
                </a:moveTo>
                <a:lnTo>
                  <a:pt x="82943" y="41465"/>
                </a:lnTo>
                <a:lnTo>
                  <a:pt x="103682" y="0"/>
                </a:lnTo>
                <a:lnTo>
                  <a:pt x="82943" y="82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68246" y="17564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103682" y="0"/>
                </a:moveTo>
                <a:lnTo>
                  <a:pt x="0" y="41465"/>
                </a:lnTo>
                <a:lnTo>
                  <a:pt x="103682" y="82931"/>
                </a:lnTo>
                <a:lnTo>
                  <a:pt x="82943" y="41465"/>
                </a:lnTo>
                <a:lnTo>
                  <a:pt x="103682" y="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88244" y="2917609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19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68471" y="2876182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68471" y="2876182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946499" y="1470291"/>
            <a:ext cx="6267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09905" algn="l"/>
              </a:tabLst>
            </a:pPr>
            <a:r>
              <a:rPr sz="1600" spc="15" dirty="0">
                <a:latin typeface="Times New Roman"/>
                <a:cs typeface="Times New Roman"/>
              </a:rPr>
              <a:t>n	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55096" y="1656918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777" y="2196488"/>
            <a:ext cx="218008" cy="1809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sz="1600" dirty="0">
                <a:latin typeface="Times New Roman"/>
                <a:cs typeface="Times New Roman"/>
              </a:rPr>
              <a:t>...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21320" y="3397654"/>
            <a:ext cx="8354059" cy="2611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38481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fila se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de</a:t>
            </a:r>
            <a:r>
              <a:rPr sz="2050" spc="5" dirty="0">
                <a:latin typeface="Arial"/>
                <a:cs typeface="Arial"/>
              </a:rPr>
              <a:t>limi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pelo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horá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24765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horá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4190" y="851928"/>
            <a:ext cx="8391525" cy="5773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 dirty="0">
              <a:latin typeface="Arial"/>
              <a:cs typeface="Arial"/>
            </a:endParaRPr>
          </a:p>
          <a:p>
            <a:pPr marL="49212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 dirty="0">
              <a:latin typeface="Arial"/>
              <a:cs typeface="Arial"/>
            </a:endParaRPr>
          </a:p>
          <a:p>
            <a:pPr marL="49212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Tipo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ê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fila.</a:t>
            </a:r>
          </a:p>
          <a:p>
            <a:pPr>
              <a:lnSpc>
                <a:spcPct val="100000"/>
              </a:lnSpc>
              <a:spcBef>
                <a:spcPts val="44"/>
              </a:spcBef>
            </a:pPr>
            <a:endParaRPr sz="1550" dirty="0">
              <a:latin typeface="Times New Roman"/>
              <a:cs typeface="Times New Roman"/>
            </a:endParaRPr>
          </a:p>
          <a:p>
            <a:pPr marL="15875" marR="5601335" indent="-3810">
              <a:lnSpc>
                <a:spcPct val="129700"/>
              </a:lnSpc>
              <a:tabLst>
                <a:tab pos="1988185" algn="l"/>
              </a:tabLst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85" dirty="0">
                <a:latin typeface="Arial"/>
                <a:cs typeface="Arial"/>
              </a:rPr>
              <a:t>100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 dirty="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60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60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0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 dirty="0">
              <a:latin typeface="Arial"/>
              <a:cs typeface="Arial"/>
            </a:endParaRPr>
          </a:p>
          <a:p>
            <a:pPr marL="231140" marR="5279390" indent="3175">
              <a:lnSpc>
                <a:spcPct val="129700"/>
              </a:lnSpc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5" dirty="0" err="1">
                <a:latin typeface="Arial"/>
                <a:cs typeface="Arial"/>
              </a:rPr>
              <a:t>Tra</a:t>
            </a:r>
            <a:r>
              <a:rPr sz="1700" spc="175" dirty="0" err="1">
                <a:latin typeface="Arial"/>
                <a:cs typeface="Arial"/>
              </a:rPr>
              <a:t>s</a:t>
            </a:r>
            <a:r>
              <a:rPr sz="1700" spc="5" dirty="0" smtClean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223884" cy="5611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84505" marR="16891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a,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srgbClr val="FF0000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srgbClr val="FF0000"/>
                </a:solidFill>
                <a:latin typeface="Arial"/>
                <a:cs typeface="Arial"/>
              </a:rPr>
              <a:t>í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pa</a:t>
            </a:r>
            <a:r>
              <a:rPr sz="2050" spc="-2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2050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inguir 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dua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 si</a:t>
            </a:r>
            <a:r>
              <a:rPr sz="2050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ua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é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ix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u</a:t>
            </a:r>
            <a:r>
              <a:rPr sz="2050" spc="10" dirty="0">
                <a:solidFill>
                  <a:srgbClr val="FF0000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po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siç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spc="-50" dirty="0">
                <a:solidFill>
                  <a:srgbClr val="FF0000"/>
                </a:solidFill>
                <a:latin typeface="Arial"/>
                <a:cs typeface="Arial"/>
              </a:rPr>
              <a:t>v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zia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n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o </a:t>
            </a:r>
            <a:r>
              <a:rPr sz="205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srgbClr val="FF0000"/>
                </a:solidFill>
                <a:latin typeface="Arial"/>
                <a:cs typeface="Arial"/>
              </a:rPr>
              <a:t>rr</a:t>
            </a:r>
            <a:r>
              <a:rPr sz="2050" b="1" spc="-4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 dirty="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c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igual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480695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FFVazi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11835" marR="4754245" indent="-200660">
              <a:lnSpc>
                <a:spcPct val="133100"/>
              </a:lnSpc>
              <a:tabLst>
                <a:tab pos="71183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498475">
              <a:lnSpc>
                <a:spcPct val="100000"/>
              </a:lnSpc>
              <a:spcBef>
                <a:spcPts val="1435"/>
              </a:spcBef>
              <a:tabLst>
                <a:tab pos="2535555" algn="l"/>
              </a:tabLst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511809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792084" cy="6254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 dirty="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d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al).</a:t>
            </a:r>
          </a:p>
          <a:p>
            <a:pPr>
              <a:lnSpc>
                <a:spcPct val="100000"/>
              </a:lnSpc>
              <a:spcBef>
                <a:spcPts val="39"/>
              </a:spcBef>
            </a:pPr>
            <a:endParaRPr sz="1900" dirty="0">
              <a:latin typeface="Times New Roman"/>
              <a:cs typeface="Times New Roman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 </a:t>
            </a:r>
            <a:r>
              <a:rPr sz="1700" spc="140" dirty="0">
                <a:latin typeface="Arial"/>
                <a:cs typeface="Arial"/>
              </a:rPr>
              <a:t>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 </a:t>
            </a:r>
            <a:r>
              <a:rPr sz="1700" spc="15" dirty="0">
                <a:latin typeface="Arial"/>
                <a:cs typeface="Arial"/>
              </a:rPr>
              <a:t>%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5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80" dirty="0" err="1" smtClean="0">
                <a:latin typeface="Arial"/>
                <a:cs typeface="Arial"/>
              </a:rPr>
              <a:t>print</a:t>
            </a:r>
            <a:r>
              <a:rPr sz="1700" spc="5" dirty="0" err="1" smtClean="0">
                <a:latin typeface="Arial"/>
                <a:cs typeface="Arial"/>
              </a:rPr>
              <a:t>f</a:t>
            </a:r>
            <a:r>
              <a:rPr sz="1700" spc="-165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es</a:t>
            </a:r>
            <a:r>
              <a:rPr sz="1700" spc="5" dirty="0">
                <a:latin typeface="Arial"/>
                <a:cs typeface="Arial"/>
              </a:rPr>
              <a:t>t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0" dirty="0">
                <a:latin typeface="Arial"/>
                <a:cs typeface="Arial"/>
              </a:rPr>
              <a:t>chei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461770" marR="2121535" indent="-762635">
              <a:lnSpc>
                <a:spcPct val="129700"/>
              </a:lnSpc>
              <a:tabLst>
                <a:tab pos="1461770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 </a:t>
            </a:r>
            <a:r>
              <a:rPr sz="1700" spc="15" dirty="0">
                <a:latin typeface="Arial"/>
                <a:cs typeface="Arial"/>
              </a:rPr>
              <a:t>%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5158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Desenfileir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511809">
              <a:lnSpc>
                <a:spcPct val="100000"/>
              </a:lnSpc>
              <a:spcBef>
                <a:spcPts val="605"/>
              </a:spcBef>
              <a:tabLst>
                <a:tab pos="725805" algn="l"/>
                <a:tab pos="102806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21360">
              <a:lnSpc>
                <a:spcPct val="100000"/>
              </a:lnSpc>
              <a:spcBef>
                <a:spcPts val="605"/>
              </a:spcBef>
              <a:tabLst>
                <a:tab pos="2121535" algn="l"/>
                <a:tab pos="2630170" algn="l"/>
              </a:tabLst>
            </a:pP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461770" marR="1692910" indent="-762635">
              <a:lnSpc>
                <a:spcPct val="129700"/>
              </a:lnSpc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%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5158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792084" cy="21821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 dirty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endParaRPr lang="pt-BR" sz="1700" b="1" spc="-25" dirty="0" smtClean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endParaRPr lang="pt-BR" sz="1700" b="1" spc="-25" dirty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r>
              <a:rPr sz="1700" b="1" spc="-25" dirty="0" smtClean="0">
                <a:latin typeface="Arial"/>
                <a:cs typeface="Arial"/>
              </a:rPr>
              <a:t>voi</a:t>
            </a:r>
            <a:r>
              <a:rPr sz="1700" b="1" spc="10" dirty="0" smtClean="0">
                <a:latin typeface="Arial"/>
                <a:cs typeface="Arial"/>
              </a:rPr>
              <a:t>d</a:t>
            </a:r>
            <a:r>
              <a:rPr sz="1700" b="1" dirty="0" smtClean="0">
                <a:latin typeface="Arial"/>
                <a:cs typeface="Arial"/>
              </a:rPr>
              <a:t>  </a:t>
            </a:r>
            <a:r>
              <a:rPr lang="pt-BR" sz="1700" spc="140" dirty="0" smtClean="0">
                <a:latin typeface="Arial"/>
                <a:cs typeface="Arial"/>
              </a:rPr>
              <a:t>Imprime</a:t>
            </a:r>
            <a:r>
              <a:rPr sz="1700" spc="-204" dirty="0" smtClean="0">
                <a:latin typeface="Arial"/>
                <a:cs typeface="Arial"/>
              </a:rPr>
              <a:t> </a:t>
            </a:r>
            <a:r>
              <a:rPr sz="1700" spc="145" dirty="0" smtClean="0">
                <a:latin typeface="Arial"/>
                <a:cs typeface="Arial"/>
              </a:rPr>
              <a:t>(</a:t>
            </a:r>
            <a:r>
              <a:rPr sz="1700" spc="70" dirty="0" err="1" smtClean="0">
                <a:latin typeface="Arial"/>
                <a:cs typeface="Arial"/>
              </a:rPr>
              <a:t>TipoFil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smtClean="0">
                <a:latin typeface="Arial"/>
                <a:cs typeface="Arial"/>
              </a:rPr>
              <a:t> </a:t>
            </a:r>
            <a:r>
              <a:rPr sz="1700" spc="-165" smtClean="0">
                <a:latin typeface="Arial"/>
                <a:cs typeface="Arial"/>
              </a:rPr>
              <a:t> </a:t>
            </a:r>
            <a:r>
              <a:rPr sz="1700" spc="125" smtClean="0">
                <a:latin typeface="Arial"/>
                <a:cs typeface="Arial"/>
              </a:rPr>
              <a:t>Fil</a:t>
            </a:r>
            <a:r>
              <a:rPr sz="1700" spc="10" smtClean="0">
                <a:latin typeface="Arial"/>
                <a:cs typeface="Arial"/>
              </a:rPr>
              <a:t>a</a:t>
            </a:r>
            <a:r>
              <a:rPr sz="1700" spc="-225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endParaRPr lang="pt-BR" sz="1700" spc="5" dirty="0" smtClean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endParaRPr lang="pt-BR" sz="1700" spc="5" dirty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sz="1700" spc="5" dirty="0" smtClean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1280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711"/>
            <a:ext cx="8737600" cy="4219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774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Há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a fila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1555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m,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a, ligá-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apó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la 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484505" marR="7747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112" baseline="-12345" dirty="0">
                <a:latin typeface="Tahoma"/>
                <a:cs typeface="Tahoma"/>
              </a:rPr>
              <a:t>1</a:t>
            </a:r>
            <a:r>
              <a:rPr sz="2050" dirty="0">
                <a:latin typeface="Arial"/>
                <a:cs typeface="Arial"/>
              </a:rPr>
              <a:t>,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sli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1948" y="5683250"/>
            <a:ext cx="451485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578104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295" y="1703271"/>
            <a:ext cx="3237230" cy="43913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élula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élula.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TipoF</a:t>
            </a:r>
            <a:r>
              <a:rPr sz="2050" spc="5" dirty="0">
                <a:latin typeface="Arial"/>
                <a:cs typeface="Arial"/>
              </a:rPr>
              <a:t>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 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spc="2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fila.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14440" y="1803743"/>
            <a:ext cx="4398645" cy="4410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405" dirty="0">
                <a:latin typeface="Lucida Sans Unicode"/>
                <a:cs typeface="Lucida Sans Unicode"/>
              </a:rPr>
              <a:t>∗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4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0979" marR="1722755" indent="-208915">
              <a:lnSpc>
                <a:spcPct val="1331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4475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ct val="1331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5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290320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0</a:t>
            </a: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6858000" cy="58008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FFVazi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3204" marR="433070" indent="-200660">
              <a:lnSpc>
                <a:spcPct val="129700"/>
              </a:lnSpc>
              <a:tabLst>
                <a:tab pos="243204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204">
              <a:lnSpc>
                <a:spcPct val="100000"/>
              </a:lnSpc>
              <a:spcBef>
                <a:spcPts val="605"/>
              </a:spcBef>
            </a:pP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-135" dirty="0">
                <a:latin typeface="Arial"/>
                <a:cs typeface="Arial"/>
              </a:rPr>
              <a:t>e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295"/>
              </a:spcBef>
              <a:tabLst>
                <a:tab pos="2066925" algn="l"/>
              </a:tabLst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291782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 </a:t>
            </a:r>
            <a:r>
              <a:rPr sz="1700" spc="140" dirty="0">
                <a:latin typeface="Arial"/>
                <a:cs typeface="Arial"/>
              </a:rPr>
              <a:t>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3204" marR="5080" indent="-200660">
              <a:lnSpc>
                <a:spcPct val="129700"/>
              </a:lnSpc>
              <a:tabLst>
                <a:tab pos="243204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204" marR="3940175">
              <a:lnSpc>
                <a:spcPct val="129700"/>
              </a:lnSpc>
            </a:pP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0"/>
            <a:ext cx="6961505" cy="3501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Desenfileir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3520" marR="5080" indent="33655">
              <a:lnSpc>
                <a:spcPts val="2720"/>
              </a:lnSpc>
              <a:spcBef>
                <a:spcPts val="200"/>
              </a:spcBef>
              <a:tabLst>
                <a:tab pos="559435" algn="l"/>
                <a:tab pos="2395855" algn="l"/>
                <a:tab pos="3796029" algn="l"/>
                <a:tab pos="430466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 q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204">
              <a:lnSpc>
                <a:spcPct val="100000"/>
              </a:lnSpc>
              <a:spcBef>
                <a:spcPts val="470"/>
              </a:spcBef>
            </a:pP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-135" dirty="0">
                <a:latin typeface="Arial"/>
                <a:cs typeface="Arial"/>
              </a:rPr>
              <a:t>e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1300" marR="3853179" indent="-12065">
              <a:lnSpc>
                <a:spcPct val="133100"/>
              </a:lnSpc>
            </a:pPr>
            <a:r>
              <a:rPr sz="1700" spc="-50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-135" dirty="0">
                <a:latin typeface="Arial"/>
                <a:cs typeface="Arial"/>
              </a:rPr>
              <a:t>e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165" dirty="0">
                <a:latin typeface="Arial"/>
                <a:cs typeface="Arial"/>
              </a:rPr>
              <a:t>q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Ordenação</a:t>
            </a:r>
            <a:r>
              <a:rPr sz="5325" spc="-1560" baseline="24256" dirty="0">
                <a:solidFill>
                  <a:srgbClr val="000000"/>
                </a:solidFill>
                <a:latin typeface="Lucida Sans Unicode"/>
                <a:cs typeface="Lucida Sans Unicode"/>
              </a:rPr>
              <a:t>∗</a:t>
            </a:r>
            <a:endParaRPr sz="5325" baseline="24256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5669" y="3526802"/>
            <a:ext cx="8863330" cy="285115"/>
          </a:xfrm>
          <a:custGeom>
            <a:avLst/>
            <a:gdLst/>
            <a:ahLst/>
            <a:cxnLst/>
            <a:rect l="l" t="t" r="r" b="b"/>
            <a:pathLst>
              <a:path w="8863330" h="285114">
                <a:moveTo>
                  <a:pt x="8863052" y="284607"/>
                </a:moveTo>
                <a:lnTo>
                  <a:pt x="8863052" y="0"/>
                </a:lnTo>
                <a:lnTo>
                  <a:pt x="0" y="0"/>
                </a:lnTo>
                <a:lnTo>
                  <a:pt x="0" y="284607"/>
                </a:lnTo>
                <a:lnTo>
                  <a:pt x="8863052" y="2846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08197" y="5228285"/>
            <a:ext cx="3878579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Últi</a:t>
            </a:r>
            <a:r>
              <a:rPr sz="1700" spc="10" dirty="0">
                <a:latin typeface="Arial"/>
                <a:cs typeface="Arial"/>
              </a:rPr>
              <a:t>ma</a:t>
            </a:r>
            <a:r>
              <a:rPr sz="1700" spc="5" dirty="0">
                <a:latin typeface="Arial"/>
                <a:cs typeface="Arial"/>
              </a:rPr>
              <a:t> alte</a:t>
            </a:r>
            <a:r>
              <a:rPr sz="1700" spc="-15" dirty="0">
                <a:latin typeface="Arial"/>
                <a:cs typeface="Arial"/>
              </a:rPr>
              <a:t>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ç</a:t>
            </a:r>
            <a:r>
              <a:rPr sz="1700" spc="10" dirty="0">
                <a:latin typeface="Arial"/>
                <a:cs typeface="Arial"/>
              </a:rPr>
              <a:t>ão:</a:t>
            </a:r>
            <a:r>
              <a:rPr sz="1700" spc="11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31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Ago</a:t>
            </a:r>
            <a:r>
              <a:rPr sz="1700" spc="5" dirty="0">
                <a:latin typeface="Arial"/>
                <a:cs typeface="Arial"/>
              </a:rPr>
              <a:t>sto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2010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5669" y="6434995"/>
            <a:ext cx="3545840" cy="0"/>
          </a:xfrm>
          <a:custGeom>
            <a:avLst/>
            <a:gdLst/>
            <a:ahLst/>
            <a:cxnLst/>
            <a:rect l="l" t="t" r="r" b="b"/>
            <a:pathLst>
              <a:path w="3545840">
                <a:moveTo>
                  <a:pt x="0" y="0"/>
                </a:moveTo>
                <a:lnTo>
                  <a:pt x="354524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23111" y="6470257"/>
            <a:ext cx="6162040" cy="218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82" baseline="27777" dirty="0">
                <a:latin typeface="Lucida Sans Unicode"/>
                <a:cs typeface="Lucida Sans Unicode"/>
              </a:rPr>
              <a:t>∗</a:t>
            </a:r>
            <a:r>
              <a:rPr sz="1350" spc="-35" dirty="0">
                <a:latin typeface="Times New Roman"/>
                <a:cs typeface="Times New Roman"/>
              </a:rPr>
              <a:t>T</a:t>
            </a:r>
            <a:r>
              <a:rPr sz="1350" spc="5" dirty="0">
                <a:latin typeface="Times New Roman"/>
                <a:cs typeface="Times New Roman"/>
              </a:rPr>
              <a:t>ransparência</a:t>
            </a:r>
            <a:r>
              <a:rPr sz="1350" spc="10" dirty="0">
                <a:latin typeface="Times New Roman"/>
                <a:cs typeface="Times New Roman"/>
              </a:rPr>
              <a:t>s</a:t>
            </a:r>
            <a:r>
              <a:rPr sz="1350" spc="5" dirty="0">
                <a:latin typeface="Times New Roman"/>
                <a:cs typeface="Times New Roman"/>
              </a:rPr>
              <a:t> elaborada</a:t>
            </a:r>
            <a:r>
              <a:rPr sz="1350" spc="10" dirty="0">
                <a:latin typeface="Times New Roman"/>
                <a:cs typeface="Times New Roman"/>
              </a:rPr>
              <a:t>s</a:t>
            </a:r>
            <a:r>
              <a:rPr sz="1350" spc="5" dirty="0">
                <a:latin typeface="Times New Roman"/>
                <a:cs typeface="Times New Roman"/>
              </a:rPr>
              <a:t> por </a:t>
            </a:r>
            <a:r>
              <a:rPr sz="1350" spc="15" dirty="0">
                <a:latin typeface="Times New Roman"/>
                <a:cs typeface="Times New Roman"/>
              </a:rPr>
              <a:t>C</a:t>
            </a:r>
            <a:r>
              <a:rPr sz="1350" spc="5" dirty="0">
                <a:latin typeface="Times New Roman"/>
                <a:cs typeface="Times New Roman"/>
              </a:rPr>
              <a:t>har</a:t>
            </a:r>
            <a:r>
              <a:rPr sz="1350" dirty="0">
                <a:latin typeface="Times New Roman"/>
                <a:cs typeface="Times New Roman"/>
              </a:rPr>
              <a:t>le</a:t>
            </a:r>
            <a:r>
              <a:rPr sz="1350" spc="10" dirty="0">
                <a:latin typeface="Times New Roman"/>
                <a:cs typeface="Times New Roman"/>
              </a:rPr>
              <a:t>s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0" dirty="0">
                <a:latin typeface="Times New Roman"/>
                <a:cs typeface="Times New Roman"/>
              </a:rPr>
              <a:t>Or</a:t>
            </a:r>
            <a:r>
              <a:rPr sz="1350" spc="5" dirty="0">
                <a:latin typeface="Times New Roman"/>
                <a:cs typeface="Times New Roman"/>
              </a:rPr>
              <a:t>nela</a:t>
            </a:r>
            <a:r>
              <a:rPr sz="1350" spc="10" dirty="0">
                <a:latin typeface="Times New Roman"/>
                <a:cs typeface="Times New Roman"/>
              </a:rPr>
              <a:t>s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5" dirty="0">
                <a:latin typeface="Times New Roman"/>
                <a:cs typeface="Times New Roman"/>
              </a:rPr>
              <a:t>A</a:t>
            </a:r>
            <a:r>
              <a:rPr sz="1350" dirty="0">
                <a:latin typeface="Times New Roman"/>
                <a:cs typeface="Times New Roman"/>
              </a:rPr>
              <a:t>l</a:t>
            </a:r>
            <a:r>
              <a:rPr sz="1350" spc="20" dirty="0">
                <a:latin typeface="Times New Roman"/>
                <a:cs typeface="Times New Roman"/>
              </a:rPr>
              <a:t>m</a:t>
            </a:r>
            <a:r>
              <a:rPr sz="1350" spc="5" dirty="0">
                <a:latin typeface="Times New Roman"/>
                <a:cs typeface="Times New Roman"/>
              </a:rPr>
              <a:t>eida, Israel </a:t>
            </a:r>
            <a:r>
              <a:rPr sz="1350" spc="15" dirty="0">
                <a:latin typeface="Times New Roman"/>
                <a:cs typeface="Times New Roman"/>
              </a:rPr>
              <a:t>G</a:t>
            </a:r>
            <a:r>
              <a:rPr sz="1350" spc="5" dirty="0">
                <a:latin typeface="Times New Roman"/>
                <a:cs typeface="Times New Roman"/>
              </a:rPr>
              <a:t>ue</a:t>
            </a:r>
            <a:r>
              <a:rPr sz="1350" spc="10" dirty="0">
                <a:latin typeface="Times New Roman"/>
                <a:cs typeface="Times New Roman"/>
              </a:rPr>
              <a:t>rra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0" dirty="0">
                <a:latin typeface="Times New Roman"/>
                <a:cs typeface="Times New Roman"/>
              </a:rPr>
              <a:t>e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5" dirty="0">
                <a:latin typeface="Times New Roman"/>
                <a:cs typeface="Times New Roman"/>
              </a:rPr>
              <a:t>N</a:t>
            </a:r>
            <a:r>
              <a:rPr sz="1350" spc="-30" dirty="0">
                <a:latin typeface="Times New Roman"/>
                <a:cs typeface="Times New Roman"/>
              </a:rPr>
              <a:t>i</a:t>
            </a:r>
            <a:r>
              <a:rPr sz="1350" spc="5" dirty="0">
                <a:latin typeface="Times New Roman"/>
                <a:cs typeface="Times New Roman"/>
              </a:rPr>
              <a:t>vi</a:t>
            </a:r>
            <a:r>
              <a:rPr sz="1350" spc="10" dirty="0">
                <a:latin typeface="Times New Roman"/>
                <a:cs typeface="Times New Roman"/>
              </a:rPr>
              <a:t>o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5" dirty="0">
                <a:latin typeface="Times New Roman"/>
                <a:cs typeface="Times New Roman"/>
              </a:rPr>
              <a:t>Z</a:t>
            </a:r>
            <a:r>
              <a:rPr sz="1350" spc="-30" dirty="0">
                <a:latin typeface="Times New Roman"/>
                <a:cs typeface="Times New Roman"/>
              </a:rPr>
              <a:t>i</a:t>
            </a:r>
            <a:r>
              <a:rPr sz="1350" spc="5" dirty="0">
                <a:latin typeface="Times New Roman"/>
                <a:cs typeface="Times New Roman"/>
              </a:rPr>
              <a:t>viani</a:t>
            </a:r>
            <a:endParaRPr sz="135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26231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57643"/>
            <a:ext cx="331406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údo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apí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73949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87666" y="1414564"/>
            <a:ext cx="3477260" cy="3229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 dirty="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 dirty="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 dirty="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dirty="0">
                <a:latin typeface="Arial"/>
                <a:cs typeface="Arial"/>
              </a:rPr>
              <a:t>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 dirty="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spc="5" dirty="0" smtClean="0">
                <a:latin typeface="Arial"/>
                <a:cs typeface="Arial"/>
              </a:rPr>
              <a:t>H</a:t>
            </a:r>
            <a:r>
              <a:rPr sz="2050" dirty="0" smtClean="0">
                <a:latin typeface="Arial"/>
                <a:cs typeface="Arial"/>
              </a:rPr>
              <a:t>eap</a:t>
            </a:r>
            <a:r>
              <a:rPr sz="2050" spc="5" dirty="0" smtClean="0">
                <a:latin typeface="Arial"/>
                <a:cs typeface="Arial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749888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86800" cy="550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61785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obje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visa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22923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ificuldad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álog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ôn</a:t>
            </a:r>
            <a:r>
              <a:rPr sz="2050" spc="5" dirty="0">
                <a:latin typeface="Arial"/>
                <a:cs typeface="Arial"/>
              </a:rPr>
              <a:t>ico se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abé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9"/>
              </a:spcBef>
              <a:buFont typeface="Times New Roman"/>
              <a:buChar char="–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abalha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108394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b="1" spc="-20" dirty="0">
                <a:latin typeface="Arial"/>
                <a:cs typeface="Arial"/>
              </a:rPr>
              <a:t>c</a:t>
            </a:r>
            <a:r>
              <a:rPr sz="2050" b="1" dirty="0">
                <a:latin typeface="Arial"/>
                <a:cs typeface="Arial"/>
              </a:rPr>
              <a:t>h</a:t>
            </a:r>
            <a:r>
              <a:rPr sz="2050" b="1" spc="-30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v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5829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829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2385"/>
            <a:ext cx="8562340" cy="5819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na</a:t>
            </a:r>
            <a:endParaRPr sz="2450">
              <a:latin typeface="Arial"/>
              <a:cs typeface="Arial"/>
            </a:endParaRPr>
          </a:p>
          <a:p>
            <a:pPr marL="484505" marR="1175385" indent="-262255">
              <a:lnSpc>
                <a:spcPct val="116500"/>
              </a:lnSpc>
              <a:spcBef>
                <a:spcPts val="184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255" indent="-262255">
              <a:lnSpc>
                <a:spcPct val="116500"/>
              </a:lnSpc>
              <a:spcBef>
                <a:spcPts val="10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5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5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500"/>
              </a:lnSpc>
              <a:spcBef>
                <a:spcPts val="10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onô</a:t>
            </a:r>
            <a:r>
              <a:rPr sz="2050" spc="5" dirty="0">
                <a:latin typeface="Arial"/>
                <a:cs typeface="Arial"/>
              </a:rPr>
              <a:t>mico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requ</a:t>
            </a:r>
            <a:r>
              <a:rPr sz="2050" spc="5" dirty="0">
                <a:latin typeface="Arial"/>
                <a:cs typeface="Arial"/>
              </a:rPr>
              <a:t>isi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ordial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5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i="1" spc="-5" dirty="0">
                <a:latin typeface="Arial"/>
                <a:cs typeface="Arial"/>
              </a:rPr>
              <a:t>i</a:t>
            </a:r>
            <a:r>
              <a:rPr sz="2050" b="1" i="1" spc="5" dirty="0">
                <a:latin typeface="Arial"/>
                <a:cs typeface="Arial"/>
              </a:rPr>
              <a:t>n</a:t>
            </a:r>
            <a:r>
              <a:rPr sz="2050" b="1" i="1" dirty="0">
                <a:latin typeface="Arial"/>
                <a:cs typeface="Arial"/>
              </a:rPr>
              <a:t> s</a:t>
            </a:r>
            <a:r>
              <a:rPr sz="2050" b="1" i="1" spc="-5" dirty="0">
                <a:latin typeface="Arial"/>
                <a:cs typeface="Arial"/>
              </a:rPr>
              <a:t>i</a:t>
            </a:r>
            <a:r>
              <a:rPr sz="2050" b="1" i="1" dirty="0">
                <a:latin typeface="Arial"/>
                <a:cs typeface="Arial"/>
              </a:rPr>
              <a:t>t</a:t>
            </a:r>
            <a:r>
              <a:rPr sz="2050" b="1" i="1" spc="5" dirty="0">
                <a:latin typeface="Arial"/>
                <a:cs typeface="Arial"/>
              </a:rPr>
              <a:t>u</a:t>
            </a:r>
            <a:r>
              <a:rPr sz="2050" b="1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5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adeada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52425" indent="-262255">
              <a:lnSpc>
                <a:spcPct val="116500"/>
              </a:lnSpc>
              <a:spcBef>
                <a:spcPts val="10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ópia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ân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6829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347075" cy="5055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la</a:t>
            </a:r>
            <a:r>
              <a:rPr sz="2050" spc="5" dirty="0">
                <a:latin typeface="Arial"/>
                <a:cs typeface="Arial"/>
              </a:rPr>
              <a:t>ssific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755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dequado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pequeno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equere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rodu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pequeno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755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dequado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equere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Us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As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alhe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pequeno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960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06790" cy="3384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(1)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roque-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depo</a:t>
            </a:r>
            <a:r>
              <a:rPr sz="2050" spc="5" dirty="0">
                <a:latin typeface="Arial"/>
                <a:cs typeface="Arial"/>
              </a:rPr>
              <a:t>is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938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59785" y="2036102"/>
            <a:ext cx="0" cy="2740660"/>
          </a:xfrm>
          <a:custGeom>
            <a:avLst/>
            <a:gdLst/>
            <a:ahLst/>
            <a:cxnLst/>
            <a:rect l="l" t="t" r="r" b="b"/>
            <a:pathLst>
              <a:path h="2740660">
                <a:moveTo>
                  <a:pt x="0" y="274045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00226" y="2036102"/>
            <a:ext cx="0" cy="2740660"/>
          </a:xfrm>
          <a:custGeom>
            <a:avLst/>
            <a:gdLst/>
            <a:ahLst/>
            <a:cxnLst/>
            <a:rect l="l" t="t" r="r" b="b"/>
            <a:pathLst>
              <a:path h="2740660">
                <a:moveTo>
                  <a:pt x="0" y="274045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21295" y="5204180"/>
            <a:ext cx="615124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As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ca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si.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27684" y="304008"/>
          <a:ext cx="9638834" cy="44724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6274"/>
                <a:gridCol w="316027"/>
                <a:gridCol w="420224"/>
                <a:gridCol w="420229"/>
                <a:gridCol w="420211"/>
                <a:gridCol w="432466"/>
                <a:gridCol w="3123403"/>
              </a:tblGrid>
              <a:tr h="567033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spc="-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ojet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 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 A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lgo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 – C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ap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4 Or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denaçã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 – 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Seçã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 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.1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spc="-5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7880">
                <a:tc>
                  <a:txBody>
                    <a:bodyPr/>
                    <a:lstStyle/>
                    <a:p>
                      <a:pPr marL="495934">
                        <a:lnSpc>
                          <a:spcPts val="2790"/>
                        </a:lnSpc>
                      </a:pP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2450" b="1" spc="-50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açã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2450" b="1" spc="10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por</a:t>
                      </a:r>
                      <a:r>
                        <a:rPr sz="2450" b="1" spc="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Se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eçã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2450" b="1" spc="10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(2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471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968375" indent="-262255">
                        <a:lnSpc>
                          <a:spcPct val="100000"/>
                        </a:lnSpc>
                        <a:buFont typeface="Lucida Sans Unicode"/>
                        <a:buChar char="•"/>
                        <a:tabLst>
                          <a:tab pos="969010" algn="l"/>
                        </a:tabLst>
                      </a:pPr>
                      <a:r>
                        <a:rPr sz="2050" dirty="0">
                          <a:latin typeface="Arial"/>
                          <a:cs typeface="Arial"/>
                        </a:rPr>
                        <a:t>O m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étod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é il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050" spc="-2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ad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aba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ix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: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9172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70915">
                <a:tc>
                  <a:txBody>
                    <a:bodyPr/>
                    <a:lstStyle/>
                    <a:p>
                      <a:pPr marL="28873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34354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493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353631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7210" y="1770710"/>
            <a:ext cx="6015889" cy="4732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07970" algn="l"/>
              </a:tabLst>
            </a:pPr>
            <a:r>
              <a:rPr lang="pt-BR" sz="2050" spc="-60" dirty="0" err="1">
                <a:latin typeface="Arial"/>
                <a:cs typeface="Arial"/>
              </a:rPr>
              <a:t>void</a:t>
            </a:r>
            <a:r>
              <a:rPr lang="pt-BR" sz="2050" spc="-60" dirty="0">
                <a:latin typeface="Arial"/>
                <a:cs typeface="Arial"/>
              </a:rPr>
              <a:t> </a:t>
            </a:r>
            <a:r>
              <a:rPr lang="pt-BR" sz="2050" spc="-60" dirty="0" err="1">
                <a:latin typeface="Arial"/>
                <a:cs typeface="Arial"/>
              </a:rPr>
              <a:t>selection_sort</a:t>
            </a:r>
            <a:r>
              <a:rPr lang="pt-BR" sz="2050" spc="-60" dirty="0">
                <a:latin typeface="Arial"/>
                <a:cs typeface="Arial"/>
              </a:rPr>
              <a:t>(</a:t>
            </a:r>
            <a:r>
              <a:rPr lang="pt-BR" sz="2050" spc="-60" dirty="0" err="1">
                <a:latin typeface="Arial"/>
                <a:cs typeface="Arial"/>
              </a:rPr>
              <a:t>int</a:t>
            </a:r>
            <a:r>
              <a:rPr lang="pt-BR" sz="2050" spc="-60" dirty="0">
                <a:latin typeface="Arial"/>
                <a:cs typeface="Arial"/>
              </a:rPr>
              <a:t> num[], </a:t>
            </a:r>
            <a:r>
              <a:rPr lang="pt-BR" sz="2050" spc="-60" dirty="0" err="1">
                <a:latin typeface="Arial"/>
                <a:cs typeface="Arial"/>
              </a:rPr>
              <a:t>int</a:t>
            </a:r>
            <a:r>
              <a:rPr lang="pt-BR" sz="2050" spc="-60" dirty="0">
                <a:latin typeface="Arial"/>
                <a:cs typeface="Arial"/>
              </a:rPr>
              <a:t> </a:t>
            </a:r>
            <a:r>
              <a:rPr lang="pt-BR" sz="2050" spc="-60" dirty="0" err="1">
                <a:latin typeface="Arial"/>
                <a:cs typeface="Arial"/>
              </a:rPr>
              <a:t>tam</a:t>
            </a:r>
            <a:r>
              <a:rPr lang="pt-BR" sz="2050" spc="-60" dirty="0">
                <a:latin typeface="Arial"/>
                <a:cs typeface="Arial"/>
              </a:rPr>
              <a:t>) { </a:t>
            </a:r>
          </a:p>
          <a:p>
            <a:pPr marL="469900" lvl="1">
              <a:tabLst>
                <a:tab pos="2807970" algn="l"/>
              </a:tabLst>
            </a:pPr>
            <a:r>
              <a:rPr lang="pt-BR" sz="2050" spc="-60" dirty="0" err="1">
                <a:latin typeface="Arial"/>
                <a:cs typeface="Arial"/>
              </a:rPr>
              <a:t>int</a:t>
            </a:r>
            <a:r>
              <a:rPr lang="pt-BR" sz="2050" spc="-60" dirty="0">
                <a:latin typeface="Arial"/>
                <a:cs typeface="Arial"/>
              </a:rPr>
              <a:t> i, j, min, </a:t>
            </a:r>
            <a:r>
              <a:rPr lang="pt-BR" sz="2050" spc="-60" dirty="0" err="1">
                <a:latin typeface="Arial"/>
                <a:cs typeface="Arial"/>
              </a:rPr>
              <a:t>aux</a:t>
            </a:r>
            <a:r>
              <a:rPr lang="pt-BR" sz="2050" spc="-60" dirty="0">
                <a:latin typeface="Arial"/>
                <a:cs typeface="Arial"/>
              </a:rPr>
              <a:t>; </a:t>
            </a:r>
          </a:p>
          <a:p>
            <a:pPr marL="469900" lvl="1">
              <a:tabLst>
                <a:tab pos="2807970" algn="l"/>
              </a:tabLst>
            </a:pPr>
            <a:r>
              <a:rPr lang="pt-BR" sz="2050" spc="-60" dirty="0">
                <a:latin typeface="Arial"/>
                <a:cs typeface="Arial"/>
              </a:rPr>
              <a:t>for (i = 0; i &lt; (tam-1); i++) {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>
                <a:latin typeface="Arial"/>
                <a:cs typeface="Arial"/>
              </a:rPr>
              <a:t>min = i;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>
                <a:latin typeface="Arial"/>
                <a:cs typeface="Arial"/>
              </a:rPr>
              <a:t>for (j = (i+1); j &lt; </a:t>
            </a:r>
            <a:r>
              <a:rPr lang="pt-BR" sz="2050" spc="-60" dirty="0" err="1">
                <a:latin typeface="Arial"/>
                <a:cs typeface="Arial"/>
              </a:rPr>
              <a:t>tam</a:t>
            </a:r>
            <a:r>
              <a:rPr lang="pt-BR" sz="2050" spc="-60" dirty="0">
                <a:latin typeface="Arial"/>
                <a:cs typeface="Arial"/>
              </a:rPr>
              <a:t>; j++) { </a:t>
            </a:r>
            <a:endParaRPr lang="pt-BR" sz="2050" spc="-60" dirty="0" smtClean="0">
              <a:latin typeface="Arial"/>
              <a:cs typeface="Arial"/>
            </a:endParaRPr>
          </a:p>
          <a:p>
            <a:pPr marL="927100" lvl="2">
              <a:tabLst>
                <a:tab pos="2807970" algn="l"/>
              </a:tabLst>
            </a:pPr>
            <a:r>
              <a:rPr lang="pt-BR" sz="2050" spc="-60" dirty="0" smtClean="0">
                <a:latin typeface="Arial"/>
                <a:cs typeface="Arial"/>
              </a:rPr>
              <a:t>     </a:t>
            </a:r>
            <a:r>
              <a:rPr lang="pt-BR" sz="2050" spc="-60" dirty="0" err="1" smtClean="0">
                <a:latin typeface="Arial"/>
                <a:cs typeface="Arial"/>
              </a:rPr>
              <a:t>if</a:t>
            </a:r>
            <a:r>
              <a:rPr lang="pt-BR" sz="2050" spc="-60" dirty="0" smtClean="0">
                <a:latin typeface="Arial"/>
                <a:cs typeface="Arial"/>
              </a:rPr>
              <a:t>(num[j] &lt; num[min])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>
                <a:latin typeface="Arial"/>
                <a:cs typeface="Arial"/>
              </a:rPr>
              <a:t> </a:t>
            </a:r>
            <a:r>
              <a:rPr lang="pt-BR" sz="2050" spc="-60" dirty="0" smtClean="0">
                <a:latin typeface="Arial"/>
                <a:cs typeface="Arial"/>
              </a:rPr>
              <a:t>         min </a:t>
            </a:r>
            <a:r>
              <a:rPr lang="pt-BR" sz="2050" spc="-60" dirty="0">
                <a:latin typeface="Arial"/>
                <a:cs typeface="Arial"/>
              </a:rPr>
              <a:t>= j;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>
                <a:latin typeface="Arial"/>
                <a:cs typeface="Arial"/>
              </a:rPr>
              <a:t>}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 err="1">
                <a:latin typeface="Arial"/>
                <a:cs typeface="Arial"/>
              </a:rPr>
              <a:t>if</a:t>
            </a:r>
            <a:r>
              <a:rPr lang="pt-BR" sz="2050" spc="-60" dirty="0">
                <a:latin typeface="Arial"/>
                <a:cs typeface="Arial"/>
              </a:rPr>
              <a:t> (num[i] != num[min]) {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 smtClean="0">
                <a:latin typeface="Arial"/>
                <a:cs typeface="Arial"/>
              </a:rPr>
              <a:t>     </a:t>
            </a:r>
            <a:r>
              <a:rPr lang="pt-BR" sz="2050" spc="-60" dirty="0" err="1" smtClean="0">
                <a:latin typeface="Arial"/>
                <a:cs typeface="Arial"/>
              </a:rPr>
              <a:t>aux</a:t>
            </a:r>
            <a:r>
              <a:rPr lang="pt-BR" sz="2050" spc="-60" dirty="0" smtClean="0">
                <a:latin typeface="Arial"/>
                <a:cs typeface="Arial"/>
              </a:rPr>
              <a:t> </a:t>
            </a:r>
            <a:r>
              <a:rPr lang="pt-BR" sz="2050" spc="-60" dirty="0">
                <a:latin typeface="Arial"/>
                <a:cs typeface="Arial"/>
              </a:rPr>
              <a:t>= num[i];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 smtClean="0">
                <a:latin typeface="Arial"/>
                <a:cs typeface="Arial"/>
              </a:rPr>
              <a:t>     num[i</a:t>
            </a:r>
            <a:r>
              <a:rPr lang="pt-BR" sz="2050" spc="-60" dirty="0">
                <a:latin typeface="Arial"/>
                <a:cs typeface="Arial"/>
              </a:rPr>
              <a:t>] = num[min];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 smtClean="0">
                <a:latin typeface="Arial"/>
                <a:cs typeface="Arial"/>
              </a:rPr>
              <a:t>     num[min</a:t>
            </a:r>
            <a:r>
              <a:rPr lang="pt-BR" sz="2050" spc="-60" dirty="0">
                <a:latin typeface="Arial"/>
                <a:cs typeface="Arial"/>
              </a:rPr>
              <a:t>] = </a:t>
            </a:r>
            <a:r>
              <a:rPr lang="pt-BR" sz="2050" spc="-60" dirty="0" err="1">
                <a:latin typeface="Arial"/>
                <a:cs typeface="Arial"/>
              </a:rPr>
              <a:t>aux</a:t>
            </a:r>
            <a:r>
              <a:rPr lang="pt-BR" sz="2050" spc="-60" dirty="0">
                <a:latin typeface="Arial"/>
                <a:cs typeface="Arial"/>
              </a:rPr>
              <a:t>; </a:t>
            </a:r>
          </a:p>
          <a:p>
            <a:pPr marL="927100" lvl="2">
              <a:tabLst>
                <a:tab pos="2807970" algn="l"/>
              </a:tabLst>
            </a:pPr>
            <a:r>
              <a:rPr lang="pt-BR" sz="2050" spc="-60" dirty="0">
                <a:latin typeface="Arial"/>
                <a:cs typeface="Arial"/>
              </a:rPr>
              <a:t>}</a:t>
            </a:r>
          </a:p>
          <a:p>
            <a:pPr marL="469900" lvl="1">
              <a:tabLst>
                <a:tab pos="2807970" algn="l"/>
              </a:tabLst>
            </a:pPr>
            <a:r>
              <a:rPr lang="pt-BR" sz="2050" spc="-60" dirty="0">
                <a:latin typeface="Arial"/>
                <a:cs typeface="Arial"/>
              </a:rPr>
              <a:t>} </a:t>
            </a:r>
          </a:p>
          <a:p>
            <a:pPr marL="12700">
              <a:lnSpc>
                <a:spcPct val="100000"/>
              </a:lnSpc>
              <a:tabLst>
                <a:tab pos="2807970" algn="l"/>
              </a:tabLst>
            </a:pPr>
            <a:r>
              <a:rPr lang="pt-BR" sz="2050" spc="-60" dirty="0">
                <a:latin typeface="Arial"/>
                <a:cs typeface="Arial"/>
              </a:rPr>
              <a:t>}</a:t>
            </a:r>
            <a:endParaRPr sz="2050" spc="-6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39041" y="1890699"/>
            <a:ext cx="3672840" cy="75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40994" y="2981860"/>
            <a:ext cx="85407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 dirty="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40994" y="3797652"/>
            <a:ext cx="193103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 dirty="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20951" y="6369050"/>
            <a:ext cx="7882255" cy="75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455" dirty="0">
                <a:latin typeface="Arial"/>
                <a:cs typeface="Arial"/>
              </a:rPr>
              <a:t>M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10" dirty="0">
                <a:latin typeface="Arial"/>
                <a:cs typeface="Arial"/>
              </a:rPr>
              <a:t>K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 (1973).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/>
              <p:cNvSpPr txBox="1"/>
              <p:nvPr/>
            </p:nvSpPr>
            <p:spPr>
              <a:xfrm>
                <a:off x="8200542" y="2828239"/>
                <a:ext cx="94596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pt-BR" b="0" i="1" smtClean="0">
                          <a:latin typeface="Cambria Math"/>
                        </a:rPr>
                        <m:t> −</m:t>
                      </m:r>
                      <m:f>
                        <m:fPr>
                          <m:ctrlPr>
                            <a:rPr lang="pt-BR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6" name="CaixaDeTexto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0542" y="2828239"/>
                <a:ext cx="945964" cy="64633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3422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94420" cy="5090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antagen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lina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480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2700" marR="2865120" indent="209550">
              <a:lnSpc>
                <a:spcPct val="1768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pequeno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 </a:t>
            </a: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já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ajud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nada,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quadrá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573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81695" cy="3224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jogadore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ca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tas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Em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i=</a:t>
            </a:r>
            <a:r>
              <a:rPr sz="2050" spc="5" dirty="0">
                <a:latin typeface="Arial"/>
                <a:cs typeface="Arial"/>
              </a:rPr>
              <a:t>2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a: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755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marR="5080" lvl="2" indent="-262255">
              <a:lnSpc>
                <a:spcPct val="119700"/>
              </a:lnSpc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oloque-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luga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aprop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5372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363474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41370" y="2036102"/>
            <a:ext cx="0" cy="2740660"/>
          </a:xfrm>
          <a:custGeom>
            <a:avLst/>
            <a:gdLst/>
            <a:ahLst/>
            <a:cxnLst/>
            <a:rect l="l" t="t" r="r" b="b"/>
            <a:pathLst>
              <a:path h="2740660">
                <a:moveTo>
                  <a:pt x="0" y="274045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21295" y="5204180"/>
            <a:ext cx="6814184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As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211770" y="1576211"/>
          <a:ext cx="6406841" cy="32002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33383"/>
                <a:gridCol w="398736"/>
                <a:gridCol w="432446"/>
                <a:gridCol w="432447"/>
                <a:gridCol w="432454"/>
                <a:gridCol w="432453"/>
                <a:gridCol w="544922"/>
              </a:tblGrid>
              <a:tr h="459827">
                <a:tc>
                  <a:txBody>
                    <a:bodyPr/>
                    <a:lstStyle/>
                    <a:p>
                      <a:pPr marL="284480" marR="89535" indent="-262255" algn="r">
                        <a:lnSpc>
                          <a:spcPct val="100000"/>
                        </a:lnSpc>
                        <a:spcBef>
                          <a:spcPts val="120"/>
                        </a:spcBef>
                        <a:buFont typeface="Lucida Sans Unicode"/>
                        <a:buChar char="•"/>
                        <a:tabLst>
                          <a:tab pos="285115" algn="l"/>
                        </a:tabLst>
                      </a:pPr>
                      <a:r>
                        <a:rPr sz="2050" dirty="0">
                          <a:latin typeface="Arial"/>
                          <a:cs typeface="Arial"/>
                        </a:rPr>
                        <a:t>O m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étod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é il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050" spc="-2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ad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aba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ix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: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48555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marR="15684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34354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7248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4298315" cy="8002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 dirty="0">
              <a:latin typeface="Times New Roman"/>
              <a:cs typeface="Times New Roman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1007211" y="1797050"/>
            <a:ext cx="747993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insertionSort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original [ ],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length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) { 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pt-BR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i, j, atual; 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for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(i = 1; i &lt;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length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; i++) { </a:t>
            </a: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atual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original [ i ]; </a:t>
            </a:r>
          </a:p>
          <a:p>
            <a:r>
              <a:rPr lang="pt-BR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for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(j = i - 1; (j &gt;= 0) &amp;&amp; (atual &lt;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original [ j ] );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j--) { 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original[ j </a:t>
            </a:r>
            <a:r>
              <a:rPr lang="pt-BR" sz="240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pt-BR" sz="2400" smtClean="0">
                <a:latin typeface="Arial" panose="020B0604020202020204" pitchFamily="34" charset="0"/>
                <a:cs typeface="Arial" panose="020B0604020202020204" pitchFamily="34" charset="0"/>
              </a:rPr>
              <a:t>1 ] </a:t>
            </a:r>
            <a:r>
              <a:rPr lang="pt-BR" sz="240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pt-BR" sz="2400" smtClean="0">
                <a:latin typeface="Arial" panose="020B0604020202020204" pitchFamily="34" charset="0"/>
                <a:cs typeface="Arial" panose="020B0604020202020204" pitchFamily="34" charset="0"/>
              </a:rPr>
              <a:t>original [ j ];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} 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original[ j+1 ]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= atual; </a:t>
            </a:r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  } </a:t>
            </a: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691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883525" cy="374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dirty="0">
                <a:latin typeface="Arial"/>
                <a:cs typeface="Arial"/>
              </a:rPr>
              <a:t>Con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31559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final d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ingid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querda.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Times New Roman"/>
              <a:buChar char="–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sent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0948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509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8100"/>
            <a:ext cx="7216140" cy="157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71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No </a:t>
            </a:r>
            <a:r>
              <a:rPr sz="2050" dirty="0">
                <a:latin typeface="Arial"/>
                <a:cs typeface="Arial"/>
              </a:rPr>
              <a:t>anel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120" baseline="-12345" dirty="0">
                <a:latin typeface="Trebuchet MS"/>
                <a:cs typeface="Trebuchet MS"/>
              </a:rPr>
              <a:t>i</a:t>
            </a:r>
            <a:r>
              <a:rPr sz="2025" i="1" baseline="-12345" dirty="0">
                <a:latin typeface="Trebuchet MS"/>
                <a:cs typeface="Trebuchet MS"/>
              </a:rPr>
              <a:t> </a:t>
            </a:r>
            <a:r>
              <a:rPr sz="2025" i="1" spc="-232" baseline="-12345" dirty="0">
                <a:latin typeface="Trebuchet MS"/>
                <a:cs typeface="Trebuchet MS"/>
              </a:rPr>
              <a:t> </a:t>
            </a:r>
            <a:r>
              <a:rPr sz="2050" dirty="0">
                <a:latin typeface="Arial"/>
                <a:cs typeface="Arial"/>
              </a:rPr>
              <a:t>é: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09019" y="2716441"/>
            <a:ext cx="1254760" cy="800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53054" y="2579913"/>
            <a:ext cx="1362710" cy="1373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3700"/>
              </a:lnSpc>
            </a:pPr>
            <a:r>
              <a:rPr sz="2050" spc="-70" dirty="0">
                <a:latin typeface="Georgia"/>
                <a:cs typeface="Georgia"/>
              </a:rPr>
              <a:t>Me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75" dirty="0">
                <a:latin typeface="Georgia"/>
                <a:cs typeface="Georgia"/>
              </a:rPr>
              <a:t>h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P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80" dirty="0">
                <a:latin typeface="Georgia"/>
                <a:cs typeface="Georgia"/>
              </a:rPr>
              <a:t>m</a:t>
            </a:r>
            <a:r>
              <a:rPr sz="2050" spc="-969" dirty="0">
                <a:latin typeface="Georgia"/>
                <a:cs typeface="Georgia"/>
              </a:rPr>
              <a:t>´</a:t>
            </a:r>
            <a:r>
              <a:rPr sz="2050" spc="-95" dirty="0">
                <a:latin typeface="Georgia"/>
                <a:cs typeface="Georgia"/>
              </a:rPr>
              <a:t>e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50991" y="3793578"/>
            <a:ext cx="88900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spc="80" dirty="0">
                <a:latin typeface="Trebuchet MS"/>
                <a:cs typeface="Trebuchet MS"/>
              </a:rPr>
              <a:t>i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09032" y="3614153"/>
            <a:ext cx="3344545" cy="351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dirty="0">
                <a:latin typeface="Georgia"/>
                <a:cs typeface="Georgia"/>
              </a:rPr>
              <a:t> </a:t>
            </a:r>
            <a:r>
              <a:rPr sz="2050" spc="-210" dirty="0">
                <a:latin typeface="Georgia"/>
                <a:cs typeface="Georgia"/>
              </a:rPr>
              <a:t> </a:t>
            </a:r>
            <a:r>
              <a:rPr sz="2025" u="sng" spc="142" baseline="32921" dirty="0">
                <a:latin typeface="PMingLiU"/>
                <a:cs typeface="PMingLiU"/>
              </a:rPr>
              <a:t>1</a:t>
            </a:r>
            <a:r>
              <a:rPr sz="2025" spc="-217" baseline="32921" dirty="0">
                <a:latin typeface="PMingLiU"/>
                <a:cs typeface="PMingLiU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26819" y="3615842"/>
            <a:ext cx="326390" cy="401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205" marR="5080" indent="-104139">
              <a:lnSpc>
                <a:spcPts val="1530"/>
              </a:lnSpc>
            </a:pPr>
            <a:r>
              <a:rPr sz="1350" i="1" u="sng" spc="80" dirty="0">
                <a:latin typeface="Trebuchet MS"/>
                <a:cs typeface="Trebuchet MS"/>
              </a:rPr>
              <a:t>i</a:t>
            </a:r>
            <a:r>
              <a:rPr sz="1350" u="sng" spc="420" dirty="0">
                <a:latin typeface="PMingLiU"/>
                <a:cs typeface="PMingLiU"/>
              </a:rPr>
              <a:t>+</a:t>
            </a:r>
            <a:r>
              <a:rPr sz="1350" u="sng" spc="95" dirty="0">
                <a:latin typeface="PMingLiU"/>
                <a:cs typeface="PMingLiU"/>
              </a:rPr>
              <a:t>1</a:t>
            </a:r>
            <a:r>
              <a:rPr sz="1350" spc="75" dirty="0">
                <a:latin typeface="PMingLiU"/>
                <a:cs typeface="PMingLiU"/>
              </a:rPr>
              <a:t> 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21295" y="4205061"/>
            <a:ext cx="8382000" cy="749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8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Ass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igua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17961" y="5242471"/>
            <a:ext cx="3859529" cy="561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 marR="362585" algn="r">
              <a:lnSpc>
                <a:spcPts val="1130"/>
              </a:lnSpc>
              <a:spcBef>
                <a:spcPts val="825"/>
              </a:spcBef>
            </a:pPr>
            <a:r>
              <a:rPr sz="1000" spc="75" dirty="0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56208" y="5870752"/>
            <a:ext cx="64579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39750" algn="l"/>
              </a:tabLst>
            </a:pPr>
            <a:r>
              <a:rPr sz="1350" spc="95" dirty="0">
                <a:latin typeface="PMingLiU"/>
                <a:cs typeface="PMingLiU"/>
              </a:rPr>
              <a:t>2	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17967" y="5691327"/>
            <a:ext cx="4469130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dirty="0">
                <a:latin typeface="Georgia"/>
                <a:cs typeface="Georgia"/>
              </a:rPr>
              <a:t> </a:t>
            </a:r>
            <a:r>
              <a:rPr sz="2050" spc="-210" dirty="0">
                <a:latin typeface="Georgia"/>
                <a:cs typeface="Georgia"/>
              </a:rPr>
              <a:t> </a:t>
            </a:r>
            <a:r>
              <a:rPr sz="2025" i="1" u="sng" spc="217" baseline="32921" dirty="0">
                <a:latin typeface="Trebuchet MS"/>
                <a:cs typeface="Trebuchet MS"/>
              </a:rPr>
              <a:t>n</a:t>
            </a:r>
            <a:r>
              <a:rPr sz="2025" i="1" u="sng" baseline="32921" dirty="0">
                <a:latin typeface="Trebuchet MS"/>
                <a:cs typeface="Trebuchet MS"/>
              </a:rPr>
              <a:t> </a:t>
            </a:r>
            <a:r>
              <a:rPr sz="2025" i="1" u="sng" spc="-142" baseline="32921" dirty="0">
                <a:latin typeface="Trebuchet MS"/>
                <a:cs typeface="Trebuchet MS"/>
              </a:rPr>
              <a:t> </a:t>
            </a:r>
            <a:r>
              <a:rPr sz="2025" i="1" baseline="32921" dirty="0">
                <a:latin typeface="Trebuchet MS"/>
                <a:cs typeface="Trebuchet MS"/>
              </a:rPr>
              <a:t> </a:t>
            </a:r>
            <a:r>
              <a:rPr sz="2025" i="1" spc="-225" baseline="32921" dirty="0">
                <a:latin typeface="Trebuchet MS"/>
                <a:cs typeface="Trebuchet MS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170" dirty="0">
                <a:latin typeface="Georgia"/>
                <a:cs typeface="Georgia"/>
              </a:rPr>
              <a:t> </a:t>
            </a:r>
            <a:r>
              <a:rPr sz="2025" i="1" u="sng" spc="217" baseline="32921" dirty="0">
                <a:latin typeface="Trebuchet MS"/>
                <a:cs typeface="Trebuchet MS"/>
              </a:rPr>
              <a:t>n</a:t>
            </a:r>
            <a:r>
              <a:rPr sz="2025" i="1" baseline="32921" dirty="0">
                <a:latin typeface="Trebuchet MS"/>
                <a:cs typeface="Trebuchet MS"/>
              </a:rPr>
              <a:t> </a:t>
            </a:r>
            <a:r>
              <a:rPr sz="2025" i="1" spc="-225" baseline="32921" dirty="0">
                <a:latin typeface="Trebuchet MS"/>
                <a:cs typeface="Trebuchet MS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61997" y="5105943"/>
            <a:ext cx="1362710" cy="1373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3700"/>
              </a:lnSpc>
            </a:pPr>
            <a:r>
              <a:rPr sz="2050" spc="-70" dirty="0">
                <a:latin typeface="Georgia"/>
                <a:cs typeface="Georgia"/>
              </a:rPr>
              <a:t>Me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75" dirty="0">
                <a:latin typeface="Georgia"/>
                <a:cs typeface="Georgia"/>
              </a:rPr>
              <a:t>h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P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80" dirty="0">
                <a:latin typeface="Georgia"/>
                <a:cs typeface="Georgia"/>
              </a:rPr>
              <a:t>m</a:t>
            </a:r>
            <a:r>
              <a:rPr sz="2050" spc="-969" dirty="0">
                <a:latin typeface="Georgia"/>
                <a:cs typeface="Georgia"/>
              </a:rPr>
              <a:t>´</a:t>
            </a:r>
            <a:r>
              <a:rPr sz="2050" spc="-95" dirty="0">
                <a:latin typeface="Georgia"/>
                <a:cs typeface="Georgia"/>
              </a:rPr>
              <a:t>e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89753" y="6319608"/>
            <a:ext cx="11874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95" dirty="0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17961" y="6140296"/>
            <a:ext cx="3799204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dirty="0">
                <a:latin typeface="Georgia"/>
                <a:cs typeface="Georgia"/>
              </a:rPr>
              <a:t> </a:t>
            </a:r>
            <a:r>
              <a:rPr sz="2050" spc="-210" dirty="0">
                <a:latin typeface="Georgia"/>
                <a:cs typeface="Georgia"/>
              </a:rPr>
              <a:t> </a:t>
            </a:r>
            <a:r>
              <a:rPr sz="2025" u="sng" spc="142" baseline="32921" dirty="0">
                <a:latin typeface="PMingLiU"/>
                <a:cs typeface="PMingLiU"/>
              </a:rPr>
              <a:t>1</a:t>
            </a:r>
            <a:r>
              <a:rPr sz="2025" spc="-217" baseline="32921" dirty="0">
                <a:latin typeface="PMingLiU"/>
                <a:cs typeface="PMingLiU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50" dirty="0">
                <a:latin typeface="Georgia"/>
                <a:cs typeface="Georgia"/>
              </a:rPr>
              <a:t>4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03832" y="6108598"/>
            <a:ext cx="106045" cy="144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0"/>
              </a:lnSpc>
            </a:pPr>
            <a:r>
              <a:rPr sz="1000" spc="75" dirty="0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46453" y="6319608"/>
            <a:ext cx="692150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86105" algn="l"/>
              </a:tabLst>
            </a:pPr>
            <a:r>
              <a:rPr sz="1350" spc="95" dirty="0">
                <a:latin typeface="PMingLiU"/>
                <a:cs typeface="PMingLiU"/>
              </a:rPr>
              <a:t>4	4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91018" y="6036969"/>
            <a:ext cx="1279525" cy="442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u="sng" spc="145" dirty="0">
                <a:latin typeface="Trebuchet MS"/>
                <a:cs typeface="Trebuchet MS"/>
              </a:rPr>
              <a:t>n </a:t>
            </a:r>
            <a:r>
              <a:rPr sz="1350" i="1" u="sng" spc="-95" dirty="0">
                <a:latin typeface="Trebuchet MS"/>
                <a:cs typeface="Trebuchet MS"/>
              </a:rPr>
              <a:t> 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375" baseline="-21680" dirty="0">
                <a:latin typeface="Georgia"/>
                <a:cs typeface="Georgia"/>
              </a:rPr>
              <a:t>+</a:t>
            </a:r>
            <a:r>
              <a:rPr sz="3075" spc="254" baseline="-21680" dirty="0">
                <a:latin typeface="Georgia"/>
                <a:cs typeface="Georgia"/>
              </a:rPr>
              <a:t> </a:t>
            </a:r>
            <a:r>
              <a:rPr sz="1350" u="sng" spc="95" dirty="0">
                <a:latin typeface="PMingLiU"/>
                <a:cs typeface="PMingLiU"/>
              </a:rPr>
              <a:t>3</a:t>
            </a:r>
            <a:r>
              <a:rPr sz="1350" i="1" u="sng" spc="145" dirty="0">
                <a:latin typeface="Trebuchet MS"/>
                <a:cs typeface="Trebuchet MS"/>
              </a:rPr>
              <a:t>n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-37" baseline="-21680" dirty="0">
                <a:latin typeface="Lucida Sans Unicode"/>
                <a:cs typeface="Lucida Sans Unicode"/>
              </a:rPr>
              <a:t>−</a:t>
            </a:r>
            <a:r>
              <a:rPr sz="3075" spc="-284" baseline="-21680" dirty="0">
                <a:latin typeface="Lucida Sans Unicode"/>
                <a:cs typeface="Lucida Sans Unicode"/>
              </a:rPr>
              <a:t> </a:t>
            </a:r>
            <a:r>
              <a:rPr sz="3075" spc="187" baseline="-21680" dirty="0">
                <a:latin typeface="Georgia"/>
                <a:cs typeface="Georgia"/>
              </a:rPr>
              <a:t>1</a:t>
            </a:r>
            <a:endParaRPr sz="3075" baseline="-2168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118161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846059" cy="3291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é: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"/>
              </a:spcBef>
              <a:buFont typeface="Lucida Sans Unicode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2640330">
              <a:lnSpc>
                <a:spcPct val="100000"/>
              </a:lnSpc>
            </a:pPr>
            <a:r>
              <a:rPr sz="2050" i="1" spc="245" dirty="0">
                <a:latin typeface="Arial"/>
                <a:cs typeface="Arial"/>
              </a:rPr>
              <a:t>M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endParaRPr sz="20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25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dirty="0">
                <a:latin typeface="Arial"/>
                <a:cs typeface="Arial"/>
              </a:rPr>
              <a:t>Log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é: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34884" y="4920031"/>
            <a:ext cx="3727450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150" dirty="0">
                <a:latin typeface="Georgia"/>
                <a:cs typeface="Georgia"/>
              </a:rPr>
              <a:t>4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5" dirty="0">
                <a:latin typeface="Georgia"/>
                <a:cs typeface="Georgia"/>
              </a:rPr>
              <a:t>5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4878" y="4471060"/>
            <a:ext cx="4260850" cy="561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  <a:p>
            <a:pPr marR="246379" algn="r">
              <a:lnSpc>
                <a:spcPts val="1130"/>
              </a:lnSpc>
              <a:spcBef>
                <a:spcPts val="825"/>
              </a:spcBef>
            </a:pPr>
            <a:r>
              <a:rPr sz="1000" spc="75" dirty="0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91234" y="5099342"/>
            <a:ext cx="692150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86105" algn="l"/>
              </a:tabLst>
            </a:pPr>
            <a:r>
              <a:rPr sz="1350" spc="95" dirty="0">
                <a:latin typeface="PMingLiU"/>
                <a:cs typeface="PMingLiU"/>
              </a:rPr>
              <a:t>2	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35811" y="4816703"/>
            <a:ext cx="1279525" cy="442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u="sng" spc="145" dirty="0">
                <a:latin typeface="Trebuchet MS"/>
                <a:cs typeface="Trebuchet MS"/>
              </a:rPr>
              <a:t>n </a:t>
            </a:r>
            <a:r>
              <a:rPr sz="1350" i="1" u="sng" spc="-95" dirty="0">
                <a:latin typeface="Trebuchet MS"/>
                <a:cs typeface="Trebuchet MS"/>
              </a:rPr>
              <a:t> 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375" baseline="-21680" dirty="0">
                <a:latin typeface="Georgia"/>
                <a:cs typeface="Georgia"/>
              </a:rPr>
              <a:t>+</a:t>
            </a:r>
            <a:r>
              <a:rPr sz="3075" spc="254" baseline="-21680" dirty="0">
                <a:latin typeface="Georgia"/>
                <a:cs typeface="Georgia"/>
              </a:rPr>
              <a:t> </a:t>
            </a:r>
            <a:r>
              <a:rPr sz="1350" u="sng" spc="95" dirty="0">
                <a:latin typeface="PMingLiU"/>
                <a:cs typeface="PMingLiU"/>
              </a:rPr>
              <a:t>5</a:t>
            </a:r>
            <a:r>
              <a:rPr sz="1350" i="1" u="sng" spc="145" dirty="0">
                <a:latin typeface="Trebuchet MS"/>
                <a:cs typeface="Trebuchet MS"/>
              </a:rPr>
              <a:t>n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-37" baseline="-21680" dirty="0">
                <a:latin typeface="Lucida Sans Unicode"/>
                <a:cs typeface="Lucida Sans Unicode"/>
              </a:rPr>
              <a:t>−</a:t>
            </a:r>
            <a:r>
              <a:rPr sz="3075" spc="-284" baseline="-21680" dirty="0">
                <a:latin typeface="Lucida Sans Unicode"/>
                <a:cs typeface="Lucida Sans Unicode"/>
              </a:rPr>
              <a:t> </a:t>
            </a:r>
            <a:r>
              <a:rPr sz="3075" spc="-187" baseline="-21680" dirty="0">
                <a:latin typeface="Georgia"/>
                <a:cs typeface="Georgia"/>
              </a:rPr>
              <a:t>3</a:t>
            </a:r>
            <a:endParaRPr sz="3075" baseline="-2168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78900" y="4334532"/>
            <a:ext cx="1362710" cy="1373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3700"/>
              </a:lnSpc>
            </a:pPr>
            <a:r>
              <a:rPr sz="2050" spc="-70" dirty="0">
                <a:latin typeface="Georgia"/>
                <a:cs typeface="Georgia"/>
              </a:rPr>
              <a:t>Me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75" dirty="0">
                <a:latin typeface="Georgia"/>
                <a:cs typeface="Georgia"/>
              </a:rPr>
              <a:t>h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P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80" dirty="0">
                <a:latin typeface="Georgia"/>
                <a:cs typeface="Georgia"/>
              </a:rPr>
              <a:t>m</a:t>
            </a:r>
            <a:r>
              <a:rPr sz="2050" spc="-969" dirty="0">
                <a:latin typeface="Georgia"/>
                <a:cs typeface="Georgia"/>
              </a:rPr>
              <a:t>´</a:t>
            </a:r>
            <a:r>
              <a:rPr sz="2050" spc="-95" dirty="0">
                <a:latin typeface="Georgia"/>
                <a:cs typeface="Georgia"/>
              </a:rPr>
              <a:t>e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80038" y="5548312"/>
            <a:ext cx="11874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95" dirty="0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34865" y="5368887"/>
            <a:ext cx="387286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dirty="0">
                <a:latin typeface="Georgia"/>
                <a:cs typeface="Georgia"/>
              </a:rPr>
              <a:t> </a:t>
            </a:r>
            <a:r>
              <a:rPr sz="2050" spc="-210" dirty="0">
                <a:latin typeface="Georgia"/>
                <a:cs typeface="Georgia"/>
              </a:rPr>
              <a:t> </a:t>
            </a:r>
            <a:r>
              <a:rPr sz="2025" u="sng" spc="142" baseline="32921" dirty="0">
                <a:latin typeface="PMingLiU"/>
                <a:cs typeface="PMingLiU"/>
              </a:rPr>
              <a:t>1</a:t>
            </a:r>
            <a:r>
              <a:rPr sz="2025" spc="-217" baseline="32921" dirty="0">
                <a:latin typeface="PMingLiU"/>
                <a:cs typeface="PMingLiU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75" dirty="0">
                <a:latin typeface="Georgia"/>
                <a:cs typeface="Georgia"/>
              </a:rPr>
              <a:t>5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94002" y="5337187"/>
            <a:ext cx="106045" cy="144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0"/>
              </a:lnSpc>
            </a:pPr>
            <a:r>
              <a:rPr sz="1000" spc="75" dirty="0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36623" y="5548312"/>
            <a:ext cx="73850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32460" algn="l"/>
              </a:tabLst>
            </a:pPr>
            <a:r>
              <a:rPr sz="1350" spc="95" dirty="0">
                <a:latin typeface="PMingLiU"/>
                <a:cs typeface="PMingLiU"/>
              </a:rPr>
              <a:t>4	4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81188" y="5265559"/>
            <a:ext cx="1372235" cy="442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u="sng" spc="145" dirty="0">
                <a:latin typeface="Trebuchet MS"/>
                <a:cs typeface="Trebuchet MS"/>
              </a:rPr>
              <a:t>n </a:t>
            </a:r>
            <a:r>
              <a:rPr sz="1350" i="1" u="sng" spc="-95" dirty="0">
                <a:latin typeface="Trebuchet MS"/>
                <a:cs typeface="Trebuchet MS"/>
              </a:rPr>
              <a:t> 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375" baseline="-21680" dirty="0">
                <a:latin typeface="Georgia"/>
                <a:cs typeface="Georgia"/>
              </a:rPr>
              <a:t>+</a:t>
            </a:r>
            <a:r>
              <a:rPr sz="3075" spc="254" baseline="-21680" dirty="0">
                <a:latin typeface="Georgia"/>
                <a:cs typeface="Georgia"/>
              </a:rPr>
              <a:t> </a:t>
            </a:r>
            <a:r>
              <a:rPr sz="1350" u="sng" spc="95" dirty="0">
                <a:latin typeface="PMingLiU"/>
                <a:cs typeface="PMingLiU"/>
              </a:rPr>
              <a:t>11</a:t>
            </a:r>
            <a:r>
              <a:rPr sz="1350" i="1" u="sng" spc="145" dirty="0">
                <a:latin typeface="Trebuchet MS"/>
                <a:cs typeface="Trebuchet MS"/>
              </a:rPr>
              <a:t>n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-37" baseline="-21680" dirty="0">
                <a:latin typeface="Lucida Sans Unicode"/>
                <a:cs typeface="Lucida Sans Unicode"/>
              </a:rPr>
              <a:t>−</a:t>
            </a:r>
            <a:r>
              <a:rPr sz="3075" spc="-284" baseline="-21680" dirty="0">
                <a:latin typeface="Lucida Sans Unicode"/>
                <a:cs typeface="Lucida Sans Unicode"/>
              </a:rPr>
              <a:t> </a:t>
            </a:r>
            <a:r>
              <a:rPr sz="3075" spc="-187" baseline="-21680" dirty="0">
                <a:latin typeface="Georgia"/>
                <a:cs typeface="Georgia"/>
              </a:rPr>
              <a:t>3</a:t>
            </a:r>
            <a:endParaRPr sz="3075" baseline="-2168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11814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20760" cy="4400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20193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imo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igina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484505" marR="49720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igina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“qua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”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se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un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7868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161655" cy="4384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hell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1959.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adja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o 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0891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hell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535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6557009" cy="2725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ordenada.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-ordenada.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58464" y="3746436"/>
            <a:ext cx="4389120" cy="0"/>
          </a:xfrm>
          <a:custGeom>
            <a:avLst/>
            <a:gdLst/>
            <a:ahLst/>
            <a:cxnLst/>
            <a:rect l="l" t="t" r="r" b="b"/>
            <a:pathLst>
              <a:path w="4389120">
                <a:moveTo>
                  <a:pt x="0" y="0"/>
                </a:moveTo>
                <a:lnTo>
                  <a:pt x="438854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62871" y="3746372"/>
            <a:ext cx="0" cy="1997710"/>
          </a:xfrm>
          <a:custGeom>
            <a:avLst/>
            <a:gdLst/>
            <a:ahLst/>
            <a:cxnLst/>
            <a:rect l="l" t="t" r="r" b="b"/>
            <a:pathLst>
              <a:path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42491" y="3746372"/>
            <a:ext cx="0" cy="1997710"/>
          </a:xfrm>
          <a:custGeom>
            <a:avLst/>
            <a:gdLst/>
            <a:ahLst/>
            <a:cxnLst/>
            <a:rect l="l" t="t" r="r" b="b"/>
            <a:pathLst>
              <a:path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58464" y="5743828"/>
            <a:ext cx="4389120" cy="0"/>
          </a:xfrm>
          <a:custGeom>
            <a:avLst/>
            <a:gdLst/>
            <a:ahLst/>
            <a:cxnLst/>
            <a:rect l="l" t="t" r="r" b="b"/>
            <a:pathLst>
              <a:path w="4389120">
                <a:moveTo>
                  <a:pt x="0" y="0"/>
                </a:moveTo>
                <a:lnTo>
                  <a:pt x="438854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95" y="6171614"/>
            <a:ext cx="7563484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396373" y="3837040"/>
          <a:ext cx="3912564" cy="18316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6461"/>
                <a:gridCol w="420239"/>
                <a:gridCol w="420167"/>
                <a:gridCol w="420224"/>
                <a:gridCol w="408210"/>
                <a:gridCol w="420237"/>
                <a:gridCol w="287026"/>
              </a:tblGrid>
              <a:tr h="358555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5855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9528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3774440" cy="153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589915">
              <a:lnSpc>
                <a:spcPct val="100000"/>
              </a:lnSpc>
              <a:spcBef>
                <a:spcPts val="1185"/>
              </a:spcBef>
              <a:tabLst>
                <a:tab pos="852169" algn="l"/>
              </a:tabLst>
            </a:pPr>
            <a:r>
              <a:rPr sz="2050" b="1" spc="5" dirty="0">
                <a:latin typeface="Times New Roman"/>
                <a:cs typeface="Times New Roman"/>
              </a:rPr>
              <a:t>–	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52024" y="2707640"/>
            <a:ext cx="240220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47434" y="2707640"/>
            <a:ext cx="122872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50" dirty="0">
                <a:latin typeface="Georgia"/>
                <a:cs typeface="Georgia"/>
              </a:rPr>
              <a:t>p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280" dirty="0">
                <a:latin typeface="Arial"/>
                <a:cs typeface="Arial"/>
              </a:rPr>
              <a:t>r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i="1" spc="375" dirty="0">
                <a:latin typeface="Arial"/>
                <a:cs typeface="Arial"/>
              </a:rPr>
              <a:t>&gt;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8554" y="3280968"/>
            <a:ext cx="7726045" cy="2195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75840">
              <a:lnSpc>
                <a:spcPct val="100000"/>
              </a:lnSpc>
              <a:tabLst>
                <a:tab pos="4871085" algn="l"/>
              </a:tabLst>
            </a:pP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dirty="0">
                <a:latin typeface="Arial"/>
                <a:cs typeface="Arial"/>
              </a:rPr>
              <a:t>	</a:t>
            </a:r>
            <a:r>
              <a:rPr sz="2050" spc="-50" dirty="0">
                <a:latin typeface="Georgia"/>
                <a:cs typeface="Georgia"/>
              </a:rPr>
              <a:t>p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280" dirty="0">
                <a:latin typeface="Arial"/>
                <a:cs typeface="Arial"/>
              </a:rPr>
              <a:t>r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50">
              <a:latin typeface="Times New Roman"/>
              <a:cs typeface="Times New Roman"/>
            </a:endParaRPr>
          </a:p>
          <a:p>
            <a:pPr marL="274955" marR="49530" indent="-262255">
              <a:lnSpc>
                <a:spcPct val="119700"/>
              </a:lnSpc>
              <a:buFont typeface="Times New Roman"/>
              <a:buChar char="–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K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 (1973,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95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di</a:t>
            </a:r>
            <a:r>
              <a:rPr sz="2050" spc="-5" dirty="0">
                <a:latin typeface="Arial"/>
                <a:cs typeface="Arial"/>
              </a:rPr>
              <a:t>fí</a:t>
            </a:r>
            <a:r>
              <a:rPr sz="2050" spc="5" dirty="0">
                <a:latin typeface="Arial"/>
                <a:cs typeface="Arial"/>
              </a:rPr>
              <a:t>cil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20</a:t>
            </a:r>
            <a:r>
              <a:rPr sz="2050" spc="10" dirty="0">
                <a:latin typeface="Arial"/>
                <a:cs typeface="Arial"/>
              </a:rPr>
              <a:t>%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eficiên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1,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4, 13,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40, 121,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364,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093, 3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280,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4264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4512310" cy="6062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Shellsor</a:t>
            </a:r>
            <a:r>
              <a:rPr sz="1700" spc="5" dirty="0">
                <a:latin typeface="Arial"/>
                <a:cs typeface="Arial"/>
              </a:rPr>
              <a:t>t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31775" marR="2040255" indent="-188595">
              <a:lnSpc>
                <a:spcPct val="129700"/>
              </a:lnSpc>
              <a:tabLst>
                <a:tab pos="244475" algn="l"/>
                <a:tab pos="678815" algn="l"/>
                <a:tab pos="1009650" algn="l"/>
                <a:tab pos="1423035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j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3360">
              <a:lnSpc>
                <a:spcPct val="100000"/>
              </a:lnSpc>
              <a:spcBef>
                <a:spcPts val="605"/>
              </a:spcBef>
            </a:pPr>
            <a:r>
              <a:rPr sz="1700" b="1" spc="-130" dirty="0">
                <a:latin typeface="Arial"/>
                <a:cs typeface="Arial"/>
              </a:rPr>
              <a:t>d</a:t>
            </a:r>
            <a:r>
              <a:rPr sz="1700" b="1" spc="10" dirty="0">
                <a:latin typeface="Arial"/>
                <a:cs typeface="Arial"/>
              </a:rPr>
              <a:t>o</a:t>
            </a:r>
            <a:r>
              <a:rPr sz="1700" b="1" spc="1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265" dirty="0">
                <a:latin typeface="Lucida Sans Unicode"/>
                <a:cs typeface="Lucida Sans Unicode"/>
              </a:rPr>
              <a:t> </a:t>
            </a:r>
            <a:r>
              <a:rPr sz="1700" spc="10" dirty="0">
                <a:latin typeface="Arial"/>
                <a:cs typeface="Arial"/>
              </a:rPr>
              <a:t>3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65" dirty="0">
                <a:latin typeface="Arial"/>
                <a:cs typeface="Arial"/>
              </a:rPr>
              <a:t>n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3360">
              <a:lnSpc>
                <a:spcPct val="100000"/>
              </a:lnSpc>
              <a:spcBef>
                <a:spcPts val="605"/>
              </a:spcBef>
            </a:pPr>
            <a:r>
              <a:rPr sz="1700" b="1" spc="-130" dirty="0">
                <a:latin typeface="Arial"/>
                <a:cs typeface="Arial"/>
              </a:rPr>
              <a:t>d</a:t>
            </a:r>
            <a:r>
              <a:rPr sz="1700" b="1" spc="10" dirty="0">
                <a:latin typeface="Arial"/>
                <a:cs typeface="Arial"/>
              </a:rPr>
              <a:t>o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70" dirty="0">
                <a:latin typeface="Arial"/>
                <a:cs typeface="Arial"/>
              </a:rPr>
              <a:t>/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3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175895" algn="ctr">
              <a:lnSpc>
                <a:spcPct val="100000"/>
              </a:lnSpc>
              <a:spcBef>
                <a:spcPts val="605"/>
              </a:spcBef>
              <a:tabLst>
                <a:tab pos="1735455" algn="l"/>
                <a:tab pos="2592705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900430">
              <a:lnSpc>
                <a:spcPct val="100000"/>
              </a:lnSpc>
              <a:spcBef>
                <a:spcPts val="605"/>
              </a:spcBef>
              <a:tabLst>
                <a:tab pos="229552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j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085850">
              <a:lnSpc>
                <a:spcPct val="100000"/>
              </a:lnSpc>
              <a:spcBef>
                <a:spcPts val="60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20" dirty="0">
                <a:latin typeface="Lucida Sans Unicode"/>
                <a:cs typeface="Lucida Sans Unicode"/>
              </a:rPr>
              <a:t> </a:t>
            </a:r>
            <a:r>
              <a:rPr sz="1700" spc="195" dirty="0">
                <a:latin typeface="Arial"/>
                <a:cs typeface="Arial"/>
              </a:rPr>
              <a:t>h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329055">
              <a:lnSpc>
                <a:spcPct val="100000"/>
              </a:lnSpc>
              <a:spcBef>
                <a:spcPts val="605"/>
              </a:spcBef>
              <a:tabLst>
                <a:tab pos="3366770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25" dirty="0">
                <a:latin typeface="Lucida Sans Unicode"/>
                <a:cs typeface="Lucida Sans Unicode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j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-5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h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81380" algn="ctr">
              <a:lnSpc>
                <a:spcPct val="100000"/>
              </a:lnSpc>
              <a:spcBef>
                <a:spcPts val="605"/>
              </a:spcBef>
              <a:tabLst>
                <a:tab pos="1183640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165" dirty="0">
                <a:latin typeface="Arial"/>
                <a:cs typeface="Arial"/>
              </a:rPr>
              <a:t>h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b="1" spc="-65" dirty="0">
                <a:latin typeface="Arial"/>
                <a:cs typeface="Arial"/>
              </a:rPr>
              <a:t>got</a:t>
            </a:r>
            <a:r>
              <a:rPr sz="1700" b="1" spc="10" dirty="0">
                <a:latin typeface="Arial"/>
                <a:cs typeface="Arial"/>
              </a:rPr>
              <a:t>o</a:t>
            </a:r>
            <a:r>
              <a:rPr sz="1700" b="1" spc="204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L99</a:t>
            </a:r>
            <a:r>
              <a:rPr sz="1700" spc="95" dirty="0">
                <a:latin typeface="Arial"/>
                <a:cs typeface="Arial"/>
              </a:rPr>
              <a:t>9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31889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90320">
              <a:lnSpc>
                <a:spcPct val="100000"/>
              </a:lnSpc>
              <a:spcBef>
                <a:spcPts val="605"/>
              </a:spcBef>
            </a:pPr>
            <a:r>
              <a:rPr sz="1700" spc="-85" dirty="0">
                <a:latin typeface="Arial"/>
                <a:cs typeface="Arial"/>
              </a:rPr>
              <a:t>L99</a:t>
            </a:r>
            <a:r>
              <a:rPr sz="1700" spc="10" dirty="0">
                <a:latin typeface="Arial"/>
                <a:cs typeface="Arial"/>
              </a:rPr>
              <a:t>9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9090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85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1054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4512310" cy="66171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 err="1">
                <a:latin typeface="Arial"/>
                <a:cs typeface="Arial"/>
              </a:rPr>
              <a:t>void</a:t>
            </a:r>
            <a:r>
              <a:rPr lang="pt-BR" sz="2000" b="1" spc="-25" dirty="0">
                <a:latin typeface="Arial"/>
                <a:cs typeface="Arial"/>
              </a:rPr>
              <a:t> </a:t>
            </a:r>
            <a:r>
              <a:rPr lang="pt-BR" sz="2000" b="1" spc="-25" dirty="0" err="1">
                <a:latin typeface="Arial"/>
                <a:cs typeface="Arial"/>
              </a:rPr>
              <a:t>shellSort</a:t>
            </a:r>
            <a:r>
              <a:rPr lang="pt-BR" sz="2000" b="1" spc="-25" dirty="0">
                <a:latin typeface="Arial"/>
                <a:cs typeface="Arial"/>
              </a:rPr>
              <a:t>(</a:t>
            </a:r>
            <a:r>
              <a:rPr lang="pt-BR" sz="2000" b="1" spc="-25" dirty="0" err="1">
                <a:latin typeface="Arial"/>
                <a:cs typeface="Arial"/>
              </a:rPr>
              <a:t>int</a:t>
            </a:r>
            <a:r>
              <a:rPr lang="pt-BR" sz="2000" b="1" spc="-25" dirty="0">
                <a:latin typeface="Arial"/>
                <a:cs typeface="Arial"/>
              </a:rPr>
              <a:t>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[], </a:t>
            </a:r>
            <a:r>
              <a:rPr lang="pt-BR" sz="2000" b="1" spc="-25" dirty="0" err="1">
                <a:latin typeface="Arial"/>
                <a:cs typeface="Arial"/>
              </a:rPr>
              <a:t>int</a:t>
            </a:r>
            <a:r>
              <a:rPr lang="pt-BR" sz="2000" b="1" spc="-25" dirty="0">
                <a:latin typeface="Arial"/>
                <a:cs typeface="Arial"/>
              </a:rPr>
              <a:t> </a:t>
            </a:r>
            <a:r>
              <a:rPr lang="pt-BR" sz="2000" b="1" spc="-25" dirty="0" err="1">
                <a:latin typeface="Arial"/>
                <a:cs typeface="Arial"/>
              </a:rPr>
              <a:t>size</a:t>
            </a:r>
            <a:r>
              <a:rPr lang="pt-BR" sz="2000" b="1" spc="-25" dirty="0">
                <a:latin typeface="Arial"/>
                <a:cs typeface="Arial"/>
              </a:rPr>
              <a:t>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</a:t>
            </a:r>
            <a:r>
              <a:rPr lang="pt-BR" sz="2000" b="1" spc="-25" dirty="0" err="1">
                <a:latin typeface="Arial"/>
                <a:cs typeface="Arial"/>
              </a:rPr>
              <a:t>int</a:t>
            </a:r>
            <a:r>
              <a:rPr lang="pt-BR" sz="2000" b="1" spc="-25" dirty="0">
                <a:latin typeface="Arial"/>
                <a:cs typeface="Arial"/>
              </a:rPr>
              <a:t> i , j , </a:t>
            </a:r>
            <a:r>
              <a:rPr lang="pt-BR" sz="2000" b="1" spc="-25" dirty="0" err="1">
                <a:latin typeface="Arial"/>
                <a:cs typeface="Arial"/>
              </a:rPr>
              <a:t>value</a:t>
            </a:r>
            <a:r>
              <a:rPr lang="pt-BR" sz="2000" b="1" spc="-25" dirty="0">
                <a:latin typeface="Arial"/>
                <a:cs typeface="Arial"/>
              </a:rPr>
              <a:t>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</a:t>
            </a:r>
            <a:r>
              <a:rPr lang="pt-BR" sz="2000" b="1" spc="-25" dirty="0" err="1">
                <a:latin typeface="Arial"/>
                <a:cs typeface="Arial"/>
              </a:rPr>
              <a:t>int</a:t>
            </a:r>
            <a:r>
              <a:rPr lang="pt-BR" sz="2000" b="1" spc="-25" dirty="0">
                <a:latin typeface="Arial"/>
                <a:cs typeface="Arial"/>
              </a:rPr>
              <a:t> gap = 1;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</a:t>
            </a:r>
            <a:r>
              <a:rPr lang="pt-BR" sz="2000" b="1" spc="-25" dirty="0" err="1">
                <a:latin typeface="Arial"/>
                <a:cs typeface="Arial"/>
              </a:rPr>
              <a:t>while</a:t>
            </a:r>
            <a:r>
              <a:rPr lang="pt-BR" sz="2000" b="1" spc="-25" dirty="0">
                <a:latin typeface="Arial"/>
                <a:cs typeface="Arial"/>
              </a:rPr>
              <a:t>(gap &lt; </a:t>
            </a:r>
            <a:r>
              <a:rPr lang="pt-BR" sz="2000" b="1" spc="-25" dirty="0" err="1">
                <a:latin typeface="Arial"/>
                <a:cs typeface="Arial"/>
              </a:rPr>
              <a:t>size</a:t>
            </a:r>
            <a:r>
              <a:rPr lang="pt-BR" sz="2000" b="1" spc="-25" dirty="0">
                <a:latin typeface="Arial"/>
                <a:cs typeface="Arial"/>
              </a:rPr>
              <a:t>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gap = 3*gap+1;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}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</a:t>
            </a:r>
            <a:r>
              <a:rPr lang="pt-BR" sz="2000" b="1" spc="-25" dirty="0" err="1">
                <a:latin typeface="Arial"/>
                <a:cs typeface="Arial"/>
              </a:rPr>
              <a:t>while</a:t>
            </a:r>
            <a:r>
              <a:rPr lang="pt-BR" sz="2000" b="1" spc="-25" dirty="0">
                <a:latin typeface="Arial"/>
                <a:cs typeface="Arial"/>
              </a:rPr>
              <a:t> ( gap &gt; 1)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gap /= 3;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for(i = gap; i &lt; </a:t>
            </a:r>
            <a:r>
              <a:rPr lang="pt-BR" sz="2000" b="1" spc="-25" dirty="0" err="1">
                <a:latin typeface="Arial"/>
                <a:cs typeface="Arial"/>
              </a:rPr>
              <a:t>size</a:t>
            </a:r>
            <a:r>
              <a:rPr lang="pt-BR" sz="2000" b="1" spc="-25" dirty="0">
                <a:latin typeface="Arial"/>
                <a:cs typeface="Arial"/>
              </a:rPr>
              <a:t>; i++)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</a:t>
            </a:r>
            <a:r>
              <a:rPr lang="pt-BR" sz="2000" b="1" spc="-25" dirty="0" err="1">
                <a:latin typeface="Arial"/>
                <a:cs typeface="Arial"/>
              </a:rPr>
              <a:t>value</a:t>
            </a:r>
            <a:r>
              <a:rPr lang="pt-BR" sz="2000" b="1" spc="-25" dirty="0">
                <a:latin typeface="Arial"/>
                <a:cs typeface="Arial"/>
              </a:rPr>
              <a:t> =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[i];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j = i - gap;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</a:t>
            </a:r>
            <a:r>
              <a:rPr lang="pt-BR" sz="2000" b="1" spc="-25" dirty="0" err="1">
                <a:latin typeface="Arial"/>
                <a:cs typeface="Arial"/>
              </a:rPr>
              <a:t>while</a:t>
            </a:r>
            <a:r>
              <a:rPr lang="pt-BR" sz="2000" b="1" spc="-25" dirty="0">
                <a:latin typeface="Arial"/>
                <a:cs typeface="Arial"/>
              </a:rPr>
              <a:t> (j &gt;= 0 &amp;&amp; </a:t>
            </a:r>
            <a:r>
              <a:rPr lang="pt-BR" sz="2000" b="1" spc="-25" dirty="0" err="1">
                <a:latin typeface="Arial"/>
                <a:cs typeface="Arial"/>
              </a:rPr>
              <a:t>value</a:t>
            </a:r>
            <a:r>
              <a:rPr lang="pt-BR" sz="2000" b="1" spc="-25" dirty="0">
                <a:latin typeface="Arial"/>
                <a:cs typeface="Arial"/>
              </a:rPr>
              <a:t> &lt;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[j])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   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 [j + gap] =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[j];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    j -= gap;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}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 [j + gap] = </a:t>
            </a:r>
            <a:r>
              <a:rPr lang="pt-BR" sz="2000" b="1" spc="-25" dirty="0" err="1">
                <a:latin typeface="Arial"/>
                <a:cs typeface="Arial"/>
              </a:rPr>
              <a:t>value</a:t>
            </a:r>
            <a:r>
              <a:rPr lang="pt-BR" sz="2000" b="1" spc="-25" dirty="0">
                <a:latin typeface="Arial"/>
                <a:cs typeface="Arial"/>
              </a:rPr>
              <a:t>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}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}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58221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755255" cy="1995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sent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as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inela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-ordena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1396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29625" cy="553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sz="2450" b="1" spc="17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eficiên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aind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ingué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aind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oi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apa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ana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aná</a:t>
            </a:r>
            <a:r>
              <a:rPr sz="2050" spc="5" dirty="0">
                <a:latin typeface="Arial"/>
                <a:cs typeface="Arial"/>
              </a:rPr>
              <a:t>lise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dif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próp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7150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ab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K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h:</a:t>
            </a:r>
            <a:endParaRPr sz="2050">
              <a:latin typeface="Arial"/>
              <a:cs typeface="Arial"/>
            </a:endParaRPr>
          </a:p>
          <a:p>
            <a:pPr marL="2636520">
              <a:lnSpc>
                <a:spcPct val="100000"/>
              </a:lnSpc>
              <a:spcBef>
                <a:spcPts val="590"/>
              </a:spcBef>
              <a:tabLst>
                <a:tab pos="4255770" algn="l"/>
              </a:tabLst>
            </a:pP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i="1" spc="-170" dirty="0">
                <a:latin typeface="Arial"/>
                <a:cs typeface="Arial"/>
              </a:rPr>
              <a:t>o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i="1" spc="-204" dirty="0">
                <a:latin typeface="Arial"/>
                <a:cs typeface="Arial"/>
              </a:rPr>
              <a:t>e</a:t>
            </a:r>
            <a:r>
              <a:rPr sz="2050" i="1" spc="155" dirty="0">
                <a:latin typeface="Arial"/>
                <a:cs typeface="Arial"/>
              </a:rPr>
              <a:t>t</a:t>
            </a:r>
            <a:r>
              <a:rPr sz="2050" i="1" spc="10" dirty="0">
                <a:latin typeface="Arial"/>
                <a:cs typeface="Arial"/>
              </a:rPr>
              <a:t>u</a:t>
            </a:r>
            <a:r>
              <a:rPr sz="2050" i="1" spc="280" dirty="0">
                <a:latin typeface="Arial"/>
                <a:cs typeface="Arial"/>
              </a:rPr>
              <a:t>r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dirty="0">
                <a:latin typeface="Georgia"/>
                <a:cs typeface="Georgia"/>
              </a:rPr>
              <a:t>	</a:t>
            </a: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142" baseline="30864" dirty="0">
                <a:latin typeface="PMingLiU"/>
                <a:cs typeface="PMingLiU"/>
              </a:rPr>
              <a:t>1</a:t>
            </a:r>
            <a:r>
              <a:rPr sz="2025" i="1" spc="-135" baseline="30864" dirty="0">
                <a:latin typeface="Trebuchet MS"/>
                <a:cs typeface="Trebuchet MS"/>
              </a:rPr>
              <a:t>,</a:t>
            </a:r>
            <a:r>
              <a:rPr sz="2025" spc="142" baseline="30864" dirty="0">
                <a:latin typeface="PMingLiU"/>
                <a:cs typeface="PMingLiU"/>
              </a:rPr>
              <a:t>2</a:t>
            </a:r>
            <a:r>
              <a:rPr sz="2025" spc="262" baseline="30864" dirty="0">
                <a:latin typeface="PMingLiU"/>
                <a:cs typeface="PMingLiU"/>
              </a:rPr>
              <a:t>5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  <a:p>
            <a:pPr marL="2636520">
              <a:lnSpc>
                <a:spcPct val="100000"/>
              </a:lnSpc>
              <a:spcBef>
                <a:spcPts val="2055"/>
              </a:spcBef>
              <a:tabLst>
                <a:tab pos="4255770" algn="l"/>
              </a:tabLst>
            </a:pP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i="1" spc="-170" dirty="0">
                <a:latin typeface="Arial"/>
                <a:cs typeface="Arial"/>
              </a:rPr>
              <a:t>o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i="1" spc="-204" dirty="0">
                <a:latin typeface="Arial"/>
                <a:cs typeface="Arial"/>
              </a:rPr>
              <a:t>e</a:t>
            </a:r>
            <a:r>
              <a:rPr sz="2050" i="1" spc="155" dirty="0">
                <a:latin typeface="Arial"/>
                <a:cs typeface="Arial"/>
              </a:rPr>
              <a:t>t</a:t>
            </a:r>
            <a:r>
              <a:rPr sz="2050" i="1" spc="10" dirty="0">
                <a:latin typeface="Arial"/>
                <a:cs typeface="Arial"/>
              </a:rPr>
              <a:t>u</a:t>
            </a:r>
            <a:r>
              <a:rPr sz="2050" i="1" spc="280" dirty="0">
                <a:latin typeface="Arial"/>
                <a:cs typeface="Arial"/>
              </a:rPr>
              <a:t>r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Georgia"/>
                <a:cs typeface="Georgia"/>
              </a:rPr>
              <a:t>	</a:t>
            </a: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0" dirty="0">
                <a:latin typeface="Georgia"/>
                <a:cs typeface="Georgia"/>
              </a:rPr>
              <a:t>n</a:t>
            </a:r>
            <a:r>
              <a:rPr sz="2050" spc="-15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660353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25840" cy="420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ó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ima 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ódig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pequena.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9"/>
              </a:spcBef>
              <a:buFont typeface="Times New Roman"/>
              <a:buChar char="–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31750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al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017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578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oar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196</a:t>
            </a:r>
            <a:r>
              <a:rPr sz="2050" spc="5" dirty="0">
                <a:latin typeface="Arial"/>
                <a:cs typeface="Arial"/>
              </a:rPr>
              <a:t>0 e</a:t>
            </a:r>
            <a:r>
              <a:rPr sz="2050" dirty="0">
                <a:latin typeface="Arial"/>
                <a:cs typeface="Arial"/>
              </a:rPr>
              <a:t> pu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spc="5" dirty="0">
                <a:latin typeface="Arial"/>
                <a:cs typeface="Arial"/>
              </a:rPr>
              <a:t>licc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1962.</a:t>
            </a:r>
            <a:endParaRPr sz="2050">
              <a:latin typeface="Arial"/>
              <a:cs typeface="Arial"/>
            </a:endParaRPr>
          </a:p>
          <a:p>
            <a:pPr marL="484505" marR="18669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rápid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iedad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idé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bá</a:t>
            </a:r>
            <a:r>
              <a:rPr sz="2050" spc="5" dirty="0">
                <a:latin typeface="Arial"/>
                <a:cs typeface="Arial"/>
              </a:rPr>
              <a:t>sica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ivi</a:t>
            </a:r>
            <a:r>
              <a:rPr sz="2050" dirty="0">
                <a:latin typeface="Arial"/>
                <a:cs typeface="Arial"/>
              </a:rPr>
              <a:t>dir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ordenado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independen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binado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produ</a:t>
            </a:r>
            <a:r>
              <a:rPr sz="2050" spc="5" dirty="0">
                <a:latin typeface="Arial"/>
                <a:cs typeface="Arial"/>
              </a:rPr>
              <a:t>zir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final.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5837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61400" cy="3474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35" dirty="0">
                <a:latin typeface="Georgia"/>
                <a:cs typeface="Georgia"/>
              </a:rPr>
              <a:t>E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85" dirty="0">
                <a:latin typeface="Georgia"/>
                <a:cs typeface="Georgia"/>
              </a:rPr>
              <a:t>q</a:t>
            </a:r>
            <a:r>
              <a:rPr sz="2050" i="1" spc="-10" dirty="0">
                <a:latin typeface="Arial"/>
                <a:cs typeface="Arial"/>
              </a:rPr>
              <a:t>..</a:t>
            </a:r>
            <a:r>
              <a:rPr sz="2050" spc="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rear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arbi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b="1" dirty="0">
                <a:latin typeface="Arial"/>
                <a:cs typeface="Arial"/>
              </a:rPr>
              <a:t>piv</a:t>
            </a:r>
            <a:r>
              <a:rPr sz="2050" b="1" spc="5" dirty="0">
                <a:latin typeface="Arial"/>
                <a:cs typeface="Arial"/>
              </a:rPr>
              <a:t>ô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95910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46795" cy="4864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Esc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arbi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v</a:t>
            </a:r>
            <a:r>
              <a:rPr sz="2050" b="1" spc="5" dirty="0">
                <a:latin typeface="Arial"/>
                <a:cs typeface="Arial"/>
              </a:rPr>
              <a:t>ô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are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Ao </a:t>
            </a:r>
            <a:r>
              <a:rPr sz="2050" dirty="0">
                <a:latin typeface="Arial"/>
                <a:cs typeface="Arial"/>
              </a:rPr>
              <a:t>final,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35" dirty="0">
                <a:latin typeface="Georgia"/>
                <a:cs typeface="Georgia"/>
              </a:rPr>
              <a:t>E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85" dirty="0">
                <a:latin typeface="Georgia"/>
                <a:cs typeface="Georgia"/>
              </a:rPr>
              <a:t>q</a:t>
            </a:r>
            <a:r>
              <a:rPr sz="2050" i="1" spc="-10" dirty="0">
                <a:latin typeface="Arial"/>
                <a:cs typeface="Arial"/>
              </a:rPr>
              <a:t>..</a:t>
            </a:r>
            <a:r>
              <a:rPr sz="2050" spc="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que:</a:t>
            </a:r>
            <a:endParaRPr sz="2050">
              <a:latin typeface="Arial"/>
              <a:cs typeface="Arial"/>
            </a:endParaRPr>
          </a:p>
          <a:p>
            <a:pPr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35" dirty="0">
                <a:latin typeface="Georgia"/>
                <a:cs typeface="Georgia"/>
              </a:rPr>
              <a:t>E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85" dirty="0">
                <a:latin typeface="Georgia"/>
                <a:cs typeface="Georgia"/>
              </a:rPr>
              <a:t>q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35" dirty="0">
                <a:latin typeface="Georgia"/>
                <a:cs typeface="Georgia"/>
              </a:rPr>
              <a:t>E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85" dirty="0">
                <a:latin typeface="Georgia"/>
                <a:cs typeface="Georgia"/>
              </a:rPr>
              <a:t>q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4738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589145" cy="1068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lu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08399" y="2089086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>
                <a:moveTo>
                  <a:pt x="0" y="0"/>
                </a:moveTo>
                <a:lnTo>
                  <a:pt x="2743085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12793" y="2089022"/>
            <a:ext cx="0" cy="1626235"/>
          </a:xfrm>
          <a:custGeom>
            <a:avLst/>
            <a:gdLst/>
            <a:ahLst/>
            <a:cxnLst/>
            <a:rect l="l" t="t" r="r" b="b"/>
            <a:pathLst>
              <a:path h="1626235">
                <a:moveTo>
                  <a:pt x="0" y="16260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47078" y="2089022"/>
            <a:ext cx="0" cy="1626235"/>
          </a:xfrm>
          <a:custGeom>
            <a:avLst/>
            <a:gdLst/>
            <a:ahLst/>
            <a:cxnLst/>
            <a:rect l="l" t="t" r="r" b="b"/>
            <a:pathLst>
              <a:path h="1626235">
                <a:moveTo>
                  <a:pt x="0" y="16260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08399" y="3715003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>
                <a:moveTo>
                  <a:pt x="0" y="0"/>
                </a:moveTo>
                <a:lnTo>
                  <a:pt x="2743085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95" y="4142676"/>
            <a:ext cx="7938134" cy="1443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ivô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45" dirty="0">
                <a:latin typeface="Georgia"/>
                <a:cs typeface="Georgia"/>
              </a:rPr>
              <a:t>v</a:t>
            </a:r>
            <a:r>
              <a:rPr sz="2050" spc="-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dirty="0">
                <a:latin typeface="Arial"/>
                <a:cs typeface="Arial"/>
              </a:rPr>
              <a:t>,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50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Ao </a:t>
            </a:r>
            <a:r>
              <a:rPr sz="2050" dirty="0">
                <a:latin typeface="Arial"/>
                <a:cs typeface="Arial"/>
              </a:rPr>
              <a:t>final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246435" y="2179690"/>
          <a:ext cx="2267024" cy="1460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1236"/>
                <a:gridCol w="420223"/>
                <a:gridCol w="420223"/>
                <a:gridCol w="395919"/>
                <a:gridCol w="408174"/>
                <a:gridCol w="311249"/>
              </a:tblGrid>
              <a:tr h="357939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59229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6523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2752725" cy="842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ao:</a:t>
            </a:r>
            <a:endParaRPr sz="2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36726" y="1693938"/>
            <a:ext cx="9499854" cy="52039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 err="1">
                <a:latin typeface="Arial"/>
                <a:cs typeface="Arial"/>
              </a:rPr>
              <a:t>void</a:t>
            </a:r>
            <a:r>
              <a:rPr lang="pt-BR" dirty="0">
                <a:latin typeface="Arial"/>
                <a:cs typeface="Arial"/>
              </a:rPr>
              <a:t> </a:t>
            </a:r>
            <a:r>
              <a:rPr lang="pt-BR" dirty="0" err="1">
                <a:latin typeface="Arial"/>
                <a:cs typeface="Arial"/>
              </a:rPr>
              <a:t>Particao</a:t>
            </a:r>
            <a:r>
              <a:rPr lang="pt-BR" dirty="0">
                <a:latin typeface="Arial"/>
                <a:cs typeface="Arial"/>
              </a:rPr>
              <a:t>(</a:t>
            </a:r>
            <a:r>
              <a:rPr lang="pt-BR" dirty="0" err="1">
                <a:latin typeface="Arial"/>
                <a:cs typeface="Arial"/>
              </a:rPr>
              <a:t>int</a:t>
            </a:r>
            <a:r>
              <a:rPr lang="pt-BR" dirty="0">
                <a:latin typeface="Arial"/>
                <a:cs typeface="Arial"/>
              </a:rPr>
              <a:t> </a:t>
            </a:r>
            <a:r>
              <a:rPr lang="pt-BR" dirty="0" err="1">
                <a:latin typeface="Arial"/>
                <a:cs typeface="Arial"/>
              </a:rPr>
              <a:t>Esq</a:t>
            </a:r>
            <a:r>
              <a:rPr lang="pt-BR" dirty="0">
                <a:latin typeface="Arial"/>
                <a:cs typeface="Arial"/>
              </a:rPr>
              <a:t>, </a:t>
            </a:r>
            <a:r>
              <a:rPr lang="pt-BR" dirty="0" err="1">
                <a:latin typeface="Arial"/>
                <a:cs typeface="Arial"/>
              </a:rPr>
              <a:t>int</a:t>
            </a:r>
            <a:r>
              <a:rPr lang="pt-BR" dirty="0">
                <a:latin typeface="Arial"/>
                <a:cs typeface="Arial"/>
              </a:rPr>
              <a:t> </a:t>
            </a:r>
            <a:r>
              <a:rPr lang="pt-BR" dirty="0" err="1">
                <a:latin typeface="Arial"/>
                <a:cs typeface="Arial"/>
              </a:rPr>
              <a:t>Dir</a:t>
            </a:r>
            <a:r>
              <a:rPr lang="pt-BR" dirty="0">
                <a:latin typeface="Arial"/>
                <a:cs typeface="Arial"/>
              </a:rPr>
              <a:t> , </a:t>
            </a:r>
            <a:r>
              <a:rPr lang="pt-BR" dirty="0" err="1">
                <a:latin typeface="Arial"/>
                <a:cs typeface="Arial"/>
              </a:rPr>
              <a:t>int</a:t>
            </a:r>
            <a:r>
              <a:rPr lang="pt-BR" dirty="0">
                <a:latin typeface="Arial"/>
                <a:cs typeface="Arial"/>
              </a:rPr>
              <a:t> * i , </a:t>
            </a:r>
            <a:r>
              <a:rPr lang="pt-BR" dirty="0" err="1">
                <a:latin typeface="Arial"/>
                <a:cs typeface="Arial"/>
              </a:rPr>
              <a:t>int</a:t>
            </a:r>
            <a:r>
              <a:rPr lang="pt-BR" dirty="0">
                <a:latin typeface="Arial"/>
                <a:cs typeface="Arial"/>
              </a:rPr>
              <a:t> * j , char A[])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{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</a:t>
            </a:r>
            <a:r>
              <a:rPr lang="pt-BR" dirty="0" err="1">
                <a:latin typeface="Arial"/>
                <a:cs typeface="Arial"/>
              </a:rPr>
              <a:t>int</a:t>
            </a:r>
            <a:r>
              <a:rPr lang="pt-BR" dirty="0">
                <a:latin typeface="Arial"/>
                <a:cs typeface="Arial"/>
              </a:rPr>
              <a:t> x , w;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*i = </a:t>
            </a:r>
            <a:r>
              <a:rPr lang="pt-BR" dirty="0" err="1">
                <a:latin typeface="Arial"/>
                <a:cs typeface="Arial"/>
              </a:rPr>
              <a:t>Esq</a:t>
            </a:r>
            <a:r>
              <a:rPr lang="pt-BR" dirty="0">
                <a:latin typeface="Arial"/>
                <a:cs typeface="Arial"/>
              </a:rPr>
              <a:t>; *j = </a:t>
            </a:r>
            <a:r>
              <a:rPr lang="pt-BR" dirty="0" err="1">
                <a:latin typeface="Arial"/>
                <a:cs typeface="Arial"/>
              </a:rPr>
              <a:t>Dir</a:t>
            </a:r>
            <a:r>
              <a:rPr lang="pt-BR" dirty="0">
                <a:latin typeface="Arial"/>
                <a:cs typeface="Arial"/>
              </a:rPr>
              <a:t>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x = A[(*i + *j)/2]; /* </a:t>
            </a:r>
            <a:r>
              <a:rPr lang="pt-BR" dirty="0" err="1">
                <a:latin typeface="Arial"/>
                <a:cs typeface="Arial"/>
              </a:rPr>
              <a:t>obtem</a:t>
            </a:r>
            <a:r>
              <a:rPr lang="pt-BR" dirty="0">
                <a:latin typeface="Arial"/>
                <a:cs typeface="Arial"/>
              </a:rPr>
              <a:t> o </a:t>
            </a:r>
            <a:r>
              <a:rPr lang="pt-BR" dirty="0" err="1">
                <a:latin typeface="Arial"/>
                <a:cs typeface="Arial"/>
              </a:rPr>
              <a:t>pivo</a:t>
            </a:r>
            <a:r>
              <a:rPr lang="pt-BR" dirty="0">
                <a:latin typeface="Arial"/>
                <a:cs typeface="Arial"/>
              </a:rPr>
              <a:t> x */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do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{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    </a:t>
            </a:r>
            <a:r>
              <a:rPr lang="pt-BR" dirty="0" err="1">
                <a:latin typeface="Arial"/>
                <a:cs typeface="Arial"/>
              </a:rPr>
              <a:t>while</a:t>
            </a:r>
            <a:r>
              <a:rPr lang="pt-BR" dirty="0">
                <a:latin typeface="Arial"/>
                <a:cs typeface="Arial"/>
              </a:rPr>
              <a:t> (x &gt; A[*i]) (*i)++;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    </a:t>
            </a:r>
            <a:r>
              <a:rPr lang="pt-BR" dirty="0" err="1">
                <a:latin typeface="Arial"/>
                <a:cs typeface="Arial"/>
              </a:rPr>
              <a:t>while</a:t>
            </a:r>
            <a:r>
              <a:rPr lang="pt-BR" dirty="0">
                <a:latin typeface="Arial"/>
                <a:cs typeface="Arial"/>
              </a:rPr>
              <a:t> (x &lt; A[*j]) (*j)--;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    </a:t>
            </a:r>
            <a:r>
              <a:rPr lang="pt-BR" dirty="0" err="1">
                <a:latin typeface="Arial"/>
                <a:cs typeface="Arial"/>
              </a:rPr>
              <a:t>if</a:t>
            </a:r>
            <a:r>
              <a:rPr lang="pt-BR" dirty="0">
                <a:latin typeface="Arial"/>
                <a:cs typeface="Arial"/>
              </a:rPr>
              <a:t>(* i &lt;= * j ){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        w = A[*i];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        A[*i] = A[*j];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        A[*j] = w;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        (*i)++; (*j)--;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        </a:t>
            </a:r>
            <a:r>
              <a:rPr lang="pt-BR" dirty="0" err="1">
                <a:latin typeface="Arial"/>
                <a:cs typeface="Arial"/>
              </a:rPr>
              <a:t>imprimeQuick</a:t>
            </a:r>
            <a:r>
              <a:rPr lang="pt-BR" dirty="0">
                <a:latin typeface="Arial"/>
                <a:cs typeface="Arial"/>
              </a:rPr>
              <a:t>(</a:t>
            </a:r>
            <a:r>
              <a:rPr lang="pt-BR" dirty="0" err="1">
                <a:latin typeface="Arial"/>
                <a:cs typeface="Arial"/>
              </a:rPr>
              <a:t>A,Esq,Dir</a:t>
            </a:r>
            <a:r>
              <a:rPr lang="pt-BR" dirty="0">
                <a:latin typeface="Arial"/>
                <a:cs typeface="Arial"/>
              </a:rPr>
              <a:t>);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    }</a:t>
            </a: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lang="pt-BR" dirty="0">
                <a:latin typeface="Arial"/>
                <a:cs typeface="Arial"/>
              </a:rPr>
              <a:t>    } </a:t>
            </a:r>
            <a:r>
              <a:rPr lang="pt-BR" dirty="0" err="1">
                <a:latin typeface="Arial"/>
                <a:cs typeface="Arial"/>
              </a:rPr>
              <a:t>while</a:t>
            </a:r>
            <a:r>
              <a:rPr lang="pt-BR" dirty="0">
                <a:latin typeface="Arial"/>
                <a:cs typeface="Arial"/>
              </a:rPr>
              <a:t> (*i&lt;= *j);</a:t>
            </a:r>
          </a:p>
          <a:p>
            <a:pPr>
              <a:spcBef>
                <a:spcPts val="57"/>
              </a:spcBef>
            </a:pPr>
            <a:r>
              <a:rPr lang="pt-BR" dirty="0" smtClean="0">
                <a:latin typeface="Arial"/>
                <a:cs typeface="Arial"/>
              </a:rPr>
              <a:t>}</a:t>
            </a:r>
            <a:endParaRPr dirty="0">
              <a:latin typeface="Arial"/>
              <a:cs typeface="Arial"/>
            </a:endParaRPr>
          </a:p>
        </p:txBody>
      </p:sp>
      <p:sp>
        <p:nvSpPr>
          <p:cNvPr id="12" name="object 11"/>
          <p:cNvSpPr txBox="1"/>
          <p:nvPr/>
        </p:nvSpPr>
        <p:spPr>
          <a:xfrm>
            <a:off x="4231050" y="4006850"/>
            <a:ext cx="9499854" cy="10233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7359" indent="-262255">
              <a:lnSpc>
                <a:spcPct val="100000"/>
              </a:lnSpc>
              <a:buFont typeface="Lucida Sans Unicode"/>
              <a:buChar char="•"/>
              <a:tabLst>
                <a:tab pos="467995" algn="l"/>
              </a:tabLst>
            </a:pPr>
            <a:r>
              <a:rPr spc="10" dirty="0" smtClean="0">
                <a:latin typeface="Arial"/>
                <a:cs typeface="Arial"/>
              </a:rPr>
              <a:t>O </a:t>
            </a:r>
            <a:r>
              <a:rPr dirty="0" err="1" smtClean="0">
                <a:latin typeface="Arial"/>
                <a:cs typeface="Arial"/>
              </a:rPr>
              <a:t>anel</a:t>
            </a:r>
            <a:r>
              <a:rPr dirty="0" smtClean="0">
                <a:latin typeface="Arial"/>
                <a:cs typeface="Arial"/>
              </a:rPr>
              <a:t> </a:t>
            </a:r>
            <a:r>
              <a:rPr dirty="0" err="1" smtClean="0">
                <a:latin typeface="Arial"/>
                <a:cs typeface="Arial"/>
              </a:rPr>
              <a:t>in</a:t>
            </a:r>
            <a:r>
              <a:rPr spc="-5" dirty="0" err="1" smtClean="0">
                <a:latin typeface="Arial"/>
                <a:cs typeface="Arial"/>
              </a:rPr>
              <a:t>t</a:t>
            </a:r>
            <a:r>
              <a:rPr dirty="0" err="1" smtClean="0">
                <a:latin typeface="Arial"/>
                <a:cs typeface="Arial"/>
              </a:rPr>
              <a:t>e</a:t>
            </a:r>
            <a:r>
              <a:rPr spc="55" dirty="0" err="1" smtClean="0">
                <a:latin typeface="Arial"/>
                <a:cs typeface="Arial"/>
              </a:rPr>
              <a:t>r</a:t>
            </a:r>
            <a:r>
              <a:rPr dirty="0" err="1" smtClean="0">
                <a:latin typeface="Arial"/>
                <a:cs typeface="Arial"/>
              </a:rPr>
              <a:t>n</a:t>
            </a:r>
            <a:r>
              <a:rPr spc="5" dirty="0" err="1" smtClean="0">
                <a:latin typeface="Arial"/>
                <a:cs typeface="Arial"/>
              </a:rPr>
              <a:t>o</a:t>
            </a:r>
            <a:r>
              <a:rPr spc="5" dirty="0" smtClean="0">
                <a:latin typeface="Arial"/>
                <a:cs typeface="Arial"/>
              </a:rPr>
              <a:t> </a:t>
            </a:r>
            <a:r>
              <a:rPr dirty="0" smtClean="0">
                <a:latin typeface="Arial"/>
                <a:cs typeface="Arial"/>
              </a:rPr>
              <a:t>d</a:t>
            </a:r>
            <a:r>
              <a:rPr spc="5" dirty="0" smtClean="0">
                <a:latin typeface="Arial"/>
                <a:cs typeface="Arial"/>
              </a:rPr>
              <a:t>o</a:t>
            </a:r>
            <a:r>
              <a:rPr dirty="0" smtClean="0">
                <a:latin typeface="Arial"/>
                <a:cs typeface="Arial"/>
              </a:rPr>
              <a:t> </a:t>
            </a:r>
            <a:r>
              <a:rPr dirty="0" err="1" smtClean="0">
                <a:latin typeface="Arial"/>
                <a:cs typeface="Arial"/>
              </a:rPr>
              <a:t>pro</a:t>
            </a:r>
            <a:r>
              <a:rPr spc="5" dirty="0" err="1" smtClean="0">
                <a:latin typeface="Arial"/>
                <a:cs typeface="Arial"/>
              </a:rPr>
              <a:t>c</a:t>
            </a:r>
            <a:r>
              <a:rPr dirty="0" err="1" smtClean="0">
                <a:latin typeface="Arial"/>
                <a:cs typeface="Arial"/>
              </a:rPr>
              <a:t>ed</a:t>
            </a:r>
            <a:r>
              <a:rPr spc="5" dirty="0" err="1" smtClean="0">
                <a:latin typeface="Arial"/>
                <a:cs typeface="Arial"/>
              </a:rPr>
              <a:t>im</a:t>
            </a:r>
            <a:r>
              <a:rPr dirty="0" err="1" smtClean="0">
                <a:latin typeface="Arial"/>
                <a:cs typeface="Arial"/>
              </a:rPr>
              <a:t>en</a:t>
            </a:r>
            <a:r>
              <a:rPr spc="-5" dirty="0" err="1" smtClean="0">
                <a:latin typeface="Arial"/>
                <a:cs typeface="Arial"/>
              </a:rPr>
              <a:t>t</a:t>
            </a:r>
            <a:r>
              <a:rPr spc="5" dirty="0" err="1" smtClean="0">
                <a:latin typeface="Arial"/>
                <a:cs typeface="Arial"/>
              </a:rPr>
              <a:t>o</a:t>
            </a:r>
            <a:r>
              <a:rPr spc="5" dirty="0" smtClean="0">
                <a:latin typeface="Arial"/>
                <a:cs typeface="Arial"/>
              </a:rPr>
              <a:t> </a:t>
            </a:r>
            <a:r>
              <a:rPr spc="-75" dirty="0" err="1" smtClean="0">
                <a:latin typeface="Arial"/>
                <a:cs typeface="Arial"/>
              </a:rPr>
              <a:t>P</a:t>
            </a:r>
            <a:r>
              <a:rPr dirty="0" err="1" smtClean="0">
                <a:latin typeface="Arial"/>
                <a:cs typeface="Arial"/>
              </a:rPr>
              <a:t>a</a:t>
            </a:r>
            <a:r>
              <a:rPr spc="85" dirty="0" err="1" smtClean="0">
                <a:latin typeface="Arial"/>
                <a:cs typeface="Arial"/>
              </a:rPr>
              <a:t>r</a:t>
            </a:r>
            <a:r>
              <a:rPr spc="-5" dirty="0" err="1" smtClean="0">
                <a:latin typeface="Arial"/>
                <a:cs typeface="Arial"/>
              </a:rPr>
              <a:t>t</a:t>
            </a:r>
            <a:r>
              <a:rPr spc="5" dirty="0" err="1" smtClean="0">
                <a:latin typeface="Arial"/>
                <a:cs typeface="Arial"/>
              </a:rPr>
              <a:t>ic</a:t>
            </a:r>
            <a:r>
              <a:rPr dirty="0" err="1" smtClean="0">
                <a:latin typeface="Arial"/>
                <a:cs typeface="Arial"/>
              </a:rPr>
              <a:t>a</a:t>
            </a:r>
            <a:r>
              <a:rPr spc="5" dirty="0" err="1" smtClean="0">
                <a:latin typeface="Arial"/>
                <a:cs typeface="Arial"/>
              </a:rPr>
              <a:t>o</a:t>
            </a:r>
            <a:r>
              <a:rPr dirty="0" smtClean="0">
                <a:latin typeface="Arial"/>
                <a:cs typeface="Arial"/>
              </a:rPr>
              <a:t> </a:t>
            </a:r>
            <a:r>
              <a:rPr spc="5" dirty="0" smtClean="0">
                <a:latin typeface="Arial"/>
                <a:cs typeface="Arial"/>
              </a:rPr>
              <a:t>é</a:t>
            </a:r>
            <a:endParaRPr lang="pt-BR" spc="5" dirty="0">
              <a:latin typeface="Arial"/>
              <a:cs typeface="Arial"/>
            </a:endParaRPr>
          </a:p>
          <a:p>
            <a:pPr marL="205104">
              <a:lnSpc>
                <a:spcPct val="100000"/>
              </a:lnSpc>
              <a:tabLst>
                <a:tab pos="467995" algn="l"/>
              </a:tabLst>
            </a:pPr>
            <a:r>
              <a:rPr dirty="0" smtClean="0">
                <a:latin typeface="Arial"/>
                <a:cs typeface="Arial"/>
              </a:rPr>
              <a:t> </a:t>
            </a:r>
            <a:r>
              <a:rPr spc="-60" dirty="0" err="1" smtClean="0">
                <a:latin typeface="Arial"/>
                <a:cs typeface="Arial"/>
              </a:rPr>
              <a:t>e</a:t>
            </a:r>
            <a:r>
              <a:rPr spc="5" dirty="0" err="1" smtClean="0">
                <a:latin typeface="Arial"/>
                <a:cs typeface="Arial"/>
              </a:rPr>
              <a:t>x</a:t>
            </a:r>
            <a:r>
              <a:rPr spc="-5" dirty="0" err="1" smtClean="0">
                <a:latin typeface="Arial"/>
                <a:cs typeface="Arial"/>
              </a:rPr>
              <a:t>t</a:t>
            </a:r>
            <a:r>
              <a:rPr dirty="0" err="1" smtClean="0">
                <a:latin typeface="Arial"/>
                <a:cs typeface="Arial"/>
              </a:rPr>
              <a:t>re</a:t>
            </a:r>
            <a:r>
              <a:rPr spc="10" dirty="0" err="1" smtClean="0">
                <a:latin typeface="Arial"/>
                <a:cs typeface="Arial"/>
              </a:rPr>
              <a:t>m</a:t>
            </a:r>
            <a:r>
              <a:rPr dirty="0" err="1" smtClean="0">
                <a:latin typeface="Arial"/>
                <a:cs typeface="Arial"/>
              </a:rPr>
              <a:t>a</a:t>
            </a:r>
            <a:r>
              <a:rPr spc="10" dirty="0" err="1" smtClean="0">
                <a:latin typeface="Arial"/>
                <a:cs typeface="Arial"/>
              </a:rPr>
              <a:t>m</a:t>
            </a:r>
            <a:r>
              <a:rPr dirty="0" err="1" smtClean="0">
                <a:latin typeface="Arial"/>
                <a:cs typeface="Arial"/>
              </a:rPr>
              <a:t>en</a:t>
            </a:r>
            <a:r>
              <a:rPr spc="-5" dirty="0" err="1" smtClean="0">
                <a:latin typeface="Arial"/>
                <a:cs typeface="Arial"/>
              </a:rPr>
              <a:t>t</a:t>
            </a:r>
            <a:r>
              <a:rPr spc="5" dirty="0" err="1" smtClean="0">
                <a:latin typeface="Arial"/>
                <a:cs typeface="Arial"/>
              </a:rPr>
              <a:t>e</a:t>
            </a:r>
            <a:r>
              <a:rPr spc="5" dirty="0" smtClean="0">
                <a:latin typeface="Arial"/>
                <a:cs typeface="Arial"/>
              </a:rPr>
              <a:t> sim</a:t>
            </a:r>
            <a:r>
              <a:rPr dirty="0" smtClean="0">
                <a:latin typeface="Arial"/>
                <a:cs typeface="Arial"/>
              </a:rPr>
              <a:t>ple</a:t>
            </a:r>
            <a:r>
              <a:rPr spc="-30" dirty="0" smtClean="0">
                <a:latin typeface="Arial"/>
                <a:cs typeface="Arial"/>
              </a:rPr>
              <a:t>s</a:t>
            </a:r>
            <a:r>
              <a:rPr dirty="0" smtClean="0">
                <a:latin typeface="Arial"/>
                <a:cs typeface="Arial"/>
              </a:rPr>
              <a:t>.</a:t>
            </a:r>
          </a:p>
          <a:p>
            <a:pPr marL="467359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67995" algn="l"/>
              </a:tabLst>
            </a:pPr>
            <a:r>
              <a:rPr spc="5" dirty="0" err="1" smtClean="0">
                <a:latin typeface="Arial"/>
                <a:cs typeface="Arial"/>
              </a:rPr>
              <a:t>R</a:t>
            </a:r>
            <a:r>
              <a:rPr dirty="0" err="1" smtClean="0">
                <a:latin typeface="Arial"/>
                <a:cs typeface="Arial"/>
              </a:rPr>
              <a:t>a</a:t>
            </a:r>
            <a:r>
              <a:rPr spc="5" dirty="0" err="1" smtClean="0">
                <a:latin typeface="Arial"/>
                <a:cs typeface="Arial"/>
              </a:rPr>
              <a:t>z</a:t>
            </a:r>
            <a:r>
              <a:rPr dirty="0" err="1" smtClean="0">
                <a:latin typeface="Arial"/>
                <a:cs typeface="Arial"/>
              </a:rPr>
              <a:t>ã</a:t>
            </a:r>
            <a:r>
              <a:rPr spc="5" dirty="0" err="1" smtClean="0">
                <a:latin typeface="Arial"/>
                <a:cs typeface="Arial"/>
              </a:rPr>
              <a:t>o</a:t>
            </a:r>
            <a:r>
              <a:rPr spc="5" dirty="0" smtClean="0">
                <a:latin typeface="Arial"/>
                <a:cs typeface="Arial"/>
              </a:rPr>
              <a:t> </a:t>
            </a:r>
            <a:r>
              <a:rPr dirty="0" smtClean="0">
                <a:latin typeface="Arial"/>
                <a:cs typeface="Arial"/>
              </a:rPr>
              <a:t>pe</a:t>
            </a:r>
            <a:r>
              <a:rPr spc="5" dirty="0" smtClean="0">
                <a:latin typeface="Arial"/>
                <a:cs typeface="Arial"/>
              </a:rPr>
              <a:t>la</a:t>
            </a:r>
            <a:r>
              <a:rPr dirty="0" smtClean="0">
                <a:latin typeface="Arial"/>
                <a:cs typeface="Arial"/>
              </a:rPr>
              <a:t> </a:t>
            </a:r>
            <a:r>
              <a:rPr dirty="0" err="1" smtClean="0">
                <a:latin typeface="Arial"/>
                <a:cs typeface="Arial"/>
              </a:rPr>
              <a:t>qual</a:t>
            </a:r>
            <a:r>
              <a:rPr dirty="0" smtClean="0">
                <a:latin typeface="Arial"/>
                <a:cs typeface="Arial"/>
              </a:rPr>
              <a:t> </a:t>
            </a:r>
            <a:r>
              <a:rPr spc="5" dirty="0" smtClean="0">
                <a:latin typeface="Arial"/>
                <a:cs typeface="Arial"/>
              </a:rPr>
              <a:t>o </a:t>
            </a:r>
            <a:r>
              <a:rPr dirty="0" err="1" smtClean="0">
                <a:latin typeface="Arial"/>
                <a:cs typeface="Arial"/>
              </a:rPr>
              <a:t>algo</a:t>
            </a:r>
            <a:r>
              <a:rPr spc="35" dirty="0" err="1" smtClean="0">
                <a:latin typeface="Arial"/>
                <a:cs typeface="Arial"/>
              </a:rPr>
              <a:t>r</a:t>
            </a:r>
            <a:r>
              <a:rPr dirty="0" err="1" smtClean="0">
                <a:latin typeface="Arial"/>
                <a:cs typeface="Arial"/>
              </a:rPr>
              <a:t>i</a:t>
            </a:r>
            <a:r>
              <a:rPr spc="-5" dirty="0" err="1" smtClean="0">
                <a:latin typeface="Arial"/>
                <a:cs typeface="Arial"/>
              </a:rPr>
              <a:t>t</a:t>
            </a:r>
            <a:r>
              <a:rPr spc="10" dirty="0" err="1" smtClean="0">
                <a:latin typeface="Arial"/>
                <a:cs typeface="Arial"/>
              </a:rPr>
              <a:t>mo</a:t>
            </a:r>
            <a:r>
              <a:rPr spc="5" dirty="0" smtClean="0">
                <a:latin typeface="Arial"/>
                <a:cs typeface="Arial"/>
              </a:rPr>
              <a:t> </a:t>
            </a:r>
            <a:r>
              <a:rPr spc="10" dirty="0" smtClean="0">
                <a:latin typeface="Arial"/>
                <a:cs typeface="Arial"/>
              </a:rPr>
              <a:t>Q</a:t>
            </a:r>
            <a:r>
              <a:rPr dirty="0" smtClean="0">
                <a:latin typeface="Arial"/>
                <a:cs typeface="Arial"/>
              </a:rPr>
              <a:t>ui</a:t>
            </a:r>
            <a:r>
              <a:rPr spc="-40" dirty="0" smtClean="0">
                <a:latin typeface="Arial"/>
                <a:cs typeface="Arial"/>
              </a:rPr>
              <a:t>c</a:t>
            </a:r>
            <a:r>
              <a:rPr spc="5" dirty="0" smtClean="0">
                <a:latin typeface="Arial"/>
                <a:cs typeface="Arial"/>
              </a:rPr>
              <a:t>ks</a:t>
            </a:r>
            <a:r>
              <a:rPr dirty="0" smtClean="0">
                <a:latin typeface="Arial"/>
                <a:cs typeface="Arial"/>
              </a:rPr>
              <a:t>o</a:t>
            </a:r>
            <a:r>
              <a:rPr spc="85" dirty="0" smtClean="0">
                <a:latin typeface="Arial"/>
                <a:cs typeface="Arial"/>
              </a:rPr>
              <a:t>r</a:t>
            </a:r>
            <a:r>
              <a:rPr dirty="0" smtClean="0">
                <a:latin typeface="Arial"/>
                <a:cs typeface="Arial"/>
              </a:rPr>
              <a:t>t </a:t>
            </a:r>
            <a:r>
              <a:rPr spc="5" dirty="0" smtClean="0">
                <a:latin typeface="Arial"/>
                <a:cs typeface="Arial"/>
              </a:rPr>
              <a:t>é</a:t>
            </a:r>
            <a:r>
              <a:rPr dirty="0" smtClean="0">
                <a:latin typeface="Arial"/>
                <a:cs typeface="Arial"/>
              </a:rPr>
              <a:t> </a:t>
            </a:r>
            <a:r>
              <a:rPr spc="-5" dirty="0" err="1" smtClean="0">
                <a:latin typeface="Arial"/>
                <a:cs typeface="Arial"/>
              </a:rPr>
              <a:t>t</a:t>
            </a:r>
            <a:r>
              <a:rPr dirty="0" err="1" smtClean="0">
                <a:latin typeface="Arial"/>
                <a:cs typeface="Arial"/>
              </a:rPr>
              <a:t>ã</a:t>
            </a:r>
            <a:r>
              <a:rPr spc="5" dirty="0" err="1" smtClean="0">
                <a:latin typeface="Arial"/>
                <a:cs typeface="Arial"/>
              </a:rPr>
              <a:t>o</a:t>
            </a:r>
            <a:r>
              <a:rPr spc="5" dirty="0" smtClean="0">
                <a:latin typeface="Arial"/>
                <a:cs typeface="Arial"/>
              </a:rPr>
              <a:t> </a:t>
            </a:r>
            <a:r>
              <a:rPr dirty="0" err="1" smtClean="0">
                <a:latin typeface="Arial"/>
                <a:cs typeface="Arial"/>
              </a:rPr>
              <a:t>rápid</a:t>
            </a:r>
            <a:r>
              <a:rPr spc="-80" dirty="0" err="1" smtClean="0">
                <a:latin typeface="Arial"/>
                <a:cs typeface="Arial"/>
              </a:rPr>
              <a:t>o</a:t>
            </a:r>
            <a:r>
              <a:rPr dirty="0" smtClean="0">
                <a:latin typeface="Arial"/>
                <a:cs typeface="Arial"/>
              </a:rPr>
              <a:t>.</a:t>
            </a:r>
            <a:endParaRPr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4644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6900545" cy="59195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 dirty="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1395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:</a:t>
            </a:r>
          </a:p>
          <a:p>
            <a:pPr>
              <a:lnSpc>
                <a:spcPct val="100000"/>
              </a:lnSpc>
              <a:spcBef>
                <a:spcPts val="44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31115">
              <a:lnSpc>
                <a:spcPct val="100000"/>
              </a:lnSpc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365" dirty="0">
                <a:latin typeface="Lucida Sans Unicode"/>
                <a:cs typeface="Lucida Sans Unicode"/>
              </a:rPr>
              <a:t>∗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250" dirty="0">
                <a:latin typeface="Lucida Sans Unicode"/>
                <a:cs typeface="Lucida Sans Unicode"/>
              </a:rPr>
              <a:t> </a:t>
            </a:r>
            <a:r>
              <a:rPr sz="1700" i="1" spc="20" dirty="0">
                <a:latin typeface="Arial"/>
                <a:cs typeface="Arial"/>
              </a:rPr>
              <a:t>Entr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65" dirty="0">
                <a:latin typeface="Arial"/>
                <a:cs typeface="Arial"/>
              </a:rPr>
              <a:t> </a:t>
            </a:r>
            <a:r>
              <a:rPr sz="1700" i="1" spc="25" dirty="0">
                <a:latin typeface="Arial"/>
                <a:cs typeface="Arial"/>
              </a:rPr>
              <a:t>aqu</a:t>
            </a:r>
            <a:r>
              <a:rPr sz="1700" i="1" dirty="0">
                <a:latin typeface="Arial"/>
                <a:cs typeface="Arial"/>
              </a:rPr>
              <a:t>i </a:t>
            </a:r>
            <a:r>
              <a:rPr sz="1700" i="1" spc="-14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85" dirty="0">
                <a:latin typeface="Arial"/>
                <a:cs typeface="Arial"/>
              </a:rPr>
              <a:t> </a:t>
            </a:r>
            <a:r>
              <a:rPr sz="1700" i="1" spc="-15" dirty="0">
                <a:latin typeface="Arial"/>
                <a:cs typeface="Arial"/>
              </a:rPr>
              <a:t>procediment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85" dirty="0">
                <a:latin typeface="Arial"/>
                <a:cs typeface="Arial"/>
              </a:rPr>
              <a:t> </a:t>
            </a:r>
            <a:r>
              <a:rPr sz="1700" i="1" spc="50" dirty="0">
                <a:latin typeface="Arial"/>
                <a:cs typeface="Arial"/>
              </a:rPr>
              <a:t>Partica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d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40" dirty="0">
                <a:latin typeface="Arial"/>
                <a:cs typeface="Arial"/>
              </a:rPr>
              <a:t> </a:t>
            </a:r>
            <a:r>
              <a:rPr sz="1700" i="1" spc="40" dirty="0">
                <a:latin typeface="Arial"/>
                <a:cs typeface="Arial"/>
              </a:rPr>
              <a:t>transparenci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32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-5" dirty="0">
                <a:latin typeface="Lucida Sans Unicode"/>
                <a:cs typeface="Lucida Sans Unicode"/>
              </a:rPr>
              <a:t>−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021965" algn="l"/>
              </a:tabLst>
            </a:pPr>
            <a:r>
              <a:rPr lang="pt-BR" sz="1700" spc="10" dirty="0" err="1">
                <a:latin typeface="Arial"/>
                <a:cs typeface="Arial"/>
              </a:rPr>
              <a:t>void</a:t>
            </a:r>
            <a:r>
              <a:rPr lang="pt-BR" sz="1700" spc="10" dirty="0">
                <a:latin typeface="Arial"/>
                <a:cs typeface="Arial"/>
              </a:rPr>
              <a:t> Ordena(</a:t>
            </a:r>
            <a:r>
              <a:rPr lang="pt-BR" sz="1700" spc="10" dirty="0" err="1">
                <a:latin typeface="Arial"/>
                <a:cs typeface="Arial"/>
              </a:rPr>
              <a:t>int</a:t>
            </a:r>
            <a:r>
              <a:rPr lang="pt-BR" sz="1700" spc="10" dirty="0">
                <a:latin typeface="Arial"/>
                <a:cs typeface="Arial"/>
              </a:rPr>
              <a:t> </a:t>
            </a:r>
            <a:r>
              <a:rPr lang="pt-BR" sz="1700" spc="10" dirty="0" err="1">
                <a:latin typeface="Arial"/>
                <a:cs typeface="Arial"/>
              </a:rPr>
              <a:t>Esq</a:t>
            </a:r>
            <a:r>
              <a:rPr lang="pt-BR" sz="1700" spc="10" dirty="0">
                <a:latin typeface="Arial"/>
                <a:cs typeface="Arial"/>
              </a:rPr>
              <a:t>, </a:t>
            </a:r>
            <a:r>
              <a:rPr lang="pt-BR" sz="1700" spc="10" dirty="0" err="1">
                <a:latin typeface="Arial"/>
                <a:cs typeface="Arial"/>
              </a:rPr>
              <a:t>int</a:t>
            </a:r>
            <a:r>
              <a:rPr lang="pt-BR" sz="1700" spc="10" dirty="0">
                <a:latin typeface="Arial"/>
                <a:cs typeface="Arial"/>
              </a:rPr>
              <a:t> </a:t>
            </a:r>
            <a:r>
              <a:rPr lang="pt-BR" sz="1700" spc="10" dirty="0" err="1">
                <a:latin typeface="Arial"/>
                <a:cs typeface="Arial"/>
              </a:rPr>
              <a:t>Dir</a:t>
            </a:r>
            <a:r>
              <a:rPr lang="pt-BR" sz="1700" spc="10" dirty="0">
                <a:latin typeface="Arial"/>
                <a:cs typeface="Arial"/>
              </a:rPr>
              <a:t> , char A[])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{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    </a:t>
            </a:r>
            <a:r>
              <a:rPr lang="pt-BR" sz="1700" spc="10" dirty="0" err="1">
                <a:latin typeface="Arial"/>
                <a:cs typeface="Arial"/>
              </a:rPr>
              <a:t>int</a:t>
            </a:r>
            <a:r>
              <a:rPr lang="pt-BR" sz="1700" spc="10" dirty="0">
                <a:latin typeface="Arial"/>
                <a:cs typeface="Arial"/>
              </a:rPr>
              <a:t> i , j ;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    </a:t>
            </a:r>
            <a:r>
              <a:rPr lang="pt-BR" sz="1700" spc="10" dirty="0" err="1">
                <a:latin typeface="Arial"/>
                <a:cs typeface="Arial"/>
              </a:rPr>
              <a:t>Particao</a:t>
            </a:r>
            <a:r>
              <a:rPr lang="pt-BR" sz="1700" spc="10" dirty="0">
                <a:latin typeface="Arial"/>
                <a:cs typeface="Arial"/>
              </a:rPr>
              <a:t>(</a:t>
            </a:r>
            <a:r>
              <a:rPr lang="pt-BR" sz="1700" spc="10" dirty="0" err="1">
                <a:latin typeface="Arial"/>
                <a:cs typeface="Arial"/>
              </a:rPr>
              <a:t>Esq</a:t>
            </a:r>
            <a:r>
              <a:rPr lang="pt-BR" sz="1700" spc="10" dirty="0">
                <a:latin typeface="Arial"/>
                <a:cs typeface="Arial"/>
              </a:rPr>
              <a:t>, </a:t>
            </a:r>
            <a:r>
              <a:rPr lang="pt-BR" sz="1700" spc="10" dirty="0" err="1">
                <a:latin typeface="Arial"/>
                <a:cs typeface="Arial"/>
              </a:rPr>
              <a:t>Dir</a:t>
            </a:r>
            <a:r>
              <a:rPr lang="pt-BR" sz="1700" spc="10" dirty="0">
                <a:latin typeface="Arial"/>
                <a:cs typeface="Arial"/>
              </a:rPr>
              <a:t> , &amp;i , &amp;j , A) ;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    </a:t>
            </a:r>
            <a:r>
              <a:rPr lang="pt-BR" sz="1700" spc="10" dirty="0" err="1">
                <a:latin typeface="Arial"/>
                <a:cs typeface="Arial"/>
              </a:rPr>
              <a:t>if</a:t>
            </a:r>
            <a:r>
              <a:rPr lang="pt-BR" sz="1700" spc="10" dirty="0">
                <a:latin typeface="Arial"/>
                <a:cs typeface="Arial"/>
              </a:rPr>
              <a:t> (</a:t>
            </a:r>
            <a:r>
              <a:rPr lang="pt-BR" sz="1700" spc="10" dirty="0" err="1">
                <a:latin typeface="Arial"/>
                <a:cs typeface="Arial"/>
              </a:rPr>
              <a:t>Esq</a:t>
            </a:r>
            <a:r>
              <a:rPr lang="pt-BR" sz="1700" spc="10" dirty="0">
                <a:latin typeface="Arial"/>
                <a:cs typeface="Arial"/>
              </a:rPr>
              <a:t> &lt; j ) Ordena(</a:t>
            </a:r>
            <a:r>
              <a:rPr lang="pt-BR" sz="1700" spc="10" dirty="0" err="1">
                <a:latin typeface="Arial"/>
                <a:cs typeface="Arial"/>
              </a:rPr>
              <a:t>Esq</a:t>
            </a:r>
            <a:r>
              <a:rPr lang="pt-BR" sz="1700" spc="10" dirty="0">
                <a:latin typeface="Arial"/>
                <a:cs typeface="Arial"/>
              </a:rPr>
              <a:t>, j , A) ;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    </a:t>
            </a:r>
            <a:r>
              <a:rPr lang="pt-BR" sz="1700" spc="10" dirty="0" err="1">
                <a:latin typeface="Arial"/>
                <a:cs typeface="Arial"/>
              </a:rPr>
              <a:t>if</a:t>
            </a:r>
            <a:r>
              <a:rPr lang="pt-BR" sz="1700" spc="10" dirty="0">
                <a:latin typeface="Arial"/>
                <a:cs typeface="Arial"/>
              </a:rPr>
              <a:t> ( i &lt; </a:t>
            </a:r>
            <a:r>
              <a:rPr lang="pt-BR" sz="1700" spc="10" dirty="0" err="1">
                <a:latin typeface="Arial"/>
                <a:cs typeface="Arial"/>
              </a:rPr>
              <a:t>Dir</a:t>
            </a:r>
            <a:r>
              <a:rPr lang="pt-BR" sz="1700" spc="10" dirty="0">
                <a:latin typeface="Arial"/>
                <a:cs typeface="Arial"/>
              </a:rPr>
              <a:t> ) Ordena( i , </a:t>
            </a:r>
            <a:r>
              <a:rPr lang="pt-BR" sz="1700" spc="10" dirty="0" err="1">
                <a:latin typeface="Arial"/>
                <a:cs typeface="Arial"/>
              </a:rPr>
              <a:t>Dir</a:t>
            </a:r>
            <a:r>
              <a:rPr lang="pt-BR" sz="1700" spc="10" dirty="0">
                <a:latin typeface="Arial"/>
                <a:cs typeface="Arial"/>
              </a:rPr>
              <a:t> , A) ;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}</a:t>
            </a:r>
            <a:endParaRPr sz="1700" spc="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3021965" algn="l"/>
              </a:tabLst>
            </a:pPr>
            <a:r>
              <a:rPr lang="pt-BR" sz="1700" spc="10" dirty="0" err="1">
                <a:latin typeface="Arial"/>
                <a:cs typeface="Arial"/>
              </a:rPr>
              <a:t>void</a:t>
            </a:r>
            <a:r>
              <a:rPr lang="pt-BR" sz="1700" spc="10" dirty="0">
                <a:latin typeface="Arial"/>
                <a:cs typeface="Arial"/>
              </a:rPr>
              <a:t> </a:t>
            </a:r>
            <a:r>
              <a:rPr lang="pt-BR" sz="1700" spc="10" dirty="0" err="1">
                <a:latin typeface="Arial"/>
                <a:cs typeface="Arial"/>
              </a:rPr>
              <a:t>QuickSort</a:t>
            </a:r>
            <a:r>
              <a:rPr lang="pt-BR" sz="1700" spc="10" dirty="0">
                <a:latin typeface="Arial"/>
                <a:cs typeface="Arial"/>
              </a:rPr>
              <a:t>(char A</a:t>
            </a:r>
            <a:r>
              <a:rPr lang="pt-BR" sz="1700" spc="10" dirty="0" smtClean="0">
                <a:latin typeface="Arial"/>
                <a:cs typeface="Arial"/>
              </a:rPr>
              <a:t>[ ], </a:t>
            </a:r>
            <a:r>
              <a:rPr lang="pt-BR" sz="1700" spc="10" dirty="0" err="1">
                <a:latin typeface="Arial"/>
                <a:cs typeface="Arial"/>
              </a:rPr>
              <a:t>int</a:t>
            </a:r>
            <a:r>
              <a:rPr lang="pt-BR" sz="1700" spc="10" dirty="0">
                <a:latin typeface="Arial"/>
                <a:cs typeface="Arial"/>
              </a:rPr>
              <a:t> n)</a:t>
            </a: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{</a:t>
            </a: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    Ordena(0 , n-1, A) ;//n eh o numero de elementos do vetor</a:t>
            </a: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3021965" algn="l"/>
              </a:tabLst>
            </a:pPr>
            <a:r>
              <a:rPr lang="pt-BR" sz="1700" spc="10" dirty="0">
                <a:latin typeface="Arial"/>
                <a:cs typeface="Arial"/>
              </a:rPr>
              <a:t>}</a:t>
            </a:r>
            <a:endParaRPr sz="1700" spc="1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2602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476490" cy="142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67608" y="2459989"/>
            <a:ext cx="4425315" cy="0"/>
          </a:xfrm>
          <a:custGeom>
            <a:avLst/>
            <a:gdLst/>
            <a:ahLst/>
            <a:cxnLst/>
            <a:rect l="l" t="t" r="r" b="b"/>
            <a:pathLst>
              <a:path w="4425315">
                <a:moveTo>
                  <a:pt x="0" y="0"/>
                </a:moveTo>
                <a:lnTo>
                  <a:pt x="442478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72002" y="2459926"/>
            <a:ext cx="0" cy="3112135"/>
          </a:xfrm>
          <a:custGeom>
            <a:avLst/>
            <a:gdLst/>
            <a:ahLst/>
            <a:cxnLst/>
            <a:rect l="l" t="t" r="r" b="b"/>
            <a:pathLst>
              <a:path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87983" y="2459926"/>
            <a:ext cx="0" cy="3112135"/>
          </a:xfrm>
          <a:custGeom>
            <a:avLst/>
            <a:gdLst/>
            <a:ahLst/>
            <a:cxnLst/>
            <a:rect l="l" t="t" r="r" b="b"/>
            <a:pathLst>
              <a:path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67608" y="5571921"/>
            <a:ext cx="4425315" cy="0"/>
          </a:xfrm>
          <a:custGeom>
            <a:avLst/>
            <a:gdLst/>
            <a:ahLst/>
            <a:cxnLst/>
            <a:rect l="l" t="t" r="r" b="b"/>
            <a:pathLst>
              <a:path w="4425315">
                <a:moveTo>
                  <a:pt x="0" y="0"/>
                </a:moveTo>
                <a:lnTo>
                  <a:pt x="442478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405530" y="2550593"/>
          <a:ext cx="3948832" cy="29461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6518"/>
                <a:gridCol w="420181"/>
                <a:gridCol w="420225"/>
                <a:gridCol w="420223"/>
                <a:gridCol w="420223"/>
                <a:gridCol w="420225"/>
                <a:gridCol w="311237"/>
              </a:tblGrid>
              <a:tr h="358555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091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2148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58555">
                <a:tc>
                  <a:txBody>
                    <a:bodyPr/>
                    <a:lstStyle/>
                    <a:p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1229290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6177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5014"/>
            <a:ext cx="8736965" cy="581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sz="2450" b="1" spc="17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6"/>
              </a:spcBef>
            </a:pPr>
            <a:endParaRPr sz="205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Pi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472440" algn="ctr">
              <a:lnSpc>
                <a:spcPct val="100000"/>
              </a:lnSpc>
              <a:spcBef>
                <a:spcPts val="484"/>
              </a:spcBef>
            </a:pP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4979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  <a:p>
            <a:pPr marL="484505" marR="5080" indent="-262255">
              <a:lnSpc>
                <a:spcPct val="117300"/>
              </a:lnSpc>
              <a:spcBef>
                <a:spcPts val="13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sis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5" dirty="0">
                <a:latin typeface="Arial"/>
                <a:cs typeface="Arial"/>
              </a:rPr>
              <a:t>ivô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já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054100" indent="-262255">
              <a:lnSpc>
                <a:spcPct val="117300"/>
              </a:lnSpc>
              <a:spcBef>
                <a:spcPts val="117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e</a:t>
            </a:r>
            <a:r>
              <a:rPr sz="2050" spc="5" dirty="0">
                <a:latin typeface="Arial"/>
                <a:cs typeface="Arial"/>
              </a:rPr>
              <a:t>limi</a:t>
            </a:r>
            <a:r>
              <a:rPr sz="2050" dirty="0">
                <a:latin typeface="Arial"/>
                <a:cs typeface="Arial"/>
              </a:rPr>
              <a:t>nand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ada.</a:t>
            </a:r>
            <a:endParaRPr sz="2050">
              <a:latin typeface="Arial"/>
              <a:cs typeface="Arial"/>
            </a:endParaRPr>
          </a:p>
          <a:p>
            <a:pPr marL="484505" marR="158115" indent="-262255">
              <a:lnSpc>
                <a:spcPct val="117300"/>
              </a:lnSpc>
              <a:spcBef>
                <a:spcPts val="117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pregand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pequena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odifica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isso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rê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25"/>
              </a:spcBef>
            </a:pP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edian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do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ê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5" dirty="0">
                <a:latin typeface="Arial"/>
                <a:cs typeface="Arial"/>
              </a:rPr>
              <a:t>iv</a:t>
            </a:r>
            <a:r>
              <a:rPr sz="2050" dirty="0">
                <a:latin typeface="Arial"/>
                <a:cs typeface="Arial"/>
              </a:rPr>
              <a:t>ô.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3099818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78520" cy="4963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sz="2450" b="1" spc="17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"/>
              </a:spcBef>
              <a:buFont typeface="Lucida Sans Unicode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730885" algn="ctr">
              <a:lnSpc>
                <a:spcPct val="100000"/>
              </a:lnSpc>
            </a:pP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1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ivi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iguai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edg</a:t>
            </a:r>
            <a:r>
              <a:rPr sz="2050" spc="-4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w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Flajolet (1996,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17):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"/>
              </a:spcBef>
              <a:buFont typeface="Lucida Sans Unicode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730885" algn="ctr">
              <a:lnSpc>
                <a:spcPct val="100000"/>
              </a:lnSpc>
            </a:pP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≈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215" dirty="0">
                <a:latin typeface="Georgia"/>
                <a:cs typeface="Georgia"/>
              </a:rPr>
              <a:t>8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250" dirty="0">
                <a:latin typeface="Georgia"/>
                <a:cs typeface="Georgia"/>
              </a:rPr>
              <a:t>0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215" dirty="0">
                <a:latin typeface="Georgia"/>
                <a:cs typeface="Georgia"/>
              </a:rPr>
              <a:t>8</a:t>
            </a:r>
            <a:r>
              <a:rPr sz="2050" spc="-150" dirty="0">
                <a:latin typeface="Georgia"/>
                <a:cs typeface="Georgia"/>
              </a:rPr>
              <a:t>4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25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gn</a:t>
            </a:r>
            <a:r>
              <a:rPr sz="2050" spc="5" dirty="0">
                <a:latin typeface="Arial"/>
                <a:cs typeface="Arial"/>
              </a:rPr>
              <a:t>ifica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é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2491561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394700" cy="554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pequen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auxilia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i="1" spc="65" dirty="0">
                <a:latin typeface="Arial"/>
                <a:cs typeface="Arial"/>
              </a:rPr>
              <a:t>n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dirty="0">
                <a:latin typeface="Arial"/>
                <a:cs typeface="Arial"/>
              </a:rPr>
              <a:t>iten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di</a:t>
            </a:r>
            <a:r>
              <a:rPr sz="2050" spc="-5" dirty="0">
                <a:latin typeface="Arial"/>
                <a:cs typeface="Arial"/>
              </a:rPr>
              <a:t>fí</a:t>
            </a:r>
            <a:r>
              <a:rPr sz="2050" dirty="0">
                <a:latin typeface="Arial"/>
                <a:cs typeface="Arial"/>
              </a:rPr>
              <a:t>cil:</a:t>
            </a:r>
            <a:endParaRPr sz="2050">
              <a:latin typeface="Arial"/>
              <a:cs typeface="Arial"/>
            </a:endParaRPr>
          </a:p>
          <a:p>
            <a:pPr marL="1114425" marR="386715" lvl="2" indent="-262255">
              <a:lnSpc>
                <a:spcPct val="119700"/>
              </a:lnSpc>
              <a:spcBef>
                <a:spcPts val="270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pequen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engan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5729668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84895" cy="523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90995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roque-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214629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ssim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(o</a:t>
            </a:r>
            <a:r>
              <a:rPr sz="2050" spc="5" dirty="0">
                <a:latin typeface="Arial"/>
                <a:cs typeface="Arial"/>
              </a:rPr>
              <a:t>u 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redu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0314191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02675" cy="4865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484505" marR="53721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refle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habilidad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abandona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apida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6350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SOs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repetid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4381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Sis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gerên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ica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págin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página.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2726262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7600" cy="6320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 -</a:t>
            </a:r>
            <a:r>
              <a:rPr sz="2050" b="1" dirty="0">
                <a:latin typeface="Arial"/>
                <a:cs typeface="Arial"/>
              </a:rPr>
              <a:t> Tip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Abst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at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dirty="0">
                <a:latin typeface="Arial"/>
                <a:cs typeface="Arial"/>
              </a:rPr>
              <a:t>Dado</a:t>
            </a:r>
            <a:r>
              <a:rPr sz="2050" b="1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rói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00"/>
              </a:spcBef>
            </a:pPr>
            <a:r>
              <a:rPr sz="2050" dirty="0">
                <a:latin typeface="Arial"/>
                <a:cs typeface="Arial"/>
              </a:rPr>
              <a:t>iten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qual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6300"/>
              </a:lnSpc>
              <a:spcBef>
                <a:spcPts val="540"/>
              </a:spcBef>
              <a:buAutoNum type="arabicPeriod" startAt="2"/>
              <a:tabLst>
                <a:tab pos="852805" algn="l"/>
              </a:tabLst>
            </a:pPr>
            <a:r>
              <a:rPr sz="2050" spc="-5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96520" lvl="1" indent="-349885">
              <a:lnSpc>
                <a:spcPct val="116300"/>
              </a:lnSpc>
              <a:spcBef>
                <a:spcPts val="540"/>
              </a:spcBef>
              <a:buAutoNum type="arabicPeriod" startAt="2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m,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qualque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Aj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ún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170996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387590" cy="5701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 -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Repr</a:t>
            </a:r>
            <a:r>
              <a:rPr sz="2050" b="1" dirty="0">
                <a:latin typeface="Arial"/>
                <a:cs typeface="Arial"/>
              </a:rPr>
              <a:t>esentaçã</a:t>
            </a:r>
            <a:r>
              <a:rPr sz="2050" b="1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ordenada: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rói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Aj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ordenada: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rói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Aj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9198450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054975" cy="4775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 -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Repr</a:t>
            </a:r>
            <a:r>
              <a:rPr sz="2050" b="1" dirty="0">
                <a:latin typeface="Arial"/>
                <a:cs typeface="Arial"/>
              </a:rPr>
              <a:t>esentaçã</a:t>
            </a:r>
            <a:r>
              <a:rPr sz="2050" b="1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484505" marR="27749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rói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b="1" spc="10" dirty="0">
                <a:latin typeface="Arial"/>
                <a:cs typeface="Arial"/>
              </a:rPr>
              <a:t>O</a:t>
            </a:r>
            <a:r>
              <a:rPr sz="2050" b="1" dirty="0">
                <a:latin typeface="Arial"/>
                <a:cs typeface="Arial"/>
              </a:rPr>
              <a:t>bse</a:t>
            </a:r>
            <a:r>
              <a:rPr sz="2050" b="1" spc="25" dirty="0">
                <a:latin typeface="Arial"/>
                <a:cs typeface="Arial"/>
              </a:rPr>
              <a:t>r</a:t>
            </a:r>
            <a:r>
              <a:rPr sz="2050" b="1" spc="-40" dirty="0">
                <a:latin typeface="Arial"/>
                <a:cs typeface="Arial"/>
              </a:rPr>
              <a:t>v</a:t>
            </a:r>
            <a:r>
              <a:rPr sz="2050" b="1" dirty="0">
                <a:latin typeface="Arial"/>
                <a:cs typeface="Arial"/>
              </a:rPr>
              <a:t>ação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5080">
              <a:lnSpc>
                <a:spcPct val="119700"/>
              </a:lnSpc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Aj</a:t>
            </a:r>
            <a:r>
              <a:rPr sz="2050" dirty="0">
                <a:latin typeface="Arial"/>
                <a:cs typeface="Arial"/>
              </a:rPr>
              <a:t>unt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eficient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aind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logarít</a:t>
            </a:r>
            <a:r>
              <a:rPr sz="2050" spc="5" dirty="0">
                <a:latin typeface="Arial"/>
                <a:cs typeface="Arial"/>
              </a:rPr>
              <a:t>mico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Reti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itui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te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é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utiliza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utu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 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fis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ta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bino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uille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n, 1978).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3573411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8806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5929"/>
            <a:ext cx="8604250" cy="5826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 -</a:t>
            </a:r>
            <a:r>
              <a:rPr sz="2050" b="1" dirty="0">
                <a:latin typeface="Arial"/>
                <a:cs typeface="Arial"/>
              </a:rPr>
              <a:t> Algo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spc="-5" dirty="0">
                <a:latin typeface="Arial"/>
                <a:cs typeface="Arial"/>
              </a:rPr>
              <a:t>it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spc="10" dirty="0">
                <a:latin typeface="Arial"/>
                <a:cs typeface="Arial"/>
              </a:rPr>
              <a:t>O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denaçã</a:t>
            </a:r>
            <a:r>
              <a:rPr sz="2050" b="1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484505" marR="657225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repe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143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Em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eguida,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repe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35306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ordenada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6360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ordenada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3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i="1" spc="5" dirty="0">
                <a:latin typeface="Arial"/>
                <a:cs typeface="Arial"/>
              </a:rPr>
              <a:t>s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8203809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6865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1986"/>
            <a:ext cx="8223250" cy="3688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que: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buFont typeface="Lucida Sans Unicode"/>
              <a:buChar char="•"/>
            </a:pPr>
            <a:endParaRPr sz="2350">
              <a:latin typeface="Times New Roman"/>
              <a:cs typeface="Times New Roman"/>
            </a:endParaRPr>
          </a:p>
          <a:p>
            <a:pPr marL="541020" algn="ctr">
              <a:lnSpc>
                <a:spcPct val="100000"/>
              </a:lnSpc>
            </a:pP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marL="986155" algn="ctr">
              <a:lnSpc>
                <a:spcPct val="100000"/>
              </a:lnSpc>
              <a:spcBef>
                <a:spcPts val="1075"/>
              </a:spcBef>
            </a:pP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>
              <a:lnSpc>
                <a:spcPct val="100000"/>
              </a:lnSpc>
            </a:pP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tod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500"/>
              </a:lnSpc>
              <a:spcBef>
                <a:spcPts val="13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defin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biná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163675" y="4919960"/>
            <a:ext cx="2379307" cy="14835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009669" y="6142469"/>
            <a:ext cx="35052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248285" algn="l"/>
              </a:tabLst>
            </a:pPr>
            <a:r>
              <a:rPr sz="1950" baseline="2136" dirty="0">
                <a:latin typeface="Times New Roman"/>
                <a:cs typeface="Times New Roman"/>
              </a:rPr>
              <a:t>4	</a:t>
            </a: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6378" y="6142469"/>
            <a:ext cx="3524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231775" algn="l"/>
              </a:tabLst>
            </a:pPr>
            <a:r>
              <a:rPr sz="1950" baseline="2136" dirty="0">
                <a:latin typeface="Times New Roman"/>
                <a:cs typeface="Times New Roman"/>
              </a:rPr>
              <a:t>5	</a:t>
            </a: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58030" y="5545289"/>
            <a:ext cx="35115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239395" algn="l"/>
              </a:tabLst>
            </a:pPr>
            <a:r>
              <a:rPr sz="1950" baseline="2136" dirty="0">
                <a:latin typeface="Times New Roman"/>
                <a:cs typeface="Times New Roman"/>
              </a:rPr>
              <a:t>2	</a:t>
            </a: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54739" y="4948110"/>
            <a:ext cx="34925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255904" algn="l"/>
              </a:tabLst>
            </a:pPr>
            <a:r>
              <a:rPr sz="1950" baseline="2136" dirty="0">
                <a:latin typeface="Times New Roman"/>
                <a:cs typeface="Times New Roman"/>
              </a:rPr>
              <a:t>1	</a:t>
            </a: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91428" y="5545289"/>
            <a:ext cx="3905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307340" algn="l"/>
              </a:tabLst>
            </a:pPr>
            <a:r>
              <a:rPr sz="1300" dirty="0">
                <a:latin typeface="Times New Roman"/>
                <a:cs typeface="Times New Roman"/>
              </a:rPr>
              <a:t>O	</a:t>
            </a:r>
            <a:r>
              <a:rPr sz="1950" baseline="2136" dirty="0">
                <a:latin typeface="Times New Roman"/>
                <a:cs typeface="Times New Roman"/>
              </a:rPr>
              <a:t>3</a:t>
            </a:r>
            <a:endParaRPr sz="1950" baseline="2136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35332" y="6142469"/>
            <a:ext cx="109537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314960" algn="l"/>
                <a:tab pos="704215" algn="l"/>
                <a:tab pos="1011555" algn="l"/>
              </a:tabLst>
            </a:pPr>
            <a:r>
              <a:rPr sz="1300" dirty="0">
                <a:latin typeface="Times New Roman"/>
                <a:cs typeface="Times New Roman"/>
              </a:rPr>
              <a:t>A	</a:t>
            </a:r>
            <a:r>
              <a:rPr sz="1950" baseline="2136" dirty="0">
                <a:latin typeface="Times New Roman"/>
                <a:cs typeface="Times New Roman"/>
              </a:rPr>
              <a:t>6	</a:t>
            </a:r>
            <a:r>
              <a:rPr sz="1300" dirty="0">
                <a:latin typeface="Times New Roman"/>
                <a:cs typeface="Times New Roman"/>
              </a:rPr>
              <a:t>D	</a:t>
            </a:r>
            <a:r>
              <a:rPr sz="1950" baseline="2136" dirty="0">
                <a:latin typeface="Times New Roman"/>
                <a:cs typeface="Times New Roman"/>
              </a:rPr>
              <a:t>7</a:t>
            </a:r>
            <a:endParaRPr sz="1950" baseline="2136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936161" y="4828044"/>
            <a:ext cx="2887980" cy="0"/>
          </a:xfrm>
          <a:custGeom>
            <a:avLst/>
            <a:gdLst/>
            <a:ahLst/>
            <a:cxnLst/>
            <a:rect l="l" t="t" r="r" b="b"/>
            <a:pathLst>
              <a:path w="2887979">
                <a:moveTo>
                  <a:pt x="0" y="0"/>
                </a:moveTo>
                <a:lnTo>
                  <a:pt x="288756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40555" y="4827993"/>
            <a:ext cx="0" cy="1650364"/>
          </a:xfrm>
          <a:custGeom>
            <a:avLst/>
            <a:gdLst/>
            <a:ahLst/>
            <a:cxnLst/>
            <a:rect l="l" t="t" r="r" b="b"/>
            <a:pathLst>
              <a:path h="1650364">
                <a:moveTo>
                  <a:pt x="0" y="164980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819315" y="4827993"/>
            <a:ext cx="0" cy="1650364"/>
          </a:xfrm>
          <a:custGeom>
            <a:avLst/>
            <a:gdLst/>
            <a:ahLst/>
            <a:cxnLst/>
            <a:rect l="l" t="t" r="r" b="b"/>
            <a:pathLst>
              <a:path h="1650364">
                <a:moveTo>
                  <a:pt x="0" y="164980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936161" y="6477744"/>
            <a:ext cx="2887980" cy="0"/>
          </a:xfrm>
          <a:custGeom>
            <a:avLst/>
            <a:gdLst/>
            <a:ahLst/>
            <a:cxnLst/>
            <a:rect l="l" t="t" r="r" b="b"/>
            <a:pathLst>
              <a:path w="2887979">
                <a:moveTo>
                  <a:pt x="0" y="0"/>
                </a:moveTo>
                <a:lnTo>
                  <a:pt x="288756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6250758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3295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b="1" spc="5" dirty="0">
                <a:latin typeface="Arial"/>
                <a:cs typeface="Arial"/>
              </a:rPr>
              <a:t>Á</a:t>
            </a:r>
            <a:r>
              <a:rPr sz="2050" b="1" spc="25" dirty="0">
                <a:latin typeface="Arial"/>
                <a:cs typeface="Arial"/>
              </a:rPr>
              <a:t>r</a:t>
            </a:r>
            <a:r>
              <a:rPr sz="2050" b="1" spc="-60" dirty="0">
                <a:latin typeface="Arial"/>
                <a:cs typeface="Arial"/>
              </a:rPr>
              <a:t>v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re </a:t>
            </a:r>
            <a:r>
              <a:rPr sz="2050" b="1" dirty="0">
                <a:latin typeface="Arial"/>
                <a:cs typeface="Arial"/>
              </a:rPr>
              <a:t>b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ná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co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eta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nó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1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spc="-170" dirty="0">
                <a:latin typeface="Lucida Sans Unicode"/>
                <a:cs typeface="Lucida Sans Unicode"/>
              </a:rPr>
              <a:t>⌊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170" dirty="0">
                <a:latin typeface="Lucida Sans Unicode"/>
                <a:cs typeface="Lucida Sans Unicode"/>
              </a:rPr>
              <a:t>⌋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pai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dirty="0">
                <a:latin typeface="Arial"/>
                <a:cs typeface="Arial"/>
              </a:rPr>
              <a:t>,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7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-12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11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55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filho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7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70" dirty="0">
                <a:latin typeface="Lucida Sans Unicode"/>
                <a:cs typeface="Lucida Sans Unicode"/>
              </a:rPr>
              <a:t>⌊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170" dirty="0">
                <a:latin typeface="Lucida Sans Unicode"/>
                <a:cs typeface="Lucida Sans Unicode"/>
              </a:rPr>
              <a:t>⌋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9572029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663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5243"/>
            <a:ext cx="8206105" cy="2566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filho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biná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y: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46893" y="3539197"/>
            <a:ext cx="3066415" cy="0"/>
          </a:xfrm>
          <a:custGeom>
            <a:avLst/>
            <a:gdLst/>
            <a:ahLst/>
            <a:cxnLst/>
            <a:rect l="l" t="t" r="r" b="b"/>
            <a:pathLst>
              <a:path w="3066415">
                <a:moveTo>
                  <a:pt x="0" y="0"/>
                </a:moveTo>
                <a:lnTo>
                  <a:pt x="306621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51300" y="3539147"/>
            <a:ext cx="0" cy="892175"/>
          </a:xfrm>
          <a:custGeom>
            <a:avLst/>
            <a:gdLst/>
            <a:ahLst/>
            <a:cxnLst/>
            <a:rect l="l" t="t" r="r" b="b"/>
            <a:pathLst>
              <a:path h="892175">
                <a:moveTo>
                  <a:pt x="0" y="89176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08710" y="3539147"/>
            <a:ext cx="0" cy="892175"/>
          </a:xfrm>
          <a:custGeom>
            <a:avLst/>
            <a:gdLst/>
            <a:ahLst/>
            <a:cxnLst/>
            <a:rect l="l" t="t" r="r" b="b"/>
            <a:pathLst>
              <a:path h="892175">
                <a:moveTo>
                  <a:pt x="0" y="89176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46893" y="4430852"/>
            <a:ext cx="3066415" cy="0"/>
          </a:xfrm>
          <a:custGeom>
            <a:avLst/>
            <a:gdLst/>
            <a:ahLst/>
            <a:cxnLst/>
            <a:rect l="l" t="t" r="r" b="b"/>
            <a:pathLst>
              <a:path w="3066415">
                <a:moveTo>
                  <a:pt x="0" y="0"/>
                </a:moveTo>
                <a:lnTo>
                  <a:pt x="306621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82" y="4792243"/>
            <a:ext cx="6269355" cy="1888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pelo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filho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pai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45" dirty="0">
                <a:latin typeface="Georgia"/>
                <a:cs typeface="Georgia"/>
              </a:rPr>
              <a:t>v</a:t>
            </a:r>
            <a:r>
              <a:rPr sz="2050" spc="-1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975823" y="3629814"/>
          <a:ext cx="2808233" cy="7259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1727"/>
                <a:gridCol w="395955"/>
                <a:gridCol w="420244"/>
                <a:gridCol w="395975"/>
                <a:gridCol w="408174"/>
                <a:gridCol w="395930"/>
                <a:gridCol w="420228"/>
              </a:tblGrid>
              <a:tr h="355267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644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3657854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26170" cy="5790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774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9019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long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elegan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oi propo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Fl</a:t>
            </a:r>
            <a:r>
              <a:rPr sz="2050" spc="-6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yd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1964.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nenhu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auxilia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589915">
              <a:lnSpc>
                <a:spcPct val="100000"/>
              </a:lnSpc>
              <a:spcBef>
                <a:spcPts val="1185"/>
              </a:spcBef>
              <a:tabLst>
                <a:tab pos="852169" algn="l"/>
              </a:tabLst>
            </a:pPr>
            <a:r>
              <a:rPr sz="2050" b="1" spc="5" dirty="0">
                <a:latin typeface="Times New Roman"/>
                <a:cs typeface="Times New Roman"/>
              </a:rPr>
              <a:t>–	</a:t>
            </a: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7282813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9565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87814" y="1976729"/>
            <a:ext cx="4784725" cy="0"/>
          </a:xfrm>
          <a:custGeom>
            <a:avLst/>
            <a:gdLst/>
            <a:ahLst/>
            <a:cxnLst/>
            <a:rect l="l" t="t" r="r" b="b"/>
            <a:pathLst>
              <a:path w="4784725">
                <a:moveTo>
                  <a:pt x="0" y="0"/>
                </a:moveTo>
                <a:lnTo>
                  <a:pt x="478448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92208" y="1976665"/>
            <a:ext cx="0" cy="1997710"/>
          </a:xfrm>
          <a:custGeom>
            <a:avLst/>
            <a:gdLst/>
            <a:ahLst/>
            <a:cxnLst/>
            <a:rect l="l" t="t" r="r" b="b"/>
            <a:pathLst>
              <a:path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67777" y="1976665"/>
            <a:ext cx="0" cy="1997710"/>
          </a:xfrm>
          <a:custGeom>
            <a:avLst/>
            <a:gdLst/>
            <a:ahLst/>
            <a:cxnLst/>
            <a:rect l="l" t="t" r="r" b="b"/>
            <a:pathLst>
              <a:path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87814" y="3974122"/>
            <a:ext cx="4784725" cy="0"/>
          </a:xfrm>
          <a:custGeom>
            <a:avLst/>
            <a:gdLst/>
            <a:ahLst/>
            <a:cxnLst/>
            <a:rect l="l" t="t" r="r" b="b"/>
            <a:pathLst>
              <a:path w="4784725">
                <a:moveTo>
                  <a:pt x="0" y="0"/>
                </a:moveTo>
                <a:lnTo>
                  <a:pt x="478448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82" y="4401908"/>
            <a:ext cx="8059420" cy="1265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50" dirty="0">
                <a:latin typeface="Georgia"/>
                <a:cs typeface="Georgia"/>
              </a:rPr>
              <a:t>4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20" dirty="0">
                <a:latin typeface="Georgia"/>
                <a:cs typeface="Georgia"/>
              </a:rPr>
              <a:t>7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245" dirty="0">
                <a:latin typeface="Arial"/>
                <a:cs typeface="Arial"/>
              </a:rPr>
              <a:t>E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-245" dirty="0">
                <a:latin typeface="Arial"/>
                <a:cs typeface="Arial"/>
              </a:rPr>
              <a:t>q</a:t>
            </a:r>
            <a:r>
              <a:rPr sz="2050" i="1" spc="7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, engloband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endParaRPr sz="2050">
              <a:latin typeface="Arial"/>
              <a:cs typeface="Arial"/>
            </a:endParaRPr>
          </a:p>
          <a:p>
            <a:pPr marL="274955">
              <a:lnSpc>
                <a:spcPct val="100000"/>
              </a:lnSpc>
              <a:spcBef>
                <a:spcPts val="484"/>
              </a:spcBef>
            </a:pP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pai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iten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20" dirty="0">
                <a:latin typeface="Georgia"/>
                <a:cs typeface="Georgia"/>
              </a:rPr>
              <a:t>7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225736" y="2067333"/>
          <a:ext cx="4308426" cy="18464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8469"/>
                <a:gridCol w="420229"/>
                <a:gridCol w="395918"/>
                <a:gridCol w="432478"/>
                <a:gridCol w="395970"/>
                <a:gridCol w="408174"/>
                <a:gridCol w="395926"/>
                <a:gridCol w="311262"/>
              </a:tblGrid>
              <a:tr h="358555"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0858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i="1" dirty="0"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2148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Esq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7091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Esq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5917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Esq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7823767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029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13" y="856500"/>
            <a:ext cx="8709660" cy="5610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"/>
              </a:spcBef>
            </a:pPr>
            <a:endParaRPr sz="21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olada: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4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3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cl</a:t>
            </a:r>
            <a:r>
              <a:rPr sz="2050" dirty="0">
                <a:latin typeface="Arial"/>
                <a:cs typeface="Arial"/>
              </a:rPr>
              <a:t>uind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245" dirty="0">
                <a:latin typeface="Arial"/>
                <a:cs typeface="Arial"/>
              </a:rPr>
              <a:t>E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-245" dirty="0">
                <a:latin typeface="Arial"/>
                <a:cs typeface="Arial"/>
              </a:rPr>
              <a:t>q</a:t>
            </a:r>
            <a:r>
              <a:rPr sz="2050" i="1" spc="7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vi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34"/>
              </a:spcBef>
            </a:pP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cl</a:t>
            </a:r>
            <a:r>
              <a:rPr sz="2050" dirty="0">
                <a:latin typeface="Arial"/>
                <a:cs typeface="Arial"/>
              </a:rPr>
              <a:t>uind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245" dirty="0">
                <a:latin typeface="Arial"/>
                <a:cs typeface="Arial"/>
              </a:rPr>
              <a:t>E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-245" dirty="0">
                <a:latin typeface="Arial"/>
                <a:cs typeface="Arial"/>
              </a:rPr>
              <a:t>q</a:t>
            </a:r>
            <a:r>
              <a:rPr sz="2050" i="1" spc="7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olada: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4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2700" marR="400685">
              <a:lnSpc>
                <a:spcPct val="117800"/>
              </a:lnSpc>
              <a:spcBef>
                <a:spcPts val="1215"/>
              </a:spcBef>
            </a:pPr>
            <a:r>
              <a:rPr sz="2050" spc="10" dirty="0">
                <a:latin typeface="Arial"/>
                <a:cs typeface="Arial"/>
              </a:rPr>
              <a:t>O 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o </a:t>
            </a:r>
            <a:r>
              <a:rPr sz="2050" dirty="0">
                <a:latin typeface="Arial"/>
                <a:cs typeface="Arial"/>
              </a:rPr>
              <a:t>ite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"/>
              </a:spcBef>
            </a:pPr>
            <a:endParaRPr sz="195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Ma</a:t>
            </a:r>
            <a:r>
              <a:rPr sz="1700" spc="-40" dirty="0">
                <a:latin typeface="Arial"/>
                <a:cs typeface="Arial"/>
              </a:rPr>
              <a:t>x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10" dirty="0">
                <a:latin typeface="Lucida Sans Unicode"/>
                <a:cs typeface="Lucida Sans Unicode"/>
              </a:rPr>
              <a:t>∗</a:t>
            </a:r>
            <a:r>
              <a:rPr sz="1700" spc="-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63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9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9356724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5904865" cy="4855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2010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91465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85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Refa</a:t>
            </a:r>
            <a:r>
              <a:rPr sz="1700" spc="95" dirty="0">
                <a:latin typeface="Arial"/>
                <a:cs typeface="Arial"/>
              </a:rPr>
              <a:t>z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10" dirty="0">
                <a:latin typeface="Lucida Sans Unicode"/>
                <a:cs typeface="Lucida Sans Unicode"/>
              </a:rPr>
              <a:t>∗</a:t>
            </a:r>
            <a:r>
              <a:rPr sz="1700" spc="-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4475" marR="3653154" indent="-201295">
              <a:lnSpc>
                <a:spcPct val="129700"/>
              </a:lnSpc>
              <a:tabLst>
                <a:tab pos="688340" algn="l"/>
                <a:tab pos="852169" algn="l"/>
                <a:tab pos="1438275" algn="l"/>
              </a:tabLst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j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260" dirty="0">
                <a:latin typeface="Lucida Sans Unicode"/>
                <a:cs typeface="Lucida Sans Unicode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870">
              <a:lnSpc>
                <a:spcPct val="100000"/>
              </a:lnSpc>
              <a:spcBef>
                <a:spcPts val="605"/>
              </a:spcBef>
            </a:pPr>
            <a:r>
              <a:rPr sz="1700" spc="10" dirty="0">
                <a:latin typeface="Arial"/>
                <a:cs typeface="Arial"/>
              </a:rPr>
              <a:t>x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0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  <a:tabLst>
                <a:tab pos="686435" algn="l"/>
                <a:tab pos="988060" algn="l"/>
                <a:tab pos="129921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	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902969" marR="1826260" indent="-217170">
              <a:lnSpc>
                <a:spcPct val="129700"/>
              </a:lnSpc>
              <a:tabLst>
                <a:tab pos="900430" algn="l"/>
                <a:tab pos="120269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+1]</a:t>
            </a:r>
            <a:r>
              <a:rPr sz="1700" spc="-35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 j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7627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686435">
              <a:lnSpc>
                <a:spcPct val="100000"/>
              </a:lnSpc>
              <a:spcBef>
                <a:spcPts val="605"/>
              </a:spcBef>
              <a:tabLst>
                <a:tab pos="988060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b="1" spc="-65" dirty="0">
                <a:latin typeface="Arial"/>
                <a:cs typeface="Arial"/>
              </a:rPr>
              <a:t>got</a:t>
            </a:r>
            <a:r>
              <a:rPr sz="1700" b="1" spc="10" dirty="0">
                <a:latin typeface="Arial"/>
                <a:cs typeface="Arial"/>
              </a:rPr>
              <a:t>o</a:t>
            </a:r>
            <a:r>
              <a:rPr sz="1700" b="1" spc="204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L99</a:t>
            </a:r>
            <a:r>
              <a:rPr sz="1700" spc="100" dirty="0">
                <a:latin typeface="Arial"/>
                <a:cs typeface="Arial"/>
              </a:rPr>
              <a:t>9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33283" y="5773153"/>
            <a:ext cx="104711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20395" algn="l"/>
              </a:tabLst>
            </a:pPr>
            <a:r>
              <a:rPr sz="1700" dirty="0">
                <a:latin typeface="Arial"/>
                <a:cs typeface="Arial"/>
              </a:rPr>
              <a:t>j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260" dirty="0">
                <a:latin typeface="Lucida Sans Unicode"/>
                <a:cs typeface="Lucida Sans Unicode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4094" y="5773153"/>
            <a:ext cx="2486025" cy="942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3070">
              <a:lnSpc>
                <a:spcPct val="100000"/>
              </a:lnSpc>
              <a:tabLst>
                <a:tab pos="1874520" algn="l"/>
              </a:tabLst>
            </a:pP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527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spc="-85" dirty="0">
                <a:latin typeface="Arial"/>
                <a:cs typeface="Arial"/>
              </a:rPr>
              <a:t>L99</a:t>
            </a:r>
            <a:r>
              <a:rPr sz="1700" spc="10" dirty="0">
                <a:latin typeface="Arial"/>
                <a:cs typeface="Arial"/>
              </a:rPr>
              <a:t>9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471" y="6781619"/>
            <a:ext cx="9842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6817187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3798570" cy="1011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09645" y="2154644"/>
            <a:ext cx="139573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211" y="2154644"/>
            <a:ext cx="2799715" cy="2685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Constro</a:t>
            </a:r>
            <a:r>
              <a:rPr sz="1700" spc="170" dirty="0">
                <a:latin typeface="Arial"/>
                <a:cs typeface="Arial"/>
              </a:rPr>
              <a:t>i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  <a:p>
            <a:pPr marL="217170" marR="869315" indent="-173990">
              <a:lnSpc>
                <a:spcPts val="2720"/>
              </a:lnSpc>
              <a:spcBef>
                <a:spcPts val="200"/>
              </a:spcBef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/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110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-290" dirty="0">
                <a:latin typeface="Arial"/>
                <a:cs typeface="Arial"/>
              </a:rPr>
              <a:t>q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53415">
              <a:lnSpc>
                <a:spcPct val="100000"/>
              </a:lnSpc>
              <a:spcBef>
                <a:spcPts val="675"/>
              </a:spcBef>
            </a:pPr>
            <a:r>
              <a:rPr sz="1700" spc="-40" dirty="0">
                <a:latin typeface="Arial"/>
                <a:cs typeface="Arial"/>
              </a:rPr>
              <a:t>Refa</a:t>
            </a:r>
            <a:r>
              <a:rPr sz="1700" spc="95" dirty="0">
                <a:latin typeface="Arial"/>
                <a:cs typeface="Arial"/>
              </a:rPr>
              <a:t>z</a:t>
            </a:r>
            <a:r>
              <a:rPr sz="1700" spc="50" dirty="0">
                <a:latin typeface="Arial"/>
                <a:cs typeface="Arial"/>
              </a:rPr>
              <a:t>(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22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4154454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533130" cy="4322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reti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195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  <a:tabLst>
                <a:tab pos="3446145" algn="l"/>
              </a:tabLst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R</a:t>
            </a:r>
            <a:r>
              <a:rPr sz="1700" spc="-20" dirty="0">
                <a:latin typeface="Arial"/>
                <a:cs typeface="Arial"/>
              </a:rPr>
              <a:t>eti</a:t>
            </a:r>
            <a:r>
              <a:rPr sz="1700" spc="-25" dirty="0">
                <a:latin typeface="Arial"/>
                <a:cs typeface="Arial"/>
              </a:rPr>
              <a:t>r</a:t>
            </a:r>
            <a:r>
              <a:rPr sz="1700" spc="-15" dirty="0">
                <a:latin typeface="Arial"/>
                <a:cs typeface="Arial"/>
              </a:rPr>
              <a:t>aMa</a:t>
            </a:r>
            <a:r>
              <a:rPr sz="1700" spc="114" dirty="0">
                <a:latin typeface="Arial"/>
                <a:cs typeface="Arial"/>
              </a:rPr>
              <a:t>x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60" dirty="0">
                <a:latin typeface="Lucida Sans Unicode"/>
                <a:cs typeface="Lucida Sans Unicode"/>
              </a:rPr>
              <a:t>∗</a:t>
            </a:r>
            <a:r>
              <a:rPr sz="1700" spc="5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Maxim</a:t>
            </a:r>
            <a:r>
              <a:rPr sz="1700" spc="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675"/>
              </a:spcBef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-1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110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675"/>
              </a:spcBef>
            </a:pP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hea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970915" marR="3470275" indent="-743585">
              <a:lnSpc>
                <a:spcPts val="2720"/>
              </a:lnSpc>
              <a:spcBef>
                <a:spcPts val="200"/>
              </a:spcBef>
              <a:tabLst>
                <a:tab pos="2671445" algn="l"/>
                <a:tab pos="430847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Maxim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45" dirty="0">
                <a:latin typeface="Lucida Sans Unicode"/>
                <a:cs typeface="Lucida Sans Unicode"/>
              </a:rPr>
              <a:t>∗</a:t>
            </a:r>
            <a:r>
              <a:rPr sz="1700" spc="-100" dirty="0">
                <a:latin typeface="Arial"/>
                <a:cs typeface="Arial"/>
              </a:rPr>
              <a:t>n)</a:t>
            </a:r>
            <a:r>
              <a:rPr sz="1700" spc="-120" dirty="0">
                <a:latin typeface="Lucida Sans Unicode"/>
                <a:cs typeface="Lucida Sans Unicode"/>
              </a:rPr>
              <a:t>−</a:t>
            </a:r>
            <a:r>
              <a:rPr sz="1700" spc="-6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40" dirty="0">
                <a:latin typeface="Arial"/>
                <a:cs typeface="Arial"/>
              </a:rPr>
              <a:t>Refa</a:t>
            </a:r>
            <a:r>
              <a:rPr sz="1700" spc="85" dirty="0">
                <a:latin typeface="Arial"/>
                <a:cs typeface="Arial"/>
              </a:rPr>
              <a:t>z</a:t>
            </a:r>
            <a:r>
              <a:rPr sz="1700" spc="12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185" dirty="0">
                <a:latin typeface="Lucida Sans Unicode"/>
                <a:cs typeface="Lucida Sans Unicode"/>
              </a:rPr>
              <a:t>∗</a:t>
            </a:r>
            <a:r>
              <a:rPr sz="1700" spc="17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6892290" algn="ctr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28600">
              <a:lnSpc>
                <a:spcPct val="100000"/>
              </a:lnSpc>
              <a:spcBef>
                <a:spcPts val="67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29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Maxim</a:t>
            </a:r>
            <a:r>
              <a:rPr sz="1700" spc="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0527167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732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5471"/>
            <a:ext cx="8388350" cy="4255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 marL="16510" marR="5080">
              <a:lnSpc>
                <a:spcPct val="117400"/>
              </a:lnSpc>
              <a:spcBef>
                <a:spcPts val="1735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4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14261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spc="2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AumentaChav</a:t>
            </a:r>
            <a:r>
              <a:rPr sz="1700" spc="5" dirty="0">
                <a:latin typeface="Arial"/>
                <a:cs typeface="Arial"/>
              </a:rPr>
              <a:t>e(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ChaveNov</a:t>
            </a:r>
            <a:r>
              <a:rPr sz="17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10" dirty="0">
                <a:latin typeface="Lucida Sans Unicode"/>
                <a:cs typeface="Lucida Sans Unicode"/>
              </a:rPr>
              <a:t>∗</a:t>
            </a:r>
            <a:r>
              <a:rPr sz="1700" spc="-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30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30"/>
              </a:spcBef>
              <a:tabLst>
                <a:tab pos="55943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75" dirty="0">
                <a:latin typeface="Arial"/>
                <a:cs typeface="Arial"/>
              </a:rPr>
              <a:t>(</a:t>
            </a:r>
            <a:r>
              <a:rPr sz="1700" spc="-130" dirty="0">
                <a:latin typeface="Arial"/>
                <a:cs typeface="Arial"/>
              </a:rPr>
              <a:t>Cha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-130" dirty="0">
                <a:latin typeface="Arial"/>
                <a:cs typeface="Arial"/>
              </a:rPr>
              <a:t>eNo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30"/>
              </a:spcBef>
              <a:tabLst>
                <a:tab pos="467359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Cha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-130" dirty="0">
                <a:latin typeface="Arial"/>
                <a:cs typeface="Arial"/>
              </a:rPr>
              <a:t>eNo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meno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17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qu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atua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6405">
              <a:lnSpc>
                <a:spcPct val="100000"/>
              </a:lnSpc>
              <a:spcBef>
                <a:spcPts val="630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3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11454">
              <a:lnSpc>
                <a:spcPct val="100000"/>
              </a:lnSpc>
              <a:spcBef>
                <a:spcPts val="630"/>
              </a:spcBef>
            </a:pP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5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Cha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-130" dirty="0">
                <a:latin typeface="Arial"/>
                <a:cs typeface="Arial"/>
              </a:rPr>
              <a:t>eNo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5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30"/>
              </a:spcBef>
              <a:tabLst>
                <a:tab pos="2389505" algn="l"/>
              </a:tabLst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1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12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&amp;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5" dirty="0">
                <a:latin typeface="Arial"/>
                <a:cs typeface="Arial"/>
              </a:rPr>
              <a:t>/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41785" y="5179580"/>
            <a:ext cx="291465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67995" algn="l"/>
                <a:tab pos="1940560" algn="l"/>
              </a:tabLst>
            </a:pP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5" dirty="0">
                <a:latin typeface="Arial"/>
                <a:cs typeface="Arial"/>
              </a:rPr>
              <a:t>/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6982" y="5099525"/>
            <a:ext cx="1595755" cy="1028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8760" marR="5080" indent="-217170">
              <a:lnSpc>
                <a:spcPct val="130900"/>
              </a:lnSpc>
              <a:tabLst>
                <a:tab pos="420370" algn="l"/>
                <a:tab pos="108648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5" dirty="0">
                <a:latin typeface="Arial"/>
                <a:cs typeface="Arial"/>
              </a:rPr>
              <a:t>/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i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70" dirty="0">
                <a:latin typeface="Arial"/>
                <a:cs typeface="Arial"/>
              </a:rPr>
              <a:t>/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471" y="6196627"/>
            <a:ext cx="9842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1776288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862570" cy="1358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64770" y="4200543"/>
            <a:ext cx="2379307" cy="14835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51594" y="4200543"/>
            <a:ext cx="2379307" cy="14835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864770" y="2508547"/>
            <a:ext cx="2379307" cy="14835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51594" y="2508547"/>
            <a:ext cx="2379307" cy="14835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710776" y="4148289"/>
            <a:ext cx="220979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spc="5" dirty="0">
                <a:latin typeface="Times New Roman"/>
                <a:cs typeface="Times New Roman"/>
              </a:rPr>
              <a:t>(c)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10776" y="2456281"/>
            <a:ext cx="3019425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  <a:tabLst>
                <a:tab pos="2786380" algn="l"/>
              </a:tabLst>
            </a:pPr>
            <a:r>
              <a:rPr sz="1550" spc="5" dirty="0">
                <a:latin typeface="Times New Roman"/>
                <a:cs typeface="Times New Roman"/>
              </a:rPr>
              <a:t>(a)	(b)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97601" y="4148289"/>
            <a:ext cx="23241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spc="5" dirty="0">
                <a:latin typeface="Times New Roman"/>
                <a:cs typeface="Times New Roman"/>
              </a:rPr>
              <a:t>(d)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03712" y="3501351"/>
            <a:ext cx="5588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i="1" dirty="0">
                <a:latin typeface="Times New Roman"/>
                <a:cs typeface="Times New Roman"/>
              </a:rPr>
              <a:t>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90532" y="3501351"/>
            <a:ext cx="5588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i="1" dirty="0">
                <a:latin typeface="Times New Roman"/>
                <a:cs typeface="Times New Roman"/>
              </a:rPr>
              <a:t>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50180" y="4596168"/>
            <a:ext cx="5588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i="1" dirty="0">
                <a:latin typeface="Times New Roman"/>
                <a:cs typeface="Times New Roman"/>
              </a:rPr>
              <a:t>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44161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59595" y="5431904"/>
            <a:ext cx="10160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39709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12400" y="4237545"/>
            <a:ext cx="9271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84776" y="4834725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U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40871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46425" y="5431904"/>
            <a:ext cx="10160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46419" y="3739908"/>
            <a:ext cx="10160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40871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36427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A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39718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59595" y="3739908"/>
            <a:ext cx="10160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299104" y="3142729"/>
            <a:ext cx="1111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12400" y="2545550"/>
            <a:ext cx="9271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692510" y="3142729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085923" y="3142729"/>
            <a:ext cx="1111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799211" y="2545550"/>
            <a:ext cx="9271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479334" y="3142729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827683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123239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U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426530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774891" y="4205795"/>
            <a:ext cx="370840" cy="22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05"/>
              </a:lnSpc>
              <a:tabLst>
                <a:tab pos="314960" algn="l"/>
              </a:tabLst>
            </a:pPr>
            <a:r>
              <a:rPr sz="1300" dirty="0">
                <a:latin typeface="Times New Roman"/>
                <a:cs typeface="Times New Roman"/>
              </a:rPr>
              <a:t>U	</a:t>
            </a:r>
            <a:r>
              <a:rPr sz="2325" i="1" baseline="1792" dirty="0">
                <a:latin typeface="Times New Roman"/>
                <a:cs typeface="Times New Roman"/>
              </a:rPr>
              <a:t>i</a:t>
            </a:r>
            <a:endParaRPr sz="2325" baseline="1792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495920" y="4834725"/>
            <a:ext cx="9271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085916" y="4834725"/>
            <a:ext cx="1111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426530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130977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827681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299091" y="4834725"/>
            <a:ext cx="1111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637027" y="2423858"/>
            <a:ext cx="5486400" cy="0"/>
          </a:xfrm>
          <a:custGeom>
            <a:avLst/>
            <a:gdLst/>
            <a:ahLst/>
            <a:cxnLst/>
            <a:rect l="l" t="t" r="r" b="b"/>
            <a:pathLst>
              <a:path w="5486400">
                <a:moveTo>
                  <a:pt x="0" y="0"/>
                </a:moveTo>
                <a:lnTo>
                  <a:pt x="5485942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641422" y="2423807"/>
            <a:ext cx="0" cy="3335654"/>
          </a:xfrm>
          <a:custGeom>
            <a:avLst/>
            <a:gdLst/>
            <a:ahLst/>
            <a:cxnLst/>
            <a:rect l="l" t="t" r="r" b="b"/>
            <a:pathLst>
              <a:path h="3335654">
                <a:moveTo>
                  <a:pt x="0" y="333527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118564" y="2423807"/>
            <a:ext cx="0" cy="3335654"/>
          </a:xfrm>
          <a:custGeom>
            <a:avLst/>
            <a:gdLst/>
            <a:ahLst/>
            <a:cxnLst/>
            <a:rect l="l" t="t" r="r" b="b"/>
            <a:pathLst>
              <a:path h="3335654">
                <a:moveTo>
                  <a:pt x="0" y="333527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637027" y="5759018"/>
            <a:ext cx="5486400" cy="0"/>
          </a:xfrm>
          <a:custGeom>
            <a:avLst/>
            <a:gdLst/>
            <a:ahLst/>
            <a:cxnLst/>
            <a:rect l="l" t="t" r="r" b="b"/>
            <a:pathLst>
              <a:path w="5486400">
                <a:moveTo>
                  <a:pt x="0" y="0"/>
                </a:moveTo>
                <a:lnTo>
                  <a:pt x="5485942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1221295" y="6132294"/>
            <a:ext cx="8527415" cy="702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-5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274955">
              <a:lnSpc>
                <a:spcPct val="100000"/>
              </a:lnSpc>
              <a:spcBef>
                <a:spcPts val="400"/>
              </a:spcBef>
            </a:pP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7625511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8385175" cy="2597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6510">
              <a:lnSpc>
                <a:spcPct val="100000"/>
              </a:lnSpc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09321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16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13995" marR="3452495" indent="-180975">
              <a:lnSpc>
                <a:spcPts val="2720"/>
              </a:lnSpc>
              <a:spcBef>
                <a:spcPts val="200"/>
              </a:spcBef>
              <a:tabLst>
                <a:tab pos="1068705" algn="l"/>
                <a:tab pos="2461260" algn="l"/>
              </a:tabLst>
            </a:pPr>
            <a:r>
              <a:rPr sz="1700" spc="135" dirty="0">
                <a:latin typeface="Arial"/>
                <a:cs typeface="Arial"/>
              </a:rPr>
              <a:t>{(</a:t>
            </a:r>
            <a:r>
              <a:rPr sz="1700" spc="-200" dirty="0">
                <a:latin typeface="Lucida Sans Unicode"/>
                <a:cs typeface="Lucida Sans Unicode"/>
              </a:rPr>
              <a:t>∗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120" dirty="0">
                <a:latin typeface="Arial"/>
                <a:cs typeface="Arial"/>
              </a:rPr>
              <a:t>)++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100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13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19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IN</a:t>
            </a:r>
            <a:r>
              <a:rPr sz="1700" spc="-50" dirty="0">
                <a:latin typeface="Arial"/>
                <a:cs typeface="Arial"/>
              </a:rPr>
              <a:t>T_</a:t>
            </a:r>
            <a:r>
              <a:rPr sz="1700" spc="1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I</a:t>
            </a:r>
            <a:r>
              <a:rPr sz="1700" spc="19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25" dirty="0">
                <a:latin typeface="Arial"/>
                <a:cs typeface="Arial"/>
              </a:rPr>
              <a:t>AumentaChav</a:t>
            </a:r>
            <a:r>
              <a:rPr sz="1700" spc="-45" dirty="0">
                <a:latin typeface="Arial"/>
                <a:cs typeface="Arial"/>
              </a:rPr>
              <a:t>e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2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Chav</a:t>
            </a:r>
            <a:r>
              <a:rPr sz="1700" spc="3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5950469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04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30607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Use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 startAt="4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2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3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5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depo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Arial"/>
                <a:cs typeface="Arial"/>
              </a:rPr>
              <a:t>, at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ite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0819448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4641850" cy="9950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86200" y="2075129"/>
            <a:ext cx="3187700" cy="0"/>
          </a:xfrm>
          <a:custGeom>
            <a:avLst/>
            <a:gdLst/>
            <a:ahLst/>
            <a:cxnLst/>
            <a:rect l="l" t="t" r="r" b="b"/>
            <a:pathLst>
              <a:path w="3187700">
                <a:moveTo>
                  <a:pt x="0" y="0"/>
                </a:moveTo>
                <a:lnTo>
                  <a:pt x="318759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90606" y="2074964"/>
            <a:ext cx="0" cy="3112135"/>
          </a:xfrm>
          <a:custGeom>
            <a:avLst/>
            <a:gdLst/>
            <a:ahLst/>
            <a:cxnLst/>
            <a:rect l="l" t="t" r="r" b="b"/>
            <a:pathLst>
              <a:path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69391" y="2074964"/>
            <a:ext cx="0" cy="3112135"/>
          </a:xfrm>
          <a:custGeom>
            <a:avLst/>
            <a:gdLst/>
            <a:ahLst/>
            <a:cxnLst/>
            <a:rect l="l" t="t" r="r" b="b"/>
            <a:pathLst>
              <a:path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86200" y="5186946"/>
            <a:ext cx="3187700" cy="0"/>
          </a:xfrm>
          <a:custGeom>
            <a:avLst/>
            <a:gdLst/>
            <a:ahLst/>
            <a:cxnLst/>
            <a:rect l="l" t="t" r="r" b="b"/>
            <a:pathLst>
              <a:path w="3187700">
                <a:moveTo>
                  <a:pt x="0" y="0"/>
                </a:moveTo>
                <a:lnTo>
                  <a:pt x="318759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95" y="5468266"/>
            <a:ext cx="8485505" cy="1601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790575" indent="-262255">
              <a:lnSpc>
                <a:spcPct val="116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spc="5" dirty="0">
                <a:latin typeface="Arial"/>
                <a:cs typeface="Arial"/>
              </a:rPr>
              <a:t>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egund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linh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Figu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5, apó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2.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024121" y="2165745"/>
          <a:ext cx="2711652" cy="2946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529"/>
                <a:gridCol w="420218"/>
                <a:gridCol w="420224"/>
                <a:gridCol w="420222"/>
                <a:gridCol w="420224"/>
                <a:gridCol w="395979"/>
                <a:gridCol w="311256"/>
              </a:tblGrid>
              <a:tr h="358555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0858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32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2091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58555"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8506486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6210935" cy="951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10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Heap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7211" y="2218309"/>
            <a:ext cx="279971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65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Heapsor</a:t>
            </a:r>
            <a:r>
              <a:rPr sz="1700" spc="110" dirty="0">
                <a:latin typeface="Arial"/>
                <a:cs typeface="Arial"/>
              </a:rPr>
              <a:t>t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09632" y="2218309"/>
            <a:ext cx="139573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50327" y="2563266"/>
            <a:ext cx="42037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8186" y="2477251"/>
            <a:ext cx="1804670" cy="104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0660" marR="5080" indent="-188595">
              <a:lnSpc>
                <a:spcPct val="133200"/>
              </a:lnSpc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45" dirty="0">
                <a:latin typeface="Arial"/>
                <a:cs typeface="Arial"/>
              </a:rPr>
              <a:t>Constro</a:t>
            </a:r>
            <a:r>
              <a:rPr sz="1700" spc="170" dirty="0">
                <a:latin typeface="Arial"/>
                <a:cs typeface="Arial"/>
              </a:rPr>
              <a:t>i</a:t>
            </a:r>
            <a:r>
              <a:rPr sz="1700" spc="35" dirty="0">
                <a:latin typeface="Arial"/>
                <a:cs typeface="Arial"/>
              </a:rPr>
              <a:t>(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200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61639" y="3253295"/>
            <a:ext cx="224599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28930" algn="l"/>
              </a:tabLst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	</a:t>
            </a:r>
            <a:r>
              <a:rPr sz="1700" i="1" spc="85" dirty="0">
                <a:latin typeface="Arial"/>
                <a:cs typeface="Arial"/>
              </a:rPr>
              <a:t>c</a:t>
            </a:r>
            <a:r>
              <a:rPr sz="1700" i="1" spc="90" dirty="0">
                <a:latin typeface="Arial"/>
                <a:cs typeface="Arial"/>
              </a:rPr>
              <a:t>on</a:t>
            </a:r>
            <a:r>
              <a:rPr sz="1700" i="1" spc="85" dirty="0">
                <a:latin typeface="Arial"/>
                <a:cs typeface="Arial"/>
              </a:rPr>
              <a:t>stro</a:t>
            </a:r>
            <a:r>
              <a:rPr sz="1700" i="1" dirty="0">
                <a:latin typeface="Arial"/>
                <a:cs typeface="Arial"/>
              </a:rPr>
              <a:t>i </a:t>
            </a:r>
            <a:r>
              <a:rPr sz="1700" i="1" spc="-8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spc="220" dirty="0">
                <a:latin typeface="Arial"/>
                <a:cs typeface="Arial"/>
              </a:rPr>
              <a:t> </a:t>
            </a:r>
            <a:r>
              <a:rPr sz="1700" i="1" spc="-85" dirty="0">
                <a:latin typeface="Arial"/>
                <a:cs typeface="Arial"/>
              </a:rPr>
              <a:t>hea</a:t>
            </a:r>
            <a:r>
              <a:rPr sz="1700" i="1" spc="10" dirty="0">
                <a:latin typeface="Arial"/>
                <a:cs typeface="Arial"/>
              </a:rPr>
              <a:t>p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27428" y="4633353"/>
            <a:ext cx="120777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47948" y="4633353"/>
            <a:ext cx="67627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10" dirty="0">
                <a:latin typeface="Arial"/>
                <a:cs typeface="Arial"/>
              </a:rPr>
              <a:t>r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11808" y="3598252"/>
            <a:ext cx="3122930" cy="1995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08075" algn="l"/>
              </a:tabLst>
            </a:pP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23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130">
              <a:lnSpc>
                <a:spcPct val="100000"/>
              </a:lnSpc>
              <a:spcBef>
                <a:spcPts val="67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110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67335">
              <a:lnSpc>
                <a:spcPct val="100000"/>
              </a:lnSpc>
              <a:spcBef>
                <a:spcPts val="675"/>
              </a:spcBef>
              <a:tabLst>
                <a:tab pos="469265" algn="l"/>
                <a:tab pos="239776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160" dirty="0">
                <a:latin typeface="Lucida Sans Unicode"/>
                <a:cs typeface="Lucida Sans Unicode"/>
              </a:rPr>
              <a:t> </a:t>
            </a:r>
            <a:r>
              <a:rPr sz="1700" i="1" spc="-35" dirty="0">
                <a:latin typeface="Arial"/>
                <a:cs typeface="Arial"/>
              </a:rPr>
              <a:t>orden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204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95" dirty="0">
                <a:latin typeface="Arial"/>
                <a:cs typeface="Arial"/>
              </a:rPr>
              <a:t> </a:t>
            </a:r>
            <a:r>
              <a:rPr sz="1700" i="1" spc="70" dirty="0">
                <a:latin typeface="Arial"/>
                <a:cs typeface="Arial"/>
              </a:rPr>
              <a:t>v</a:t>
            </a:r>
            <a:r>
              <a:rPr sz="1700" i="1" spc="75" dirty="0">
                <a:latin typeface="Arial"/>
                <a:cs typeface="Arial"/>
              </a:rPr>
              <a:t>eto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	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53390">
              <a:lnSpc>
                <a:spcPct val="100000"/>
              </a:lnSpc>
              <a:spcBef>
                <a:spcPts val="675"/>
              </a:spcBef>
              <a:tabLst>
                <a:tab pos="1613535" algn="l"/>
              </a:tabLst>
            </a:pPr>
            <a:r>
              <a:rPr sz="1700" spc="10" dirty="0">
                <a:latin typeface="Arial"/>
                <a:cs typeface="Arial"/>
              </a:rPr>
              <a:t>x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8945">
              <a:lnSpc>
                <a:spcPct val="100000"/>
              </a:lnSpc>
              <a:spcBef>
                <a:spcPts val="675"/>
              </a:spcBef>
              <a:tabLst>
                <a:tab pos="1641475" algn="l"/>
              </a:tabLst>
            </a:pPr>
            <a:r>
              <a:rPr sz="1700" spc="-40" dirty="0">
                <a:latin typeface="Arial"/>
                <a:cs typeface="Arial"/>
              </a:rPr>
              <a:t>Refa</a:t>
            </a:r>
            <a:r>
              <a:rPr sz="1700" spc="95" dirty="0">
                <a:latin typeface="Arial"/>
                <a:cs typeface="Arial"/>
              </a:rPr>
              <a:t>z</a:t>
            </a:r>
            <a:r>
              <a:rPr sz="1700" spc="50" dirty="0">
                <a:latin typeface="Arial"/>
                <a:cs typeface="Arial"/>
              </a:rPr>
              <a:t>(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28471" y="5668340"/>
            <a:ext cx="9842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90691" y="2130196"/>
            <a:ext cx="958850" cy="822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b="1" dirty="0">
                <a:latin typeface="Arial"/>
                <a:cs typeface="Arial"/>
              </a:rPr>
              <a:t>Anális</a:t>
            </a:r>
            <a:r>
              <a:rPr sz="2050" b="1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3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61578" y="2614028"/>
            <a:ext cx="2687320" cy="323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996439" algn="l"/>
              </a:tabLst>
            </a:pP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	</a:t>
            </a:r>
            <a:r>
              <a:rPr sz="2050" spc="5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endParaRPr sz="20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62979" y="2926585"/>
            <a:ext cx="3285490" cy="75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700"/>
              </a:lnSpc>
            </a:pP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spc="2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21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2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 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21295" y="6552624"/>
            <a:ext cx="8527415" cy="737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6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dirty="0">
                <a:latin typeface="Arial"/>
                <a:cs typeface="Arial"/>
              </a:rPr>
              <a:t>Log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propor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onal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7719132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4978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7986"/>
            <a:ext cx="8737600" cy="580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22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208279" lvl="1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, qualque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71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483870" lvl="1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anel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8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71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endado:</a:t>
            </a:r>
            <a:endParaRPr sz="2050">
              <a:latin typeface="Arial"/>
              <a:cs typeface="Arial"/>
            </a:endParaRPr>
          </a:p>
          <a:p>
            <a:pPr marL="852169" marR="469900" lvl="1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ole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endad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5" dirty="0">
                <a:latin typeface="Arial"/>
                <a:cs typeface="Arial"/>
              </a:rPr>
              <a:t>sa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9044401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626610" cy="8743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5" dirty="0">
                <a:latin typeface="Arial"/>
                <a:cs typeface="Arial"/>
              </a:rPr>
              <a:t>Co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pl</a:t>
            </a:r>
            <a:r>
              <a:rPr sz="2050" b="1" spc="-30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xidade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1295" y="4851397"/>
            <a:ext cx="7750175" cy="75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anali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, e</a:t>
            </a:r>
            <a:r>
              <a:rPr sz="2050" spc="5" dirty="0">
                <a:latin typeface="Arial"/>
                <a:cs typeface="Arial"/>
              </a:rPr>
              <a:t>le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e).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801852" y="1902250"/>
          <a:ext cx="3080841" cy="25786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903"/>
                <a:gridCol w="1793938"/>
              </a:tblGrid>
              <a:tr h="429768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ompl</a:t>
                      </a:r>
                      <a:r>
                        <a:rPr sz="1850" spc="-6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idade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rç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2025" spc="127" baseline="28806" dirty="0">
                          <a:latin typeface="PMingLiU"/>
                          <a:cs typeface="PMingLiU"/>
                        </a:rPr>
                        <a:t>2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Sele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2025" spc="127" baseline="28806" dirty="0">
                          <a:latin typeface="PMingLiU"/>
                          <a:cs typeface="PMingLiU"/>
                        </a:rPr>
                        <a:t>2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spc="-1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l</a:t>
                      </a:r>
                      <a:r>
                        <a:rPr sz="1850" spc="-5" dirty="0">
                          <a:latin typeface="Lucida Sans Unicode"/>
                          <a:cs typeface="Lucida Sans Unicod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g</a:t>
                      </a:r>
                      <a:r>
                        <a:rPr sz="1850" spc="-24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850" spc="-4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spc="-1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l</a:t>
                      </a:r>
                      <a:r>
                        <a:rPr sz="1850" spc="-5" dirty="0">
                          <a:latin typeface="Lucida Sans Unicode"/>
                          <a:cs typeface="Lucida Sans Unicod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g</a:t>
                      </a:r>
                      <a:r>
                        <a:rPr sz="1850" spc="-24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eap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spc="-1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l</a:t>
                      </a:r>
                      <a:r>
                        <a:rPr sz="1850" spc="-5" dirty="0">
                          <a:latin typeface="Lucida Sans Unicode"/>
                          <a:cs typeface="Lucida Sans Unicod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g</a:t>
                      </a:r>
                      <a:r>
                        <a:rPr sz="1850" spc="-24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4050044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110220" cy="2369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-120" dirty="0">
                <a:latin typeface="Arial"/>
                <a:cs typeface="Arial"/>
              </a:rPr>
              <a:t>T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spc="-30" dirty="0">
                <a:latin typeface="Arial"/>
                <a:cs typeface="Arial"/>
              </a:rPr>
              <a:t>e</a:t>
            </a:r>
            <a:r>
              <a:rPr sz="2050" b="1" spc="-20" dirty="0">
                <a:latin typeface="Arial"/>
                <a:cs typeface="Arial"/>
              </a:rPr>
              <a:t>x</a:t>
            </a:r>
            <a:r>
              <a:rPr sz="2050" b="1" dirty="0">
                <a:latin typeface="Arial"/>
                <a:cs typeface="Arial"/>
              </a:rPr>
              <a:t>ecução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5" dirty="0">
                <a:latin typeface="Arial"/>
                <a:cs typeface="Arial"/>
              </a:rPr>
              <a:t>u 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 e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el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alea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ia: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892151" y="3426440"/>
          <a:ext cx="4900382" cy="25787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891"/>
                <a:gridCol w="737019"/>
                <a:gridCol w="870038"/>
                <a:gridCol w="1003211"/>
                <a:gridCol w="1003223"/>
              </a:tblGrid>
              <a:tr h="429780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rç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87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161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Sele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16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124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228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869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850" spc="-4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eap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3355567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626610" cy="1068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e: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892151" y="2125821"/>
          <a:ext cx="4900382" cy="25787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891"/>
                <a:gridCol w="737019"/>
                <a:gridCol w="870038"/>
                <a:gridCol w="1003211"/>
                <a:gridCol w="1003223"/>
              </a:tblGrid>
              <a:tr h="429780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rç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Sele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128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524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9865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066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9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8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869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850" spc="-4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eap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24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0619673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626610" cy="1442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-120" dirty="0">
                <a:latin typeface="Arial"/>
                <a:cs typeface="Arial"/>
              </a:rPr>
              <a:t>T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spc="-30" dirty="0">
                <a:latin typeface="Arial"/>
                <a:cs typeface="Arial"/>
              </a:rPr>
              <a:t>e</a:t>
            </a:r>
            <a:r>
              <a:rPr sz="2050" b="1" spc="-20" dirty="0">
                <a:latin typeface="Arial"/>
                <a:cs typeface="Arial"/>
              </a:rPr>
              <a:t>x</a:t>
            </a:r>
            <a:r>
              <a:rPr sz="2050" b="1" dirty="0">
                <a:latin typeface="Arial"/>
                <a:cs typeface="Arial"/>
              </a:rPr>
              <a:t>ecução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e: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892151" y="2499925"/>
          <a:ext cx="4900382" cy="25787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891"/>
                <a:gridCol w="737019"/>
                <a:gridCol w="870038"/>
                <a:gridCol w="1003211"/>
                <a:gridCol w="1003223"/>
              </a:tblGrid>
              <a:tr h="429780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rç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40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305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575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Sele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29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221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417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850" spc="-4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895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eap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9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7303669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1168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8468" y="829411"/>
            <a:ext cx="8737600" cy="6370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724265" algn="l"/>
              </a:tabLst>
            </a:pPr>
            <a:r>
              <a:rPr sz="2450" b="1" u="heavy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850" b="1" spc="20" dirty="0">
                <a:latin typeface="Arial"/>
                <a:cs typeface="Arial"/>
              </a:rPr>
              <a:t>Obse</a:t>
            </a:r>
            <a:r>
              <a:rPr sz="1850" b="1" spc="25" dirty="0">
                <a:latin typeface="Arial"/>
                <a:cs typeface="Arial"/>
              </a:rPr>
              <a:t>r</a:t>
            </a:r>
            <a:r>
              <a:rPr sz="1850" b="1" spc="-25" dirty="0">
                <a:latin typeface="Arial"/>
                <a:cs typeface="Arial"/>
              </a:rPr>
              <a:t>v</a:t>
            </a:r>
            <a:r>
              <a:rPr sz="1850" b="1" spc="15" dirty="0">
                <a:latin typeface="Arial"/>
                <a:cs typeface="Arial"/>
              </a:rPr>
              <a:t>ações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15" dirty="0">
                <a:latin typeface="Arial"/>
                <a:cs typeface="Arial"/>
              </a:rPr>
              <a:t>sobre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20" dirty="0">
                <a:latin typeface="Arial"/>
                <a:cs typeface="Arial"/>
              </a:rPr>
              <a:t>os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25" dirty="0">
                <a:latin typeface="Arial"/>
                <a:cs typeface="Arial"/>
              </a:rPr>
              <a:t>mé</a:t>
            </a: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spc="15" dirty="0">
                <a:latin typeface="Arial"/>
                <a:cs typeface="Arial"/>
              </a:rPr>
              <a:t>odos: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êm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20" dirty="0">
                <a:latin typeface="Arial"/>
                <a:cs typeface="Arial"/>
              </a:rPr>
              <a:t>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5" dirty="0">
                <a:latin typeface="Arial"/>
                <a:cs typeface="Arial"/>
              </a:rPr>
              <a:t>g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ande</a:t>
            </a:r>
            <a:r>
              <a:rPr sz="1850" spc="10" dirty="0">
                <a:latin typeface="Arial"/>
                <a:cs typeface="Arial"/>
              </a:rPr>
              <a:t>za.</a:t>
            </a:r>
            <a:endParaRPr sz="1850">
              <a:latin typeface="Arial"/>
              <a:cs typeface="Arial"/>
            </a:endParaRPr>
          </a:p>
          <a:p>
            <a:pPr marL="484505" marR="1532255" indent="-330835">
              <a:lnSpc>
                <a:spcPct val="120900"/>
              </a:lnSpc>
              <a:spcBef>
                <a:spcPts val="1025"/>
              </a:spcBef>
              <a:buAutoNum type="arabicPeriod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alea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ó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pe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ela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t/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ela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t/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20" dirty="0">
                <a:latin typeface="Arial"/>
                <a:cs typeface="Arial"/>
              </a:rPr>
              <a:t>aumen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núme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aumen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a.</a:t>
            </a:r>
            <a:endParaRPr sz="1850">
              <a:latin typeface="Arial"/>
              <a:cs typeface="Arial"/>
            </a:endParaRPr>
          </a:p>
          <a:p>
            <a:pPr marL="484505" marR="428625" indent="-330835">
              <a:lnSpc>
                <a:spcPct val="120900"/>
              </a:lnSpc>
              <a:spcBef>
                <a:spcPts val="1025"/>
              </a:spcBef>
              <a:buAutoNum type="arabicPeriod"/>
              <a:tabLst>
                <a:tab pos="485140" algn="l"/>
              </a:tabLst>
            </a:pPr>
            <a:r>
              <a:rPr sz="1850" spc="-60" dirty="0">
                <a:latin typeface="Arial"/>
                <a:cs typeface="Arial"/>
              </a:rPr>
              <a:t>P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pequenos</a:t>
            </a:r>
            <a:r>
              <a:rPr sz="1850" spc="5" dirty="0">
                <a:latin typeface="Arial"/>
                <a:cs typeface="Arial"/>
              </a:rPr>
              <a:t> (</a:t>
            </a:r>
            <a:r>
              <a:rPr sz="1850" spc="15" dirty="0">
                <a:latin typeface="Arial"/>
                <a:cs typeface="Arial"/>
              </a:rPr>
              <a:t>500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),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Se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aumen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a,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5" dirty="0">
                <a:latin typeface="Arial"/>
                <a:cs typeface="Arial"/>
              </a:rPr>
              <a:t>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116205" indent="-330835">
              <a:lnSpc>
                <a:spcPct val="120900"/>
              </a:lnSpc>
              <a:spcBef>
                <a:spcPts val="1025"/>
              </a:spcBef>
              <a:buAutoNum type="arabicPeriod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5" dirty="0">
                <a:latin typeface="Arial"/>
                <a:cs typeface="Arial"/>
              </a:rPr>
              <a:t>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len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qualquer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10" dirty="0">
                <a:latin typeface="Arial"/>
                <a:cs typeface="Arial"/>
              </a:rPr>
              <a:t> 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753745" indent="-330835">
              <a:lnSpc>
                <a:spcPct val="120900"/>
              </a:lnSpc>
              <a:spcBef>
                <a:spcPts val="1019"/>
              </a:spcBef>
              <a:buAutoNum type="arabicPeriod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algo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30" dirty="0">
                <a:latin typeface="Palatino Linotype"/>
                <a:cs typeface="Palatino Linotype"/>
              </a:rPr>
              <a:t>O</a:t>
            </a:r>
            <a:r>
              <a:rPr sz="1850" spc="130" dirty="0">
                <a:latin typeface="Lucida Sans Unicode"/>
                <a:cs typeface="Lucida Sans Unicode"/>
              </a:rPr>
              <a:t>(</a:t>
            </a:r>
            <a:r>
              <a:rPr sz="1850" spc="50" dirty="0">
                <a:latin typeface="Palatino Linotype"/>
                <a:cs typeface="Palatino Linotype"/>
              </a:rPr>
              <a:t>n</a:t>
            </a:r>
            <a:r>
              <a:rPr sz="2025" spc="262" baseline="28806" dirty="0">
                <a:latin typeface="PMingLiU"/>
                <a:cs typeface="PMingLiU"/>
              </a:rPr>
              <a:t>2</a:t>
            </a:r>
            <a:r>
              <a:rPr sz="1850" spc="130" dirty="0">
                <a:latin typeface="Lucida Sans Unicode"/>
                <a:cs typeface="Lucida Sans Unicode"/>
              </a:rPr>
              <a:t>)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5" dirty="0">
                <a:latin typeface="Arial"/>
                <a:cs typeface="Arial"/>
              </a:rPr>
              <a:t>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melhor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alea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ó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pe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43681889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5132705" cy="842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b="1" dirty="0">
                <a:latin typeface="Arial"/>
                <a:cs typeface="Arial"/>
              </a:rPr>
              <a:t>In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dirty="0">
                <a:latin typeface="Arial"/>
                <a:cs typeface="Arial"/>
              </a:rPr>
              <a:t>luênci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de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spc="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inicial</a:t>
            </a:r>
            <a:r>
              <a:rPr sz="2050" b="1" spc="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do</a:t>
            </a:r>
            <a:r>
              <a:rPr sz="2050" b="1" spc="5" dirty="0">
                <a:latin typeface="Arial"/>
                <a:cs typeface="Arial"/>
              </a:rPr>
              <a:t>s r</a:t>
            </a:r>
            <a:r>
              <a:rPr sz="2050" b="1" dirty="0">
                <a:latin typeface="Arial"/>
                <a:cs typeface="Arial"/>
              </a:rPr>
              <a:t>egist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os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2829" y="3596515"/>
            <a:ext cx="8453755" cy="3448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0" marR="233679" indent="-330200">
              <a:lnSpc>
                <a:spcPct val="120900"/>
              </a:lnSpc>
              <a:buAutoNum type="arabicPeriod"/>
              <a:tabLst>
                <a:tab pos="343535" algn="l"/>
              </a:tabLst>
            </a:pP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ba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à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 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  <a:p>
            <a:pPr marL="342900" marR="593725" indent="-330200">
              <a:lnSpc>
                <a:spcPct val="120900"/>
              </a:lnSpc>
              <a:spcBef>
                <a:spcPts val="40"/>
              </a:spcBef>
              <a:buAutoNum type="arabicPeriod"/>
              <a:tabLst>
                <a:tab pos="343535" algn="l"/>
              </a:tabLst>
            </a:pPr>
            <a:r>
              <a:rPr sz="1850" spc="25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20" dirty="0">
                <a:latin typeface="Arial"/>
                <a:cs typeface="Arial"/>
              </a:rPr>
              <a:t>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-45" dirty="0">
                <a:latin typeface="Arial"/>
                <a:cs typeface="Arial"/>
              </a:rPr>
              <a:t>ex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342900" indent="-3302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343535" algn="l"/>
              </a:tabLst>
            </a:pP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s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à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  <a:p>
            <a:pPr marL="342900" marR="518795" indent="-330200">
              <a:lnSpc>
                <a:spcPct val="120900"/>
              </a:lnSpc>
              <a:spcBef>
                <a:spcPts val="40"/>
              </a:spcBef>
              <a:buAutoNum type="arabicPeriod"/>
              <a:tabLst>
                <a:tab pos="343535" algn="l"/>
              </a:tabLst>
            </a:pPr>
            <a:r>
              <a:rPr sz="1850" spc="25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20" dirty="0">
                <a:latin typeface="Arial"/>
                <a:cs typeface="Arial"/>
              </a:rPr>
              <a:t>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-45" dirty="0">
                <a:latin typeface="Arial"/>
                <a:cs typeface="Arial"/>
              </a:rPr>
              <a:t>ex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342900" marR="5080" indent="-330200">
              <a:lnSpc>
                <a:spcPct val="120900"/>
              </a:lnSpc>
              <a:spcBef>
                <a:spcPts val="40"/>
              </a:spcBef>
              <a:buAutoNum type="arabicPeriod"/>
              <a:tabLst>
                <a:tab pos="343535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qualquer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10" dirty="0">
                <a:latin typeface="Arial"/>
                <a:cs typeface="Arial"/>
              </a:rPr>
              <a:t> asc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342900" indent="-3302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343535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amen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s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à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579175" y="1809095"/>
          <a:ext cx="7544139" cy="1523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2142"/>
                <a:gridCol w="708774"/>
                <a:gridCol w="805916"/>
                <a:gridCol w="805929"/>
                <a:gridCol w="708774"/>
                <a:gridCol w="805929"/>
                <a:gridCol w="806043"/>
                <a:gridCol w="708660"/>
                <a:gridCol w="806043"/>
                <a:gridCol w="805929"/>
              </a:tblGrid>
              <a:tr h="302780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350" spc="5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350" spc="-3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350" spc="5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Heap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350" spc="5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02895">
                <a:tc>
                  <a:txBody>
                    <a:bodyPr/>
                    <a:lstStyle/>
                    <a:p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2780"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c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Des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Ale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973314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94420" cy="5311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étod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 Inse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ção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2</a:t>
            </a:r>
            <a:r>
              <a:rPr sz="2050" spc="5" dirty="0">
                <a:latin typeface="Arial"/>
                <a:cs typeface="Arial"/>
              </a:rPr>
              <a:t>0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484505" marR="146748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bo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h</a:t>
            </a:r>
            <a:r>
              <a:rPr sz="2050" b="1" spc="5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 (</a:t>
            </a:r>
            <a:r>
              <a:rPr sz="2050" b="1" spc="5" dirty="0">
                <a:latin typeface="Arial"/>
                <a:cs typeface="Arial"/>
              </a:rPr>
              <a:t>B</a:t>
            </a:r>
            <a:r>
              <a:rPr sz="2050" b="1" dirty="0">
                <a:latin typeface="Arial"/>
                <a:cs typeface="Arial"/>
              </a:rPr>
              <a:t>ub</a:t>
            </a:r>
            <a:r>
              <a:rPr sz="2050" b="1" spc="-20" dirty="0">
                <a:latin typeface="Arial"/>
                <a:cs typeface="Arial"/>
              </a:rPr>
              <a:t>b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eso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)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484505" marR="69151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b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já</a:t>
            </a:r>
            <a:r>
              <a:rPr sz="2050" dirty="0">
                <a:latin typeface="Arial"/>
                <a:cs typeface="Arial"/>
              </a:rPr>
              <a:t> ordenado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4262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algun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já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9567494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16010" cy="272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étod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10" dirty="0">
                <a:latin typeface="Arial"/>
                <a:cs typeface="Arial"/>
              </a:rPr>
              <a:t>S</a:t>
            </a:r>
            <a:r>
              <a:rPr sz="2050" b="1" dirty="0">
                <a:latin typeface="Arial"/>
                <a:cs typeface="Arial"/>
              </a:rPr>
              <a:t>eleção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ajo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qu</a:t>
            </a:r>
            <a:r>
              <a:rPr sz="2050" spc="5" dirty="0">
                <a:latin typeface="Arial"/>
                <a:cs typeface="Arial"/>
              </a:rPr>
              <a:t>e é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1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00</a:t>
            </a:r>
            <a:r>
              <a:rPr sz="2050" spc="5" dirty="0">
                <a:latin typeface="Arial"/>
                <a:cs typeface="Arial"/>
              </a:rPr>
              <a:t>0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2532865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524240" cy="458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10" dirty="0">
                <a:latin typeface="Arial"/>
                <a:cs typeface="Arial"/>
              </a:rPr>
              <a:t>S</a:t>
            </a:r>
            <a:r>
              <a:rPr sz="2050" b="1" dirty="0">
                <a:latin typeface="Arial"/>
                <a:cs typeface="Arial"/>
              </a:rPr>
              <a:t>hellso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40322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9306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len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pequen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34719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im e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abalh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57408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7600" cy="6163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b="1" spc="10" dirty="0">
                <a:latin typeface="Arial"/>
                <a:cs typeface="Arial"/>
              </a:rPr>
              <a:t>Q</a:t>
            </a:r>
            <a:r>
              <a:rPr sz="2050" b="1" dirty="0">
                <a:latin typeface="Arial"/>
                <a:cs typeface="Arial"/>
              </a:rPr>
              <a:t>ui</a:t>
            </a:r>
            <a:r>
              <a:rPr sz="2050" b="1" spc="-40" dirty="0">
                <a:latin typeface="Arial"/>
                <a:cs typeface="Arial"/>
              </a:rPr>
              <a:t>c</a:t>
            </a:r>
            <a:r>
              <a:rPr sz="2050" b="1" dirty="0">
                <a:latin typeface="Arial"/>
                <a:cs typeface="Arial"/>
              </a:rPr>
              <a:t>kso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107314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iedad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0645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rágil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err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di</a:t>
            </a:r>
            <a:r>
              <a:rPr sz="2050" spc="-5" dirty="0">
                <a:latin typeface="Arial"/>
                <a:cs typeface="Arial"/>
              </a:rPr>
              <a:t>fí</a:t>
            </a:r>
            <a:r>
              <a:rPr sz="2050" spc="5" dirty="0">
                <a:latin typeface="Arial"/>
                <a:cs typeface="Arial"/>
              </a:rPr>
              <a:t>cil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6383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pequen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onal.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penh</a:t>
            </a:r>
            <a:r>
              <a:rPr sz="2050" spc="5" dirty="0">
                <a:latin typeface="Arial"/>
                <a:cs typeface="Arial"/>
              </a:rPr>
              <a:t>o é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uidad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é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5" dirty="0">
                <a:latin typeface="Arial"/>
                <a:cs typeface="Arial"/>
              </a:rPr>
              <a:t>iv</a:t>
            </a:r>
            <a:r>
              <a:rPr sz="2050" dirty="0">
                <a:latin typeface="Arial"/>
                <a:cs typeface="Arial"/>
              </a:rPr>
              <a:t>ô.</a:t>
            </a:r>
            <a:endParaRPr sz="2050">
              <a:latin typeface="Arial"/>
              <a:cs typeface="Arial"/>
            </a:endParaRPr>
          </a:p>
          <a:p>
            <a:pPr marL="484505" marR="31305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5" dirty="0">
                <a:latin typeface="Arial"/>
                <a:cs typeface="Arial"/>
              </a:rPr>
              <a:t>jo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penh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par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spc="-5" dirty="0">
                <a:latin typeface="Arial"/>
                <a:cs typeface="Arial"/>
              </a:rPr>
              <a:t> 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probabilidad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alea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5179689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7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28710" cy="5132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10" dirty="0">
                <a:latin typeface="Arial"/>
                <a:cs typeface="Arial"/>
              </a:rPr>
              <a:t>Q</a:t>
            </a:r>
            <a:r>
              <a:rPr sz="2050" b="1" dirty="0">
                <a:latin typeface="Arial"/>
                <a:cs typeface="Arial"/>
              </a:rPr>
              <a:t>ui</a:t>
            </a:r>
            <a:r>
              <a:rPr sz="2050" b="1" spc="-40" dirty="0">
                <a:latin typeface="Arial"/>
                <a:cs typeface="Arial"/>
              </a:rPr>
              <a:t>c</a:t>
            </a:r>
            <a:r>
              <a:rPr sz="2050" b="1" dirty="0">
                <a:latin typeface="Arial"/>
                <a:cs typeface="Arial"/>
              </a:rPr>
              <a:t>kso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G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edian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rê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ligei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9654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penh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pequeno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ubarqui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683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pequeno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238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penh</a:t>
            </a:r>
            <a:r>
              <a:rPr sz="2050" spc="5" dirty="0">
                <a:latin typeface="Arial"/>
                <a:cs typeface="Arial"/>
              </a:rPr>
              <a:t>o é si</a:t>
            </a:r>
            <a:r>
              <a:rPr sz="2050" dirty="0">
                <a:latin typeface="Arial"/>
                <a:cs typeface="Arial"/>
              </a:rPr>
              <a:t>gnifica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a, podend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hega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20</a:t>
            </a:r>
            <a:r>
              <a:rPr sz="2050" spc="10" dirty="0">
                <a:latin typeface="Arial"/>
                <a:cs typeface="Arial"/>
              </a:rPr>
              <a:t>%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edg</a:t>
            </a:r>
            <a:r>
              <a:rPr sz="2050" spc="-4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w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k, </a:t>
            </a:r>
            <a:r>
              <a:rPr sz="2050" dirty="0">
                <a:latin typeface="Arial"/>
                <a:cs typeface="Arial"/>
              </a:rPr>
              <a:t>1988).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844318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7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1885" cy="3832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dirty="0">
                <a:latin typeface="Arial"/>
                <a:cs typeface="Arial"/>
              </a:rPr>
              <a:t>Heapso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elegan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len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, 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nenhu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onal.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propor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onal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marL="484505" marR="7194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ole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3347268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7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02675" cy="6163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b="1" dirty="0">
                <a:latin typeface="Arial"/>
                <a:cs typeface="Arial"/>
              </a:rPr>
              <a:t>Conside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açõe</a:t>
            </a:r>
            <a:r>
              <a:rPr sz="2050" b="1" spc="5" dirty="0">
                <a:latin typeface="Arial"/>
                <a:cs typeface="Arial"/>
              </a:rPr>
              <a:t>s f</a:t>
            </a:r>
            <a:r>
              <a:rPr sz="2050" b="1" dirty="0">
                <a:latin typeface="Arial"/>
                <a:cs typeface="Arial"/>
              </a:rPr>
              <a:t>inais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11430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5" dirty="0">
                <a:latin typeface="Arial"/>
                <a:cs typeface="Arial"/>
              </a:rPr>
              <a:t>s é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ejá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reali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denaçã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nd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et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eguir </a:t>
            </a:r>
            <a:r>
              <a:rPr sz="2050" spc="5" dirty="0">
                <a:latin typeface="Arial"/>
                <a:cs typeface="Arial"/>
              </a:rPr>
              <a:t>iss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uponh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enh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00"/>
              </a:spcBef>
            </a:pP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-28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5" dirty="0">
                <a:latin typeface="Arial"/>
                <a:cs typeface="Arial"/>
              </a:rPr>
              <a:t>jo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a 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17804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Ao </a:t>
            </a:r>
            <a:r>
              <a:rPr sz="2050" dirty="0">
                <a:latin typeface="Arial"/>
                <a:cs typeface="Arial"/>
              </a:rPr>
              <a:t>final,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egund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ssim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4579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Essa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ég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6213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1081</TotalTime>
  <Words>17146</Words>
  <Application>Microsoft Office PowerPoint</Application>
  <PresentationFormat>Personalizar</PresentationFormat>
  <Paragraphs>3894</Paragraphs>
  <Slides>265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7</vt:i4>
      </vt:variant>
      <vt:variant>
        <vt:lpstr>Títulos de slides</vt:lpstr>
      </vt:variant>
      <vt:variant>
        <vt:i4>265</vt:i4>
      </vt:variant>
    </vt:vector>
  </HeadingPairs>
  <TitlesOfParts>
    <vt:vector size="272" baseType="lpstr">
      <vt:lpstr>Office Theme</vt:lpstr>
      <vt:lpstr>1_Office Theme</vt:lpstr>
      <vt:lpstr>2_Office Theme</vt:lpstr>
      <vt:lpstr>3_Office Theme</vt:lpstr>
      <vt:lpstr>4_Office Theme</vt:lpstr>
      <vt:lpstr>5_Office Theme</vt:lpstr>
      <vt:lpstr>7_Office Theme</vt:lpstr>
      <vt:lpstr>Estruturas de Dados</vt:lpstr>
      <vt:lpstr>Apresentação da Disciplina</vt:lpstr>
      <vt:lpstr>Pré-requisitos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REVISÃO: Tipos de Subrotinas</vt:lpstr>
      <vt:lpstr>Parâmetros de uma subrotina em C 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Exercícios</vt:lpstr>
      <vt:lpstr>Exercícios</vt:lpstr>
      <vt:lpstr>Exercícios</vt:lpstr>
      <vt:lpstr>Exercícios</vt:lpstr>
      <vt:lpstr>Vetores</vt:lpstr>
      <vt:lpstr>Vetores: Declaração</vt:lpstr>
      <vt:lpstr>Vetores: Referência (Manipulação)</vt:lpstr>
      <vt:lpstr>Vetores: Inicialização</vt:lpstr>
      <vt:lpstr>Vetores: Inicialização</vt:lpstr>
      <vt:lpstr>Vetores: Exemplo</vt:lpstr>
      <vt:lpstr>Vetores e Subrotinas</vt:lpstr>
      <vt:lpstr>Exercícios</vt:lpstr>
      <vt:lpstr>Exercícios</vt:lpstr>
      <vt:lpstr>Exercícios</vt:lpstr>
      <vt:lpstr>Declaração de matrizes</vt:lpstr>
      <vt:lpstr>Declaração de matrizes</vt:lpstr>
      <vt:lpstr>Matrizes: inicialização</vt:lpstr>
      <vt:lpstr>Matrizes: inicialização</vt:lpstr>
      <vt:lpstr>Matrizes: exemplos</vt:lpstr>
      <vt:lpstr>Matrizes e subrotinas</vt:lpstr>
      <vt:lpstr>Exercícios</vt:lpstr>
      <vt:lpstr>Exercícios</vt:lpstr>
      <vt:lpstr>Exercícios</vt:lpstr>
      <vt:lpstr>Exercícios</vt:lpstr>
      <vt:lpstr>Estruturas heterogêneas</vt:lpstr>
      <vt:lpstr>Estruturas heterogêneas</vt:lpstr>
      <vt:lpstr>Variáveis compostas</vt:lpstr>
      <vt:lpstr>Definição de estrutura</vt:lpstr>
      <vt:lpstr>Estruturas - Definição</vt:lpstr>
      <vt:lpstr>Estruturas - Declaração</vt:lpstr>
      <vt:lpstr>Estruturas - Declaração</vt:lpstr>
      <vt:lpstr>Comando typedef</vt:lpstr>
      <vt:lpstr>Estruturas - Declaração</vt:lpstr>
      <vt:lpstr>Estruturas - Declaração</vt:lpstr>
      <vt:lpstr>Definição e Declaração</vt:lpstr>
      <vt:lpstr>Estruturas: Manipulação</vt:lpstr>
      <vt:lpstr>Estruturas: Manipulação</vt:lpstr>
      <vt:lpstr>Estruturas: Manipulação</vt:lpstr>
      <vt:lpstr>Exercícios</vt:lpstr>
      <vt:lpstr>Estruturas aninhadas</vt:lpstr>
      <vt:lpstr>Estruturas aninhadas</vt:lpstr>
      <vt:lpstr>Estruturas aninhadas</vt:lpstr>
      <vt:lpstr>Estruturas aninhadas</vt:lpstr>
      <vt:lpstr>Estruturas aninhadas</vt:lpstr>
      <vt:lpstr>Estruturas aninhadas</vt:lpstr>
      <vt:lpstr>Estruturas aninhadas</vt:lpstr>
      <vt:lpstr>Estruturas com vetor</vt:lpstr>
      <vt:lpstr>Exercício</vt:lpstr>
      <vt:lpstr>Atribuição de estruturas</vt:lpstr>
      <vt:lpstr>Exemplo completo</vt:lpstr>
      <vt:lpstr>Exemplo completo</vt:lpstr>
      <vt:lpstr>Exemplo completo</vt:lpstr>
      <vt:lpstr>Exemplo completo</vt:lpstr>
      <vt:lpstr>Exemplo completo</vt:lpstr>
      <vt:lpstr>Exemplo completo</vt:lpstr>
      <vt:lpstr>Exemplo completo</vt:lpstr>
      <vt:lpstr>Estruturas e funções</vt:lpstr>
      <vt:lpstr>Estruturas e funções</vt:lpstr>
      <vt:lpstr>Estruturas e funções</vt:lpstr>
      <vt:lpstr>Vetores de estruturas</vt:lpstr>
      <vt:lpstr>Vetores de estruturas</vt:lpstr>
      <vt:lpstr>Vetores de estruturas</vt:lpstr>
      <vt:lpstr>Vetores de estruturas</vt:lpstr>
      <vt:lpstr>Vetores de estruturas</vt:lpstr>
      <vt:lpstr>Vetores de estruturas</vt:lpstr>
      <vt:lpstr>Vetores de estruturas</vt:lpstr>
      <vt:lpstr>Inicialização de estruturas</vt:lpstr>
      <vt:lpstr>Inicialização de estruturas</vt:lpstr>
      <vt:lpstr>Vetores de estruturas</vt:lpstr>
      <vt:lpstr>Vetores de estruturas</vt:lpstr>
      <vt:lpstr>Vetores de estruturas</vt:lpstr>
      <vt:lpstr>Vetores de estruturas</vt:lpstr>
      <vt:lpstr>Leitura de vetor de estruturas</vt:lpstr>
      <vt:lpstr>Leitura de vetor de estruturas</vt:lpstr>
      <vt:lpstr>Leitura de vetor de estruturas</vt:lpstr>
      <vt:lpstr>Leitura de vetor de estruturas</vt:lpstr>
      <vt:lpstr>Leitura de vetor de estruturas</vt:lpstr>
      <vt:lpstr>Leitura de vetor de estruturas</vt:lpstr>
      <vt:lpstr>Impressão de vetor de estruturas</vt:lpstr>
      <vt:lpstr>Programa completo</vt:lpstr>
      <vt:lpstr>Exemplo 2</vt:lpstr>
      <vt:lpstr>Exercícios</vt:lpstr>
      <vt:lpstr>Exercícios</vt:lpstr>
      <vt:lpstr>Exercícios</vt:lpstr>
      <vt:lpstr>Debugger (Depurador)</vt:lpstr>
      <vt:lpstr>Debugger (Depurador)</vt:lpstr>
      <vt:lpstr>Como utilizar?</vt:lpstr>
      <vt:lpstr>Como utilizar?</vt:lpstr>
      <vt:lpstr>Como utilizar?</vt:lpstr>
      <vt:lpstr>Como utilizar?</vt:lpstr>
      <vt:lpstr>Como utilizar?</vt:lpstr>
      <vt:lpstr>Como utilizar?</vt:lpstr>
      <vt:lpstr>Como utilizar?</vt:lpstr>
      <vt:lpstr>Como utilizar?</vt:lpstr>
      <vt:lpstr>Controle da execução</vt:lpstr>
      <vt:lpstr>Controle da execução</vt:lpstr>
      <vt:lpstr>Controle da 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Execução</vt:lpstr>
      <vt:lpstr>Dica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Ordenação∗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transp-cap3.dvi</dc:title>
  <dc:creator>Samuel Basilio</dc:creator>
  <cp:lastModifiedBy>Samuel Basilio</cp:lastModifiedBy>
  <cp:revision>44</cp:revision>
  <dcterms:created xsi:type="dcterms:W3CDTF">2015-06-18T03:37:37Z</dcterms:created>
  <dcterms:modified xsi:type="dcterms:W3CDTF">2018-02-27T00:21:32Z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2010-09-16T00:00:00Z</vt:filetime>
  </property>
  <property fmtid="{D5CDD505-2E9C-101B-9397-08002B2CF9AE}" pid="3" name="Creator">
    <vt:lpwstr>dvips(k) 5.98 Copyright 2009 Radical Eye Software</vt:lpwstr>
  </property>
  <property fmtid="{D5CDD505-2E9C-101B-9397-08002B2CF9AE}" pid="4" name="LastSaved">
    <vt:filetime>2015-06-18T00:00:00Z</vt:filetime>
  </property>
</Properties>
</file>