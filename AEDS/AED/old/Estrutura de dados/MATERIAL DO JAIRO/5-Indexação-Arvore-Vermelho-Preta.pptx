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94" y="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12110" y="510540"/>
            <a:ext cx="3319779" cy="685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24280" y="-68579"/>
            <a:ext cx="6695439" cy="18434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004" y="1545590"/>
            <a:ext cx="8047990" cy="3481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11/6/2015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76400" y="2529840"/>
            <a:ext cx="5782310" cy="12798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spc="30" dirty="0">
                <a:latin typeface="Trebuchet MS"/>
                <a:cs typeface="Trebuchet MS"/>
              </a:rPr>
              <a:t>Árvore</a:t>
            </a:r>
            <a:r>
              <a:rPr sz="4400" spc="-100" dirty="0">
                <a:latin typeface="Trebuchet MS"/>
                <a:cs typeface="Trebuchet MS"/>
              </a:rPr>
              <a:t> </a:t>
            </a:r>
            <a:r>
              <a:rPr sz="4400" spc="-15" dirty="0">
                <a:latin typeface="Trebuchet MS"/>
                <a:cs typeface="Trebuchet MS"/>
              </a:rPr>
              <a:t>Vermelho-Preta</a:t>
            </a:r>
            <a:endParaRPr sz="4400" dirty="0">
              <a:latin typeface="Trebuchet MS"/>
              <a:cs typeface="Trebuchet MS"/>
            </a:endParaRPr>
          </a:p>
          <a:p>
            <a:pPr marL="668020" marR="655320" indent="-2540" algn="ctr">
              <a:lnSpc>
                <a:spcPts val="4640"/>
              </a:lnSpc>
              <a:spcBef>
                <a:spcPts val="65"/>
              </a:spcBef>
            </a:pPr>
            <a:r>
              <a:rPr sz="3200" spc="10" dirty="0">
                <a:latin typeface="Trebuchet MS"/>
                <a:cs typeface="Trebuchet MS"/>
              </a:rPr>
              <a:t>Estrutura </a:t>
            </a:r>
            <a:r>
              <a:rPr sz="3200" spc="30" dirty="0">
                <a:latin typeface="Trebuchet MS"/>
                <a:cs typeface="Trebuchet MS"/>
              </a:rPr>
              <a:t>de </a:t>
            </a:r>
            <a:r>
              <a:rPr sz="3200" spc="125" dirty="0" smtClean="0">
                <a:latin typeface="Trebuchet MS"/>
                <a:cs typeface="Trebuchet MS"/>
              </a:rPr>
              <a:t>Dados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51254"/>
            <a:ext cx="7814309" cy="4396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34645" indent="-342900">
              <a:lnSpc>
                <a:spcPts val="346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40" dirty="0">
                <a:latin typeface="Trebuchet MS"/>
                <a:cs typeface="Trebuchet MS"/>
              </a:rPr>
              <a:t>As </a:t>
            </a:r>
            <a:r>
              <a:rPr sz="3200" spc="40" dirty="0">
                <a:latin typeface="Trebuchet MS"/>
                <a:cs typeface="Trebuchet MS"/>
              </a:rPr>
              <a:t>árvores </a:t>
            </a:r>
            <a:r>
              <a:rPr sz="3200" spc="-25" dirty="0">
                <a:latin typeface="Trebuchet MS"/>
                <a:cs typeface="Trebuchet MS"/>
              </a:rPr>
              <a:t>Vermelho-preto </a:t>
            </a:r>
            <a:r>
              <a:rPr sz="3200" spc="105" dirty="0">
                <a:latin typeface="Trebuchet MS"/>
                <a:cs typeface="Trebuchet MS"/>
              </a:rPr>
              <a:t>são</a:t>
            </a:r>
            <a:r>
              <a:rPr sz="3200" spc="-455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árvores  </a:t>
            </a:r>
            <a:r>
              <a:rPr sz="3200" spc="25" dirty="0">
                <a:latin typeface="Trebuchet MS"/>
                <a:cs typeface="Trebuchet MS"/>
              </a:rPr>
              <a:t>binárias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210" dirty="0">
                <a:latin typeface="Trebuchet MS"/>
                <a:cs typeface="Trebuchet MS"/>
              </a:rPr>
              <a:t> </a:t>
            </a:r>
            <a:r>
              <a:rPr sz="3200" spc="75" dirty="0">
                <a:latin typeface="Trebuchet MS"/>
                <a:cs typeface="Trebuchet MS"/>
              </a:rPr>
              <a:t>busca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3"/>
              </a:spcBef>
              <a:buFont typeface="Arial"/>
              <a:buChar char="•"/>
            </a:pPr>
            <a:endParaRPr sz="4500">
              <a:latin typeface="Times New Roman"/>
              <a:cs typeface="Times New Roman"/>
            </a:endParaRPr>
          </a:p>
          <a:p>
            <a:pPr marL="355600" marR="25400" indent="-342900">
              <a:lnSpc>
                <a:spcPts val="345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35" dirty="0">
                <a:latin typeface="Trebuchet MS"/>
                <a:cs typeface="Trebuchet MS"/>
              </a:rPr>
              <a:t>Também </a:t>
            </a:r>
            <a:r>
              <a:rPr sz="3200" spc="40" dirty="0">
                <a:latin typeface="Trebuchet MS"/>
                <a:cs typeface="Trebuchet MS"/>
              </a:rPr>
              <a:t>conhecidas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Rubro-negras  </a:t>
            </a:r>
            <a:r>
              <a:rPr sz="3200" spc="55" dirty="0">
                <a:latin typeface="Trebuchet MS"/>
                <a:cs typeface="Trebuchet MS"/>
              </a:rPr>
              <a:t>ou </a:t>
            </a:r>
            <a:r>
              <a:rPr sz="3200" spc="-5" dirty="0">
                <a:latin typeface="Trebuchet MS"/>
                <a:cs typeface="Trebuchet MS"/>
              </a:rPr>
              <a:t>Red-Black</a:t>
            </a:r>
            <a:r>
              <a:rPr sz="3200" spc="-254" dirty="0">
                <a:latin typeface="Trebuchet MS"/>
                <a:cs typeface="Trebuchet MS"/>
              </a:rPr>
              <a:t> </a:t>
            </a:r>
            <a:r>
              <a:rPr sz="3200" spc="-90" dirty="0">
                <a:latin typeface="Trebuchet MS"/>
                <a:cs typeface="Trebuchet MS"/>
              </a:rPr>
              <a:t>Trees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6"/>
              </a:spcBef>
              <a:buFont typeface="Arial"/>
              <a:buChar char="•"/>
            </a:pPr>
            <a:endParaRPr sz="445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9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" dirty="0">
                <a:latin typeface="Trebuchet MS"/>
                <a:cs typeface="Trebuchet MS"/>
              </a:rPr>
              <a:t>Foram </a:t>
            </a:r>
            <a:r>
              <a:rPr sz="3200" spc="45" dirty="0">
                <a:latin typeface="Trebuchet MS"/>
                <a:cs typeface="Trebuchet MS"/>
              </a:rPr>
              <a:t>inventadas </a:t>
            </a:r>
            <a:r>
              <a:rPr sz="3200" spc="5" dirty="0">
                <a:latin typeface="Trebuchet MS"/>
                <a:cs typeface="Trebuchet MS"/>
              </a:rPr>
              <a:t>por </a:t>
            </a:r>
            <a:r>
              <a:rPr sz="3200" spc="65" dirty="0">
                <a:latin typeface="Trebuchet MS"/>
                <a:cs typeface="Trebuchet MS"/>
              </a:rPr>
              <a:t>Bayer </a:t>
            </a:r>
            <a:r>
              <a:rPr sz="3200" spc="90" dirty="0">
                <a:latin typeface="Trebuchet MS"/>
                <a:cs typeface="Trebuchet MS"/>
              </a:rPr>
              <a:t>sob 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-5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nome  </a:t>
            </a:r>
            <a:r>
              <a:rPr sz="3200" spc="-40" dirty="0">
                <a:latin typeface="Trebuchet MS"/>
                <a:cs typeface="Trebuchet MS"/>
              </a:rPr>
              <a:t>“Árvores </a:t>
            </a:r>
            <a:r>
              <a:rPr sz="3200" spc="35" dirty="0">
                <a:latin typeface="Trebuchet MS"/>
                <a:cs typeface="Trebuchet MS"/>
              </a:rPr>
              <a:t>Binárias </a:t>
            </a:r>
            <a:r>
              <a:rPr sz="3200" spc="10" dirty="0">
                <a:latin typeface="Trebuchet MS"/>
                <a:cs typeface="Trebuchet MS"/>
              </a:rPr>
              <a:t>Simétricas” </a:t>
            </a:r>
            <a:r>
              <a:rPr sz="3200" spc="85" dirty="0">
                <a:latin typeface="Trebuchet MS"/>
                <a:cs typeface="Trebuchet MS"/>
              </a:rPr>
              <a:t>em </a:t>
            </a:r>
            <a:r>
              <a:rPr sz="3200" spc="70" dirty="0">
                <a:latin typeface="Trebuchet MS"/>
                <a:cs typeface="Trebuchet MS"/>
              </a:rPr>
              <a:t>1972,  </a:t>
            </a:r>
            <a:r>
              <a:rPr sz="3200" spc="155" dirty="0">
                <a:latin typeface="Trebuchet MS"/>
                <a:cs typeface="Trebuchet MS"/>
              </a:rPr>
              <a:t>10 </a:t>
            </a:r>
            <a:r>
              <a:rPr sz="3200" spc="95" dirty="0">
                <a:latin typeface="Trebuchet MS"/>
                <a:cs typeface="Trebuchet MS"/>
              </a:rPr>
              <a:t>anos </a:t>
            </a:r>
            <a:r>
              <a:rPr sz="3200" spc="40" dirty="0">
                <a:latin typeface="Trebuchet MS"/>
                <a:cs typeface="Trebuchet MS"/>
              </a:rPr>
              <a:t>depois </a:t>
            </a:r>
            <a:r>
              <a:rPr sz="3200" spc="110" dirty="0">
                <a:latin typeface="Trebuchet MS"/>
                <a:cs typeface="Trebuchet MS"/>
              </a:rPr>
              <a:t>das</a:t>
            </a:r>
            <a:r>
              <a:rPr sz="3200" spc="-66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árvores </a:t>
            </a:r>
            <a:r>
              <a:rPr sz="3200" spc="-25" dirty="0">
                <a:latin typeface="Trebuchet MS"/>
                <a:cs typeface="Trebuchet MS"/>
              </a:rPr>
              <a:t>AVL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6377"/>
            <a:ext cx="8002270" cy="44392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75565" indent="-342900">
              <a:lnSpc>
                <a:spcPct val="89900"/>
              </a:lnSpc>
              <a:buFont typeface="Arial"/>
              <a:buChar char="•"/>
              <a:tabLst>
                <a:tab pos="355600" algn="l"/>
              </a:tabLst>
            </a:pPr>
            <a:r>
              <a:rPr sz="3000" spc="130" dirty="0">
                <a:latin typeface="Trebuchet MS"/>
                <a:cs typeface="Trebuchet MS"/>
              </a:rPr>
              <a:t>As </a:t>
            </a:r>
            <a:r>
              <a:rPr sz="3000" spc="35" dirty="0">
                <a:latin typeface="Trebuchet MS"/>
                <a:cs typeface="Trebuchet MS"/>
              </a:rPr>
              <a:t>árvores </a:t>
            </a:r>
            <a:r>
              <a:rPr sz="3000" spc="-10" dirty="0">
                <a:latin typeface="Trebuchet MS"/>
                <a:cs typeface="Trebuchet MS"/>
              </a:rPr>
              <a:t>vermelho-preto </a:t>
            </a:r>
            <a:r>
              <a:rPr sz="3000" spc="95" dirty="0">
                <a:latin typeface="Trebuchet MS"/>
                <a:cs typeface="Trebuchet MS"/>
              </a:rPr>
              <a:t>possuem </a:t>
            </a:r>
            <a:r>
              <a:rPr sz="3000" spc="105" dirty="0">
                <a:latin typeface="Trebuchet MS"/>
                <a:cs typeface="Trebuchet MS"/>
              </a:rPr>
              <a:t>um </a:t>
            </a:r>
            <a:r>
              <a:rPr sz="3000" spc="-65" dirty="0">
                <a:latin typeface="Trebuchet MS"/>
                <a:cs typeface="Trebuchet MS"/>
              </a:rPr>
              <a:t>bit  </a:t>
            </a:r>
            <a:r>
              <a:rPr sz="3000" spc="-15" dirty="0">
                <a:latin typeface="Trebuchet MS"/>
                <a:cs typeface="Trebuchet MS"/>
              </a:rPr>
              <a:t>extra </a:t>
            </a:r>
            <a:r>
              <a:rPr sz="3000" spc="30" dirty="0">
                <a:latin typeface="Trebuchet MS"/>
                <a:cs typeface="Trebuchet MS"/>
              </a:rPr>
              <a:t>para </a:t>
            </a:r>
            <a:r>
              <a:rPr sz="3000" spc="25" dirty="0">
                <a:latin typeface="Trebuchet MS"/>
                <a:cs typeface="Trebuchet MS"/>
              </a:rPr>
              <a:t>armazenar </a:t>
            </a:r>
            <a:r>
              <a:rPr sz="3000" spc="75" dirty="0">
                <a:latin typeface="Trebuchet MS"/>
                <a:cs typeface="Trebuchet MS"/>
              </a:rPr>
              <a:t>a </a:t>
            </a:r>
            <a:r>
              <a:rPr sz="3000" spc="-10" dirty="0">
                <a:latin typeface="Trebuchet MS"/>
                <a:cs typeface="Trebuchet MS"/>
              </a:rPr>
              <a:t>cor </a:t>
            </a:r>
            <a:r>
              <a:rPr sz="3000" spc="30" dirty="0">
                <a:latin typeface="Trebuchet MS"/>
                <a:cs typeface="Trebuchet MS"/>
              </a:rPr>
              <a:t>de </a:t>
            </a:r>
            <a:r>
              <a:rPr sz="3000" spc="45" dirty="0">
                <a:latin typeface="Trebuchet MS"/>
                <a:cs typeface="Trebuchet MS"/>
              </a:rPr>
              <a:t>cada</a:t>
            </a:r>
            <a:r>
              <a:rPr sz="3000" spc="-570" dirty="0">
                <a:latin typeface="Trebuchet MS"/>
                <a:cs typeface="Trebuchet MS"/>
              </a:rPr>
              <a:t> </a:t>
            </a:r>
            <a:r>
              <a:rPr sz="3000" spc="-45" dirty="0">
                <a:latin typeface="Trebuchet MS"/>
                <a:cs typeface="Trebuchet MS"/>
              </a:rPr>
              <a:t>nó, </a:t>
            </a:r>
            <a:r>
              <a:rPr sz="3000" spc="45" dirty="0">
                <a:latin typeface="Trebuchet MS"/>
                <a:cs typeface="Trebuchet MS"/>
              </a:rPr>
              <a:t>que  </a:t>
            </a:r>
            <a:r>
              <a:rPr sz="3000" spc="35" dirty="0">
                <a:latin typeface="Trebuchet MS"/>
                <a:cs typeface="Trebuchet MS"/>
              </a:rPr>
              <a:t>pode </a:t>
            </a:r>
            <a:r>
              <a:rPr sz="3000" spc="40" dirty="0">
                <a:latin typeface="Trebuchet MS"/>
                <a:cs typeface="Trebuchet MS"/>
              </a:rPr>
              <a:t>ser </a:t>
            </a:r>
            <a:r>
              <a:rPr sz="3000" spc="90" dirty="0">
                <a:latin typeface="Trebuchet MS"/>
                <a:cs typeface="Trebuchet MS"/>
              </a:rPr>
              <a:t>VERMELHO </a:t>
            </a:r>
            <a:r>
              <a:rPr sz="3000" spc="55" dirty="0">
                <a:latin typeface="Trebuchet MS"/>
                <a:cs typeface="Trebuchet MS"/>
              </a:rPr>
              <a:t>ou</a:t>
            </a:r>
            <a:r>
              <a:rPr sz="3000" spc="-440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PRETO</a:t>
            </a:r>
            <a:endParaRPr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endParaRPr sz="425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3240"/>
              </a:lnSpc>
              <a:buFont typeface="Arial"/>
              <a:buChar char="•"/>
              <a:tabLst>
                <a:tab pos="355600" algn="l"/>
              </a:tabLst>
            </a:pPr>
            <a:r>
              <a:rPr sz="3000" spc="25" dirty="0">
                <a:latin typeface="Trebuchet MS"/>
                <a:cs typeface="Trebuchet MS"/>
              </a:rPr>
              <a:t>Além </a:t>
            </a:r>
            <a:r>
              <a:rPr sz="3000" spc="-25" dirty="0">
                <a:latin typeface="Trebuchet MS"/>
                <a:cs typeface="Trebuchet MS"/>
              </a:rPr>
              <a:t>deste, </a:t>
            </a:r>
            <a:r>
              <a:rPr sz="3000" spc="45" dirty="0">
                <a:latin typeface="Trebuchet MS"/>
                <a:cs typeface="Trebuchet MS"/>
              </a:rPr>
              <a:t>cada nodo </a:t>
            </a:r>
            <a:r>
              <a:rPr sz="3000" spc="55" dirty="0">
                <a:latin typeface="Trebuchet MS"/>
                <a:cs typeface="Trebuchet MS"/>
              </a:rPr>
              <a:t>será </a:t>
            </a:r>
            <a:r>
              <a:rPr sz="3000" spc="40" dirty="0">
                <a:latin typeface="Trebuchet MS"/>
                <a:cs typeface="Trebuchet MS"/>
              </a:rPr>
              <a:t>composto</a:t>
            </a:r>
            <a:r>
              <a:rPr sz="3000" spc="-495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ainda  pelos </a:t>
            </a:r>
            <a:r>
              <a:rPr sz="3000" spc="55" dirty="0">
                <a:latin typeface="Trebuchet MS"/>
                <a:cs typeface="Trebuchet MS"/>
              </a:rPr>
              <a:t>seguintes</a:t>
            </a:r>
            <a:r>
              <a:rPr sz="3000" spc="-190" dirty="0">
                <a:latin typeface="Trebuchet MS"/>
                <a:cs typeface="Trebuchet MS"/>
              </a:rPr>
              <a:t> </a:t>
            </a:r>
            <a:r>
              <a:rPr sz="3000" spc="35" dirty="0">
                <a:latin typeface="Trebuchet MS"/>
                <a:cs typeface="Trebuchet MS"/>
              </a:rPr>
              <a:t>campos:</a:t>
            </a:r>
            <a:endParaRPr sz="30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290"/>
              </a:spcBef>
              <a:buFont typeface="Arial"/>
              <a:buChar char="–"/>
              <a:tabLst>
                <a:tab pos="755650" algn="l"/>
              </a:tabLst>
            </a:pPr>
            <a:r>
              <a:rPr sz="2600" spc="5" dirty="0">
                <a:latin typeface="Trebuchet MS"/>
                <a:cs typeface="Trebuchet MS"/>
              </a:rPr>
              <a:t>valor </a:t>
            </a:r>
            <a:r>
              <a:rPr sz="2600" spc="50" dirty="0">
                <a:latin typeface="Trebuchet MS"/>
                <a:cs typeface="Trebuchet MS"/>
              </a:rPr>
              <a:t>(os </a:t>
            </a:r>
            <a:r>
              <a:rPr sz="2600" dirty="0">
                <a:latin typeface="Trebuchet MS"/>
                <a:cs typeface="Trebuchet MS"/>
              </a:rPr>
              <a:t>“dados” </a:t>
            </a:r>
            <a:r>
              <a:rPr sz="2600" spc="35" dirty="0">
                <a:latin typeface="Trebuchet MS"/>
                <a:cs typeface="Trebuchet MS"/>
              </a:rPr>
              <a:t>do</a:t>
            </a:r>
            <a:r>
              <a:rPr sz="2600" spc="-28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nodo)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Arial"/>
              <a:buChar char="–"/>
              <a:tabLst>
                <a:tab pos="755650" algn="l"/>
                <a:tab pos="1513840" algn="l"/>
              </a:tabLst>
            </a:pPr>
            <a:r>
              <a:rPr sz="2600" spc="-60" dirty="0">
                <a:latin typeface="Trebuchet MS"/>
                <a:cs typeface="Trebuchet MS"/>
              </a:rPr>
              <a:t>fe	</a:t>
            </a:r>
            <a:r>
              <a:rPr sz="2600" spc="-55" dirty="0">
                <a:latin typeface="Trebuchet MS"/>
                <a:cs typeface="Trebuchet MS"/>
              </a:rPr>
              <a:t>(filho</a:t>
            </a:r>
            <a:r>
              <a:rPr sz="2600" spc="-90" dirty="0">
                <a:latin typeface="Trebuchet MS"/>
                <a:cs typeface="Trebuchet MS"/>
              </a:rPr>
              <a:t> </a:t>
            </a:r>
            <a:r>
              <a:rPr sz="2600" spc="20" dirty="0">
                <a:latin typeface="Trebuchet MS"/>
                <a:cs typeface="Trebuchet MS"/>
              </a:rPr>
              <a:t>esquerdo)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Font typeface="Arial"/>
              <a:buChar char="–"/>
              <a:tabLst>
                <a:tab pos="755650" algn="l"/>
                <a:tab pos="1520190" algn="l"/>
              </a:tabLst>
            </a:pPr>
            <a:r>
              <a:rPr sz="2600" spc="-55" dirty="0">
                <a:latin typeface="Trebuchet MS"/>
                <a:cs typeface="Trebuchet MS"/>
              </a:rPr>
              <a:t>fd	</a:t>
            </a:r>
            <a:r>
              <a:rPr sz="2600" spc="-50" dirty="0">
                <a:latin typeface="Trebuchet MS"/>
                <a:cs typeface="Trebuchet MS"/>
              </a:rPr>
              <a:t>(filho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direito)</a:t>
            </a:r>
            <a:endParaRPr sz="2600">
              <a:latin typeface="Trebuchet MS"/>
              <a:cs typeface="Trebuchet MS"/>
            </a:endParaRPr>
          </a:p>
          <a:p>
            <a:pPr marL="755650" lvl="1" indent="-285750">
              <a:lnSpc>
                <a:spcPct val="100000"/>
              </a:lnSpc>
              <a:spcBef>
                <a:spcPts val="330"/>
              </a:spcBef>
              <a:buFont typeface="Arial"/>
              <a:buChar char="–"/>
              <a:tabLst>
                <a:tab pos="755650" algn="l"/>
              </a:tabLst>
            </a:pPr>
            <a:r>
              <a:rPr sz="2600" dirty="0">
                <a:latin typeface="Trebuchet MS"/>
                <a:cs typeface="Trebuchet MS"/>
              </a:rPr>
              <a:t>pai</a:t>
            </a:r>
            <a:endParaRPr sz="2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57387"/>
            <a:ext cx="7983855" cy="3804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11150" marR="5080" indent="-298450">
              <a:lnSpc>
                <a:spcPct val="100899"/>
              </a:lnSpc>
              <a:buFont typeface="Arial"/>
              <a:buChar char="•"/>
              <a:tabLst>
                <a:tab pos="311150" algn="l"/>
              </a:tabLst>
            </a:pPr>
            <a:r>
              <a:rPr sz="4125" spc="30" baseline="2020" dirty="0">
                <a:latin typeface="Trebuchet MS"/>
                <a:cs typeface="Trebuchet MS"/>
              </a:rPr>
              <a:t>Ela </a:t>
            </a:r>
            <a:r>
              <a:rPr sz="4125" spc="52" baseline="2020" dirty="0">
                <a:latin typeface="Trebuchet MS"/>
                <a:cs typeface="Trebuchet MS"/>
              </a:rPr>
              <a:t>é </a:t>
            </a:r>
            <a:r>
              <a:rPr sz="4125" spc="15" baseline="2020" dirty="0">
                <a:latin typeface="Trebuchet MS"/>
                <a:cs typeface="Trebuchet MS"/>
              </a:rPr>
              <a:t>complexa, </a:t>
            </a:r>
            <a:r>
              <a:rPr sz="4125" spc="209" baseline="2020" dirty="0">
                <a:latin typeface="Trebuchet MS"/>
                <a:cs typeface="Trebuchet MS"/>
              </a:rPr>
              <a:t>mas </a:t>
            </a:r>
            <a:r>
              <a:rPr sz="4125" spc="30" baseline="2020" dirty="0">
                <a:latin typeface="Trebuchet MS"/>
                <a:cs typeface="Trebuchet MS"/>
              </a:rPr>
              <a:t>tem </a:t>
            </a:r>
            <a:r>
              <a:rPr sz="4125" spc="165" baseline="2020" dirty="0">
                <a:latin typeface="Trebuchet MS"/>
                <a:cs typeface="Trebuchet MS"/>
              </a:rPr>
              <a:t>um </a:t>
            </a:r>
            <a:r>
              <a:rPr sz="4125" spc="127" baseline="2020" dirty="0">
                <a:latin typeface="Trebuchet MS"/>
                <a:cs typeface="Trebuchet MS"/>
              </a:rPr>
              <a:t>bom </a:t>
            </a:r>
            <a:r>
              <a:rPr sz="4125" baseline="2020" dirty="0">
                <a:latin typeface="Trebuchet MS"/>
                <a:cs typeface="Trebuchet MS"/>
              </a:rPr>
              <a:t>pior-caso </a:t>
            </a:r>
            <a:r>
              <a:rPr sz="4125" spc="60" baseline="2020" dirty="0">
                <a:latin typeface="Trebuchet MS"/>
                <a:cs typeface="Trebuchet MS"/>
              </a:rPr>
              <a:t>de  </a:t>
            </a:r>
            <a:r>
              <a:rPr sz="2750" spc="35" dirty="0">
                <a:latin typeface="Trebuchet MS"/>
                <a:cs typeface="Trebuchet MS"/>
              </a:rPr>
              <a:t>tempo </a:t>
            </a:r>
            <a:r>
              <a:rPr sz="2750" spc="45" dirty="0">
                <a:latin typeface="Trebuchet MS"/>
                <a:cs typeface="Trebuchet MS"/>
              </a:rPr>
              <a:t>de </a:t>
            </a:r>
            <a:r>
              <a:rPr sz="2750" spc="30" dirty="0">
                <a:latin typeface="Trebuchet MS"/>
                <a:cs typeface="Trebuchet MS"/>
              </a:rPr>
              <a:t>execução </a:t>
            </a:r>
            <a:r>
              <a:rPr sz="2750" spc="50" dirty="0">
                <a:latin typeface="Trebuchet MS"/>
                <a:cs typeface="Trebuchet MS"/>
              </a:rPr>
              <a:t>para </a:t>
            </a:r>
            <a:r>
              <a:rPr sz="2750" spc="135" dirty="0">
                <a:latin typeface="Trebuchet MS"/>
                <a:cs typeface="Trebuchet MS"/>
              </a:rPr>
              <a:t>suas </a:t>
            </a:r>
            <a:r>
              <a:rPr sz="2750" spc="50" dirty="0">
                <a:latin typeface="Trebuchet MS"/>
                <a:cs typeface="Trebuchet MS"/>
              </a:rPr>
              <a:t>operações </a:t>
            </a:r>
            <a:r>
              <a:rPr sz="2750" spc="35" dirty="0">
                <a:latin typeface="Trebuchet MS"/>
                <a:cs typeface="Trebuchet MS"/>
              </a:rPr>
              <a:t>e é  </a:t>
            </a:r>
            <a:r>
              <a:rPr sz="2750" spc="-30" dirty="0">
                <a:latin typeface="Trebuchet MS"/>
                <a:cs typeface="Trebuchet MS"/>
              </a:rPr>
              <a:t>eficiente </a:t>
            </a:r>
            <a:r>
              <a:rPr sz="2750" spc="85" dirty="0">
                <a:latin typeface="Trebuchet MS"/>
                <a:cs typeface="Trebuchet MS"/>
              </a:rPr>
              <a:t>na </a:t>
            </a:r>
            <a:r>
              <a:rPr sz="2750" spc="-25" dirty="0">
                <a:latin typeface="Trebuchet MS"/>
                <a:cs typeface="Trebuchet MS"/>
              </a:rPr>
              <a:t>prática: </a:t>
            </a:r>
            <a:r>
              <a:rPr sz="2750" spc="45" dirty="0">
                <a:latin typeface="Trebuchet MS"/>
                <a:cs typeface="Trebuchet MS"/>
              </a:rPr>
              <a:t>pode-se </a:t>
            </a:r>
            <a:r>
              <a:rPr sz="2750" spc="20" dirty="0">
                <a:latin typeface="Trebuchet MS"/>
                <a:cs typeface="Trebuchet MS"/>
              </a:rPr>
              <a:t>buscar, </a:t>
            </a:r>
            <a:r>
              <a:rPr sz="2750" spc="-25" dirty="0">
                <a:latin typeface="Trebuchet MS"/>
                <a:cs typeface="Trebuchet MS"/>
              </a:rPr>
              <a:t>inserir, </a:t>
            </a:r>
            <a:r>
              <a:rPr sz="2750" spc="35" dirty="0">
                <a:latin typeface="Trebuchet MS"/>
                <a:cs typeface="Trebuchet MS"/>
              </a:rPr>
              <a:t>e  remover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90" dirty="0">
                <a:latin typeface="Trebuchet MS"/>
                <a:cs typeface="Trebuchet MS"/>
              </a:rPr>
              <a:t>em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tempo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spc="40" dirty="0">
                <a:latin typeface="Trebuchet MS"/>
                <a:cs typeface="Trebuchet MS"/>
              </a:rPr>
              <a:t>O(log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-65" dirty="0">
                <a:latin typeface="Trebuchet MS"/>
                <a:cs typeface="Trebuchet MS"/>
              </a:rPr>
              <a:t>n),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onde</a:t>
            </a:r>
            <a:r>
              <a:rPr sz="2750" spc="-50" dirty="0">
                <a:latin typeface="Trebuchet MS"/>
                <a:cs typeface="Trebuchet MS"/>
              </a:rPr>
              <a:t> </a:t>
            </a:r>
            <a:r>
              <a:rPr sz="2750" spc="80" dirty="0">
                <a:latin typeface="Trebuchet MS"/>
                <a:cs typeface="Trebuchet MS"/>
              </a:rPr>
              <a:t>n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é</a:t>
            </a:r>
            <a:r>
              <a:rPr sz="2750" spc="-55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o</a:t>
            </a:r>
            <a:r>
              <a:rPr sz="2750" spc="-40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número  </a:t>
            </a:r>
            <a:r>
              <a:rPr sz="2750" spc="-40" dirty="0">
                <a:latin typeface="Trebuchet MS"/>
                <a:cs typeface="Trebuchet MS"/>
              </a:rPr>
              <a:t>total </a:t>
            </a:r>
            <a:r>
              <a:rPr sz="2750" spc="45" dirty="0">
                <a:latin typeface="Trebuchet MS"/>
                <a:cs typeface="Trebuchet MS"/>
              </a:rPr>
              <a:t>de </a:t>
            </a:r>
            <a:r>
              <a:rPr sz="2750" spc="35" dirty="0">
                <a:latin typeface="Trebuchet MS"/>
                <a:cs typeface="Trebuchet MS"/>
              </a:rPr>
              <a:t>elementos </a:t>
            </a:r>
            <a:r>
              <a:rPr sz="2750" spc="75" dirty="0">
                <a:latin typeface="Trebuchet MS"/>
                <a:cs typeface="Trebuchet MS"/>
              </a:rPr>
              <a:t>da </a:t>
            </a:r>
            <a:r>
              <a:rPr sz="2750" spc="-10" dirty="0">
                <a:latin typeface="Trebuchet MS"/>
                <a:cs typeface="Trebuchet MS"/>
              </a:rPr>
              <a:t>árvore. </a:t>
            </a:r>
            <a:r>
              <a:rPr sz="2750" spc="135" dirty="0">
                <a:latin typeface="Trebuchet MS"/>
                <a:cs typeface="Trebuchet MS"/>
              </a:rPr>
              <a:t>De </a:t>
            </a:r>
            <a:r>
              <a:rPr sz="2750" spc="40" dirty="0">
                <a:latin typeface="Trebuchet MS"/>
                <a:cs typeface="Trebuchet MS"/>
              </a:rPr>
              <a:t>maneira  </a:t>
            </a:r>
            <a:r>
              <a:rPr sz="2750" spc="-10" dirty="0">
                <a:latin typeface="Trebuchet MS"/>
                <a:cs typeface="Trebuchet MS"/>
              </a:rPr>
              <a:t>simplificada, </a:t>
            </a:r>
            <a:r>
              <a:rPr sz="2750" spc="100" dirty="0">
                <a:latin typeface="Trebuchet MS"/>
                <a:cs typeface="Trebuchet MS"/>
              </a:rPr>
              <a:t>uma </a:t>
            </a:r>
            <a:r>
              <a:rPr sz="2750" spc="25" dirty="0">
                <a:latin typeface="Trebuchet MS"/>
                <a:cs typeface="Trebuchet MS"/>
              </a:rPr>
              <a:t>árvore </a:t>
            </a:r>
            <a:r>
              <a:rPr sz="2750" spc="30" dirty="0">
                <a:latin typeface="Trebuchet MS"/>
                <a:cs typeface="Trebuchet MS"/>
              </a:rPr>
              <a:t>rubro-negra </a:t>
            </a:r>
            <a:r>
              <a:rPr sz="2750" spc="35" dirty="0">
                <a:latin typeface="Trebuchet MS"/>
                <a:cs typeface="Trebuchet MS"/>
              </a:rPr>
              <a:t>é </a:t>
            </a:r>
            <a:r>
              <a:rPr sz="2750" spc="100" dirty="0">
                <a:latin typeface="Trebuchet MS"/>
                <a:cs typeface="Trebuchet MS"/>
              </a:rPr>
              <a:t>uma  </a:t>
            </a:r>
            <a:r>
              <a:rPr sz="2750" spc="25" dirty="0">
                <a:latin typeface="Trebuchet MS"/>
                <a:cs typeface="Trebuchet MS"/>
              </a:rPr>
              <a:t>árvore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de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85" dirty="0">
                <a:latin typeface="Trebuchet MS"/>
                <a:cs typeface="Trebuchet MS"/>
              </a:rPr>
              <a:t>busca</a:t>
            </a:r>
            <a:r>
              <a:rPr sz="2750" spc="-35" dirty="0">
                <a:latin typeface="Trebuchet MS"/>
                <a:cs typeface="Trebuchet MS"/>
              </a:rPr>
              <a:t> </a:t>
            </a:r>
            <a:r>
              <a:rPr sz="2750" spc="10" dirty="0">
                <a:latin typeface="Trebuchet MS"/>
                <a:cs typeface="Trebuchet MS"/>
              </a:rPr>
              <a:t>binária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5" dirty="0">
                <a:latin typeface="Trebuchet MS"/>
                <a:cs typeface="Trebuchet MS"/>
              </a:rPr>
              <a:t>que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20" dirty="0">
                <a:latin typeface="Trebuchet MS"/>
                <a:cs typeface="Trebuchet MS"/>
              </a:rPr>
              <a:t>insere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35" dirty="0">
                <a:latin typeface="Trebuchet MS"/>
                <a:cs typeface="Trebuchet MS"/>
              </a:rPr>
              <a:t>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45" dirty="0">
                <a:latin typeface="Trebuchet MS"/>
                <a:cs typeface="Trebuchet MS"/>
              </a:rPr>
              <a:t>remove</a:t>
            </a:r>
            <a:r>
              <a:rPr sz="2750" spc="-45" dirty="0">
                <a:latin typeface="Trebuchet MS"/>
                <a:cs typeface="Trebuchet MS"/>
              </a:rPr>
              <a:t> </a:t>
            </a:r>
            <a:r>
              <a:rPr sz="2750" spc="50" dirty="0">
                <a:latin typeface="Trebuchet MS"/>
                <a:cs typeface="Trebuchet MS"/>
              </a:rPr>
              <a:t>de  </a:t>
            </a:r>
            <a:r>
              <a:rPr sz="2750" spc="10" dirty="0">
                <a:latin typeface="Trebuchet MS"/>
                <a:cs typeface="Trebuchet MS"/>
              </a:rPr>
              <a:t>forma </a:t>
            </a:r>
            <a:r>
              <a:rPr sz="2750" spc="-25" dirty="0">
                <a:latin typeface="Trebuchet MS"/>
                <a:cs typeface="Trebuchet MS"/>
              </a:rPr>
              <a:t>inteligente, </a:t>
            </a:r>
            <a:r>
              <a:rPr sz="2750" spc="45" dirty="0">
                <a:latin typeface="Trebuchet MS"/>
                <a:cs typeface="Trebuchet MS"/>
              </a:rPr>
              <a:t>para </a:t>
            </a:r>
            <a:r>
              <a:rPr sz="2750" spc="85" dirty="0">
                <a:latin typeface="Trebuchet MS"/>
                <a:cs typeface="Trebuchet MS"/>
              </a:rPr>
              <a:t>assegurar </a:t>
            </a:r>
            <a:r>
              <a:rPr sz="2750" spc="55" dirty="0">
                <a:latin typeface="Trebuchet MS"/>
                <a:cs typeface="Trebuchet MS"/>
              </a:rPr>
              <a:t>que </a:t>
            </a:r>
            <a:r>
              <a:rPr sz="2750" spc="85" dirty="0">
                <a:latin typeface="Trebuchet MS"/>
                <a:cs typeface="Trebuchet MS"/>
              </a:rPr>
              <a:t>a </a:t>
            </a:r>
            <a:r>
              <a:rPr sz="2750" spc="25" dirty="0">
                <a:latin typeface="Trebuchet MS"/>
                <a:cs typeface="Trebuchet MS"/>
              </a:rPr>
              <a:t>árvore  </a:t>
            </a:r>
            <a:r>
              <a:rPr sz="2750" spc="50" dirty="0">
                <a:latin typeface="Trebuchet MS"/>
                <a:cs typeface="Trebuchet MS"/>
              </a:rPr>
              <a:t>permaneça </a:t>
            </a:r>
            <a:r>
              <a:rPr sz="2750" spc="40" dirty="0">
                <a:latin typeface="Trebuchet MS"/>
                <a:cs typeface="Trebuchet MS"/>
              </a:rPr>
              <a:t>aproximadamente</a:t>
            </a:r>
            <a:r>
              <a:rPr sz="2750" spc="-210" dirty="0">
                <a:latin typeface="Trebuchet MS"/>
                <a:cs typeface="Trebuchet MS"/>
              </a:rPr>
              <a:t> </a:t>
            </a:r>
            <a:r>
              <a:rPr sz="2750" spc="20" dirty="0">
                <a:latin typeface="Trebuchet MS"/>
                <a:cs typeface="Trebuchet MS"/>
              </a:rPr>
              <a:t>balanceada.</a:t>
            </a:r>
            <a:endParaRPr sz="27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998980">
              <a:lnSpc>
                <a:spcPct val="100000"/>
              </a:lnSpc>
            </a:pPr>
            <a:r>
              <a:rPr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719059" cy="36296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259079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85" dirty="0">
                <a:latin typeface="Trebuchet MS"/>
                <a:cs typeface="Trebuchet MS"/>
              </a:rPr>
              <a:t>Uma </a:t>
            </a:r>
            <a:r>
              <a:rPr sz="3200" spc="10" dirty="0">
                <a:latin typeface="Trebuchet MS"/>
                <a:cs typeface="Trebuchet MS"/>
              </a:rPr>
              <a:t>árvore </a:t>
            </a:r>
            <a:r>
              <a:rPr sz="3200" spc="-30" dirty="0">
                <a:latin typeface="Trebuchet MS"/>
                <a:cs typeface="Trebuchet MS"/>
              </a:rPr>
              <a:t>Vermelho-preto </a:t>
            </a:r>
            <a:r>
              <a:rPr sz="3200" spc="60" dirty="0">
                <a:latin typeface="Trebuchet MS"/>
                <a:cs typeface="Trebuchet MS"/>
              </a:rPr>
              <a:t>com </a:t>
            </a:r>
            <a:r>
              <a:rPr sz="3200" spc="75" dirty="0">
                <a:latin typeface="Trebuchet MS"/>
                <a:cs typeface="Trebuchet MS"/>
              </a:rPr>
              <a:t>n</a:t>
            </a:r>
            <a:r>
              <a:rPr sz="3200" spc="-390" dirty="0">
                <a:latin typeface="Trebuchet MS"/>
                <a:cs typeface="Trebuchet MS"/>
              </a:rPr>
              <a:t> </a:t>
            </a:r>
            <a:r>
              <a:rPr sz="3200" spc="105" dirty="0">
                <a:latin typeface="Trebuchet MS"/>
                <a:cs typeface="Trebuchet MS"/>
              </a:rPr>
              <a:t>nós  </a:t>
            </a:r>
            <a:r>
              <a:rPr sz="3200" spc="5" dirty="0">
                <a:latin typeface="Trebuchet MS"/>
                <a:cs typeface="Trebuchet MS"/>
              </a:rPr>
              <a:t>internos tem </a:t>
            </a:r>
            <a:r>
              <a:rPr sz="3200" spc="-20" dirty="0">
                <a:latin typeface="Trebuchet MS"/>
                <a:cs typeface="Trebuchet MS"/>
              </a:rPr>
              <a:t>altura </a:t>
            </a:r>
            <a:r>
              <a:rPr sz="3200" spc="70" dirty="0">
                <a:latin typeface="Trebuchet MS"/>
                <a:cs typeface="Trebuchet MS"/>
              </a:rPr>
              <a:t>máxima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150" dirty="0">
                <a:latin typeface="Trebuchet MS"/>
                <a:cs typeface="Trebuchet MS"/>
              </a:rPr>
              <a:t>2  </a:t>
            </a:r>
            <a:r>
              <a:rPr sz="3200" spc="120" dirty="0">
                <a:latin typeface="Trebuchet MS"/>
                <a:cs typeface="Trebuchet MS"/>
              </a:rPr>
              <a:t>log(n+1)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65" dirty="0">
                <a:latin typeface="Trebuchet MS"/>
                <a:cs typeface="Trebuchet MS"/>
              </a:rPr>
              <a:t>Por </a:t>
            </a:r>
            <a:r>
              <a:rPr sz="3200" spc="50" dirty="0">
                <a:latin typeface="Trebuchet MS"/>
                <a:cs typeface="Trebuchet MS"/>
              </a:rPr>
              <a:t>serem </a:t>
            </a:r>
            <a:r>
              <a:rPr sz="3200" spc="10" dirty="0">
                <a:latin typeface="Trebuchet MS"/>
                <a:cs typeface="Trebuchet MS"/>
              </a:rPr>
              <a:t>“balanceadas” </a:t>
            </a:r>
            <a:r>
              <a:rPr sz="3200" spc="140" dirty="0">
                <a:latin typeface="Trebuchet MS"/>
                <a:cs typeface="Trebuchet MS"/>
              </a:rPr>
              <a:t>as </a:t>
            </a:r>
            <a:r>
              <a:rPr sz="3200" spc="40" dirty="0">
                <a:latin typeface="Trebuchet MS"/>
                <a:cs typeface="Trebuchet MS"/>
              </a:rPr>
              <a:t>árvores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V-P  </a:t>
            </a:r>
            <a:r>
              <a:rPr sz="3200" spc="105" dirty="0">
                <a:latin typeface="Trebuchet MS"/>
                <a:cs typeface="Trebuchet MS"/>
              </a:rPr>
              <a:t>possuem </a:t>
            </a:r>
            <a:r>
              <a:rPr sz="3200" spc="20" dirty="0">
                <a:latin typeface="Trebuchet MS"/>
                <a:cs typeface="Trebuchet MS"/>
              </a:rPr>
              <a:t>complexidade </a:t>
            </a:r>
            <a:r>
              <a:rPr sz="3200" dirty="0">
                <a:latin typeface="Trebuchet MS"/>
                <a:cs typeface="Trebuchet MS"/>
              </a:rPr>
              <a:t>logarítmica </a:t>
            </a:r>
            <a:r>
              <a:rPr sz="3200" spc="85" dirty="0">
                <a:latin typeface="Trebuchet MS"/>
                <a:cs typeface="Trebuchet MS"/>
              </a:rPr>
              <a:t>em  </a:t>
            </a:r>
            <a:r>
              <a:rPr sz="3200" spc="135" dirty="0">
                <a:latin typeface="Trebuchet MS"/>
                <a:cs typeface="Trebuchet MS"/>
              </a:rPr>
              <a:t>suas </a:t>
            </a:r>
            <a:r>
              <a:rPr sz="3200" spc="15" dirty="0">
                <a:latin typeface="Trebuchet MS"/>
                <a:cs typeface="Trebuchet MS"/>
              </a:rPr>
              <a:t>operações: </a:t>
            </a:r>
            <a:r>
              <a:rPr sz="3200" spc="105" dirty="0">
                <a:latin typeface="Trebuchet MS"/>
                <a:cs typeface="Trebuchet MS"/>
              </a:rPr>
              <a:t>O </a:t>
            </a:r>
            <a:r>
              <a:rPr sz="3200" spc="15" dirty="0">
                <a:latin typeface="Trebuchet MS"/>
                <a:cs typeface="Trebuchet MS"/>
              </a:rPr>
              <a:t>(log</a:t>
            </a:r>
            <a:r>
              <a:rPr sz="3200" spc="-520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n)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980045" cy="4433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2270" indent="-369570">
              <a:lnSpc>
                <a:spcPct val="100000"/>
              </a:lnSpc>
              <a:buAutoNum type="arabicPeriod"/>
              <a:tabLst>
                <a:tab pos="382270" algn="l"/>
              </a:tabLst>
            </a:pPr>
            <a:r>
              <a:rPr sz="2300" spc="-95" dirty="0">
                <a:latin typeface="Trebuchet MS"/>
                <a:cs typeface="Trebuchet MS"/>
              </a:rPr>
              <a:t>Todo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15" dirty="0">
                <a:latin typeface="Trebuchet MS"/>
                <a:cs typeface="Trebuchet MS"/>
              </a:rPr>
              <a:t>é vermelho </a:t>
            </a:r>
            <a:r>
              <a:rPr sz="2300" spc="45" dirty="0">
                <a:latin typeface="Trebuchet MS"/>
                <a:cs typeface="Trebuchet MS"/>
              </a:rPr>
              <a:t>ou</a:t>
            </a:r>
            <a:r>
              <a:rPr sz="2300" spc="-195" dirty="0">
                <a:latin typeface="Trebuchet MS"/>
                <a:cs typeface="Trebuchet MS"/>
              </a:rPr>
              <a:t> </a:t>
            </a:r>
            <a:r>
              <a:rPr sz="2300" spc="-25" dirty="0">
                <a:latin typeface="Trebuchet MS"/>
                <a:cs typeface="Trebuchet MS"/>
              </a:rPr>
              <a:t>preto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</a:tabLst>
            </a:pPr>
            <a:r>
              <a:rPr sz="2300" spc="55" dirty="0">
                <a:latin typeface="Trebuchet MS"/>
                <a:cs typeface="Trebuchet MS"/>
              </a:rPr>
              <a:t>A </a:t>
            </a:r>
            <a:r>
              <a:rPr sz="2300" spc="-25" dirty="0">
                <a:latin typeface="Trebuchet MS"/>
                <a:cs typeface="Trebuchet MS"/>
              </a:rPr>
              <a:t>raiz </a:t>
            </a:r>
            <a:r>
              <a:rPr sz="2300" spc="15" dirty="0">
                <a:latin typeface="Trebuchet MS"/>
                <a:cs typeface="Trebuchet MS"/>
              </a:rPr>
              <a:t>é</a:t>
            </a:r>
            <a:r>
              <a:rPr sz="2300" spc="-200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preta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70"/>
              </a:spcBef>
              <a:buAutoNum type="arabicPeriod"/>
              <a:tabLst>
                <a:tab pos="382270" algn="l"/>
              </a:tabLst>
            </a:pPr>
            <a:r>
              <a:rPr sz="2300" spc="-90" dirty="0">
                <a:latin typeface="Trebuchet MS"/>
                <a:cs typeface="Trebuchet MS"/>
              </a:rPr>
              <a:t>Toda </a:t>
            </a:r>
            <a:r>
              <a:rPr sz="2300" spc="-15" dirty="0">
                <a:latin typeface="Trebuchet MS"/>
                <a:cs typeface="Trebuchet MS"/>
              </a:rPr>
              <a:t>folha </a:t>
            </a:r>
            <a:r>
              <a:rPr sz="2300" spc="-40" dirty="0">
                <a:latin typeface="Trebuchet MS"/>
                <a:cs typeface="Trebuchet MS"/>
              </a:rPr>
              <a:t>(Nil) </a:t>
            </a:r>
            <a:r>
              <a:rPr sz="2300" spc="15" dirty="0">
                <a:latin typeface="Trebuchet MS"/>
                <a:cs typeface="Trebuchet MS"/>
              </a:rPr>
              <a:t>é</a:t>
            </a:r>
            <a:r>
              <a:rPr sz="2300" spc="-75" dirty="0">
                <a:latin typeface="Trebuchet MS"/>
                <a:cs typeface="Trebuchet MS"/>
              </a:rPr>
              <a:t> </a:t>
            </a:r>
            <a:r>
              <a:rPr sz="2300" spc="-20" dirty="0">
                <a:latin typeface="Trebuchet MS"/>
                <a:cs typeface="Trebuchet MS"/>
              </a:rPr>
              <a:t>preta</a:t>
            </a:r>
            <a:endParaRPr sz="2300">
              <a:latin typeface="Trebuchet MS"/>
              <a:cs typeface="Trebuchet MS"/>
            </a:endParaRPr>
          </a:p>
          <a:p>
            <a:pPr marL="38227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  <a:tab pos="6687184" algn="l"/>
              </a:tabLst>
            </a:pPr>
            <a:r>
              <a:rPr sz="2300" spc="110" dirty="0">
                <a:latin typeface="Trebuchet MS"/>
                <a:cs typeface="Trebuchet MS"/>
              </a:rPr>
              <a:t>Se </a:t>
            </a:r>
            <a:r>
              <a:rPr sz="2300" spc="80" dirty="0">
                <a:latin typeface="Trebuchet MS"/>
                <a:cs typeface="Trebuchet MS"/>
              </a:rPr>
              <a:t>um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15" dirty="0">
                <a:latin typeface="Trebuchet MS"/>
                <a:cs typeface="Trebuchet MS"/>
              </a:rPr>
              <a:t>é </a:t>
            </a:r>
            <a:r>
              <a:rPr sz="2300" spc="-10" dirty="0">
                <a:latin typeface="Trebuchet MS"/>
                <a:cs typeface="Trebuchet MS"/>
              </a:rPr>
              <a:t>vermelho, </a:t>
            </a:r>
            <a:r>
              <a:rPr sz="2300" spc="10" dirty="0">
                <a:latin typeface="Trebuchet MS"/>
                <a:cs typeface="Trebuchet MS"/>
              </a:rPr>
              <a:t>então </a:t>
            </a:r>
            <a:r>
              <a:rPr sz="2300" spc="85" dirty="0">
                <a:latin typeface="Trebuchet MS"/>
                <a:cs typeface="Trebuchet MS"/>
              </a:rPr>
              <a:t>os </a:t>
            </a:r>
            <a:r>
              <a:rPr sz="2300" spc="90" dirty="0">
                <a:latin typeface="Trebuchet MS"/>
                <a:cs typeface="Trebuchet MS"/>
              </a:rPr>
              <a:t>seus</a:t>
            </a:r>
            <a:r>
              <a:rPr sz="2300" spc="685" dirty="0">
                <a:latin typeface="Trebuchet MS"/>
                <a:cs typeface="Trebuchet MS"/>
              </a:rPr>
              <a:t> </a:t>
            </a:r>
            <a:r>
              <a:rPr sz="2300" spc="-15" dirty="0">
                <a:latin typeface="Trebuchet MS"/>
                <a:cs typeface="Trebuchet MS"/>
              </a:rPr>
              <a:t>filhos</a:t>
            </a:r>
            <a:r>
              <a:rPr sz="2300" spc="125" dirty="0">
                <a:latin typeface="Trebuchet MS"/>
                <a:cs typeface="Trebuchet MS"/>
              </a:rPr>
              <a:t> </a:t>
            </a:r>
            <a:r>
              <a:rPr sz="2300" spc="75" dirty="0">
                <a:latin typeface="Trebuchet MS"/>
                <a:cs typeface="Trebuchet MS"/>
              </a:rPr>
              <a:t>são	</a:t>
            </a:r>
            <a:r>
              <a:rPr sz="2300" spc="5" dirty="0">
                <a:latin typeface="Trebuchet MS"/>
                <a:cs typeface="Trebuchet MS"/>
              </a:rPr>
              <a:t>pretos</a:t>
            </a:r>
            <a:endParaRPr sz="2300">
              <a:latin typeface="Trebuchet MS"/>
              <a:cs typeface="Trebuchet MS"/>
            </a:endParaRPr>
          </a:p>
          <a:p>
            <a:pPr marL="382270" marR="105410" indent="-36957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382270" algn="l"/>
              </a:tabLst>
            </a:pPr>
            <a:r>
              <a:rPr sz="2300" spc="-20" dirty="0">
                <a:latin typeface="Trebuchet MS"/>
                <a:cs typeface="Trebuchet MS"/>
              </a:rPr>
              <a:t>Para </a:t>
            </a:r>
            <a:r>
              <a:rPr sz="2300" spc="35" dirty="0">
                <a:latin typeface="Trebuchet MS"/>
                <a:cs typeface="Trebuchet MS"/>
              </a:rPr>
              <a:t>cada </a:t>
            </a:r>
            <a:r>
              <a:rPr sz="2300" spc="-30" dirty="0">
                <a:latin typeface="Trebuchet MS"/>
                <a:cs typeface="Trebuchet MS"/>
              </a:rPr>
              <a:t>nó, </a:t>
            </a:r>
            <a:r>
              <a:rPr sz="2300" spc="25" dirty="0">
                <a:latin typeface="Trebuchet MS"/>
                <a:cs typeface="Trebuchet MS"/>
              </a:rPr>
              <a:t>todos </a:t>
            </a:r>
            <a:r>
              <a:rPr sz="2300" spc="85" dirty="0">
                <a:latin typeface="Trebuchet MS"/>
                <a:cs typeface="Trebuchet MS"/>
              </a:rPr>
              <a:t>os </a:t>
            </a:r>
            <a:r>
              <a:rPr sz="2300" spc="45" dirty="0">
                <a:latin typeface="Trebuchet MS"/>
                <a:cs typeface="Trebuchet MS"/>
              </a:rPr>
              <a:t>caminhos </a:t>
            </a:r>
            <a:r>
              <a:rPr sz="2300" spc="30" dirty="0">
                <a:latin typeface="Trebuchet MS"/>
                <a:cs typeface="Trebuchet MS"/>
              </a:rPr>
              <a:t>do </a:t>
            </a:r>
            <a:r>
              <a:rPr sz="2300" spc="45" dirty="0">
                <a:latin typeface="Trebuchet MS"/>
                <a:cs typeface="Trebuchet MS"/>
              </a:rPr>
              <a:t>nó </a:t>
            </a:r>
            <a:r>
              <a:rPr sz="2300" spc="20" dirty="0">
                <a:latin typeface="Trebuchet MS"/>
                <a:cs typeface="Trebuchet MS"/>
              </a:rPr>
              <a:t>para </a:t>
            </a:r>
            <a:r>
              <a:rPr sz="2300" spc="10" dirty="0">
                <a:latin typeface="Trebuchet MS"/>
                <a:cs typeface="Trebuchet MS"/>
              </a:rPr>
              <a:t>folhas  </a:t>
            </a:r>
            <a:r>
              <a:rPr sz="2300" spc="35" dirty="0">
                <a:latin typeface="Trebuchet MS"/>
                <a:cs typeface="Trebuchet MS"/>
              </a:rPr>
              <a:t>descendentes </a:t>
            </a:r>
            <a:r>
              <a:rPr sz="2300" spc="15" dirty="0">
                <a:latin typeface="Trebuchet MS"/>
                <a:cs typeface="Trebuchet MS"/>
              </a:rPr>
              <a:t>contém </a:t>
            </a:r>
            <a:r>
              <a:rPr sz="2300" spc="30" dirty="0">
                <a:latin typeface="Trebuchet MS"/>
                <a:cs typeface="Trebuchet MS"/>
              </a:rPr>
              <a:t>o </a:t>
            </a:r>
            <a:r>
              <a:rPr sz="2300" spc="75" dirty="0">
                <a:latin typeface="Trebuchet MS"/>
                <a:cs typeface="Trebuchet MS"/>
              </a:rPr>
              <a:t>mesmo </a:t>
            </a:r>
            <a:r>
              <a:rPr sz="2300" spc="25" dirty="0">
                <a:latin typeface="Trebuchet MS"/>
                <a:cs typeface="Trebuchet MS"/>
              </a:rPr>
              <a:t>número </a:t>
            </a:r>
            <a:r>
              <a:rPr sz="2300" spc="30" dirty="0">
                <a:latin typeface="Trebuchet MS"/>
                <a:cs typeface="Trebuchet MS"/>
              </a:rPr>
              <a:t>de </a:t>
            </a:r>
            <a:r>
              <a:rPr sz="2300" spc="75" dirty="0">
                <a:latin typeface="Trebuchet MS"/>
                <a:cs typeface="Trebuchet MS"/>
              </a:rPr>
              <a:t>nós</a:t>
            </a:r>
            <a:r>
              <a:rPr sz="2300" spc="-425" dirty="0">
                <a:latin typeface="Trebuchet MS"/>
                <a:cs typeface="Trebuchet MS"/>
              </a:rPr>
              <a:t> </a:t>
            </a:r>
            <a:r>
              <a:rPr sz="2300" spc="20" dirty="0">
                <a:latin typeface="Trebuchet MS"/>
                <a:cs typeface="Trebuchet MS"/>
              </a:rPr>
              <a:t>PRETOS.</a:t>
            </a:r>
            <a:endParaRPr sz="2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7"/>
              </a:spcBef>
            </a:pPr>
            <a:endParaRPr sz="1900">
              <a:latin typeface="Times New Roman"/>
              <a:cs typeface="Times New Roman"/>
            </a:endParaRPr>
          </a:p>
          <a:p>
            <a:pPr marL="381635" marR="5080">
              <a:lnSpc>
                <a:spcPct val="100099"/>
              </a:lnSpc>
            </a:pPr>
            <a:r>
              <a:rPr sz="2300" spc="30" dirty="0">
                <a:latin typeface="Trebuchet MS"/>
                <a:cs typeface="Trebuchet MS"/>
              </a:rPr>
              <a:t>Quanto </a:t>
            </a:r>
            <a:r>
              <a:rPr sz="2300" spc="55" dirty="0">
                <a:latin typeface="Trebuchet MS"/>
                <a:cs typeface="Trebuchet MS"/>
              </a:rPr>
              <a:t>à </a:t>
            </a:r>
            <a:r>
              <a:rPr sz="2300" spc="-50" dirty="0">
                <a:latin typeface="Trebuchet MS"/>
                <a:cs typeface="Trebuchet MS"/>
              </a:rPr>
              <a:t>raiz: </a:t>
            </a:r>
            <a:r>
              <a:rPr sz="2300" spc="55" dirty="0">
                <a:latin typeface="Trebuchet MS"/>
                <a:cs typeface="Trebuchet MS"/>
              </a:rPr>
              <a:t>Ser </a:t>
            </a:r>
            <a:r>
              <a:rPr sz="2300" spc="35" dirty="0">
                <a:latin typeface="Trebuchet MS"/>
                <a:cs typeface="Trebuchet MS"/>
              </a:rPr>
              <a:t>sempre </a:t>
            </a:r>
            <a:r>
              <a:rPr sz="2300" spc="-20" dirty="0">
                <a:latin typeface="Trebuchet MS"/>
                <a:cs typeface="Trebuchet MS"/>
              </a:rPr>
              <a:t>preta </a:t>
            </a:r>
            <a:r>
              <a:rPr sz="2300" spc="15" dirty="0">
                <a:latin typeface="Trebuchet MS"/>
                <a:cs typeface="Trebuchet MS"/>
              </a:rPr>
              <a:t>é </a:t>
            </a:r>
            <a:r>
              <a:rPr sz="2300" spc="70" dirty="0">
                <a:latin typeface="Trebuchet MS"/>
                <a:cs typeface="Trebuchet MS"/>
              </a:rPr>
              <a:t>uma </a:t>
            </a:r>
            <a:r>
              <a:rPr sz="2300" spc="15" dirty="0">
                <a:latin typeface="Trebuchet MS"/>
                <a:cs typeface="Trebuchet MS"/>
              </a:rPr>
              <a:t>regra </a:t>
            </a:r>
            <a:r>
              <a:rPr sz="2300" spc="70" dirty="0">
                <a:latin typeface="Trebuchet MS"/>
                <a:cs typeface="Trebuchet MS"/>
              </a:rPr>
              <a:t>usada </a:t>
            </a:r>
            <a:r>
              <a:rPr sz="2300" spc="60" dirty="0">
                <a:latin typeface="Trebuchet MS"/>
                <a:cs typeface="Trebuchet MS"/>
              </a:rPr>
              <a:t>em  </a:t>
            </a:r>
            <a:r>
              <a:rPr sz="2300" spc="65" dirty="0">
                <a:latin typeface="Trebuchet MS"/>
                <a:cs typeface="Trebuchet MS"/>
              </a:rPr>
              <a:t>algumas </a:t>
            </a:r>
            <a:r>
              <a:rPr sz="2300" spc="-20" dirty="0">
                <a:latin typeface="Trebuchet MS"/>
                <a:cs typeface="Trebuchet MS"/>
              </a:rPr>
              <a:t>definições. </a:t>
            </a:r>
            <a:r>
              <a:rPr sz="2300" spc="55" dirty="0">
                <a:latin typeface="Trebuchet MS"/>
                <a:cs typeface="Trebuchet MS"/>
              </a:rPr>
              <a:t>Como a </a:t>
            </a:r>
            <a:r>
              <a:rPr sz="2300" spc="-20" dirty="0">
                <a:latin typeface="Trebuchet MS"/>
                <a:cs typeface="Trebuchet MS"/>
              </a:rPr>
              <a:t>raiz </a:t>
            </a:r>
            <a:r>
              <a:rPr sz="2300" spc="25" dirty="0">
                <a:latin typeface="Trebuchet MS"/>
                <a:cs typeface="Trebuchet MS"/>
              </a:rPr>
              <a:t>pode </a:t>
            </a:r>
            <a:r>
              <a:rPr sz="2300" spc="35" dirty="0">
                <a:latin typeface="Trebuchet MS"/>
                <a:cs typeface="Trebuchet MS"/>
              </a:rPr>
              <a:t>sempre </a:t>
            </a:r>
            <a:r>
              <a:rPr sz="2300" spc="40" dirty="0">
                <a:latin typeface="Trebuchet MS"/>
                <a:cs typeface="Trebuchet MS"/>
              </a:rPr>
              <a:t>ser  </a:t>
            </a:r>
            <a:r>
              <a:rPr sz="2300" spc="-5" dirty="0">
                <a:latin typeface="Trebuchet MS"/>
                <a:cs typeface="Trebuchet MS"/>
              </a:rPr>
              <a:t>alterada </a:t>
            </a:r>
            <a:r>
              <a:rPr sz="2300" spc="25" dirty="0">
                <a:latin typeface="Trebuchet MS"/>
                <a:cs typeface="Trebuchet MS"/>
              </a:rPr>
              <a:t>de </a:t>
            </a:r>
            <a:r>
              <a:rPr sz="2300" spc="15" dirty="0">
                <a:latin typeface="Trebuchet MS"/>
                <a:cs typeface="Trebuchet MS"/>
              </a:rPr>
              <a:t>vermelho </a:t>
            </a:r>
            <a:r>
              <a:rPr sz="2300" spc="20" dirty="0">
                <a:latin typeface="Trebuchet MS"/>
                <a:cs typeface="Trebuchet MS"/>
              </a:rPr>
              <a:t>para </a:t>
            </a:r>
            <a:r>
              <a:rPr sz="2300" spc="-50" dirty="0">
                <a:latin typeface="Trebuchet MS"/>
                <a:cs typeface="Trebuchet MS"/>
              </a:rPr>
              <a:t>preto, </a:t>
            </a:r>
            <a:r>
              <a:rPr sz="2300" spc="95" dirty="0">
                <a:latin typeface="Trebuchet MS"/>
                <a:cs typeface="Trebuchet MS"/>
              </a:rPr>
              <a:t>mas </a:t>
            </a:r>
            <a:r>
              <a:rPr sz="2300" spc="50" dirty="0">
                <a:latin typeface="Trebuchet MS"/>
                <a:cs typeface="Trebuchet MS"/>
              </a:rPr>
              <a:t>não </a:t>
            </a:r>
            <a:r>
              <a:rPr sz="2300" spc="55" dirty="0">
                <a:latin typeface="Trebuchet MS"/>
                <a:cs typeface="Trebuchet MS"/>
              </a:rPr>
              <a:t>sendo</a:t>
            </a:r>
            <a:r>
              <a:rPr sz="2300" spc="-445" dirty="0">
                <a:latin typeface="Trebuchet MS"/>
                <a:cs typeface="Trebuchet MS"/>
              </a:rPr>
              <a:t> </a:t>
            </a:r>
            <a:r>
              <a:rPr sz="2300" dirty="0">
                <a:latin typeface="Trebuchet MS"/>
                <a:cs typeface="Trebuchet MS"/>
              </a:rPr>
              <a:t>válido </a:t>
            </a:r>
            <a:r>
              <a:rPr sz="2300" spc="30" dirty="0">
                <a:latin typeface="Trebuchet MS"/>
                <a:cs typeface="Trebuchet MS"/>
              </a:rPr>
              <a:t>o  </a:t>
            </a:r>
            <a:r>
              <a:rPr sz="2300" dirty="0">
                <a:latin typeface="Trebuchet MS"/>
                <a:cs typeface="Trebuchet MS"/>
              </a:rPr>
              <a:t>oposto, </a:t>
            </a:r>
            <a:r>
              <a:rPr sz="2300" spc="30" dirty="0">
                <a:latin typeface="Trebuchet MS"/>
                <a:cs typeface="Trebuchet MS"/>
              </a:rPr>
              <a:t>esta </a:t>
            </a:r>
            <a:r>
              <a:rPr sz="2300" spc="15" dirty="0">
                <a:latin typeface="Trebuchet MS"/>
                <a:cs typeface="Trebuchet MS"/>
              </a:rPr>
              <a:t>regra </a:t>
            </a:r>
            <a:r>
              <a:rPr sz="2300" dirty="0">
                <a:latin typeface="Trebuchet MS"/>
                <a:cs typeface="Trebuchet MS"/>
              </a:rPr>
              <a:t>tem </a:t>
            </a:r>
            <a:r>
              <a:rPr sz="2300" spc="30" dirty="0">
                <a:latin typeface="Trebuchet MS"/>
                <a:cs typeface="Trebuchet MS"/>
              </a:rPr>
              <a:t>pouco </a:t>
            </a:r>
            <a:r>
              <a:rPr sz="2300" spc="-45" dirty="0">
                <a:latin typeface="Trebuchet MS"/>
                <a:cs typeface="Trebuchet MS"/>
              </a:rPr>
              <a:t>efeito </a:t>
            </a:r>
            <a:r>
              <a:rPr sz="2300" spc="50" dirty="0">
                <a:latin typeface="Trebuchet MS"/>
                <a:cs typeface="Trebuchet MS"/>
              </a:rPr>
              <a:t>na</a:t>
            </a:r>
            <a:r>
              <a:rPr sz="2300" spc="-235" dirty="0">
                <a:latin typeface="Trebuchet MS"/>
                <a:cs typeface="Trebuchet MS"/>
              </a:rPr>
              <a:t> </a:t>
            </a:r>
            <a:r>
              <a:rPr sz="2300" spc="-10" dirty="0">
                <a:latin typeface="Trebuchet MS"/>
                <a:cs typeface="Trebuchet MS"/>
              </a:rPr>
              <a:t>análise.</a:t>
            </a:r>
            <a:endParaRPr sz="2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899"/>
            <a:ext cx="7936230" cy="4446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34010" marR="155575" indent="-321310">
              <a:lnSpc>
                <a:spcPct val="100600"/>
              </a:lnSpc>
              <a:buFont typeface="Arial"/>
              <a:buChar char="•"/>
              <a:tabLst>
                <a:tab pos="334010" algn="l"/>
              </a:tabLst>
            </a:pPr>
            <a:r>
              <a:rPr sz="2800" spc="90" dirty="0">
                <a:latin typeface="Trebuchet MS"/>
                <a:cs typeface="Trebuchet MS"/>
              </a:rPr>
              <a:t>Um </a:t>
            </a:r>
            <a:r>
              <a:rPr sz="2800" spc="60" dirty="0">
                <a:latin typeface="Trebuchet MS"/>
                <a:cs typeface="Trebuchet MS"/>
              </a:rPr>
              <a:t>nó </a:t>
            </a:r>
            <a:r>
              <a:rPr sz="2800" spc="50" dirty="0">
                <a:latin typeface="Trebuchet MS"/>
                <a:cs typeface="Trebuchet MS"/>
              </a:rPr>
              <a:t>que </a:t>
            </a:r>
            <a:r>
              <a:rPr sz="2800" spc="20" dirty="0">
                <a:latin typeface="Trebuchet MS"/>
                <a:cs typeface="Trebuchet MS"/>
              </a:rPr>
              <a:t>satisfaz </a:t>
            </a:r>
            <a:r>
              <a:rPr sz="2800" spc="114" dirty="0">
                <a:latin typeface="Trebuchet MS"/>
                <a:cs typeface="Trebuchet MS"/>
              </a:rPr>
              <a:t>os </a:t>
            </a:r>
            <a:r>
              <a:rPr sz="2800" spc="15" dirty="0">
                <a:latin typeface="Trebuchet MS"/>
                <a:cs typeface="Trebuchet MS"/>
              </a:rPr>
              <a:t>itens </a:t>
            </a:r>
            <a:r>
              <a:rPr sz="2800" spc="40" dirty="0">
                <a:latin typeface="Trebuchet MS"/>
                <a:cs typeface="Trebuchet MS"/>
              </a:rPr>
              <a:t>acima </a:t>
            </a:r>
            <a:r>
              <a:rPr sz="2800" spc="30" dirty="0">
                <a:latin typeface="Trebuchet MS"/>
                <a:cs typeface="Trebuchet MS"/>
              </a:rPr>
              <a:t>é  </a:t>
            </a:r>
            <a:r>
              <a:rPr sz="2800" spc="45" dirty="0">
                <a:latin typeface="Trebuchet MS"/>
                <a:cs typeface="Trebuchet MS"/>
              </a:rPr>
              <a:t>denominado </a:t>
            </a:r>
            <a:r>
              <a:rPr sz="2800" spc="-20" dirty="0">
                <a:latin typeface="Trebuchet MS"/>
                <a:cs typeface="Trebuchet MS"/>
              </a:rPr>
              <a:t>equilibrado, </a:t>
            </a:r>
            <a:r>
              <a:rPr sz="2800" spc="80" dirty="0">
                <a:latin typeface="Trebuchet MS"/>
                <a:cs typeface="Trebuchet MS"/>
              </a:rPr>
              <a:t>caso </a:t>
            </a:r>
            <a:r>
              <a:rPr sz="2800" spc="-10" dirty="0">
                <a:latin typeface="Trebuchet MS"/>
                <a:cs typeface="Trebuchet MS"/>
              </a:rPr>
              <a:t>contrário </a:t>
            </a:r>
            <a:r>
              <a:rPr sz="2800" spc="30" dirty="0">
                <a:latin typeface="Trebuchet MS"/>
                <a:cs typeface="Trebuchet MS"/>
              </a:rPr>
              <a:t>é</a:t>
            </a:r>
            <a:r>
              <a:rPr sz="2800" spc="-330" dirty="0">
                <a:latin typeface="Trebuchet MS"/>
                <a:cs typeface="Trebuchet MS"/>
              </a:rPr>
              <a:t> </a:t>
            </a:r>
            <a:r>
              <a:rPr sz="2800" spc="-30" dirty="0">
                <a:latin typeface="Trebuchet MS"/>
                <a:cs typeface="Trebuchet MS"/>
              </a:rPr>
              <a:t>dito  </a:t>
            </a:r>
            <a:r>
              <a:rPr sz="2800" spc="-5" dirty="0">
                <a:latin typeface="Trebuchet MS"/>
                <a:cs typeface="Trebuchet MS"/>
              </a:rPr>
              <a:t>desequilibrado.</a:t>
            </a:r>
            <a:endParaRPr sz="2800">
              <a:latin typeface="Trebuchet MS"/>
              <a:cs typeface="Trebuchet MS"/>
            </a:endParaRPr>
          </a:p>
          <a:p>
            <a:pPr marL="711200" marR="628650" indent="-269240">
              <a:lnSpc>
                <a:spcPct val="101400"/>
              </a:lnSpc>
              <a:spcBef>
                <a:spcPts val="610"/>
              </a:spcBef>
            </a:pPr>
            <a:r>
              <a:rPr sz="3600" spc="30" baseline="1157" dirty="0">
                <a:latin typeface="Arial"/>
                <a:cs typeface="Arial"/>
              </a:rPr>
              <a:t>–</a:t>
            </a:r>
            <a:r>
              <a:rPr sz="3600" spc="135" baseline="1157" dirty="0">
                <a:latin typeface="Arial"/>
                <a:cs typeface="Arial"/>
              </a:rPr>
              <a:t> </a:t>
            </a:r>
            <a:r>
              <a:rPr sz="2400" spc="114" dirty="0">
                <a:latin typeface="Trebuchet MS"/>
                <a:cs typeface="Trebuchet MS"/>
              </a:rPr>
              <a:t>Em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uma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25" dirty="0">
                <a:latin typeface="Trebuchet MS"/>
                <a:cs typeface="Trebuchet MS"/>
              </a:rPr>
              <a:t>árvore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30" dirty="0">
                <a:latin typeface="Trebuchet MS"/>
                <a:cs typeface="Trebuchet MS"/>
              </a:rPr>
              <a:t>rubro-negra</a:t>
            </a:r>
            <a:r>
              <a:rPr sz="2400" spc="-40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todos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110" dirty="0">
                <a:latin typeface="Trebuchet MS"/>
                <a:cs typeface="Trebuchet MS"/>
              </a:rPr>
              <a:t>os</a:t>
            </a:r>
            <a:r>
              <a:rPr sz="2400" spc="-35" dirty="0">
                <a:latin typeface="Trebuchet MS"/>
                <a:cs typeface="Trebuchet MS"/>
              </a:rPr>
              <a:t> </a:t>
            </a:r>
            <a:r>
              <a:rPr sz="2400" spc="100" dirty="0">
                <a:latin typeface="Trebuchet MS"/>
                <a:cs typeface="Trebuchet MS"/>
              </a:rPr>
              <a:t>nós</a:t>
            </a:r>
            <a:r>
              <a:rPr sz="2400" spc="-45" dirty="0">
                <a:latin typeface="Trebuchet MS"/>
                <a:cs typeface="Trebuchet MS"/>
              </a:rPr>
              <a:t> </a:t>
            </a:r>
            <a:r>
              <a:rPr sz="2400" spc="45" dirty="0">
                <a:latin typeface="Trebuchet MS"/>
                <a:cs typeface="Trebuchet MS"/>
              </a:rPr>
              <a:t>estão  </a:t>
            </a:r>
            <a:r>
              <a:rPr sz="2400" spc="20" dirty="0">
                <a:latin typeface="Trebuchet MS"/>
                <a:cs typeface="Trebuchet MS"/>
              </a:rPr>
              <a:t>equilibrados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334010" marR="5080" indent="-321310">
              <a:lnSpc>
                <a:spcPct val="100499"/>
              </a:lnSpc>
              <a:spcBef>
                <a:spcPts val="2039"/>
              </a:spcBef>
              <a:buFont typeface="Arial"/>
              <a:buChar char="•"/>
              <a:tabLst>
                <a:tab pos="334010" algn="l"/>
              </a:tabLst>
            </a:pPr>
            <a:r>
              <a:rPr sz="2800" spc="90" dirty="0">
                <a:latin typeface="Trebuchet MS"/>
                <a:cs typeface="Trebuchet MS"/>
              </a:rPr>
              <a:t>Uma </a:t>
            </a:r>
            <a:r>
              <a:rPr sz="2800" spc="25" dirty="0">
                <a:latin typeface="Trebuchet MS"/>
                <a:cs typeface="Trebuchet MS"/>
              </a:rPr>
              <a:t>condição </a:t>
            </a:r>
            <a:r>
              <a:rPr sz="2800" spc="35" dirty="0">
                <a:latin typeface="Trebuchet MS"/>
                <a:cs typeface="Trebuchet MS"/>
              </a:rPr>
              <a:t>óbvia </a:t>
            </a:r>
            <a:r>
              <a:rPr sz="2800" spc="-5" dirty="0">
                <a:latin typeface="Trebuchet MS"/>
                <a:cs typeface="Trebuchet MS"/>
              </a:rPr>
              <a:t>obtida </a:t>
            </a:r>
            <a:r>
              <a:rPr sz="2800" spc="105" dirty="0">
                <a:latin typeface="Trebuchet MS"/>
                <a:cs typeface="Trebuchet MS"/>
              </a:rPr>
              <a:t>das </a:t>
            </a:r>
            <a:r>
              <a:rPr sz="2800" spc="25" dirty="0">
                <a:latin typeface="Trebuchet MS"/>
                <a:cs typeface="Trebuchet MS"/>
              </a:rPr>
              <a:t>propriedades</a:t>
            </a:r>
            <a:r>
              <a:rPr sz="2800" spc="-540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é  </a:t>
            </a:r>
            <a:r>
              <a:rPr sz="2800" spc="50" dirty="0">
                <a:latin typeface="Trebuchet MS"/>
                <a:cs typeface="Trebuchet MS"/>
              </a:rPr>
              <a:t>que </a:t>
            </a:r>
            <a:r>
              <a:rPr sz="2800" spc="95" dirty="0">
                <a:latin typeface="Trebuchet MS"/>
                <a:cs typeface="Trebuchet MS"/>
              </a:rPr>
              <a:t>num </a:t>
            </a:r>
            <a:r>
              <a:rPr sz="2800" spc="45" dirty="0">
                <a:latin typeface="Trebuchet MS"/>
                <a:cs typeface="Trebuchet MS"/>
              </a:rPr>
              <a:t>caminho </a:t>
            </a:r>
            <a:r>
              <a:rPr sz="2800" spc="60" dirty="0">
                <a:latin typeface="Trebuchet MS"/>
                <a:cs typeface="Trebuchet MS"/>
              </a:rPr>
              <a:t>da </a:t>
            </a:r>
            <a:r>
              <a:rPr sz="2800" spc="-15" dirty="0">
                <a:latin typeface="Trebuchet MS"/>
                <a:cs typeface="Trebuchet MS"/>
              </a:rPr>
              <a:t>raiz </a:t>
            </a:r>
            <a:r>
              <a:rPr sz="2800" spc="-5" dirty="0">
                <a:latin typeface="Trebuchet MS"/>
                <a:cs typeface="Trebuchet MS"/>
              </a:rPr>
              <a:t>até </a:t>
            </a:r>
            <a:r>
              <a:rPr sz="2800" spc="95" dirty="0">
                <a:latin typeface="Trebuchet MS"/>
                <a:cs typeface="Trebuchet MS"/>
              </a:rPr>
              <a:t>uma </a:t>
            </a:r>
            <a:r>
              <a:rPr sz="2800" spc="30" dirty="0">
                <a:latin typeface="Trebuchet MS"/>
                <a:cs typeface="Trebuchet MS"/>
              </a:rPr>
              <a:t>sub-árvore  </a:t>
            </a:r>
            <a:r>
              <a:rPr sz="2800" spc="35" dirty="0">
                <a:latin typeface="Trebuchet MS"/>
                <a:cs typeface="Trebuchet MS"/>
              </a:rPr>
              <a:t>vazia </a:t>
            </a:r>
            <a:r>
              <a:rPr sz="2800" b="1" spc="175" dirty="0">
                <a:latin typeface="Trebuchet MS"/>
                <a:cs typeface="Trebuchet MS"/>
              </a:rPr>
              <a:t>não </a:t>
            </a:r>
            <a:r>
              <a:rPr sz="2800" spc="40" dirty="0">
                <a:latin typeface="Trebuchet MS"/>
                <a:cs typeface="Trebuchet MS"/>
              </a:rPr>
              <a:t>pode </a:t>
            </a:r>
            <a:r>
              <a:rPr sz="2800" spc="-15" dirty="0">
                <a:latin typeface="Trebuchet MS"/>
                <a:cs typeface="Trebuchet MS"/>
              </a:rPr>
              <a:t>existir </a:t>
            </a:r>
            <a:r>
              <a:rPr sz="2800" spc="40" dirty="0">
                <a:latin typeface="Trebuchet MS"/>
                <a:cs typeface="Trebuchet MS"/>
              </a:rPr>
              <a:t>dois </a:t>
            </a:r>
            <a:r>
              <a:rPr sz="2800" spc="100" dirty="0">
                <a:latin typeface="Trebuchet MS"/>
                <a:cs typeface="Trebuchet MS"/>
              </a:rPr>
              <a:t>nós </a:t>
            </a:r>
            <a:r>
              <a:rPr sz="2800" spc="30" dirty="0">
                <a:latin typeface="Trebuchet MS"/>
                <a:cs typeface="Trebuchet MS"/>
              </a:rPr>
              <a:t>rubros  </a:t>
            </a:r>
            <a:r>
              <a:rPr sz="2800" spc="45" dirty="0">
                <a:latin typeface="Trebuchet MS"/>
                <a:cs typeface="Trebuchet MS"/>
              </a:rPr>
              <a:t>consecutivos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58569" y="2061210"/>
            <a:ext cx="6350000" cy="37299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68730" y="1943100"/>
            <a:ext cx="263779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Formas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representação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/>
          <p:nvPr/>
        </p:nvSpPr>
        <p:spPr>
          <a:xfrm>
            <a:off x="1187450" y="1990089"/>
            <a:ext cx="6388100" cy="38887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68730" y="1943100"/>
            <a:ext cx="2637790" cy="2851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Formas </a:t>
            </a:r>
            <a:r>
              <a:rPr sz="1800" spc="-5" dirty="0">
                <a:latin typeface="Arial"/>
                <a:cs typeface="Arial"/>
              </a:rPr>
              <a:t>de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representação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8042909" cy="4117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3937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70" dirty="0">
                <a:latin typeface="Trebuchet MS"/>
                <a:cs typeface="Trebuchet MS"/>
              </a:rPr>
              <a:t>Cada </a:t>
            </a:r>
            <a:r>
              <a:rPr sz="3200" spc="45" dirty="0">
                <a:latin typeface="Trebuchet MS"/>
                <a:cs typeface="Trebuchet MS"/>
              </a:rPr>
              <a:t>vez que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30" dirty="0">
                <a:latin typeface="Trebuchet MS"/>
                <a:cs typeface="Trebuchet MS"/>
              </a:rPr>
              <a:t>operação </a:t>
            </a:r>
            <a:r>
              <a:rPr sz="3200" spc="-65" dirty="0">
                <a:latin typeface="Trebuchet MS"/>
                <a:cs typeface="Trebuchet MS"/>
              </a:rPr>
              <a:t>for</a:t>
            </a:r>
            <a:r>
              <a:rPr sz="3200" spc="-650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realizada  </a:t>
            </a:r>
            <a:r>
              <a:rPr sz="3200" spc="75" dirty="0">
                <a:latin typeface="Trebuchet MS"/>
                <a:cs typeface="Trebuchet MS"/>
              </a:rPr>
              <a:t>na </a:t>
            </a:r>
            <a:r>
              <a:rPr sz="3200" spc="-25" dirty="0">
                <a:latin typeface="Trebuchet MS"/>
                <a:cs typeface="Trebuchet MS"/>
              </a:rPr>
              <a:t>árvore,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-30" dirty="0">
                <a:latin typeface="Trebuchet MS"/>
                <a:cs typeface="Trebuchet MS"/>
              </a:rPr>
              <a:t>conjunto </a:t>
            </a:r>
            <a:r>
              <a:rPr sz="3200" spc="30" dirty="0">
                <a:latin typeface="Trebuchet MS"/>
                <a:cs typeface="Trebuchet MS"/>
              </a:rPr>
              <a:t>de </a:t>
            </a:r>
            <a:r>
              <a:rPr sz="3200" spc="20" dirty="0">
                <a:latin typeface="Trebuchet MS"/>
                <a:cs typeface="Trebuchet MS"/>
              </a:rPr>
              <a:t>propriedades </a:t>
            </a:r>
            <a:r>
              <a:rPr sz="3200" spc="25" dirty="0">
                <a:latin typeface="Trebuchet MS"/>
                <a:cs typeface="Trebuchet MS"/>
              </a:rPr>
              <a:t>é  </a:t>
            </a:r>
            <a:r>
              <a:rPr sz="3200" spc="10" dirty="0">
                <a:latin typeface="Trebuchet MS"/>
                <a:cs typeface="Trebuchet MS"/>
              </a:rPr>
              <a:t>testado</a:t>
            </a:r>
            <a:endParaRPr sz="3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"/>
              <a:buChar char="•"/>
            </a:pPr>
            <a:endParaRPr sz="4700">
              <a:latin typeface="Times New Roman"/>
              <a:cs typeface="Times New Roman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75" dirty="0">
                <a:latin typeface="Trebuchet MS"/>
                <a:cs typeface="Trebuchet MS"/>
              </a:rPr>
              <a:t>alguma </a:t>
            </a:r>
            <a:r>
              <a:rPr sz="3200" spc="60" dirty="0">
                <a:latin typeface="Trebuchet MS"/>
                <a:cs typeface="Trebuchet MS"/>
              </a:rPr>
              <a:t>não </a:t>
            </a:r>
            <a:r>
              <a:rPr sz="3200" spc="-20" dirty="0">
                <a:latin typeface="Trebuchet MS"/>
                <a:cs typeface="Trebuchet MS"/>
              </a:rPr>
              <a:t>seja </a:t>
            </a:r>
            <a:r>
              <a:rPr sz="3200" spc="-35" dirty="0">
                <a:latin typeface="Trebuchet MS"/>
                <a:cs typeface="Trebuchet MS"/>
              </a:rPr>
              <a:t>satisfeita, </a:t>
            </a:r>
            <a:r>
              <a:rPr sz="3200" spc="105" dirty="0">
                <a:latin typeface="Trebuchet MS"/>
                <a:cs typeface="Trebuchet MS"/>
              </a:rPr>
              <a:t>são  </a:t>
            </a:r>
            <a:r>
              <a:rPr sz="3200" spc="10" dirty="0">
                <a:latin typeface="Trebuchet MS"/>
                <a:cs typeface="Trebuchet MS"/>
              </a:rPr>
              <a:t>realizadas rotações </a:t>
            </a:r>
            <a:r>
              <a:rPr sz="3200" spc="-145" dirty="0">
                <a:latin typeface="Trebuchet MS"/>
                <a:cs typeface="Trebuchet MS"/>
              </a:rPr>
              <a:t>e/ou </a:t>
            </a:r>
            <a:r>
              <a:rPr sz="3200" spc="5" dirty="0">
                <a:latin typeface="Trebuchet MS"/>
                <a:cs typeface="Trebuchet MS"/>
              </a:rPr>
              <a:t>ajustes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145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cores, 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5" dirty="0">
                <a:latin typeface="Trebuchet MS"/>
                <a:cs typeface="Trebuchet MS"/>
              </a:rPr>
              <a:t>forma </a:t>
            </a:r>
            <a:r>
              <a:rPr sz="3200" spc="45" dirty="0">
                <a:latin typeface="Trebuchet MS"/>
                <a:cs typeface="Trebuchet MS"/>
              </a:rPr>
              <a:t>que </a:t>
            </a: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15" dirty="0">
                <a:latin typeface="Trebuchet MS"/>
                <a:cs typeface="Trebuchet MS"/>
              </a:rPr>
              <a:t>árvore </a:t>
            </a:r>
            <a:r>
              <a:rPr sz="3200" spc="35" dirty="0">
                <a:latin typeface="Trebuchet MS"/>
                <a:cs typeface="Trebuchet MS"/>
              </a:rPr>
              <a:t>permaneça  balanceada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1700530">
              <a:lnSpc>
                <a:spcPct val="100000"/>
              </a:lnSpc>
            </a:pPr>
            <a:r>
              <a:rPr spc="10" dirty="0"/>
              <a:t>Propriedades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33425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25" dirty="0">
                <a:latin typeface="Trebuchet MS"/>
                <a:cs typeface="Trebuchet MS"/>
              </a:rPr>
              <a:t>Altura </a:t>
            </a:r>
            <a:r>
              <a:rPr sz="3200" spc="20" dirty="0">
                <a:latin typeface="Trebuchet MS"/>
                <a:cs typeface="Trebuchet MS"/>
              </a:rPr>
              <a:t>negra: </a:t>
            </a:r>
            <a:r>
              <a:rPr sz="3200" spc="25" dirty="0">
                <a:latin typeface="Trebuchet MS"/>
                <a:cs typeface="Trebuchet MS"/>
              </a:rPr>
              <a:t>é </a:t>
            </a:r>
            <a:r>
              <a:rPr sz="3200" spc="35" dirty="0">
                <a:latin typeface="Trebuchet MS"/>
                <a:cs typeface="Trebuchet MS"/>
              </a:rPr>
              <a:t>número de </a:t>
            </a:r>
            <a:r>
              <a:rPr sz="3200" spc="105" dirty="0">
                <a:latin typeface="Trebuchet MS"/>
                <a:cs typeface="Trebuchet MS"/>
              </a:rPr>
              <a:t>nós</a:t>
            </a:r>
            <a:r>
              <a:rPr sz="3200" spc="-45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negros  </a:t>
            </a:r>
            <a:r>
              <a:rPr sz="3200" spc="30" dirty="0">
                <a:latin typeface="Trebuchet MS"/>
                <a:cs typeface="Trebuchet MS"/>
              </a:rPr>
              <a:t>encontrados </a:t>
            </a:r>
            <a:r>
              <a:rPr sz="3200" spc="-15" dirty="0">
                <a:latin typeface="Trebuchet MS"/>
                <a:cs typeface="Trebuchet MS"/>
              </a:rPr>
              <a:t>até </a:t>
            </a:r>
            <a:r>
              <a:rPr sz="3200" spc="15" dirty="0">
                <a:latin typeface="Trebuchet MS"/>
                <a:cs typeface="Trebuchet MS"/>
              </a:rPr>
              <a:t>qualquer </a:t>
            </a:r>
            <a:r>
              <a:rPr sz="3200" spc="55" dirty="0">
                <a:latin typeface="Trebuchet MS"/>
                <a:cs typeface="Trebuchet MS"/>
              </a:rPr>
              <a:t>nó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-25" dirty="0">
                <a:latin typeface="Trebuchet MS"/>
                <a:cs typeface="Trebuchet MS"/>
              </a:rPr>
              <a:t>folha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62051" y="2790597"/>
            <a:ext cx="6323327" cy="36800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99859" y="4050029"/>
            <a:ext cx="3302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40200" y="2785109"/>
            <a:ext cx="3302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18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235200" y="46532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97000" y="46532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5179" y="2828290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8839" y="2621279"/>
            <a:ext cx="2389505" cy="11772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40" dirty="0">
                <a:latin typeface="Trebuchet MS"/>
                <a:cs typeface="Trebuchet MS"/>
              </a:rPr>
              <a:t>d</a:t>
            </a:r>
            <a:r>
              <a:rPr sz="3200" spc="30" dirty="0">
                <a:latin typeface="Trebuchet MS"/>
                <a:cs typeface="Trebuchet MS"/>
              </a:rPr>
              <a:t>e</a:t>
            </a:r>
            <a:r>
              <a:rPr sz="3200" spc="195" dirty="0">
                <a:latin typeface="Trebuchet MS"/>
                <a:cs typeface="Trebuchet MS"/>
              </a:rPr>
              <a:t>s</a:t>
            </a:r>
            <a:r>
              <a:rPr sz="3200" spc="-10" dirty="0">
                <a:latin typeface="Trebuchet MS"/>
                <a:cs typeface="Trebuchet MS"/>
              </a:rPr>
              <a:t>c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70" dirty="0">
                <a:latin typeface="Trebuchet MS"/>
                <a:cs typeface="Trebuchet MS"/>
              </a:rPr>
              <a:t>n</a:t>
            </a:r>
            <a:r>
              <a:rPr sz="3200" spc="40" dirty="0">
                <a:latin typeface="Trebuchet MS"/>
                <a:cs typeface="Trebuchet MS"/>
              </a:rPr>
              <a:t>d</a:t>
            </a:r>
            <a:r>
              <a:rPr sz="3200" spc="35" dirty="0">
                <a:latin typeface="Trebuchet MS"/>
                <a:cs typeface="Trebuchet MS"/>
              </a:rPr>
              <a:t>e</a:t>
            </a:r>
            <a:r>
              <a:rPr sz="3200" spc="70" dirty="0">
                <a:latin typeface="Trebuchet MS"/>
                <a:cs typeface="Trebuchet MS"/>
              </a:rPr>
              <a:t>n</a:t>
            </a:r>
            <a:r>
              <a:rPr sz="3200" spc="-150" dirty="0">
                <a:latin typeface="Trebuchet MS"/>
                <a:cs typeface="Trebuchet MS"/>
              </a:rPr>
              <a:t>t</a:t>
            </a:r>
            <a:r>
              <a:rPr sz="3200" spc="25" dirty="0">
                <a:latin typeface="Trebuchet MS"/>
                <a:cs typeface="Trebuchet MS"/>
              </a:rPr>
              <a:t>e</a:t>
            </a:r>
            <a:endParaRPr sz="3200">
              <a:latin typeface="Trebuchet MS"/>
              <a:cs typeface="Trebuchet MS"/>
            </a:endParaRPr>
          </a:p>
          <a:p>
            <a:pPr marL="1521460">
              <a:lnSpc>
                <a:spcPct val="100000"/>
              </a:lnSpc>
              <a:spcBef>
                <a:spcPts val="2520"/>
              </a:spcBef>
            </a:pPr>
            <a:r>
              <a:rPr sz="3600" baseline="1157" dirty="0">
                <a:latin typeface="Times New Roman"/>
                <a:cs typeface="Times New Roman"/>
              </a:rPr>
              <a:t>10</a:t>
            </a:r>
            <a:r>
              <a:rPr sz="3600" spc="284" baseline="1157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91350" y="4116070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0570" y="3429000"/>
            <a:ext cx="587375" cy="369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600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22</a:t>
            </a:r>
            <a:r>
              <a:rPr sz="3600" spc="315" baseline="1157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764029" y="4050029"/>
            <a:ext cx="520065" cy="3759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365125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3	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3139" y="4683759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88489" y="4683759"/>
            <a:ext cx="16700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45739" y="4645659"/>
            <a:ext cx="58166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000" baseline="2777" dirty="0">
                <a:latin typeface="Arial"/>
                <a:cs typeface="Arial"/>
              </a:rPr>
              <a:t>2</a:t>
            </a:r>
            <a:r>
              <a:rPr sz="3000" spc="315" baseline="2777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0090" y="5624829"/>
            <a:ext cx="1286510" cy="397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282575" algn="l"/>
                <a:tab pos="716915" algn="l"/>
              </a:tabLst>
            </a:pPr>
            <a:r>
              <a:rPr sz="3000" baseline="-4166" dirty="0">
                <a:latin typeface="Arial"/>
                <a:cs typeface="Arial"/>
              </a:rPr>
              <a:t>2	</a:t>
            </a:r>
            <a:r>
              <a:rPr sz="3600" baseline="2314" dirty="0">
                <a:solidFill>
                  <a:srgbClr val="FFFFFF"/>
                </a:solidFill>
                <a:latin typeface="Times New Roman"/>
                <a:cs typeface="Times New Roman"/>
              </a:rPr>
              <a:t>14	</a:t>
            </a:r>
            <a:r>
              <a:rPr sz="3000" baseline="-6944" dirty="0">
                <a:latin typeface="Arial"/>
                <a:cs typeface="Arial"/>
              </a:rPr>
              <a:t>2</a:t>
            </a:r>
            <a:r>
              <a:rPr sz="3000" spc="315" baseline="-6944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61690" y="4050029"/>
            <a:ext cx="1642110" cy="981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464184" algn="l"/>
              </a:tabLst>
            </a:pP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13	</a:t>
            </a:r>
            <a:r>
              <a:rPr sz="2000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  <a:p>
            <a:pPr marL="264160">
              <a:lnSpc>
                <a:spcPct val="100000"/>
              </a:lnSpc>
              <a:spcBef>
                <a:spcPts val="1880"/>
              </a:spcBef>
              <a:tabLst>
                <a:tab pos="1072515" algn="l"/>
              </a:tabLst>
            </a:pPr>
            <a:r>
              <a:rPr sz="3000" baseline="4166" dirty="0">
                <a:latin typeface="Arial"/>
                <a:cs typeface="Arial"/>
              </a:rPr>
              <a:t>2  </a:t>
            </a:r>
            <a:r>
              <a:rPr sz="3000" spc="517" baseline="4166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16	</a:t>
            </a:r>
            <a:r>
              <a:rPr sz="3000" baseline="4166" dirty="0">
                <a:latin typeface="Arial"/>
                <a:cs typeface="Arial"/>
              </a:rPr>
              <a:t>2</a:t>
            </a:r>
            <a:r>
              <a:rPr sz="3000" spc="315" baseline="4166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19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08140" y="4634229"/>
            <a:ext cx="55626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1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40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38090" y="4050029"/>
            <a:ext cx="1413510" cy="972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20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  <a:p>
            <a:pPr marL="160020">
              <a:lnSpc>
                <a:spcPct val="100000"/>
              </a:lnSpc>
              <a:spcBef>
                <a:spcPts val="1810"/>
              </a:spcBef>
              <a:tabLst>
                <a:tab pos="898525" algn="l"/>
              </a:tabLst>
            </a:pPr>
            <a:r>
              <a:rPr sz="2000" dirty="0">
                <a:latin typeface="Arial"/>
                <a:cs typeface="Arial"/>
              </a:rPr>
              <a:t>2   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/>
                <a:cs typeface="Times New Roman"/>
              </a:rPr>
              <a:t>21	</a:t>
            </a:r>
            <a:r>
              <a:rPr sz="3000" baseline="2777" dirty="0">
                <a:latin typeface="Arial"/>
                <a:cs typeface="Arial"/>
              </a:rPr>
              <a:t>1</a:t>
            </a:r>
            <a:r>
              <a:rPr sz="3000" spc="-330" baseline="2777" dirty="0">
                <a:latin typeface="Arial"/>
                <a:cs typeface="Arial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24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3529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552700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140200"/>
            <a:ext cx="114935" cy="314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4795" marR="121285">
              <a:lnSpc>
                <a:spcPct val="100000"/>
              </a:lnSpc>
            </a:pPr>
            <a:r>
              <a:rPr sz="2000" spc="85" dirty="0"/>
              <a:t>As</a:t>
            </a:r>
            <a:r>
              <a:rPr sz="2000" spc="-40" dirty="0"/>
              <a:t> </a:t>
            </a:r>
            <a:r>
              <a:rPr sz="2000" spc="25" dirty="0"/>
              <a:t>operações</a:t>
            </a:r>
            <a:r>
              <a:rPr sz="2000" spc="-40" dirty="0"/>
              <a:t> </a:t>
            </a:r>
            <a:r>
              <a:rPr sz="2000" dirty="0"/>
              <a:t>Inserir</a:t>
            </a:r>
            <a:r>
              <a:rPr sz="2000" spc="-40" dirty="0"/>
              <a:t> </a:t>
            </a:r>
            <a:r>
              <a:rPr sz="2000" spc="15" dirty="0"/>
              <a:t>e</a:t>
            </a:r>
            <a:r>
              <a:rPr sz="2000" spc="-40" dirty="0"/>
              <a:t> </a:t>
            </a:r>
            <a:r>
              <a:rPr sz="2000" spc="25" dirty="0"/>
              <a:t>Remover</a:t>
            </a:r>
            <a:r>
              <a:rPr sz="2000" spc="-35" dirty="0"/>
              <a:t> </a:t>
            </a:r>
            <a:r>
              <a:rPr sz="2000" spc="65" dirty="0"/>
              <a:t>são</a:t>
            </a:r>
            <a:r>
              <a:rPr sz="2000" spc="-35" dirty="0"/>
              <a:t> </a:t>
            </a:r>
            <a:r>
              <a:rPr sz="2000" spc="50" dirty="0"/>
              <a:t>mais</a:t>
            </a:r>
            <a:r>
              <a:rPr sz="2000" spc="-40" dirty="0"/>
              <a:t> </a:t>
            </a:r>
            <a:r>
              <a:rPr sz="2000" spc="20" dirty="0"/>
              <a:t>complicadas</a:t>
            </a:r>
            <a:r>
              <a:rPr sz="2000" spc="-40" dirty="0"/>
              <a:t> </a:t>
            </a:r>
            <a:r>
              <a:rPr sz="2000" spc="70" dirty="0"/>
              <a:t>nas</a:t>
            </a:r>
            <a:r>
              <a:rPr sz="2000" spc="-40" dirty="0"/>
              <a:t> </a:t>
            </a:r>
            <a:r>
              <a:rPr sz="2000" spc="25" dirty="0"/>
              <a:t>Árvores  </a:t>
            </a:r>
            <a:r>
              <a:rPr sz="2000" spc="20" dirty="0"/>
              <a:t>Rubro-Negras </a:t>
            </a:r>
            <a:r>
              <a:rPr sz="2000" spc="10" dirty="0"/>
              <a:t>porque </a:t>
            </a:r>
            <a:r>
              <a:rPr sz="2000" spc="25" dirty="0"/>
              <a:t>elas </a:t>
            </a:r>
            <a:r>
              <a:rPr sz="2000" spc="35" dirty="0"/>
              <a:t>podem </a:t>
            </a:r>
            <a:r>
              <a:rPr sz="2000" spc="-50" dirty="0"/>
              <a:t>ferir </a:t>
            </a:r>
            <a:r>
              <a:rPr sz="2000" spc="45" dirty="0"/>
              <a:t>alguma </a:t>
            </a:r>
            <a:r>
              <a:rPr sz="2000" dirty="0"/>
              <a:t>propriedade </a:t>
            </a:r>
            <a:r>
              <a:rPr sz="2000" spc="15" dirty="0"/>
              <a:t>deste  </a:t>
            </a:r>
            <a:r>
              <a:rPr sz="2000" spc="-30" dirty="0"/>
              <a:t>tipo </a:t>
            </a:r>
            <a:r>
              <a:rPr sz="2000" spc="20" dirty="0"/>
              <a:t>de</a:t>
            </a:r>
            <a:r>
              <a:rPr sz="2000" spc="-100" dirty="0"/>
              <a:t> </a:t>
            </a:r>
            <a:r>
              <a:rPr sz="2000" spc="-20" dirty="0"/>
              <a:t>árvore.</a:t>
            </a:r>
            <a:endParaRPr sz="2000"/>
          </a:p>
          <a:p>
            <a:pPr marL="264795" marR="5080">
              <a:lnSpc>
                <a:spcPct val="100000"/>
              </a:lnSpc>
              <a:spcBef>
                <a:spcPts val="490"/>
              </a:spcBef>
            </a:pPr>
            <a:r>
              <a:rPr sz="2000" spc="45" dirty="0"/>
              <a:t>Como </a:t>
            </a:r>
            <a:r>
              <a:rPr sz="2000" spc="10" dirty="0"/>
              <a:t>veremos, </a:t>
            </a:r>
            <a:r>
              <a:rPr sz="2000" spc="85" dirty="0"/>
              <a:t>essas </a:t>
            </a:r>
            <a:r>
              <a:rPr sz="2000" spc="25" dirty="0"/>
              <a:t>operações </a:t>
            </a:r>
            <a:r>
              <a:rPr sz="2000" spc="30" dirty="0"/>
              <a:t>podem ser </a:t>
            </a:r>
            <a:r>
              <a:rPr sz="2000" spc="20" dirty="0"/>
              <a:t>implementadas de  </a:t>
            </a:r>
            <a:r>
              <a:rPr sz="2000" spc="-5" dirty="0"/>
              <a:t>forma </a:t>
            </a:r>
            <a:r>
              <a:rPr sz="2000" spc="15" dirty="0"/>
              <a:t>bastante </a:t>
            </a:r>
            <a:r>
              <a:rPr sz="2000" dirty="0"/>
              <a:t>parecida </a:t>
            </a:r>
            <a:r>
              <a:rPr sz="2000" spc="35" dirty="0"/>
              <a:t>com </a:t>
            </a:r>
            <a:r>
              <a:rPr sz="2000" spc="85" dirty="0"/>
              <a:t>as</a:t>
            </a:r>
            <a:r>
              <a:rPr sz="2000" spc="-395" dirty="0"/>
              <a:t> </a:t>
            </a:r>
            <a:r>
              <a:rPr sz="2000" spc="15" dirty="0"/>
              <a:t>respectivas </a:t>
            </a:r>
            <a:r>
              <a:rPr sz="2000" spc="25" dirty="0"/>
              <a:t>operações </a:t>
            </a:r>
            <a:r>
              <a:rPr sz="2000" spc="70" dirty="0"/>
              <a:t>nas </a:t>
            </a:r>
            <a:r>
              <a:rPr sz="2000" spc="25" dirty="0"/>
              <a:t>Árvores  </a:t>
            </a:r>
            <a:r>
              <a:rPr sz="2000" spc="20" dirty="0"/>
              <a:t>Binárias de </a:t>
            </a:r>
            <a:r>
              <a:rPr sz="2000" spc="25" dirty="0"/>
              <a:t>Busca, </a:t>
            </a:r>
            <a:r>
              <a:rPr sz="2000" spc="30" dirty="0"/>
              <a:t>bastando </a:t>
            </a:r>
            <a:r>
              <a:rPr sz="2000" spc="50" dirty="0"/>
              <a:t>apenas </a:t>
            </a:r>
            <a:r>
              <a:rPr sz="2000" spc="-15" dirty="0"/>
              <a:t>modificar </a:t>
            </a:r>
            <a:r>
              <a:rPr sz="2000" spc="90" dirty="0"/>
              <a:t>as </a:t>
            </a:r>
            <a:r>
              <a:rPr sz="2000" spc="15" dirty="0"/>
              <a:t>cores </a:t>
            </a:r>
            <a:r>
              <a:rPr sz="2000" spc="55" dirty="0"/>
              <a:t>dos </a:t>
            </a:r>
            <a:r>
              <a:rPr sz="2000" spc="60" dirty="0"/>
              <a:t>nós  </a:t>
            </a:r>
            <a:r>
              <a:rPr sz="2000" spc="20" dirty="0"/>
              <a:t>para </a:t>
            </a:r>
            <a:r>
              <a:rPr sz="2000" spc="25" dirty="0"/>
              <a:t>que </a:t>
            </a:r>
            <a:r>
              <a:rPr sz="2000" spc="85" dirty="0"/>
              <a:t>as </a:t>
            </a:r>
            <a:r>
              <a:rPr sz="2000" spc="10" dirty="0"/>
              <a:t>propriedades </a:t>
            </a:r>
            <a:r>
              <a:rPr sz="2000" spc="25" dirty="0"/>
              <a:t>de Árvores </a:t>
            </a:r>
            <a:r>
              <a:rPr sz="2000" spc="20" dirty="0"/>
              <a:t>Rubro-Negras </a:t>
            </a:r>
            <a:r>
              <a:rPr sz="2000" spc="5" dirty="0"/>
              <a:t>sejam  </a:t>
            </a:r>
            <a:r>
              <a:rPr sz="2000" spc="-10" dirty="0"/>
              <a:t>satisfeitas.</a:t>
            </a:r>
            <a:endParaRPr sz="2000"/>
          </a:p>
          <a:p>
            <a:pPr marL="264795" marR="343535">
              <a:lnSpc>
                <a:spcPct val="100000"/>
              </a:lnSpc>
              <a:spcBef>
                <a:spcPts val="500"/>
              </a:spcBef>
            </a:pPr>
            <a:r>
              <a:rPr sz="2000" spc="45" dirty="0"/>
              <a:t>Como </a:t>
            </a:r>
            <a:r>
              <a:rPr sz="2000" spc="50" dirty="0"/>
              <a:t>a </a:t>
            </a:r>
            <a:r>
              <a:rPr sz="2000" spc="10" dirty="0"/>
              <a:t>inserção </a:t>
            </a:r>
            <a:r>
              <a:rPr sz="2000" spc="15" dirty="0"/>
              <a:t>e </a:t>
            </a:r>
            <a:r>
              <a:rPr sz="2000" spc="50" dirty="0"/>
              <a:t>a </a:t>
            </a:r>
            <a:r>
              <a:rPr sz="2000" spc="15" dirty="0"/>
              <a:t>remoção </a:t>
            </a:r>
            <a:r>
              <a:rPr sz="2000" dirty="0"/>
              <a:t>propriamente </a:t>
            </a:r>
            <a:r>
              <a:rPr sz="2000" spc="5" dirty="0"/>
              <a:t>ditas </a:t>
            </a:r>
            <a:r>
              <a:rPr sz="2000" spc="-90" dirty="0"/>
              <a:t>já </a:t>
            </a:r>
            <a:r>
              <a:rPr sz="2000" dirty="0"/>
              <a:t>foram</a:t>
            </a:r>
            <a:r>
              <a:rPr sz="2000" spc="-400" dirty="0"/>
              <a:t> </a:t>
            </a:r>
            <a:r>
              <a:rPr sz="2000" spc="35" dirty="0"/>
              <a:t>vistas  </a:t>
            </a:r>
            <a:r>
              <a:rPr sz="2000" spc="20" dirty="0"/>
              <a:t>para </a:t>
            </a:r>
            <a:r>
              <a:rPr sz="2000" spc="25" dirty="0"/>
              <a:t>Árvores Binárias </a:t>
            </a:r>
            <a:r>
              <a:rPr sz="2000" spc="20" dirty="0"/>
              <a:t>de </a:t>
            </a:r>
            <a:r>
              <a:rPr sz="2000" spc="25" dirty="0"/>
              <a:t>Busca, </a:t>
            </a:r>
            <a:r>
              <a:rPr sz="2000" spc="35" dirty="0"/>
              <a:t>veremos </a:t>
            </a:r>
            <a:r>
              <a:rPr sz="2000" spc="50" dirty="0"/>
              <a:t>apenas </a:t>
            </a:r>
            <a:r>
              <a:rPr sz="2000" spc="25" dirty="0"/>
              <a:t>o que </a:t>
            </a:r>
            <a:r>
              <a:rPr sz="2000" spc="15" dirty="0"/>
              <a:t>é  </a:t>
            </a:r>
            <a:r>
              <a:rPr sz="2000" spc="25" dirty="0"/>
              <a:t>necessário </a:t>
            </a:r>
            <a:r>
              <a:rPr sz="2000" spc="15" dirty="0"/>
              <a:t>para </a:t>
            </a:r>
            <a:r>
              <a:rPr sz="2000" spc="-10" dirty="0"/>
              <a:t>acertar </a:t>
            </a:r>
            <a:r>
              <a:rPr sz="2000" spc="90" dirty="0"/>
              <a:t>as </a:t>
            </a:r>
            <a:r>
              <a:rPr sz="2000" spc="15" dirty="0"/>
              <a:t>cores </a:t>
            </a:r>
            <a:r>
              <a:rPr sz="2000" spc="35" dirty="0"/>
              <a:t>da</a:t>
            </a:r>
            <a:r>
              <a:rPr sz="2000" spc="-315" dirty="0"/>
              <a:t> </a:t>
            </a:r>
            <a:r>
              <a:rPr sz="2000" spc="-20" dirty="0"/>
              <a:t>árvore.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30679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2402840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0329" rIns="0" bIns="0" rtlCol="0">
            <a:spAutoFit/>
          </a:bodyPr>
          <a:lstStyle/>
          <a:p>
            <a:pPr marL="343535" marR="5080">
              <a:lnSpc>
                <a:spcPct val="100000"/>
              </a:lnSpc>
            </a:pPr>
            <a:r>
              <a:rPr spc="55" dirty="0"/>
              <a:t>Um</a:t>
            </a:r>
            <a:r>
              <a:rPr spc="-45" dirty="0"/>
              <a:t> </a:t>
            </a:r>
            <a:r>
              <a:rPr spc="30" dirty="0"/>
              <a:t>nó</a:t>
            </a:r>
            <a:r>
              <a:rPr spc="-35" dirty="0"/>
              <a:t> </a:t>
            </a:r>
            <a:r>
              <a:rPr spc="15" dirty="0"/>
              <a:t>é</a:t>
            </a:r>
            <a:r>
              <a:rPr spc="-55" dirty="0"/>
              <a:t> </a:t>
            </a:r>
            <a:r>
              <a:rPr spc="5" dirty="0"/>
              <a:t>inserido</a:t>
            </a:r>
            <a:r>
              <a:rPr spc="-45" dirty="0"/>
              <a:t> </a:t>
            </a:r>
            <a:r>
              <a:rPr spc="30" dirty="0"/>
              <a:t>sempre</a:t>
            </a:r>
            <a:r>
              <a:rPr spc="-45" dirty="0"/>
              <a:t> </a:t>
            </a:r>
            <a:r>
              <a:rPr spc="50" dirty="0"/>
              <a:t>na</a:t>
            </a:r>
            <a:r>
              <a:rPr spc="-50" dirty="0"/>
              <a:t> </a:t>
            </a:r>
            <a:r>
              <a:rPr spc="-5" dirty="0"/>
              <a:t>cor</a:t>
            </a:r>
            <a:r>
              <a:rPr spc="-40" dirty="0"/>
              <a:t> </a:t>
            </a:r>
            <a:r>
              <a:rPr spc="-10" dirty="0"/>
              <a:t>vermelha,</a:t>
            </a:r>
            <a:r>
              <a:rPr spc="-45" dirty="0"/>
              <a:t> </a:t>
            </a:r>
            <a:r>
              <a:rPr spc="25" dirty="0"/>
              <a:t>assim,</a:t>
            </a:r>
            <a:r>
              <a:rPr spc="-55" dirty="0"/>
              <a:t> </a:t>
            </a:r>
            <a:r>
              <a:rPr spc="40" dirty="0"/>
              <a:t>não</a:t>
            </a:r>
            <a:r>
              <a:rPr spc="-40" dirty="0"/>
              <a:t> </a:t>
            </a:r>
            <a:r>
              <a:rPr spc="-20" dirty="0"/>
              <a:t>altera  </a:t>
            </a:r>
            <a:r>
              <a:rPr spc="55" dirty="0"/>
              <a:t>a </a:t>
            </a:r>
            <a:r>
              <a:rPr spc="-15" dirty="0"/>
              <a:t>altura </a:t>
            </a:r>
            <a:r>
              <a:rPr spc="40" dirty="0"/>
              <a:t>negra da</a:t>
            </a:r>
            <a:r>
              <a:rPr spc="-290" dirty="0"/>
              <a:t> </a:t>
            </a:r>
            <a:r>
              <a:rPr spc="5" dirty="0"/>
              <a:t>árvore</a:t>
            </a:r>
          </a:p>
          <a:p>
            <a:pPr marL="343535" marR="349885">
              <a:lnSpc>
                <a:spcPct val="100000"/>
              </a:lnSpc>
              <a:spcBef>
                <a:spcPts val="800"/>
              </a:spcBef>
            </a:pPr>
            <a:r>
              <a:rPr spc="105" dirty="0"/>
              <a:t>Se </a:t>
            </a:r>
            <a:r>
              <a:rPr spc="30" dirty="0"/>
              <a:t>o nodo </a:t>
            </a:r>
            <a:r>
              <a:rPr spc="35" dirty="0"/>
              <a:t>fosse </a:t>
            </a:r>
            <a:r>
              <a:rPr spc="5" dirty="0"/>
              <a:t>inserido </a:t>
            </a:r>
            <a:r>
              <a:rPr spc="50" dirty="0"/>
              <a:t>na </a:t>
            </a:r>
            <a:r>
              <a:rPr spc="-10" dirty="0"/>
              <a:t>cor </a:t>
            </a:r>
            <a:r>
              <a:rPr spc="-50" dirty="0"/>
              <a:t>preta, </a:t>
            </a:r>
            <a:r>
              <a:rPr spc="-5" dirty="0"/>
              <a:t>invalidaria </a:t>
            </a:r>
            <a:r>
              <a:rPr spc="55" dirty="0"/>
              <a:t>a  </a:t>
            </a:r>
            <a:r>
              <a:rPr dirty="0"/>
              <a:t>propriedade</a:t>
            </a:r>
            <a:r>
              <a:rPr spc="-45" dirty="0"/>
              <a:t> </a:t>
            </a:r>
            <a:r>
              <a:rPr spc="-40" dirty="0"/>
              <a:t>5,</a:t>
            </a:r>
            <a:r>
              <a:rPr spc="-45" dirty="0"/>
              <a:t> </a:t>
            </a:r>
            <a:r>
              <a:rPr spc="25" dirty="0"/>
              <a:t>pois</a:t>
            </a:r>
            <a:r>
              <a:rPr spc="-40" dirty="0"/>
              <a:t> </a:t>
            </a:r>
            <a:r>
              <a:rPr spc="15" dirty="0"/>
              <a:t>haveria</a:t>
            </a:r>
            <a:r>
              <a:rPr spc="-50" dirty="0"/>
              <a:t> </a:t>
            </a:r>
            <a:r>
              <a:rPr spc="70" dirty="0"/>
              <a:t>um</a:t>
            </a:r>
            <a:r>
              <a:rPr spc="-45" dirty="0"/>
              <a:t> </a:t>
            </a:r>
            <a:r>
              <a:rPr spc="30" dirty="0"/>
              <a:t>nodo</a:t>
            </a:r>
            <a:r>
              <a:rPr spc="-45" dirty="0"/>
              <a:t> </a:t>
            </a:r>
            <a:r>
              <a:rPr spc="-25" dirty="0"/>
              <a:t>preto</a:t>
            </a:r>
            <a:r>
              <a:rPr spc="-35" dirty="0"/>
              <a:t> </a:t>
            </a:r>
            <a:r>
              <a:rPr spc="55" dirty="0"/>
              <a:t>a</a:t>
            </a:r>
            <a:r>
              <a:rPr spc="-50" dirty="0"/>
              <a:t> </a:t>
            </a:r>
            <a:r>
              <a:rPr spc="50" dirty="0"/>
              <a:t>mais</a:t>
            </a:r>
            <a:r>
              <a:rPr spc="-45" dirty="0"/>
              <a:t> </a:t>
            </a:r>
            <a:r>
              <a:rPr spc="60" dirty="0"/>
              <a:t>em</a:t>
            </a:r>
            <a:r>
              <a:rPr spc="-50" dirty="0"/>
              <a:t> </a:t>
            </a:r>
            <a:r>
              <a:rPr spc="70" dirty="0"/>
              <a:t>um  </a:t>
            </a:r>
            <a:r>
              <a:rPr spc="65" dirty="0"/>
              <a:t>dos</a:t>
            </a:r>
            <a:r>
              <a:rPr spc="-105" dirty="0"/>
              <a:t> </a:t>
            </a:r>
            <a:r>
              <a:rPr spc="35" dirty="0"/>
              <a:t>caminhos</a:t>
            </a:r>
          </a:p>
        </p:txBody>
      </p:sp>
      <p:sp>
        <p:nvSpPr>
          <p:cNvPr id="6" name="object 6"/>
          <p:cNvSpPr/>
          <p:nvPr/>
        </p:nvSpPr>
        <p:spPr>
          <a:xfrm>
            <a:off x="2410460" y="46812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499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410460" y="46812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499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10460" y="468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792729" y="5062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513329" y="46888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16929" y="4681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6929" y="4681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916929" y="4681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297929" y="5062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6018529" y="46888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50000" y="53124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350000" y="53124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17"/>
                </a:lnTo>
                <a:lnTo>
                  <a:pt x="275475" y="18631"/>
                </a:lnTo>
                <a:lnTo>
                  <a:pt x="310798" y="40488"/>
                </a:lnTo>
                <a:lnTo>
                  <a:pt x="340011" y="69431"/>
                </a:lnTo>
                <a:lnTo>
                  <a:pt x="362116" y="104506"/>
                </a:lnTo>
                <a:lnTo>
                  <a:pt x="376112" y="144757"/>
                </a:lnTo>
                <a:lnTo>
                  <a:pt x="381000" y="189229"/>
                </a:lnTo>
                <a:lnTo>
                  <a:pt x="376112" y="234172"/>
                </a:lnTo>
                <a:lnTo>
                  <a:pt x="362116" y="274760"/>
                </a:lnTo>
                <a:lnTo>
                  <a:pt x="340011" y="310061"/>
                </a:lnTo>
                <a:lnTo>
                  <a:pt x="310798" y="339141"/>
                </a:lnTo>
                <a:lnTo>
                  <a:pt x="275475" y="361068"/>
                </a:lnTo>
                <a:lnTo>
                  <a:pt x="235042" y="374909"/>
                </a:lnTo>
                <a:lnTo>
                  <a:pt x="190500" y="379729"/>
                </a:lnTo>
                <a:lnTo>
                  <a:pt x="145957" y="374909"/>
                </a:lnTo>
                <a:lnTo>
                  <a:pt x="105524" y="361068"/>
                </a:lnTo>
                <a:lnTo>
                  <a:pt x="70201" y="339141"/>
                </a:lnTo>
                <a:lnTo>
                  <a:pt x="40988" y="310061"/>
                </a:lnTo>
                <a:lnTo>
                  <a:pt x="18883" y="274760"/>
                </a:lnTo>
                <a:lnTo>
                  <a:pt x="4887" y="234172"/>
                </a:lnTo>
                <a:lnTo>
                  <a:pt x="0" y="189229"/>
                </a:lnTo>
                <a:lnTo>
                  <a:pt x="4887" y="144757"/>
                </a:lnTo>
                <a:lnTo>
                  <a:pt x="18883" y="104506"/>
                </a:lnTo>
                <a:lnTo>
                  <a:pt x="40988" y="69431"/>
                </a:lnTo>
                <a:lnTo>
                  <a:pt x="70201" y="40488"/>
                </a:lnTo>
                <a:lnTo>
                  <a:pt x="105524" y="18631"/>
                </a:lnTo>
                <a:lnTo>
                  <a:pt x="145957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50000" y="5312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731000" y="5693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6459220" y="53200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42050" y="5006340"/>
            <a:ext cx="298450" cy="306070"/>
          </a:xfrm>
          <a:custGeom>
            <a:avLst/>
            <a:gdLst/>
            <a:ahLst/>
            <a:cxnLst/>
            <a:rect l="l" t="t" r="r" b="b"/>
            <a:pathLst>
              <a:path w="298450" h="306070">
                <a:moveTo>
                  <a:pt x="0" y="0"/>
                </a:moveTo>
                <a:lnTo>
                  <a:pt x="298450" y="3060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89040" y="624967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8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261100" y="617727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0" y="0"/>
                </a:moveTo>
                <a:lnTo>
                  <a:pt x="22732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374129" y="5683250"/>
            <a:ext cx="57150" cy="481330"/>
          </a:xfrm>
          <a:custGeom>
            <a:avLst/>
            <a:gdLst/>
            <a:ahLst/>
            <a:cxnLst/>
            <a:rect l="l" t="t" r="r" b="b"/>
            <a:pathLst>
              <a:path w="57150" h="481329">
                <a:moveTo>
                  <a:pt x="57150" y="0"/>
                </a:moveTo>
                <a:lnTo>
                  <a:pt x="0" y="48133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708140" y="624840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7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80200" y="6176009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0" y="0"/>
                </a:moveTo>
                <a:lnTo>
                  <a:pt x="227329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700519" y="5683250"/>
            <a:ext cx="93980" cy="480059"/>
          </a:xfrm>
          <a:custGeom>
            <a:avLst/>
            <a:gdLst/>
            <a:ahLst/>
            <a:cxnLst/>
            <a:rect l="l" t="t" r="r" b="b"/>
            <a:pathLst>
              <a:path w="93979" h="480060">
                <a:moveTo>
                  <a:pt x="0" y="0"/>
                </a:moveTo>
                <a:lnTo>
                  <a:pt x="93979" y="4800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2720339" y="559942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80" h="1270">
                <a:moveTo>
                  <a:pt x="0" y="0"/>
                </a:moveTo>
                <a:lnTo>
                  <a:pt x="17018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692400" y="552577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0" y="0"/>
                </a:moveTo>
                <a:lnTo>
                  <a:pt x="22733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712720" y="5034279"/>
            <a:ext cx="93980" cy="480059"/>
          </a:xfrm>
          <a:custGeom>
            <a:avLst/>
            <a:gdLst/>
            <a:ahLst/>
            <a:cxnLst/>
            <a:rect l="l" t="t" r="r" b="b"/>
            <a:pathLst>
              <a:path w="93980" h="480060">
                <a:moveTo>
                  <a:pt x="0" y="0"/>
                </a:moveTo>
                <a:lnTo>
                  <a:pt x="93980" y="4800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41800" y="5261609"/>
            <a:ext cx="457200" cy="382270"/>
          </a:xfrm>
          <a:custGeom>
            <a:avLst/>
            <a:gdLst/>
            <a:ahLst/>
            <a:cxnLst/>
            <a:rect l="l" t="t" r="r" b="b"/>
            <a:pathLst>
              <a:path w="457200" h="382270">
                <a:moveTo>
                  <a:pt x="0" y="96519"/>
                </a:moveTo>
                <a:lnTo>
                  <a:pt x="342900" y="96519"/>
                </a:lnTo>
                <a:lnTo>
                  <a:pt x="342900" y="0"/>
                </a:lnTo>
                <a:lnTo>
                  <a:pt x="457200" y="191769"/>
                </a:lnTo>
                <a:lnTo>
                  <a:pt x="342900" y="382269"/>
                </a:lnTo>
                <a:lnTo>
                  <a:pt x="342900" y="287019"/>
                </a:lnTo>
                <a:lnTo>
                  <a:pt x="0" y="287019"/>
                </a:lnTo>
                <a:lnTo>
                  <a:pt x="0" y="9651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41800" y="5261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699000" y="5643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673340" cy="29248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30" dirty="0">
                <a:latin typeface="Trebuchet MS"/>
                <a:cs typeface="Trebuchet MS"/>
              </a:rPr>
              <a:t>operação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20" dirty="0">
                <a:latin typeface="Trebuchet MS"/>
                <a:cs typeface="Trebuchet MS"/>
              </a:rPr>
              <a:t>inserção </a:t>
            </a:r>
            <a:r>
              <a:rPr sz="3200" spc="85" dirty="0">
                <a:latin typeface="Trebuchet MS"/>
                <a:cs typeface="Trebuchet MS"/>
              </a:rPr>
              <a:t>em </a:t>
            </a:r>
            <a:r>
              <a:rPr sz="3200" spc="100" dirty="0">
                <a:latin typeface="Trebuchet MS"/>
                <a:cs typeface="Trebuchet MS"/>
              </a:rPr>
              <a:t>uma</a:t>
            </a:r>
            <a:r>
              <a:rPr sz="3200" spc="-630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  </a:t>
            </a:r>
            <a:r>
              <a:rPr sz="3200" spc="20" dirty="0">
                <a:latin typeface="Trebuchet MS"/>
                <a:cs typeface="Trebuchet MS"/>
              </a:rPr>
              <a:t>rubro-negra </a:t>
            </a:r>
            <a:r>
              <a:rPr sz="3200" spc="45" dirty="0">
                <a:latin typeface="Trebuchet MS"/>
                <a:cs typeface="Trebuchet MS"/>
              </a:rPr>
              <a:t>começa </a:t>
            </a:r>
            <a:r>
              <a:rPr sz="3200" spc="5" dirty="0">
                <a:latin typeface="Trebuchet MS"/>
                <a:cs typeface="Trebuchet MS"/>
              </a:rPr>
              <a:t>por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80" dirty="0">
                <a:latin typeface="Trebuchet MS"/>
                <a:cs typeface="Trebuchet MS"/>
              </a:rPr>
              <a:t>busca </a:t>
            </a:r>
            <a:r>
              <a:rPr sz="3200" spc="65" dirty="0">
                <a:latin typeface="Trebuchet MS"/>
                <a:cs typeface="Trebuchet MS"/>
              </a:rPr>
              <a:t>da  </a:t>
            </a:r>
            <a:r>
              <a:rPr sz="3200" spc="40" dirty="0">
                <a:latin typeface="Trebuchet MS"/>
                <a:cs typeface="Trebuchet MS"/>
              </a:rPr>
              <a:t>posição </a:t>
            </a:r>
            <a:r>
              <a:rPr sz="3200" spc="45" dirty="0">
                <a:latin typeface="Trebuchet MS"/>
                <a:cs typeface="Trebuchet MS"/>
              </a:rPr>
              <a:t>onde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70" dirty="0">
                <a:latin typeface="Trebuchet MS"/>
                <a:cs typeface="Trebuchet MS"/>
              </a:rPr>
              <a:t>novo </a:t>
            </a:r>
            <a:r>
              <a:rPr sz="3200" spc="50" dirty="0">
                <a:latin typeface="Trebuchet MS"/>
                <a:cs typeface="Trebuchet MS"/>
              </a:rPr>
              <a:t>nodo </a:t>
            </a:r>
            <a:r>
              <a:rPr sz="3200" spc="55" dirty="0">
                <a:latin typeface="Trebuchet MS"/>
                <a:cs typeface="Trebuchet MS"/>
              </a:rPr>
              <a:t>deve </a:t>
            </a:r>
            <a:r>
              <a:rPr sz="3200" spc="50" dirty="0">
                <a:latin typeface="Trebuchet MS"/>
                <a:cs typeface="Trebuchet MS"/>
              </a:rPr>
              <a:t>ser  </a:t>
            </a:r>
            <a:r>
              <a:rPr sz="3200" spc="-20" dirty="0">
                <a:latin typeface="Trebuchet MS"/>
                <a:cs typeface="Trebuchet MS"/>
              </a:rPr>
              <a:t>inserido, </a:t>
            </a:r>
            <a:r>
              <a:rPr sz="3200" spc="10" dirty="0">
                <a:latin typeface="Trebuchet MS"/>
                <a:cs typeface="Trebuchet MS"/>
              </a:rPr>
              <a:t>partindo-se </a:t>
            </a:r>
            <a:r>
              <a:rPr sz="3200" spc="65" dirty="0">
                <a:latin typeface="Trebuchet MS"/>
                <a:cs typeface="Trebuchet MS"/>
              </a:rPr>
              <a:t>da </a:t>
            </a:r>
            <a:r>
              <a:rPr sz="3200" spc="-30" dirty="0">
                <a:latin typeface="Trebuchet MS"/>
                <a:cs typeface="Trebuchet MS"/>
              </a:rPr>
              <a:t>raiz </a:t>
            </a:r>
            <a:r>
              <a:rPr sz="3200" spc="85" dirty="0">
                <a:latin typeface="Trebuchet MS"/>
                <a:cs typeface="Trebuchet MS"/>
              </a:rPr>
              <a:t>em</a:t>
            </a:r>
            <a:r>
              <a:rPr sz="3200" spc="-32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direção  </a:t>
            </a:r>
            <a:r>
              <a:rPr sz="3200" spc="110" dirty="0">
                <a:latin typeface="Trebuchet MS"/>
                <a:cs typeface="Trebuchet MS"/>
              </a:rPr>
              <a:t>aos </a:t>
            </a:r>
            <a:r>
              <a:rPr sz="3200" spc="80" dirty="0">
                <a:latin typeface="Trebuchet MS"/>
                <a:cs typeface="Trebuchet MS"/>
              </a:rPr>
              <a:t>nodos </a:t>
            </a:r>
            <a:r>
              <a:rPr sz="3200" spc="45" dirty="0">
                <a:latin typeface="Trebuchet MS"/>
                <a:cs typeface="Trebuchet MS"/>
              </a:rPr>
              <a:t>que </a:t>
            </a:r>
            <a:r>
              <a:rPr sz="3200" spc="110" dirty="0">
                <a:latin typeface="Trebuchet MS"/>
                <a:cs typeface="Trebuchet MS"/>
              </a:rPr>
              <a:t>possuam </a:t>
            </a:r>
            <a:r>
              <a:rPr sz="3200" spc="40" dirty="0">
                <a:latin typeface="Trebuchet MS"/>
                <a:cs typeface="Trebuchet MS"/>
              </a:rPr>
              <a:t>o </a:t>
            </a:r>
            <a:r>
              <a:rPr sz="3200" spc="10" dirty="0">
                <a:latin typeface="Trebuchet MS"/>
                <a:cs typeface="Trebuchet MS"/>
              </a:rPr>
              <a:t>valor </a:t>
            </a:r>
            <a:r>
              <a:rPr sz="3200" spc="75" dirty="0">
                <a:latin typeface="Trebuchet MS"/>
                <a:cs typeface="Trebuchet MS"/>
              </a:rPr>
              <a:t>mais  </a:t>
            </a:r>
            <a:r>
              <a:rPr sz="3200" spc="5" dirty="0">
                <a:latin typeface="Trebuchet MS"/>
                <a:cs typeface="Trebuchet MS"/>
              </a:rPr>
              <a:t>próximo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15" dirty="0">
                <a:latin typeface="Trebuchet MS"/>
                <a:cs typeface="Trebuchet MS"/>
              </a:rPr>
              <a:t>qual </a:t>
            </a:r>
            <a:r>
              <a:rPr sz="3200" spc="30" dirty="0">
                <a:latin typeface="Trebuchet MS"/>
                <a:cs typeface="Trebuchet MS"/>
              </a:rPr>
              <a:t>vai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425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inserido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84730">
              <a:lnSpc>
                <a:spcPct val="100000"/>
              </a:lnSpc>
            </a:pPr>
            <a:r>
              <a:rPr spc="-65" dirty="0"/>
              <a:t>I</a:t>
            </a:r>
            <a:r>
              <a:rPr spc="135" dirty="0"/>
              <a:t>nse</a:t>
            </a:r>
            <a:r>
              <a:rPr spc="-175" dirty="0"/>
              <a:t>r</a:t>
            </a:r>
            <a:r>
              <a:rPr spc="-10" dirty="0"/>
              <a:t>ç</a:t>
            </a:r>
            <a:r>
              <a:rPr spc="100" dirty="0"/>
              <a:t>ã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788275" cy="1949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30" dirty="0">
                <a:latin typeface="Trebuchet MS"/>
                <a:cs typeface="Trebuchet MS"/>
              </a:rPr>
              <a:t>1: </a:t>
            </a:r>
            <a:r>
              <a:rPr sz="3200" spc="105" dirty="0">
                <a:latin typeface="Trebuchet MS"/>
                <a:cs typeface="Trebuchet MS"/>
              </a:rPr>
              <a:t>Caso </a:t>
            </a:r>
            <a:r>
              <a:rPr sz="3200" spc="35" dirty="0">
                <a:latin typeface="Trebuchet MS"/>
                <a:cs typeface="Trebuchet MS"/>
              </a:rPr>
              <a:t>esta </a:t>
            </a:r>
            <a:r>
              <a:rPr sz="3200" spc="20" dirty="0">
                <a:latin typeface="Trebuchet MS"/>
                <a:cs typeface="Trebuchet MS"/>
              </a:rPr>
              <a:t>inserção </a:t>
            </a:r>
            <a:r>
              <a:rPr sz="3200" spc="-20" dirty="0">
                <a:latin typeface="Trebuchet MS"/>
                <a:cs typeface="Trebuchet MS"/>
              </a:rPr>
              <a:t>seja </a:t>
            </a:r>
            <a:r>
              <a:rPr sz="3200" spc="-65" dirty="0">
                <a:latin typeface="Trebuchet MS"/>
                <a:cs typeface="Trebuchet MS"/>
              </a:rPr>
              <a:t>feita</a:t>
            </a:r>
            <a:r>
              <a:rPr sz="3200" spc="-625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em  </a:t>
            </a:r>
            <a:r>
              <a:rPr sz="3200" spc="100" dirty="0">
                <a:latin typeface="Trebuchet MS"/>
                <a:cs typeface="Trebuchet MS"/>
              </a:rPr>
              <a:t>uma </a:t>
            </a:r>
            <a:r>
              <a:rPr sz="3200" spc="10" dirty="0">
                <a:latin typeface="Trebuchet MS"/>
                <a:cs typeface="Trebuchet MS"/>
              </a:rPr>
              <a:t>árvore </a:t>
            </a:r>
            <a:r>
              <a:rPr sz="3200" spc="-20" dirty="0">
                <a:latin typeface="Trebuchet MS"/>
                <a:cs typeface="Trebuchet MS"/>
              </a:rPr>
              <a:t>vazia, </a:t>
            </a:r>
            <a:r>
              <a:rPr sz="3200" spc="50" dirty="0">
                <a:latin typeface="Trebuchet MS"/>
                <a:cs typeface="Trebuchet MS"/>
              </a:rPr>
              <a:t>basta </a:t>
            </a:r>
            <a:r>
              <a:rPr sz="3200" spc="-35" dirty="0">
                <a:latin typeface="Trebuchet MS"/>
                <a:cs typeface="Trebuchet MS"/>
              </a:rPr>
              <a:t>alterar </a:t>
            </a:r>
            <a:r>
              <a:rPr sz="3200" spc="80" dirty="0">
                <a:latin typeface="Trebuchet MS"/>
                <a:cs typeface="Trebuchet MS"/>
              </a:rPr>
              <a:t>a </a:t>
            </a:r>
            <a:r>
              <a:rPr sz="3200" spc="-10" dirty="0">
                <a:latin typeface="Trebuchet MS"/>
                <a:cs typeface="Trebuchet MS"/>
              </a:rPr>
              <a:t>cor</a:t>
            </a:r>
            <a:r>
              <a:rPr sz="3200" spc="-580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do  </a:t>
            </a:r>
            <a:r>
              <a:rPr sz="3200" spc="50" dirty="0">
                <a:latin typeface="Trebuchet MS"/>
                <a:cs typeface="Trebuchet MS"/>
              </a:rPr>
              <a:t>nodo </a:t>
            </a:r>
            <a:r>
              <a:rPr sz="3200" spc="35" dirty="0">
                <a:latin typeface="Trebuchet MS"/>
                <a:cs typeface="Trebuchet MS"/>
              </a:rPr>
              <a:t>para </a:t>
            </a:r>
            <a:r>
              <a:rPr sz="3200" spc="-75" dirty="0">
                <a:latin typeface="Trebuchet MS"/>
                <a:cs typeface="Trebuchet MS"/>
              </a:rPr>
              <a:t>preto, </a:t>
            </a:r>
            <a:r>
              <a:rPr sz="3200" spc="25" dirty="0">
                <a:latin typeface="Trebuchet MS"/>
                <a:cs typeface="Trebuchet MS"/>
              </a:rPr>
              <a:t>satisfazendo </a:t>
            </a:r>
            <a:r>
              <a:rPr sz="3200" spc="100" dirty="0">
                <a:latin typeface="Trebuchet MS"/>
                <a:cs typeface="Trebuchet MS"/>
              </a:rPr>
              <a:t>assim </a:t>
            </a:r>
            <a:r>
              <a:rPr sz="3200" spc="80" dirty="0">
                <a:latin typeface="Trebuchet MS"/>
                <a:cs typeface="Trebuchet MS"/>
              </a:rPr>
              <a:t>a  </a:t>
            </a:r>
            <a:r>
              <a:rPr sz="3200" dirty="0">
                <a:latin typeface="Trebuchet MS"/>
                <a:cs typeface="Trebuchet MS"/>
              </a:rPr>
              <a:t>propriedade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2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4772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34772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4772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872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4932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356100" y="4508500"/>
            <a:ext cx="488950" cy="283210"/>
          </a:xfrm>
          <a:custGeom>
            <a:avLst/>
            <a:gdLst/>
            <a:ahLst/>
            <a:cxnLst/>
            <a:rect l="l" t="t" r="r" b="b"/>
            <a:pathLst>
              <a:path w="488950" h="283210">
                <a:moveTo>
                  <a:pt x="0" y="71119"/>
                </a:moveTo>
                <a:lnTo>
                  <a:pt x="367029" y="71119"/>
                </a:lnTo>
                <a:lnTo>
                  <a:pt x="367029" y="0"/>
                </a:lnTo>
                <a:lnTo>
                  <a:pt x="488950" y="142239"/>
                </a:lnTo>
                <a:lnTo>
                  <a:pt x="367029" y="283210"/>
                </a:lnTo>
                <a:lnTo>
                  <a:pt x="367029" y="213360"/>
                </a:lnTo>
                <a:lnTo>
                  <a:pt x="0" y="213360"/>
                </a:lnTo>
                <a:lnTo>
                  <a:pt x="0" y="71119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561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845050" y="4792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51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032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36601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673227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30" dirty="0">
                <a:latin typeface="Trebuchet MS"/>
                <a:cs typeface="Trebuchet MS"/>
              </a:rPr>
              <a:t>2: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30" dirty="0">
                <a:latin typeface="Trebuchet MS"/>
                <a:cs typeface="Trebuchet MS"/>
              </a:rPr>
              <a:t>Ao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10" dirty="0">
                <a:latin typeface="Trebuchet MS"/>
                <a:cs typeface="Trebuchet MS"/>
              </a:rPr>
              <a:t>inserir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85" dirty="0">
                <a:latin typeface="Trebuchet MS"/>
                <a:cs typeface="Trebuchet MS"/>
              </a:rPr>
              <a:t>x,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se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-75" dirty="0">
                <a:latin typeface="Trebuchet MS"/>
                <a:cs typeface="Trebuchet MS"/>
              </a:rPr>
              <a:t>tio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35" dirty="0">
                <a:latin typeface="Trebuchet MS"/>
                <a:cs typeface="Trebuchet MS"/>
              </a:rPr>
              <a:t>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x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é  </a:t>
            </a:r>
            <a:r>
              <a:rPr sz="3200" spc="-10" dirty="0">
                <a:latin typeface="Trebuchet MS"/>
                <a:cs typeface="Trebuchet MS"/>
              </a:rPr>
              <a:t>vermelho, </a:t>
            </a:r>
            <a:r>
              <a:rPr sz="3200" spc="25" dirty="0">
                <a:latin typeface="Trebuchet MS"/>
                <a:cs typeface="Trebuchet MS"/>
              </a:rPr>
              <a:t>é </a:t>
            </a:r>
            <a:r>
              <a:rPr sz="3200" spc="45" dirty="0">
                <a:latin typeface="Trebuchet MS"/>
                <a:cs typeface="Trebuchet MS"/>
              </a:rPr>
              <a:t>necessário </a:t>
            </a:r>
            <a:r>
              <a:rPr sz="3200" spc="-30" dirty="0">
                <a:latin typeface="Trebuchet MS"/>
                <a:cs typeface="Trebuchet MS"/>
              </a:rPr>
              <a:t>fazer</a:t>
            </a:r>
            <a:r>
              <a:rPr sz="3200" spc="-340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2621279"/>
            <a:ext cx="4143375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5" dirty="0">
                <a:latin typeface="Trebuchet MS"/>
                <a:cs typeface="Trebuchet MS"/>
              </a:rPr>
              <a:t>recoloração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95" dirty="0">
                <a:latin typeface="Trebuchet MS"/>
                <a:cs typeface="Trebuchet MS"/>
              </a:rPr>
              <a:t>a, </a:t>
            </a:r>
            <a:r>
              <a:rPr sz="3200" spc="-145" dirty="0">
                <a:latin typeface="Trebuchet MS"/>
                <a:cs typeface="Trebuchet MS"/>
              </a:rPr>
              <a:t>t 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p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574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0574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57400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38400" y="4343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74900" y="4621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4900" y="462152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4900" y="4621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5900" y="50025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84120" y="462915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382520" y="4287520"/>
            <a:ext cx="182880" cy="334010"/>
          </a:xfrm>
          <a:custGeom>
            <a:avLst/>
            <a:gdLst/>
            <a:ahLst/>
            <a:cxnLst/>
            <a:rect l="l" t="t" r="r" b="b"/>
            <a:pathLst>
              <a:path w="182880" h="334010">
                <a:moveTo>
                  <a:pt x="0" y="0"/>
                </a:moveTo>
                <a:lnTo>
                  <a:pt x="182880" y="33400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733039" y="555752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80" h="1270">
                <a:moveTo>
                  <a:pt x="0" y="0"/>
                </a:moveTo>
                <a:lnTo>
                  <a:pt x="17018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705100" y="548512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0" y="0"/>
                </a:moveTo>
                <a:lnTo>
                  <a:pt x="22733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700020" y="4946650"/>
            <a:ext cx="120650" cy="525780"/>
          </a:xfrm>
          <a:custGeom>
            <a:avLst/>
            <a:gdLst/>
            <a:ahLst/>
            <a:cxnLst/>
            <a:rect l="l" t="t" r="r" b="b"/>
            <a:pathLst>
              <a:path w="120650" h="525779">
                <a:moveTo>
                  <a:pt x="0" y="0"/>
                </a:moveTo>
                <a:lnTo>
                  <a:pt x="120650" y="5257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478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47800" y="396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47800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28800" y="4343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583689" y="3970020"/>
            <a:ext cx="75311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7375" algn="l"/>
              </a:tabLst>
            </a:pPr>
            <a:r>
              <a:rPr sz="2400" i="1" dirty="0">
                <a:latin typeface="Times New Roman"/>
                <a:cs typeface="Times New Roman"/>
              </a:rPr>
              <a:t>t	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738629" y="3309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738629" y="33096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738629" y="3309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119629" y="3690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840229" y="33172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063750" y="3634740"/>
            <a:ext cx="184150" cy="327660"/>
          </a:xfrm>
          <a:custGeom>
            <a:avLst/>
            <a:gdLst/>
            <a:ahLst/>
            <a:cxnLst/>
            <a:rect l="l" t="t" r="r" b="b"/>
            <a:pathLst>
              <a:path w="184150" h="327660">
                <a:moveTo>
                  <a:pt x="0" y="0"/>
                </a:moveTo>
                <a:lnTo>
                  <a:pt x="184150" y="3276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38300" y="3634740"/>
            <a:ext cx="156210" cy="327660"/>
          </a:xfrm>
          <a:custGeom>
            <a:avLst/>
            <a:gdLst/>
            <a:ahLst/>
            <a:cxnLst/>
            <a:rect l="l" t="t" r="r" b="b"/>
            <a:pathLst>
              <a:path w="156210" h="327660">
                <a:moveTo>
                  <a:pt x="156210" y="0"/>
                </a:moveTo>
                <a:lnTo>
                  <a:pt x="0" y="3276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2237739" y="555752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2209800" y="548512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343150" y="4946650"/>
            <a:ext cx="87630" cy="463550"/>
          </a:xfrm>
          <a:custGeom>
            <a:avLst/>
            <a:gdLst/>
            <a:ahLst/>
            <a:cxnLst/>
            <a:rect l="l" t="t" r="r" b="b"/>
            <a:pathLst>
              <a:path w="87630" h="463550">
                <a:moveTo>
                  <a:pt x="87630" y="0"/>
                </a:moveTo>
                <a:lnTo>
                  <a:pt x="0" y="46355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3751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3751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375150" y="39331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756150" y="43154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692650" y="4592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692650" y="4592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692650" y="4592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073650" y="4973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4801870" y="45999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4700270" y="4259579"/>
            <a:ext cx="182880" cy="332740"/>
          </a:xfrm>
          <a:custGeom>
            <a:avLst/>
            <a:gdLst/>
            <a:ahLst/>
            <a:cxnLst/>
            <a:rect l="l" t="t" r="r" b="b"/>
            <a:pathLst>
              <a:path w="182879" h="332739">
                <a:moveTo>
                  <a:pt x="0" y="0"/>
                </a:moveTo>
                <a:lnTo>
                  <a:pt x="182879" y="3327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050790" y="552957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0" y="0"/>
                </a:moveTo>
                <a:lnTo>
                  <a:pt x="17018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02285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0" y="0"/>
                </a:moveTo>
                <a:lnTo>
                  <a:pt x="227329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017770" y="4917440"/>
            <a:ext cx="120650" cy="528320"/>
          </a:xfrm>
          <a:custGeom>
            <a:avLst/>
            <a:gdLst/>
            <a:ahLst/>
            <a:cxnLst/>
            <a:rect l="l" t="t" r="r" b="b"/>
            <a:pathLst>
              <a:path w="120650" h="528320">
                <a:moveTo>
                  <a:pt x="0" y="0"/>
                </a:moveTo>
                <a:lnTo>
                  <a:pt x="120650" y="5283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7655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765550" y="39331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765550" y="39331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46550" y="43154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901440" y="3940809"/>
            <a:ext cx="75311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587375" algn="l"/>
              </a:tabLst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t	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4056379" y="32816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056379" y="32816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056379" y="32816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37379" y="36626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4157979" y="32893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381500" y="3606800"/>
            <a:ext cx="184150" cy="326390"/>
          </a:xfrm>
          <a:custGeom>
            <a:avLst/>
            <a:gdLst/>
            <a:ahLst/>
            <a:cxnLst/>
            <a:rect l="l" t="t" r="r" b="b"/>
            <a:pathLst>
              <a:path w="184150" h="326389">
                <a:moveTo>
                  <a:pt x="0" y="0"/>
                </a:moveTo>
                <a:lnTo>
                  <a:pt x="184150" y="3263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3956050" y="3606800"/>
            <a:ext cx="156210" cy="326390"/>
          </a:xfrm>
          <a:custGeom>
            <a:avLst/>
            <a:gdLst/>
            <a:ahLst/>
            <a:cxnLst/>
            <a:rect l="l" t="t" r="r" b="b"/>
            <a:pathLst>
              <a:path w="156210" h="326389">
                <a:moveTo>
                  <a:pt x="156210" y="0"/>
                </a:moveTo>
                <a:lnTo>
                  <a:pt x="0" y="3263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555490" y="552957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527550" y="5457190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660900" y="4917440"/>
            <a:ext cx="87630" cy="464820"/>
          </a:xfrm>
          <a:custGeom>
            <a:avLst/>
            <a:gdLst/>
            <a:ahLst/>
            <a:cxnLst/>
            <a:rect l="l" t="t" r="r" b="b"/>
            <a:pathLst>
              <a:path w="87629" h="464820">
                <a:moveTo>
                  <a:pt x="87629" y="0"/>
                </a:moveTo>
                <a:lnTo>
                  <a:pt x="0" y="4648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3092450" y="4259579"/>
            <a:ext cx="488950" cy="284480"/>
          </a:xfrm>
          <a:custGeom>
            <a:avLst/>
            <a:gdLst/>
            <a:ahLst/>
            <a:cxnLst/>
            <a:rect l="l" t="t" r="r" b="b"/>
            <a:pathLst>
              <a:path w="488950" h="284479">
                <a:moveTo>
                  <a:pt x="0" y="71120"/>
                </a:moveTo>
                <a:lnTo>
                  <a:pt x="367029" y="71120"/>
                </a:lnTo>
                <a:lnTo>
                  <a:pt x="367029" y="0"/>
                </a:lnTo>
                <a:lnTo>
                  <a:pt x="488950" y="142240"/>
                </a:lnTo>
                <a:lnTo>
                  <a:pt x="367029" y="284480"/>
                </a:lnTo>
                <a:lnTo>
                  <a:pt x="367029" y="213360"/>
                </a:lnTo>
                <a:lnTo>
                  <a:pt x="0" y="213360"/>
                </a:lnTo>
                <a:lnTo>
                  <a:pt x="0" y="7112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3092450" y="42595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3581400" y="45440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6037579" y="2904490"/>
            <a:ext cx="2405380" cy="184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Obs1: Se </a:t>
            </a:r>
            <a:r>
              <a:rPr sz="2400" dirty="0">
                <a:latin typeface="Times New Roman"/>
                <a:cs typeface="Times New Roman"/>
              </a:rPr>
              <a:t>o pai de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  </a:t>
            </a:r>
            <a:r>
              <a:rPr sz="2400" dirty="0">
                <a:latin typeface="Times New Roman"/>
                <a:cs typeface="Times New Roman"/>
              </a:rPr>
              <a:t>é vermelho, o  </a:t>
            </a:r>
            <a:r>
              <a:rPr sz="2400" spc="-5" dirty="0">
                <a:latin typeface="Times New Roman"/>
                <a:cs typeface="Times New Roman"/>
              </a:rPr>
              <a:t>rebalanceamento  </a:t>
            </a:r>
            <a:r>
              <a:rPr sz="2400" dirty="0">
                <a:latin typeface="Times New Roman"/>
                <a:cs typeface="Times New Roman"/>
              </a:rPr>
              <a:t>tem que </a:t>
            </a:r>
            <a:r>
              <a:rPr sz="2400" spc="-5" dirty="0">
                <a:latin typeface="Times New Roman"/>
                <a:cs typeface="Times New Roman"/>
              </a:rPr>
              <a:t>ser </a:t>
            </a:r>
            <a:r>
              <a:rPr sz="2400" dirty="0">
                <a:latin typeface="Times New Roman"/>
                <a:cs typeface="Times New Roman"/>
              </a:rPr>
              <a:t>feito  novamente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037579" y="5099050"/>
            <a:ext cx="2904490" cy="742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5" dirty="0">
                <a:latin typeface="Times New Roman"/>
                <a:cs typeface="Times New Roman"/>
              </a:rPr>
              <a:t>Obs2: Se </a:t>
            </a:r>
            <a:r>
              <a:rPr sz="2400" dirty="0">
                <a:latin typeface="Times New Roman"/>
                <a:cs typeface="Times New Roman"/>
              </a:rPr>
              <a:t>a é raiz,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então  ele deve </a:t>
            </a:r>
            <a:r>
              <a:rPr sz="2400" spc="-5" dirty="0">
                <a:latin typeface="Times New Roman"/>
                <a:cs typeface="Times New Roman"/>
              </a:rPr>
              <a:t>ser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preto!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30679"/>
            <a:ext cx="123825" cy="345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Arial"/>
                <a:cs typeface="Arial"/>
              </a:rPr>
              <a:t>•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9" y="1645920"/>
            <a:ext cx="7120255" cy="1751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65" dirty="0">
                <a:latin typeface="Trebuchet MS"/>
                <a:cs typeface="Trebuchet MS"/>
              </a:rPr>
              <a:t>Caso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-25" dirty="0">
                <a:latin typeface="Trebuchet MS"/>
                <a:cs typeface="Trebuchet MS"/>
              </a:rPr>
              <a:t>3: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65" dirty="0">
                <a:latin typeface="Trebuchet MS"/>
                <a:cs typeface="Trebuchet MS"/>
              </a:rPr>
              <a:t>Suponha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que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50" dirty="0">
                <a:latin typeface="Trebuchet MS"/>
                <a:cs typeface="Trebuchet MS"/>
              </a:rPr>
              <a:t>tio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do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-5" dirty="0">
                <a:latin typeface="Trebuchet MS"/>
                <a:cs typeface="Trebuchet MS"/>
              </a:rPr>
              <a:t>elemento</a:t>
            </a:r>
            <a:r>
              <a:rPr sz="2200" spc="-35" dirty="0">
                <a:latin typeface="Trebuchet MS"/>
                <a:cs typeface="Trebuchet MS"/>
              </a:rPr>
              <a:t> </a:t>
            </a:r>
            <a:r>
              <a:rPr sz="2200" spc="5" dirty="0">
                <a:latin typeface="Trebuchet MS"/>
                <a:cs typeface="Trebuchet MS"/>
              </a:rPr>
              <a:t>inserido</a:t>
            </a:r>
            <a:r>
              <a:rPr sz="2200" spc="-40" dirty="0">
                <a:latin typeface="Trebuchet MS"/>
                <a:cs typeface="Trebuchet MS"/>
              </a:rPr>
              <a:t> </a:t>
            </a:r>
            <a:r>
              <a:rPr sz="2200" spc="15" dirty="0">
                <a:latin typeface="Trebuchet MS"/>
                <a:cs typeface="Trebuchet MS"/>
              </a:rPr>
              <a:t>é</a:t>
            </a:r>
            <a:r>
              <a:rPr sz="2200" spc="-45" dirty="0">
                <a:latin typeface="Trebuchet MS"/>
                <a:cs typeface="Trebuchet MS"/>
              </a:rPr>
              <a:t> </a:t>
            </a:r>
            <a:r>
              <a:rPr sz="2200" spc="-60" dirty="0">
                <a:latin typeface="Trebuchet MS"/>
                <a:cs typeface="Trebuchet MS"/>
              </a:rPr>
              <a:t>preto.  </a:t>
            </a:r>
            <a:r>
              <a:rPr sz="2200" spc="25" dirty="0">
                <a:latin typeface="Trebuchet MS"/>
                <a:cs typeface="Trebuchet MS"/>
              </a:rPr>
              <a:t>Neste </a:t>
            </a:r>
            <a:r>
              <a:rPr sz="2200" spc="5" dirty="0">
                <a:latin typeface="Trebuchet MS"/>
                <a:cs typeface="Trebuchet MS"/>
              </a:rPr>
              <a:t>caso, </a:t>
            </a:r>
            <a:r>
              <a:rPr sz="2200" spc="25" dirty="0">
                <a:latin typeface="Trebuchet MS"/>
                <a:cs typeface="Trebuchet MS"/>
              </a:rPr>
              <a:t>para </a:t>
            </a:r>
            <a:r>
              <a:rPr sz="2200" spc="10" dirty="0">
                <a:latin typeface="Trebuchet MS"/>
                <a:cs typeface="Trebuchet MS"/>
              </a:rPr>
              <a:t>manter </a:t>
            </a:r>
            <a:r>
              <a:rPr sz="2200" spc="30" dirty="0">
                <a:latin typeface="Trebuchet MS"/>
                <a:cs typeface="Trebuchet MS"/>
              </a:rPr>
              <a:t>o </a:t>
            </a:r>
            <a:r>
              <a:rPr sz="2200" spc="-40" dirty="0">
                <a:latin typeface="Trebuchet MS"/>
                <a:cs typeface="Trebuchet MS"/>
              </a:rPr>
              <a:t>critério </a:t>
            </a:r>
            <a:r>
              <a:rPr sz="2200" spc="5" dirty="0">
                <a:latin typeface="Trebuchet MS"/>
                <a:cs typeface="Trebuchet MS"/>
              </a:rPr>
              <a:t>(4) </a:t>
            </a:r>
            <a:r>
              <a:rPr sz="2200" spc="15" dirty="0">
                <a:latin typeface="Trebuchet MS"/>
                <a:cs typeface="Trebuchet MS"/>
              </a:rPr>
              <a:t>é </a:t>
            </a:r>
            <a:r>
              <a:rPr sz="2200" spc="5" dirty="0">
                <a:latin typeface="Trebuchet MS"/>
                <a:cs typeface="Trebuchet MS"/>
              </a:rPr>
              <a:t>preciso </a:t>
            </a:r>
            <a:r>
              <a:rPr sz="2200" spc="-25" dirty="0">
                <a:latin typeface="Trebuchet MS"/>
                <a:cs typeface="Trebuchet MS"/>
              </a:rPr>
              <a:t>fazer  </a:t>
            </a:r>
            <a:r>
              <a:rPr sz="2200" spc="5" dirty="0">
                <a:latin typeface="Trebuchet MS"/>
                <a:cs typeface="Trebuchet MS"/>
              </a:rPr>
              <a:t>rotações </a:t>
            </a:r>
            <a:r>
              <a:rPr sz="2200" spc="25" dirty="0">
                <a:latin typeface="Trebuchet MS"/>
                <a:cs typeface="Trebuchet MS"/>
              </a:rPr>
              <a:t>envolvendo </a:t>
            </a:r>
            <a:r>
              <a:rPr sz="2200" spc="-65" dirty="0">
                <a:latin typeface="Trebuchet MS"/>
                <a:cs typeface="Trebuchet MS"/>
              </a:rPr>
              <a:t>a, </a:t>
            </a:r>
            <a:r>
              <a:rPr sz="2200" spc="-140" dirty="0">
                <a:latin typeface="Trebuchet MS"/>
                <a:cs typeface="Trebuchet MS"/>
              </a:rPr>
              <a:t>t, </a:t>
            </a:r>
            <a:r>
              <a:rPr sz="2200" spc="30" dirty="0">
                <a:latin typeface="Trebuchet MS"/>
                <a:cs typeface="Trebuchet MS"/>
              </a:rPr>
              <a:t>p </a:t>
            </a:r>
            <a:r>
              <a:rPr sz="2200" spc="15" dirty="0">
                <a:latin typeface="Trebuchet MS"/>
                <a:cs typeface="Trebuchet MS"/>
              </a:rPr>
              <a:t>e</a:t>
            </a:r>
            <a:r>
              <a:rPr sz="2200" spc="-165" dirty="0">
                <a:latin typeface="Trebuchet MS"/>
                <a:cs typeface="Trebuchet MS"/>
              </a:rPr>
              <a:t> </a:t>
            </a:r>
            <a:r>
              <a:rPr sz="2200" spc="-65" dirty="0">
                <a:latin typeface="Trebuchet MS"/>
                <a:cs typeface="Trebuchet MS"/>
              </a:rPr>
              <a:t>x.</a:t>
            </a:r>
            <a:endParaRPr sz="2200">
              <a:latin typeface="Trebuchet MS"/>
              <a:cs typeface="Trebuchet MS"/>
            </a:endParaRPr>
          </a:p>
          <a:p>
            <a:pPr marL="412750" marR="683895" indent="-285750">
              <a:lnSpc>
                <a:spcPct val="100000"/>
              </a:lnSpc>
              <a:spcBef>
                <a:spcPts val="590"/>
              </a:spcBef>
              <a:tabLst>
                <a:tab pos="412115" algn="l"/>
              </a:tabLst>
            </a:pPr>
            <a:r>
              <a:rPr sz="3300" baseline="2525" dirty="0">
                <a:latin typeface="Arial"/>
                <a:cs typeface="Arial"/>
              </a:rPr>
              <a:t>–	</a:t>
            </a:r>
            <a:r>
              <a:rPr sz="2200" spc="50" dirty="0">
                <a:latin typeface="Trebuchet MS"/>
                <a:cs typeface="Trebuchet MS"/>
              </a:rPr>
              <a:t>Há</a:t>
            </a:r>
            <a:r>
              <a:rPr sz="2200" spc="-60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4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70" dirty="0">
                <a:latin typeface="Trebuchet MS"/>
                <a:cs typeface="Trebuchet MS"/>
              </a:rPr>
              <a:t>subcasos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30" dirty="0">
                <a:latin typeface="Trebuchet MS"/>
                <a:cs typeface="Trebuchet MS"/>
              </a:rPr>
              <a:t>que</a:t>
            </a:r>
            <a:r>
              <a:rPr sz="2200" spc="-65" dirty="0">
                <a:latin typeface="Trebuchet MS"/>
                <a:cs typeface="Trebuchet MS"/>
              </a:rPr>
              <a:t> </a:t>
            </a:r>
            <a:r>
              <a:rPr sz="2200" spc="20" dirty="0">
                <a:latin typeface="Trebuchet MS"/>
                <a:cs typeface="Trebuchet MS"/>
              </a:rPr>
              <a:t>correspondem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às</a:t>
            </a:r>
            <a:r>
              <a:rPr sz="2200" spc="-55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4</a:t>
            </a:r>
            <a:r>
              <a:rPr sz="2200" spc="-50" dirty="0">
                <a:latin typeface="Trebuchet MS"/>
                <a:cs typeface="Trebuchet MS"/>
              </a:rPr>
              <a:t> </a:t>
            </a:r>
            <a:r>
              <a:rPr sz="2200" spc="5" dirty="0">
                <a:latin typeface="Trebuchet MS"/>
                <a:cs typeface="Trebuchet MS"/>
              </a:rPr>
              <a:t>rotações </a:t>
            </a:r>
            <a:r>
              <a:rPr sz="2200" spc="30" dirty="0">
                <a:latin typeface="Trebuchet MS"/>
                <a:cs typeface="Trebuchet MS"/>
              </a:rPr>
              <a:t> </a:t>
            </a:r>
            <a:r>
              <a:rPr sz="2200" spc="25" dirty="0">
                <a:latin typeface="Trebuchet MS"/>
                <a:cs typeface="Trebuchet MS"/>
              </a:rPr>
              <a:t>possíveis:</a:t>
            </a:r>
            <a:endParaRPr sz="22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20109" y="3789679"/>
            <a:ext cx="2200910" cy="2819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64410">
              <a:lnSpc>
                <a:spcPct val="100000"/>
              </a:lnSpc>
            </a:pPr>
            <a:r>
              <a:rPr spc="140" dirty="0"/>
              <a:t>E</a:t>
            </a:r>
            <a:r>
              <a:rPr spc="-10" dirty="0"/>
              <a:t>x</a:t>
            </a:r>
            <a:r>
              <a:rPr spc="105" dirty="0"/>
              <a:t>em</a:t>
            </a:r>
            <a:r>
              <a:rPr spc="80" dirty="0"/>
              <a:t>p</a:t>
            </a:r>
            <a:r>
              <a:rPr spc="-200" dirty="0"/>
              <a:t>l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5223510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5" dirty="0">
                <a:latin typeface="Trebuchet MS"/>
                <a:cs typeface="Trebuchet MS"/>
              </a:rPr>
              <a:t>3a: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38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Direita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70760" y="301371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270760" y="301371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270760" y="30137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653029" y="3394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73629" y="30213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597150" y="3338829"/>
            <a:ext cx="341630" cy="283210"/>
          </a:xfrm>
          <a:custGeom>
            <a:avLst/>
            <a:gdLst/>
            <a:ahLst/>
            <a:cxnLst/>
            <a:rect l="l" t="t" r="r" b="b"/>
            <a:pathLst>
              <a:path w="341630" h="283210">
                <a:moveTo>
                  <a:pt x="0" y="0"/>
                </a:moveTo>
                <a:lnTo>
                  <a:pt x="341630" y="2832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1029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91029" y="3657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91029" y="3657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272029" y="4038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92629" y="36652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081529" y="3338829"/>
            <a:ext cx="246379" cy="318770"/>
          </a:xfrm>
          <a:custGeom>
            <a:avLst/>
            <a:gdLst/>
            <a:ahLst/>
            <a:cxnLst/>
            <a:rect l="l" t="t" r="r" b="b"/>
            <a:pathLst>
              <a:path w="246380" h="318770">
                <a:moveTo>
                  <a:pt x="246380" y="0"/>
                </a:moveTo>
                <a:lnTo>
                  <a:pt x="0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16150" y="3982720"/>
            <a:ext cx="322580" cy="477520"/>
          </a:xfrm>
          <a:custGeom>
            <a:avLst/>
            <a:gdLst/>
            <a:ahLst/>
            <a:cxnLst/>
            <a:rect l="l" t="t" r="r" b="b"/>
            <a:pathLst>
              <a:path w="322580" h="477520">
                <a:moveTo>
                  <a:pt x="0" y="0"/>
                </a:moveTo>
                <a:lnTo>
                  <a:pt x="322580" y="4775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151879" y="29375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51879" y="29375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532880" y="29375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51879" y="3318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253479" y="29451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662929" y="3261359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55118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69163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691630" y="3581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072630" y="3581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6690359" y="39624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6793230" y="35890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483350" y="3261359"/>
            <a:ext cx="398780" cy="320040"/>
          </a:xfrm>
          <a:custGeom>
            <a:avLst/>
            <a:gdLst/>
            <a:ahLst/>
            <a:cxnLst/>
            <a:rect l="l" t="t" r="r" b="b"/>
            <a:pathLst>
              <a:path w="398779" h="320039">
                <a:moveTo>
                  <a:pt x="0" y="0"/>
                </a:moveTo>
                <a:lnTo>
                  <a:pt x="398779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499859" y="3906520"/>
            <a:ext cx="247650" cy="402590"/>
          </a:xfrm>
          <a:custGeom>
            <a:avLst/>
            <a:gdLst/>
            <a:ahLst/>
            <a:cxnLst/>
            <a:rect l="l" t="t" r="r" b="b"/>
            <a:pathLst>
              <a:path w="247650" h="402589">
                <a:moveTo>
                  <a:pt x="247649" y="0"/>
                </a:moveTo>
                <a:lnTo>
                  <a:pt x="0" y="4025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016750" y="3906520"/>
            <a:ext cx="208279" cy="402590"/>
          </a:xfrm>
          <a:custGeom>
            <a:avLst/>
            <a:gdLst/>
            <a:ahLst/>
            <a:cxnLst/>
            <a:rect l="l" t="t" r="r" b="b"/>
            <a:pathLst>
              <a:path w="208279" h="402589">
                <a:moveTo>
                  <a:pt x="0" y="0"/>
                </a:moveTo>
                <a:lnTo>
                  <a:pt x="208279" y="4025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309369" y="55270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281430" y="54521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10030" y="44602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10030" y="44602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10030" y="44602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91029" y="48425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413510" y="4786629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15240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42770" y="55067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14829" y="54305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35150" y="47866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0" y="0"/>
                </a:moveTo>
                <a:lnTo>
                  <a:pt x="11303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700529" y="3982720"/>
            <a:ext cx="246379" cy="477520"/>
          </a:xfrm>
          <a:custGeom>
            <a:avLst/>
            <a:gdLst/>
            <a:ahLst/>
            <a:cxnLst/>
            <a:rect l="l" t="t" r="r" b="b"/>
            <a:pathLst>
              <a:path w="246380" h="477520">
                <a:moveTo>
                  <a:pt x="246380" y="0"/>
                </a:moveTo>
                <a:lnTo>
                  <a:pt x="0" y="4775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5271770" y="46126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5243829" y="45377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5471159" y="354584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5471159" y="354584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471159" y="35458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5853429" y="39281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5581650" y="355345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375909" y="3872229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15240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5805170" y="45923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5777229" y="45161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797550" y="38722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29" h="567689">
                <a:moveTo>
                  <a:pt x="0" y="0"/>
                </a:moveTo>
                <a:lnTo>
                  <a:pt x="113029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33370" y="37744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5429" y="36995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/>
          <p:nvPr/>
        </p:nvSpPr>
        <p:spPr>
          <a:xfrm>
            <a:off x="3083560" y="34607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452370" y="46126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424429" y="45377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165340" y="443992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137400" y="436372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619250" y="4126229"/>
            <a:ext cx="5906770" cy="718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785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85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414770" y="446024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0" y="0"/>
                </a:moveTo>
                <a:lnTo>
                  <a:pt x="17145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86829" y="438530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580379" y="4900929"/>
            <a:ext cx="1721485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p 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572452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5" dirty="0">
                <a:latin typeface="Trebuchet MS"/>
                <a:cs typeface="Trebuchet MS"/>
              </a:rPr>
              <a:t>3b: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36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Esquerda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993900" y="295656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993900" y="295656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4172"/>
                </a:lnTo>
                <a:lnTo>
                  <a:pt x="18883" y="274760"/>
                </a:lnTo>
                <a:lnTo>
                  <a:pt x="40988" y="310061"/>
                </a:lnTo>
                <a:lnTo>
                  <a:pt x="70201" y="339141"/>
                </a:lnTo>
                <a:lnTo>
                  <a:pt x="105524" y="361068"/>
                </a:lnTo>
                <a:lnTo>
                  <a:pt x="145957" y="374909"/>
                </a:lnTo>
                <a:lnTo>
                  <a:pt x="190500" y="379729"/>
                </a:lnTo>
                <a:lnTo>
                  <a:pt x="235042" y="374909"/>
                </a:lnTo>
                <a:lnTo>
                  <a:pt x="275475" y="361068"/>
                </a:lnTo>
                <a:lnTo>
                  <a:pt x="310798" y="339141"/>
                </a:lnTo>
                <a:lnTo>
                  <a:pt x="340011" y="310061"/>
                </a:lnTo>
                <a:lnTo>
                  <a:pt x="362116" y="274760"/>
                </a:lnTo>
                <a:lnTo>
                  <a:pt x="376112" y="2341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374900" y="295656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993900" y="33375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95500" y="29641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25929" y="3280409"/>
            <a:ext cx="323850" cy="284480"/>
          </a:xfrm>
          <a:custGeom>
            <a:avLst/>
            <a:gdLst/>
            <a:ahLst/>
            <a:cxnLst/>
            <a:rect l="l" t="t" r="r" b="b"/>
            <a:pathLst>
              <a:path w="323850" h="284479">
                <a:moveTo>
                  <a:pt x="32385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4900" y="3600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374900" y="36004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755900" y="36004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373629" y="39814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76500" y="36080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19020" y="3280409"/>
            <a:ext cx="246379" cy="320040"/>
          </a:xfrm>
          <a:custGeom>
            <a:avLst/>
            <a:gdLst/>
            <a:ahLst/>
            <a:cxnLst/>
            <a:rect l="l" t="t" r="r" b="b"/>
            <a:pathLst>
              <a:path w="246380" h="320039">
                <a:moveTo>
                  <a:pt x="0" y="0"/>
                </a:moveTo>
                <a:lnTo>
                  <a:pt x="246380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106929" y="3925570"/>
            <a:ext cx="323850" cy="478790"/>
          </a:xfrm>
          <a:custGeom>
            <a:avLst/>
            <a:gdLst/>
            <a:ahLst/>
            <a:cxnLst/>
            <a:rect l="l" t="t" r="r" b="b"/>
            <a:pathLst>
              <a:path w="323850" h="478789">
                <a:moveTo>
                  <a:pt x="32385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166110" y="547115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136900" y="53949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749550" y="4404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749550" y="44043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130550" y="4404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2749550" y="4785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81020" y="4729479"/>
            <a:ext cx="168910" cy="589280"/>
          </a:xfrm>
          <a:custGeom>
            <a:avLst/>
            <a:gdLst/>
            <a:ahLst/>
            <a:cxnLst/>
            <a:rect l="l" t="t" r="r" b="b"/>
            <a:pathLst>
              <a:path w="168910" h="589279">
                <a:moveTo>
                  <a:pt x="0" y="0"/>
                </a:moveTo>
                <a:lnTo>
                  <a:pt x="16891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631439" y="544957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2603500" y="537337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2716529" y="4729479"/>
            <a:ext cx="93980" cy="567690"/>
          </a:xfrm>
          <a:custGeom>
            <a:avLst/>
            <a:gdLst/>
            <a:ahLst/>
            <a:cxnLst/>
            <a:rect l="l" t="t" r="r" b="b"/>
            <a:pathLst>
              <a:path w="93980" h="567689">
                <a:moveTo>
                  <a:pt x="93980" y="0"/>
                </a:moveTo>
                <a:lnTo>
                  <a:pt x="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2700020" y="3925570"/>
            <a:ext cx="245110" cy="478790"/>
          </a:xfrm>
          <a:custGeom>
            <a:avLst/>
            <a:gdLst/>
            <a:ahLst/>
            <a:cxnLst/>
            <a:rect l="l" t="t" r="r" b="b"/>
            <a:pathLst>
              <a:path w="245110" h="478789">
                <a:moveTo>
                  <a:pt x="0" y="0"/>
                </a:moveTo>
                <a:lnTo>
                  <a:pt x="24511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640839" y="37172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12900" y="36423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45260" y="340487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023110" y="455675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80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993900" y="44805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02070" y="28790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402070" y="287908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402070" y="28790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83069" y="3261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503669" y="288670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727190" y="3205479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68670" y="352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68670" y="352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68670" y="3524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50940" y="3905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970270" y="35318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59170" y="3205479"/>
            <a:ext cx="398780" cy="318770"/>
          </a:xfrm>
          <a:custGeom>
            <a:avLst/>
            <a:gdLst/>
            <a:ahLst/>
            <a:cxnLst/>
            <a:rect l="l" t="t" r="r" b="b"/>
            <a:pathLst>
              <a:path w="398779" h="318770">
                <a:moveTo>
                  <a:pt x="398779" y="0"/>
                </a:moveTo>
                <a:lnTo>
                  <a:pt x="0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93790" y="3849370"/>
            <a:ext cx="203200" cy="516890"/>
          </a:xfrm>
          <a:custGeom>
            <a:avLst/>
            <a:gdLst/>
            <a:ahLst/>
            <a:cxnLst/>
            <a:rect l="l" t="t" r="r" b="b"/>
            <a:pathLst>
              <a:path w="203200" h="516889">
                <a:moveTo>
                  <a:pt x="0" y="0"/>
                </a:moveTo>
                <a:lnTo>
                  <a:pt x="203200" y="5168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811520" y="3849370"/>
            <a:ext cx="113030" cy="516890"/>
          </a:xfrm>
          <a:custGeom>
            <a:avLst/>
            <a:gdLst/>
            <a:ahLst/>
            <a:cxnLst/>
            <a:rect l="l" t="t" r="r" b="b"/>
            <a:pathLst>
              <a:path w="113029" h="516889">
                <a:moveTo>
                  <a:pt x="113029" y="0"/>
                </a:moveTo>
                <a:lnTo>
                  <a:pt x="0" y="5168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98080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68869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81519" y="348995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70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70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7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81519" y="348995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70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70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7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63790" y="34899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81519" y="38709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192009" y="349757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412990" y="3815079"/>
            <a:ext cx="151130" cy="551180"/>
          </a:xfrm>
          <a:custGeom>
            <a:avLst/>
            <a:gdLst/>
            <a:ahLst/>
            <a:cxnLst/>
            <a:rect l="l" t="t" r="r" b="b"/>
            <a:pathLst>
              <a:path w="151129" h="551179">
                <a:moveTo>
                  <a:pt x="0" y="0"/>
                </a:moveTo>
                <a:lnTo>
                  <a:pt x="151129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913880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84669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79919" y="3815079"/>
            <a:ext cx="163830" cy="551180"/>
          </a:xfrm>
          <a:custGeom>
            <a:avLst/>
            <a:gdLst/>
            <a:ahLst/>
            <a:cxnLst/>
            <a:rect l="l" t="t" r="r" b="b"/>
            <a:pathLst>
              <a:path w="163829" h="551179">
                <a:moveTo>
                  <a:pt x="163829" y="0"/>
                </a:moveTo>
                <a:lnTo>
                  <a:pt x="0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45479" y="4517390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8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16270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2860039" y="4069079"/>
            <a:ext cx="2658110" cy="720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ts val="279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79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329679" y="4517390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300470" y="444245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>
                <a:moveTo>
                  <a:pt x="22860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 txBox="1"/>
          <p:nvPr/>
        </p:nvSpPr>
        <p:spPr>
          <a:xfrm>
            <a:off x="5939790" y="4756150"/>
            <a:ext cx="1722120" cy="224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p 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59840"/>
            <a:ext cx="7833995" cy="157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25" dirty="0">
                <a:latin typeface="Trebuchet MS"/>
                <a:cs typeface="Trebuchet MS"/>
              </a:rPr>
              <a:t>3c: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60" dirty="0">
                <a:latin typeface="Trebuchet MS"/>
                <a:cs typeface="Trebuchet MS"/>
              </a:rPr>
              <a:t>Dupla</a:t>
            </a:r>
            <a:r>
              <a:rPr sz="3200" spc="-325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Esquerda</a:t>
            </a:r>
            <a:endParaRPr sz="3200">
              <a:latin typeface="Trebuchet MS"/>
              <a:cs typeface="Trebuchet MS"/>
            </a:endParaRPr>
          </a:p>
          <a:p>
            <a:pPr marL="355600" marR="5080" indent="-342900">
              <a:lnSpc>
                <a:spcPts val="3829"/>
              </a:lnSpc>
              <a:spcBef>
                <a:spcPts val="935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5" dirty="0">
                <a:latin typeface="Trebuchet MS"/>
                <a:cs typeface="Trebuchet MS"/>
              </a:rPr>
              <a:t>Pode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visto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3a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seguido 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26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3b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45589" y="32156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45589" y="321563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926589" y="321563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45589" y="35979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48460" y="32245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61110" y="3539490"/>
            <a:ext cx="340360" cy="287020"/>
          </a:xfrm>
          <a:custGeom>
            <a:avLst/>
            <a:gdLst/>
            <a:ahLst/>
            <a:cxnLst/>
            <a:rect l="l" t="t" r="r" b="b"/>
            <a:pathLst>
              <a:path w="340359" h="287020">
                <a:moveTo>
                  <a:pt x="340359" y="0"/>
                </a:moveTo>
                <a:lnTo>
                  <a:pt x="0" y="287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71979" y="3540759"/>
            <a:ext cx="312420" cy="320040"/>
          </a:xfrm>
          <a:custGeom>
            <a:avLst/>
            <a:gdLst/>
            <a:ahLst/>
            <a:cxnLst/>
            <a:rect l="l" t="t" r="r" b="b"/>
            <a:pathLst>
              <a:path w="312419" h="320039">
                <a:moveTo>
                  <a:pt x="0" y="0"/>
                </a:moveTo>
                <a:lnTo>
                  <a:pt x="312419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93800" y="39738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65860" y="39014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99489" y="36639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993900" y="386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93900" y="38608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993900" y="386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74900" y="4241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095500" y="38684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319020" y="4185920"/>
            <a:ext cx="322580" cy="480059"/>
          </a:xfrm>
          <a:custGeom>
            <a:avLst/>
            <a:gdLst/>
            <a:ahLst/>
            <a:cxnLst/>
            <a:rect l="l" t="t" r="r" b="b"/>
            <a:pathLst>
              <a:path w="322580" h="480060">
                <a:moveTo>
                  <a:pt x="0" y="0"/>
                </a:moveTo>
                <a:lnTo>
                  <a:pt x="322580" y="4800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412239" y="57264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09" h="1270">
                <a:moveTo>
                  <a:pt x="0" y="0"/>
                </a:moveTo>
                <a:lnTo>
                  <a:pt x="16890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384300" y="565404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59" h="1270">
                <a:moveTo>
                  <a:pt x="0" y="0"/>
                </a:moveTo>
                <a:lnTo>
                  <a:pt x="22605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612900" y="46647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612900" y="46647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20"/>
                </a:lnTo>
                <a:lnTo>
                  <a:pt x="275475" y="18661"/>
                </a:lnTo>
                <a:lnTo>
                  <a:pt x="310798" y="40588"/>
                </a:lnTo>
                <a:lnTo>
                  <a:pt x="340011" y="69668"/>
                </a:lnTo>
                <a:lnTo>
                  <a:pt x="362116" y="104969"/>
                </a:lnTo>
                <a:lnTo>
                  <a:pt x="376112" y="145557"/>
                </a:lnTo>
                <a:lnTo>
                  <a:pt x="381000" y="190500"/>
                </a:lnTo>
                <a:lnTo>
                  <a:pt x="376112" y="234972"/>
                </a:lnTo>
                <a:lnTo>
                  <a:pt x="362116" y="275223"/>
                </a:lnTo>
                <a:lnTo>
                  <a:pt x="340011" y="310298"/>
                </a:lnTo>
                <a:lnTo>
                  <a:pt x="310798" y="339241"/>
                </a:lnTo>
                <a:lnTo>
                  <a:pt x="275475" y="361098"/>
                </a:lnTo>
                <a:lnTo>
                  <a:pt x="235042" y="374912"/>
                </a:lnTo>
                <a:lnTo>
                  <a:pt x="190500" y="379729"/>
                </a:lnTo>
                <a:lnTo>
                  <a:pt x="145957" y="374912"/>
                </a:lnTo>
                <a:lnTo>
                  <a:pt x="105524" y="361098"/>
                </a:lnTo>
                <a:lnTo>
                  <a:pt x="70201" y="339241"/>
                </a:lnTo>
                <a:lnTo>
                  <a:pt x="40988" y="310298"/>
                </a:lnTo>
                <a:lnTo>
                  <a:pt x="18883" y="275223"/>
                </a:lnTo>
                <a:lnTo>
                  <a:pt x="4887" y="234972"/>
                </a:lnTo>
                <a:lnTo>
                  <a:pt x="0" y="190500"/>
                </a:lnTo>
                <a:lnTo>
                  <a:pt x="4887" y="145557"/>
                </a:lnTo>
                <a:lnTo>
                  <a:pt x="18883" y="104969"/>
                </a:lnTo>
                <a:lnTo>
                  <a:pt x="40988" y="69668"/>
                </a:lnTo>
                <a:lnTo>
                  <a:pt x="70201" y="40588"/>
                </a:lnTo>
                <a:lnTo>
                  <a:pt x="105524" y="18661"/>
                </a:lnTo>
                <a:lnTo>
                  <a:pt x="145957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612900" y="4664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993900" y="50457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722120" y="46723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517650" y="4989829"/>
            <a:ext cx="151130" cy="589280"/>
          </a:xfrm>
          <a:custGeom>
            <a:avLst/>
            <a:gdLst/>
            <a:ahLst/>
            <a:cxnLst/>
            <a:rect l="l" t="t" r="r" b="b"/>
            <a:pathLst>
              <a:path w="151130" h="589279">
                <a:moveTo>
                  <a:pt x="151130" y="0"/>
                </a:moveTo>
                <a:lnTo>
                  <a:pt x="0" y="5892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45639" y="57061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80">
                <a:moveTo>
                  <a:pt x="0" y="0"/>
                </a:moveTo>
                <a:lnTo>
                  <a:pt x="17018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917700" y="56337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938020" y="49898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0" y="0"/>
                </a:moveTo>
                <a:lnTo>
                  <a:pt x="11303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03400" y="4185920"/>
            <a:ext cx="246379" cy="478790"/>
          </a:xfrm>
          <a:custGeom>
            <a:avLst/>
            <a:gdLst/>
            <a:ahLst/>
            <a:cxnLst/>
            <a:rect l="l" t="t" r="r" b="b"/>
            <a:pathLst>
              <a:path w="246380" h="478789">
                <a:moveTo>
                  <a:pt x="24638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555239" y="48120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2527300" y="473964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877050" y="3576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877050" y="3576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877050" y="3576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258050" y="3957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986269" y="35839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202169" y="3901440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343650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343650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343650" y="4220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6724650" y="46024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6445250" y="42291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6534150" y="3901440"/>
            <a:ext cx="398780" cy="320040"/>
          </a:xfrm>
          <a:custGeom>
            <a:avLst/>
            <a:gdLst/>
            <a:ahLst/>
            <a:cxnLst/>
            <a:rect l="l" t="t" r="r" b="b"/>
            <a:pathLst>
              <a:path w="398779" h="320039">
                <a:moveTo>
                  <a:pt x="398779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6668769" y="4546600"/>
            <a:ext cx="201930" cy="515620"/>
          </a:xfrm>
          <a:custGeom>
            <a:avLst/>
            <a:gdLst/>
            <a:ahLst/>
            <a:cxnLst/>
            <a:rect l="l" t="t" r="r" b="b"/>
            <a:pathLst>
              <a:path w="201929" h="515620">
                <a:moveTo>
                  <a:pt x="0" y="0"/>
                </a:moveTo>
                <a:lnTo>
                  <a:pt x="201929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286500" y="4546600"/>
            <a:ext cx="113030" cy="515620"/>
          </a:xfrm>
          <a:custGeom>
            <a:avLst/>
            <a:gdLst/>
            <a:ahLst/>
            <a:cxnLst/>
            <a:rect l="l" t="t" r="r" b="b"/>
            <a:pathLst>
              <a:path w="113029" h="515620">
                <a:moveTo>
                  <a:pt x="113029" y="0"/>
                </a:moveTo>
                <a:lnTo>
                  <a:pt x="0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9717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943850" y="513842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22605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62850" y="4185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562850" y="4185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943850" y="4185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7562850" y="45669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7664450" y="41935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811769" y="4584700"/>
            <a:ext cx="321310" cy="591820"/>
          </a:xfrm>
          <a:custGeom>
            <a:avLst/>
            <a:gdLst/>
            <a:ahLst/>
            <a:cxnLst/>
            <a:rect l="l" t="t" r="r" b="b"/>
            <a:pathLst>
              <a:path w="321309" h="591820">
                <a:moveTo>
                  <a:pt x="0" y="0"/>
                </a:moveTo>
                <a:lnTo>
                  <a:pt x="321309" y="5918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73875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7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7359650" y="5138420"/>
            <a:ext cx="226060" cy="0"/>
          </a:xfrm>
          <a:custGeom>
            <a:avLst/>
            <a:gdLst/>
            <a:ahLst/>
            <a:cxnLst/>
            <a:rect l="l" t="t" r="r" b="b"/>
            <a:pathLst>
              <a:path w="226059">
                <a:moveTo>
                  <a:pt x="22605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519669" y="4584700"/>
            <a:ext cx="149860" cy="511809"/>
          </a:xfrm>
          <a:custGeom>
            <a:avLst/>
            <a:gdLst/>
            <a:ahLst/>
            <a:cxnLst/>
            <a:rect l="l" t="t" r="r" b="b"/>
            <a:pathLst>
              <a:path w="149859" h="511810">
                <a:moveTo>
                  <a:pt x="149859" y="0"/>
                </a:moveTo>
                <a:lnTo>
                  <a:pt x="0" y="5118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6219190" y="5210809"/>
            <a:ext cx="170180" cy="0"/>
          </a:xfrm>
          <a:custGeom>
            <a:avLst/>
            <a:gdLst/>
            <a:ahLst/>
            <a:cxnLst/>
            <a:rect l="l" t="t" r="r" b="b"/>
            <a:pathLst>
              <a:path w="170179">
                <a:moveTo>
                  <a:pt x="17018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191250" y="513842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22732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5881370" y="476630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6803390" y="5210809"/>
            <a:ext cx="171450" cy="0"/>
          </a:xfrm>
          <a:custGeom>
            <a:avLst/>
            <a:gdLst/>
            <a:ahLst/>
            <a:cxnLst/>
            <a:rect l="l" t="t" r="r" b="b"/>
            <a:pathLst>
              <a:path w="171450">
                <a:moveTo>
                  <a:pt x="171450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775450" y="5138420"/>
            <a:ext cx="227329" cy="0"/>
          </a:xfrm>
          <a:custGeom>
            <a:avLst/>
            <a:gdLst/>
            <a:ahLst/>
            <a:cxnLst/>
            <a:rect l="l" t="t" r="r" b="b"/>
            <a:pathLst>
              <a:path w="227329">
                <a:moveTo>
                  <a:pt x="227329" y="0"/>
                </a:moveTo>
                <a:lnTo>
                  <a:pt x="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3851909" y="314325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3772" y="376112"/>
                </a:lnTo>
                <a:lnTo>
                  <a:pt x="274205" y="362116"/>
                </a:lnTo>
                <a:lnTo>
                  <a:pt x="309528" y="340011"/>
                </a:lnTo>
                <a:lnTo>
                  <a:pt x="338741" y="310798"/>
                </a:lnTo>
                <a:lnTo>
                  <a:pt x="360846" y="275475"/>
                </a:lnTo>
                <a:lnTo>
                  <a:pt x="374842" y="235042"/>
                </a:lnTo>
                <a:lnTo>
                  <a:pt x="379729" y="190500"/>
                </a:lnTo>
                <a:lnTo>
                  <a:pt x="374842" y="145957"/>
                </a:lnTo>
                <a:lnTo>
                  <a:pt x="360846" y="105524"/>
                </a:lnTo>
                <a:lnTo>
                  <a:pt x="338741" y="70201"/>
                </a:lnTo>
                <a:lnTo>
                  <a:pt x="309528" y="40988"/>
                </a:lnTo>
                <a:lnTo>
                  <a:pt x="274205" y="18883"/>
                </a:lnTo>
                <a:lnTo>
                  <a:pt x="2337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3851909" y="314325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3772" y="376112"/>
                </a:lnTo>
                <a:lnTo>
                  <a:pt x="274205" y="362116"/>
                </a:lnTo>
                <a:lnTo>
                  <a:pt x="309528" y="340011"/>
                </a:lnTo>
                <a:lnTo>
                  <a:pt x="338741" y="310798"/>
                </a:lnTo>
                <a:lnTo>
                  <a:pt x="360846" y="275475"/>
                </a:lnTo>
                <a:lnTo>
                  <a:pt x="374842" y="235042"/>
                </a:lnTo>
                <a:lnTo>
                  <a:pt x="379729" y="190500"/>
                </a:lnTo>
                <a:lnTo>
                  <a:pt x="374842" y="145957"/>
                </a:lnTo>
                <a:lnTo>
                  <a:pt x="360846" y="105524"/>
                </a:lnTo>
                <a:lnTo>
                  <a:pt x="338741" y="70201"/>
                </a:lnTo>
                <a:lnTo>
                  <a:pt x="309528" y="40988"/>
                </a:lnTo>
                <a:lnTo>
                  <a:pt x="274205" y="18883"/>
                </a:lnTo>
                <a:lnTo>
                  <a:pt x="233772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231640" y="3143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3850640" y="3524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/>
          <p:nvPr/>
        </p:nvSpPr>
        <p:spPr>
          <a:xfrm>
            <a:off x="3953509" y="315087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564890" y="3468370"/>
            <a:ext cx="342900" cy="284480"/>
          </a:xfrm>
          <a:custGeom>
            <a:avLst/>
            <a:gdLst/>
            <a:ahLst/>
            <a:cxnLst/>
            <a:rect l="l" t="t" r="r" b="b"/>
            <a:pathLst>
              <a:path w="342900" h="284479">
                <a:moveTo>
                  <a:pt x="342900" y="0"/>
                </a:moveTo>
                <a:lnTo>
                  <a:pt x="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211320" y="3503929"/>
            <a:ext cx="365760" cy="318770"/>
          </a:xfrm>
          <a:custGeom>
            <a:avLst/>
            <a:gdLst/>
            <a:ahLst/>
            <a:cxnLst/>
            <a:rect l="l" t="t" r="r" b="b"/>
            <a:pathLst>
              <a:path w="365760" h="318770">
                <a:moveTo>
                  <a:pt x="0" y="0"/>
                </a:moveTo>
                <a:lnTo>
                  <a:pt x="365759" y="31877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3498850" y="390017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3470909" y="382777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 txBox="1"/>
          <p:nvPr/>
        </p:nvSpPr>
        <p:spPr>
          <a:xfrm>
            <a:off x="3302000" y="359155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/>
          <p:nvPr/>
        </p:nvSpPr>
        <p:spPr>
          <a:xfrm>
            <a:off x="4297679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297679" y="37871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297679" y="37871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678679" y="4169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 txBox="1"/>
          <p:nvPr/>
        </p:nvSpPr>
        <p:spPr>
          <a:xfrm>
            <a:off x="4406900" y="379475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622800" y="4113529"/>
            <a:ext cx="322580" cy="478790"/>
          </a:xfrm>
          <a:custGeom>
            <a:avLst/>
            <a:gdLst/>
            <a:ahLst/>
            <a:cxnLst/>
            <a:rect l="l" t="t" r="r" b="b"/>
            <a:pathLst>
              <a:path w="322579" h="478789">
                <a:moveTo>
                  <a:pt x="0" y="0"/>
                </a:moveTo>
                <a:lnTo>
                  <a:pt x="322579" y="4787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508500" y="5654040"/>
            <a:ext cx="168910" cy="0"/>
          </a:xfrm>
          <a:custGeom>
            <a:avLst/>
            <a:gdLst/>
            <a:ahLst/>
            <a:cxnLst/>
            <a:rect l="l" t="t" r="r" b="b"/>
            <a:pathLst>
              <a:path w="168910">
                <a:moveTo>
                  <a:pt x="0" y="0"/>
                </a:moveTo>
                <a:lnTo>
                  <a:pt x="168910" y="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479290" y="5580379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715509" y="458342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715509" y="458342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715509" y="4583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5097779" y="496442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 txBox="1"/>
          <p:nvPr/>
        </p:nvSpPr>
        <p:spPr>
          <a:xfrm>
            <a:off x="4818379" y="459105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4612640" y="4908550"/>
            <a:ext cx="160020" cy="596900"/>
          </a:xfrm>
          <a:custGeom>
            <a:avLst/>
            <a:gdLst/>
            <a:ahLst/>
            <a:cxnLst/>
            <a:rect l="l" t="t" r="r" b="b"/>
            <a:pathLst>
              <a:path w="160020" h="596900">
                <a:moveTo>
                  <a:pt x="160020" y="0"/>
                </a:moveTo>
                <a:lnTo>
                  <a:pt x="0" y="596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5040629" y="563245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5013959" y="5560059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5041900" y="4908550"/>
            <a:ext cx="104139" cy="576580"/>
          </a:xfrm>
          <a:custGeom>
            <a:avLst/>
            <a:gdLst/>
            <a:ahLst/>
            <a:cxnLst/>
            <a:rect l="l" t="t" r="r" b="b"/>
            <a:pathLst>
              <a:path w="104139" h="576579">
                <a:moveTo>
                  <a:pt x="0" y="0"/>
                </a:moveTo>
                <a:lnTo>
                  <a:pt x="104139" y="576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168140" y="4801870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1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40200" y="4729479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211320" y="4151629"/>
            <a:ext cx="158750" cy="596900"/>
          </a:xfrm>
          <a:custGeom>
            <a:avLst/>
            <a:gdLst/>
            <a:ahLst/>
            <a:cxnLst/>
            <a:rect l="l" t="t" r="r" b="b"/>
            <a:pathLst>
              <a:path w="158750" h="596900">
                <a:moveTo>
                  <a:pt x="158750" y="0"/>
                </a:moveTo>
                <a:lnTo>
                  <a:pt x="0" y="596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3531870" y="5998209"/>
            <a:ext cx="149225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88950" marR="5080" indent="-476250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  </a:t>
            </a:r>
            <a:r>
              <a:rPr sz="1400" spc="-20" dirty="0">
                <a:latin typeface="Trebuchet MS"/>
                <a:cs typeface="Trebuchet MS"/>
              </a:rPr>
              <a:t>direita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126479" y="5711190"/>
            <a:ext cx="2293620" cy="568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  <a:p>
            <a:pPr marR="82550" algn="ctr">
              <a:lnSpc>
                <a:spcPct val="100000"/>
              </a:lnSpc>
              <a:spcBef>
                <a:spcPts val="1030"/>
              </a:spcBef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x 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344420">
              <a:lnSpc>
                <a:spcPct val="100000"/>
              </a:lnSpc>
            </a:pPr>
            <a:r>
              <a:rPr spc="4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842250" cy="1564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0" dirty="0">
                <a:latin typeface="Trebuchet MS"/>
                <a:cs typeface="Trebuchet MS"/>
              </a:rPr>
              <a:t>Caso </a:t>
            </a:r>
            <a:r>
              <a:rPr sz="3200" spc="-5" dirty="0">
                <a:latin typeface="Trebuchet MS"/>
                <a:cs typeface="Trebuchet MS"/>
              </a:rPr>
              <a:t>3d: </a:t>
            </a:r>
            <a:r>
              <a:rPr sz="3200" spc="10" dirty="0">
                <a:latin typeface="Trebuchet MS"/>
                <a:cs typeface="Trebuchet MS"/>
              </a:rPr>
              <a:t>Rotação </a:t>
            </a:r>
            <a:r>
              <a:rPr sz="3200" spc="60" dirty="0">
                <a:latin typeface="Trebuchet MS"/>
                <a:cs typeface="Trebuchet MS"/>
              </a:rPr>
              <a:t>Dupla</a:t>
            </a:r>
            <a:r>
              <a:rPr sz="3200" spc="-365" dirty="0">
                <a:latin typeface="Trebuchet MS"/>
                <a:cs typeface="Trebuchet MS"/>
              </a:rPr>
              <a:t> </a:t>
            </a:r>
            <a:r>
              <a:rPr sz="3200" spc="-20" dirty="0">
                <a:latin typeface="Trebuchet MS"/>
                <a:cs typeface="Trebuchet MS"/>
              </a:rPr>
              <a:t>Direita</a:t>
            </a:r>
            <a:endParaRPr sz="3200">
              <a:latin typeface="Trebuchet MS"/>
              <a:cs typeface="Trebuchet MS"/>
            </a:endParaRPr>
          </a:p>
          <a:p>
            <a:pPr marL="355600" marR="5080" indent="-34290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355600" algn="l"/>
              </a:tabLst>
            </a:pPr>
            <a:r>
              <a:rPr sz="3200" spc="-15" dirty="0">
                <a:latin typeface="Trebuchet MS"/>
                <a:cs typeface="Trebuchet MS"/>
              </a:rPr>
              <a:t>Pode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50" dirty="0">
                <a:latin typeface="Trebuchet MS"/>
                <a:cs typeface="Trebuchet MS"/>
              </a:rPr>
              <a:t>ser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0" dirty="0">
                <a:latin typeface="Trebuchet MS"/>
                <a:cs typeface="Trebuchet MS"/>
              </a:rPr>
              <a:t>visto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55" dirty="0">
                <a:latin typeface="Trebuchet MS"/>
                <a:cs typeface="Trebuchet MS"/>
              </a:rPr>
              <a:t>como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10" dirty="0">
                <a:latin typeface="Trebuchet MS"/>
                <a:cs typeface="Trebuchet MS"/>
              </a:rPr>
              <a:t>um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70" dirty="0">
                <a:latin typeface="Trebuchet MS"/>
                <a:cs typeface="Trebuchet MS"/>
              </a:rPr>
              <a:t> </a:t>
            </a:r>
            <a:r>
              <a:rPr sz="3200" spc="100" dirty="0">
                <a:latin typeface="Trebuchet MS"/>
                <a:cs typeface="Trebuchet MS"/>
              </a:rPr>
              <a:t>3b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70" dirty="0">
                <a:latin typeface="Trebuchet MS"/>
                <a:cs typeface="Trebuchet MS"/>
              </a:rPr>
              <a:t>seguido 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80" dirty="0">
                <a:latin typeface="Trebuchet MS"/>
                <a:cs typeface="Trebuchet MS"/>
              </a:rPr>
              <a:t>caso</a:t>
            </a:r>
            <a:r>
              <a:rPr sz="3200" spc="-265" dirty="0">
                <a:latin typeface="Trebuchet MS"/>
                <a:cs typeface="Trebuchet MS"/>
              </a:rPr>
              <a:t> </a:t>
            </a:r>
            <a:r>
              <a:rPr sz="3200" spc="120" dirty="0">
                <a:latin typeface="Trebuchet MS"/>
                <a:cs typeface="Trebuchet MS"/>
              </a:rPr>
              <a:t>3a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40200" y="3462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40200" y="3462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40200" y="3462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521200" y="3844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4241800" y="3469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65320" y="3787140"/>
            <a:ext cx="341630" cy="284480"/>
          </a:xfrm>
          <a:custGeom>
            <a:avLst/>
            <a:gdLst/>
            <a:ahLst/>
            <a:cxnLst/>
            <a:rect l="l" t="t" r="r" b="b"/>
            <a:pathLst>
              <a:path w="341629" h="284479">
                <a:moveTo>
                  <a:pt x="0" y="0"/>
                </a:moveTo>
                <a:lnTo>
                  <a:pt x="34162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83659" y="3787140"/>
            <a:ext cx="312420" cy="320040"/>
          </a:xfrm>
          <a:custGeom>
            <a:avLst/>
            <a:gdLst/>
            <a:ahLst/>
            <a:cxnLst/>
            <a:rect l="l" t="t" r="r" b="b"/>
            <a:pathLst>
              <a:path w="312420" h="320039">
                <a:moveTo>
                  <a:pt x="312419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01540" y="4218940"/>
            <a:ext cx="168910" cy="2540"/>
          </a:xfrm>
          <a:custGeom>
            <a:avLst/>
            <a:gdLst/>
            <a:ahLst/>
            <a:cxnLst/>
            <a:rect l="l" t="t" r="r" b="b"/>
            <a:pathLst>
              <a:path w="168910" h="2539">
                <a:moveTo>
                  <a:pt x="0" y="0"/>
                </a:moveTo>
                <a:lnTo>
                  <a:pt x="168910" y="254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73600" y="41478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0" y="0"/>
                </a:moveTo>
                <a:lnTo>
                  <a:pt x="22606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950459" y="391032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91890" y="41071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691890" y="41071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072890" y="4107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691890" y="4488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802379" y="411480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429000" y="4432300"/>
            <a:ext cx="320040" cy="469900"/>
          </a:xfrm>
          <a:custGeom>
            <a:avLst/>
            <a:gdLst/>
            <a:ahLst/>
            <a:cxnLst/>
            <a:rect l="l" t="t" r="r" b="b"/>
            <a:pathLst>
              <a:path w="320039" h="469900">
                <a:moveTo>
                  <a:pt x="320039" y="0"/>
                </a:moveTo>
                <a:lnTo>
                  <a:pt x="0" y="46990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648709" y="5963920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620770" y="589152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238500" y="490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238500" y="4902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619500" y="4902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38500" y="5283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3340100" y="49098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63620" y="5227320"/>
            <a:ext cx="152400" cy="589280"/>
          </a:xfrm>
          <a:custGeom>
            <a:avLst/>
            <a:gdLst/>
            <a:ahLst/>
            <a:cxnLst/>
            <a:rect l="l" t="t" r="r" b="b"/>
            <a:pathLst>
              <a:path w="152400" h="589279">
                <a:moveTo>
                  <a:pt x="0" y="0"/>
                </a:moveTo>
                <a:lnTo>
                  <a:pt x="152400" y="5892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115310" y="5943600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87370" y="5871209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3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182620" y="5227320"/>
            <a:ext cx="111760" cy="568960"/>
          </a:xfrm>
          <a:custGeom>
            <a:avLst/>
            <a:gdLst/>
            <a:ahLst/>
            <a:cxnLst/>
            <a:rect l="l" t="t" r="r" b="b"/>
            <a:pathLst>
              <a:path w="111760" h="568960">
                <a:moveTo>
                  <a:pt x="111759" y="0"/>
                </a:moveTo>
                <a:lnTo>
                  <a:pt x="0" y="5689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03700" y="512317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75759" y="505079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372859" y="3893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499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0999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4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372859" y="38938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499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0999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499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49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372859" y="38938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753859" y="42748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482079" y="3901440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697980" y="4218940"/>
            <a:ext cx="551180" cy="284480"/>
          </a:xfrm>
          <a:custGeom>
            <a:avLst/>
            <a:gdLst/>
            <a:ahLst/>
            <a:cxnLst/>
            <a:rect l="l" t="t" r="r" b="b"/>
            <a:pathLst>
              <a:path w="551179" h="284479">
                <a:moveTo>
                  <a:pt x="0" y="0"/>
                </a:moveTo>
                <a:lnTo>
                  <a:pt x="551179" y="284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839459" y="4538979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839459" y="4538979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234172" y="4887"/>
                </a:lnTo>
                <a:lnTo>
                  <a:pt x="274760" y="18883"/>
                </a:lnTo>
                <a:lnTo>
                  <a:pt x="310061" y="40988"/>
                </a:lnTo>
                <a:lnTo>
                  <a:pt x="339141" y="70201"/>
                </a:lnTo>
                <a:lnTo>
                  <a:pt x="361068" y="105524"/>
                </a:lnTo>
                <a:lnTo>
                  <a:pt x="374909" y="145957"/>
                </a:lnTo>
                <a:lnTo>
                  <a:pt x="379729" y="190500"/>
                </a:lnTo>
                <a:lnTo>
                  <a:pt x="374909" y="235042"/>
                </a:lnTo>
                <a:lnTo>
                  <a:pt x="361068" y="275475"/>
                </a:lnTo>
                <a:lnTo>
                  <a:pt x="339141" y="310798"/>
                </a:lnTo>
                <a:lnTo>
                  <a:pt x="310061" y="340011"/>
                </a:lnTo>
                <a:lnTo>
                  <a:pt x="274760" y="362116"/>
                </a:lnTo>
                <a:lnTo>
                  <a:pt x="234172" y="376112"/>
                </a:lnTo>
                <a:lnTo>
                  <a:pt x="189229" y="381000"/>
                </a:lnTo>
                <a:lnTo>
                  <a:pt x="144757" y="376112"/>
                </a:lnTo>
                <a:lnTo>
                  <a:pt x="104506" y="362116"/>
                </a:lnTo>
                <a:lnTo>
                  <a:pt x="69431" y="340011"/>
                </a:lnTo>
                <a:lnTo>
                  <a:pt x="40488" y="310798"/>
                </a:lnTo>
                <a:lnTo>
                  <a:pt x="18631" y="275475"/>
                </a:lnTo>
                <a:lnTo>
                  <a:pt x="4817" y="235042"/>
                </a:lnTo>
                <a:lnTo>
                  <a:pt x="0" y="190500"/>
                </a:lnTo>
                <a:lnTo>
                  <a:pt x="4817" y="145957"/>
                </a:lnTo>
                <a:lnTo>
                  <a:pt x="18631" y="105524"/>
                </a:lnTo>
                <a:lnTo>
                  <a:pt x="40488" y="70201"/>
                </a:lnTo>
                <a:lnTo>
                  <a:pt x="69431" y="40988"/>
                </a:lnTo>
                <a:lnTo>
                  <a:pt x="104506" y="18883"/>
                </a:lnTo>
                <a:lnTo>
                  <a:pt x="144757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839459" y="4538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6220459" y="4919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5939790" y="45466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028690" y="4218940"/>
            <a:ext cx="400050" cy="320040"/>
          </a:xfrm>
          <a:custGeom>
            <a:avLst/>
            <a:gdLst/>
            <a:ahLst/>
            <a:cxnLst/>
            <a:rect l="l" t="t" r="r" b="b"/>
            <a:pathLst>
              <a:path w="400050" h="320039">
                <a:moveTo>
                  <a:pt x="400050" y="0"/>
                </a:moveTo>
                <a:lnTo>
                  <a:pt x="0" y="32004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6163309" y="4864100"/>
            <a:ext cx="201930" cy="516890"/>
          </a:xfrm>
          <a:custGeom>
            <a:avLst/>
            <a:gdLst/>
            <a:ahLst/>
            <a:cxnLst/>
            <a:rect l="l" t="t" r="r" b="b"/>
            <a:pathLst>
              <a:path w="201929" h="516889">
                <a:moveTo>
                  <a:pt x="0" y="0"/>
                </a:moveTo>
                <a:lnTo>
                  <a:pt x="201929" y="5168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5781040" y="4864100"/>
            <a:ext cx="113030" cy="516890"/>
          </a:xfrm>
          <a:custGeom>
            <a:avLst/>
            <a:gdLst/>
            <a:ahLst/>
            <a:cxnLst/>
            <a:rect l="l" t="t" r="r" b="b"/>
            <a:pathLst>
              <a:path w="113029" h="516889">
                <a:moveTo>
                  <a:pt x="113030" y="0"/>
                </a:moveTo>
                <a:lnTo>
                  <a:pt x="0" y="5168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7466330" y="552830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743839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058659" y="4503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058659" y="4503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439659" y="4503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7057390" y="4884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7160259" y="45110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7383780" y="4828540"/>
            <a:ext cx="151130" cy="551180"/>
          </a:xfrm>
          <a:custGeom>
            <a:avLst/>
            <a:gdLst/>
            <a:ahLst/>
            <a:cxnLst/>
            <a:rect l="l" t="t" r="r" b="b"/>
            <a:pathLst>
              <a:path w="151129" h="551179">
                <a:moveTo>
                  <a:pt x="0" y="0"/>
                </a:moveTo>
                <a:lnTo>
                  <a:pt x="151129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882130" y="552830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6854190" y="54559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29" h="1270">
                <a:moveTo>
                  <a:pt x="22732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949440" y="4828540"/>
            <a:ext cx="165100" cy="551180"/>
          </a:xfrm>
          <a:custGeom>
            <a:avLst/>
            <a:gdLst/>
            <a:ahLst/>
            <a:cxnLst/>
            <a:rect l="l" t="t" r="r" b="b"/>
            <a:pathLst>
              <a:path w="165100" h="551179">
                <a:moveTo>
                  <a:pt x="165100" y="0"/>
                </a:moveTo>
                <a:lnTo>
                  <a:pt x="0" y="5511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715000" y="552830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687059" y="54559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7832090" y="5045709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299200" y="5528309"/>
            <a:ext cx="170180" cy="1270"/>
          </a:xfrm>
          <a:custGeom>
            <a:avLst/>
            <a:gdLst/>
            <a:ahLst/>
            <a:cxnLst/>
            <a:rect l="l" t="t" r="r" b="b"/>
            <a:pathLst>
              <a:path w="170179" h="1270">
                <a:moveTo>
                  <a:pt x="170179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6271259" y="5455920"/>
            <a:ext cx="226060" cy="1270"/>
          </a:xfrm>
          <a:custGeom>
            <a:avLst/>
            <a:gdLst/>
            <a:ahLst/>
            <a:cxnLst/>
            <a:rect l="l" t="t" r="r" b="b"/>
            <a:pathLst>
              <a:path w="226060" h="1270">
                <a:moveTo>
                  <a:pt x="22606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1654810" y="353314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30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1654810" y="353314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30" h="381000">
                <a:moveTo>
                  <a:pt x="189229" y="0"/>
                </a:moveTo>
                <a:lnTo>
                  <a:pt x="234172" y="4887"/>
                </a:lnTo>
                <a:lnTo>
                  <a:pt x="274760" y="18883"/>
                </a:lnTo>
                <a:lnTo>
                  <a:pt x="310061" y="40988"/>
                </a:lnTo>
                <a:lnTo>
                  <a:pt x="339141" y="70201"/>
                </a:lnTo>
                <a:lnTo>
                  <a:pt x="361068" y="105524"/>
                </a:lnTo>
                <a:lnTo>
                  <a:pt x="374909" y="145957"/>
                </a:lnTo>
                <a:lnTo>
                  <a:pt x="379729" y="190500"/>
                </a:lnTo>
                <a:lnTo>
                  <a:pt x="374909" y="235042"/>
                </a:lnTo>
                <a:lnTo>
                  <a:pt x="361068" y="275475"/>
                </a:lnTo>
                <a:lnTo>
                  <a:pt x="339141" y="310798"/>
                </a:lnTo>
                <a:lnTo>
                  <a:pt x="310061" y="340011"/>
                </a:lnTo>
                <a:lnTo>
                  <a:pt x="274760" y="362116"/>
                </a:lnTo>
                <a:lnTo>
                  <a:pt x="234172" y="376112"/>
                </a:lnTo>
                <a:lnTo>
                  <a:pt x="189229" y="381000"/>
                </a:lnTo>
                <a:lnTo>
                  <a:pt x="144757" y="376112"/>
                </a:lnTo>
                <a:lnTo>
                  <a:pt x="104506" y="362116"/>
                </a:lnTo>
                <a:lnTo>
                  <a:pt x="69431" y="340011"/>
                </a:lnTo>
                <a:lnTo>
                  <a:pt x="40488" y="310798"/>
                </a:lnTo>
                <a:lnTo>
                  <a:pt x="18631" y="275475"/>
                </a:lnTo>
                <a:lnTo>
                  <a:pt x="4817" y="235042"/>
                </a:lnTo>
                <a:lnTo>
                  <a:pt x="0" y="190500"/>
                </a:lnTo>
                <a:lnTo>
                  <a:pt x="4817" y="145957"/>
                </a:lnTo>
                <a:lnTo>
                  <a:pt x="18631" y="105524"/>
                </a:lnTo>
                <a:lnTo>
                  <a:pt x="40488" y="70201"/>
                </a:lnTo>
                <a:lnTo>
                  <a:pt x="69431" y="40988"/>
                </a:lnTo>
                <a:lnTo>
                  <a:pt x="104506" y="18883"/>
                </a:lnTo>
                <a:lnTo>
                  <a:pt x="144757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1654810" y="35331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2035810" y="39154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1755139" y="35420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978660" y="3858259"/>
            <a:ext cx="342900" cy="284480"/>
          </a:xfrm>
          <a:custGeom>
            <a:avLst/>
            <a:gdLst/>
            <a:ahLst/>
            <a:cxnLst/>
            <a:rect l="l" t="t" r="r" b="b"/>
            <a:pathLst>
              <a:path w="342900" h="284479">
                <a:moveTo>
                  <a:pt x="0" y="0"/>
                </a:moveTo>
                <a:lnTo>
                  <a:pt x="342900" y="284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1399539" y="3858259"/>
            <a:ext cx="309880" cy="320040"/>
          </a:xfrm>
          <a:custGeom>
            <a:avLst/>
            <a:gdLst/>
            <a:ahLst/>
            <a:cxnLst/>
            <a:rect l="l" t="t" r="r" b="b"/>
            <a:pathLst>
              <a:path w="309880" h="320039">
                <a:moveTo>
                  <a:pt x="309879" y="0"/>
                </a:moveTo>
                <a:lnTo>
                  <a:pt x="0" y="32003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2214879" y="4291329"/>
            <a:ext cx="168910" cy="1270"/>
          </a:xfrm>
          <a:custGeom>
            <a:avLst/>
            <a:gdLst/>
            <a:ahLst/>
            <a:cxnLst/>
            <a:rect l="l" t="t" r="r" b="b"/>
            <a:pathLst>
              <a:path w="168910" h="1270">
                <a:moveTo>
                  <a:pt x="0" y="0"/>
                </a:moveTo>
                <a:lnTo>
                  <a:pt x="16890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2188210" y="4218940"/>
            <a:ext cx="224790" cy="1270"/>
          </a:xfrm>
          <a:custGeom>
            <a:avLst/>
            <a:gdLst/>
            <a:ahLst/>
            <a:cxnLst/>
            <a:rect l="l" t="t" r="r" b="b"/>
            <a:pathLst>
              <a:path w="224789" h="1270">
                <a:moveTo>
                  <a:pt x="0" y="0"/>
                </a:moveTo>
                <a:lnTo>
                  <a:pt x="224789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2466339" y="3981450"/>
            <a:ext cx="110489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207769" y="417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207769" y="4178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588769" y="4178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1207769" y="4559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309369" y="41859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p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922019" y="4503420"/>
            <a:ext cx="342900" cy="478790"/>
          </a:xfrm>
          <a:custGeom>
            <a:avLst/>
            <a:gdLst/>
            <a:ahLst/>
            <a:cxnLst/>
            <a:rect l="l" t="t" r="r" b="b"/>
            <a:pathLst>
              <a:path w="342900" h="478789">
                <a:moveTo>
                  <a:pt x="342900" y="0"/>
                </a:moveTo>
                <a:lnTo>
                  <a:pt x="0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1997710" y="60439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1969770" y="59715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1588769" y="49822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1588769" y="498220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1969770" y="4982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1588769" y="5363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 txBox="1"/>
          <p:nvPr/>
        </p:nvSpPr>
        <p:spPr>
          <a:xfrm>
            <a:off x="1699260" y="4989829"/>
            <a:ext cx="16129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x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6" name="object 86"/>
          <p:cNvSpPr/>
          <p:nvPr/>
        </p:nvSpPr>
        <p:spPr>
          <a:xfrm>
            <a:off x="1913889" y="5307329"/>
            <a:ext cx="151130" cy="588010"/>
          </a:xfrm>
          <a:custGeom>
            <a:avLst/>
            <a:gdLst/>
            <a:ahLst/>
            <a:cxnLst/>
            <a:rect l="l" t="t" r="r" b="b"/>
            <a:pathLst>
              <a:path w="151130" h="588010">
                <a:moveTo>
                  <a:pt x="0" y="0"/>
                </a:moveTo>
                <a:lnTo>
                  <a:pt x="151130" y="5880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1464310" y="6022340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1436369" y="595122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69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1531619" y="5307329"/>
            <a:ext cx="113030" cy="567690"/>
          </a:xfrm>
          <a:custGeom>
            <a:avLst/>
            <a:gdLst/>
            <a:ahLst/>
            <a:cxnLst/>
            <a:rect l="l" t="t" r="r" b="b"/>
            <a:pathLst>
              <a:path w="113030" h="567689">
                <a:moveTo>
                  <a:pt x="113030" y="0"/>
                </a:moveTo>
                <a:lnTo>
                  <a:pt x="0" y="5676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1534160" y="4503420"/>
            <a:ext cx="245110" cy="478790"/>
          </a:xfrm>
          <a:custGeom>
            <a:avLst/>
            <a:gdLst/>
            <a:ahLst/>
            <a:cxnLst/>
            <a:rect l="l" t="t" r="r" b="b"/>
            <a:pathLst>
              <a:path w="245110" h="478789">
                <a:moveTo>
                  <a:pt x="0" y="0"/>
                </a:moveTo>
                <a:lnTo>
                  <a:pt x="245109" y="47878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854710" y="5129529"/>
            <a:ext cx="171450" cy="1270"/>
          </a:xfrm>
          <a:custGeom>
            <a:avLst/>
            <a:gdLst/>
            <a:ahLst/>
            <a:cxnLst/>
            <a:rect l="l" t="t" r="r" b="b"/>
            <a:pathLst>
              <a:path w="171450" h="1270">
                <a:moveTo>
                  <a:pt x="17145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826769" y="5057140"/>
            <a:ext cx="227329" cy="1270"/>
          </a:xfrm>
          <a:custGeom>
            <a:avLst/>
            <a:gdLst/>
            <a:ahLst/>
            <a:cxnLst/>
            <a:rect l="l" t="t" r="r" b="b"/>
            <a:pathLst>
              <a:path w="227330" h="1270">
                <a:moveTo>
                  <a:pt x="227330" y="0"/>
                </a:moveTo>
                <a:lnTo>
                  <a:pt x="0" y="1270"/>
                </a:lnTo>
              </a:path>
            </a:pathLst>
          </a:custGeom>
          <a:ln w="3809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032250" y="4470400"/>
            <a:ext cx="201930" cy="515620"/>
          </a:xfrm>
          <a:custGeom>
            <a:avLst/>
            <a:gdLst/>
            <a:ahLst/>
            <a:cxnLst/>
            <a:rect l="l" t="t" r="r" b="b"/>
            <a:pathLst>
              <a:path w="201929" h="515620">
                <a:moveTo>
                  <a:pt x="0" y="0"/>
                </a:moveTo>
                <a:lnTo>
                  <a:pt x="201929" y="51561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 txBox="1"/>
          <p:nvPr/>
        </p:nvSpPr>
        <p:spPr>
          <a:xfrm>
            <a:off x="2884170" y="6174740"/>
            <a:ext cx="229552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1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010909" y="5814059"/>
            <a:ext cx="1712595" cy="570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5730" marR="112395" algn="ctr">
              <a:lnSpc>
                <a:spcPct val="100000"/>
              </a:lnSpc>
            </a:pPr>
            <a:r>
              <a:rPr sz="1400" spc="10" dirty="0">
                <a:latin typeface="Trebuchet MS"/>
                <a:cs typeface="Trebuchet MS"/>
              </a:rPr>
              <a:t>Rotação </a:t>
            </a:r>
            <a:r>
              <a:rPr sz="1400" spc="20" dirty="0">
                <a:latin typeface="Trebuchet MS"/>
                <a:cs typeface="Trebuchet MS"/>
              </a:rPr>
              <a:t>simples</a:t>
            </a:r>
            <a:r>
              <a:rPr sz="1400" spc="-114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  </a:t>
            </a:r>
            <a:r>
              <a:rPr sz="1400" spc="-25" dirty="0">
                <a:latin typeface="Trebuchet MS"/>
                <a:cs typeface="Trebuchet MS"/>
              </a:rPr>
              <a:t>direita</a:t>
            </a:r>
            <a:endParaRPr sz="1400">
              <a:latin typeface="Trebuchet MS"/>
              <a:cs typeface="Trebuchet MS"/>
            </a:endParaRPr>
          </a:p>
          <a:p>
            <a:pPr algn="ctr">
              <a:lnSpc>
                <a:spcPts val="1040"/>
              </a:lnSpc>
            </a:pPr>
            <a:r>
              <a:rPr sz="1400" spc="-5" dirty="0">
                <a:latin typeface="Arial"/>
                <a:cs typeface="Arial"/>
              </a:rPr>
              <a:t>Recoloração de </a:t>
            </a:r>
            <a:r>
              <a:rPr sz="1400" dirty="0">
                <a:latin typeface="Arial"/>
                <a:cs typeface="Arial"/>
              </a:rPr>
              <a:t>x e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64410">
              <a:lnSpc>
                <a:spcPct val="100000"/>
              </a:lnSpc>
            </a:pPr>
            <a:r>
              <a:rPr spc="140" dirty="0"/>
              <a:t>E</a:t>
            </a:r>
            <a:r>
              <a:rPr spc="-10" dirty="0"/>
              <a:t>x</a:t>
            </a:r>
            <a:r>
              <a:rPr spc="105" dirty="0"/>
              <a:t>em</a:t>
            </a:r>
            <a:r>
              <a:rPr spc="80" dirty="0"/>
              <a:t>p</a:t>
            </a:r>
            <a:r>
              <a:rPr spc="-200" dirty="0"/>
              <a:t>l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66280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Estado </a:t>
            </a:r>
            <a:r>
              <a:rPr sz="3200" spc="-50" dirty="0">
                <a:latin typeface="Trebuchet MS"/>
                <a:cs typeface="Trebuchet MS"/>
              </a:rPr>
              <a:t>inicial </a:t>
            </a:r>
            <a:r>
              <a:rPr sz="3200" spc="60" dirty="0">
                <a:latin typeface="Trebuchet MS"/>
                <a:cs typeface="Trebuchet MS"/>
              </a:rPr>
              <a:t>da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63620" y="2852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63620" y="28524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563620" y="2852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44620" y="32334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65220" y="28600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888740" y="3177539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55651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55651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499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556510" y="3500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937510" y="3881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656839" y="35077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747010" y="3177539"/>
            <a:ext cx="872490" cy="322580"/>
          </a:xfrm>
          <a:custGeom>
            <a:avLst/>
            <a:gdLst/>
            <a:ahLst/>
            <a:cxnLst/>
            <a:rect l="l" t="t" r="r" b="b"/>
            <a:pathLst>
              <a:path w="872489" h="322579">
                <a:moveTo>
                  <a:pt x="872489" y="0"/>
                </a:moveTo>
                <a:lnTo>
                  <a:pt x="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4185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641850" y="3500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022850" y="3500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641850" y="3881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43450" y="35077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966970" y="3825240"/>
            <a:ext cx="1026160" cy="541020"/>
          </a:xfrm>
          <a:custGeom>
            <a:avLst/>
            <a:gdLst/>
            <a:ahLst/>
            <a:cxnLst/>
            <a:rect l="l" t="t" r="r" b="b"/>
            <a:pathLst>
              <a:path w="1026160" h="541020">
                <a:moveTo>
                  <a:pt x="0" y="0"/>
                </a:moveTo>
                <a:lnTo>
                  <a:pt x="1026159" y="541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797300" y="3825240"/>
            <a:ext cx="900430" cy="541020"/>
          </a:xfrm>
          <a:custGeom>
            <a:avLst/>
            <a:gdLst/>
            <a:ahLst/>
            <a:cxnLst/>
            <a:rect l="l" t="t" r="r" b="b"/>
            <a:pathLst>
              <a:path w="900429" h="541020">
                <a:moveTo>
                  <a:pt x="900429" y="0"/>
                </a:moveTo>
                <a:lnTo>
                  <a:pt x="0" y="5410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708400" y="429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708400" y="4292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708400" y="4292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089400" y="46736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810000" y="43002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796279" y="436625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145957" y="4820"/>
                </a:lnTo>
                <a:lnTo>
                  <a:pt x="105524" y="18661"/>
                </a:lnTo>
                <a:lnTo>
                  <a:pt x="70201" y="40588"/>
                </a:lnTo>
                <a:lnTo>
                  <a:pt x="40988" y="69668"/>
                </a:lnTo>
                <a:lnTo>
                  <a:pt x="18883" y="104969"/>
                </a:lnTo>
                <a:lnTo>
                  <a:pt x="4887" y="145557"/>
                </a:lnTo>
                <a:lnTo>
                  <a:pt x="0" y="190500"/>
                </a:lnTo>
                <a:lnTo>
                  <a:pt x="4887" y="234972"/>
                </a:lnTo>
                <a:lnTo>
                  <a:pt x="18883" y="275223"/>
                </a:lnTo>
                <a:lnTo>
                  <a:pt x="40988" y="310298"/>
                </a:lnTo>
                <a:lnTo>
                  <a:pt x="70201" y="339241"/>
                </a:lnTo>
                <a:lnTo>
                  <a:pt x="105524" y="361098"/>
                </a:lnTo>
                <a:lnTo>
                  <a:pt x="145957" y="374912"/>
                </a:lnTo>
                <a:lnTo>
                  <a:pt x="190500" y="379729"/>
                </a:lnTo>
                <a:lnTo>
                  <a:pt x="235042" y="374912"/>
                </a:lnTo>
                <a:lnTo>
                  <a:pt x="275475" y="361098"/>
                </a:lnTo>
                <a:lnTo>
                  <a:pt x="310798" y="339241"/>
                </a:lnTo>
                <a:lnTo>
                  <a:pt x="340011" y="310298"/>
                </a:lnTo>
                <a:lnTo>
                  <a:pt x="362116" y="275223"/>
                </a:lnTo>
                <a:lnTo>
                  <a:pt x="376112" y="234972"/>
                </a:lnTo>
                <a:lnTo>
                  <a:pt x="381000" y="190500"/>
                </a:lnTo>
                <a:lnTo>
                  <a:pt x="376112" y="145557"/>
                </a:lnTo>
                <a:lnTo>
                  <a:pt x="362116" y="104969"/>
                </a:lnTo>
                <a:lnTo>
                  <a:pt x="340011" y="69668"/>
                </a:lnTo>
                <a:lnTo>
                  <a:pt x="310798" y="40588"/>
                </a:lnTo>
                <a:lnTo>
                  <a:pt x="275475" y="18661"/>
                </a:lnTo>
                <a:lnTo>
                  <a:pt x="235042" y="4820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5796279" y="4366259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29">
                <a:moveTo>
                  <a:pt x="190500" y="0"/>
                </a:moveTo>
                <a:lnTo>
                  <a:pt x="235042" y="4820"/>
                </a:lnTo>
                <a:lnTo>
                  <a:pt x="275475" y="18661"/>
                </a:lnTo>
                <a:lnTo>
                  <a:pt x="310798" y="40588"/>
                </a:lnTo>
                <a:lnTo>
                  <a:pt x="340011" y="69668"/>
                </a:lnTo>
                <a:lnTo>
                  <a:pt x="362116" y="104969"/>
                </a:lnTo>
                <a:lnTo>
                  <a:pt x="376112" y="145557"/>
                </a:lnTo>
                <a:lnTo>
                  <a:pt x="381000" y="190500"/>
                </a:lnTo>
                <a:lnTo>
                  <a:pt x="376112" y="234972"/>
                </a:lnTo>
                <a:lnTo>
                  <a:pt x="362116" y="275223"/>
                </a:lnTo>
                <a:lnTo>
                  <a:pt x="340011" y="310298"/>
                </a:lnTo>
                <a:lnTo>
                  <a:pt x="310798" y="339241"/>
                </a:lnTo>
                <a:lnTo>
                  <a:pt x="275475" y="361098"/>
                </a:lnTo>
                <a:lnTo>
                  <a:pt x="235042" y="374912"/>
                </a:lnTo>
                <a:lnTo>
                  <a:pt x="190500" y="379729"/>
                </a:lnTo>
                <a:lnTo>
                  <a:pt x="145957" y="374912"/>
                </a:lnTo>
                <a:lnTo>
                  <a:pt x="105524" y="361098"/>
                </a:lnTo>
                <a:lnTo>
                  <a:pt x="70201" y="339241"/>
                </a:lnTo>
                <a:lnTo>
                  <a:pt x="40988" y="310298"/>
                </a:lnTo>
                <a:lnTo>
                  <a:pt x="18883" y="275223"/>
                </a:lnTo>
                <a:lnTo>
                  <a:pt x="4887" y="234972"/>
                </a:lnTo>
                <a:lnTo>
                  <a:pt x="0" y="190500"/>
                </a:lnTo>
                <a:lnTo>
                  <a:pt x="4887" y="145557"/>
                </a:lnTo>
                <a:lnTo>
                  <a:pt x="18883" y="104969"/>
                </a:lnTo>
                <a:lnTo>
                  <a:pt x="40988" y="69668"/>
                </a:lnTo>
                <a:lnTo>
                  <a:pt x="70201" y="40588"/>
                </a:lnTo>
                <a:lnTo>
                  <a:pt x="105524" y="18661"/>
                </a:lnTo>
                <a:lnTo>
                  <a:pt x="145957" y="4820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5796279" y="43662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177279" y="47472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97879" y="43738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986779" y="4745990"/>
            <a:ext cx="504190" cy="554990"/>
          </a:xfrm>
          <a:custGeom>
            <a:avLst/>
            <a:gdLst/>
            <a:ahLst/>
            <a:cxnLst/>
            <a:rect l="l" t="t" r="r" b="b"/>
            <a:pathLst>
              <a:path w="504189" h="554989">
                <a:moveTo>
                  <a:pt x="0" y="0"/>
                </a:moveTo>
                <a:lnTo>
                  <a:pt x="504190" y="5549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294120" y="530097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69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69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6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294120" y="5300979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70" h="381000">
                <a:moveTo>
                  <a:pt x="191769" y="0"/>
                </a:moveTo>
                <a:lnTo>
                  <a:pt x="147157" y="4887"/>
                </a:lnTo>
                <a:lnTo>
                  <a:pt x="106543" y="18883"/>
                </a:lnTo>
                <a:lnTo>
                  <a:pt x="70971" y="40988"/>
                </a:lnTo>
                <a:lnTo>
                  <a:pt x="41487" y="70201"/>
                </a:lnTo>
                <a:lnTo>
                  <a:pt x="19135" y="105524"/>
                </a:lnTo>
                <a:lnTo>
                  <a:pt x="4957" y="145957"/>
                </a:lnTo>
                <a:lnTo>
                  <a:pt x="0" y="190500"/>
                </a:lnTo>
                <a:lnTo>
                  <a:pt x="4957" y="235042"/>
                </a:lnTo>
                <a:lnTo>
                  <a:pt x="19135" y="275475"/>
                </a:lnTo>
                <a:lnTo>
                  <a:pt x="41487" y="310798"/>
                </a:lnTo>
                <a:lnTo>
                  <a:pt x="70971" y="340011"/>
                </a:lnTo>
                <a:lnTo>
                  <a:pt x="106543" y="362116"/>
                </a:lnTo>
                <a:lnTo>
                  <a:pt x="147157" y="376112"/>
                </a:lnTo>
                <a:lnTo>
                  <a:pt x="191769" y="381000"/>
                </a:lnTo>
                <a:lnTo>
                  <a:pt x="236312" y="376112"/>
                </a:lnTo>
                <a:lnTo>
                  <a:pt x="276745" y="362116"/>
                </a:lnTo>
                <a:lnTo>
                  <a:pt x="312068" y="340011"/>
                </a:lnTo>
                <a:lnTo>
                  <a:pt x="341281" y="310798"/>
                </a:lnTo>
                <a:lnTo>
                  <a:pt x="363386" y="275475"/>
                </a:lnTo>
                <a:lnTo>
                  <a:pt x="377382" y="235042"/>
                </a:lnTo>
                <a:lnTo>
                  <a:pt x="382270" y="190500"/>
                </a:lnTo>
                <a:lnTo>
                  <a:pt x="377382" y="145957"/>
                </a:lnTo>
                <a:lnTo>
                  <a:pt x="363386" y="105524"/>
                </a:lnTo>
                <a:lnTo>
                  <a:pt x="341281" y="70201"/>
                </a:lnTo>
                <a:lnTo>
                  <a:pt x="312068" y="40988"/>
                </a:lnTo>
                <a:lnTo>
                  <a:pt x="276745" y="18883"/>
                </a:lnTo>
                <a:lnTo>
                  <a:pt x="236312" y="4887"/>
                </a:lnTo>
                <a:lnTo>
                  <a:pt x="19176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676390" y="5300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294120" y="5681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6396990" y="53086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3862070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30" dirty="0">
                <a:latin typeface="Trebuchet MS"/>
                <a:cs typeface="Trebuchet MS"/>
              </a:rPr>
              <a:t>Inserção </a:t>
            </a:r>
            <a:r>
              <a:rPr sz="3200" spc="45" dirty="0">
                <a:latin typeface="Trebuchet MS"/>
                <a:cs typeface="Trebuchet MS"/>
              </a:rPr>
              <a:t>do </a:t>
            </a:r>
            <a:r>
              <a:rPr sz="3200" spc="50" dirty="0">
                <a:latin typeface="Trebuchet MS"/>
                <a:cs typeface="Trebuchet MS"/>
              </a:rPr>
              <a:t>nodo</a:t>
            </a:r>
            <a:r>
              <a:rPr sz="3200" spc="-335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13529" y="5707379"/>
            <a:ext cx="2135505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Violação </a:t>
            </a:r>
            <a:r>
              <a:rPr sz="1400" spc="25" dirty="0">
                <a:latin typeface="Trebuchet MS"/>
                <a:cs typeface="Trebuchet MS"/>
              </a:rPr>
              <a:t>da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17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2500" y="27089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30">
                <a:moveTo>
                  <a:pt x="190500" y="0"/>
                </a:moveTo>
                <a:lnTo>
                  <a:pt x="145957" y="4817"/>
                </a:lnTo>
                <a:lnTo>
                  <a:pt x="105524" y="18631"/>
                </a:lnTo>
                <a:lnTo>
                  <a:pt x="70201" y="40488"/>
                </a:lnTo>
                <a:lnTo>
                  <a:pt x="40988" y="69431"/>
                </a:lnTo>
                <a:lnTo>
                  <a:pt x="18883" y="104506"/>
                </a:lnTo>
                <a:lnTo>
                  <a:pt x="4887" y="144757"/>
                </a:lnTo>
                <a:lnTo>
                  <a:pt x="0" y="189229"/>
                </a:lnTo>
                <a:lnTo>
                  <a:pt x="4887" y="233772"/>
                </a:lnTo>
                <a:lnTo>
                  <a:pt x="18883" y="274205"/>
                </a:lnTo>
                <a:lnTo>
                  <a:pt x="40988" y="309528"/>
                </a:lnTo>
                <a:lnTo>
                  <a:pt x="70201" y="338741"/>
                </a:lnTo>
                <a:lnTo>
                  <a:pt x="105524" y="360846"/>
                </a:lnTo>
                <a:lnTo>
                  <a:pt x="145957" y="374842"/>
                </a:lnTo>
                <a:lnTo>
                  <a:pt x="190500" y="379729"/>
                </a:lnTo>
                <a:lnTo>
                  <a:pt x="235042" y="374842"/>
                </a:lnTo>
                <a:lnTo>
                  <a:pt x="275475" y="360846"/>
                </a:lnTo>
                <a:lnTo>
                  <a:pt x="310798" y="338741"/>
                </a:lnTo>
                <a:lnTo>
                  <a:pt x="340011" y="309528"/>
                </a:lnTo>
                <a:lnTo>
                  <a:pt x="362116" y="274205"/>
                </a:lnTo>
                <a:lnTo>
                  <a:pt x="376112" y="233772"/>
                </a:lnTo>
                <a:lnTo>
                  <a:pt x="381000" y="189229"/>
                </a:lnTo>
                <a:lnTo>
                  <a:pt x="376112" y="144757"/>
                </a:lnTo>
                <a:lnTo>
                  <a:pt x="362116" y="104506"/>
                </a:lnTo>
                <a:lnTo>
                  <a:pt x="340011" y="69431"/>
                </a:lnTo>
                <a:lnTo>
                  <a:pt x="310798" y="40488"/>
                </a:lnTo>
                <a:lnTo>
                  <a:pt x="275475" y="18631"/>
                </a:lnTo>
                <a:lnTo>
                  <a:pt x="235042" y="481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92500" y="2708910"/>
            <a:ext cx="381000" cy="379730"/>
          </a:xfrm>
          <a:custGeom>
            <a:avLst/>
            <a:gdLst/>
            <a:ahLst/>
            <a:cxnLst/>
            <a:rect l="l" t="t" r="r" b="b"/>
            <a:pathLst>
              <a:path w="381000" h="379730">
                <a:moveTo>
                  <a:pt x="190500" y="0"/>
                </a:moveTo>
                <a:lnTo>
                  <a:pt x="235042" y="4817"/>
                </a:lnTo>
                <a:lnTo>
                  <a:pt x="275475" y="18631"/>
                </a:lnTo>
                <a:lnTo>
                  <a:pt x="310798" y="40488"/>
                </a:lnTo>
                <a:lnTo>
                  <a:pt x="340011" y="69431"/>
                </a:lnTo>
                <a:lnTo>
                  <a:pt x="362116" y="104506"/>
                </a:lnTo>
                <a:lnTo>
                  <a:pt x="376112" y="144757"/>
                </a:lnTo>
                <a:lnTo>
                  <a:pt x="381000" y="189229"/>
                </a:lnTo>
                <a:lnTo>
                  <a:pt x="376112" y="233772"/>
                </a:lnTo>
                <a:lnTo>
                  <a:pt x="362116" y="274205"/>
                </a:lnTo>
                <a:lnTo>
                  <a:pt x="340011" y="309528"/>
                </a:lnTo>
                <a:lnTo>
                  <a:pt x="310798" y="338741"/>
                </a:lnTo>
                <a:lnTo>
                  <a:pt x="275475" y="360846"/>
                </a:lnTo>
                <a:lnTo>
                  <a:pt x="235042" y="374842"/>
                </a:lnTo>
                <a:lnTo>
                  <a:pt x="190500" y="379729"/>
                </a:lnTo>
                <a:lnTo>
                  <a:pt x="145957" y="374842"/>
                </a:lnTo>
                <a:lnTo>
                  <a:pt x="105524" y="360846"/>
                </a:lnTo>
                <a:lnTo>
                  <a:pt x="70201" y="338741"/>
                </a:lnTo>
                <a:lnTo>
                  <a:pt x="40988" y="309528"/>
                </a:lnTo>
                <a:lnTo>
                  <a:pt x="18883" y="274205"/>
                </a:lnTo>
                <a:lnTo>
                  <a:pt x="4887" y="233772"/>
                </a:lnTo>
                <a:lnTo>
                  <a:pt x="0" y="189229"/>
                </a:lnTo>
                <a:lnTo>
                  <a:pt x="4887" y="144757"/>
                </a:lnTo>
                <a:lnTo>
                  <a:pt x="18883" y="104506"/>
                </a:lnTo>
                <a:lnTo>
                  <a:pt x="40988" y="69431"/>
                </a:lnTo>
                <a:lnTo>
                  <a:pt x="70201" y="40488"/>
                </a:lnTo>
                <a:lnTo>
                  <a:pt x="105524" y="18631"/>
                </a:lnTo>
                <a:lnTo>
                  <a:pt x="145957" y="481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92500" y="2708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73500" y="308991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594100" y="27165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817620" y="3032760"/>
            <a:ext cx="944880" cy="322580"/>
          </a:xfrm>
          <a:custGeom>
            <a:avLst/>
            <a:gdLst/>
            <a:ahLst/>
            <a:cxnLst/>
            <a:rect l="l" t="t" r="r" b="b"/>
            <a:pathLst>
              <a:path w="944879" h="322579">
                <a:moveTo>
                  <a:pt x="0" y="0"/>
                </a:moveTo>
                <a:lnTo>
                  <a:pt x="944879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674620" y="303276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57200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7200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53000" y="33553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572000" y="3737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673600" y="33642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897120" y="3680459"/>
            <a:ext cx="1026160" cy="538480"/>
          </a:xfrm>
          <a:custGeom>
            <a:avLst/>
            <a:gdLst/>
            <a:ahLst/>
            <a:cxnLst/>
            <a:rect l="l" t="t" r="r" b="b"/>
            <a:pathLst>
              <a:path w="1026160" h="538479">
                <a:moveTo>
                  <a:pt x="0" y="0"/>
                </a:moveTo>
                <a:lnTo>
                  <a:pt x="1026159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726179" y="3680459"/>
            <a:ext cx="901700" cy="538480"/>
          </a:xfrm>
          <a:custGeom>
            <a:avLst/>
            <a:gdLst/>
            <a:ahLst/>
            <a:cxnLst/>
            <a:rect l="l" t="t" r="r" b="b"/>
            <a:pathLst>
              <a:path w="901700" h="538479">
                <a:moveTo>
                  <a:pt x="901700" y="0"/>
                </a:moveTo>
                <a:lnTo>
                  <a:pt x="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63620" y="41490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63620" y="41490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563620" y="41490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944620" y="45313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665220" y="415797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96279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796279" y="42202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796279" y="42202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177279" y="46024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5897879" y="42291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121400" y="4546600"/>
            <a:ext cx="539750" cy="394970"/>
          </a:xfrm>
          <a:custGeom>
            <a:avLst/>
            <a:gdLst/>
            <a:ahLst/>
            <a:cxnLst/>
            <a:rect l="l" t="t" r="r" b="b"/>
            <a:pathLst>
              <a:path w="539750" h="394970">
                <a:moveTo>
                  <a:pt x="0" y="0"/>
                </a:moveTo>
                <a:lnTo>
                  <a:pt x="539750" y="39496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443979" y="494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443979" y="4940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824980" y="4940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442709" y="53213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6545580" y="49479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6732269" y="5300979"/>
            <a:ext cx="431800" cy="502920"/>
          </a:xfrm>
          <a:custGeom>
            <a:avLst/>
            <a:gdLst/>
            <a:ahLst/>
            <a:cxnLst/>
            <a:rect l="l" t="t" r="r" b="b"/>
            <a:pathLst>
              <a:path w="431800" h="502920">
                <a:moveTo>
                  <a:pt x="0" y="0"/>
                </a:moveTo>
                <a:lnTo>
                  <a:pt x="431800" y="50292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7020559" y="580517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90500" y="0"/>
                </a:moveTo>
                <a:lnTo>
                  <a:pt x="145557" y="4887"/>
                </a:lnTo>
                <a:lnTo>
                  <a:pt x="104969" y="18883"/>
                </a:lnTo>
                <a:lnTo>
                  <a:pt x="69668" y="40988"/>
                </a:lnTo>
                <a:lnTo>
                  <a:pt x="40588" y="70201"/>
                </a:lnTo>
                <a:lnTo>
                  <a:pt x="18661" y="105524"/>
                </a:lnTo>
                <a:lnTo>
                  <a:pt x="4820" y="145957"/>
                </a:lnTo>
                <a:lnTo>
                  <a:pt x="0" y="190499"/>
                </a:lnTo>
                <a:lnTo>
                  <a:pt x="4820" y="235042"/>
                </a:lnTo>
                <a:lnTo>
                  <a:pt x="18661" y="275475"/>
                </a:lnTo>
                <a:lnTo>
                  <a:pt x="40588" y="310798"/>
                </a:lnTo>
                <a:lnTo>
                  <a:pt x="69668" y="340011"/>
                </a:lnTo>
                <a:lnTo>
                  <a:pt x="104969" y="362116"/>
                </a:lnTo>
                <a:lnTo>
                  <a:pt x="145557" y="376112"/>
                </a:lnTo>
                <a:lnTo>
                  <a:pt x="190500" y="380999"/>
                </a:lnTo>
                <a:lnTo>
                  <a:pt x="234972" y="376112"/>
                </a:lnTo>
                <a:lnTo>
                  <a:pt x="275223" y="362116"/>
                </a:lnTo>
                <a:lnTo>
                  <a:pt x="310298" y="340011"/>
                </a:lnTo>
                <a:lnTo>
                  <a:pt x="339241" y="310798"/>
                </a:lnTo>
                <a:lnTo>
                  <a:pt x="361098" y="275475"/>
                </a:lnTo>
                <a:lnTo>
                  <a:pt x="374912" y="235042"/>
                </a:lnTo>
                <a:lnTo>
                  <a:pt x="379730" y="190499"/>
                </a:lnTo>
                <a:lnTo>
                  <a:pt x="374912" y="145957"/>
                </a:lnTo>
                <a:lnTo>
                  <a:pt x="361098" y="105524"/>
                </a:lnTo>
                <a:lnTo>
                  <a:pt x="339241" y="70201"/>
                </a:lnTo>
                <a:lnTo>
                  <a:pt x="310298" y="40988"/>
                </a:lnTo>
                <a:lnTo>
                  <a:pt x="275223" y="18883"/>
                </a:lnTo>
                <a:lnTo>
                  <a:pt x="23497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7020559" y="580517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90500" y="0"/>
                </a:moveTo>
                <a:lnTo>
                  <a:pt x="145557" y="4887"/>
                </a:lnTo>
                <a:lnTo>
                  <a:pt x="104969" y="18883"/>
                </a:lnTo>
                <a:lnTo>
                  <a:pt x="69668" y="40988"/>
                </a:lnTo>
                <a:lnTo>
                  <a:pt x="40588" y="70201"/>
                </a:lnTo>
                <a:lnTo>
                  <a:pt x="18661" y="105524"/>
                </a:lnTo>
                <a:lnTo>
                  <a:pt x="4820" y="145957"/>
                </a:lnTo>
                <a:lnTo>
                  <a:pt x="0" y="190499"/>
                </a:lnTo>
                <a:lnTo>
                  <a:pt x="4820" y="235042"/>
                </a:lnTo>
                <a:lnTo>
                  <a:pt x="18661" y="275475"/>
                </a:lnTo>
                <a:lnTo>
                  <a:pt x="40588" y="310798"/>
                </a:lnTo>
                <a:lnTo>
                  <a:pt x="69668" y="340011"/>
                </a:lnTo>
                <a:lnTo>
                  <a:pt x="104969" y="362116"/>
                </a:lnTo>
                <a:lnTo>
                  <a:pt x="145557" y="376112"/>
                </a:lnTo>
                <a:lnTo>
                  <a:pt x="190500" y="380999"/>
                </a:lnTo>
                <a:lnTo>
                  <a:pt x="234972" y="376112"/>
                </a:lnTo>
                <a:lnTo>
                  <a:pt x="275223" y="362116"/>
                </a:lnTo>
                <a:lnTo>
                  <a:pt x="310298" y="340011"/>
                </a:lnTo>
                <a:lnTo>
                  <a:pt x="339241" y="310798"/>
                </a:lnTo>
                <a:lnTo>
                  <a:pt x="361098" y="275475"/>
                </a:lnTo>
                <a:lnTo>
                  <a:pt x="374912" y="235042"/>
                </a:lnTo>
                <a:lnTo>
                  <a:pt x="379730" y="190499"/>
                </a:lnTo>
                <a:lnTo>
                  <a:pt x="374912" y="145957"/>
                </a:lnTo>
                <a:lnTo>
                  <a:pt x="361098" y="105524"/>
                </a:lnTo>
                <a:lnTo>
                  <a:pt x="339241" y="70201"/>
                </a:lnTo>
                <a:lnTo>
                  <a:pt x="310298" y="40988"/>
                </a:lnTo>
                <a:lnTo>
                  <a:pt x="275223" y="18883"/>
                </a:lnTo>
                <a:lnTo>
                  <a:pt x="23497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7400290" y="5805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7019290" y="61861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7122159" y="581279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248412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2484120" y="335534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484120" y="335534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865120" y="37376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585720" y="336422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737044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10" dirty="0">
                <a:latin typeface="Trebuchet MS"/>
                <a:cs typeface="Trebuchet MS"/>
              </a:rPr>
              <a:t>Rotação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à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45" dirty="0">
                <a:latin typeface="Trebuchet MS"/>
                <a:cs typeface="Trebuchet MS"/>
              </a:rPr>
              <a:t>esquerda</a:t>
            </a:r>
            <a:r>
              <a:rPr sz="3200" spc="-55" dirty="0">
                <a:latin typeface="Trebuchet MS"/>
                <a:cs typeface="Trebuchet MS"/>
              </a:rPr>
              <a:t> </a:t>
            </a:r>
            <a:r>
              <a:rPr sz="3200" spc="95" dirty="0">
                <a:latin typeface="Trebuchet MS"/>
                <a:cs typeface="Trebuchet MS"/>
              </a:rPr>
              <a:t>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80" dirty="0">
                <a:latin typeface="Trebuchet MS"/>
                <a:cs typeface="Trebuchet MS"/>
              </a:rPr>
              <a:t>nodos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10" dirty="0">
                <a:latin typeface="Trebuchet MS"/>
                <a:cs typeface="Trebuchet MS"/>
              </a:rPr>
              <a:t>5,6</a:t>
            </a:r>
            <a:r>
              <a:rPr sz="3200" spc="-6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e</a:t>
            </a:r>
            <a:r>
              <a:rPr sz="3200" spc="-60" dirty="0">
                <a:latin typeface="Trebuchet MS"/>
                <a:cs typeface="Trebuchet MS"/>
              </a:rPr>
              <a:t> </a:t>
            </a:r>
            <a:r>
              <a:rPr sz="3200" spc="150" dirty="0">
                <a:latin typeface="Trebuchet MS"/>
                <a:cs typeface="Trebuchet MS"/>
              </a:rPr>
              <a:t>7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0109" y="299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0109" y="2997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0109" y="2997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1109" y="33782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20440" y="30048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45229" y="3322320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0460" y="364490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500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0460" y="364490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500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10460" y="3644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2729" y="4025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3329" y="36525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2229" y="332232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9834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8340" y="3644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9340" y="3644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8340" y="40259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01209" y="36525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24729" y="3970020"/>
            <a:ext cx="1024890" cy="538480"/>
          </a:xfrm>
          <a:custGeom>
            <a:avLst/>
            <a:gdLst/>
            <a:ahLst/>
            <a:cxnLst/>
            <a:rect l="l" t="t" r="r" b="b"/>
            <a:pathLst>
              <a:path w="1024889" h="538479">
                <a:moveTo>
                  <a:pt x="0" y="0"/>
                </a:moveTo>
                <a:lnTo>
                  <a:pt x="102489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2520" y="3970020"/>
            <a:ext cx="902969" cy="538480"/>
          </a:xfrm>
          <a:custGeom>
            <a:avLst/>
            <a:gdLst/>
            <a:ahLst/>
            <a:cxnLst/>
            <a:rect l="l" t="t" r="r" b="b"/>
            <a:pathLst>
              <a:path w="902970" h="538479">
                <a:moveTo>
                  <a:pt x="902969" y="0"/>
                </a:moveTo>
                <a:lnTo>
                  <a:pt x="0" y="53847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20109" y="44361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112"/>
                </a:lnTo>
                <a:lnTo>
                  <a:pt x="18883" y="275726"/>
                </a:lnTo>
                <a:lnTo>
                  <a:pt x="40988" y="311298"/>
                </a:lnTo>
                <a:lnTo>
                  <a:pt x="70201" y="340782"/>
                </a:lnTo>
                <a:lnTo>
                  <a:pt x="105524" y="363134"/>
                </a:lnTo>
                <a:lnTo>
                  <a:pt x="145957" y="377312"/>
                </a:lnTo>
                <a:lnTo>
                  <a:pt x="190500" y="382269"/>
                </a:lnTo>
                <a:lnTo>
                  <a:pt x="235042" y="377312"/>
                </a:lnTo>
                <a:lnTo>
                  <a:pt x="275475" y="363134"/>
                </a:lnTo>
                <a:lnTo>
                  <a:pt x="310798" y="340782"/>
                </a:lnTo>
                <a:lnTo>
                  <a:pt x="340011" y="311298"/>
                </a:lnTo>
                <a:lnTo>
                  <a:pt x="362116" y="275726"/>
                </a:lnTo>
                <a:lnTo>
                  <a:pt x="376112" y="23511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0109" y="4436109"/>
            <a:ext cx="381000" cy="382270"/>
          </a:xfrm>
          <a:custGeom>
            <a:avLst/>
            <a:gdLst/>
            <a:ahLst/>
            <a:cxnLst/>
            <a:rect l="l" t="t" r="r" b="b"/>
            <a:pathLst>
              <a:path w="381000" h="38227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112"/>
                </a:lnTo>
                <a:lnTo>
                  <a:pt x="362116" y="275726"/>
                </a:lnTo>
                <a:lnTo>
                  <a:pt x="340011" y="311298"/>
                </a:lnTo>
                <a:lnTo>
                  <a:pt x="310798" y="340782"/>
                </a:lnTo>
                <a:lnTo>
                  <a:pt x="275475" y="363134"/>
                </a:lnTo>
                <a:lnTo>
                  <a:pt x="235042" y="377312"/>
                </a:lnTo>
                <a:lnTo>
                  <a:pt x="190500" y="382269"/>
                </a:lnTo>
                <a:lnTo>
                  <a:pt x="145957" y="377312"/>
                </a:lnTo>
                <a:lnTo>
                  <a:pt x="105524" y="363134"/>
                </a:lnTo>
                <a:lnTo>
                  <a:pt x="70201" y="340782"/>
                </a:lnTo>
                <a:lnTo>
                  <a:pt x="40988" y="311298"/>
                </a:lnTo>
                <a:lnTo>
                  <a:pt x="18883" y="275726"/>
                </a:lnTo>
                <a:lnTo>
                  <a:pt x="4887" y="23511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0109" y="443610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01109" y="48183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20440" y="444500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009640" y="4795520"/>
            <a:ext cx="576580" cy="647700"/>
          </a:xfrm>
          <a:custGeom>
            <a:avLst/>
            <a:gdLst/>
            <a:ahLst/>
            <a:cxnLst/>
            <a:rect l="l" t="t" r="r" b="b"/>
            <a:pathLst>
              <a:path w="576579" h="647700">
                <a:moveTo>
                  <a:pt x="0" y="0"/>
                </a:moveTo>
                <a:lnTo>
                  <a:pt x="576580" y="64769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9050" y="5443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9050" y="54432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50050" y="5443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9050" y="58242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74920" y="4758690"/>
            <a:ext cx="631190" cy="542290"/>
          </a:xfrm>
          <a:custGeom>
            <a:avLst/>
            <a:gdLst/>
            <a:ahLst/>
            <a:cxnLst/>
            <a:rect l="l" t="t" r="r" b="b"/>
            <a:pathLst>
              <a:path w="631189" h="542289">
                <a:moveTo>
                  <a:pt x="631189" y="0"/>
                </a:moveTo>
                <a:lnTo>
                  <a:pt x="0" y="5422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859020" y="53009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859020" y="53009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59020" y="5300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240020" y="56819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032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651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6959" y="542655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70650" y="557133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639508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10" dirty="0">
                <a:latin typeface="Trebuchet MS"/>
                <a:cs typeface="Trebuchet MS"/>
              </a:rPr>
              <a:t>Alteração </a:t>
            </a:r>
            <a:r>
              <a:rPr sz="3200" spc="35" dirty="0">
                <a:latin typeface="Trebuchet MS"/>
                <a:cs typeface="Trebuchet MS"/>
              </a:rPr>
              <a:t>de </a:t>
            </a:r>
            <a:r>
              <a:rPr sz="3200" spc="-10" dirty="0">
                <a:latin typeface="Trebuchet MS"/>
                <a:cs typeface="Trebuchet MS"/>
              </a:rPr>
              <a:t>cor </a:t>
            </a:r>
            <a:r>
              <a:rPr sz="3200" spc="95" dirty="0">
                <a:latin typeface="Trebuchet MS"/>
                <a:cs typeface="Trebuchet MS"/>
              </a:rPr>
              <a:t>dos </a:t>
            </a:r>
            <a:r>
              <a:rPr sz="3200" spc="80" dirty="0">
                <a:latin typeface="Trebuchet MS"/>
                <a:cs typeface="Trebuchet MS"/>
              </a:rPr>
              <a:t>nodos </a:t>
            </a:r>
            <a:r>
              <a:rPr sz="3200" spc="150" dirty="0">
                <a:latin typeface="Trebuchet MS"/>
                <a:cs typeface="Trebuchet MS"/>
              </a:rPr>
              <a:t>5</a:t>
            </a:r>
            <a:r>
              <a:rPr sz="3200" spc="-635" dirty="0">
                <a:latin typeface="Trebuchet MS"/>
                <a:cs typeface="Trebuchet MS"/>
              </a:rPr>
              <a:t> </a:t>
            </a:r>
            <a:r>
              <a:rPr sz="3200" spc="25" dirty="0">
                <a:latin typeface="Trebuchet MS"/>
                <a:cs typeface="Trebuchet MS"/>
              </a:rPr>
              <a:t>e </a:t>
            </a:r>
            <a:r>
              <a:rPr sz="3200" spc="150" dirty="0">
                <a:latin typeface="Trebuchet MS"/>
                <a:cs typeface="Trebuchet MS"/>
              </a:rPr>
              <a:t>6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20109" y="3068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420109" y="3068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420109" y="3068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1109" y="34493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520440" y="30759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45229" y="3393440"/>
            <a:ext cx="943610" cy="322580"/>
          </a:xfrm>
          <a:custGeom>
            <a:avLst/>
            <a:gdLst/>
            <a:ahLst/>
            <a:cxnLst/>
            <a:rect l="l" t="t" r="r" b="b"/>
            <a:pathLst>
              <a:path w="943610" h="322579">
                <a:moveTo>
                  <a:pt x="0" y="0"/>
                </a:moveTo>
                <a:lnTo>
                  <a:pt x="94361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410460" y="37160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112" y="376112"/>
                </a:lnTo>
                <a:lnTo>
                  <a:pt x="275726" y="362116"/>
                </a:lnTo>
                <a:lnTo>
                  <a:pt x="311298" y="340011"/>
                </a:lnTo>
                <a:lnTo>
                  <a:pt x="340782" y="310798"/>
                </a:lnTo>
                <a:lnTo>
                  <a:pt x="363134" y="275475"/>
                </a:lnTo>
                <a:lnTo>
                  <a:pt x="377312" y="235042"/>
                </a:lnTo>
                <a:lnTo>
                  <a:pt x="382269" y="190499"/>
                </a:lnTo>
                <a:lnTo>
                  <a:pt x="377312" y="145957"/>
                </a:lnTo>
                <a:lnTo>
                  <a:pt x="363134" y="105524"/>
                </a:lnTo>
                <a:lnTo>
                  <a:pt x="340782" y="70201"/>
                </a:lnTo>
                <a:lnTo>
                  <a:pt x="311298" y="40988"/>
                </a:lnTo>
                <a:lnTo>
                  <a:pt x="275726" y="18883"/>
                </a:lnTo>
                <a:lnTo>
                  <a:pt x="23511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410460" y="3716020"/>
            <a:ext cx="382270" cy="381000"/>
          </a:xfrm>
          <a:custGeom>
            <a:avLst/>
            <a:gdLst/>
            <a:ahLst/>
            <a:cxnLst/>
            <a:rect l="l" t="t" r="r" b="b"/>
            <a:pathLst>
              <a:path w="382269" h="381000">
                <a:moveTo>
                  <a:pt x="190500" y="0"/>
                </a:moveTo>
                <a:lnTo>
                  <a:pt x="235112" y="4887"/>
                </a:lnTo>
                <a:lnTo>
                  <a:pt x="275726" y="18883"/>
                </a:lnTo>
                <a:lnTo>
                  <a:pt x="311298" y="40988"/>
                </a:lnTo>
                <a:lnTo>
                  <a:pt x="340782" y="70201"/>
                </a:lnTo>
                <a:lnTo>
                  <a:pt x="363134" y="105524"/>
                </a:lnTo>
                <a:lnTo>
                  <a:pt x="377312" y="145957"/>
                </a:lnTo>
                <a:lnTo>
                  <a:pt x="382269" y="190499"/>
                </a:lnTo>
                <a:lnTo>
                  <a:pt x="377312" y="235042"/>
                </a:lnTo>
                <a:lnTo>
                  <a:pt x="363134" y="275475"/>
                </a:lnTo>
                <a:lnTo>
                  <a:pt x="340782" y="310798"/>
                </a:lnTo>
                <a:lnTo>
                  <a:pt x="311298" y="340011"/>
                </a:lnTo>
                <a:lnTo>
                  <a:pt x="275726" y="362116"/>
                </a:lnTo>
                <a:lnTo>
                  <a:pt x="235112" y="376112"/>
                </a:lnTo>
                <a:lnTo>
                  <a:pt x="190500" y="380999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499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410460" y="3716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2792729" y="4097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13329" y="3723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02229" y="3393440"/>
            <a:ext cx="873760" cy="322580"/>
          </a:xfrm>
          <a:custGeom>
            <a:avLst/>
            <a:gdLst/>
            <a:ahLst/>
            <a:cxnLst/>
            <a:rect l="l" t="t" r="r" b="b"/>
            <a:pathLst>
              <a:path w="873760" h="322579">
                <a:moveTo>
                  <a:pt x="873759" y="0"/>
                </a:moveTo>
                <a:lnTo>
                  <a:pt x="0" y="3225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98340" y="3716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8340" y="37160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499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0999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499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79340" y="3716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498340" y="40970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601209" y="372364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824729" y="4041140"/>
            <a:ext cx="1024890" cy="538480"/>
          </a:xfrm>
          <a:custGeom>
            <a:avLst/>
            <a:gdLst/>
            <a:ahLst/>
            <a:cxnLst/>
            <a:rect l="l" t="t" r="r" b="b"/>
            <a:pathLst>
              <a:path w="1024889" h="538479">
                <a:moveTo>
                  <a:pt x="0" y="0"/>
                </a:moveTo>
                <a:lnTo>
                  <a:pt x="1024890" y="538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652520" y="4041140"/>
            <a:ext cx="902969" cy="538480"/>
          </a:xfrm>
          <a:custGeom>
            <a:avLst/>
            <a:gdLst/>
            <a:ahLst/>
            <a:cxnLst/>
            <a:rect l="l" t="t" r="r" b="b"/>
            <a:pathLst>
              <a:path w="902970" h="538479">
                <a:moveTo>
                  <a:pt x="902969" y="0"/>
                </a:moveTo>
                <a:lnTo>
                  <a:pt x="0" y="5384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420109" y="4580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420109" y="458089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420109" y="45808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801109" y="4963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520440" y="4588509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76620" y="4833620"/>
            <a:ext cx="609600" cy="683260"/>
          </a:xfrm>
          <a:custGeom>
            <a:avLst/>
            <a:gdLst/>
            <a:ahLst/>
            <a:cxnLst/>
            <a:rect l="l" t="t" r="r" b="b"/>
            <a:pathLst>
              <a:path w="609600" h="683260">
                <a:moveTo>
                  <a:pt x="0" y="0"/>
                </a:moveTo>
                <a:lnTo>
                  <a:pt x="609600" y="68325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6369050" y="55168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6369050" y="551687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750050" y="5516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369050" y="58978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5074920" y="4832350"/>
            <a:ext cx="631190" cy="542290"/>
          </a:xfrm>
          <a:custGeom>
            <a:avLst/>
            <a:gdLst/>
            <a:ahLst/>
            <a:cxnLst/>
            <a:rect l="l" t="t" r="r" b="b"/>
            <a:pathLst>
              <a:path w="631189" h="542289">
                <a:moveTo>
                  <a:pt x="631189" y="0"/>
                </a:moveTo>
                <a:lnTo>
                  <a:pt x="0" y="54229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145957" y="4887"/>
                </a:lnTo>
                <a:lnTo>
                  <a:pt x="105524" y="18883"/>
                </a:lnTo>
                <a:lnTo>
                  <a:pt x="70201" y="40988"/>
                </a:lnTo>
                <a:lnTo>
                  <a:pt x="40988" y="70201"/>
                </a:lnTo>
                <a:lnTo>
                  <a:pt x="18883" y="105524"/>
                </a:lnTo>
                <a:lnTo>
                  <a:pt x="4887" y="145957"/>
                </a:lnTo>
                <a:lnTo>
                  <a:pt x="0" y="190500"/>
                </a:lnTo>
                <a:lnTo>
                  <a:pt x="4887" y="235042"/>
                </a:lnTo>
                <a:lnTo>
                  <a:pt x="18883" y="275475"/>
                </a:lnTo>
                <a:lnTo>
                  <a:pt x="40988" y="310798"/>
                </a:lnTo>
                <a:lnTo>
                  <a:pt x="70201" y="340011"/>
                </a:lnTo>
                <a:lnTo>
                  <a:pt x="105524" y="362116"/>
                </a:lnTo>
                <a:lnTo>
                  <a:pt x="145957" y="376112"/>
                </a:lnTo>
                <a:lnTo>
                  <a:pt x="190500" y="381000"/>
                </a:lnTo>
                <a:lnTo>
                  <a:pt x="235042" y="376112"/>
                </a:lnTo>
                <a:lnTo>
                  <a:pt x="275475" y="362116"/>
                </a:lnTo>
                <a:lnTo>
                  <a:pt x="310798" y="340011"/>
                </a:lnTo>
                <a:lnTo>
                  <a:pt x="340011" y="310798"/>
                </a:lnTo>
                <a:lnTo>
                  <a:pt x="362116" y="275475"/>
                </a:lnTo>
                <a:lnTo>
                  <a:pt x="376112" y="235042"/>
                </a:lnTo>
                <a:lnTo>
                  <a:pt x="381000" y="190500"/>
                </a:lnTo>
                <a:lnTo>
                  <a:pt x="376112" y="145957"/>
                </a:lnTo>
                <a:lnTo>
                  <a:pt x="362116" y="105524"/>
                </a:lnTo>
                <a:lnTo>
                  <a:pt x="340011" y="70201"/>
                </a:lnTo>
                <a:lnTo>
                  <a:pt x="310798" y="40988"/>
                </a:lnTo>
                <a:lnTo>
                  <a:pt x="275475" y="18883"/>
                </a:lnTo>
                <a:lnTo>
                  <a:pt x="235042" y="4887"/>
                </a:lnTo>
                <a:lnTo>
                  <a:pt x="1905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5651500" y="4508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190500" y="0"/>
                </a:moveTo>
                <a:lnTo>
                  <a:pt x="235042" y="4887"/>
                </a:lnTo>
                <a:lnTo>
                  <a:pt x="275475" y="18883"/>
                </a:lnTo>
                <a:lnTo>
                  <a:pt x="310798" y="40988"/>
                </a:lnTo>
                <a:lnTo>
                  <a:pt x="340011" y="70201"/>
                </a:lnTo>
                <a:lnTo>
                  <a:pt x="362116" y="105524"/>
                </a:lnTo>
                <a:lnTo>
                  <a:pt x="376112" y="145957"/>
                </a:lnTo>
                <a:lnTo>
                  <a:pt x="381000" y="190500"/>
                </a:lnTo>
                <a:lnTo>
                  <a:pt x="376112" y="235042"/>
                </a:lnTo>
                <a:lnTo>
                  <a:pt x="362116" y="275475"/>
                </a:lnTo>
                <a:lnTo>
                  <a:pt x="340011" y="310798"/>
                </a:lnTo>
                <a:lnTo>
                  <a:pt x="310798" y="340011"/>
                </a:lnTo>
                <a:lnTo>
                  <a:pt x="275475" y="362116"/>
                </a:lnTo>
                <a:lnTo>
                  <a:pt x="235042" y="376112"/>
                </a:lnTo>
                <a:lnTo>
                  <a:pt x="190500" y="381000"/>
                </a:lnTo>
                <a:lnTo>
                  <a:pt x="145957" y="376112"/>
                </a:lnTo>
                <a:lnTo>
                  <a:pt x="105524" y="362116"/>
                </a:lnTo>
                <a:lnTo>
                  <a:pt x="70201" y="340011"/>
                </a:lnTo>
                <a:lnTo>
                  <a:pt x="40988" y="310798"/>
                </a:lnTo>
                <a:lnTo>
                  <a:pt x="18883" y="275475"/>
                </a:lnTo>
                <a:lnTo>
                  <a:pt x="4887" y="235042"/>
                </a:lnTo>
                <a:lnTo>
                  <a:pt x="0" y="190500"/>
                </a:lnTo>
                <a:lnTo>
                  <a:pt x="4887" y="145957"/>
                </a:lnTo>
                <a:lnTo>
                  <a:pt x="18883" y="105524"/>
                </a:lnTo>
                <a:lnTo>
                  <a:pt x="40988" y="70201"/>
                </a:lnTo>
                <a:lnTo>
                  <a:pt x="70201" y="40988"/>
                </a:lnTo>
                <a:lnTo>
                  <a:pt x="105524" y="18883"/>
                </a:lnTo>
                <a:lnTo>
                  <a:pt x="145957" y="4887"/>
                </a:lnTo>
                <a:lnTo>
                  <a:pt x="190500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651500" y="4508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032500" y="48895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753100" y="451612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i="1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785359" y="537210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785359" y="5372100"/>
            <a:ext cx="379730" cy="381000"/>
          </a:xfrm>
          <a:custGeom>
            <a:avLst/>
            <a:gdLst/>
            <a:ahLst/>
            <a:cxnLst/>
            <a:rect l="l" t="t" r="r" b="b"/>
            <a:pathLst>
              <a:path w="379729" h="381000">
                <a:moveTo>
                  <a:pt x="189229" y="0"/>
                </a:moveTo>
                <a:lnTo>
                  <a:pt x="144757" y="4887"/>
                </a:lnTo>
                <a:lnTo>
                  <a:pt x="104506" y="18883"/>
                </a:lnTo>
                <a:lnTo>
                  <a:pt x="69431" y="40988"/>
                </a:lnTo>
                <a:lnTo>
                  <a:pt x="40488" y="70201"/>
                </a:lnTo>
                <a:lnTo>
                  <a:pt x="18631" y="105524"/>
                </a:lnTo>
                <a:lnTo>
                  <a:pt x="4817" y="145957"/>
                </a:lnTo>
                <a:lnTo>
                  <a:pt x="0" y="190500"/>
                </a:lnTo>
                <a:lnTo>
                  <a:pt x="4817" y="235042"/>
                </a:lnTo>
                <a:lnTo>
                  <a:pt x="18631" y="275475"/>
                </a:lnTo>
                <a:lnTo>
                  <a:pt x="40488" y="310798"/>
                </a:lnTo>
                <a:lnTo>
                  <a:pt x="69431" y="340011"/>
                </a:lnTo>
                <a:lnTo>
                  <a:pt x="104506" y="362116"/>
                </a:lnTo>
                <a:lnTo>
                  <a:pt x="144757" y="376112"/>
                </a:lnTo>
                <a:lnTo>
                  <a:pt x="189229" y="381000"/>
                </a:lnTo>
                <a:lnTo>
                  <a:pt x="234172" y="376112"/>
                </a:lnTo>
                <a:lnTo>
                  <a:pt x="274760" y="362116"/>
                </a:lnTo>
                <a:lnTo>
                  <a:pt x="310061" y="340011"/>
                </a:lnTo>
                <a:lnTo>
                  <a:pt x="339141" y="310798"/>
                </a:lnTo>
                <a:lnTo>
                  <a:pt x="361068" y="275475"/>
                </a:lnTo>
                <a:lnTo>
                  <a:pt x="374909" y="235042"/>
                </a:lnTo>
                <a:lnTo>
                  <a:pt x="379729" y="190500"/>
                </a:lnTo>
                <a:lnTo>
                  <a:pt x="374909" y="145957"/>
                </a:lnTo>
                <a:lnTo>
                  <a:pt x="361068" y="105524"/>
                </a:lnTo>
                <a:lnTo>
                  <a:pt x="339141" y="70201"/>
                </a:lnTo>
                <a:lnTo>
                  <a:pt x="310061" y="40988"/>
                </a:lnTo>
                <a:lnTo>
                  <a:pt x="274760" y="18883"/>
                </a:lnTo>
                <a:lnTo>
                  <a:pt x="234172" y="4887"/>
                </a:lnTo>
                <a:lnTo>
                  <a:pt x="189229" y="0"/>
                </a:lnTo>
                <a:close/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5165090" y="53721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4784090" y="57531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886959" y="542655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5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470650" y="5571335"/>
            <a:ext cx="177800" cy="33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510"/>
              </a:lnSpc>
            </a:pPr>
            <a:r>
              <a:rPr sz="2400" i="1" dirty="0">
                <a:latin typeface="Times New Roman"/>
                <a:cs typeface="Times New Roman"/>
              </a:rPr>
              <a:t>7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32809" y="845820"/>
            <a:ext cx="2422525" cy="609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4000" spc="30" dirty="0">
                <a:latin typeface="Trebuchet MS"/>
                <a:cs typeface="Trebuchet MS"/>
              </a:rPr>
              <a:t>Exemplo</a:t>
            </a:r>
            <a:r>
              <a:rPr sz="4000" spc="-155" dirty="0">
                <a:latin typeface="Trebuchet MS"/>
                <a:cs typeface="Trebuchet MS"/>
              </a:rPr>
              <a:t> </a:t>
            </a:r>
            <a:r>
              <a:rPr sz="4000" spc="190" dirty="0">
                <a:latin typeface="Trebuchet MS"/>
                <a:cs typeface="Trebuchet MS"/>
              </a:rPr>
              <a:t>2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662805" cy="4876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50" dirty="0">
                <a:latin typeface="Trebuchet MS"/>
                <a:cs typeface="Trebuchet MS"/>
              </a:rPr>
              <a:t>Estado </a:t>
            </a:r>
            <a:r>
              <a:rPr sz="3200" spc="-50" dirty="0">
                <a:latin typeface="Trebuchet MS"/>
                <a:cs typeface="Trebuchet MS"/>
              </a:rPr>
              <a:t>inicial </a:t>
            </a:r>
            <a:r>
              <a:rPr sz="3200" spc="60" dirty="0">
                <a:latin typeface="Trebuchet MS"/>
                <a:cs typeface="Trebuchet MS"/>
              </a:rPr>
              <a:t>da</a:t>
            </a:r>
            <a:r>
              <a:rPr sz="3200" spc="-204" dirty="0">
                <a:latin typeface="Trebuchet MS"/>
                <a:cs typeface="Trebuchet MS"/>
              </a:rPr>
              <a:t> </a:t>
            </a:r>
            <a:r>
              <a:rPr sz="3200" spc="15" dirty="0">
                <a:latin typeface="Trebuchet MS"/>
                <a:cs typeface="Trebuchet MS"/>
              </a:rPr>
              <a:t>árvore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03350" y="2636520"/>
            <a:ext cx="6229350" cy="39611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0709" y="236220"/>
            <a:ext cx="7938770" cy="1233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80310" marR="5080" indent="-2467610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-30" dirty="0"/>
              <a:t>2: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0" dirty="0"/>
              <a:t>do </a:t>
            </a:r>
            <a:r>
              <a:rPr sz="4000" dirty="0"/>
              <a:t>elemento</a:t>
            </a:r>
            <a:r>
              <a:rPr sz="4000" spc="-645" dirty="0"/>
              <a:t> </a:t>
            </a:r>
            <a:r>
              <a:rPr sz="4000" spc="5" dirty="0"/>
              <a:t>inserido  </a:t>
            </a:r>
            <a:r>
              <a:rPr sz="4000" spc="30" dirty="0"/>
              <a:t>é</a:t>
            </a:r>
            <a:r>
              <a:rPr sz="4000" spc="-160" dirty="0"/>
              <a:t> </a:t>
            </a:r>
            <a:r>
              <a:rPr sz="4000" spc="120" dirty="0"/>
              <a:t>VERMELHO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187450" y="2204720"/>
            <a:ext cx="6070600" cy="41300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22829" y="5923279"/>
            <a:ext cx="2179320" cy="4400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309880">
              <a:lnSpc>
                <a:spcPct val="100000"/>
              </a:lnSpc>
            </a:pPr>
            <a:r>
              <a:rPr sz="1400" spc="15" dirty="0">
                <a:latin typeface="Trebuchet MS"/>
                <a:cs typeface="Trebuchet MS"/>
              </a:rPr>
              <a:t>Inserção do nodo </a:t>
            </a:r>
            <a:r>
              <a:rPr sz="1400" spc="65" dirty="0">
                <a:latin typeface="Trebuchet MS"/>
                <a:cs typeface="Trebuchet MS"/>
              </a:rPr>
              <a:t>4  </a:t>
            </a:r>
            <a:r>
              <a:rPr sz="1400" spc="-5" dirty="0">
                <a:latin typeface="Trebuchet MS"/>
                <a:cs typeface="Trebuchet MS"/>
              </a:rPr>
              <a:t>Vilolação </a:t>
            </a:r>
            <a:r>
              <a:rPr sz="1400" spc="30" dirty="0">
                <a:latin typeface="Trebuchet MS"/>
                <a:cs typeface="Trebuchet MS"/>
              </a:rPr>
              <a:t>da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17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890" marR="5080" algn="ctr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-5" dirty="0"/>
              <a:t>3b: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5" dirty="0"/>
              <a:t>do </a:t>
            </a:r>
            <a:r>
              <a:rPr sz="4000" dirty="0"/>
              <a:t>elemento</a:t>
            </a:r>
            <a:r>
              <a:rPr sz="4000" spc="-720" dirty="0"/>
              <a:t> </a:t>
            </a:r>
            <a:r>
              <a:rPr sz="4000" spc="30" dirty="0"/>
              <a:t>é  </a:t>
            </a:r>
            <a:r>
              <a:rPr sz="4000" spc="45" dirty="0"/>
              <a:t>PRETO </a:t>
            </a:r>
            <a:r>
              <a:rPr sz="4000" spc="30" dirty="0"/>
              <a:t>e </a:t>
            </a:r>
            <a:r>
              <a:rPr sz="4000" spc="50" dirty="0"/>
              <a:t>o </a:t>
            </a:r>
            <a:r>
              <a:rPr sz="4000" dirty="0"/>
              <a:t>elemento </a:t>
            </a:r>
            <a:r>
              <a:rPr sz="4000" spc="30" dirty="0"/>
              <a:t>é </a:t>
            </a:r>
            <a:r>
              <a:rPr sz="4000" spc="-85" dirty="0"/>
              <a:t>filho</a:t>
            </a:r>
            <a:r>
              <a:rPr sz="4000" spc="-640" dirty="0"/>
              <a:t> </a:t>
            </a:r>
            <a:r>
              <a:rPr sz="4000" spc="100" dirty="0"/>
              <a:t>à  </a:t>
            </a:r>
            <a:r>
              <a:rPr sz="4000" spc="-70" dirty="0"/>
              <a:t>direita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619250" y="2134870"/>
            <a:ext cx="5749290" cy="4109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8620" y="5916929"/>
            <a:ext cx="4320540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" algn="ctr">
              <a:lnSpc>
                <a:spcPct val="100000"/>
              </a:lnSpc>
            </a:pPr>
            <a:r>
              <a:rPr sz="1400" spc="35" dirty="0">
                <a:latin typeface="Trebuchet MS"/>
                <a:cs typeface="Trebuchet MS"/>
              </a:rPr>
              <a:t>Nodos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5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8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55" dirty="0">
                <a:latin typeface="Trebuchet MS"/>
                <a:cs typeface="Trebuchet MS"/>
              </a:rPr>
              <a:t>passam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4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pretos</a:t>
            </a:r>
            <a:endParaRPr sz="1400">
              <a:latin typeface="Trebuchet MS"/>
              <a:cs typeface="Trebuchet MS"/>
            </a:endParaRPr>
          </a:p>
          <a:p>
            <a:pPr marL="12700" marR="5080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Outra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violação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5" dirty="0">
                <a:latin typeface="Trebuchet MS"/>
                <a:cs typeface="Trebuchet MS"/>
              </a:rPr>
              <a:t>da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-10" dirty="0">
                <a:latin typeface="Trebuchet MS"/>
                <a:cs typeface="Trebuchet MS"/>
              </a:rPr>
              <a:t>entre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os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30" dirty="0">
                <a:latin typeface="Trebuchet MS"/>
                <a:cs typeface="Trebuchet MS"/>
              </a:rPr>
              <a:t>nodos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2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e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25" dirty="0">
                <a:latin typeface="Trebuchet MS"/>
                <a:cs typeface="Trebuchet MS"/>
              </a:rPr>
              <a:t>Necessária </a:t>
            </a:r>
            <a:r>
              <a:rPr sz="1400" spc="45" dirty="0">
                <a:latin typeface="Trebuchet MS"/>
                <a:cs typeface="Trebuchet MS"/>
              </a:rPr>
              <a:t>uma </a:t>
            </a:r>
            <a:r>
              <a:rPr sz="1400" dirty="0">
                <a:latin typeface="Trebuchet MS"/>
                <a:cs typeface="Trebuchet MS"/>
              </a:rPr>
              <a:t>rotação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35" dirty="0">
                <a:latin typeface="Trebuchet MS"/>
                <a:cs typeface="Trebuchet MS"/>
              </a:rPr>
              <a:t> </a:t>
            </a:r>
            <a:r>
              <a:rPr sz="1400" spc="25" dirty="0">
                <a:latin typeface="Trebuchet MS"/>
                <a:cs typeface="Trebuchet MS"/>
              </a:rPr>
              <a:t>esquerda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160" marR="5080" algn="ctr">
              <a:lnSpc>
                <a:spcPct val="100000"/>
              </a:lnSpc>
            </a:pPr>
            <a:r>
              <a:rPr sz="4000" spc="125" dirty="0"/>
              <a:t>Caso </a:t>
            </a:r>
            <a:r>
              <a:rPr sz="4000" spc="10" dirty="0"/>
              <a:t>3a: </a:t>
            </a:r>
            <a:r>
              <a:rPr sz="4000" spc="135" dirty="0"/>
              <a:t>O </a:t>
            </a:r>
            <a:r>
              <a:rPr sz="4000" spc="-95" dirty="0"/>
              <a:t>tio </a:t>
            </a:r>
            <a:r>
              <a:rPr sz="4000" spc="50" dirty="0"/>
              <a:t>do </a:t>
            </a:r>
            <a:r>
              <a:rPr sz="4000" dirty="0"/>
              <a:t>elemento</a:t>
            </a:r>
            <a:r>
              <a:rPr sz="4000" spc="-705" dirty="0"/>
              <a:t> </a:t>
            </a:r>
            <a:r>
              <a:rPr sz="4000" spc="30" dirty="0"/>
              <a:t>é  </a:t>
            </a:r>
            <a:r>
              <a:rPr sz="4000" spc="45" dirty="0"/>
              <a:t>PRETO </a:t>
            </a:r>
            <a:r>
              <a:rPr sz="4000" spc="30" dirty="0"/>
              <a:t>e </a:t>
            </a:r>
            <a:r>
              <a:rPr sz="4000" spc="50" dirty="0"/>
              <a:t>o </a:t>
            </a:r>
            <a:r>
              <a:rPr sz="4000" dirty="0"/>
              <a:t>elemento </a:t>
            </a:r>
            <a:r>
              <a:rPr sz="4000" spc="30" dirty="0"/>
              <a:t>é </a:t>
            </a:r>
            <a:r>
              <a:rPr sz="4000" spc="-85" dirty="0"/>
              <a:t>filho</a:t>
            </a:r>
            <a:r>
              <a:rPr sz="4000" spc="-615" dirty="0"/>
              <a:t> </a:t>
            </a:r>
            <a:r>
              <a:rPr sz="4000" spc="100" dirty="0"/>
              <a:t>à  </a:t>
            </a:r>
            <a:r>
              <a:rPr sz="4000" spc="50" dirty="0"/>
              <a:t>esquerda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332230" y="2420620"/>
            <a:ext cx="6389370" cy="37007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672840" y="5491479"/>
            <a:ext cx="4008754" cy="653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Realizada </a:t>
            </a:r>
            <a:r>
              <a:rPr sz="1400" spc="35" dirty="0">
                <a:latin typeface="Trebuchet MS"/>
                <a:cs typeface="Trebuchet MS"/>
              </a:rPr>
              <a:t>a </a:t>
            </a:r>
            <a:r>
              <a:rPr sz="1400" spc="-15" dirty="0">
                <a:latin typeface="Trebuchet MS"/>
                <a:cs typeface="Trebuchet MS"/>
              </a:rPr>
              <a:t>rotação, </a:t>
            </a:r>
            <a:r>
              <a:rPr sz="1400" spc="15" dirty="0">
                <a:latin typeface="Trebuchet MS"/>
                <a:cs typeface="Trebuchet MS"/>
              </a:rPr>
              <a:t>o </a:t>
            </a:r>
            <a:r>
              <a:rPr sz="1400" spc="-30" dirty="0">
                <a:latin typeface="Trebuchet MS"/>
                <a:cs typeface="Trebuchet MS"/>
              </a:rPr>
              <a:t>filho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8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 do </a:t>
            </a:r>
            <a:r>
              <a:rPr sz="1400" spc="15" dirty="0">
                <a:latin typeface="Trebuchet MS"/>
                <a:cs typeface="Trebuchet MS"/>
              </a:rPr>
              <a:t>nodo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50" dirty="0">
                <a:latin typeface="Trebuchet MS"/>
                <a:cs typeface="Trebuchet MS"/>
              </a:rPr>
              <a:t>passa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30" dirty="0">
                <a:latin typeface="Trebuchet MS"/>
                <a:cs typeface="Trebuchet MS"/>
              </a:rPr>
              <a:t> filho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0" dirty="0">
                <a:latin typeface="Trebuchet MS"/>
                <a:cs typeface="Trebuchet MS"/>
              </a:rPr>
              <a:t> direita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4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2</a:t>
            </a:r>
            <a:endParaRPr sz="1400">
              <a:latin typeface="Trebuchet MS"/>
              <a:cs typeface="Trebuchet MS"/>
            </a:endParaRPr>
          </a:p>
          <a:p>
            <a:pPr marL="2540" algn="ctr">
              <a:lnSpc>
                <a:spcPct val="100000"/>
              </a:lnSpc>
            </a:pPr>
            <a:r>
              <a:rPr sz="1400" spc="25" dirty="0">
                <a:latin typeface="Trebuchet MS"/>
                <a:cs typeface="Trebuchet MS"/>
              </a:rPr>
              <a:t>Necessária </a:t>
            </a:r>
            <a:r>
              <a:rPr sz="1400" dirty="0">
                <a:latin typeface="Trebuchet MS"/>
                <a:cs typeface="Trebuchet MS"/>
              </a:rPr>
              <a:t>rotação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15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direita.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14400" rIns="0" bIns="0" rtlCol="0">
            <a:spAutoFit/>
          </a:bodyPr>
          <a:lstStyle/>
          <a:p>
            <a:pPr marL="2438400">
              <a:lnSpc>
                <a:spcPct val="100000"/>
              </a:lnSpc>
            </a:pPr>
            <a:r>
              <a:rPr sz="4000" spc="30" dirty="0"/>
              <a:t>Exemplo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84530" y="2566670"/>
            <a:ext cx="7787639" cy="3169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143000" y="5420359"/>
            <a:ext cx="4771390" cy="8655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5400" marR="15875" algn="ctr">
              <a:lnSpc>
                <a:spcPct val="100000"/>
              </a:lnSpc>
            </a:pPr>
            <a:r>
              <a:rPr sz="1400" spc="5" dirty="0">
                <a:latin typeface="Trebuchet MS"/>
                <a:cs typeface="Trebuchet MS"/>
              </a:rPr>
              <a:t>Realizada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45" dirty="0">
                <a:latin typeface="Trebuchet MS"/>
                <a:cs typeface="Trebuchet MS"/>
              </a:rPr>
              <a:t>uma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rotação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35" dirty="0">
                <a:latin typeface="Trebuchet MS"/>
                <a:cs typeface="Trebuchet MS"/>
              </a:rPr>
              <a:t>direita, </a:t>
            </a:r>
            <a:r>
              <a:rPr sz="1400" spc="15" dirty="0">
                <a:latin typeface="Trebuchet MS"/>
                <a:cs typeface="Trebuchet MS"/>
              </a:rPr>
              <a:t>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filho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-20" dirty="0">
                <a:latin typeface="Trebuchet MS"/>
                <a:cs typeface="Trebuchet MS"/>
              </a:rPr>
              <a:t>direita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  </a:t>
            </a:r>
            <a:r>
              <a:rPr sz="1400" spc="55" dirty="0">
                <a:latin typeface="Trebuchet MS"/>
                <a:cs typeface="Trebuchet MS"/>
              </a:rPr>
              <a:t>passa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ser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filho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à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esquerda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5" dirty="0">
                <a:latin typeface="Trebuchet MS"/>
                <a:cs typeface="Trebuchet MS"/>
              </a:rPr>
              <a:t>nodo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60" dirty="0">
                <a:latin typeface="Trebuchet MS"/>
                <a:cs typeface="Trebuchet MS"/>
              </a:rPr>
              <a:t>11</a:t>
            </a:r>
            <a:endParaRPr sz="1400">
              <a:latin typeface="Trebuchet MS"/>
              <a:cs typeface="Trebuchet MS"/>
            </a:endParaRPr>
          </a:p>
          <a:p>
            <a:pPr marL="12700" marR="5080" algn="ctr">
              <a:lnSpc>
                <a:spcPts val="1680"/>
              </a:lnSpc>
              <a:spcBef>
                <a:spcPts val="45"/>
              </a:spcBef>
            </a:pPr>
            <a:r>
              <a:rPr sz="1400" spc="45" dirty="0">
                <a:latin typeface="Trebuchet MS"/>
                <a:cs typeface="Trebuchet MS"/>
              </a:rPr>
              <a:t>O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20" dirty="0">
                <a:latin typeface="Trebuchet MS"/>
                <a:cs typeface="Trebuchet MS"/>
              </a:rPr>
              <a:t>nodo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7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15" dirty="0">
                <a:latin typeface="Trebuchet MS"/>
                <a:cs typeface="Trebuchet MS"/>
              </a:rPr>
              <a:t>colorido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de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-30" dirty="0">
                <a:latin typeface="Trebuchet MS"/>
                <a:cs typeface="Trebuchet MS"/>
              </a:rPr>
              <a:t>preto,</a:t>
            </a:r>
            <a:r>
              <a:rPr sz="1400" spc="-35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10" dirty="0">
                <a:latin typeface="Trebuchet MS"/>
                <a:cs typeface="Trebuchet MS"/>
              </a:rPr>
              <a:t>restaurada</a:t>
            </a:r>
            <a:r>
              <a:rPr sz="1400" spc="-20" dirty="0">
                <a:latin typeface="Trebuchet MS"/>
                <a:cs typeface="Trebuchet MS"/>
              </a:rPr>
              <a:t> </a:t>
            </a:r>
            <a:r>
              <a:rPr sz="1400" spc="35" dirty="0">
                <a:latin typeface="Trebuchet MS"/>
                <a:cs typeface="Trebuchet MS"/>
              </a:rPr>
              <a:t>a</a:t>
            </a:r>
            <a:r>
              <a:rPr sz="1400" spc="-25" dirty="0">
                <a:latin typeface="Trebuchet MS"/>
                <a:cs typeface="Trebuchet MS"/>
              </a:rPr>
              <a:t> </a:t>
            </a:r>
            <a:r>
              <a:rPr sz="1400" dirty="0">
                <a:latin typeface="Trebuchet MS"/>
                <a:cs typeface="Trebuchet MS"/>
              </a:rPr>
              <a:t>propriedade</a:t>
            </a:r>
            <a:r>
              <a:rPr sz="1400" spc="-30" dirty="0">
                <a:latin typeface="Trebuchet MS"/>
                <a:cs typeface="Trebuchet MS"/>
              </a:rPr>
              <a:t> </a:t>
            </a:r>
            <a:r>
              <a:rPr sz="1400" spc="65" dirty="0">
                <a:latin typeface="Trebuchet MS"/>
                <a:cs typeface="Trebuchet MS"/>
              </a:rPr>
              <a:t>4  </a:t>
            </a:r>
            <a:r>
              <a:rPr sz="1400" spc="10" dirty="0">
                <a:latin typeface="Trebuchet MS"/>
                <a:cs typeface="Trebuchet MS"/>
              </a:rPr>
              <a:t>e </a:t>
            </a:r>
            <a:r>
              <a:rPr sz="1400" spc="35" dirty="0">
                <a:latin typeface="Trebuchet MS"/>
                <a:cs typeface="Trebuchet MS"/>
              </a:rPr>
              <a:t>nenhuma </a:t>
            </a:r>
            <a:r>
              <a:rPr sz="1400" spc="-5" dirty="0">
                <a:latin typeface="Trebuchet MS"/>
                <a:cs typeface="Trebuchet MS"/>
              </a:rPr>
              <a:t>outra </a:t>
            </a:r>
            <a:r>
              <a:rPr sz="1400" spc="10" dirty="0">
                <a:latin typeface="Trebuchet MS"/>
                <a:cs typeface="Trebuchet MS"/>
              </a:rPr>
              <a:t>é</a:t>
            </a:r>
            <a:r>
              <a:rPr sz="1400" spc="-185" dirty="0">
                <a:latin typeface="Trebuchet MS"/>
                <a:cs typeface="Trebuchet MS"/>
              </a:rPr>
              <a:t> </a:t>
            </a:r>
            <a:r>
              <a:rPr sz="1400" spc="5" dirty="0">
                <a:latin typeface="Trebuchet MS"/>
                <a:cs typeface="Trebuchet MS"/>
              </a:rPr>
              <a:t>violada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004060">
              <a:lnSpc>
                <a:spcPct val="100000"/>
              </a:lnSpc>
            </a:pPr>
            <a:r>
              <a:rPr spc="114" dirty="0"/>
              <a:t>A</a:t>
            </a:r>
            <a:r>
              <a:rPr spc="60" dirty="0"/>
              <a:t>p</a:t>
            </a:r>
            <a:r>
              <a:rPr spc="-100" dirty="0"/>
              <a:t>li</a:t>
            </a:r>
            <a:r>
              <a:rPr spc="-155" dirty="0"/>
              <a:t>c</a:t>
            </a:r>
            <a:r>
              <a:rPr spc="100" dirty="0"/>
              <a:t>a</a:t>
            </a:r>
            <a:r>
              <a:rPr spc="0" dirty="0"/>
              <a:t>ç</a:t>
            </a:r>
            <a:r>
              <a:rPr spc="120" dirty="0"/>
              <a:t>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4619"/>
            <a:ext cx="8044815" cy="3114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08279" marR="458470" indent="-195580">
              <a:lnSpc>
                <a:spcPct val="101400"/>
              </a:lnSpc>
              <a:buFont typeface="Arial"/>
              <a:buChar char="•"/>
              <a:tabLst>
                <a:tab pos="208279" algn="l"/>
              </a:tabLst>
            </a:pP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VP, </a:t>
            </a:r>
            <a:r>
              <a:rPr sz="1800" spc="65" dirty="0">
                <a:latin typeface="Trebuchet MS"/>
                <a:cs typeface="Trebuchet MS"/>
              </a:rPr>
              <a:t>assim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com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35" dirty="0">
                <a:latin typeface="Trebuchet MS"/>
                <a:cs typeface="Trebuchet MS"/>
              </a:rPr>
              <a:t>AVL, </a:t>
            </a:r>
            <a:r>
              <a:rPr sz="1800" spc="30" dirty="0">
                <a:latin typeface="Trebuchet MS"/>
                <a:cs typeface="Trebuchet MS"/>
              </a:rPr>
              <a:t>necessita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de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no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máximo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1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rotação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para  </a:t>
            </a:r>
            <a:r>
              <a:rPr sz="1800" spc="20" dirty="0">
                <a:latin typeface="Trebuchet MS"/>
                <a:cs typeface="Trebuchet MS"/>
              </a:rPr>
              <a:t>balancear </a:t>
            </a:r>
            <a:r>
              <a:rPr sz="1800" spc="60" dirty="0">
                <a:latin typeface="Trebuchet MS"/>
                <a:cs typeface="Trebuchet MS"/>
              </a:rPr>
              <a:t>na </a:t>
            </a:r>
            <a:r>
              <a:rPr sz="1800" spc="-5" dirty="0">
                <a:latin typeface="Trebuchet MS"/>
                <a:cs typeface="Trebuchet MS"/>
              </a:rPr>
              <a:t>inserção. </a:t>
            </a:r>
            <a:r>
              <a:rPr sz="1800" dirty="0">
                <a:latin typeface="Trebuchet MS"/>
                <a:cs typeface="Trebuchet MS"/>
              </a:rPr>
              <a:t>Pode </a:t>
            </a:r>
            <a:r>
              <a:rPr sz="1800" spc="-30" dirty="0">
                <a:latin typeface="Trebuchet MS"/>
                <a:cs typeface="Trebuchet MS"/>
              </a:rPr>
              <a:t>ter </a:t>
            </a:r>
            <a:r>
              <a:rPr sz="1800" spc="15" dirty="0">
                <a:latin typeface="Trebuchet MS"/>
                <a:cs typeface="Trebuchet MS"/>
              </a:rPr>
              <a:t>log(n) trocas </a:t>
            </a:r>
            <a:r>
              <a:rPr sz="1800" spc="25" dirty="0">
                <a:latin typeface="Trebuchet MS"/>
                <a:cs typeface="Trebuchet MS"/>
              </a:rPr>
              <a:t>de</a:t>
            </a:r>
            <a:r>
              <a:rPr sz="1800" spc="-295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cores.</a:t>
            </a:r>
            <a:endParaRPr sz="1800">
              <a:latin typeface="Trebuchet MS"/>
              <a:cs typeface="Trebuchet MS"/>
            </a:endParaRPr>
          </a:p>
          <a:p>
            <a:pPr marL="208279" marR="5080" indent="-195580">
              <a:lnSpc>
                <a:spcPct val="100899"/>
              </a:lnSpc>
              <a:spcBef>
                <a:spcPts val="459"/>
              </a:spcBef>
              <a:buFont typeface="Arial"/>
              <a:buChar char="•"/>
              <a:tabLst>
                <a:tab pos="208279" algn="l"/>
              </a:tabLst>
            </a:pPr>
            <a:r>
              <a:rPr sz="1800" spc="60" dirty="0">
                <a:latin typeface="Trebuchet MS"/>
                <a:cs typeface="Trebuchet MS"/>
              </a:rPr>
              <a:t>Na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remoção,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VP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faz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no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45" dirty="0">
                <a:latin typeface="Trebuchet MS"/>
                <a:cs typeface="Trebuchet MS"/>
              </a:rPr>
              <a:t>máximo</a:t>
            </a:r>
            <a:r>
              <a:rPr sz="1800" spc="-15" dirty="0">
                <a:latin typeface="Trebuchet MS"/>
                <a:cs typeface="Trebuchet MS"/>
              </a:rPr>
              <a:t> </a:t>
            </a:r>
            <a:r>
              <a:rPr sz="1800" spc="95" dirty="0">
                <a:latin typeface="Trebuchet MS"/>
                <a:cs typeface="Trebuchet MS"/>
              </a:rPr>
              <a:t>1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" dirty="0">
                <a:latin typeface="Trebuchet MS"/>
                <a:cs typeface="Trebuchet MS"/>
              </a:rPr>
              <a:t>rotação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(simples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ou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-10" dirty="0">
                <a:latin typeface="Trebuchet MS"/>
                <a:cs typeface="Trebuchet MS"/>
              </a:rPr>
              <a:t>dupla),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30" dirty="0">
                <a:latin typeface="Trebuchet MS"/>
                <a:cs typeface="Trebuchet MS"/>
              </a:rPr>
              <a:t>enquanto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  </a:t>
            </a:r>
            <a:r>
              <a:rPr sz="1800" dirty="0">
                <a:latin typeface="Trebuchet MS"/>
                <a:cs typeface="Trebuchet MS"/>
              </a:rPr>
              <a:t>AVL </a:t>
            </a:r>
            <a:r>
              <a:rPr sz="1800" spc="35" dirty="0">
                <a:latin typeface="Trebuchet MS"/>
                <a:cs typeface="Trebuchet MS"/>
              </a:rPr>
              <a:t>pode </a:t>
            </a:r>
            <a:r>
              <a:rPr sz="1800" spc="-10" dirty="0">
                <a:latin typeface="Trebuchet MS"/>
                <a:cs typeface="Trebuchet MS"/>
              </a:rPr>
              <a:t>fazer </a:t>
            </a:r>
            <a:r>
              <a:rPr sz="1800" spc="15" dirty="0">
                <a:latin typeface="Trebuchet MS"/>
                <a:cs typeface="Trebuchet MS"/>
              </a:rPr>
              <a:t>log(n)</a:t>
            </a:r>
            <a:r>
              <a:rPr sz="1800" spc="-220" dirty="0">
                <a:latin typeface="Trebuchet MS"/>
                <a:cs typeface="Trebuchet MS"/>
              </a:rPr>
              <a:t> </a:t>
            </a:r>
            <a:r>
              <a:rPr sz="1800" dirty="0">
                <a:latin typeface="Trebuchet MS"/>
                <a:cs typeface="Trebuchet MS"/>
              </a:rPr>
              <a:t>rotações.</a:t>
            </a:r>
            <a:endParaRPr sz="1800">
              <a:latin typeface="Trebuchet MS"/>
              <a:cs typeface="Trebuchet MS"/>
            </a:endParaRPr>
          </a:p>
          <a:p>
            <a:pPr marL="208279" indent="-19558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208279" algn="l"/>
              </a:tabLst>
            </a:pP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25" dirty="0">
                <a:latin typeface="Trebuchet MS"/>
                <a:cs typeface="Trebuchet MS"/>
              </a:rPr>
              <a:t>VP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tem</a:t>
            </a:r>
            <a:r>
              <a:rPr sz="1800" spc="-25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melhor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-5" dirty="0">
                <a:latin typeface="Trebuchet MS"/>
                <a:cs typeface="Trebuchet MS"/>
              </a:rPr>
              <a:t>pior</a:t>
            </a:r>
            <a:r>
              <a:rPr sz="1800" spc="-40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caso</a:t>
            </a:r>
            <a:r>
              <a:rPr sz="1800" spc="-20" dirty="0">
                <a:latin typeface="Trebuchet MS"/>
                <a:cs typeface="Trebuchet MS"/>
              </a:rPr>
              <a:t> </a:t>
            </a:r>
            <a:r>
              <a:rPr sz="1800" spc="40" dirty="0">
                <a:latin typeface="Trebuchet MS"/>
                <a:cs typeface="Trebuchet MS"/>
              </a:rPr>
              <a:t>que</a:t>
            </a:r>
            <a:r>
              <a:rPr sz="1800" spc="-35" dirty="0">
                <a:latin typeface="Trebuchet MS"/>
                <a:cs typeface="Trebuchet MS"/>
              </a:rPr>
              <a:t> </a:t>
            </a:r>
            <a:r>
              <a:rPr sz="1800" spc="55" dirty="0">
                <a:latin typeface="Trebuchet MS"/>
                <a:cs typeface="Trebuchet MS"/>
              </a:rPr>
              <a:t>a</a:t>
            </a:r>
            <a:r>
              <a:rPr sz="1800" spc="-30" dirty="0">
                <a:latin typeface="Trebuchet MS"/>
                <a:cs typeface="Trebuchet MS"/>
              </a:rPr>
              <a:t> </a:t>
            </a:r>
            <a:r>
              <a:rPr sz="1800" spc="15" dirty="0">
                <a:latin typeface="Trebuchet MS"/>
                <a:cs typeface="Trebuchet MS"/>
              </a:rPr>
              <a:t>árvore</a:t>
            </a:r>
            <a:r>
              <a:rPr sz="1800" spc="-35" dirty="0">
                <a:latin typeface="Trebuchet MS"/>
                <a:cs typeface="Trebuchet MS"/>
              </a:rPr>
              <a:t> AVL.</a:t>
            </a:r>
            <a:endParaRPr sz="1800">
              <a:latin typeface="Trebuchet MS"/>
              <a:cs typeface="Trebuchet MS"/>
            </a:endParaRPr>
          </a:p>
          <a:p>
            <a:pPr marL="435609" lvl="1" indent="-162560">
              <a:lnSpc>
                <a:spcPct val="100000"/>
              </a:lnSpc>
              <a:spcBef>
                <a:spcPts val="40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45" dirty="0">
                <a:latin typeface="Trebuchet MS"/>
                <a:cs typeface="Trebuchet MS"/>
              </a:rPr>
              <a:t>Isso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5" dirty="0">
                <a:latin typeface="Trebuchet MS"/>
                <a:cs typeface="Trebuchet MS"/>
              </a:rPr>
              <a:t>faz </a:t>
            </a:r>
            <a:r>
              <a:rPr sz="1600" spc="30" dirty="0">
                <a:latin typeface="Trebuchet MS"/>
                <a:cs typeface="Trebuchet MS"/>
              </a:rPr>
              <a:t>com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árvore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seja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-20" dirty="0">
                <a:latin typeface="Trebuchet MS"/>
                <a:cs typeface="Trebuchet MS"/>
              </a:rPr>
              <a:t>utilizada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em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aplicações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de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tempo</a:t>
            </a:r>
            <a:r>
              <a:rPr sz="1600" spc="-20" dirty="0">
                <a:latin typeface="Trebuchet MS"/>
                <a:cs typeface="Trebuchet MS"/>
              </a:rPr>
              <a:t> </a:t>
            </a:r>
            <a:r>
              <a:rPr sz="1600" spc="-30" dirty="0">
                <a:latin typeface="Trebuchet MS"/>
                <a:cs typeface="Trebuchet MS"/>
              </a:rPr>
              <a:t>real</a:t>
            </a:r>
            <a:r>
              <a:rPr sz="1600" spc="-20" dirty="0">
                <a:latin typeface="Trebuchet MS"/>
                <a:cs typeface="Trebuchet MS"/>
              </a:rPr>
              <a:t> (críticas)</a:t>
            </a:r>
            <a:endParaRPr sz="1600">
              <a:latin typeface="Trebuchet MS"/>
              <a:cs typeface="Trebuchet MS"/>
            </a:endParaRPr>
          </a:p>
          <a:p>
            <a:pPr marL="435609" marR="101600" lvl="1" indent="-16256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-10" dirty="0">
                <a:latin typeface="Trebuchet MS"/>
                <a:cs typeface="Trebuchet MS"/>
              </a:rPr>
              <a:t>AVL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é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uma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estrutura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balanceada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40" dirty="0">
                <a:latin typeface="Trebuchet MS"/>
                <a:cs typeface="Trebuchet MS"/>
              </a:rPr>
              <a:t>VP,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o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leva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AVL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ser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5" dirty="0">
                <a:latin typeface="Trebuchet MS"/>
                <a:cs typeface="Trebuchet MS"/>
              </a:rPr>
              <a:t>lenta  </a:t>
            </a:r>
            <a:r>
              <a:rPr sz="1600" spc="35" dirty="0">
                <a:latin typeface="Trebuchet MS"/>
                <a:cs typeface="Trebuchet MS"/>
              </a:rPr>
              <a:t>na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inserção</a:t>
            </a:r>
            <a:r>
              <a:rPr sz="1600" spc="-30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10" dirty="0">
                <a:latin typeface="Trebuchet MS"/>
                <a:cs typeface="Trebuchet MS"/>
              </a:rPr>
              <a:t>remoção,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65" dirty="0">
                <a:latin typeface="Trebuchet MS"/>
                <a:cs typeface="Trebuchet MS"/>
              </a:rPr>
              <a:t>mas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mais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dirty="0">
                <a:latin typeface="Trebuchet MS"/>
                <a:cs typeface="Trebuchet MS"/>
              </a:rPr>
              <a:t>rápida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na</a:t>
            </a:r>
            <a:r>
              <a:rPr sz="1600" spc="-40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busca.</a:t>
            </a:r>
            <a:endParaRPr sz="1600">
              <a:latin typeface="Trebuchet MS"/>
              <a:cs typeface="Trebuchet MS"/>
            </a:endParaRPr>
          </a:p>
          <a:p>
            <a:pPr marL="435609" marR="67310" lvl="1" indent="-162560">
              <a:lnSpc>
                <a:spcPct val="100000"/>
              </a:lnSpc>
              <a:spcBef>
                <a:spcPts val="390"/>
              </a:spcBef>
              <a:buFont typeface="Arial"/>
              <a:buChar char="–"/>
              <a:tabLst>
                <a:tab pos="435609" algn="l"/>
              </a:tabLst>
            </a:pPr>
            <a:r>
              <a:rPr sz="1600" spc="-15" dirty="0">
                <a:latin typeface="Trebuchet MS"/>
                <a:cs typeface="Trebuchet MS"/>
              </a:rPr>
              <a:t>Pode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ser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5" dirty="0">
                <a:latin typeface="Trebuchet MS"/>
                <a:cs typeface="Trebuchet MS"/>
              </a:rPr>
              <a:t>usada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para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-5" dirty="0">
                <a:latin typeface="Trebuchet MS"/>
                <a:cs typeface="Trebuchet MS"/>
              </a:rPr>
              <a:t>construir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blocos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40" dirty="0">
                <a:latin typeface="Trebuchet MS"/>
                <a:cs typeface="Trebuchet MS"/>
              </a:rPr>
              <a:t>em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outras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5" dirty="0">
                <a:latin typeface="Trebuchet MS"/>
                <a:cs typeface="Trebuchet MS"/>
              </a:rPr>
              <a:t>estruturas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15" dirty="0">
                <a:latin typeface="Trebuchet MS"/>
                <a:cs typeface="Trebuchet MS"/>
              </a:rPr>
              <a:t>de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35" dirty="0">
                <a:latin typeface="Trebuchet MS"/>
                <a:cs typeface="Trebuchet MS"/>
              </a:rPr>
              <a:t>dados</a:t>
            </a:r>
            <a:r>
              <a:rPr sz="1600" spc="-35" dirty="0">
                <a:latin typeface="Trebuchet MS"/>
                <a:cs typeface="Trebuchet MS"/>
              </a:rPr>
              <a:t> </a:t>
            </a:r>
            <a:r>
              <a:rPr sz="1600" spc="20" dirty="0">
                <a:latin typeface="Trebuchet MS"/>
                <a:cs typeface="Trebuchet MS"/>
              </a:rPr>
              <a:t>que</a:t>
            </a:r>
            <a:r>
              <a:rPr sz="1600" spc="-25" dirty="0">
                <a:latin typeface="Trebuchet MS"/>
                <a:cs typeface="Trebuchet MS"/>
              </a:rPr>
              <a:t> </a:t>
            </a:r>
            <a:r>
              <a:rPr sz="1600" spc="10" dirty="0">
                <a:latin typeface="Trebuchet MS"/>
                <a:cs typeface="Trebuchet MS"/>
              </a:rPr>
              <a:t>precisam  </a:t>
            </a:r>
            <a:r>
              <a:rPr sz="1600" spc="15" dirty="0">
                <a:latin typeface="Trebuchet MS"/>
                <a:cs typeface="Trebuchet MS"/>
              </a:rPr>
              <a:t>de garantias </a:t>
            </a:r>
            <a:r>
              <a:rPr sz="1600" spc="25" dirty="0">
                <a:latin typeface="Trebuchet MS"/>
                <a:cs typeface="Trebuchet MS"/>
              </a:rPr>
              <a:t>no </a:t>
            </a:r>
            <a:r>
              <a:rPr sz="1600" spc="-15" dirty="0">
                <a:latin typeface="Trebuchet MS"/>
                <a:cs typeface="Trebuchet MS"/>
              </a:rPr>
              <a:t>pior </a:t>
            </a:r>
            <a:r>
              <a:rPr sz="1600" spc="-10" dirty="0">
                <a:latin typeface="Trebuchet MS"/>
                <a:cs typeface="Trebuchet MS"/>
              </a:rPr>
              <a:t>caso. </a:t>
            </a:r>
            <a:r>
              <a:rPr sz="1600" spc="-35" dirty="0">
                <a:latin typeface="Trebuchet MS"/>
                <a:cs typeface="Trebuchet MS"/>
              </a:rPr>
              <a:t>Por </a:t>
            </a:r>
            <a:r>
              <a:rPr sz="1600" spc="-10" dirty="0">
                <a:latin typeface="Trebuchet MS"/>
                <a:cs typeface="Trebuchet MS"/>
              </a:rPr>
              <a:t>exemplo: </a:t>
            </a:r>
            <a:r>
              <a:rPr sz="1600" spc="5" dirty="0">
                <a:latin typeface="Trebuchet MS"/>
                <a:cs typeface="Trebuchet MS"/>
              </a:rPr>
              <a:t>estruturas </a:t>
            </a:r>
            <a:r>
              <a:rPr sz="1600" spc="15" dirty="0">
                <a:latin typeface="Trebuchet MS"/>
                <a:cs typeface="Trebuchet MS"/>
              </a:rPr>
              <a:t>de </a:t>
            </a:r>
            <a:r>
              <a:rPr sz="1600" spc="35" dirty="0">
                <a:latin typeface="Trebuchet MS"/>
                <a:cs typeface="Trebuchet MS"/>
              </a:rPr>
              <a:t>dados em </a:t>
            </a:r>
            <a:r>
              <a:rPr sz="1600" spc="5" dirty="0">
                <a:latin typeface="Trebuchet MS"/>
                <a:cs typeface="Trebuchet MS"/>
              </a:rPr>
              <a:t>geometria  </a:t>
            </a:r>
            <a:r>
              <a:rPr sz="1600" dirty="0">
                <a:latin typeface="Trebuchet MS"/>
                <a:cs typeface="Trebuchet MS"/>
              </a:rPr>
              <a:t>computacional </a:t>
            </a:r>
            <a:r>
              <a:rPr sz="1600" spc="25" dirty="0">
                <a:latin typeface="Trebuchet MS"/>
                <a:cs typeface="Trebuchet MS"/>
              </a:rPr>
              <a:t>podem </a:t>
            </a:r>
            <a:r>
              <a:rPr sz="1600" spc="20" dirty="0">
                <a:latin typeface="Trebuchet MS"/>
                <a:cs typeface="Trebuchet MS"/>
              </a:rPr>
              <a:t>ser </a:t>
            </a:r>
            <a:r>
              <a:rPr sz="1600" spc="40" dirty="0">
                <a:latin typeface="Trebuchet MS"/>
                <a:cs typeface="Trebuchet MS"/>
              </a:rPr>
              <a:t>baseadas em </a:t>
            </a:r>
            <a:r>
              <a:rPr sz="1600" spc="15" dirty="0">
                <a:latin typeface="Trebuchet MS"/>
                <a:cs typeface="Trebuchet MS"/>
              </a:rPr>
              <a:t>árvores</a:t>
            </a:r>
            <a:r>
              <a:rPr sz="1600" spc="-305" dirty="0">
                <a:latin typeface="Trebuchet MS"/>
                <a:cs typeface="Trebuchet MS"/>
              </a:rPr>
              <a:t> </a:t>
            </a:r>
            <a:r>
              <a:rPr sz="1600" spc="-130" dirty="0">
                <a:latin typeface="Trebuchet MS"/>
                <a:cs typeface="Trebuchet MS"/>
              </a:rPr>
              <a:t>VP.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9120" rIns="0" bIns="0" rtlCol="0">
            <a:spAutoFit/>
          </a:bodyPr>
          <a:lstStyle/>
          <a:p>
            <a:pPr marL="2225040">
              <a:lnSpc>
                <a:spcPct val="100000"/>
              </a:lnSpc>
            </a:pPr>
            <a:r>
              <a:rPr spc="135" dirty="0"/>
              <a:t>E</a:t>
            </a:r>
            <a:r>
              <a:rPr dirty="0"/>
              <a:t>x</a:t>
            </a:r>
            <a:r>
              <a:rPr spc="-30" dirty="0"/>
              <a:t>e</a:t>
            </a:r>
            <a:r>
              <a:rPr spc="-120" dirty="0"/>
              <a:t>r</a:t>
            </a:r>
            <a:r>
              <a:rPr spc="0" dirty="0"/>
              <a:t>c</a:t>
            </a:r>
            <a:r>
              <a:rPr spc="-60" dirty="0"/>
              <a:t>í</a:t>
            </a:r>
            <a:r>
              <a:rPr spc="-105" dirty="0"/>
              <a:t>c</a:t>
            </a:r>
            <a:r>
              <a:rPr spc="-155" dirty="0"/>
              <a:t>i</a:t>
            </a:r>
            <a:r>
              <a:rPr spc="60" dirty="0"/>
              <a:t>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45920"/>
            <a:ext cx="4814570" cy="1017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3200" spc="-35" dirty="0">
                <a:latin typeface="Trebuchet MS"/>
                <a:cs typeface="Trebuchet MS"/>
              </a:rPr>
              <a:t>Inserir:</a:t>
            </a:r>
            <a:endParaRPr sz="3200">
              <a:latin typeface="Trebuchet MS"/>
              <a:cs typeface="Trebuchet MS"/>
            </a:endParaRPr>
          </a:p>
          <a:p>
            <a:pPr marL="469900">
              <a:lnSpc>
                <a:spcPct val="100000"/>
              </a:lnSpc>
              <a:spcBef>
                <a:spcPts val="700"/>
              </a:spcBef>
            </a:pPr>
            <a:r>
              <a:rPr sz="4200" baseline="2976" dirty="0">
                <a:latin typeface="Arial"/>
                <a:cs typeface="Arial"/>
              </a:rPr>
              <a:t>–</a:t>
            </a:r>
            <a:r>
              <a:rPr sz="4200" spc="-150" baseline="2976" dirty="0">
                <a:latin typeface="Arial"/>
                <a:cs typeface="Arial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41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38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31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30" dirty="0">
                <a:latin typeface="Trebuchet MS"/>
                <a:cs typeface="Trebuchet MS"/>
              </a:rPr>
              <a:t>12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25" dirty="0">
                <a:latin typeface="Trebuchet MS"/>
                <a:cs typeface="Trebuchet MS"/>
              </a:rPr>
              <a:t>19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229" dirty="0">
                <a:latin typeface="Trebuchet MS"/>
                <a:cs typeface="Trebuchet MS"/>
              </a:rPr>
              <a:t>–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130" dirty="0">
                <a:latin typeface="Trebuchet MS"/>
                <a:cs typeface="Trebuchet MS"/>
              </a:rPr>
              <a:t>8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1170</Words>
  <Application>Microsoft Office PowerPoint</Application>
  <PresentationFormat>Apresentação na tela (4:3)</PresentationFormat>
  <Paragraphs>218</Paragraphs>
  <Slides>32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3" baseType="lpstr">
      <vt:lpstr>Office Theme</vt:lpstr>
      <vt:lpstr>Apresentação do PowerPoint</vt:lpstr>
      <vt:lpstr>Introdução</vt:lpstr>
      <vt:lpstr>Introdução</vt:lpstr>
      <vt:lpstr>Introdução</vt:lpstr>
      <vt:lpstr>Introdução</vt:lpstr>
      <vt:lpstr>Propriedades</vt:lpstr>
      <vt:lpstr>Propriedades</vt:lpstr>
      <vt:lpstr>Propriedades</vt:lpstr>
      <vt:lpstr>Propriedades</vt:lpstr>
      <vt:lpstr>Propriedades</vt:lpstr>
      <vt:lpstr>Propriedades</vt:lpstr>
      <vt:lpstr>Inserção</vt:lpstr>
      <vt:lpstr>Inserção</vt:lpstr>
      <vt:lpstr>Inserção</vt:lpstr>
      <vt:lpstr>Inserção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Apresentação do PowerPoint</vt:lpstr>
      <vt:lpstr>Caso 2: O tio do elemento inserido  é VERMELHO</vt:lpstr>
      <vt:lpstr>Caso 3b: O tio do elemento é  PRETO e o elemento é filho à  direita</vt:lpstr>
      <vt:lpstr>Caso 3a: O tio do elemento é  PRETO e o elemento é filho à  esquerda</vt:lpstr>
      <vt:lpstr>Exemplo</vt:lpstr>
      <vt:lpstr>Aplicações</vt:lpstr>
      <vt:lpstr>Exercício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Samuel Basilio</dc:creator>
  <cp:lastModifiedBy>Samuel</cp:lastModifiedBy>
  <cp:revision>2</cp:revision>
  <dcterms:created xsi:type="dcterms:W3CDTF">2015-11-06T19:20:52Z</dcterms:created>
  <dcterms:modified xsi:type="dcterms:W3CDTF">2015-11-06T18:24:14Z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2015-11-06T00:00:00Z</vt:filetime>
  </property>
</Properties>
</file>