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Default Extension="png" ContentType="image/png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</p:sldIdLst>
  <p:sldSz cx="9144000" cy="6858000"/>
  <p:notesSz cx="9144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91464" y="151257"/>
            <a:ext cx="8361070" cy="609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1">
                <a:solidFill>
                  <a:srgbClr val="4D4D4D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25400">
              <a:lnSpc>
                <a:spcPts val="1105"/>
              </a:lnSpc>
            </a:pPr>
            <a:fld id="{81D60167-4931-47E6-BA6A-407CBD079E47}" type="slidenum">
              <a:rPr dirty="0" spc="-5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1">
                <a:solidFill>
                  <a:srgbClr val="4D4D4D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25400">
              <a:lnSpc>
                <a:spcPts val="1105"/>
              </a:lnSpc>
            </a:pPr>
            <a:fld id="{81D60167-4931-47E6-BA6A-407CBD079E47}" type="slidenum">
              <a:rPr dirty="0" spc="-5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1">
                <a:solidFill>
                  <a:srgbClr val="4D4D4D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25400">
              <a:lnSpc>
                <a:spcPts val="1105"/>
              </a:lnSpc>
            </a:pPr>
            <a:fld id="{81D60167-4931-47E6-BA6A-407CBD079E47}" type="slidenum">
              <a:rPr dirty="0" spc="-5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1">
                <a:solidFill>
                  <a:srgbClr val="4D4D4D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25400">
              <a:lnSpc>
                <a:spcPts val="1105"/>
              </a:lnSpc>
            </a:pPr>
            <a:fld id="{81D60167-4931-47E6-BA6A-407CBD079E47}" type="slidenum">
              <a:rPr dirty="0" spc="-5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25400">
              <a:lnSpc>
                <a:spcPts val="1105"/>
              </a:lnSpc>
            </a:pPr>
            <a:fld id="{81D60167-4931-47E6-BA6A-407CBD079E47}" type="slidenum">
              <a:rPr dirty="0" spc="-5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jpg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8172450" y="44450"/>
            <a:ext cx="936625" cy="6858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91464" y="151257"/>
            <a:ext cx="8361070" cy="617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1">
                <a:solidFill>
                  <a:srgbClr val="4D4D4D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8540" y="1946402"/>
            <a:ext cx="7516495" cy="20085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923528" y="6627892"/>
            <a:ext cx="191770" cy="152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25400">
              <a:lnSpc>
                <a:spcPts val="1105"/>
              </a:lnSpc>
            </a:pPr>
            <a:fld id="{81D60167-4931-47E6-BA6A-407CBD079E47}" type="slidenum">
              <a:rPr dirty="0" spc="-5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Relationship Id="rId4" Type="http://schemas.openxmlformats.org/officeDocument/2006/relationships/image" Target="../media/image32.png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Relationship Id="rId6" Type="http://schemas.openxmlformats.org/officeDocument/2006/relationships/image" Target="../media/image37.png"/><Relationship Id="rId7" Type="http://schemas.openxmlformats.org/officeDocument/2006/relationships/image" Target="../media/image38.png"/><Relationship Id="rId8" Type="http://schemas.openxmlformats.org/officeDocument/2006/relationships/image" Target="../media/image39.png"/><Relationship Id="rId9" Type="http://schemas.openxmlformats.org/officeDocument/2006/relationships/image" Target="../media/image40.png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
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4.png"/><Relationship Id="rId3" Type="http://schemas.openxmlformats.org/officeDocument/2006/relationships/image" Target="../media/image45.png"/><Relationship Id="rId4" Type="http://schemas.openxmlformats.org/officeDocument/2006/relationships/image" Target="../media/image46.png"/><Relationship Id="rId5" Type="http://schemas.openxmlformats.org/officeDocument/2006/relationships/image" Target="../media/image47.png"/></Relationships>
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8.png"/><Relationship Id="rId3" Type="http://schemas.openxmlformats.org/officeDocument/2006/relationships/image" Target="../media/image49.png"/><Relationship Id="rId4" Type="http://schemas.openxmlformats.org/officeDocument/2006/relationships/image" Target="../media/image50.png"/></Relationships>
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1.png"/><Relationship Id="rId3" Type="http://schemas.openxmlformats.org/officeDocument/2006/relationships/image" Target="../media/image52.png"/><Relationship Id="rId4" Type="http://schemas.openxmlformats.org/officeDocument/2006/relationships/image" Target="../media/image53.png"/><Relationship Id="rId5" Type="http://schemas.openxmlformats.org/officeDocument/2006/relationships/image" Target="../media/image54.png"/></Relationships>
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5.png"/><Relationship Id="rId3" Type="http://schemas.openxmlformats.org/officeDocument/2006/relationships/image" Target="../media/image56.png"/><Relationship Id="rId4" Type="http://schemas.openxmlformats.org/officeDocument/2006/relationships/image" Target="../media/image57.png"/><Relationship Id="rId5" Type="http://schemas.openxmlformats.org/officeDocument/2006/relationships/image" Target="../media/image58.png"/></Relationships>
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9.png"/><Relationship Id="rId3" Type="http://schemas.openxmlformats.org/officeDocument/2006/relationships/image" Target="../media/image60.png"/><Relationship Id="rId4" Type="http://schemas.openxmlformats.org/officeDocument/2006/relationships/image" Target="../media/image61.png"/><Relationship Id="rId5" Type="http://schemas.openxmlformats.org/officeDocument/2006/relationships/image" Target="../media/image62.png"/></Relationships>
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3.png"/><Relationship Id="rId3" Type="http://schemas.openxmlformats.org/officeDocument/2006/relationships/image" Target="../media/image64.png"/><Relationship Id="rId4" Type="http://schemas.openxmlformats.org/officeDocument/2006/relationships/image" Target="../media/image65.png"/></Relationships>
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6.png"/><Relationship Id="rId3" Type="http://schemas.openxmlformats.org/officeDocument/2006/relationships/image" Target="../media/image67.png"/><Relationship Id="rId4" Type="http://schemas.openxmlformats.org/officeDocument/2006/relationships/image" Target="../media/image68.png"/><Relationship Id="rId5" Type="http://schemas.openxmlformats.org/officeDocument/2006/relationships/image" Target="../media/image69.png"/></Relationships>
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0.png"/><Relationship Id="rId3" Type="http://schemas.openxmlformats.org/officeDocument/2006/relationships/image" Target="../media/image71.png"/><Relationship Id="rId4" Type="http://schemas.openxmlformats.org/officeDocument/2006/relationships/image" Target="../media/image72.png"/><Relationship Id="rId5" Type="http://schemas.openxmlformats.org/officeDocument/2006/relationships/image" Target="../media/image73.png"/></Relationships>
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4.png"/><Relationship Id="rId3" Type="http://schemas.openxmlformats.org/officeDocument/2006/relationships/image" Target="../media/image75.png"/><Relationship Id="rId4" Type="http://schemas.openxmlformats.org/officeDocument/2006/relationships/image" Target="../media/image76.png"/><Relationship Id="rId5" Type="http://schemas.openxmlformats.org/officeDocument/2006/relationships/image" Target="../media/image77.png"/></Relationships>
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8.png"/><Relationship Id="rId3" Type="http://schemas.openxmlformats.org/officeDocument/2006/relationships/image" Target="../media/image79.png"/><Relationship Id="rId4" Type="http://schemas.openxmlformats.org/officeDocument/2006/relationships/image" Target="../media/image80.png"/><Relationship Id="rId5" Type="http://schemas.openxmlformats.org/officeDocument/2006/relationships/image" Target="../media/image81.png"/></Relationships>
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2.png"/><Relationship Id="rId3" Type="http://schemas.openxmlformats.org/officeDocument/2006/relationships/image" Target="../media/image83.png"/><Relationship Id="rId4" Type="http://schemas.openxmlformats.org/officeDocument/2006/relationships/image" Target="../media/image84.png"/><Relationship Id="rId5" Type="http://schemas.openxmlformats.org/officeDocument/2006/relationships/image" Target="../media/image85.png"/></Relationships>
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6.png"/><Relationship Id="rId3" Type="http://schemas.openxmlformats.org/officeDocument/2006/relationships/image" Target="../media/image87.png"/><Relationship Id="rId4" Type="http://schemas.openxmlformats.org/officeDocument/2006/relationships/image" Target="../media/image88.png"/><Relationship Id="rId5" Type="http://schemas.openxmlformats.org/officeDocument/2006/relationships/image" Target="../media/image89.png"/><Relationship Id="rId6" Type="http://schemas.openxmlformats.org/officeDocument/2006/relationships/image" Target="../media/image90.png"/></Relationships>
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1.png"/><Relationship Id="rId3" Type="http://schemas.openxmlformats.org/officeDocument/2006/relationships/image" Target="../media/image92.png"/><Relationship Id="rId4" Type="http://schemas.openxmlformats.org/officeDocument/2006/relationships/image" Target="../media/image93.png"/><Relationship Id="rId5" Type="http://schemas.openxmlformats.org/officeDocument/2006/relationships/image" Target="../media/image94.png"/></Relationships>
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5.png"/><Relationship Id="rId3" Type="http://schemas.openxmlformats.org/officeDocument/2006/relationships/image" Target="../media/image96.png"/><Relationship Id="rId4" Type="http://schemas.openxmlformats.org/officeDocument/2006/relationships/image" Target="../media/image97.png"/></Relationships>
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8.png"/><Relationship Id="rId3" Type="http://schemas.openxmlformats.org/officeDocument/2006/relationships/image" Target="../media/image99.png"/><Relationship Id="rId4" Type="http://schemas.openxmlformats.org/officeDocument/2006/relationships/image" Target="../media/image100.png"/><Relationship Id="rId5" Type="http://schemas.openxmlformats.org/officeDocument/2006/relationships/image" Target="../media/image101.png"/></Relationships>
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2.png"/><Relationship Id="rId3" Type="http://schemas.openxmlformats.org/officeDocument/2006/relationships/image" Target="../media/image103.png"/><Relationship Id="rId4" Type="http://schemas.openxmlformats.org/officeDocument/2006/relationships/image" Target="../media/image104.png"/><Relationship Id="rId5" Type="http://schemas.openxmlformats.org/officeDocument/2006/relationships/image" Target="../media/image105.png"/><Relationship Id="rId6" Type="http://schemas.openxmlformats.org/officeDocument/2006/relationships/image" Target="../media/image106.png"/></Relationships>
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7.png"/><Relationship Id="rId3" Type="http://schemas.openxmlformats.org/officeDocument/2006/relationships/image" Target="../media/image108.png"/><Relationship Id="rId4" Type="http://schemas.openxmlformats.org/officeDocument/2006/relationships/image" Target="../media/image109.png"/><Relationship Id="rId5" Type="http://schemas.openxmlformats.org/officeDocument/2006/relationships/image" Target="../media/image110.png"/></Relationships>
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1.png"/><Relationship Id="rId3" Type="http://schemas.openxmlformats.org/officeDocument/2006/relationships/image" Target="../media/image112.png"/><Relationship Id="rId4" Type="http://schemas.openxmlformats.org/officeDocument/2006/relationships/image" Target="../media/image113.png"/><Relationship Id="rId5" Type="http://schemas.openxmlformats.org/officeDocument/2006/relationships/image" Target="../media/image114.png"/><Relationship Id="rId6" Type="http://schemas.openxmlformats.org/officeDocument/2006/relationships/image" Target="../media/image115.png"/></Relationships>
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6.png"/><Relationship Id="rId3" Type="http://schemas.openxmlformats.org/officeDocument/2006/relationships/image" Target="../media/image117.png"/><Relationship Id="rId4" Type="http://schemas.openxmlformats.org/officeDocument/2006/relationships/image" Target="../media/image118.png"/><Relationship Id="rId5" Type="http://schemas.openxmlformats.org/officeDocument/2006/relationships/image" Target="../media/image119.png"/><Relationship Id="rId6" Type="http://schemas.openxmlformats.org/officeDocument/2006/relationships/image" Target="../media/image120.png"/><Relationship Id="rId7" Type="http://schemas.openxmlformats.org/officeDocument/2006/relationships/image" Target="../media/image121.png"/><Relationship Id="rId8" Type="http://schemas.openxmlformats.org/officeDocument/2006/relationships/image" Target="../media/image122.png"/></Relationships>
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3.png"/><Relationship Id="rId3" Type="http://schemas.openxmlformats.org/officeDocument/2006/relationships/image" Target="../media/image124.png"/><Relationship Id="rId4" Type="http://schemas.openxmlformats.org/officeDocument/2006/relationships/image" Target="../media/image125.png"/><Relationship Id="rId5" Type="http://schemas.openxmlformats.org/officeDocument/2006/relationships/image" Target="../media/image126.png"/></Relationships>
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7.png"/><Relationship Id="rId3" Type="http://schemas.openxmlformats.org/officeDocument/2006/relationships/image" Target="../media/image128.png"/><Relationship Id="rId4" Type="http://schemas.openxmlformats.org/officeDocument/2006/relationships/image" Target="../media/image129.png"/><Relationship Id="rId5" Type="http://schemas.openxmlformats.org/officeDocument/2006/relationships/image" Target="../media/image130.png"/></Relationships>
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1.png"/><Relationship Id="rId3" Type="http://schemas.openxmlformats.org/officeDocument/2006/relationships/image" Target="../media/image132.png"/><Relationship Id="rId4" Type="http://schemas.openxmlformats.org/officeDocument/2006/relationships/image" Target="../media/image133.png"/><Relationship Id="rId5" Type="http://schemas.openxmlformats.org/officeDocument/2006/relationships/image" Target="../media/image134.png"/></Relationships>
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5.png"/><Relationship Id="rId3" Type="http://schemas.openxmlformats.org/officeDocument/2006/relationships/image" Target="../media/image136.png"/><Relationship Id="rId4" Type="http://schemas.openxmlformats.org/officeDocument/2006/relationships/image" Target="../media/image137.png"/><Relationship Id="rId5" Type="http://schemas.openxmlformats.org/officeDocument/2006/relationships/image" Target="../media/image138.png"/></Relationships>
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9.png"/><Relationship Id="rId3" Type="http://schemas.openxmlformats.org/officeDocument/2006/relationships/image" Target="../media/image140.png"/><Relationship Id="rId4" Type="http://schemas.openxmlformats.org/officeDocument/2006/relationships/image" Target="../media/image141.png"/><Relationship Id="rId5" Type="http://schemas.openxmlformats.org/officeDocument/2006/relationships/image" Target="../media/image142.png"/></Relationships>
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3.png"/><Relationship Id="rId3" Type="http://schemas.openxmlformats.org/officeDocument/2006/relationships/image" Target="../media/image144.png"/><Relationship Id="rId4" Type="http://schemas.openxmlformats.org/officeDocument/2006/relationships/image" Target="../media/image145.png"/><Relationship Id="rId5" Type="http://schemas.openxmlformats.org/officeDocument/2006/relationships/image" Target="../media/image146.png"/></Relationships>
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7.png"/><Relationship Id="rId3" Type="http://schemas.openxmlformats.org/officeDocument/2006/relationships/image" Target="../media/image148.png"/><Relationship Id="rId4" Type="http://schemas.openxmlformats.org/officeDocument/2006/relationships/image" Target="../media/image149.png"/></Relationships>
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0.png"/><Relationship Id="rId3" Type="http://schemas.openxmlformats.org/officeDocument/2006/relationships/image" Target="../media/image151.png"/><Relationship Id="rId4" Type="http://schemas.openxmlformats.org/officeDocument/2006/relationships/image" Target="../media/image152.png"/><Relationship Id="rId5" Type="http://schemas.openxmlformats.org/officeDocument/2006/relationships/image" Target="../media/image153.png"/></Relationships>
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4.png"/><Relationship Id="rId3" Type="http://schemas.openxmlformats.org/officeDocument/2006/relationships/image" Target="../media/image155.png"/><Relationship Id="rId4" Type="http://schemas.openxmlformats.org/officeDocument/2006/relationships/image" Target="../media/image156.png"/><Relationship Id="rId5" Type="http://schemas.openxmlformats.org/officeDocument/2006/relationships/image" Target="../media/image157.png"/></Relationships>
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wiki.codeblocks.org/index.php/Debu" TargetMode="Externa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15200" y="1066800"/>
            <a:ext cx="0" cy="4495800"/>
          </a:xfrm>
          <a:custGeom>
            <a:avLst/>
            <a:gdLst/>
            <a:ahLst/>
            <a:cxnLst/>
            <a:rect l="l" t="t" r="r" b="b"/>
            <a:pathLst>
              <a:path w="0" h="4495800">
                <a:moveTo>
                  <a:pt x="0" y="0"/>
                </a:moveTo>
                <a:lnTo>
                  <a:pt x="0" y="44958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04800" y="2819400"/>
            <a:ext cx="8229600" cy="0"/>
          </a:xfrm>
          <a:custGeom>
            <a:avLst/>
            <a:gdLst/>
            <a:ahLst/>
            <a:cxnLst/>
            <a:rect l="l" t="t" r="r" b="b"/>
            <a:pathLst>
              <a:path w="8229600" h="0">
                <a:moveTo>
                  <a:pt x="0" y="0"/>
                </a:moveTo>
                <a:lnTo>
                  <a:pt x="8229600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7380351" y="2924175"/>
            <a:ext cx="1512824" cy="11080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54253" y="1931289"/>
            <a:ext cx="6565265" cy="617220"/>
          </a:xfrm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10" b="1" i="0">
                <a:solidFill>
                  <a:srgbClr val="000000"/>
                </a:solidFill>
                <a:latin typeface="Arial"/>
                <a:cs typeface="Arial"/>
              </a:rPr>
              <a:t>Debugger </a:t>
            </a:r>
            <a:r>
              <a:rPr dirty="0" spc="-5" b="1" i="0">
                <a:solidFill>
                  <a:srgbClr val="000000"/>
                </a:solidFill>
                <a:latin typeface="Arial"/>
                <a:cs typeface="Arial"/>
              </a:rPr>
              <a:t>do</a:t>
            </a:r>
            <a:r>
              <a:rPr dirty="0" spc="20" b="1" i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pc="-10" b="1" i="0">
                <a:solidFill>
                  <a:srgbClr val="000000"/>
                </a:solidFill>
                <a:latin typeface="Arial"/>
                <a:cs typeface="Arial"/>
              </a:rPr>
              <a:t>Code::Blocks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200780" y="3084448"/>
            <a:ext cx="3818254" cy="4965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3200">
                <a:latin typeface="Arial"/>
                <a:cs typeface="Arial"/>
              </a:rPr>
              <a:t>DCC </a:t>
            </a:r>
            <a:r>
              <a:rPr dirty="0" sz="3200" spc="-5">
                <a:latin typeface="Arial"/>
                <a:cs typeface="Arial"/>
              </a:rPr>
              <a:t>119 </a:t>
            </a:r>
            <a:r>
              <a:rPr dirty="0" sz="3200">
                <a:latin typeface="Arial"/>
                <a:cs typeface="Arial"/>
              </a:rPr>
              <a:t>e DCC</a:t>
            </a:r>
            <a:r>
              <a:rPr dirty="0" sz="3200" spc="-90">
                <a:latin typeface="Arial"/>
                <a:cs typeface="Arial"/>
              </a:rPr>
              <a:t> </a:t>
            </a:r>
            <a:r>
              <a:rPr dirty="0" sz="3200" spc="-5">
                <a:latin typeface="Arial"/>
                <a:cs typeface="Arial"/>
              </a:rPr>
              <a:t>120</a:t>
            </a:r>
            <a:endParaRPr sz="3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609015" y="1080688"/>
          <a:ext cx="7720330" cy="8070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65149"/>
                <a:gridCol w="2968468"/>
                <a:gridCol w="293237"/>
                <a:gridCol w="587126"/>
                <a:gridCol w="1106188"/>
              </a:tblGrid>
              <a:tr h="432946">
                <a:tc>
                  <a:txBody>
                    <a:bodyPr/>
                    <a:lstStyle/>
                    <a:p>
                      <a:pPr algn="r" marL="365125" marR="82550" indent="-342900">
                        <a:lnSpc>
                          <a:spcPts val="3325"/>
                        </a:lnSpc>
                        <a:buClr>
                          <a:srgbClr val="852B34"/>
                        </a:buClr>
                        <a:buSzPct val="69642"/>
                        <a:buChar char="•"/>
                        <a:tabLst>
                          <a:tab pos="342265" algn="l"/>
                          <a:tab pos="365125" algn="l"/>
                          <a:tab pos="1146175" algn="l"/>
                        </a:tabLst>
                      </a:pPr>
                      <a:r>
                        <a:rPr dirty="0" sz="2800">
                          <a:latin typeface="Arial"/>
                          <a:cs typeface="Arial"/>
                        </a:rPr>
                        <a:t>O</a:t>
                      </a:r>
                      <a:r>
                        <a:rPr dirty="0" sz="2800">
                          <a:latin typeface="Arial"/>
                          <a:cs typeface="Arial"/>
                        </a:rPr>
                        <a:t>	</a:t>
                      </a:r>
                      <a:r>
                        <a:rPr dirty="0" sz="2800" spc="5" i="1">
                          <a:latin typeface="Arial"/>
                          <a:cs typeface="Arial"/>
                        </a:rPr>
                        <a:t>debugger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436245">
                        <a:lnSpc>
                          <a:spcPts val="3325"/>
                        </a:lnSpc>
                        <a:tabLst>
                          <a:tab pos="1360170" algn="l"/>
                        </a:tabLst>
                      </a:pPr>
                      <a:r>
                        <a:rPr dirty="0" sz="2800" spc="5">
                          <a:latin typeface="Arial"/>
                          <a:cs typeface="Arial"/>
                        </a:rPr>
                        <a:t>o</a:t>
                      </a:r>
                      <a:r>
                        <a:rPr dirty="0" sz="2800">
                          <a:latin typeface="Arial"/>
                          <a:cs typeface="Arial"/>
                        </a:rPr>
                        <a:t>u</a:t>
                      </a:r>
                      <a:r>
                        <a:rPr dirty="0" sz="2800">
                          <a:latin typeface="Arial"/>
                          <a:cs typeface="Arial"/>
                        </a:rPr>
                        <a:t>	</a:t>
                      </a:r>
                      <a:r>
                        <a:rPr dirty="0" sz="2800" spc="5">
                          <a:latin typeface="Arial"/>
                          <a:cs typeface="Arial"/>
                        </a:rPr>
                        <a:t>depurador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/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52095">
                        <a:lnSpc>
                          <a:spcPts val="3325"/>
                        </a:lnSpc>
                      </a:pPr>
                      <a:r>
                        <a:rPr dirty="0" sz="2800">
                          <a:latin typeface="Arial"/>
                          <a:cs typeface="Arial"/>
                        </a:rPr>
                        <a:t>é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5875">
                        <a:lnSpc>
                          <a:spcPts val="3325"/>
                        </a:lnSpc>
                      </a:pPr>
                      <a:r>
                        <a:rPr dirty="0" sz="2800">
                          <a:latin typeface="Arial"/>
                          <a:cs typeface="Arial"/>
                        </a:rPr>
                        <a:t>u</a:t>
                      </a:r>
                      <a:r>
                        <a:rPr dirty="0" sz="2800" spc="10">
                          <a:latin typeface="Arial"/>
                          <a:cs typeface="Arial"/>
                        </a:rPr>
                        <a:t>m</a:t>
                      </a:r>
                      <a:r>
                        <a:rPr dirty="0" sz="2800">
                          <a:latin typeface="Arial"/>
                          <a:cs typeface="Arial"/>
                        </a:rPr>
                        <a:t>a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</a:tr>
              <a:tr h="373630">
                <a:tc>
                  <a:txBody>
                    <a:bodyPr/>
                    <a:lstStyle/>
                    <a:p>
                      <a:pPr algn="r" marR="94615">
                        <a:lnSpc>
                          <a:spcPts val="2940"/>
                        </a:lnSpc>
                      </a:pPr>
                      <a:r>
                        <a:rPr dirty="0" sz="2800">
                          <a:latin typeface="Arial"/>
                          <a:cs typeface="Arial"/>
                        </a:rPr>
                        <a:t>fu</a:t>
                      </a:r>
                      <a:r>
                        <a:rPr dirty="0" sz="2800" spc="5">
                          <a:latin typeface="Arial"/>
                          <a:cs typeface="Arial"/>
                        </a:rPr>
                        <a:t>n</a:t>
                      </a:r>
                      <a:r>
                        <a:rPr dirty="0" sz="2800">
                          <a:latin typeface="Arial"/>
                          <a:cs typeface="Arial"/>
                        </a:rPr>
                        <a:t>ci</a:t>
                      </a:r>
                      <a:r>
                        <a:rPr dirty="0" sz="2800" spc="5">
                          <a:latin typeface="Arial"/>
                          <a:cs typeface="Arial"/>
                        </a:rPr>
                        <a:t>o</a:t>
                      </a:r>
                      <a:r>
                        <a:rPr dirty="0" sz="2800">
                          <a:latin typeface="Arial"/>
                          <a:cs typeface="Arial"/>
                        </a:rPr>
                        <a:t>na</a:t>
                      </a:r>
                      <a:r>
                        <a:rPr dirty="0" sz="2800" spc="5">
                          <a:latin typeface="Arial"/>
                          <a:cs typeface="Arial"/>
                        </a:rPr>
                        <a:t>l</a:t>
                      </a:r>
                      <a:r>
                        <a:rPr dirty="0" sz="2800" spc="10">
                          <a:latin typeface="Arial"/>
                          <a:cs typeface="Arial"/>
                        </a:rPr>
                        <a:t>i</a:t>
                      </a:r>
                      <a:r>
                        <a:rPr dirty="0" sz="2800">
                          <a:latin typeface="Arial"/>
                          <a:cs typeface="Arial"/>
                        </a:rPr>
                        <a:t>da</a:t>
                      </a:r>
                      <a:r>
                        <a:rPr dirty="0" sz="2800" spc="5">
                          <a:latin typeface="Arial"/>
                          <a:cs typeface="Arial"/>
                        </a:rPr>
                        <a:t>d</a:t>
                      </a:r>
                      <a:r>
                        <a:rPr dirty="0" sz="2800">
                          <a:latin typeface="Arial"/>
                          <a:cs typeface="Arial"/>
                        </a:rPr>
                        <a:t>e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ts val="2940"/>
                        </a:lnSpc>
                        <a:tabLst>
                          <a:tab pos="678815" algn="l"/>
                        </a:tabLst>
                      </a:pPr>
                      <a:r>
                        <a:rPr dirty="0" sz="2800" spc="-5">
                          <a:latin typeface="Arial"/>
                          <a:cs typeface="Arial"/>
                        </a:rPr>
                        <a:t>do	</a:t>
                      </a:r>
                      <a:r>
                        <a:rPr dirty="0" sz="2800">
                          <a:latin typeface="Arial"/>
                          <a:cs typeface="Arial"/>
                        </a:rPr>
                        <a:t>Code::Blocks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2940"/>
                        </a:lnSpc>
                      </a:pPr>
                      <a:r>
                        <a:rPr dirty="0" sz="2800">
                          <a:latin typeface="Arial"/>
                          <a:cs typeface="Arial"/>
                        </a:rPr>
                        <a:t>e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ts val="2940"/>
                        </a:lnSpc>
                      </a:pPr>
                      <a:r>
                        <a:rPr dirty="0" sz="2800" spc="-5">
                          <a:latin typeface="Arial"/>
                          <a:cs typeface="Arial"/>
                        </a:rPr>
                        <a:t>de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4604">
                        <a:lnSpc>
                          <a:spcPts val="2940"/>
                        </a:lnSpc>
                      </a:pPr>
                      <a:r>
                        <a:rPr dirty="0" sz="2800">
                          <a:latin typeface="Arial"/>
                          <a:cs typeface="Arial"/>
                        </a:rPr>
                        <a:t>ou</a:t>
                      </a:r>
                      <a:r>
                        <a:rPr dirty="0" sz="2800" spc="5">
                          <a:latin typeface="Arial"/>
                          <a:cs typeface="Arial"/>
                        </a:rPr>
                        <a:t>t</a:t>
                      </a:r>
                      <a:r>
                        <a:rPr dirty="0" sz="2800">
                          <a:latin typeface="Arial"/>
                          <a:cs typeface="Arial"/>
                        </a:rPr>
                        <a:t>ras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1105"/>
              </a:lnSpc>
            </a:pPr>
            <a:fld id="{81D60167-4931-47E6-BA6A-407CBD079E47}" type="slidenum">
              <a:rPr dirty="0" spc="-5"/>
              <a:t>10</a:t>
            </a:fld>
          </a:p>
        </p:txBody>
      </p:sp>
      <p:sp>
        <p:nvSpPr>
          <p:cNvPr id="3" name="object 3"/>
          <p:cNvSpPr txBox="1"/>
          <p:nvPr/>
        </p:nvSpPr>
        <p:spPr>
          <a:xfrm>
            <a:off x="618540" y="1893570"/>
            <a:ext cx="7701915" cy="41859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54965" marR="5715">
              <a:lnSpc>
                <a:spcPts val="3020"/>
              </a:lnSpc>
            </a:pPr>
            <a:r>
              <a:rPr dirty="0" sz="2800" spc="-5">
                <a:latin typeface="Arial"/>
                <a:cs typeface="Arial"/>
              </a:rPr>
              <a:t>IDEs </a:t>
            </a:r>
            <a:r>
              <a:rPr dirty="0" sz="2800">
                <a:latin typeface="Arial"/>
                <a:cs typeface="Arial"/>
              </a:rPr>
              <a:t>que </a:t>
            </a:r>
            <a:r>
              <a:rPr dirty="0" sz="2800" spc="-5">
                <a:latin typeface="Arial"/>
                <a:cs typeface="Arial"/>
              </a:rPr>
              <a:t>permite a verificação </a:t>
            </a:r>
            <a:r>
              <a:rPr dirty="0" sz="2800">
                <a:latin typeface="Arial"/>
                <a:cs typeface="Arial"/>
              </a:rPr>
              <a:t>passo-a-passo  </a:t>
            </a:r>
            <a:r>
              <a:rPr dirty="0" sz="2800" spc="-5">
                <a:latin typeface="Arial"/>
                <a:cs typeface="Arial"/>
              </a:rPr>
              <a:t>da </a:t>
            </a:r>
            <a:r>
              <a:rPr dirty="0" sz="2800">
                <a:latin typeface="Arial"/>
                <a:cs typeface="Arial"/>
              </a:rPr>
              <a:t>execução </a:t>
            </a:r>
            <a:r>
              <a:rPr dirty="0" sz="2800" spc="-5">
                <a:latin typeface="Arial"/>
                <a:cs typeface="Arial"/>
              </a:rPr>
              <a:t>de um</a:t>
            </a:r>
            <a:r>
              <a:rPr dirty="0" sz="2800" spc="-15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algoritmo.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3750">
              <a:latin typeface="Times New Roman"/>
              <a:cs typeface="Times New Roman"/>
            </a:endParaRPr>
          </a:p>
          <a:p>
            <a:pPr algn="just" marL="355600" marR="5080" indent="-342900">
              <a:lnSpc>
                <a:spcPct val="90000"/>
              </a:lnSpc>
              <a:buClr>
                <a:srgbClr val="852B34"/>
              </a:buClr>
              <a:buSzPct val="69642"/>
              <a:buChar char="•"/>
              <a:tabLst>
                <a:tab pos="355600" algn="l"/>
              </a:tabLst>
            </a:pPr>
            <a:r>
              <a:rPr dirty="0" sz="2800" spc="-5">
                <a:latin typeface="Arial"/>
                <a:cs typeface="Arial"/>
              </a:rPr>
              <a:t>Impressões, leituras de </a:t>
            </a:r>
            <a:r>
              <a:rPr dirty="0" sz="2800">
                <a:latin typeface="Arial"/>
                <a:cs typeface="Arial"/>
              </a:rPr>
              <a:t>dados, variáveis,  vetores, strings </a:t>
            </a:r>
            <a:r>
              <a:rPr dirty="0" sz="2800" spc="-5">
                <a:latin typeface="Arial"/>
                <a:cs typeface="Arial"/>
              </a:rPr>
              <a:t>etc. </a:t>
            </a:r>
            <a:r>
              <a:rPr dirty="0" sz="2800">
                <a:latin typeface="Arial"/>
                <a:cs typeface="Arial"/>
              </a:rPr>
              <a:t>podem </a:t>
            </a:r>
            <a:r>
              <a:rPr dirty="0" sz="2800" spc="-5">
                <a:latin typeface="Arial"/>
                <a:cs typeface="Arial"/>
              </a:rPr>
              <a:t>ter </a:t>
            </a:r>
            <a:r>
              <a:rPr dirty="0" sz="2800">
                <a:latin typeface="Arial"/>
                <a:cs typeface="Arial"/>
              </a:rPr>
              <a:t>seus valores  verificados </a:t>
            </a:r>
            <a:r>
              <a:rPr dirty="0" sz="2800" spc="-5">
                <a:latin typeface="Arial"/>
                <a:cs typeface="Arial"/>
              </a:rPr>
              <a:t>a </a:t>
            </a:r>
            <a:r>
              <a:rPr dirty="0" sz="2800">
                <a:latin typeface="Arial"/>
                <a:cs typeface="Arial"/>
              </a:rPr>
              <a:t>cada </a:t>
            </a:r>
            <a:r>
              <a:rPr dirty="0" sz="2800" spc="-5">
                <a:latin typeface="Arial"/>
                <a:cs typeface="Arial"/>
              </a:rPr>
              <a:t>execução de </a:t>
            </a:r>
            <a:r>
              <a:rPr dirty="0" sz="2800">
                <a:latin typeface="Arial"/>
                <a:cs typeface="Arial"/>
              </a:rPr>
              <a:t>uma </a:t>
            </a:r>
            <a:r>
              <a:rPr dirty="0" sz="2800" spc="-5">
                <a:latin typeface="Arial"/>
                <a:cs typeface="Arial"/>
              </a:rPr>
              <a:t>nova  </a:t>
            </a:r>
            <a:r>
              <a:rPr dirty="0" sz="2800">
                <a:latin typeface="Arial"/>
                <a:cs typeface="Arial"/>
              </a:rPr>
              <a:t>instrução.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Clr>
                <a:srgbClr val="852B34"/>
              </a:buClr>
              <a:buFont typeface="Arial"/>
              <a:buChar char="•"/>
            </a:pPr>
            <a:endParaRPr sz="3800">
              <a:latin typeface="Times New Roman"/>
              <a:cs typeface="Times New Roman"/>
            </a:endParaRPr>
          </a:p>
          <a:p>
            <a:pPr algn="just" marL="355600" marR="6985" indent="-342900">
              <a:lnSpc>
                <a:spcPts val="3030"/>
              </a:lnSpc>
              <a:buClr>
                <a:srgbClr val="852B34"/>
              </a:buClr>
              <a:buSzPct val="69642"/>
              <a:buChar char="•"/>
              <a:tabLst>
                <a:tab pos="355600" algn="l"/>
              </a:tabLst>
            </a:pPr>
            <a:r>
              <a:rPr dirty="0" sz="2800" spc="-5">
                <a:latin typeface="Arial"/>
                <a:cs typeface="Arial"/>
              </a:rPr>
              <a:t>Assim, </a:t>
            </a:r>
            <a:r>
              <a:rPr dirty="0" sz="2800">
                <a:latin typeface="Arial"/>
                <a:cs typeface="Arial"/>
              </a:rPr>
              <a:t>possíveis </a:t>
            </a:r>
            <a:r>
              <a:rPr dirty="0" sz="2800" spc="-5">
                <a:latin typeface="Arial"/>
                <a:cs typeface="Arial"/>
              </a:rPr>
              <a:t>falhas no </a:t>
            </a:r>
            <a:r>
              <a:rPr dirty="0" sz="2800">
                <a:latin typeface="Arial"/>
                <a:cs typeface="Arial"/>
              </a:rPr>
              <a:t>algoritmo podem  ser detectadas</a:t>
            </a:r>
            <a:r>
              <a:rPr dirty="0" sz="2800" spc="-65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facilmente.</a:t>
            </a:r>
            <a:endParaRPr sz="28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5"/>
              <a:t>Debugger</a:t>
            </a:r>
            <a:r>
              <a:rPr dirty="0" spc="-45"/>
              <a:t> </a:t>
            </a:r>
            <a:r>
              <a:rPr dirty="0" spc="-5"/>
              <a:t>(Depurador)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18540" y="1118997"/>
            <a:ext cx="7703820" cy="47898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algn="just" marL="355600" marR="5080" indent="-342900">
              <a:lnSpc>
                <a:spcPct val="90000"/>
              </a:lnSpc>
              <a:buClr>
                <a:srgbClr val="852B34"/>
              </a:buClr>
              <a:buSzPct val="69642"/>
              <a:buChar char="•"/>
              <a:tabLst>
                <a:tab pos="355600" algn="l"/>
              </a:tabLst>
            </a:pPr>
            <a:r>
              <a:rPr dirty="0" sz="2800" spc="-5">
                <a:latin typeface="Arial"/>
                <a:cs typeface="Arial"/>
              </a:rPr>
              <a:t>O </a:t>
            </a:r>
            <a:r>
              <a:rPr dirty="0" sz="2800" i="1">
                <a:latin typeface="Arial"/>
                <a:cs typeface="Arial"/>
              </a:rPr>
              <a:t>debugger </a:t>
            </a:r>
            <a:r>
              <a:rPr dirty="0" sz="2800">
                <a:latin typeface="Arial"/>
                <a:cs typeface="Arial"/>
              </a:rPr>
              <a:t>também </a:t>
            </a:r>
            <a:r>
              <a:rPr dirty="0" sz="2800" spc="-5">
                <a:latin typeface="Arial"/>
                <a:cs typeface="Arial"/>
              </a:rPr>
              <a:t>serve como </a:t>
            </a:r>
            <a:r>
              <a:rPr dirty="0" sz="2800">
                <a:latin typeface="Arial"/>
                <a:cs typeface="Arial"/>
              </a:rPr>
              <a:t>uma  importante ferramenta </a:t>
            </a:r>
            <a:r>
              <a:rPr dirty="0" sz="2800" spc="-5">
                <a:latin typeface="Arial"/>
                <a:cs typeface="Arial"/>
              </a:rPr>
              <a:t>para o </a:t>
            </a:r>
            <a:r>
              <a:rPr dirty="0" sz="2800">
                <a:latin typeface="Arial"/>
                <a:cs typeface="Arial"/>
              </a:rPr>
              <a:t>aprendizado </a:t>
            </a:r>
            <a:r>
              <a:rPr dirty="0" sz="2800" spc="-5">
                <a:latin typeface="Arial"/>
                <a:cs typeface="Arial"/>
              </a:rPr>
              <a:t>de  </a:t>
            </a:r>
            <a:r>
              <a:rPr dirty="0" sz="2800">
                <a:latin typeface="Arial"/>
                <a:cs typeface="Arial"/>
              </a:rPr>
              <a:t>algoritmos, </a:t>
            </a:r>
            <a:r>
              <a:rPr dirty="0" sz="2800" spc="-5">
                <a:latin typeface="Arial"/>
                <a:cs typeface="Arial"/>
              </a:rPr>
              <a:t>permitindo </a:t>
            </a:r>
            <a:r>
              <a:rPr dirty="0" sz="2800">
                <a:latin typeface="Arial"/>
                <a:cs typeface="Arial"/>
              </a:rPr>
              <a:t>que </a:t>
            </a:r>
            <a:r>
              <a:rPr dirty="0" sz="2800" spc="-5">
                <a:latin typeface="Arial"/>
                <a:cs typeface="Arial"/>
              </a:rPr>
              <a:t>seja feito um </a:t>
            </a:r>
            <a:r>
              <a:rPr dirty="0" sz="2800">
                <a:latin typeface="Arial"/>
                <a:cs typeface="Arial"/>
              </a:rPr>
              <a:t>“teste  </a:t>
            </a:r>
            <a:r>
              <a:rPr dirty="0" sz="2800" spc="-5">
                <a:latin typeface="Arial"/>
                <a:cs typeface="Arial"/>
              </a:rPr>
              <a:t>de </a:t>
            </a:r>
            <a:r>
              <a:rPr dirty="0" sz="2800">
                <a:latin typeface="Arial"/>
                <a:cs typeface="Arial"/>
              </a:rPr>
              <a:t>mesa” </a:t>
            </a:r>
            <a:r>
              <a:rPr dirty="0" sz="2800" spc="-5">
                <a:latin typeface="Arial"/>
                <a:cs typeface="Arial"/>
              </a:rPr>
              <a:t>durante a execução do </a:t>
            </a:r>
            <a:r>
              <a:rPr dirty="0" sz="2800">
                <a:latin typeface="Arial"/>
                <a:cs typeface="Arial"/>
              </a:rPr>
              <a:t>próprio  algoritmo.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buClr>
                <a:srgbClr val="852B34"/>
              </a:buClr>
              <a:buFont typeface="Arial"/>
              <a:buChar char="•"/>
            </a:pPr>
            <a:endParaRPr sz="3800">
              <a:latin typeface="Times New Roman"/>
              <a:cs typeface="Times New Roman"/>
            </a:endParaRPr>
          </a:p>
          <a:p>
            <a:pPr algn="just" marL="355600" marR="5080" indent="-342900">
              <a:lnSpc>
                <a:spcPct val="90000"/>
              </a:lnSpc>
              <a:buClr>
                <a:srgbClr val="852B34"/>
              </a:buClr>
              <a:buSzPct val="69642"/>
              <a:buChar char="•"/>
              <a:tabLst>
                <a:tab pos="355600" algn="l"/>
              </a:tabLst>
            </a:pPr>
            <a:r>
              <a:rPr dirty="0" sz="2800" spc="-5">
                <a:latin typeface="Arial"/>
                <a:cs typeface="Arial"/>
              </a:rPr>
              <a:t>Através </a:t>
            </a:r>
            <a:r>
              <a:rPr dirty="0" sz="2800" spc="-10">
                <a:latin typeface="Arial"/>
                <a:cs typeface="Arial"/>
              </a:rPr>
              <a:t>do </a:t>
            </a:r>
            <a:r>
              <a:rPr dirty="0" sz="2800" spc="-5">
                <a:latin typeface="Arial"/>
                <a:cs typeface="Arial"/>
              </a:rPr>
              <a:t>processo de </a:t>
            </a:r>
            <a:r>
              <a:rPr dirty="0" sz="2800" i="1">
                <a:latin typeface="Arial"/>
                <a:cs typeface="Arial"/>
              </a:rPr>
              <a:t>debugging</a:t>
            </a:r>
            <a:r>
              <a:rPr dirty="0" sz="2800">
                <a:latin typeface="Arial"/>
                <a:cs typeface="Arial"/>
              </a:rPr>
              <a:t>, </a:t>
            </a:r>
            <a:r>
              <a:rPr dirty="0" sz="2800" spc="-5">
                <a:latin typeface="Arial"/>
                <a:cs typeface="Arial"/>
              </a:rPr>
              <a:t>o fluxo </a:t>
            </a:r>
            <a:r>
              <a:rPr dirty="0" sz="2800">
                <a:latin typeface="Arial"/>
                <a:cs typeface="Arial"/>
              </a:rPr>
              <a:t>de  </a:t>
            </a:r>
            <a:r>
              <a:rPr dirty="0" sz="2800" spc="-5">
                <a:latin typeface="Arial"/>
                <a:cs typeface="Arial"/>
              </a:rPr>
              <a:t>execução de um </a:t>
            </a:r>
            <a:r>
              <a:rPr dirty="0" sz="2800">
                <a:latin typeface="Arial"/>
                <a:cs typeface="Arial"/>
              </a:rPr>
              <a:t>código pode </a:t>
            </a:r>
            <a:r>
              <a:rPr dirty="0" sz="2800" spc="-5">
                <a:latin typeface="Arial"/>
                <a:cs typeface="Arial"/>
              </a:rPr>
              <a:t>ser </a:t>
            </a:r>
            <a:r>
              <a:rPr dirty="0" sz="2800">
                <a:latin typeface="Arial"/>
                <a:cs typeface="Arial"/>
              </a:rPr>
              <a:t>verificado  continuamente, por </a:t>
            </a:r>
            <a:r>
              <a:rPr dirty="0" sz="2800" spc="-5">
                <a:latin typeface="Arial"/>
                <a:cs typeface="Arial"/>
              </a:rPr>
              <a:t>meio da </a:t>
            </a:r>
            <a:r>
              <a:rPr dirty="0" sz="2800">
                <a:latin typeface="Arial"/>
                <a:cs typeface="Arial"/>
              </a:rPr>
              <a:t>checagem do  </a:t>
            </a:r>
            <a:r>
              <a:rPr dirty="0" sz="2800" spc="-5">
                <a:latin typeface="Arial"/>
                <a:cs typeface="Arial"/>
              </a:rPr>
              <a:t>resultado de </a:t>
            </a:r>
            <a:r>
              <a:rPr dirty="0" sz="2800">
                <a:latin typeface="Arial"/>
                <a:cs typeface="Arial"/>
              </a:rPr>
              <a:t>cada </a:t>
            </a:r>
            <a:r>
              <a:rPr dirty="0" sz="2800" spc="-5">
                <a:latin typeface="Arial"/>
                <a:cs typeface="Arial"/>
              </a:rPr>
              <a:t>teste condicional, de </a:t>
            </a:r>
            <a:r>
              <a:rPr dirty="0" sz="2800">
                <a:latin typeface="Arial"/>
                <a:cs typeface="Arial"/>
              </a:rPr>
              <a:t>cada  repetição, </a:t>
            </a:r>
            <a:r>
              <a:rPr dirty="0" sz="2800" spc="-5">
                <a:latin typeface="Arial"/>
                <a:cs typeface="Arial"/>
              </a:rPr>
              <a:t>de cada </a:t>
            </a:r>
            <a:r>
              <a:rPr dirty="0" sz="2800">
                <a:latin typeface="Arial"/>
                <a:cs typeface="Arial"/>
              </a:rPr>
              <a:t>operação </a:t>
            </a:r>
            <a:r>
              <a:rPr dirty="0" sz="2800" spc="-5">
                <a:latin typeface="Arial"/>
                <a:cs typeface="Arial"/>
              </a:rPr>
              <a:t>lógica e  matemática</a:t>
            </a:r>
            <a:r>
              <a:rPr dirty="0" sz="2800" spc="-20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etc..</a:t>
            </a:r>
            <a:endParaRPr sz="28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1105"/>
              </a:lnSpc>
            </a:pPr>
            <a:fld id="{81D60167-4931-47E6-BA6A-407CBD079E47}" type="slidenum">
              <a:rPr dirty="0" spc="-5"/>
              <a:t>10</a:t>
            </a:fld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5"/>
              <a:t>Debugger</a:t>
            </a:r>
            <a:r>
              <a:rPr dirty="0" spc="-45"/>
              <a:t> </a:t>
            </a:r>
            <a:r>
              <a:rPr dirty="0" spc="-5"/>
              <a:t>(Depurador)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18540" y="1118997"/>
            <a:ext cx="7705090" cy="20059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algn="just" marL="355600" marR="7620" indent="-342900">
              <a:lnSpc>
                <a:spcPct val="90000"/>
              </a:lnSpc>
              <a:buClr>
                <a:srgbClr val="852B34"/>
              </a:buClr>
              <a:buSzPct val="69642"/>
              <a:buChar char="•"/>
              <a:tabLst>
                <a:tab pos="355600" algn="l"/>
              </a:tabLst>
            </a:pPr>
            <a:r>
              <a:rPr dirty="0" sz="2800" spc="-5">
                <a:latin typeface="Arial"/>
                <a:cs typeface="Arial"/>
              </a:rPr>
              <a:t>O algoritmo </a:t>
            </a:r>
            <a:r>
              <a:rPr dirty="0" sz="2800">
                <a:latin typeface="Arial"/>
                <a:cs typeface="Arial"/>
              </a:rPr>
              <a:t>abaixo </a:t>
            </a:r>
            <a:r>
              <a:rPr dirty="0" sz="2800" spc="-5">
                <a:latin typeface="Arial"/>
                <a:cs typeface="Arial"/>
              </a:rPr>
              <a:t>será utilizado </a:t>
            </a:r>
            <a:r>
              <a:rPr dirty="0" sz="2800">
                <a:latin typeface="Arial"/>
                <a:cs typeface="Arial"/>
              </a:rPr>
              <a:t>para </a:t>
            </a:r>
            <a:r>
              <a:rPr dirty="0" sz="2800" spc="-5">
                <a:latin typeface="Arial"/>
                <a:cs typeface="Arial"/>
              </a:rPr>
              <a:t>a  </a:t>
            </a:r>
            <a:r>
              <a:rPr dirty="0" sz="2800">
                <a:latin typeface="Arial"/>
                <a:cs typeface="Arial"/>
              </a:rPr>
              <a:t>explicação </a:t>
            </a:r>
            <a:r>
              <a:rPr dirty="0" sz="2800" spc="-5">
                <a:latin typeface="Arial"/>
                <a:cs typeface="Arial"/>
              </a:rPr>
              <a:t>do </a:t>
            </a:r>
            <a:r>
              <a:rPr dirty="0" sz="2800">
                <a:latin typeface="Arial"/>
                <a:cs typeface="Arial"/>
              </a:rPr>
              <a:t>funcionamento </a:t>
            </a:r>
            <a:r>
              <a:rPr dirty="0" sz="2800" spc="-5">
                <a:latin typeface="Arial"/>
                <a:cs typeface="Arial"/>
              </a:rPr>
              <a:t>do </a:t>
            </a:r>
            <a:r>
              <a:rPr dirty="0" sz="2800" spc="-5" i="1">
                <a:latin typeface="Arial"/>
                <a:cs typeface="Arial"/>
              </a:rPr>
              <a:t>debugger </a:t>
            </a:r>
            <a:r>
              <a:rPr dirty="0" sz="2800" spc="-5">
                <a:latin typeface="Arial"/>
                <a:cs typeface="Arial"/>
              </a:rPr>
              <a:t>do  </a:t>
            </a:r>
            <a:r>
              <a:rPr dirty="0" sz="2800">
                <a:latin typeface="Arial"/>
                <a:cs typeface="Arial"/>
              </a:rPr>
              <a:t>Code::Blocks.</a:t>
            </a:r>
            <a:endParaRPr sz="2800">
              <a:latin typeface="Arial"/>
              <a:cs typeface="Arial"/>
            </a:endParaRPr>
          </a:p>
          <a:p>
            <a:pPr marL="355600" indent="-342900">
              <a:lnSpc>
                <a:spcPts val="3190"/>
              </a:lnSpc>
              <a:spcBef>
                <a:spcPts val="335"/>
              </a:spcBef>
              <a:buClr>
                <a:srgbClr val="852B34"/>
              </a:buClr>
              <a:buSzPct val="69642"/>
              <a:buChar char="•"/>
              <a:tabLst>
                <a:tab pos="354965" algn="l"/>
                <a:tab pos="355600" algn="l"/>
              </a:tabLst>
            </a:pPr>
            <a:r>
              <a:rPr dirty="0" sz="2800" spc="-5">
                <a:latin typeface="Arial"/>
                <a:cs typeface="Arial"/>
              </a:rPr>
              <a:t>O </a:t>
            </a:r>
            <a:r>
              <a:rPr dirty="0" sz="2800">
                <a:latin typeface="Arial"/>
                <a:cs typeface="Arial"/>
              </a:rPr>
              <a:t>algoritmo inverte </a:t>
            </a:r>
            <a:r>
              <a:rPr dirty="0" sz="2800" spc="-5">
                <a:latin typeface="Arial"/>
                <a:cs typeface="Arial"/>
              </a:rPr>
              <a:t>a </a:t>
            </a:r>
            <a:r>
              <a:rPr dirty="0" sz="2800">
                <a:latin typeface="Arial"/>
                <a:cs typeface="Arial"/>
              </a:rPr>
              <a:t>ordem dos elementos</a:t>
            </a:r>
            <a:r>
              <a:rPr dirty="0" sz="2800" spc="25">
                <a:latin typeface="Arial"/>
                <a:cs typeface="Arial"/>
              </a:rPr>
              <a:t> </a:t>
            </a:r>
            <a:r>
              <a:rPr dirty="0" sz="2800" spc="10">
                <a:latin typeface="Arial"/>
                <a:cs typeface="Arial"/>
              </a:rPr>
              <a:t>de</a:t>
            </a:r>
            <a:endParaRPr sz="2800">
              <a:latin typeface="Arial"/>
              <a:cs typeface="Arial"/>
            </a:endParaRPr>
          </a:p>
          <a:p>
            <a:pPr marL="354965">
              <a:lnSpc>
                <a:spcPts val="3190"/>
              </a:lnSpc>
            </a:pPr>
            <a:r>
              <a:rPr dirty="0" sz="2800" spc="-5">
                <a:latin typeface="Arial"/>
                <a:cs typeface="Arial"/>
              </a:rPr>
              <a:t>um </a:t>
            </a:r>
            <a:r>
              <a:rPr dirty="0" sz="2800">
                <a:latin typeface="Arial"/>
                <a:cs typeface="Arial"/>
              </a:rPr>
              <a:t>vetor </a:t>
            </a:r>
            <a:r>
              <a:rPr dirty="0" sz="2800" spc="-5">
                <a:latin typeface="Arial"/>
                <a:cs typeface="Arial"/>
              </a:rPr>
              <a:t>de</a:t>
            </a:r>
            <a:r>
              <a:rPr dirty="0" sz="2800" spc="-55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inteiros.</a:t>
            </a:r>
            <a:endParaRPr sz="28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5"/>
              <a:t>Como</a:t>
            </a:r>
            <a:r>
              <a:rPr dirty="0" spc="-55"/>
              <a:t> </a:t>
            </a:r>
            <a:r>
              <a:rPr dirty="0" spc="-5"/>
              <a:t>utilizar?</a:t>
            </a:r>
          </a:p>
        </p:txBody>
      </p:sp>
      <p:sp>
        <p:nvSpPr>
          <p:cNvPr id="4" name="object 4"/>
          <p:cNvSpPr/>
          <p:nvPr/>
        </p:nvSpPr>
        <p:spPr>
          <a:xfrm>
            <a:off x="2123694" y="3225571"/>
            <a:ext cx="5181727" cy="33954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1105"/>
              </a:lnSpc>
            </a:pPr>
            <a:fld id="{81D60167-4931-47E6-BA6A-407CBD079E47}" type="slidenum">
              <a:rPr dirty="0" spc="-5"/>
              <a:t>10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18540" y="1126109"/>
            <a:ext cx="7703820" cy="205358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algn="just" marL="355600" marR="5080" indent="-342900">
              <a:lnSpc>
                <a:spcPts val="2590"/>
              </a:lnSpc>
              <a:buClr>
                <a:srgbClr val="852B34"/>
              </a:buClr>
              <a:buSzPct val="68750"/>
              <a:buChar char="•"/>
              <a:tabLst>
                <a:tab pos="355600" algn="l"/>
              </a:tabLst>
            </a:pPr>
            <a:r>
              <a:rPr dirty="0" sz="2400" spc="-5">
                <a:latin typeface="Arial"/>
                <a:cs typeface="Arial"/>
              </a:rPr>
              <a:t>Antes de dar início ao </a:t>
            </a:r>
            <a:r>
              <a:rPr dirty="0" sz="2400" i="1">
                <a:latin typeface="Arial"/>
                <a:cs typeface="Arial"/>
              </a:rPr>
              <a:t>debugging, </a:t>
            </a:r>
            <a:r>
              <a:rPr dirty="0" sz="2400" spc="-5">
                <a:latin typeface="Arial"/>
                <a:cs typeface="Arial"/>
              </a:rPr>
              <a:t>é necessário  colocar  </a:t>
            </a:r>
            <a:r>
              <a:rPr dirty="0" sz="2400" spc="-5" i="1">
                <a:latin typeface="Arial"/>
                <a:cs typeface="Arial"/>
              </a:rPr>
              <a:t>breakpoints  </a:t>
            </a:r>
            <a:r>
              <a:rPr dirty="0" sz="2400" spc="-5">
                <a:latin typeface="Arial"/>
                <a:cs typeface="Arial"/>
              </a:rPr>
              <a:t>(pontos  de  parada)  nas </a:t>
            </a:r>
            <a:r>
              <a:rPr dirty="0" sz="2400" spc="630">
                <a:latin typeface="Arial"/>
                <a:cs typeface="Arial"/>
              </a:rPr>
              <a:t> </a:t>
            </a:r>
            <a:r>
              <a:rPr dirty="0" sz="2400" spc="-5">
                <a:latin typeface="Arial"/>
                <a:cs typeface="Arial"/>
              </a:rPr>
              <a:t>linhas</a:t>
            </a:r>
            <a:endParaRPr sz="2400">
              <a:latin typeface="Arial"/>
              <a:cs typeface="Arial"/>
            </a:endParaRPr>
          </a:p>
          <a:p>
            <a:pPr marL="354965">
              <a:lnSpc>
                <a:spcPts val="2555"/>
              </a:lnSpc>
            </a:pPr>
            <a:r>
              <a:rPr dirty="0" sz="2400" spc="-5">
                <a:latin typeface="Arial"/>
                <a:cs typeface="Arial"/>
              </a:rPr>
              <a:t>cujas execuções devem ser</a:t>
            </a:r>
            <a:r>
              <a:rPr dirty="0" sz="2400" spc="80">
                <a:latin typeface="Arial"/>
                <a:cs typeface="Arial"/>
              </a:rPr>
              <a:t> </a:t>
            </a:r>
            <a:r>
              <a:rPr dirty="0" sz="2400" spc="-5">
                <a:latin typeface="Arial"/>
                <a:cs typeface="Arial"/>
              </a:rPr>
              <a:t>verificadas.</a:t>
            </a:r>
            <a:endParaRPr sz="2400">
              <a:latin typeface="Arial"/>
              <a:cs typeface="Arial"/>
            </a:endParaRPr>
          </a:p>
          <a:p>
            <a:pPr algn="just" marL="355600" marR="5080" indent="-342900">
              <a:lnSpc>
                <a:spcPct val="90000"/>
              </a:lnSpc>
              <a:spcBef>
                <a:spcPts val="575"/>
              </a:spcBef>
              <a:buClr>
                <a:srgbClr val="852B34"/>
              </a:buClr>
              <a:buSzPct val="68750"/>
              <a:buChar char="•"/>
              <a:tabLst>
                <a:tab pos="355600" algn="l"/>
              </a:tabLst>
            </a:pPr>
            <a:r>
              <a:rPr dirty="0" sz="2400" spc="-5">
                <a:latin typeface="Arial"/>
                <a:cs typeface="Arial"/>
              </a:rPr>
              <a:t>Basta clicar ao lado direito do número de cada </a:t>
            </a:r>
            <a:r>
              <a:rPr dirty="0" sz="2400">
                <a:latin typeface="Arial"/>
                <a:cs typeface="Arial"/>
              </a:rPr>
              <a:t>linha  desejada. Os </a:t>
            </a:r>
            <a:r>
              <a:rPr dirty="0" sz="2400" spc="-5">
                <a:latin typeface="Arial"/>
                <a:cs typeface="Arial"/>
              </a:rPr>
              <a:t>hexágonos em vermelho indicam a  criação de um</a:t>
            </a:r>
            <a:r>
              <a:rPr dirty="0" sz="2400" spc="10">
                <a:latin typeface="Arial"/>
                <a:cs typeface="Arial"/>
              </a:rPr>
              <a:t> </a:t>
            </a:r>
            <a:r>
              <a:rPr dirty="0" sz="2400" spc="-5" i="1">
                <a:latin typeface="Arial"/>
                <a:cs typeface="Arial"/>
              </a:rPr>
              <a:t>breakpoint</a:t>
            </a:r>
            <a:r>
              <a:rPr dirty="0" sz="2400" spc="-5">
                <a:latin typeface="Arial"/>
                <a:cs typeface="Arial"/>
              </a:rPr>
              <a:t>.</a:t>
            </a:r>
            <a:endParaRPr sz="24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5"/>
              <a:t>Como</a:t>
            </a:r>
            <a:r>
              <a:rPr dirty="0" spc="-55"/>
              <a:t> </a:t>
            </a:r>
            <a:r>
              <a:rPr dirty="0" spc="-5"/>
              <a:t>utilizar?</a:t>
            </a:r>
          </a:p>
        </p:txBody>
      </p:sp>
      <p:sp>
        <p:nvSpPr>
          <p:cNvPr id="4" name="object 4"/>
          <p:cNvSpPr/>
          <p:nvPr/>
        </p:nvSpPr>
        <p:spPr>
          <a:xfrm>
            <a:off x="1117231" y="3281057"/>
            <a:ext cx="6984746" cy="336219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1105"/>
              </a:lnSpc>
            </a:pPr>
            <a:fld id="{81D60167-4931-47E6-BA6A-407CBD079E47}" type="slidenum">
              <a:rPr dirty="0" spc="-5"/>
              <a:t>10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18540" y="1084453"/>
            <a:ext cx="7705090" cy="158623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852B34"/>
              </a:buClr>
              <a:buSzPct val="68750"/>
              <a:buChar char="•"/>
              <a:tabLst>
                <a:tab pos="354965" algn="l"/>
                <a:tab pos="355600" algn="l"/>
              </a:tabLst>
            </a:pPr>
            <a:r>
              <a:rPr dirty="0" sz="2400">
                <a:latin typeface="Arial"/>
                <a:cs typeface="Arial"/>
              </a:rPr>
              <a:t>Outras formas </a:t>
            </a:r>
            <a:r>
              <a:rPr dirty="0" sz="2400" spc="-5">
                <a:latin typeface="Arial"/>
                <a:cs typeface="Arial"/>
              </a:rPr>
              <a:t>de se adicionar um</a:t>
            </a:r>
            <a:r>
              <a:rPr dirty="0" sz="2400" spc="15">
                <a:latin typeface="Arial"/>
                <a:cs typeface="Arial"/>
              </a:rPr>
              <a:t> </a:t>
            </a:r>
            <a:r>
              <a:rPr dirty="0" sz="2400" spc="-5" i="1">
                <a:latin typeface="Arial"/>
                <a:cs typeface="Arial"/>
              </a:rPr>
              <a:t>breakpoint</a:t>
            </a:r>
            <a:r>
              <a:rPr dirty="0" sz="2400" spc="-5">
                <a:latin typeface="Arial"/>
                <a:cs typeface="Arial"/>
              </a:rPr>
              <a:t>:</a:t>
            </a:r>
            <a:endParaRPr sz="2400">
              <a:latin typeface="Arial"/>
              <a:cs typeface="Arial"/>
            </a:endParaRPr>
          </a:p>
          <a:p>
            <a:pPr algn="just" lvl="1" marL="704850" marR="5080" indent="-347980">
              <a:lnSpc>
                <a:spcPct val="90100"/>
              </a:lnSpc>
              <a:spcBef>
                <a:spcPts val="480"/>
              </a:spcBef>
              <a:buClr>
                <a:srgbClr val="808080"/>
              </a:buClr>
              <a:buSzPct val="70000"/>
              <a:buFont typeface="Courier New"/>
              <a:buChar char="o"/>
              <a:tabLst>
                <a:tab pos="705485" algn="l"/>
              </a:tabLst>
            </a:pPr>
            <a:r>
              <a:rPr dirty="0" sz="2000">
                <a:latin typeface="Arial"/>
                <a:cs typeface="Arial"/>
              </a:rPr>
              <a:t>Clicar com o botão </a:t>
            </a:r>
            <a:r>
              <a:rPr dirty="0" sz="2000" spc="-5">
                <a:latin typeface="Arial"/>
                <a:cs typeface="Arial"/>
              </a:rPr>
              <a:t>esquerdo </a:t>
            </a:r>
            <a:r>
              <a:rPr dirty="0" sz="2000">
                <a:latin typeface="Arial"/>
                <a:cs typeface="Arial"/>
              </a:rPr>
              <a:t>do mouse ao </a:t>
            </a:r>
            <a:r>
              <a:rPr dirty="0" sz="2000" spc="-5">
                <a:latin typeface="Arial"/>
                <a:cs typeface="Arial"/>
              </a:rPr>
              <a:t>lado </a:t>
            </a:r>
            <a:r>
              <a:rPr dirty="0" sz="2000">
                <a:latin typeface="Arial"/>
                <a:cs typeface="Arial"/>
              </a:rPr>
              <a:t>direito do  número de cada linha desejada e </a:t>
            </a:r>
            <a:r>
              <a:rPr dirty="0" sz="2000" spc="-5">
                <a:latin typeface="Arial"/>
                <a:cs typeface="Arial"/>
              </a:rPr>
              <a:t>escolher </a:t>
            </a:r>
            <a:r>
              <a:rPr dirty="0" sz="2000">
                <a:latin typeface="Arial"/>
                <a:cs typeface="Arial"/>
              </a:rPr>
              <a:t>a opção </a:t>
            </a:r>
            <a:r>
              <a:rPr dirty="0" sz="2000" i="1">
                <a:latin typeface="Arial"/>
                <a:cs typeface="Arial"/>
              </a:rPr>
              <a:t>Add  </a:t>
            </a:r>
            <a:r>
              <a:rPr dirty="0" sz="2000" i="1">
                <a:latin typeface="Arial"/>
                <a:cs typeface="Arial"/>
              </a:rPr>
              <a:t>breakpoint</a:t>
            </a:r>
            <a:r>
              <a:rPr dirty="0" sz="2000">
                <a:latin typeface="Arial"/>
                <a:cs typeface="Arial"/>
              </a:rPr>
              <a:t>;</a:t>
            </a:r>
            <a:endParaRPr sz="2000">
              <a:latin typeface="Arial"/>
              <a:cs typeface="Arial"/>
            </a:endParaRPr>
          </a:p>
          <a:p>
            <a:pPr lvl="1" marL="704850" indent="-347980">
              <a:lnSpc>
                <a:spcPct val="100000"/>
              </a:lnSpc>
              <a:spcBef>
                <a:spcPts val="240"/>
              </a:spcBef>
              <a:buClr>
                <a:srgbClr val="808080"/>
              </a:buClr>
              <a:buSzPct val="70000"/>
              <a:buFont typeface="Courier New"/>
              <a:buChar char="o"/>
              <a:tabLst>
                <a:tab pos="704850" algn="l"/>
                <a:tab pos="705485" algn="l"/>
                <a:tab pos="2707640" algn="l"/>
              </a:tabLst>
            </a:pPr>
            <a:r>
              <a:rPr dirty="0" sz="2000">
                <a:latin typeface="Arial"/>
                <a:cs typeface="Arial"/>
              </a:rPr>
              <a:t>Colocar</a:t>
            </a:r>
            <a:r>
              <a:rPr dirty="0" sz="2000" spc="-1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o</a:t>
            </a:r>
            <a:r>
              <a:rPr dirty="0" sz="2000" spc="-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cursor	na linha desejada e pressionar a tecla</a:t>
            </a:r>
            <a:r>
              <a:rPr dirty="0" sz="2000" spc="-15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F5.</a:t>
            </a:r>
            <a:endParaRPr sz="20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5"/>
              <a:t>Como</a:t>
            </a:r>
            <a:r>
              <a:rPr dirty="0" spc="-55"/>
              <a:t> </a:t>
            </a:r>
            <a:r>
              <a:rPr dirty="0" spc="-5"/>
              <a:t>utilizar?</a:t>
            </a:r>
          </a:p>
        </p:txBody>
      </p:sp>
      <p:sp>
        <p:nvSpPr>
          <p:cNvPr id="4" name="object 4"/>
          <p:cNvSpPr/>
          <p:nvPr/>
        </p:nvSpPr>
        <p:spPr>
          <a:xfrm>
            <a:off x="1065441" y="2852889"/>
            <a:ext cx="7063740" cy="360946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1105"/>
              </a:lnSpc>
            </a:pPr>
            <a:fld id="{81D60167-4931-47E6-BA6A-407CBD079E47}" type="slidenum">
              <a:rPr dirty="0" spc="-5"/>
              <a:t>10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18540" y="1118997"/>
            <a:ext cx="7704455" cy="11525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algn="just" marL="355600" marR="5080" indent="-342900">
              <a:lnSpc>
                <a:spcPct val="90000"/>
              </a:lnSpc>
              <a:buClr>
                <a:srgbClr val="852B34"/>
              </a:buClr>
              <a:buSzPct val="69642"/>
              <a:buChar char="•"/>
              <a:tabLst>
                <a:tab pos="355600" algn="l"/>
              </a:tabLst>
            </a:pPr>
            <a:r>
              <a:rPr dirty="0" sz="2800">
                <a:latin typeface="Arial"/>
                <a:cs typeface="Arial"/>
              </a:rPr>
              <a:t>Com </a:t>
            </a:r>
            <a:r>
              <a:rPr dirty="0" sz="2800" spc="-5">
                <a:latin typeface="Arial"/>
                <a:cs typeface="Arial"/>
              </a:rPr>
              <a:t>a </a:t>
            </a:r>
            <a:r>
              <a:rPr dirty="0" sz="2800">
                <a:latin typeface="Arial"/>
                <a:cs typeface="Arial"/>
              </a:rPr>
              <a:t>adição dos </a:t>
            </a:r>
            <a:r>
              <a:rPr dirty="0" sz="2800" i="1">
                <a:latin typeface="Arial"/>
                <a:cs typeface="Arial"/>
              </a:rPr>
              <a:t>breakpoints</a:t>
            </a:r>
            <a:r>
              <a:rPr dirty="0" sz="2800">
                <a:latin typeface="Arial"/>
                <a:cs typeface="Arial"/>
              </a:rPr>
              <a:t>, nas </a:t>
            </a:r>
            <a:r>
              <a:rPr dirty="0" sz="2800" spc="-5">
                <a:latin typeface="Arial"/>
                <a:cs typeface="Arial"/>
              </a:rPr>
              <a:t>linhas </a:t>
            </a:r>
            <a:r>
              <a:rPr dirty="0" sz="2800">
                <a:latin typeface="Arial"/>
                <a:cs typeface="Arial"/>
              </a:rPr>
              <a:t>5,  </a:t>
            </a:r>
            <a:r>
              <a:rPr dirty="0" sz="2800" spc="-5">
                <a:latin typeface="Arial"/>
                <a:cs typeface="Arial"/>
              </a:rPr>
              <a:t>6, 8, 9, </a:t>
            </a:r>
            <a:r>
              <a:rPr dirty="0" sz="2800" spc="-10">
                <a:latin typeface="Arial"/>
                <a:cs typeface="Arial"/>
              </a:rPr>
              <a:t>10 </a:t>
            </a:r>
            <a:r>
              <a:rPr dirty="0" sz="2800" spc="-5">
                <a:latin typeface="Arial"/>
                <a:cs typeface="Arial"/>
              </a:rPr>
              <a:t>e 13 do </a:t>
            </a:r>
            <a:r>
              <a:rPr dirty="0" sz="2800">
                <a:latin typeface="Arial"/>
                <a:cs typeface="Arial"/>
              </a:rPr>
              <a:t>algoritmo abaixo, </a:t>
            </a:r>
            <a:r>
              <a:rPr dirty="0" sz="2800" spc="-5">
                <a:latin typeface="Arial"/>
                <a:cs typeface="Arial"/>
              </a:rPr>
              <a:t>ocorrerá  o </a:t>
            </a:r>
            <a:r>
              <a:rPr dirty="0" sz="2800">
                <a:latin typeface="Arial"/>
                <a:cs typeface="Arial"/>
              </a:rPr>
              <a:t>passo-a-passo </a:t>
            </a:r>
            <a:r>
              <a:rPr dirty="0" sz="2800" spc="-5">
                <a:latin typeface="Arial"/>
                <a:cs typeface="Arial"/>
              </a:rPr>
              <a:t>da </a:t>
            </a:r>
            <a:r>
              <a:rPr dirty="0" sz="2800">
                <a:latin typeface="Arial"/>
                <a:cs typeface="Arial"/>
              </a:rPr>
              <a:t>execução.</a:t>
            </a:r>
            <a:endParaRPr sz="28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5"/>
              <a:t>Como</a:t>
            </a:r>
            <a:r>
              <a:rPr dirty="0" spc="-55"/>
              <a:t> </a:t>
            </a:r>
            <a:r>
              <a:rPr dirty="0" spc="-5"/>
              <a:t>utilizar?</a:t>
            </a:r>
          </a:p>
        </p:txBody>
      </p:sp>
      <p:sp>
        <p:nvSpPr>
          <p:cNvPr id="4" name="object 4"/>
          <p:cNvSpPr/>
          <p:nvPr/>
        </p:nvSpPr>
        <p:spPr>
          <a:xfrm>
            <a:off x="503250" y="2564904"/>
            <a:ext cx="8173211" cy="393433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1105"/>
              </a:lnSpc>
            </a:pPr>
            <a:fld id="{81D60167-4931-47E6-BA6A-407CBD079E47}" type="slidenum">
              <a:rPr dirty="0" spc="-5"/>
              <a:t>10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18540" y="1076325"/>
            <a:ext cx="7701915" cy="81089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55600" indent="-342900">
              <a:lnSpc>
                <a:spcPts val="3190"/>
              </a:lnSpc>
              <a:buClr>
                <a:srgbClr val="852B34"/>
              </a:buClr>
              <a:buSzPct val="69642"/>
              <a:buChar char="•"/>
              <a:tabLst>
                <a:tab pos="354965" algn="l"/>
                <a:tab pos="355600" algn="l"/>
                <a:tab pos="3265170" algn="l"/>
              </a:tabLst>
            </a:pPr>
            <a:r>
              <a:rPr dirty="0" sz="2800" spc="-10">
                <a:latin typeface="Arial"/>
                <a:cs typeface="Arial"/>
              </a:rPr>
              <a:t>No</a:t>
            </a:r>
            <a:r>
              <a:rPr dirty="0" sz="2800" spc="50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menu</a:t>
            </a:r>
            <a:r>
              <a:rPr dirty="0" sz="2800" spc="50">
                <a:latin typeface="Arial"/>
                <a:cs typeface="Arial"/>
              </a:rPr>
              <a:t> </a:t>
            </a:r>
            <a:r>
              <a:rPr dirty="0" sz="2800" i="1">
                <a:latin typeface="Arial"/>
                <a:cs typeface="Arial"/>
              </a:rPr>
              <a:t>Debug</a:t>
            </a:r>
            <a:r>
              <a:rPr dirty="0" sz="2800">
                <a:latin typeface="Arial"/>
                <a:cs typeface="Arial"/>
              </a:rPr>
              <a:t>,	</a:t>
            </a:r>
            <a:r>
              <a:rPr dirty="0" sz="2800" spc="-5">
                <a:latin typeface="Arial"/>
                <a:cs typeface="Arial"/>
              </a:rPr>
              <a:t>acesse </a:t>
            </a:r>
            <a:r>
              <a:rPr dirty="0" sz="2800" spc="-5" i="1">
                <a:latin typeface="Arial"/>
                <a:cs typeface="Arial"/>
              </a:rPr>
              <a:t>Debugging</a:t>
            </a:r>
            <a:r>
              <a:rPr dirty="0" sz="2800" spc="114" i="1">
                <a:latin typeface="Arial"/>
                <a:cs typeface="Arial"/>
              </a:rPr>
              <a:t> </a:t>
            </a:r>
            <a:r>
              <a:rPr dirty="0" sz="2800" spc="-5" i="1">
                <a:latin typeface="Arial"/>
                <a:cs typeface="Arial"/>
              </a:rPr>
              <a:t>windows</a:t>
            </a:r>
            <a:endParaRPr sz="2800">
              <a:latin typeface="Arial"/>
              <a:cs typeface="Arial"/>
            </a:endParaRPr>
          </a:p>
          <a:p>
            <a:pPr marL="354965">
              <a:lnSpc>
                <a:spcPts val="3190"/>
              </a:lnSpc>
            </a:pPr>
            <a:r>
              <a:rPr dirty="0" sz="2800" spc="-5">
                <a:latin typeface="Arial"/>
                <a:cs typeface="Arial"/>
              </a:rPr>
              <a:t>e clique em</a:t>
            </a:r>
            <a:r>
              <a:rPr dirty="0" sz="2800" spc="-25">
                <a:latin typeface="Arial"/>
                <a:cs typeface="Arial"/>
              </a:rPr>
              <a:t> </a:t>
            </a:r>
            <a:r>
              <a:rPr dirty="0" sz="2800" i="1">
                <a:latin typeface="Arial"/>
                <a:cs typeface="Arial"/>
              </a:rPr>
              <a:t>Watches</a:t>
            </a:r>
            <a:r>
              <a:rPr dirty="0" sz="2800">
                <a:latin typeface="Arial"/>
                <a:cs typeface="Arial"/>
              </a:rPr>
              <a:t>.</a:t>
            </a:r>
            <a:endParaRPr sz="28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5"/>
              <a:t>Como</a:t>
            </a:r>
            <a:r>
              <a:rPr dirty="0" spc="-55"/>
              <a:t> </a:t>
            </a:r>
            <a:r>
              <a:rPr dirty="0" spc="-5"/>
              <a:t>utilizar?</a:t>
            </a:r>
          </a:p>
        </p:txBody>
      </p:sp>
      <p:sp>
        <p:nvSpPr>
          <p:cNvPr id="4" name="object 4"/>
          <p:cNvSpPr/>
          <p:nvPr/>
        </p:nvSpPr>
        <p:spPr>
          <a:xfrm>
            <a:off x="467537" y="2060816"/>
            <a:ext cx="8282685" cy="453313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1105"/>
              </a:lnSpc>
            </a:pPr>
            <a:fld id="{81D60167-4931-47E6-BA6A-407CBD079E47}" type="slidenum">
              <a:rPr dirty="0" spc="-5"/>
              <a:t>10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18540" y="1076325"/>
            <a:ext cx="3470910" cy="4267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852B34"/>
              </a:buClr>
              <a:buSzPct val="69642"/>
              <a:buChar char="•"/>
              <a:tabLst>
                <a:tab pos="354965" algn="l"/>
                <a:tab pos="355600" algn="l"/>
                <a:tab pos="857250" algn="l"/>
                <a:tab pos="2074545" algn="l"/>
              </a:tabLst>
            </a:pPr>
            <a:r>
              <a:rPr dirty="0" sz="2800" spc="-5">
                <a:latin typeface="Arial"/>
                <a:cs typeface="Arial"/>
              </a:rPr>
              <a:t>A	janela	</a:t>
            </a:r>
            <a:r>
              <a:rPr dirty="0" sz="2800" spc="-5" i="1">
                <a:latin typeface="Arial"/>
                <a:cs typeface="Arial"/>
              </a:rPr>
              <a:t>Watches</a:t>
            </a:r>
            <a:endParaRPr sz="2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330065" y="1076325"/>
            <a:ext cx="2528570" cy="4362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  <a:tabLst>
                <a:tab pos="969644" algn="l"/>
              </a:tabLst>
            </a:pPr>
            <a:r>
              <a:rPr dirty="0" sz="2800" spc="-5">
                <a:latin typeface="Arial"/>
                <a:cs typeface="Arial"/>
              </a:rPr>
              <a:t>s</a:t>
            </a:r>
            <a:r>
              <a:rPr dirty="0" sz="2800">
                <a:latin typeface="Arial"/>
                <a:cs typeface="Arial"/>
              </a:rPr>
              <a:t>e</a:t>
            </a:r>
            <a:r>
              <a:rPr dirty="0" sz="2800" spc="-5">
                <a:latin typeface="Arial"/>
                <a:cs typeface="Arial"/>
              </a:rPr>
              <a:t>rá</a:t>
            </a:r>
            <a:r>
              <a:rPr dirty="0" sz="2800">
                <a:latin typeface="Arial"/>
                <a:cs typeface="Arial"/>
              </a:rPr>
              <a:t>	</a:t>
            </a:r>
            <a:r>
              <a:rPr dirty="0" sz="2800" spc="-5">
                <a:latin typeface="Arial"/>
                <a:cs typeface="Arial"/>
              </a:rPr>
              <a:t>a</a:t>
            </a:r>
            <a:r>
              <a:rPr dirty="0" sz="2800">
                <a:latin typeface="Arial"/>
                <a:cs typeface="Arial"/>
              </a:rPr>
              <a:t>c</a:t>
            </a:r>
            <a:r>
              <a:rPr dirty="0" sz="2800" spc="-5">
                <a:latin typeface="Arial"/>
                <a:cs typeface="Arial"/>
              </a:rPr>
              <a:t>i</a:t>
            </a:r>
            <a:r>
              <a:rPr dirty="0" sz="2800">
                <a:latin typeface="Arial"/>
                <a:cs typeface="Arial"/>
              </a:rPr>
              <a:t>o</a:t>
            </a:r>
            <a:r>
              <a:rPr dirty="0" sz="2800" spc="-5">
                <a:latin typeface="Arial"/>
                <a:cs typeface="Arial"/>
              </a:rPr>
              <a:t>n</a:t>
            </a:r>
            <a:r>
              <a:rPr dirty="0" sz="2800">
                <a:latin typeface="Arial"/>
                <a:cs typeface="Arial"/>
              </a:rPr>
              <a:t>a</a:t>
            </a:r>
            <a:r>
              <a:rPr dirty="0" sz="2800" spc="-5">
                <a:latin typeface="Arial"/>
                <a:cs typeface="Arial"/>
              </a:rPr>
              <a:t>d</a:t>
            </a:r>
            <a:r>
              <a:rPr dirty="0" sz="2800" spc="10">
                <a:latin typeface="Arial"/>
                <a:cs typeface="Arial"/>
              </a:rPr>
              <a:t>a</a:t>
            </a:r>
            <a:r>
              <a:rPr dirty="0" sz="2800" spc="-5">
                <a:latin typeface="Arial"/>
                <a:cs typeface="Arial"/>
              </a:rPr>
              <a:t>.</a:t>
            </a:r>
            <a:endParaRPr sz="2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099807" y="1076325"/>
            <a:ext cx="1219835" cy="4362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  <a:tabLst>
                <a:tab pos="1009015" algn="l"/>
              </a:tabLst>
            </a:pPr>
            <a:r>
              <a:rPr dirty="0" sz="2800" spc="-5">
                <a:latin typeface="Arial"/>
                <a:cs typeface="Arial"/>
              </a:rPr>
              <a:t>Nela</a:t>
            </a:r>
            <a:r>
              <a:rPr dirty="0" sz="2800" spc="-5">
                <a:latin typeface="Arial"/>
                <a:cs typeface="Arial"/>
              </a:rPr>
              <a:t>	</a:t>
            </a:r>
            <a:r>
              <a:rPr dirty="0" sz="2800" spc="-5">
                <a:latin typeface="Arial"/>
                <a:cs typeface="Arial"/>
              </a:rPr>
              <a:t>é</a:t>
            </a:r>
            <a:endParaRPr sz="2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61440" y="1503044"/>
            <a:ext cx="7359650" cy="11620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algn="just" marL="12700" marR="5080">
              <a:lnSpc>
                <a:spcPct val="90000"/>
              </a:lnSpc>
            </a:pPr>
            <a:r>
              <a:rPr dirty="0" sz="2800">
                <a:latin typeface="Arial"/>
                <a:cs typeface="Arial"/>
              </a:rPr>
              <a:t>possível acompanhar </a:t>
            </a:r>
            <a:r>
              <a:rPr dirty="0" sz="2800" spc="-5">
                <a:latin typeface="Arial"/>
                <a:cs typeface="Arial"/>
              </a:rPr>
              <a:t>o </a:t>
            </a:r>
            <a:r>
              <a:rPr dirty="0" sz="2800">
                <a:latin typeface="Arial"/>
                <a:cs typeface="Arial"/>
              </a:rPr>
              <a:t>conteúdo das  variáveis, vetores, strings </a:t>
            </a:r>
            <a:r>
              <a:rPr dirty="0" sz="2800" spc="-5">
                <a:latin typeface="Arial"/>
                <a:cs typeface="Arial"/>
              </a:rPr>
              <a:t>etc., a cada </a:t>
            </a:r>
            <a:r>
              <a:rPr dirty="0" sz="2800">
                <a:latin typeface="Arial"/>
                <a:cs typeface="Arial"/>
              </a:rPr>
              <a:t>passo  </a:t>
            </a:r>
            <a:r>
              <a:rPr dirty="0" sz="2800" spc="-5">
                <a:latin typeface="Arial"/>
                <a:cs typeface="Arial"/>
              </a:rPr>
              <a:t>da </a:t>
            </a:r>
            <a:r>
              <a:rPr dirty="0" sz="2800">
                <a:latin typeface="Arial"/>
                <a:cs typeface="Arial"/>
              </a:rPr>
              <a:t>execução </a:t>
            </a:r>
            <a:r>
              <a:rPr dirty="0" sz="2800" spc="-5">
                <a:latin typeface="Arial"/>
                <a:cs typeface="Arial"/>
              </a:rPr>
              <a:t>do</a:t>
            </a:r>
            <a:r>
              <a:rPr dirty="0" sz="2800" spc="-25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algoritmo.</a:t>
            </a:r>
            <a:endParaRPr sz="28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5"/>
              <a:t>Como</a:t>
            </a:r>
            <a:r>
              <a:rPr dirty="0" spc="-55"/>
              <a:t> </a:t>
            </a:r>
            <a:r>
              <a:rPr dirty="0" spc="-5"/>
              <a:t>utilizar?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352548" y="5959754"/>
            <a:ext cx="5001895" cy="2057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Arial"/>
                <a:cs typeface="Arial"/>
              </a:rPr>
              <a:t>Inicialmente,</a:t>
            </a:r>
            <a:r>
              <a:rPr dirty="0" sz="1200" spc="-2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as </a:t>
            </a:r>
            <a:r>
              <a:rPr dirty="0" sz="1200" spc="-5">
                <a:latin typeface="Arial"/>
                <a:cs typeface="Arial"/>
              </a:rPr>
              <a:t>variáveis</a:t>
            </a:r>
            <a:r>
              <a:rPr dirty="0" sz="1200" spc="5">
                <a:latin typeface="Arial"/>
                <a:cs typeface="Arial"/>
              </a:rPr>
              <a:t> </a:t>
            </a:r>
            <a:r>
              <a:rPr dirty="0" sz="1200">
                <a:latin typeface="Courier New"/>
                <a:cs typeface="Courier New"/>
              </a:rPr>
              <a:t>i</a:t>
            </a:r>
            <a:r>
              <a:rPr dirty="0" sz="1200" spc="-385">
                <a:latin typeface="Courier New"/>
                <a:cs typeface="Courier New"/>
              </a:rPr>
              <a:t> </a:t>
            </a:r>
            <a:r>
              <a:rPr dirty="0" sz="1200" spc="-5">
                <a:latin typeface="Arial"/>
                <a:cs typeface="Arial"/>
              </a:rPr>
              <a:t>e </a:t>
            </a:r>
            <a:r>
              <a:rPr dirty="0" sz="1200" spc="20">
                <a:latin typeface="Arial"/>
                <a:cs typeface="Arial"/>
              </a:rPr>
              <a:t> </a:t>
            </a:r>
            <a:r>
              <a:rPr dirty="0" sz="1200" spc="-5">
                <a:latin typeface="Courier New"/>
                <a:cs typeface="Courier New"/>
              </a:rPr>
              <a:t>aux</a:t>
            </a:r>
            <a:r>
              <a:rPr dirty="0" sz="1200" spc="-375">
                <a:latin typeface="Courier New"/>
                <a:cs typeface="Courier New"/>
              </a:rPr>
              <a:t> </a:t>
            </a:r>
            <a:r>
              <a:rPr dirty="0" sz="1200" spc="-5">
                <a:latin typeface="Arial"/>
                <a:cs typeface="Arial"/>
              </a:rPr>
              <a:t>e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 spc="-5">
                <a:latin typeface="Arial"/>
                <a:cs typeface="Arial"/>
              </a:rPr>
              <a:t>o</a:t>
            </a:r>
            <a:r>
              <a:rPr dirty="0" sz="1200" spc="5">
                <a:latin typeface="Arial"/>
                <a:cs typeface="Arial"/>
              </a:rPr>
              <a:t> </a:t>
            </a:r>
            <a:r>
              <a:rPr dirty="0" sz="1200" spc="-5">
                <a:latin typeface="Arial"/>
                <a:cs typeface="Arial"/>
              </a:rPr>
              <a:t>vetor</a:t>
            </a:r>
            <a:r>
              <a:rPr dirty="0" sz="1200">
                <a:latin typeface="Arial"/>
                <a:cs typeface="Arial"/>
              </a:rPr>
              <a:t> </a:t>
            </a:r>
            <a:r>
              <a:rPr dirty="0" sz="1200" spc="-5">
                <a:latin typeface="Courier New"/>
                <a:cs typeface="Courier New"/>
              </a:rPr>
              <a:t>vet</a:t>
            </a:r>
            <a:r>
              <a:rPr dirty="0" sz="1200" spc="-375">
                <a:latin typeface="Courier New"/>
                <a:cs typeface="Courier New"/>
              </a:rPr>
              <a:t> </a:t>
            </a:r>
            <a:r>
              <a:rPr dirty="0" sz="1200">
                <a:latin typeface="Arial"/>
                <a:cs typeface="Arial"/>
              </a:rPr>
              <a:t>contém</a:t>
            </a:r>
            <a:r>
              <a:rPr dirty="0" sz="1200" spc="-30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lixo</a:t>
            </a:r>
            <a:r>
              <a:rPr dirty="0" sz="1200">
                <a:latin typeface="Arial"/>
                <a:cs typeface="Arial"/>
              </a:rPr>
              <a:t> de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 spc="-5">
                <a:latin typeface="Arial"/>
                <a:cs typeface="Arial"/>
              </a:rPr>
              <a:t>memória.</a:t>
            </a:r>
            <a:endParaRPr sz="12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987801" y="2742272"/>
            <a:ext cx="3600450" cy="313499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1105"/>
              </a:lnSpc>
            </a:pPr>
            <a:fld id="{81D60167-4931-47E6-BA6A-407CBD079E47}" type="slidenum">
              <a:rPr dirty="0" spc="-5"/>
              <a:t>10</a:t>
            </a:fld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18540" y="1118997"/>
            <a:ext cx="7701915" cy="11525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algn="just" marL="355600" marR="5080" indent="-342900">
              <a:lnSpc>
                <a:spcPct val="90000"/>
              </a:lnSpc>
              <a:buClr>
                <a:srgbClr val="852B34"/>
              </a:buClr>
              <a:buSzPct val="69642"/>
              <a:buChar char="•"/>
              <a:tabLst>
                <a:tab pos="355600" algn="l"/>
              </a:tabLst>
            </a:pPr>
            <a:r>
              <a:rPr dirty="0" sz="2800" spc="-5">
                <a:latin typeface="Arial"/>
                <a:cs typeface="Arial"/>
              </a:rPr>
              <a:t>Para </a:t>
            </a:r>
            <a:r>
              <a:rPr dirty="0" sz="2800">
                <a:latin typeface="Arial"/>
                <a:cs typeface="Arial"/>
              </a:rPr>
              <a:t>dar </a:t>
            </a:r>
            <a:r>
              <a:rPr dirty="0" sz="2800" spc="-5">
                <a:latin typeface="Arial"/>
                <a:cs typeface="Arial"/>
              </a:rPr>
              <a:t>início ao </a:t>
            </a:r>
            <a:r>
              <a:rPr dirty="0" sz="2800" i="1">
                <a:latin typeface="Arial"/>
                <a:cs typeface="Arial"/>
              </a:rPr>
              <a:t>debugging</a:t>
            </a:r>
            <a:r>
              <a:rPr dirty="0" sz="2800">
                <a:latin typeface="Arial"/>
                <a:cs typeface="Arial"/>
              </a:rPr>
              <a:t>, acesse </a:t>
            </a:r>
            <a:r>
              <a:rPr dirty="0" sz="2800" spc="-5">
                <a:latin typeface="Arial"/>
                <a:cs typeface="Arial"/>
              </a:rPr>
              <a:t>o menu  </a:t>
            </a:r>
            <a:r>
              <a:rPr dirty="0" sz="2800" i="1">
                <a:latin typeface="Arial"/>
                <a:cs typeface="Arial"/>
              </a:rPr>
              <a:t>Debug </a:t>
            </a:r>
            <a:r>
              <a:rPr dirty="0" sz="2800" spc="-5">
                <a:latin typeface="Arial"/>
                <a:cs typeface="Arial"/>
              </a:rPr>
              <a:t>e, em </a:t>
            </a:r>
            <a:r>
              <a:rPr dirty="0" sz="2800">
                <a:latin typeface="Arial"/>
                <a:cs typeface="Arial"/>
              </a:rPr>
              <a:t>seguida, escolha </a:t>
            </a:r>
            <a:r>
              <a:rPr dirty="0" sz="2800" spc="-5">
                <a:latin typeface="Arial"/>
                <a:cs typeface="Arial"/>
              </a:rPr>
              <a:t>a opção  </a:t>
            </a:r>
            <a:r>
              <a:rPr dirty="0" sz="2800" spc="-5" i="1">
                <a:latin typeface="Arial"/>
                <a:cs typeface="Arial"/>
              </a:rPr>
              <a:t>Start/Continue </a:t>
            </a:r>
            <a:r>
              <a:rPr dirty="0" sz="2800" spc="-5">
                <a:latin typeface="Arial"/>
                <a:cs typeface="Arial"/>
              </a:rPr>
              <a:t>ou </a:t>
            </a:r>
            <a:r>
              <a:rPr dirty="0" sz="2800">
                <a:latin typeface="Arial"/>
                <a:cs typeface="Arial"/>
              </a:rPr>
              <a:t>pressione </a:t>
            </a:r>
            <a:r>
              <a:rPr dirty="0" sz="2800" spc="-5">
                <a:latin typeface="Arial"/>
                <a:cs typeface="Arial"/>
              </a:rPr>
              <a:t>a </a:t>
            </a:r>
            <a:r>
              <a:rPr dirty="0" sz="2800">
                <a:latin typeface="Arial"/>
                <a:cs typeface="Arial"/>
              </a:rPr>
              <a:t>tecla</a:t>
            </a:r>
            <a:r>
              <a:rPr dirty="0" sz="2800" spc="60">
                <a:latin typeface="Arial"/>
                <a:cs typeface="Arial"/>
              </a:rPr>
              <a:t> </a:t>
            </a:r>
            <a:r>
              <a:rPr dirty="0" sz="2800" spc="-5" i="1">
                <a:latin typeface="Arial"/>
                <a:cs typeface="Arial"/>
              </a:rPr>
              <a:t>F8.</a:t>
            </a:r>
            <a:endParaRPr sz="28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5"/>
              <a:t>Como</a:t>
            </a:r>
            <a:r>
              <a:rPr dirty="0" spc="-55"/>
              <a:t> </a:t>
            </a:r>
            <a:r>
              <a:rPr dirty="0" spc="-5"/>
              <a:t>utilizar?</a:t>
            </a:r>
          </a:p>
        </p:txBody>
      </p:sp>
      <p:sp>
        <p:nvSpPr>
          <p:cNvPr id="4" name="object 4"/>
          <p:cNvSpPr/>
          <p:nvPr/>
        </p:nvSpPr>
        <p:spPr>
          <a:xfrm>
            <a:off x="1331594" y="2358580"/>
            <a:ext cx="6625335" cy="41907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1105"/>
              </a:lnSpc>
            </a:pPr>
            <a:fld id="{81D60167-4931-47E6-BA6A-407CBD079E47}" type="slidenum">
              <a:rPr dirty="0" spc="-5"/>
              <a:t>10</a:t>
            </a:fld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835657" y="2898579"/>
            <a:ext cx="5760593" cy="38404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618540" y="1118997"/>
            <a:ext cx="7700645" cy="15367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algn="just" marL="355600" marR="5080" indent="-342900">
              <a:lnSpc>
                <a:spcPct val="90000"/>
              </a:lnSpc>
              <a:buClr>
                <a:srgbClr val="852B34"/>
              </a:buClr>
              <a:buSzPct val="69642"/>
              <a:buChar char="•"/>
              <a:tabLst>
                <a:tab pos="355600" algn="l"/>
              </a:tabLst>
            </a:pPr>
            <a:r>
              <a:rPr dirty="0" sz="2800" spc="-5">
                <a:latin typeface="Arial"/>
                <a:cs typeface="Arial"/>
              </a:rPr>
              <a:t>O algoritmo será </a:t>
            </a:r>
            <a:r>
              <a:rPr dirty="0" sz="2800">
                <a:latin typeface="Arial"/>
                <a:cs typeface="Arial"/>
              </a:rPr>
              <a:t>executado normalmente até  </a:t>
            </a:r>
            <a:r>
              <a:rPr dirty="0" sz="2800" spc="-5">
                <a:latin typeface="Arial"/>
                <a:cs typeface="Arial"/>
              </a:rPr>
              <a:t>que </a:t>
            </a:r>
            <a:r>
              <a:rPr dirty="0" sz="2800">
                <a:latin typeface="Arial"/>
                <a:cs typeface="Arial"/>
              </a:rPr>
              <a:t>seja encontrado </a:t>
            </a:r>
            <a:r>
              <a:rPr dirty="0" sz="2800" spc="-5">
                <a:latin typeface="Arial"/>
                <a:cs typeface="Arial"/>
              </a:rPr>
              <a:t>um </a:t>
            </a:r>
            <a:r>
              <a:rPr dirty="0" sz="2800" i="1">
                <a:latin typeface="Arial"/>
                <a:cs typeface="Arial"/>
              </a:rPr>
              <a:t>breakpoint</a:t>
            </a:r>
            <a:r>
              <a:rPr dirty="0" sz="2800">
                <a:latin typeface="Arial"/>
                <a:cs typeface="Arial"/>
              </a:rPr>
              <a:t>. </a:t>
            </a:r>
            <a:r>
              <a:rPr dirty="0" sz="2800" spc="-5">
                <a:latin typeface="Arial"/>
                <a:cs typeface="Arial"/>
              </a:rPr>
              <a:t>A seta  em </a:t>
            </a:r>
            <a:r>
              <a:rPr dirty="0" sz="2800">
                <a:latin typeface="Arial"/>
                <a:cs typeface="Arial"/>
              </a:rPr>
              <a:t>amarelo indica </a:t>
            </a:r>
            <a:r>
              <a:rPr dirty="0" sz="2800" spc="-5" b="1">
                <a:latin typeface="Arial"/>
                <a:cs typeface="Arial"/>
              </a:rPr>
              <a:t>a linha </a:t>
            </a:r>
            <a:r>
              <a:rPr dirty="0" sz="2800" b="1">
                <a:latin typeface="Arial"/>
                <a:cs typeface="Arial"/>
              </a:rPr>
              <a:t>que </a:t>
            </a:r>
            <a:r>
              <a:rPr dirty="0" sz="2800" spc="-5" b="1">
                <a:latin typeface="Arial"/>
                <a:cs typeface="Arial"/>
              </a:rPr>
              <a:t>será  executada </a:t>
            </a:r>
            <a:r>
              <a:rPr dirty="0" sz="2800" spc="-5">
                <a:latin typeface="Arial"/>
                <a:cs typeface="Arial"/>
              </a:rPr>
              <a:t>(linha</a:t>
            </a:r>
            <a:r>
              <a:rPr dirty="0" sz="2800" spc="35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5).</a:t>
            </a:r>
            <a:endParaRPr sz="28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5"/>
              <a:t>Como</a:t>
            </a:r>
            <a:r>
              <a:rPr dirty="0" spc="-55"/>
              <a:t> </a:t>
            </a:r>
            <a:r>
              <a:rPr dirty="0" spc="-5"/>
              <a:t>utilizar?</a:t>
            </a:r>
          </a:p>
        </p:txBody>
      </p:sp>
      <p:sp>
        <p:nvSpPr>
          <p:cNvPr id="5" name="object 5"/>
          <p:cNvSpPr/>
          <p:nvPr/>
        </p:nvSpPr>
        <p:spPr>
          <a:xfrm>
            <a:off x="2081783" y="4328159"/>
            <a:ext cx="1970532" cy="2575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123694" y="4394200"/>
            <a:ext cx="1800225" cy="85725"/>
          </a:xfrm>
          <a:custGeom>
            <a:avLst/>
            <a:gdLst/>
            <a:ahLst/>
            <a:cxnLst/>
            <a:rect l="l" t="t" r="r" b="b"/>
            <a:pathLst>
              <a:path w="1800225" h="85725">
                <a:moveTo>
                  <a:pt x="1714500" y="0"/>
                </a:moveTo>
                <a:lnTo>
                  <a:pt x="1714500" y="85725"/>
                </a:lnTo>
                <a:lnTo>
                  <a:pt x="1771734" y="57150"/>
                </a:lnTo>
                <a:lnTo>
                  <a:pt x="1728851" y="57150"/>
                </a:lnTo>
                <a:lnTo>
                  <a:pt x="1728851" y="28575"/>
                </a:lnTo>
                <a:lnTo>
                  <a:pt x="1771565" y="28575"/>
                </a:lnTo>
                <a:lnTo>
                  <a:pt x="1714500" y="0"/>
                </a:lnTo>
                <a:close/>
              </a:path>
              <a:path w="1800225" h="85725">
                <a:moveTo>
                  <a:pt x="1714500" y="28575"/>
                </a:moveTo>
                <a:lnTo>
                  <a:pt x="0" y="28575"/>
                </a:lnTo>
                <a:lnTo>
                  <a:pt x="0" y="57150"/>
                </a:lnTo>
                <a:lnTo>
                  <a:pt x="1714500" y="57150"/>
                </a:lnTo>
                <a:lnTo>
                  <a:pt x="1714500" y="28575"/>
                </a:lnTo>
                <a:close/>
              </a:path>
              <a:path w="1800225" h="85725">
                <a:moveTo>
                  <a:pt x="1771565" y="28575"/>
                </a:moveTo>
                <a:lnTo>
                  <a:pt x="1728851" y="28575"/>
                </a:lnTo>
                <a:lnTo>
                  <a:pt x="1728851" y="57150"/>
                </a:lnTo>
                <a:lnTo>
                  <a:pt x="1771734" y="57150"/>
                </a:lnTo>
                <a:lnTo>
                  <a:pt x="1800225" y="42925"/>
                </a:lnTo>
                <a:lnTo>
                  <a:pt x="1771565" y="2857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2051685" y="3903446"/>
            <a:ext cx="1800225" cy="462280"/>
          </a:xfrm>
          <a:prstGeom prst="rect">
            <a:avLst/>
          </a:prstGeom>
          <a:solidFill>
            <a:srgbClr val="DDDDDD"/>
          </a:solidFill>
          <a:ln w="9525">
            <a:solidFill>
              <a:srgbClr val="000000"/>
            </a:solidFill>
          </a:ln>
        </p:spPr>
        <p:txBody>
          <a:bodyPr wrap="square" lIns="0" tIns="37465" rIns="0" bIns="0" rtlCol="0" vert="horz">
            <a:spAutoFit/>
          </a:bodyPr>
          <a:lstStyle/>
          <a:p>
            <a:pPr marL="179070" marR="148590" indent="-24765">
              <a:lnSpc>
                <a:spcPct val="100000"/>
              </a:lnSpc>
              <a:spcBef>
                <a:spcPts val="295"/>
              </a:spcBef>
            </a:pPr>
            <a:r>
              <a:rPr dirty="0" sz="1200" spc="-5" b="1">
                <a:latin typeface="Arial"/>
                <a:cs typeface="Arial"/>
              </a:rPr>
              <a:t>Execução parada </a:t>
            </a:r>
            <a:r>
              <a:rPr dirty="0" sz="1200" b="1">
                <a:latin typeface="Arial"/>
                <a:cs typeface="Arial"/>
              </a:rPr>
              <a:t>no  primeiro</a:t>
            </a:r>
            <a:r>
              <a:rPr dirty="0" sz="1200" spc="-114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breakpoint</a:t>
            </a:r>
            <a:endParaRPr sz="1200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1105"/>
              </a:lnSpc>
            </a:pPr>
            <a:fld id="{81D60167-4931-47E6-BA6A-407CBD079E47}" type="slidenum">
              <a:rPr dirty="0" spc="-5"/>
              <a:t>10</a:t>
            </a:fld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18540" y="1118997"/>
            <a:ext cx="7702550" cy="15367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algn="just" marL="355600" marR="5080" indent="-342900">
              <a:lnSpc>
                <a:spcPct val="90000"/>
              </a:lnSpc>
              <a:buClr>
                <a:srgbClr val="852B34"/>
              </a:buClr>
              <a:buSzPct val="69642"/>
              <a:buChar char="•"/>
              <a:tabLst>
                <a:tab pos="355600" algn="l"/>
              </a:tabLst>
            </a:pPr>
            <a:r>
              <a:rPr dirty="0" sz="2800" spc="-5">
                <a:latin typeface="Arial"/>
                <a:cs typeface="Arial"/>
              </a:rPr>
              <a:t>O </a:t>
            </a:r>
            <a:r>
              <a:rPr dirty="0" sz="2800">
                <a:latin typeface="Arial"/>
                <a:cs typeface="Arial"/>
              </a:rPr>
              <a:t>controle </a:t>
            </a:r>
            <a:r>
              <a:rPr dirty="0" sz="2800" spc="-5">
                <a:latin typeface="Arial"/>
                <a:cs typeface="Arial"/>
              </a:rPr>
              <a:t>do fluxo de </a:t>
            </a:r>
            <a:r>
              <a:rPr dirty="0" sz="2800">
                <a:latin typeface="Arial"/>
                <a:cs typeface="Arial"/>
              </a:rPr>
              <a:t>execução pode ser  feito </a:t>
            </a:r>
            <a:r>
              <a:rPr dirty="0" sz="2800" spc="-5">
                <a:latin typeface="Arial"/>
                <a:cs typeface="Arial"/>
              </a:rPr>
              <a:t>através de alguns </a:t>
            </a:r>
            <a:r>
              <a:rPr dirty="0" sz="2800">
                <a:latin typeface="Arial"/>
                <a:cs typeface="Arial"/>
              </a:rPr>
              <a:t>comandos dispostos  </a:t>
            </a:r>
            <a:r>
              <a:rPr dirty="0" sz="2800" spc="-5">
                <a:latin typeface="Arial"/>
                <a:cs typeface="Arial"/>
              </a:rPr>
              <a:t>no menu </a:t>
            </a:r>
            <a:r>
              <a:rPr dirty="0" sz="2800" i="1">
                <a:latin typeface="Arial"/>
                <a:cs typeface="Arial"/>
              </a:rPr>
              <a:t>Debug</a:t>
            </a:r>
            <a:r>
              <a:rPr dirty="0" sz="2800">
                <a:latin typeface="Arial"/>
                <a:cs typeface="Arial"/>
              </a:rPr>
              <a:t>, destacado abaixo, que </a:t>
            </a:r>
            <a:r>
              <a:rPr dirty="0" sz="2800" spc="-5">
                <a:latin typeface="Arial"/>
                <a:cs typeface="Arial"/>
              </a:rPr>
              <a:t>é  </a:t>
            </a:r>
            <a:r>
              <a:rPr dirty="0" sz="2800">
                <a:latin typeface="Arial"/>
                <a:cs typeface="Arial"/>
              </a:rPr>
              <a:t>exibido </a:t>
            </a:r>
            <a:r>
              <a:rPr dirty="0" sz="2800" spc="-5">
                <a:latin typeface="Arial"/>
                <a:cs typeface="Arial"/>
              </a:rPr>
              <a:t>a </a:t>
            </a:r>
            <a:r>
              <a:rPr dirty="0" sz="2800">
                <a:latin typeface="Arial"/>
                <a:cs typeface="Arial"/>
              </a:rPr>
              <a:t>partir </a:t>
            </a:r>
            <a:r>
              <a:rPr dirty="0" sz="2800" spc="-5">
                <a:latin typeface="Arial"/>
                <a:cs typeface="Arial"/>
              </a:rPr>
              <a:t>do início do</a:t>
            </a:r>
            <a:r>
              <a:rPr dirty="0" sz="2800" spc="20">
                <a:latin typeface="Arial"/>
                <a:cs typeface="Arial"/>
              </a:rPr>
              <a:t> </a:t>
            </a:r>
            <a:r>
              <a:rPr dirty="0" sz="2800" i="1">
                <a:latin typeface="Arial"/>
                <a:cs typeface="Arial"/>
              </a:rPr>
              <a:t>debugging</a:t>
            </a:r>
            <a:r>
              <a:rPr dirty="0" sz="2800">
                <a:latin typeface="Arial"/>
                <a:cs typeface="Arial"/>
              </a:rPr>
              <a:t>.</a:t>
            </a:r>
            <a:endParaRPr sz="28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5"/>
              <a:t>Controle </a:t>
            </a:r>
            <a:r>
              <a:rPr dirty="0" spc="-10"/>
              <a:t>da</a:t>
            </a:r>
            <a:r>
              <a:rPr dirty="0"/>
              <a:t> </a:t>
            </a:r>
            <a:r>
              <a:rPr dirty="0" spc="-5"/>
              <a:t>execução</a:t>
            </a:r>
          </a:p>
        </p:txBody>
      </p:sp>
      <p:sp>
        <p:nvSpPr>
          <p:cNvPr id="4" name="object 4"/>
          <p:cNvSpPr/>
          <p:nvPr/>
        </p:nvSpPr>
        <p:spPr>
          <a:xfrm>
            <a:off x="6809231" y="2999232"/>
            <a:ext cx="1612392" cy="2575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6938264" y="3064891"/>
            <a:ext cx="1440180" cy="85725"/>
          </a:xfrm>
          <a:custGeom>
            <a:avLst/>
            <a:gdLst/>
            <a:ahLst/>
            <a:cxnLst/>
            <a:rect l="l" t="t" r="r" b="b"/>
            <a:pathLst>
              <a:path w="1440179" h="85725">
                <a:moveTo>
                  <a:pt x="85725" y="0"/>
                </a:moveTo>
                <a:lnTo>
                  <a:pt x="0" y="42925"/>
                </a:lnTo>
                <a:lnTo>
                  <a:pt x="85851" y="85725"/>
                </a:lnTo>
                <a:lnTo>
                  <a:pt x="85809" y="57150"/>
                </a:lnTo>
                <a:lnTo>
                  <a:pt x="71500" y="57150"/>
                </a:lnTo>
                <a:lnTo>
                  <a:pt x="71500" y="28575"/>
                </a:lnTo>
                <a:lnTo>
                  <a:pt x="85767" y="28552"/>
                </a:lnTo>
                <a:lnTo>
                  <a:pt x="85725" y="0"/>
                </a:lnTo>
                <a:close/>
              </a:path>
              <a:path w="1440179" h="85725">
                <a:moveTo>
                  <a:pt x="85767" y="28552"/>
                </a:moveTo>
                <a:lnTo>
                  <a:pt x="71500" y="28575"/>
                </a:lnTo>
                <a:lnTo>
                  <a:pt x="71500" y="57150"/>
                </a:lnTo>
                <a:lnTo>
                  <a:pt x="85809" y="57127"/>
                </a:lnTo>
                <a:lnTo>
                  <a:pt x="85767" y="28552"/>
                </a:lnTo>
                <a:close/>
              </a:path>
              <a:path w="1440179" h="85725">
                <a:moveTo>
                  <a:pt x="85809" y="57127"/>
                </a:moveTo>
                <a:lnTo>
                  <a:pt x="71500" y="57150"/>
                </a:lnTo>
                <a:lnTo>
                  <a:pt x="85809" y="57150"/>
                </a:lnTo>
                <a:close/>
              </a:path>
              <a:path w="1440179" h="85725">
                <a:moveTo>
                  <a:pt x="1440179" y="26416"/>
                </a:moveTo>
                <a:lnTo>
                  <a:pt x="85767" y="28552"/>
                </a:lnTo>
                <a:lnTo>
                  <a:pt x="85809" y="57127"/>
                </a:lnTo>
                <a:lnTo>
                  <a:pt x="1440179" y="54991"/>
                </a:lnTo>
                <a:lnTo>
                  <a:pt x="1440179" y="26416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6876288" y="2708986"/>
            <a:ext cx="1656714" cy="307975"/>
          </a:xfrm>
          <a:prstGeom prst="rect">
            <a:avLst/>
          </a:prstGeom>
          <a:solidFill>
            <a:srgbClr val="DDDDDD"/>
          </a:solidFill>
          <a:ln w="9525">
            <a:solidFill>
              <a:srgbClr val="000000"/>
            </a:solidFill>
          </a:ln>
        </p:spPr>
        <p:txBody>
          <a:bodyPr wrap="square" lIns="0" tIns="35560" rIns="0" bIns="0" rtlCol="0" vert="horz">
            <a:spAutoFit/>
          </a:bodyPr>
          <a:lstStyle/>
          <a:p>
            <a:pPr marL="157480">
              <a:lnSpc>
                <a:spcPct val="100000"/>
              </a:lnSpc>
              <a:spcBef>
                <a:spcPts val="280"/>
              </a:spcBef>
            </a:pPr>
            <a:r>
              <a:rPr dirty="0" sz="1400">
                <a:latin typeface="Arial"/>
                <a:cs typeface="Arial"/>
              </a:rPr>
              <a:t>Atalhos do</a:t>
            </a:r>
            <a:r>
              <a:rPr dirty="0" sz="1400" spc="-114">
                <a:latin typeface="Arial"/>
                <a:cs typeface="Arial"/>
              </a:rPr>
              <a:t> </a:t>
            </a:r>
            <a:r>
              <a:rPr dirty="0" sz="1400" spc="-5">
                <a:latin typeface="Arial"/>
                <a:cs typeface="Arial"/>
              </a:rPr>
              <a:t>menu</a:t>
            </a:r>
            <a:endParaRPr sz="14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835657" y="2780944"/>
            <a:ext cx="5010785" cy="39270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1105"/>
              </a:lnSpc>
            </a:pPr>
            <a:fld id="{81D60167-4931-47E6-BA6A-407CBD079E47}" type="slidenum">
              <a:rPr dirty="0" spc="-5"/>
              <a:t>10</a:t>
            </a:fld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93941" y="1220470"/>
            <a:ext cx="1924685" cy="4362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  <a:tabLst>
                <a:tab pos="645160" algn="l"/>
              </a:tabLst>
            </a:pPr>
            <a:r>
              <a:rPr dirty="0" sz="2800" spc="-5">
                <a:latin typeface="Arial"/>
                <a:cs typeface="Arial"/>
              </a:rPr>
              <a:t>a</a:t>
            </a:r>
            <a:r>
              <a:rPr dirty="0" sz="2800" spc="-5">
                <a:latin typeface="Arial"/>
                <a:cs typeface="Arial"/>
              </a:rPr>
              <a:t>	</a:t>
            </a:r>
            <a:r>
              <a:rPr dirty="0" sz="2800" spc="-5">
                <a:latin typeface="Arial"/>
                <a:cs typeface="Arial"/>
              </a:rPr>
              <a:t>p</a:t>
            </a:r>
            <a:r>
              <a:rPr dirty="0" sz="2800">
                <a:latin typeface="Arial"/>
                <a:cs typeface="Arial"/>
              </a:rPr>
              <a:t>r</a:t>
            </a:r>
            <a:r>
              <a:rPr dirty="0" sz="2800" spc="-5">
                <a:latin typeface="Arial"/>
                <a:cs typeface="Arial"/>
              </a:rPr>
              <a:t>ó</a:t>
            </a:r>
            <a:r>
              <a:rPr dirty="0" sz="2800">
                <a:latin typeface="Arial"/>
                <a:cs typeface="Arial"/>
              </a:rPr>
              <a:t>x</a:t>
            </a:r>
            <a:r>
              <a:rPr dirty="0" sz="2800" spc="-5">
                <a:latin typeface="Arial"/>
                <a:cs typeface="Arial"/>
              </a:rPr>
              <a:t>i</a:t>
            </a:r>
            <a:r>
              <a:rPr dirty="0" sz="2800" spc="0">
                <a:latin typeface="Arial"/>
                <a:cs typeface="Arial"/>
              </a:rPr>
              <a:t>m</a:t>
            </a:r>
            <a:r>
              <a:rPr dirty="0" sz="2800" spc="-5">
                <a:latin typeface="Arial"/>
                <a:cs typeface="Arial"/>
              </a:rPr>
              <a:t>a</a:t>
            </a:r>
            <a:endParaRPr sz="2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8540" y="1220470"/>
            <a:ext cx="5364480" cy="81089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506095">
              <a:lnSpc>
                <a:spcPts val="3190"/>
              </a:lnSpc>
              <a:tabLst>
                <a:tab pos="1711960" algn="l"/>
                <a:tab pos="3984625" algn="l"/>
              </a:tabLst>
            </a:pPr>
            <a:r>
              <a:rPr dirty="0" sz="2800" spc="-5" b="1" i="1">
                <a:latin typeface="Arial"/>
                <a:cs typeface="Arial"/>
              </a:rPr>
              <a:t>Next</a:t>
            </a:r>
            <a:r>
              <a:rPr dirty="0" sz="2800" spc="-5" b="1" i="1">
                <a:latin typeface="Arial"/>
                <a:cs typeface="Arial"/>
              </a:rPr>
              <a:t>	</a:t>
            </a:r>
            <a:r>
              <a:rPr dirty="0" sz="2800" spc="-5" b="1" i="1">
                <a:latin typeface="Arial"/>
                <a:cs typeface="Arial"/>
              </a:rPr>
              <a:t>ins</a:t>
            </a:r>
            <a:r>
              <a:rPr dirty="0" sz="2800" b="1" i="1">
                <a:latin typeface="Arial"/>
                <a:cs typeface="Arial"/>
              </a:rPr>
              <a:t>t</a:t>
            </a:r>
            <a:r>
              <a:rPr dirty="0" sz="2800" spc="-5" b="1" i="1">
                <a:latin typeface="Arial"/>
                <a:cs typeface="Arial"/>
              </a:rPr>
              <a:t>r</a:t>
            </a:r>
            <a:r>
              <a:rPr dirty="0" sz="2800" b="1" i="1">
                <a:latin typeface="Arial"/>
                <a:cs typeface="Arial"/>
              </a:rPr>
              <a:t>u</a:t>
            </a:r>
            <a:r>
              <a:rPr dirty="0" sz="2800" spc="-5" b="1" i="1">
                <a:latin typeface="Arial"/>
                <a:cs typeface="Arial"/>
              </a:rPr>
              <a:t>c</a:t>
            </a:r>
            <a:r>
              <a:rPr dirty="0" sz="2800" b="1" i="1">
                <a:latin typeface="Arial"/>
                <a:cs typeface="Arial"/>
              </a:rPr>
              <a:t>t</a:t>
            </a:r>
            <a:r>
              <a:rPr dirty="0" sz="2800" spc="-5" b="1" i="1">
                <a:latin typeface="Arial"/>
                <a:cs typeface="Arial"/>
              </a:rPr>
              <a:t>ion</a:t>
            </a:r>
            <a:r>
              <a:rPr dirty="0" sz="2800" b="1" i="1">
                <a:latin typeface="Arial"/>
                <a:cs typeface="Arial"/>
              </a:rPr>
              <a:t>	</a:t>
            </a:r>
            <a:r>
              <a:rPr dirty="0" sz="2800" spc="0" b="1">
                <a:latin typeface="Arial"/>
                <a:cs typeface="Arial"/>
              </a:rPr>
              <a:t>(</a:t>
            </a:r>
            <a:r>
              <a:rPr dirty="0" sz="2800" spc="-5" b="1">
                <a:latin typeface="Arial"/>
                <a:cs typeface="Arial"/>
              </a:rPr>
              <a:t>Al</a:t>
            </a:r>
            <a:r>
              <a:rPr dirty="0" sz="2800" spc="0" b="1">
                <a:latin typeface="Arial"/>
                <a:cs typeface="Arial"/>
              </a:rPr>
              <a:t>t</a:t>
            </a:r>
            <a:r>
              <a:rPr dirty="0" sz="2800" b="1">
                <a:latin typeface="Arial"/>
                <a:cs typeface="Arial"/>
              </a:rPr>
              <a:t>-</a:t>
            </a:r>
            <a:r>
              <a:rPr dirty="0" sz="2800" spc="-10" b="1">
                <a:latin typeface="Arial"/>
                <a:cs typeface="Arial"/>
              </a:rPr>
              <a:t>F</a:t>
            </a:r>
            <a:r>
              <a:rPr dirty="0" sz="2800" spc="5" b="1">
                <a:latin typeface="Arial"/>
                <a:cs typeface="Arial"/>
              </a:rPr>
              <a:t>7</a:t>
            </a:r>
            <a:r>
              <a:rPr dirty="0" sz="2800" b="1">
                <a:latin typeface="Arial"/>
                <a:cs typeface="Arial"/>
              </a:rPr>
              <a:t>)</a:t>
            </a:r>
            <a:r>
              <a:rPr dirty="0" sz="2800" spc="-5" b="1">
                <a:latin typeface="Arial"/>
                <a:cs typeface="Arial"/>
              </a:rPr>
              <a:t>:</a:t>
            </a:r>
            <a:endParaRPr sz="2800">
              <a:latin typeface="Arial"/>
              <a:cs typeface="Arial"/>
            </a:endParaRPr>
          </a:p>
          <a:p>
            <a:pPr marL="12700">
              <a:lnSpc>
                <a:spcPts val="3190"/>
              </a:lnSpc>
            </a:pPr>
            <a:r>
              <a:rPr dirty="0" sz="2800">
                <a:latin typeface="Arial"/>
                <a:cs typeface="Arial"/>
              </a:rPr>
              <a:t>instrução </a:t>
            </a:r>
            <a:r>
              <a:rPr dirty="0" sz="2800" spc="-5">
                <a:latin typeface="Arial"/>
                <a:cs typeface="Arial"/>
              </a:rPr>
              <a:t>é</a:t>
            </a:r>
            <a:r>
              <a:rPr dirty="0" sz="2800" spc="-65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executada.</a:t>
            </a:r>
            <a:endParaRPr sz="2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8540" y="2592451"/>
            <a:ext cx="7701915" cy="209423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080" indent="493395">
              <a:lnSpc>
                <a:spcPts val="3020"/>
              </a:lnSpc>
            </a:pPr>
            <a:r>
              <a:rPr dirty="0" sz="2800" spc="-5" b="1" i="1">
                <a:latin typeface="Arial"/>
                <a:cs typeface="Arial"/>
              </a:rPr>
              <a:t>Next line </a:t>
            </a:r>
            <a:r>
              <a:rPr dirty="0" sz="2800" b="1">
                <a:latin typeface="Arial"/>
                <a:cs typeface="Arial"/>
              </a:rPr>
              <a:t>(F7): </a:t>
            </a:r>
            <a:r>
              <a:rPr dirty="0" sz="2800" spc="-5">
                <a:latin typeface="Arial"/>
                <a:cs typeface="Arial"/>
              </a:rPr>
              <a:t>a </a:t>
            </a:r>
            <a:r>
              <a:rPr dirty="0" sz="2800">
                <a:latin typeface="Arial"/>
                <a:cs typeface="Arial"/>
              </a:rPr>
              <a:t>execução </a:t>
            </a:r>
            <a:r>
              <a:rPr dirty="0" sz="2800" spc="-5">
                <a:latin typeface="Arial"/>
                <a:cs typeface="Arial"/>
              </a:rPr>
              <a:t>é </a:t>
            </a:r>
            <a:r>
              <a:rPr dirty="0" sz="2800">
                <a:latin typeface="Arial"/>
                <a:cs typeface="Arial"/>
              </a:rPr>
              <a:t>desviada para  </a:t>
            </a:r>
            <a:r>
              <a:rPr dirty="0" sz="2800" spc="-5">
                <a:latin typeface="Arial"/>
                <a:cs typeface="Arial"/>
              </a:rPr>
              <a:t>a próxima</a:t>
            </a:r>
            <a:r>
              <a:rPr dirty="0" sz="2800" spc="-30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linha.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3800">
              <a:latin typeface="Times New Roman"/>
              <a:cs typeface="Times New Roman"/>
            </a:endParaRPr>
          </a:p>
          <a:p>
            <a:pPr marL="12700" marR="7620" indent="493395">
              <a:lnSpc>
                <a:spcPts val="3020"/>
              </a:lnSpc>
              <a:spcBef>
                <a:spcPts val="5"/>
              </a:spcBef>
            </a:pPr>
            <a:r>
              <a:rPr dirty="0" sz="2800" spc="-5" b="1" i="1">
                <a:latin typeface="Arial"/>
                <a:cs typeface="Arial"/>
              </a:rPr>
              <a:t>Run </a:t>
            </a:r>
            <a:r>
              <a:rPr dirty="0" sz="2800" spc="5" b="1" i="1">
                <a:latin typeface="Arial"/>
                <a:cs typeface="Arial"/>
              </a:rPr>
              <a:t>to </a:t>
            </a:r>
            <a:r>
              <a:rPr dirty="0" sz="2800" b="1" i="1">
                <a:latin typeface="Arial"/>
                <a:cs typeface="Arial"/>
              </a:rPr>
              <a:t>cursor </a:t>
            </a:r>
            <a:r>
              <a:rPr dirty="0" sz="2800" b="1">
                <a:latin typeface="Arial"/>
                <a:cs typeface="Arial"/>
              </a:rPr>
              <a:t>(F4): </a:t>
            </a:r>
            <a:r>
              <a:rPr dirty="0" sz="2800" spc="-5">
                <a:latin typeface="Arial"/>
                <a:cs typeface="Arial"/>
              </a:rPr>
              <a:t>a </a:t>
            </a:r>
            <a:r>
              <a:rPr dirty="0" sz="2800">
                <a:latin typeface="Arial"/>
                <a:cs typeface="Arial"/>
              </a:rPr>
              <a:t>execução </a:t>
            </a:r>
            <a:r>
              <a:rPr dirty="0" sz="2800" spc="-5">
                <a:latin typeface="Arial"/>
                <a:cs typeface="Arial"/>
              </a:rPr>
              <a:t>é desviada  </a:t>
            </a:r>
            <a:r>
              <a:rPr dirty="0" sz="2800">
                <a:latin typeface="Arial"/>
                <a:cs typeface="Arial"/>
              </a:rPr>
              <a:t>para </a:t>
            </a:r>
            <a:r>
              <a:rPr dirty="0" sz="2800" spc="-5">
                <a:latin typeface="Arial"/>
                <a:cs typeface="Arial"/>
              </a:rPr>
              <a:t>a linha na </a:t>
            </a:r>
            <a:r>
              <a:rPr dirty="0" sz="2800">
                <a:latin typeface="Arial"/>
                <a:cs typeface="Arial"/>
              </a:rPr>
              <a:t>qual se encontra </a:t>
            </a:r>
            <a:r>
              <a:rPr dirty="0" sz="2800" spc="-5">
                <a:latin typeface="Arial"/>
                <a:cs typeface="Arial"/>
              </a:rPr>
              <a:t>o</a:t>
            </a:r>
            <a:r>
              <a:rPr dirty="0" sz="2800" spc="30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cursor.</a:t>
            </a:r>
            <a:endParaRPr sz="2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12316" y="5189982"/>
            <a:ext cx="3728085" cy="4362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  <a:tabLst>
                <a:tab pos="2943860" algn="l"/>
              </a:tabLst>
            </a:pPr>
            <a:r>
              <a:rPr dirty="0" sz="2800" spc="-5" b="1" i="1">
                <a:latin typeface="Arial"/>
                <a:cs typeface="Arial"/>
              </a:rPr>
              <a:t>Sta</a:t>
            </a:r>
            <a:r>
              <a:rPr dirty="0" sz="2800" b="1" i="1">
                <a:latin typeface="Arial"/>
                <a:cs typeface="Arial"/>
              </a:rPr>
              <a:t>r</a:t>
            </a:r>
            <a:r>
              <a:rPr dirty="0" sz="2800" spc="-5" b="1" i="1">
                <a:latin typeface="Arial"/>
                <a:cs typeface="Arial"/>
              </a:rPr>
              <a:t>t/Cont</a:t>
            </a:r>
            <a:r>
              <a:rPr dirty="0" sz="2800" spc="5" b="1" i="1">
                <a:latin typeface="Arial"/>
                <a:cs typeface="Arial"/>
              </a:rPr>
              <a:t>i</a:t>
            </a:r>
            <a:r>
              <a:rPr dirty="0" sz="2800" spc="-5" b="1" i="1">
                <a:latin typeface="Arial"/>
                <a:cs typeface="Arial"/>
              </a:rPr>
              <a:t>n</a:t>
            </a:r>
            <a:r>
              <a:rPr dirty="0" sz="2800" spc="-15" b="1" i="1">
                <a:latin typeface="Arial"/>
                <a:cs typeface="Arial"/>
              </a:rPr>
              <a:t>u</a:t>
            </a:r>
            <a:r>
              <a:rPr dirty="0" sz="2800" spc="-5" b="1" i="1">
                <a:latin typeface="Arial"/>
                <a:cs typeface="Arial"/>
              </a:rPr>
              <a:t>e</a:t>
            </a:r>
            <a:r>
              <a:rPr dirty="0" sz="2800" b="1" i="1">
                <a:latin typeface="Arial"/>
                <a:cs typeface="Arial"/>
              </a:rPr>
              <a:t>	</a:t>
            </a:r>
            <a:r>
              <a:rPr dirty="0" sz="2800" b="1">
                <a:latin typeface="Arial"/>
                <a:cs typeface="Arial"/>
              </a:rPr>
              <a:t>(</a:t>
            </a:r>
            <a:r>
              <a:rPr dirty="0" sz="2800" spc="-10" b="1">
                <a:latin typeface="Arial"/>
                <a:cs typeface="Arial"/>
              </a:rPr>
              <a:t>F</a:t>
            </a:r>
            <a:r>
              <a:rPr dirty="0" sz="2800" b="1">
                <a:latin typeface="Arial"/>
                <a:cs typeface="Arial"/>
              </a:rPr>
              <a:t>8</a:t>
            </a:r>
            <a:r>
              <a:rPr dirty="0" sz="2800" b="1">
                <a:latin typeface="Arial"/>
                <a:cs typeface="Arial"/>
              </a:rPr>
              <a:t>)</a:t>
            </a:r>
            <a:r>
              <a:rPr dirty="0" sz="2800" spc="-5" b="1">
                <a:latin typeface="Arial"/>
                <a:cs typeface="Arial"/>
              </a:rPr>
              <a:t>:</a:t>
            </a:r>
            <a:endParaRPr sz="2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18540" y="5573979"/>
            <a:ext cx="5362575" cy="4362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  <a:tabLst>
                <a:tab pos="1918970" algn="l"/>
                <a:tab pos="2357120" algn="l"/>
                <a:tab pos="3803015" algn="l"/>
                <a:tab pos="5073015" algn="l"/>
              </a:tabLst>
            </a:pPr>
            <a:r>
              <a:rPr dirty="0" sz="2800" spc="-5" i="1">
                <a:latin typeface="Arial"/>
                <a:cs typeface="Arial"/>
              </a:rPr>
              <a:t>d</a:t>
            </a:r>
            <a:r>
              <a:rPr dirty="0" sz="2800" i="1">
                <a:latin typeface="Arial"/>
                <a:cs typeface="Arial"/>
              </a:rPr>
              <a:t>e</a:t>
            </a:r>
            <a:r>
              <a:rPr dirty="0" sz="2800" spc="-5" i="1">
                <a:latin typeface="Arial"/>
                <a:cs typeface="Arial"/>
              </a:rPr>
              <a:t>b</a:t>
            </a:r>
            <a:r>
              <a:rPr dirty="0" sz="2800" i="1">
                <a:latin typeface="Arial"/>
                <a:cs typeface="Arial"/>
              </a:rPr>
              <a:t>u</a:t>
            </a:r>
            <a:r>
              <a:rPr dirty="0" sz="2800" spc="-5" i="1">
                <a:latin typeface="Arial"/>
                <a:cs typeface="Arial"/>
              </a:rPr>
              <a:t>g</a:t>
            </a:r>
            <a:r>
              <a:rPr dirty="0" sz="2800" i="1">
                <a:latin typeface="Arial"/>
                <a:cs typeface="Arial"/>
              </a:rPr>
              <a:t>g</a:t>
            </a:r>
            <a:r>
              <a:rPr dirty="0" sz="2800" spc="0" i="1">
                <a:latin typeface="Arial"/>
                <a:cs typeface="Arial"/>
              </a:rPr>
              <a:t>i</a:t>
            </a:r>
            <a:r>
              <a:rPr dirty="0" sz="2800" spc="0" i="1">
                <a:latin typeface="Arial"/>
                <a:cs typeface="Arial"/>
              </a:rPr>
              <a:t>n</a:t>
            </a:r>
            <a:r>
              <a:rPr dirty="0" sz="2800" spc="-5" i="1">
                <a:latin typeface="Arial"/>
                <a:cs typeface="Arial"/>
              </a:rPr>
              <a:t>g</a:t>
            </a:r>
            <a:r>
              <a:rPr dirty="0" sz="2800" i="1">
                <a:latin typeface="Arial"/>
                <a:cs typeface="Arial"/>
              </a:rPr>
              <a:t>	</a:t>
            </a:r>
            <a:r>
              <a:rPr dirty="0" sz="2800" spc="-5">
                <a:latin typeface="Arial"/>
                <a:cs typeface="Arial"/>
              </a:rPr>
              <a:t>é</a:t>
            </a:r>
            <a:r>
              <a:rPr dirty="0" sz="2800">
                <a:latin typeface="Arial"/>
                <a:cs typeface="Arial"/>
              </a:rPr>
              <a:t>	</a:t>
            </a:r>
            <a:r>
              <a:rPr dirty="0" sz="2800" spc="-5">
                <a:latin typeface="Arial"/>
                <a:cs typeface="Arial"/>
              </a:rPr>
              <a:t>i</a:t>
            </a:r>
            <a:r>
              <a:rPr dirty="0" sz="2800">
                <a:latin typeface="Arial"/>
                <a:cs typeface="Arial"/>
              </a:rPr>
              <a:t>n</a:t>
            </a:r>
            <a:r>
              <a:rPr dirty="0" sz="2800" spc="-5">
                <a:latin typeface="Arial"/>
                <a:cs typeface="Arial"/>
              </a:rPr>
              <a:t>i</a:t>
            </a:r>
            <a:r>
              <a:rPr dirty="0" sz="2800">
                <a:latin typeface="Arial"/>
                <a:cs typeface="Arial"/>
              </a:rPr>
              <a:t>c</a:t>
            </a:r>
            <a:r>
              <a:rPr dirty="0" sz="2800" spc="-15">
                <a:latin typeface="Arial"/>
                <a:cs typeface="Arial"/>
              </a:rPr>
              <a:t>i</a:t>
            </a:r>
            <a:r>
              <a:rPr dirty="0" sz="2800" spc="-5">
                <a:latin typeface="Arial"/>
                <a:cs typeface="Arial"/>
              </a:rPr>
              <a:t>a</a:t>
            </a:r>
            <a:r>
              <a:rPr dirty="0" sz="2800">
                <a:latin typeface="Arial"/>
                <a:cs typeface="Arial"/>
              </a:rPr>
              <a:t>d</a:t>
            </a:r>
            <a:r>
              <a:rPr dirty="0" sz="2800" spc="-5">
                <a:latin typeface="Arial"/>
                <a:cs typeface="Arial"/>
              </a:rPr>
              <a:t>o</a:t>
            </a:r>
            <a:r>
              <a:rPr dirty="0" sz="2800">
                <a:latin typeface="Arial"/>
                <a:cs typeface="Arial"/>
              </a:rPr>
              <a:t>	</a:t>
            </a:r>
            <a:r>
              <a:rPr dirty="0" sz="2800">
                <a:latin typeface="Arial"/>
                <a:cs typeface="Arial"/>
              </a:rPr>
              <a:t>(</a:t>
            </a:r>
            <a:r>
              <a:rPr dirty="0" sz="2800" spc="-5" i="1">
                <a:latin typeface="Arial"/>
                <a:cs typeface="Arial"/>
              </a:rPr>
              <a:t>s</a:t>
            </a:r>
            <a:r>
              <a:rPr dirty="0" sz="2800" i="1">
                <a:latin typeface="Arial"/>
                <a:cs typeface="Arial"/>
              </a:rPr>
              <a:t>t</a:t>
            </a:r>
            <a:r>
              <a:rPr dirty="0" sz="2800" spc="-5" i="1">
                <a:latin typeface="Arial"/>
                <a:cs typeface="Arial"/>
              </a:rPr>
              <a:t>a</a:t>
            </a:r>
            <a:r>
              <a:rPr dirty="0" sz="2800" i="1">
                <a:latin typeface="Arial"/>
                <a:cs typeface="Arial"/>
              </a:rPr>
              <a:t>r</a:t>
            </a:r>
            <a:r>
              <a:rPr dirty="0" sz="2800" spc="0" i="1">
                <a:latin typeface="Arial"/>
                <a:cs typeface="Arial"/>
              </a:rPr>
              <a:t>t</a:t>
            </a:r>
            <a:r>
              <a:rPr dirty="0" sz="2800">
                <a:latin typeface="Arial"/>
                <a:cs typeface="Arial"/>
              </a:rPr>
              <a:t>)</a:t>
            </a:r>
            <a:r>
              <a:rPr dirty="0" sz="2800" spc="-5">
                <a:latin typeface="Arial"/>
                <a:cs typeface="Arial"/>
              </a:rPr>
              <a:t>.</a:t>
            </a:r>
            <a:r>
              <a:rPr dirty="0" sz="2800">
                <a:latin typeface="Arial"/>
                <a:cs typeface="Arial"/>
              </a:rPr>
              <a:t>	</a:t>
            </a:r>
            <a:r>
              <a:rPr dirty="0" sz="2800" spc="-5">
                <a:latin typeface="Arial"/>
                <a:cs typeface="Arial"/>
              </a:rPr>
              <a:t>O</a:t>
            </a:r>
            <a:endParaRPr sz="2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296661" y="5189982"/>
            <a:ext cx="3025140" cy="8197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3190"/>
              </a:lnSpc>
              <a:tabLst>
                <a:tab pos="690245" algn="l"/>
                <a:tab pos="2615565" algn="l"/>
              </a:tabLst>
            </a:pPr>
            <a:r>
              <a:rPr dirty="0" sz="2800" spc="-5">
                <a:latin typeface="Arial"/>
                <a:cs typeface="Arial"/>
              </a:rPr>
              <a:t>o</a:t>
            </a:r>
            <a:r>
              <a:rPr dirty="0" sz="2800" spc="-5">
                <a:latin typeface="Arial"/>
                <a:cs typeface="Arial"/>
              </a:rPr>
              <a:t>	</a:t>
            </a:r>
            <a:r>
              <a:rPr dirty="0" sz="2800" spc="-5">
                <a:latin typeface="Arial"/>
                <a:cs typeface="Arial"/>
              </a:rPr>
              <a:t>pro</a:t>
            </a:r>
            <a:r>
              <a:rPr dirty="0" sz="2800">
                <a:latin typeface="Arial"/>
                <a:cs typeface="Arial"/>
              </a:rPr>
              <a:t>c</a:t>
            </a:r>
            <a:r>
              <a:rPr dirty="0" sz="2800" spc="-5">
                <a:latin typeface="Arial"/>
                <a:cs typeface="Arial"/>
              </a:rPr>
              <a:t>e</a:t>
            </a:r>
            <a:r>
              <a:rPr dirty="0" sz="2800">
                <a:latin typeface="Arial"/>
                <a:cs typeface="Arial"/>
              </a:rPr>
              <a:t>s</a:t>
            </a:r>
            <a:r>
              <a:rPr dirty="0" sz="2800" spc="-5">
                <a:latin typeface="Arial"/>
                <a:cs typeface="Arial"/>
              </a:rPr>
              <a:t>so</a:t>
            </a:r>
            <a:r>
              <a:rPr dirty="0" sz="2800">
                <a:latin typeface="Arial"/>
                <a:cs typeface="Arial"/>
              </a:rPr>
              <a:t>	</a:t>
            </a:r>
            <a:r>
              <a:rPr dirty="0" sz="2800">
                <a:latin typeface="Arial"/>
                <a:cs typeface="Arial"/>
              </a:rPr>
              <a:t>de</a:t>
            </a:r>
            <a:endParaRPr sz="2800">
              <a:latin typeface="Arial"/>
              <a:cs typeface="Arial"/>
            </a:endParaRPr>
          </a:p>
          <a:p>
            <a:pPr marL="908685">
              <a:lnSpc>
                <a:spcPts val="3190"/>
              </a:lnSpc>
              <a:tabLst>
                <a:tab pos="2813685" algn="l"/>
              </a:tabLst>
            </a:pPr>
            <a:r>
              <a:rPr dirty="0" sz="2800" spc="-5" i="1">
                <a:latin typeface="Arial"/>
                <a:cs typeface="Arial"/>
              </a:rPr>
              <a:t>d</a:t>
            </a:r>
            <a:r>
              <a:rPr dirty="0" sz="2800" i="1">
                <a:latin typeface="Arial"/>
                <a:cs typeface="Arial"/>
              </a:rPr>
              <a:t>e</a:t>
            </a:r>
            <a:r>
              <a:rPr dirty="0" sz="2800" spc="-5" i="1">
                <a:latin typeface="Arial"/>
                <a:cs typeface="Arial"/>
              </a:rPr>
              <a:t>b</a:t>
            </a:r>
            <a:r>
              <a:rPr dirty="0" sz="2800" i="1">
                <a:latin typeface="Arial"/>
                <a:cs typeface="Arial"/>
              </a:rPr>
              <a:t>u</a:t>
            </a:r>
            <a:r>
              <a:rPr dirty="0" sz="2800" spc="-5" i="1">
                <a:latin typeface="Arial"/>
                <a:cs typeface="Arial"/>
              </a:rPr>
              <a:t>g</a:t>
            </a:r>
            <a:r>
              <a:rPr dirty="0" sz="2800" i="1">
                <a:latin typeface="Arial"/>
                <a:cs typeface="Arial"/>
              </a:rPr>
              <a:t>g</a:t>
            </a:r>
            <a:r>
              <a:rPr dirty="0" sz="2800" spc="-5" i="1">
                <a:latin typeface="Arial"/>
                <a:cs typeface="Arial"/>
              </a:rPr>
              <a:t>i</a:t>
            </a:r>
            <a:r>
              <a:rPr dirty="0" sz="2800" i="1">
                <a:latin typeface="Arial"/>
                <a:cs typeface="Arial"/>
              </a:rPr>
              <a:t>n</a:t>
            </a:r>
            <a:r>
              <a:rPr dirty="0" sz="2800" spc="-5" i="1">
                <a:latin typeface="Arial"/>
                <a:cs typeface="Arial"/>
              </a:rPr>
              <a:t>g</a:t>
            </a:r>
            <a:r>
              <a:rPr dirty="0" sz="2800" i="1">
                <a:latin typeface="Arial"/>
                <a:cs typeface="Arial"/>
              </a:rPr>
              <a:t>	</a:t>
            </a:r>
            <a:r>
              <a:rPr dirty="0" sz="2800" spc="-5">
                <a:latin typeface="Arial"/>
                <a:cs typeface="Arial"/>
              </a:rPr>
              <a:t>é</a:t>
            </a:r>
            <a:endParaRPr sz="2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18540" y="5958332"/>
            <a:ext cx="5890895" cy="4362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800">
                <a:latin typeface="Arial"/>
                <a:cs typeface="Arial"/>
              </a:rPr>
              <a:t>executado </a:t>
            </a:r>
            <a:r>
              <a:rPr dirty="0" sz="2800" spc="-5">
                <a:latin typeface="Arial"/>
                <a:cs typeface="Arial"/>
              </a:rPr>
              <a:t>passo-a-passo</a:t>
            </a:r>
            <a:r>
              <a:rPr dirty="0" sz="2800" spc="5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(</a:t>
            </a:r>
            <a:r>
              <a:rPr dirty="0" sz="2800" i="1">
                <a:latin typeface="Arial"/>
                <a:cs typeface="Arial"/>
              </a:rPr>
              <a:t>continue</a:t>
            </a:r>
            <a:r>
              <a:rPr dirty="0" sz="2800">
                <a:latin typeface="Arial"/>
                <a:cs typeface="Arial"/>
              </a:rPr>
              <a:t>).</a:t>
            </a:r>
            <a:endParaRPr sz="2800">
              <a:latin typeface="Arial"/>
              <a:cs typeface="Arial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5"/>
              <a:t>Controle da</a:t>
            </a:r>
            <a:r>
              <a:rPr dirty="0" spc="-25"/>
              <a:t> </a:t>
            </a:r>
            <a:r>
              <a:rPr dirty="0" spc="-5"/>
              <a:t>execução</a:t>
            </a:r>
          </a:p>
        </p:txBody>
      </p:sp>
      <p:sp>
        <p:nvSpPr>
          <p:cNvPr id="10" name="object 10"/>
          <p:cNvSpPr/>
          <p:nvPr/>
        </p:nvSpPr>
        <p:spPr>
          <a:xfrm>
            <a:off x="503085" y="1220977"/>
            <a:ext cx="504977" cy="43230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52399" y="2564892"/>
            <a:ext cx="519201" cy="43192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581964" y="3933101"/>
            <a:ext cx="347218" cy="31466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673023" y="5229199"/>
            <a:ext cx="298577" cy="33301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1105"/>
              </a:lnSpc>
            </a:pPr>
            <a:fld id="{81D60167-4931-47E6-BA6A-407CBD079E47}" type="slidenum">
              <a:rPr dirty="0" spc="-5"/>
              <a:t>10</a:t>
            </a:fld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18540" y="1319910"/>
            <a:ext cx="7703184" cy="4234815"/>
          </a:xfrm>
          <a:prstGeom prst="rect">
            <a:avLst/>
          </a:prstGeom>
        </p:spPr>
        <p:txBody>
          <a:bodyPr wrap="square" lIns="0" tIns="47625" rIns="0" bIns="0" rtlCol="0" vert="horz">
            <a:spAutoFit/>
          </a:bodyPr>
          <a:lstStyle/>
          <a:p>
            <a:pPr algn="just" marL="12700" marR="5715" indent="493395">
              <a:lnSpc>
                <a:spcPts val="3030"/>
              </a:lnSpc>
              <a:spcBef>
                <a:spcPts val="375"/>
              </a:spcBef>
            </a:pPr>
            <a:r>
              <a:rPr dirty="0" sz="2800" spc="-5" b="1" i="1">
                <a:latin typeface="Arial"/>
                <a:cs typeface="Arial"/>
              </a:rPr>
              <a:t>Step into </a:t>
            </a:r>
            <a:r>
              <a:rPr dirty="0" sz="2800" b="1">
                <a:latin typeface="Arial"/>
                <a:cs typeface="Arial"/>
              </a:rPr>
              <a:t>(Shitf-F7): </a:t>
            </a:r>
            <a:r>
              <a:rPr dirty="0" sz="2800">
                <a:latin typeface="Arial"/>
                <a:cs typeface="Arial"/>
              </a:rPr>
              <a:t>se </a:t>
            </a:r>
            <a:r>
              <a:rPr dirty="0" sz="2800" spc="-5">
                <a:latin typeface="Arial"/>
                <a:cs typeface="Arial"/>
              </a:rPr>
              <a:t>a instrução a </a:t>
            </a:r>
            <a:r>
              <a:rPr dirty="0" sz="2800">
                <a:latin typeface="Arial"/>
                <a:cs typeface="Arial"/>
              </a:rPr>
              <a:t>ser  executada </a:t>
            </a:r>
            <a:r>
              <a:rPr dirty="0" sz="2800" spc="-5">
                <a:latin typeface="Arial"/>
                <a:cs typeface="Arial"/>
              </a:rPr>
              <a:t>for uma </a:t>
            </a:r>
            <a:r>
              <a:rPr dirty="0" sz="2800">
                <a:latin typeface="Arial"/>
                <a:cs typeface="Arial"/>
              </a:rPr>
              <a:t>chamada de função, </a:t>
            </a:r>
            <a:r>
              <a:rPr dirty="0" sz="2800" spc="-5">
                <a:latin typeface="Arial"/>
                <a:cs typeface="Arial"/>
              </a:rPr>
              <a:t>a  execução é </a:t>
            </a:r>
            <a:r>
              <a:rPr dirty="0" sz="2800">
                <a:latin typeface="Arial"/>
                <a:cs typeface="Arial"/>
              </a:rPr>
              <a:t>desviada </a:t>
            </a:r>
            <a:r>
              <a:rPr dirty="0" sz="2800" spc="-5">
                <a:latin typeface="Arial"/>
                <a:cs typeface="Arial"/>
              </a:rPr>
              <a:t>para a</a:t>
            </a:r>
            <a:r>
              <a:rPr dirty="0" sz="2800" spc="20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função.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750">
              <a:latin typeface="Times New Roman"/>
              <a:cs typeface="Times New Roman"/>
            </a:endParaRPr>
          </a:p>
          <a:p>
            <a:pPr algn="just" marL="12700" marR="5715" indent="493395">
              <a:lnSpc>
                <a:spcPct val="90000"/>
              </a:lnSpc>
              <a:spcBef>
                <a:spcPts val="5"/>
              </a:spcBef>
            </a:pPr>
            <a:r>
              <a:rPr dirty="0" sz="2800" spc="-5" b="1" i="1">
                <a:latin typeface="Arial"/>
                <a:cs typeface="Arial"/>
              </a:rPr>
              <a:t>Step out </a:t>
            </a:r>
            <a:r>
              <a:rPr dirty="0" sz="2800" b="1">
                <a:latin typeface="Arial"/>
                <a:cs typeface="Arial"/>
              </a:rPr>
              <a:t>(Ctrl-F7): </a:t>
            </a:r>
            <a:r>
              <a:rPr dirty="0" sz="2800" spc="-5">
                <a:latin typeface="Arial"/>
                <a:cs typeface="Arial"/>
              </a:rPr>
              <a:t>a função em </a:t>
            </a:r>
            <a:r>
              <a:rPr dirty="0" sz="2800">
                <a:latin typeface="Arial"/>
                <a:cs typeface="Arial"/>
              </a:rPr>
              <a:t>execução </a:t>
            </a:r>
            <a:r>
              <a:rPr dirty="0" sz="2800" spc="-5">
                <a:latin typeface="Arial"/>
                <a:cs typeface="Arial"/>
              </a:rPr>
              <a:t>é  </a:t>
            </a:r>
            <a:r>
              <a:rPr dirty="0" sz="2800">
                <a:latin typeface="Arial"/>
                <a:cs typeface="Arial"/>
              </a:rPr>
              <a:t>interrompida. </a:t>
            </a:r>
            <a:r>
              <a:rPr dirty="0" sz="2800" spc="-5">
                <a:latin typeface="Arial"/>
                <a:cs typeface="Arial"/>
              </a:rPr>
              <a:t>O fluxo </a:t>
            </a:r>
            <a:r>
              <a:rPr dirty="0" sz="2800">
                <a:latin typeface="Arial"/>
                <a:cs typeface="Arial"/>
              </a:rPr>
              <a:t>retorna </a:t>
            </a:r>
            <a:r>
              <a:rPr dirty="0" sz="2800" spc="-5">
                <a:latin typeface="Arial"/>
                <a:cs typeface="Arial"/>
              </a:rPr>
              <a:t>para a </a:t>
            </a:r>
            <a:r>
              <a:rPr dirty="0" sz="2800">
                <a:latin typeface="Arial"/>
                <a:cs typeface="Arial"/>
              </a:rPr>
              <a:t>instrução  </a:t>
            </a:r>
            <a:r>
              <a:rPr dirty="0" sz="2800" spc="-5">
                <a:latin typeface="Arial"/>
                <a:cs typeface="Arial"/>
              </a:rPr>
              <a:t>seguinte à chamada da</a:t>
            </a:r>
            <a:r>
              <a:rPr dirty="0" sz="2800" spc="60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função.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500">
              <a:latin typeface="Times New Roman"/>
              <a:cs typeface="Times New Roman"/>
            </a:endParaRPr>
          </a:p>
          <a:p>
            <a:pPr marL="506095">
              <a:lnSpc>
                <a:spcPts val="3190"/>
              </a:lnSpc>
              <a:spcBef>
                <a:spcPts val="5"/>
              </a:spcBef>
              <a:tabLst>
                <a:tab pos="1489710" algn="l"/>
                <a:tab pos="3307715" algn="l"/>
                <a:tab pos="5182870" algn="l"/>
                <a:tab pos="5653405" algn="l"/>
                <a:tab pos="7293609" algn="l"/>
              </a:tabLst>
            </a:pPr>
            <a:r>
              <a:rPr dirty="0" sz="2800" spc="-5" b="1" i="1">
                <a:latin typeface="Arial"/>
                <a:cs typeface="Arial"/>
              </a:rPr>
              <a:t>Stop</a:t>
            </a:r>
            <a:r>
              <a:rPr dirty="0" sz="2800" spc="-5" b="1" i="1">
                <a:latin typeface="Arial"/>
                <a:cs typeface="Arial"/>
              </a:rPr>
              <a:t>	</a:t>
            </a:r>
            <a:r>
              <a:rPr dirty="0" sz="2800" spc="-5" b="1" i="1">
                <a:latin typeface="Arial"/>
                <a:cs typeface="Arial"/>
              </a:rPr>
              <a:t>d</a:t>
            </a:r>
            <a:r>
              <a:rPr dirty="0" sz="2800" b="1" i="1">
                <a:latin typeface="Arial"/>
                <a:cs typeface="Arial"/>
              </a:rPr>
              <a:t>e</a:t>
            </a:r>
            <a:r>
              <a:rPr dirty="0" sz="2800" spc="-5" b="1" i="1">
                <a:latin typeface="Arial"/>
                <a:cs typeface="Arial"/>
              </a:rPr>
              <a:t>bugg</a:t>
            </a:r>
            <a:r>
              <a:rPr dirty="0" sz="2800" spc="0" b="1" i="1">
                <a:latin typeface="Arial"/>
                <a:cs typeface="Arial"/>
              </a:rPr>
              <a:t>e</a:t>
            </a:r>
            <a:r>
              <a:rPr dirty="0" sz="2800" spc="-5" b="1" i="1">
                <a:latin typeface="Arial"/>
                <a:cs typeface="Arial"/>
              </a:rPr>
              <a:t>r</a:t>
            </a:r>
            <a:r>
              <a:rPr dirty="0" sz="2800" b="1" i="1">
                <a:latin typeface="Arial"/>
                <a:cs typeface="Arial"/>
              </a:rPr>
              <a:t>	</a:t>
            </a:r>
            <a:r>
              <a:rPr dirty="0" sz="2800" spc="-5" b="1">
                <a:latin typeface="Arial"/>
                <a:cs typeface="Arial"/>
              </a:rPr>
              <a:t>(Shif</a:t>
            </a:r>
            <a:r>
              <a:rPr dirty="0" sz="2800" b="1">
                <a:latin typeface="Arial"/>
                <a:cs typeface="Arial"/>
              </a:rPr>
              <a:t>t</a:t>
            </a:r>
            <a:r>
              <a:rPr dirty="0" sz="2800" spc="-5" b="1">
                <a:latin typeface="Arial"/>
                <a:cs typeface="Arial"/>
              </a:rPr>
              <a:t>-</a:t>
            </a:r>
            <a:r>
              <a:rPr dirty="0" sz="2800" spc="-15" b="1">
                <a:latin typeface="Arial"/>
                <a:cs typeface="Arial"/>
              </a:rPr>
              <a:t>F</a:t>
            </a:r>
            <a:r>
              <a:rPr dirty="0" sz="2800" spc="-5" b="1">
                <a:latin typeface="Arial"/>
                <a:cs typeface="Arial"/>
              </a:rPr>
              <a:t>8</a:t>
            </a:r>
            <a:r>
              <a:rPr dirty="0" sz="2800" spc="-5" b="1">
                <a:latin typeface="Arial"/>
                <a:cs typeface="Arial"/>
              </a:rPr>
              <a:t>):</a:t>
            </a:r>
            <a:r>
              <a:rPr dirty="0" sz="2800" b="1">
                <a:latin typeface="Arial"/>
                <a:cs typeface="Arial"/>
              </a:rPr>
              <a:t>	</a:t>
            </a:r>
            <a:r>
              <a:rPr dirty="0" sz="2800" spc="-5">
                <a:latin typeface="Arial"/>
                <a:cs typeface="Arial"/>
              </a:rPr>
              <a:t>O</a:t>
            </a:r>
            <a:r>
              <a:rPr dirty="0" sz="2800">
                <a:latin typeface="Arial"/>
                <a:cs typeface="Arial"/>
              </a:rPr>
              <a:t>	</a:t>
            </a:r>
            <a:r>
              <a:rPr dirty="0" sz="2800" spc="-5">
                <a:latin typeface="Arial"/>
                <a:cs typeface="Arial"/>
              </a:rPr>
              <a:t>processo</a:t>
            </a:r>
            <a:r>
              <a:rPr dirty="0" sz="2800">
                <a:latin typeface="Arial"/>
                <a:cs typeface="Arial"/>
              </a:rPr>
              <a:t>	</a:t>
            </a:r>
            <a:r>
              <a:rPr dirty="0" sz="2800" spc="-5">
                <a:latin typeface="Arial"/>
                <a:cs typeface="Arial"/>
              </a:rPr>
              <a:t>de</a:t>
            </a:r>
            <a:endParaRPr sz="2800">
              <a:latin typeface="Arial"/>
              <a:cs typeface="Arial"/>
            </a:endParaRPr>
          </a:p>
          <a:p>
            <a:pPr marL="12700">
              <a:lnSpc>
                <a:spcPts val="3190"/>
              </a:lnSpc>
            </a:pPr>
            <a:r>
              <a:rPr dirty="0" sz="2800" spc="-5" i="1">
                <a:latin typeface="Arial"/>
                <a:cs typeface="Arial"/>
              </a:rPr>
              <a:t>debugging </a:t>
            </a:r>
            <a:r>
              <a:rPr dirty="0" sz="2800" spc="-5">
                <a:latin typeface="Arial"/>
                <a:cs typeface="Arial"/>
              </a:rPr>
              <a:t>é </a:t>
            </a:r>
            <a:r>
              <a:rPr dirty="0" sz="2800">
                <a:latin typeface="Arial"/>
                <a:cs typeface="Arial"/>
              </a:rPr>
              <a:t>finalizado.</a:t>
            </a:r>
            <a:endParaRPr sz="28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5"/>
              <a:t>Controle da</a:t>
            </a:r>
            <a:r>
              <a:rPr dirty="0" spc="-25"/>
              <a:t> </a:t>
            </a:r>
            <a:r>
              <a:rPr dirty="0" spc="-5"/>
              <a:t>execução</a:t>
            </a:r>
          </a:p>
        </p:txBody>
      </p:sp>
      <p:sp>
        <p:nvSpPr>
          <p:cNvPr id="4" name="object 4"/>
          <p:cNvSpPr/>
          <p:nvPr/>
        </p:nvSpPr>
        <p:spPr>
          <a:xfrm>
            <a:off x="611555" y="1412722"/>
            <a:ext cx="409790" cy="37137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611555" y="3080423"/>
            <a:ext cx="420128" cy="36368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668108" y="4797209"/>
            <a:ext cx="353237" cy="38769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1105"/>
              </a:lnSpc>
            </a:pPr>
            <a:fld id="{81D60167-4931-47E6-BA6A-407CBD079E47}" type="slidenum">
              <a:rPr dirty="0" spc="-5"/>
              <a:t>10</a:t>
            </a:fld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18540" y="1118997"/>
            <a:ext cx="7703184" cy="11525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algn="just" marL="355600" marR="5080" indent="-342900">
              <a:lnSpc>
                <a:spcPct val="90000"/>
              </a:lnSpc>
              <a:buClr>
                <a:srgbClr val="852B34"/>
              </a:buClr>
              <a:buSzPct val="69642"/>
              <a:buChar char="•"/>
              <a:tabLst>
                <a:tab pos="355600" algn="l"/>
              </a:tabLst>
            </a:pPr>
            <a:r>
              <a:rPr dirty="0" sz="2800" spc="-5">
                <a:latin typeface="Arial"/>
                <a:cs typeface="Arial"/>
              </a:rPr>
              <a:t>A seguir, o algoritmo </a:t>
            </a:r>
            <a:r>
              <a:rPr dirty="0" sz="2800">
                <a:latin typeface="Arial"/>
                <a:cs typeface="Arial"/>
              </a:rPr>
              <a:t>descrito anteriormente  </a:t>
            </a:r>
            <a:r>
              <a:rPr dirty="0" sz="2800" spc="-5">
                <a:latin typeface="Arial"/>
                <a:cs typeface="Arial"/>
              </a:rPr>
              <a:t>será </a:t>
            </a:r>
            <a:r>
              <a:rPr dirty="0" sz="2800">
                <a:latin typeface="Arial"/>
                <a:cs typeface="Arial"/>
              </a:rPr>
              <a:t>executado </a:t>
            </a:r>
            <a:r>
              <a:rPr dirty="0" sz="2800" spc="-5">
                <a:latin typeface="Arial"/>
                <a:cs typeface="Arial"/>
              </a:rPr>
              <a:t>passo-a-passo por meio do  comando </a:t>
            </a:r>
            <a:r>
              <a:rPr dirty="0" sz="2800" spc="-5" i="1">
                <a:latin typeface="Arial"/>
                <a:cs typeface="Arial"/>
              </a:rPr>
              <a:t>Next line </a:t>
            </a:r>
            <a:r>
              <a:rPr dirty="0" sz="2800" spc="-5">
                <a:latin typeface="Arial"/>
                <a:cs typeface="Arial"/>
              </a:rPr>
              <a:t>(F7)     </a:t>
            </a:r>
            <a:r>
              <a:rPr dirty="0" sz="2800" spc="75">
                <a:latin typeface="Arial"/>
                <a:cs typeface="Arial"/>
              </a:rPr>
              <a:t> </a:t>
            </a:r>
            <a:r>
              <a:rPr dirty="0" sz="2800" spc="-5">
                <a:latin typeface="Arial"/>
                <a:cs typeface="Arial"/>
              </a:rPr>
              <a:t>.</a:t>
            </a:r>
            <a:endParaRPr sz="28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5"/>
              <a:t>Execu</a:t>
            </a:r>
            <a:r>
              <a:rPr dirty="0"/>
              <a:t>ç</a:t>
            </a:r>
            <a:r>
              <a:rPr dirty="0" spc="-5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1259636" y="2420924"/>
            <a:ext cx="6697345" cy="427659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700904" y="1844801"/>
            <a:ext cx="519201" cy="43192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1105"/>
              </a:lnSpc>
            </a:pPr>
            <a:fld id="{81D60167-4931-47E6-BA6A-407CBD079E47}" type="slidenum">
              <a:rPr dirty="0" spc="-5"/>
              <a:t>10</a:t>
            </a:fld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18540" y="1126109"/>
            <a:ext cx="7703184" cy="17240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algn="just" marL="355600" marR="6350" indent="-342900">
              <a:lnSpc>
                <a:spcPts val="2590"/>
              </a:lnSpc>
              <a:buClr>
                <a:srgbClr val="852B34"/>
              </a:buClr>
              <a:buSzPct val="68750"/>
              <a:buChar char="•"/>
              <a:tabLst>
                <a:tab pos="355600" algn="l"/>
              </a:tabLst>
            </a:pPr>
            <a:r>
              <a:rPr dirty="0" sz="2400" spc="-5">
                <a:latin typeface="Arial"/>
                <a:cs typeface="Arial"/>
              </a:rPr>
              <a:t>As linhas em destaque indicam as instruções </a:t>
            </a:r>
            <a:r>
              <a:rPr dirty="0" sz="2400" spc="-10">
                <a:latin typeface="Arial"/>
                <a:cs typeface="Arial"/>
              </a:rPr>
              <a:t>que  </a:t>
            </a:r>
            <a:r>
              <a:rPr dirty="0" sz="2400" spc="-5">
                <a:latin typeface="Arial"/>
                <a:cs typeface="Arial"/>
              </a:rPr>
              <a:t>serão executadas na</a:t>
            </a:r>
            <a:r>
              <a:rPr dirty="0" sz="2400" spc="30">
                <a:latin typeface="Arial"/>
                <a:cs typeface="Arial"/>
              </a:rPr>
              <a:t> </a:t>
            </a:r>
            <a:r>
              <a:rPr dirty="0" sz="2400" spc="-5">
                <a:latin typeface="Arial"/>
                <a:cs typeface="Arial"/>
              </a:rPr>
              <a:t>sequência.</a:t>
            </a:r>
            <a:endParaRPr sz="2400">
              <a:latin typeface="Arial"/>
              <a:cs typeface="Arial"/>
            </a:endParaRPr>
          </a:p>
          <a:p>
            <a:pPr algn="just" marL="355600" marR="5080" indent="-342900">
              <a:lnSpc>
                <a:spcPts val="2590"/>
              </a:lnSpc>
              <a:spcBef>
                <a:spcPts val="580"/>
              </a:spcBef>
              <a:buClr>
                <a:srgbClr val="852B34"/>
              </a:buClr>
              <a:buSzPct val="68750"/>
              <a:buChar char="•"/>
              <a:tabLst>
                <a:tab pos="355600" algn="l"/>
              </a:tabLst>
            </a:pPr>
            <a:r>
              <a:rPr dirty="0" sz="2400" spc="-5">
                <a:latin typeface="Arial"/>
                <a:cs typeface="Arial"/>
              </a:rPr>
              <a:t>Assim, em </a:t>
            </a:r>
            <a:r>
              <a:rPr dirty="0" sz="2400" spc="-5" i="1">
                <a:latin typeface="Arial"/>
                <a:cs typeface="Arial"/>
              </a:rPr>
              <a:t>Watches </a:t>
            </a:r>
            <a:r>
              <a:rPr dirty="0" sz="2400" spc="-5">
                <a:latin typeface="Arial"/>
                <a:cs typeface="Arial"/>
              </a:rPr>
              <a:t>e na tela de </a:t>
            </a:r>
            <a:r>
              <a:rPr dirty="0" sz="2400">
                <a:latin typeface="Arial"/>
                <a:cs typeface="Arial"/>
              </a:rPr>
              <a:t>impressão </a:t>
            </a:r>
            <a:r>
              <a:rPr dirty="0" sz="2400" spc="-10">
                <a:latin typeface="Arial"/>
                <a:cs typeface="Arial"/>
              </a:rPr>
              <a:t>os  </a:t>
            </a:r>
            <a:r>
              <a:rPr dirty="0" sz="2400" spc="-5">
                <a:latin typeface="Arial"/>
                <a:cs typeface="Arial"/>
              </a:rPr>
              <a:t>conteúdos </a:t>
            </a:r>
            <a:r>
              <a:rPr dirty="0" sz="2400">
                <a:latin typeface="Arial"/>
                <a:cs typeface="Arial"/>
              </a:rPr>
              <a:t>exibidos </a:t>
            </a:r>
            <a:r>
              <a:rPr dirty="0" sz="2400" spc="-5">
                <a:latin typeface="Arial"/>
                <a:cs typeface="Arial"/>
              </a:rPr>
              <a:t>se referem à última execução </a:t>
            </a:r>
            <a:r>
              <a:rPr dirty="0" sz="2400">
                <a:latin typeface="Arial"/>
                <a:cs typeface="Arial"/>
              </a:rPr>
              <a:t>do  </a:t>
            </a:r>
            <a:r>
              <a:rPr dirty="0" sz="2400" spc="-5">
                <a:latin typeface="Arial"/>
                <a:cs typeface="Arial"/>
              </a:rPr>
              <a:t>algoritmo realizada pelo</a:t>
            </a:r>
            <a:r>
              <a:rPr dirty="0" sz="2400" spc="60">
                <a:latin typeface="Arial"/>
                <a:cs typeface="Arial"/>
              </a:rPr>
              <a:t> </a:t>
            </a:r>
            <a:r>
              <a:rPr dirty="0" sz="2400" spc="-5" i="1">
                <a:latin typeface="Arial"/>
                <a:cs typeface="Arial"/>
              </a:rPr>
              <a:t>debugger</a:t>
            </a:r>
            <a:r>
              <a:rPr dirty="0" sz="2400" spc="-5">
                <a:latin typeface="Arial"/>
                <a:cs typeface="Arial"/>
              </a:rPr>
              <a:t>.</a:t>
            </a:r>
            <a:endParaRPr sz="24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5"/>
              <a:t>Execu</a:t>
            </a:r>
            <a:r>
              <a:rPr dirty="0"/>
              <a:t>ç</a:t>
            </a:r>
            <a:r>
              <a:rPr dirty="0" spc="-5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2104644" y="2996895"/>
            <a:ext cx="5372861" cy="367245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089148" y="4544567"/>
            <a:ext cx="1107948" cy="2575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131820" y="4610227"/>
            <a:ext cx="936625" cy="85725"/>
          </a:xfrm>
          <a:custGeom>
            <a:avLst/>
            <a:gdLst/>
            <a:ahLst/>
            <a:cxnLst/>
            <a:rect l="l" t="t" r="r" b="b"/>
            <a:pathLst>
              <a:path w="936625" h="85725">
                <a:moveTo>
                  <a:pt x="850392" y="0"/>
                </a:moveTo>
                <a:lnTo>
                  <a:pt x="850392" y="85725"/>
                </a:lnTo>
                <a:lnTo>
                  <a:pt x="907626" y="57150"/>
                </a:lnTo>
                <a:lnTo>
                  <a:pt x="864743" y="57150"/>
                </a:lnTo>
                <a:lnTo>
                  <a:pt x="864743" y="28575"/>
                </a:lnTo>
                <a:lnTo>
                  <a:pt x="907457" y="28575"/>
                </a:lnTo>
                <a:lnTo>
                  <a:pt x="850392" y="0"/>
                </a:lnTo>
                <a:close/>
              </a:path>
              <a:path w="936625" h="85725">
                <a:moveTo>
                  <a:pt x="850392" y="28575"/>
                </a:moveTo>
                <a:lnTo>
                  <a:pt x="0" y="28575"/>
                </a:lnTo>
                <a:lnTo>
                  <a:pt x="0" y="57150"/>
                </a:lnTo>
                <a:lnTo>
                  <a:pt x="850392" y="57150"/>
                </a:lnTo>
                <a:lnTo>
                  <a:pt x="850392" y="28575"/>
                </a:lnTo>
                <a:close/>
              </a:path>
              <a:path w="936625" h="85725">
                <a:moveTo>
                  <a:pt x="907457" y="28575"/>
                </a:moveTo>
                <a:lnTo>
                  <a:pt x="864743" y="28575"/>
                </a:lnTo>
                <a:lnTo>
                  <a:pt x="864743" y="57150"/>
                </a:lnTo>
                <a:lnTo>
                  <a:pt x="907626" y="57150"/>
                </a:lnTo>
                <a:lnTo>
                  <a:pt x="936117" y="42925"/>
                </a:lnTo>
                <a:lnTo>
                  <a:pt x="907457" y="2857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835657" y="4463567"/>
            <a:ext cx="1872614" cy="523240"/>
          </a:xfrm>
          <a:prstGeom prst="rect">
            <a:avLst/>
          </a:prstGeom>
          <a:solidFill>
            <a:srgbClr val="DDDDDD"/>
          </a:solidFill>
          <a:ln w="3175">
            <a:solidFill>
              <a:srgbClr val="000000"/>
            </a:solidFill>
          </a:ln>
        </p:spPr>
        <p:txBody>
          <a:bodyPr wrap="square" lIns="0" tIns="39370" rIns="0" bIns="0" rtlCol="0" vert="horz">
            <a:spAutoFit/>
          </a:bodyPr>
          <a:lstStyle/>
          <a:p>
            <a:pPr marL="266700" marR="260350" indent="83820">
              <a:lnSpc>
                <a:spcPct val="100000"/>
              </a:lnSpc>
              <a:spcBef>
                <a:spcPts val="310"/>
              </a:spcBef>
            </a:pPr>
            <a:r>
              <a:rPr dirty="0" sz="1400" b="1">
                <a:latin typeface="Arial"/>
                <a:cs typeface="Arial"/>
              </a:rPr>
              <a:t>Próxima </a:t>
            </a:r>
            <a:r>
              <a:rPr dirty="0" sz="1400" spc="-5" b="1">
                <a:latin typeface="Arial"/>
                <a:cs typeface="Arial"/>
              </a:rPr>
              <a:t>linha  </a:t>
            </a:r>
            <a:r>
              <a:rPr dirty="0" sz="1400" b="1">
                <a:latin typeface="Arial"/>
                <a:cs typeface="Arial"/>
              </a:rPr>
              <a:t>a ser</a:t>
            </a:r>
            <a:r>
              <a:rPr dirty="0" sz="1400" spc="-75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executada</a:t>
            </a:r>
            <a:endParaRPr sz="14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020311" y="4556759"/>
            <a:ext cx="3505199" cy="23926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067936" y="4581144"/>
            <a:ext cx="3409950" cy="144145"/>
          </a:xfrm>
          <a:custGeom>
            <a:avLst/>
            <a:gdLst/>
            <a:ahLst/>
            <a:cxnLst/>
            <a:rect l="l" t="t" r="r" b="b"/>
            <a:pathLst>
              <a:path w="3409950" h="144145">
                <a:moveTo>
                  <a:pt x="0" y="144017"/>
                </a:moveTo>
                <a:lnTo>
                  <a:pt x="3409568" y="144017"/>
                </a:lnTo>
                <a:lnTo>
                  <a:pt x="3409568" y="0"/>
                </a:lnTo>
                <a:lnTo>
                  <a:pt x="0" y="0"/>
                </a:lnTo>
                <a:lnTo>
                  <a:pt x="0" y="144017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1105"/>
              </a:lnSpc>
            </a:pPr>
            <a:fld id="{81D60167-4931-47E6-BA6A-407CBD079E47}" type="slidenum">
              <a:rPr dirty="0" spc="-5"/>
              <a:t>10</a:t>
            </a:fld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18540" y="1126109"/>
            <a:ext cx="7703184" cy="17240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algn="just" marL="355600" marR="6350" indent="-342900">
              <a:lnSpc>
                <a:spcPts val="2590"/>
              </a:lnSpc>
              <a:buClr>
                <a:srgbClr val="852B34"/>
              </a:buClr>
              <a:buSzPct val="68750"/>
              <a:buChar char="•"/>
              <a:tabLst>
                <a:tab pos="355600" algn="l"/>
              </a:tabLst>
            </a:pPr>
            <a:r>
              <a:rPr dirty="0" sz="2400" spc="-5">
                <a:latin typeface="Arial"/>
                <a:cs typeface="Arial"/>
              </a:rPr>
              <a:t>As linhas em destaque indicam as instruções </a:t>
            </a:r>
            <a:r>
              <a:rPr dirty="0" sz="2400" spc="-10">
                <a:latin typeface="Arial"/>
                <a:cs typeface="Arial"/>
              </a:rPr>
              <a:t>que  </a:t>
            </a:r>
            <a:r>
              <a:rPr dirty="0" sz="2400" spc="-5">
                <a:latin typeface="Arial"/>
                <a:cs typeface="Arial"/>
              </a:rPr>
              <a:t>serão executadas na</a:t>
            </a:r>
            <a:r>
              <a:rPr dirty="0" sz="2400" spc="30">
                <a:latin typeface="Arial"/>
                <a:cs typeface="Arial"/>
              </a:rPr>
              <a:t> </a:t>
            </a:r>
            <a:r>
              <a:rPr dirty="0" sz="2400" spc="-5">
                <a:latin typeface="Arial"/>
                <a:cs typeface="Arial"/>
              </a:rPr>
              <a:t>sequência.</a:t>
            </a:r>
            <a:endParaRPr sz="2400">
              <a:latin typeface="Arial"/>
              <a:cs typeface="Arial"/>
            </a:endParaRPr>
          </a:p>
          <a:p>
            <a:pPr algn="just" marL="355600" marR="5080" indent="-342900">
              <a:lnSpc>
                <a:spcPts val="2590"/>
              </a:lnSpc>
              <a:spcBef>
                <a:spcPts val="580"/>
              </a:spcBef>
              <a:buClr>
                <a:srgbClr val="852B34"/>
              </a:buClr>
              <a:buSzPct val="68750"/>
              <a:buChar char="•"/>
              <a:tabLst>
                <a:tab pos="355600" algn="l"/>
              </a:tabLst>
            </a:pPr>
            <a:r>
              <a:rPr dirty="0" sz="2400" spc="-5">
                <a:latin typeface="Arial"/>
                <a:cs typeface="Arial"/>
              </a:rPr>
              <a:t>Assim, em </a:t>
            </a:r>
            <a:r>
              <a:rPr dirty="0" sz="2400" spc="-5" i="1">
                <a:latin typeface="Arial"/>
                <a:cs typeface="Arial"/>
              </a:rPr>
              <a:t>Watches </a:t>
            </a:r>
            <a:r>
              <a:rPr dirty="0" sz="2400" spc="-5">
                <a:latin typeface="Arial"/>
                <a:cs typeface="Arial"/>
              </a:rPr>
              <a:t>e na tela de </a:t>
            </a:r>
            <a:r>
              <a:rPr dirty="0" sz="2400">
                <a:latin typeface="Arial"/>
                <a:cs typeface="Arial"/>
              </a:rPr>
              <a:t>impressão </a:t>
            </a:r>
            <a:r>
              <a:rPr dirty="0" sz="2400" spc="-10">
                <a:latin typeface="Arial"/>
                <a:cs typeface="Arial"/>
              </a:rPr>
              <a:t>os  </a:t>
            </a:r>
            <a:r>
              <a:rPr dirty="0" sz="2400" spc="-5">
                <a:latin typeface="Arial"/>
                <a:cs typeface="Arial"/>
              </a:rPr>
              <a:t>conteúdos </a:t>
            </a:r>
            <a:r>
              <a:rPr dirty="0" sz="2400">
                <a:latin typeface="Arial"/>
                <a:cs typeface="Arial"/>
              </a:rPr>
              <a:t>exibidos </a:t>
            </a:r>
            <a:r>
              <a:rPr dirty="0" sz="2400" spc="-5">
                <a:latin typeface="Arial"/>
                <a:cs typeface="Arial"/>
              </a:rPr>
              <a:t>se referem à última execução </a:t>
            </a:r>
            <a:r>
              <a:rPr dirty="0" sz="2400">
                <a:latin typeface="Arial"/>
                <a:cs typeface="Arial"/>
              </a:rPr>
              <a:t>do  </a:t>
            </a:r>
            <a:r>
              <a:rPr dirty="0" sz="2400" spc="-5">
                <a:latin typeface="Arial"/>
                <a:cs typeface="Arial"/>
              </a:rPr>
              <a:t>algoritmo realizada pelo</a:t>
            </a:r>
            <a:r>
              <a:rPr dirty="0" sz="2400" spc="60">
                <a:latin typeface="Arial"/>
                <a:cs typeface="Arial"/>
              </a:rPr>
              <a:t> </a:t>
            </a:r>
            <a:r>
              <a:rPr dirty="0" sz="2400" spc="-5" i="1">
                <a:latin typeface="Arial"/>
                <a:cs typeface="Arial"/>
              </a:rPr>
              <a:t>debugger</a:t>
            </a:r>
            <a:r>
              <a:rPr dirty="0" sz="2400" spc="-5">
                <a:latin typeface="Arial"/>
                <a:cs typeface="Arial"/>
              </a:rPr>
              <a:t>.</a:t>
            </a:r>
            <a:endParaRPr sz="24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5"/>
              <a:t>Execu</a:t>
            </a:r>
            <a:r>
              <a:rPr dirty="0"/>
              <a:t>ç</a:t>
            </a:r>
            <a:r>
              <a:rPr dirty="0" spc="-5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2104644" y="2996895"/>
            <a:ext cx="5372861" cy="367245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859023" y="3977640"/>
            <a:ext cx="1385315" cy="62636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988564" y="4000880"/>
            <a:ext cx="1214120" cy="464820"/>
          </a:xfrm>
          <a:custGeom>
            <a:avLst/>
            <a:gdLst/>
            <a:ahLst/>
            <a:cxnLst/>
            <a:rect l="l" t="t" r="r" b="b"/>
            <a:pathLst>
              <a:path w="1214120" h="464820">
                <a:moveTo>
                  <a:pt x="65786" y="384175"/>
                </a:moveTo>
                <a:lnTo>
                  <a:pt x="0" y="453771"/>
                </a:lnTo>
                <a:lnTo>
                  <a:pt x="95123" y="464693"/>
                </a:lnTo>
                <a:lnTo>
                  <a:pt x="87117" y="442722"/>
                </a:lnTo>
                <a:lnTo>
                  <a:pt x="72009" y="442722"/>
                </a:lnTo>
                <a:lnTo>
                  <a:pt x="62230" y="415925"/>
                </a:lnTo>
                <a:lnTo>
                  <a:pt x="75581" y="411060"/>
                </a:lnTo>
                <a:lnTo>
                  <a:pt x="65786" y="384175"/>
                </a:lnTo>
                <a:close/>
              </a:path>
              <a:path w="1214120" h="464820">
                <a:moveTo>
                  <a:pt x="75581" y="411060"/>
                </a:moveTo>
                <a:lnTo>
                  <a:pt x="62230" y="415925"/>
                </a:lnTo>
                <a:lnTo>
                  <a:pt x="72009" y="442722"/>
                </a:lnTo>
                <a:lnTo>
                  <a:pt x="85347" y="437863"/>
                </a:lnTo>
                <a:lnTo>
                  <a:pt x="75581" y="411060"/>
                </a:lnTo>
                <a:close/>
              </a:path>
              <a:path w="1214120" h="464820">
                <a:moveTo>
                  <a:pt x="85347" y="437863"/>
                </a:moveTo>
                <a:lnTo>
                  <a:pt x="72009" y="442722"/>
                </a:lnTo>
                <a:lnTo>
                  <a:pt x="87117" y="442722"/>
                </a:lnTo>
                <a:lnTo>
                  <a:pt x="85347" y="437863"/>
                </a:lnTo>
                <a:close/>
              </a:path>
              <a:path w="1214120" h="464820">
                <a:moveTo>
                  <a:pt x="1203833" y="0"/>
                </a:moveTo>
                <a:lnTo>
                  <a:pt x="75581" y="411060"/>
                </a:lnTo>
                <a:lnTo>
                  <a:pt x="85347" y="437863"/>
                </a:lnTo>
                <a:lnTo>
                  <a:pt x="1213612" y="26924"/>
                </a:lnTo>
                <a:lnTo>
                  <a:pt x="1203833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4221734" y="3517100"/>
            <a:ext cx="1872614" cy="739140"/>
          </a:xfrm>
          <a:prstGeom prst="rect">
            <a:avLst/>
          </a:prstGeom>
          <a:solidFill>
            <a:srgbClr val="DDDDDD"/>
          </a:solidFill>
          <a:ln w="3175">
            <a:solidFill>
              <a:srgbClr val="000000"/>
            </a:solidFill>
          </a:ln>
        </p:spPr>
        <p:txBody>
          <a:bodyPr wrap="square" lIns="0" tIns="39370" rIns="0" bIns="0" rtlCol="0" vert="horz">
            <a:spAutoFit/>
          </a:bodyPr>
          <a:lstStyle/>
          <a:p>
            <a:pPr algn="just" marL="137795" marR="129539" indent="69850">
              <a:lnSpc>
                <a:spcPct val="100000"/>
              </a:lnSpc>
              <a:spcBef>
                <a:spcPts val="310"/>
              </a:spcBef>
            </a:pPr>
            <a:r>
              <a:rPr dirty="0" sz="1400" spc="-15" b="1">
                <a:latin typeface="Arial"/>
                <a:cs typeface="Arial"/>
              </a:rPr>
              <a:t>Vetor </a:t>
            </a:r>
            <a:r>
              <a:rPr dirty="0" sz="1400" spc="-5" b="1">
                <a:latin typeface="Arial"/>
                <a:cs typeface="Arial"/>
              </a:rPr>
              <a:t>inicializado  pela </a:t>
            </a:r>
            <a:r>
              <a:rPr dirty="0" sz="1400" b="1">
                <a:latin typeface="Arial"/>
                <a:cs typeface="Arial"/>
              </a:rPr>
              <a:t>última </a:t>
            </a:r>
            <a:r>
              <a:rPr dirty="0" sz="1400" spc="-5" b="1">
                <a:latin typeface="Arial"/>
                <a:cs typeface="Arial"/>
              </a:rPr>
              <a:t>linha  executada (linha</a:t>
            </a:r>
            <a:r>
              <a:rPr dirty="0" sz="1400" spc="-10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5)</a:t>
            </a:r>
            <a:endParaRPr sz="14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801111" y="4131564"/>
            <a:ext cx="242315" cy="6858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2843783" y="4166615"/>
            <a:ext cx="144780" cy="576580"/>
          </a:xfrm>
          <a:custGeom>
            <a:avLst/>
            <a:gdLst/>
            <a:ahLst/>
            <a:cxnLst/>
            <a:rect l="l" t="t" r="r" b="b"/>
            <a:pathLst>
              <a:path w="144780" h="576579">
                <a:moveTo>
                  <a:pt x="0" y="0"/>
                </a:moveTo>
                <a:lnTo>
                  <a:pt x="28188" y="938"/>
                </a:lnTo>
                <a:lnTo>
                  <a:pt x="51196" y="3508"/>
                </a:lnTo>
                <a:lnTo>
                  <a:pt x="66704" y="7340"/>
                </a:lnTo>
                <a:lnTo>
                  <a:pt x="72390" y="12064"/>
                </a:lnTo>
                <a:lnTo>
                  <a:pt x="72390" y="275970"/>
                </a:lnTo>
                <a:lnTo>
                  <a:pt x="78075" y="280642"/>
                </a:lnTo>
                <a:lnTo>
                  <a:pt x="93583" y="284479"/>
                </a:lnTo>
                <a:lnTo>
                  <a:pt x="116591" y="287079"/>
                </a:lnTo>
                <a:lnTo>
                  <a:pt x="144780" y="288035"/>
                </a:lnTo>
                <a:lnTo>
                  <a:pt x="116591" y="288974"/>
                </a:lnTo>
                <a:lnTo>
                  <a:pt x="93583" y="291544"/>
                </a:lnTo>
                <a:lnTo>
                  <a:pt x="78075" y="295376"/>
                </a:lnTo>
                <a:lnTo>
                  <a:pt x="72390" y="300100"/>
                </a:lnTo>
                <a:lnTo>
                  <a:pt x="72390" y="564006"/>
                </a:lnTo>
                <a:lnTo>
                  <a:pt x="66704" y="568678"/>
                </a:lnTo>
                <a:lnTo>
                  <a:pt x="51196" y="572515"/>
                </a:lnTo>
                <a:lnTo>
                  <a:pt x="28188" y="575115"/>
                </a:lnTo>
                <a:lnTo>
                  <a:pt x="0" y="576071"/>
                </a:lnTo>
              </a:path>
            </a:pathLst>
          </a:custGeom>
          <a:ln w="2540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020311" y="4556759"/>
            <a:ext cx="3505199" cy="23926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067936" y="4581144"/>
            <a:ext cx="3409950" cy="144145"/>
          </a:xfrm>
          <a:custGeom>
            <a:avLst/>
            <a:gdLst/>
            <a:ahLst/>
            <a:cxnLst/>
            <a:rect l="l" t="t" r="r" b="b"/>
            <a:pathLst>
              <a:path w="3409950" h="144145">
                <a:moveTo>
                  <a:pt x="0" y="144017"/>
                </a:moveTo>
                <a:lnTo>
                  <a:pt x="3409568" y="144017"/>
                </a:lnTo>
                <a:lnTo>
                  <a:pt x="3409568" y="0"/>
                </a:lnTo>
                <a:lnTo>
                  <a:pt x="0" y="0"/>
                </a:lnTo>
                <a:lnTo>
                  <a:pt x="0" y="144017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1105"/>
              </a:lnSpc>
            </a:pPr>
            <a:fld id="{81D60167-4931-47E6-BA6A-407CBD079E47}" type="slidenum">
              <a:rPr dirty="0" spc="-5"/>
              <a:t>10</a:t>
            </a:fld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17017" y="980719"/>
            <a:ext cx="8316468" cy="56815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5"/>
              <a:t>Execu</a:t>
            </a:r>
            <a:r>
              <a:rPr dirty="0"/>
              <a:t>ç</a:t>
            </a:r>
            <a:r>
              <a:rPr dirty="0" spc="-5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1420367" y="3197351"/>
            <a:ext cx="2200656" cy="2575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463802" y="3263138"/>
            <a:ext cx="2028189" cy="85725"/>
          </a:xfrm>
          <a:custGeom>
            <a:avLst/>
            <a:gdLst/>
            <a:ahLst/>
            <a:cxnLst/>
            <a:rect l="l" t="t" r="r" b="b"/>
            <a:pathLst>
              <a:path w="2028189" h="85725">
                <a:moveTo>
                  <a:pt x="1942338" y="0"/>
                </a:moveTo>
                <a:lnTo>
                  <a:pt x="1942338" y="85725"/>
                </a:lnTo>
                <a:lnTo>
                  <a:pt x="1999572" y="57150"/>
                </a:lnTo>
                <a:lnTo>
                  <a:pt x="1956689" y="57150"/>
                </a:lnTo>
                <a:lnTo>
                  <a:pt x="1956689" y="28575"/>
                </a:lnTo>
                <a:lnTo>
                  <a:pt x="1999403" y="28575"/>
                </a:lnTo>
                <a:lnTo>
                  <a:pt x="1942338" y="0"/>
                </a:lnTo>
                <a:close/>
              </a:path>
              <a:path w="2028189" h="85725">
                <a:moveTo>
                  <a:pt x="1942338" y="28575"/>
                </a:moveTo>
                <a:lnTo>
                  <a:pt x="0" y="28575"/>
                </a:lnTo>
                <a:lnTo>
                  <a:pt x="0" y="57150"/>
                </a:lnTo>
                <a:lnTo>
                  <a:pt x="1942338" y="57150"/>
                </a:lnTo>
                <a:lnTo>
                  <a:pt x="1942338" y="28575"/>
                </a:lnTo>
                <a:close/>
              </a:path>
              <a:path w="2028189" h="85725">
                <a:moveTo>
                  <a:pt x="1999403" y="28575"/>
                </a:moveTo>
                <a:lnTo>
                  <a:pt x="1956689" y="28575"/>
                </a:lnTo>
                <a:lnTo>
                  <a:pt x="1956689" y="57150"/>
                </a:lnTo>
                <a:lnTo>
                  <a:pt x="1999572" y="57150"/>
                </a:lnTo>
                <a:lnTo>
                  <a:pt x="2028063" y="42925"/>
                </a:lnTo>
                <a:lnTo>
                  <a:pt x="1999403" y="2857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533397" y="2905709"/>
            <a:ext cx="1889125" cy="307975"/>
          </a:xfrm>
          <a:prstGeom prst="rect">
            <a:avLst/>
          </a:prstGeom>
          <a:solidFill>
            <a:srgbClr val="DDDDDD"/>
          </a:solidFill>
          <a:ln w="3175">
            <a:solidFill>
              <a:srgbClr val="000000"/>
            </a:solidFill>
          </a:ln>
        </p:spPr>
        <p:txBody>
          <a:bodyPr wrap="square" lIns="0" tIns="39369" rIns="0" bIns="0" rtlCol="0" vert="horz">
            <a:spAutoFit/>
          </a:bodyPr>
          <a:lstStyle/>
          <a:p>
            <a:pPr marL="154305">
              <a:lnSpc>
                <a:spcPct val="100000"/>
              </a:lnSpc>
              <a:spcBef>
                <a:spcPts val="309"/>
              </a:spcBef>
            </a:pPr>
            <a:r>
              <a:rPr dirty="0" sz="1400" b="1">
                <a:latin typeface="Arial"/>
                <a:cs typeface="Arial"/>
              </a:rPr>
              <a:t>Início </a:t>
            </a:r>
            <a:r>
              <a:rPr dirty="0" sz="1400" spc="-5" b="1">
                <a:latin typeface="Arial"/>
                <a:cs typeface="Arial"/>
              </a:rPr>
              <a:t>da</a:t>
            </a:r>
            <a:r>
              <a:rPr dirty="0" sz="1400" spc="-15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execução</a:t>
            </a:r>
            <a:endParaRPr sz="14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444240" y="3188207"/>
            <a:ext cx="5337048" cy="31089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491865" y="3212973"/>
            <a:ext cx="5241925" cy="216535"/>
          </a:xfrm>
          <a:custGeom>
            <a:avLst/>
            <a:gdLst/>
            <a:ahLst/>
            <a:cxnLst/>
            <a:rect l="l" t="t" r="r" b="b"/>
            <a:pathLst>
              <a:path w="5241925" h="216535">
                <a:moveTo>
                  <a:pt x="0" y="216026"/>
                </a:moveTo>
                <a:lnTo>
                  <a:pt x="5241544" y="216026"/>
                </a:lnTo>
                <a:lnTo>
                  <a:pt x="5241544" y="0"/>
                </a:lnTo>
                <a:lnTo>
                  <a:pt x="0" y="0"/>
                </a:lnTo>
                <a:lnTo>
                  <a:pt x="0" y="216026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1105"/>
              </a:lnSpc>
            </a:pPr>
            <a:fld id="{81D60167-4931-47E6-BA6A-407CBD079E47}" type="slidenum">
              <a:rPr dirty="0" spc="-5"/>
              <a:t>10</a:t>
            </a:fld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17017" y="980719"/>
            <a:ext cx="8316468" cy="56815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5"/>
              <a:t>Execu</a:t>
            </a:r>
            <a:r>
              <a:rPr dirty="0"/>
              <a:t>ç</a:t>
            </a:r>
            <a:r>
              <a:rPr dirty="0" spc="-5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5292090" y="4365104"/>
            <a:ext cx="1584325" cy="369570"/>
          </a:xfrm>
          <a:custGeom>
            <a:avLst/>
            <a:gdLst/>
            <a:ahLst/>
            <a:cxnLst/>
            <a:rect l="l" t="t" r="r" b="b"/>
            <a:pathLst>
              <a:path w="1584325" h="369570">
                <a:moveTo>
                  <a:pt x="0" y="369328"/>
                </a:moveTo>
                <a:lnTo>
                  <a:pt x="1584197" y="369328"/>
                </a:lnTo>
                <a:lnTo>
                  <a:pt x="1584197" y="0"/>
                </a:lnTo>
                <a:lnTo>
                  <a:pt x="0" y="0"/>
                </a:lnTo>
                <a:lnTo>
                  <a:pt x="0" y="369328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292090" y="4365104"/>
            <a:ext cx="1584325" cy="369570"/>
          </a:xfrm>
          <a:custGeom>
            <a:avLst/>
            <a:gdLst/>
            <a:ahLst/>
            <a:cxnLst/>
            <a:rect l="l" t="t" r="r" b="b"/>
            <a:pathLst>
              <a:path w="1584325" h="369570">
                <a:moveTo>
                  <a:pt x="0" y="369328"/>
                </a:moveTo>
                <a:lnTo>
                  <a:pt x="1584197" y="369328"/>
                </a:lnTo>
                <a:lnTo>
                  <a:pt x="1584197" y="0"/>
                </a:lnTo>
                <a:lnTo>
                  <a:pt x="0" y="0"/>
                </a:lnTo>
                <a:lnTo>
                  <a:pt x="0" y="369328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5411851" y="4405883"/>
            <a:ext cx="1345565" cy="2851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800" spc="-5" b="1">
                <a:latin typeface="Arial"/>
                <a:cs typeface="Arial"/>
              </a:rPr>
              <a:t>Breakpoints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803903" y="3473196"/>
            <a:ext cx="2327148" cy="96621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923919" y="3563492"/>
            <a:ext cx="2164715" cy="814069"/>
          </a:xfrm>
          <a:custGeom>
            <a:avLst/>
            <a:gdLst/>
            <a:ahLst/>
            <a:cxnLst/>
            <a:rect l="l" t="t" r="r" b="b"/>
            <a:pathLst>
              <a:path w="2164715" h="814070">
                <a:moveTo>
                  <a:pt x="75954" y="23811"/>
                </a:moveTo>
                <a:lnTo>
                  <a:pt x="67177" y="47682"/>
                </a:lnTo>
                <a:lnTo>
                  <a:pt x="2155825" y="813562"/>
                </a:lnTo>
                <a:lnTo>
                  <a:pt x="2164588" y="789686"/>
                </a:lnTo>
                <a:lnTo>
                  <a:pt x="75954" y="23811"/>
                </a:lnTo>
                <a:close/>
              </a:path>
              <a:path w="2164715" h="814070">
                <a:moveTo>
                  <a:pt x="84708" y="0"/>
                </a:moveTo>
                <a:lnTo>
                  <a:pt x="0" y="9525"/>
                </a:lnTo>
                <a:lnTo>
                  <a:pt x="58419" y="71501"/>
                </a:lnTo>
                <a:lnTo>
                  <a:pt x="67177" y="47682"/>
                </a:lnTo>
                <a:lnTo>
                  <a:pt x="55244" y="43307"/>
                </a:lnTo>
                <a:lnTo>
                  <a:pt x="64007" y="19431"/>
                </a:lnTo>
                <a:lnTo>
                  <a:pt x="77564" y="19431"/>
                </a:lnTo>
                <a:lnTo>
                  <a:pt x="84708" y="0"/>
                </a:lnTo>
                <a:close/>
              </a:path>
              <a:path w="2164715" h="814070">
                <a:moveTo>
                  <a:pt x="64007" y="19431"/>
                </a:moveTo>
                <a:lnTo>
                  <a:pt x="55244" y="43307"/>
                </a:lnTo>
                <a:lnTo>
                  <a:pt x="67177" y="47682"/>
                </a:lnTo>
                <a:lnTo>
                  <a:pt x="75954" y="23811"/>
                </a:lnTo>
                <a:lnTo>
                  <a:pt x="64007" y="19431"/>
                </a:lnTo>
                <a:close/>
              </a:path>
              <a:path w="2164715" h="814070">
                <a:moveTo>
                  <a:pt x="77564" y="19431"/>
                </a:moveTo>
                <a:lnTo>
                  <a:pt x="64007" y="19431"/>
                </a:lnTo>
                <a:lnTo>
                  <a:pt x="75954" y="23811"/>
                </a:lnTo>
                <a:lnTo>
                  <a:pt x="77564" y="19431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803903" y="3869435"/>
            <a:ext cx="1536191" cy="75438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923919" y="3963796"/>
            <a:ext cx="1373505" cy="598170"/>
          </a:xfrm>
          <a:custGeom>
            <a:avLst/>
            <a:gdLst/>
            <a:ahLst/>
            <a:cxnLst/>
            <a:rect l="l" t="t" r="r" b="b"/>
            <a:pathLst>
              <a:path w="1373504" h="598170">
                <a:moveTo>
                  <a:pt x="75126" y="23403"/>
                </a:moveTo>
                <a:lnTo>
                  <a:pt x="65184" y="46756"/>
                </a:lnTo>
                <a:lnTo>
                  <a:pt x="1363217" y="597661"/>
                </a:lnTo>
                <a:lnTo>
                  <a:pt x="1373123" y="574294"/>
                </a:lnTo>
                <a:lnTo>
                  <a:pt x="75126" y="23403"/>
                </a:lnTo>
                <a:close/>
              </a:path>
              <a:path w="1373504" h="598170">
                <a:moveTo>
                  <a:pt x="85089" y="0"/>
                </a:moveTo>
                <a:lnTo>
                  <a:pt x="0" y="5206"/>
                </a:lnTo>
                <a:lnTo>
                  <a:pt x="55244" y="70103"/>
                </a:lnTo>
                <a:lnTo>
                  <a:pt x="65184" y="46756"/>
                </a:lnTo>
                <a:lnTo>
                  <a:pt x="53466" y="41782"/>
                </a:lnTo>
                <a:lnTo>
                  <a:pt x="63372" y="18414"/>
                </a:lnTo>
                <a:lnTo>
                  <a:pt x="77250" y="18414"/>
                </a:lnTo>
                <a:lnTo>
                  <a:pt x="85089" y="0"/>
                </a:lnTo>
                <a:close/>
              </a:path>
              <a:path w="1373504" h="598170">
                <a:moveTo>
                  <a:pt x="63372" y="18414"/>
                </a:moveTo>
                <a:lnTo>
                  <a:pt x="53466" y="41782"/>
                </a:lnTo>
                <a:lnTo>
                  <a:pt x="65184" y="46756"/>
                </a:lnTo>
                <a:lnTo>
                  <a:pt x="75126" y="23403"/>
                </a:lnTo>
                <a:lnTo>
                  <a:pt x="63372" y="18414"/>
                </a:lnTo>
                <a:close/>
              </a:path>
              <a:path w="1373504" h="598170">
                <a:moveTo>
                  <a:pt x="77250" y="18414"/>
                </a:moveTo>
                <a:lnTo>
                  <a:pt x="63372" y="18414"/>
                </a:lnTo>
                <a:lnTo>
                  <a:pt x="75126" y="23403"/>
                </a:lnTo>
                <a:lnTo>
                  <a:pt x="77250" y="18414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803903" y="4123944"/>
            <a:ext cx="1461515" cy="50139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3923919" y="4205096"/>
            <a:ext cx="1299210" cy="357505"/>
          </a:xfrm>
          <a:custGeom>
            <a:avLst/>
            <a:gdLst/>
            <a:ahLst/>
            <a:cxnLst/>
            <a:rect l="l" t="t" r="r" b="b"/>
            <a:pathLst>
              <a:path w="1299210" h="357504">
                <a:moveTo>
                  <a:pt x="77018" y="24579"/>
                </a:moveTo>
                <a:lnTo>
                  <a:pt x="70843" y="49197"/>
                </a:lnTo>
                <a:lnTo>
                  <a:pt x="1293114" y="356996"/>
                </a:lnTo>
                <a:lnTo>
                  <a:pt x="1299209" y="332358"/>
                </a:lnTo>
                <a:lnTo>
                  <a:pt x="77018" y="24579"/>
                </a:lnTo>
                <a:close/>
              </a:path>
              <a:path w="1299210" h="357504">
                <a:moveTo>
                  <a:pt x="83184" y="0"/>
                </a:moveTo>
                <a:lnTo>
                  <a:pt x="0" y="18287"/>
                </a:lnTo>
                <a:lnTo>
                  <a:pt x="64642" y="73913"/>
                </a:lnTo>
                <a:lnTo>
                  <a:pt x="70843" y="49197"/>
                </a:lnTo>
                <a:lnTo>
                  <a:pt x="58546" y="46100"/>
                </a:lnTo>
                <a:lnTo>
                  <a:pt x="64642" y="21462"/>
                </a:lnTo>
                <a:lnTo>
                  <a:pt x="77800" y="21462"/>
                </a:lnTo>
                <a:lnTo>
                  <a:pt x="83184" y="0"/>
                </a:lnTo>
                <a:close/>
              </a:path>
              <a:path w="1299210" h="357504">
                <a:moveTo>
                  <a:pt x="64642" y="21462"/>
                </a:moveTo>
                <a:lnTo>
                  <a:pt x="58546" y="46100"/>
                </a:lnTo>
                <a:lnTo>
                  <a:pt x="70843" y="49197"/>
                </a:lnTo>
                <a:lnTo>
                  <a:pt x="77018" y="24579"/>
                </a:lnTo>
                <a:lnTo>
                  <a:pt x="64642" y="21462"/>
                </a:lnTo>
                <a:close/>
              </a:path>
              <a:path w="1299210" h="357504">
                <a:moveTo>
                  <a:pt x="77800" y="21462"/>
                </a:moveTo>
                <a:lnTo>
                  <a:pt x="64642" y="21462"/>
                </a:lnTo>
                <a:lnTo>
                  <a:pt x="77018" y="24579"/>
                </a:lnTo>
                <a:lnTo>
                  <a:pt x="77800" y="21462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3803903" y="4337303"/>
            <a:ext cx="1531620" cy="28803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3923919" y="4405376"/>
            <a:ext cx="1369695" cy="157480"/>
          </a:xfrm>
          <a:custGeom>
            <a:avLst/>
            <a:gdLst/>
            <a:ahLst/>
            <a:cxnLst/>
            <a:rect l="l" t="t" r="r" b="b"/>
            <a:pathLst>
              <a:path w="1369695" h="157479">
                <a:moveTo>
                  <a:pt x="77005" y="25295"/>
                </a:moveTo>
                <a:lnTo>
                  <a:pt x="74881" y="50698"/>
                </a:lnTo>
                <a:lnTo>
                  <a:pt x="1367154" y="157099"/>
                </a:lnTo>
                <a:lnTo>
                  <a:pt x="1369186" y="131699"/>
                </a:lnTo>
                <a:lnTo>
                  <a:pt x="77005" y="25295"/>
                </a:lnTo>
                <a:close/>
              </a:path>
              <a:path w="1369695" h="157479">
                <a:moveTo>
                  <a:pt x="79120" y="0"/>
                </a:moveTo>
                <a:lnTo>
                  <a:pt x="0" y="31750"/>
                </a:lnTo>
                <a:lnTo>
                  <a:pt x="72770" y="75946"/>
                </a:lnTo>
                <a:lnTo>
                  <a:pt x="74881" y="50698"/>
                </a:lnTo>
                <a:lnTo>
                  <a:pt x="62229" y="49656"/>
                </a:lnTo>
                <a:lnTo>
                  <a:pt x="64388" y="24256"/>
                </a:lnTo>
                <a:lnTo>
                  <a:pt x="77092" y="24256"/>
                </a:lnTo>
                <a:lnTo>
                  <a:pt x="79120" y="0"/>
                </a:lnTo>
                <a:close/>
              </a:path>
              <a:path w="1369695" h="157479">
                <a:moveTo>
                  <a:pt x="64388" y="24256"/>
                </a:moveTo>
                <a:lnTo>
                  <a:pt x="62229" y="49656"/>
                </a:lnTo>
                <a:lnTo>
                  <a:pt x="74881" y="50698"/>
                </a:lnTo>
                <a:lnTo>
                  <a:pt x="77005" y="25295"/>
                </a:lnTo>
                <a:lnTo>
                  <a:pt x="64388" y="24256"/>
                </a:lnTo>
                <a:close/>
              </a:path>
              <a:path w="1369695" h="157479">
                <a:moveTo>
                  <a:pt x="77092" y="24256"/>
                </a:moveTo>
                <a:lnTo>
                  <a:pt x="64388" y="24256"/>
                </a:lnTo>
                <a:lnTo>
                  <a:pt x="77005" y="25295"/>
                </a:lnTo>
                <a:lnTo>
                  <a:pt x="77092" y="24256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877055" y="4698491"/>
            <a:ext cx="2179320" cy="52578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3995928" y="4721859"/>
            <a:ext cx="2018664" cy="387985"/>
          </a:xfrm>
          <a:custGeom>
            <a:avLst/>
            <a:gdLst/>
            <a:ahLst/>
            <a:cxnLst/>
            <a:rect l="l" t="t" r="r" b="b"/>
            <a:pathLst>
              <a:path w="2018664" h="387985">
                <a:moveTo>
                  <a:pt x="68580" y="312673"/>
                </a:moveTo>
                <a:lnTo>
                  <a:pt x="0" y="363346"/>
                </a:lnTo>
                <a:lnTo>
                  <a:pt x="81661" y="387857"/>
                </a:lnTo>
                <a:lnTo>
                  <a:pt x="77683" y="364997"/>
                </a:lnTo>
                <a:lnTo>
                  <a:pt x="64770" y="364997"/>
                </a:lnTo>
                <a:lnTo>
                  <a:pt x="60325" y="339978"/>
                </a:lnTo>
                <a:lnTo>
                  <a:pt x="72948" y="337782"/>
                </a:lnTo>
                <a:lnTo>
                  <a:pt x="68580" y="312673"/>
                </a:lnTo>
                <a:close/>
              </a:path>
              <a:path w="2018664" h="387985">
                <a:moveTo>
                  <a:pt x="72948" y="337782"/>
                </a:moveTo>
                <a:lnTo>
                  <a:pt x="60325" y="339978"/>
                </a:lnTo>
                <a:lnTo>
                  <a:pt x="64770" y="364997"/>
                </a:lnTo>
                <a:lnTo>
                  <a:pt x="77304" y="362817"/>
                </a:lnTo>
                <a:lnTo>
                  <a:pt x="72948" y="337782"/>
                </a:lnTo>
                <a:close/>
              </a:path>
              <a:path w="2018664" h="387985">
                <a:moveTo>
                  <a:pt x="77304" y="362817"/>
                </a:moveTo>
                <a:lnTo>
                  <a:pt x="64770" y="364997"/>
                </a:lnTo>
                <a:lnTo>
                  <a:pt x="77683" y="364997"/>
                </a:lnTo>
                <a:lnTo>
                  <a:pt x="77304" y="362817"/>
                </a:lnTo>
                <a:close/>
              </a:path>
              <a:path w="2018664" h="387985">
                <a:moveTo>
                  <a:pt x="2014093" y="0"/>
                </a:moveTo>
                <a:lnTo>
                  <a:pt x="72948" y="337782"/>
                </a:lnTo>
                <a:lnTo>
                  <a:pt x="77304" y="362817"/>
                </a:lnTo>
                <a:lnTo>
                  <a:pt x="2018411" y="25145"/>
                </a:lnTo>
                <a:lnTo>
                  <a:pt x="2014093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3803903" y="3221735"/>
            <a:ext cx="2257044" cy="1217676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3923919" y="3321050"/>
            <a:ext cx="2094230" cy="1055370"/>
          </a:xfrm>
          <a:custGeom>
            <a:avLst/>
            <a:gdLst/>
            <a:ahLst/>
            <a:cxnLst/>
            <a:rect l="l" t="t" r="r" b="b"/>
            <a:pathLst>
              <a:path w="2094229" h="1055370">
                <a:moveTo>
                  <a:pt x="73863" y="22707"/>
                </a:moveTo>
                <a:lnTo>
                  <a:pt x="62509" y="45414"/>
                </a:lnTo>
                <a:lnTo>
                  <a:pt x="2082545" y="1055370"/>
                </a:lnTo>
                <a:lnTo>
                  <a:pt x="2093976" y="1032637"/>
                </a:lnTo>
                <a:lnTo>
                  <a:pt x="73863" y="22707"/>
                </a:lnTo>
                <a:close/>
              </a:path>
              <a:path w="2094229" h="1055370">
                <a:moveTo>
                  <a:pt x="85216" y="0"/>
                </a:moveTo>
                <a:lnTo>
                  <a:pt x="0" y="0"/>
                </a:lnTo>
                <a:lnTo>
                  <a:pt x="51180" y="68072"/>
                </a:lnTo>
                <a:lnTo>
                  <a:pt x="62509" y="45414"/>
                </a:lnTo>
                <a:lnTo>
                  <a:pt x="51180" y="39750"/>
                </a:lnTo>
                <a:lnTo>
                  <a:pt x="62483" y="17017"/>
                </a:lnTo>
                <a:lnTo>
                  <a:pt x="76707" y="17017"/>
                </a:lnTo>
                <a:lnTo>
                  <a:pt x="85216" y="0"/>
                </a:lnTo>
                <a:close/>
              </a:path>
              <a:path w="2094229" h="1055370">
                <a:moveTo>
                  <a:pt x="62483" y="17017"/>
                </a:moveTo>
                <a:lnTo>
                  <a:pt x="51180" y="39750"/>
                </a:lnTo>
                <a:lnTo>
                  <a:pt x="62509" y="45414"/>
                </a:lnTo>
                <a:lnTo>
                  <a:pt x="73863" y="22707"/>
                </a:lnTo>
                <a:lnTo>
                  <a:pt x="62483" y="17017"/>
                </a:lnTo>
                <a:close/>
              </a:path>
              <a:path w="2094229" h="1055370">
                <a:moveTo>
                  <a:pt x="76707" y="17017"/>
                </a:moveTo>
                <a:lnTo>
                  <a:pt x="62483" y="17017"/>
                </a:lnTo>
                <a:lnTo>
                  <a:pt x="73863" y="22707"/>
                </a:lnTo>
                <a:lnTo>
                  <a:pt x="76707" y="1701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3444240" y="3188207"/>
            <a:ext cx="5337048" cy="310896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3491865" y="3212973"/>
            <a:ext cx="5241925" cy="216535"/>
          </a:xfrm>
          <a:custGeom>
            <a:avLst/>
            <a:gdLst/>
            <a:ahLst/>
            <a:cxnLst/>
            <a:rect l="l" t="t" r="r" b="b"/>
            <a:pathLst>
              <a:path w="5241925" h="216535">
                <a:moveTo>
                  <a:pt x="0" y="216026"/>
                </a:moveTo>
                <a:lnTo>
                  <a:pt x="5241544" y="216026"/>
                </a:lnTo>
                <a:lnTo>
                  <a:pt x="5241544" y="0"/>
                </a:lnTo>
                <a:lnTo>
                  <a:pt x="0" y="0"/>
                </a:lnTo>
                <a:lnTo>
                  <a:pt x="0" y="216026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1105"/>
              </a:lnSpc>
            </a:pPr>
            <a:fld id="{81D60167-4931-47E6-BA6A-407CBD079E47}" type="slidenum">
              <a:rPr dirty="0" spc="-5"/>
              <a:t>10</a:t>
            </a:fld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17017" y="980719"/>
            <a:ext cx="8316468" cy="56815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5"/>
              <a:t>Execu</a:t>
            </a:r>
            <a:r>
              <a:rPr dirty="0"/>
              <a:t>ç</a:t>
            </a:r>
            <a:r>
              <a:rPr dirty="0" spc="-5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1562100" y="2237232"/>
            <a:ext cx="1615439" cy="54863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691639" y="2260600"/>
            <a:ext cx="1443990" cy="397510"/>
          </a:xfrm>
          <a:custGeom>
            <a:avLst/>
            <a:gdLst/>
            <a:ahLst/>
            <a:cxnLst/>
            <a:rect l="l" t="t" r="r" b="b"/>
            <a:pathLst>
              <a:path w="1443989" h="397510">
                <a:moveTo>
                  <a:pt x="72771" y="313816"/>
                </a:moveTo>
                <a:lnTo>
                  <a:pt x="0" y="376300"/>
                </a:lnTo>
                <a:lnTo>
                  <a:pt x="93599" y="397001"/>
                </a:lnTo>
                <a:lnTo>
                  <a:pt x="87525" y="372745"/>
                </a:lnTo>
                <a:lnTo>
                  <a:pt x="72771" y="372745"/>
                </a:lnTo>
                <a:lnTo>
                  <a:pt x="65786" y="345059"/>
                </a:lnTo>
                <a:lnTo>
                  <a:pt x="79715" y="341553"/>
                </a:lnTo>
                <a:lnTo>
                  <a:pt x="72771" y="313816"/>
                </a:lnTo>
                <a:close/>
              </a:path>
              <a:path w="1443989" h="397510">
                <a:moveTo>
                  <a:pt x="79715" y="341553"/>
                </a:moveTo>
                <a:lnTo>
                  <a:pt x="65786" y="345059"/>
                </a:lnTo>
                <a:lnTo>
                  <a:pt x="72771" y="372745"/>
                </a:lnTo>
                <a:lnTo>
                  <a:pt x="86650" y="369251"/>
                </a:lnTo>
                <a:lnTo>
                  <a:pt x="79715" y="341553"/>
                </a:lnTo>
                <a:close/>
              </a:path>
              <a:path w="1443989" h="397510">
                <a:moveTo>
                  <a:pt x="86650" y="369251"/>
                </a:moveTo>
                <a:lnTo>
                  <a:pt x="72771" y="372745"/>
                </a:lnTo>
                <a:lnTo>
                  <a:pt x="87525" y="372745"/>
                </a:lnTo>
                <a:lnTo>
                  <a:pt x="86650" y="369251"/>
                </a:lnTo>
                <a:close/>
              </a:path>
              <a:path w="1443989" h="397510">
                <a:moveTo>
                  <a:pt x="1436751" y="0"/>
                </a:moveTo>
                <a:lnTo>
                  <a:pt x="79715" y="341553"/>
                </a:lnTo>
                <a:lnTo>
                  <a:pt x="86650" y="369251"/>
                </a:lnTo>
                <a:lnTo>
                  <a:pt x="1443736" y="27686"/>
                </a:lnTo>
                <a:lnTo>
                  <a:pt x="1436751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3131820" y="2120468"/>
            <a:ext cx="4248785" cy="307975"/>
          </a:xfrm>
          <a:prstGeom prst="rect">
            <a:avLst/>
          </a:prstGeom>
          <a:solidFill>
            <a:srgbClr val="DDDDDD"/>
          </a:solidFill>
          <a:ln w="3175">
            <a:solidFill>
              <a:srgbClr val="000000"/>
            </a:solidFill>
          </a:ln>
        </p:spPr>
        <p:txBody>
          <a:bodyPr wrap="square" lIns="0" tIns="38735" rIns="0" bIns="0" rtlCol="0" vert="horz">
            <a:spAutoFit/>
          </a:bodyPr>
          <a:lstStyle/>
          <a:p>
            <a:pPr marL="298450">
              <a:lnSpc>
                <a:spcPct val="100000"/>
              </a:lnSpc>
              <a:spcBef>
                <a:spcPts val="305"/>
              </a:spcBef>
            </a:pPr>
            <a:r>
              <a:rPr dirty="0" sz="1400" spc="-10" b="1">
                <a:latin typeface="Arial"/>
                <a:cs typeface="Arial"/>
              </a:rPr>
              <a:t>Variáveis </a:t>
            </a:r>
            <a:r>
              <a:rPr dirty="0" sz="1400" b="1">
                <a:latin typeface="Arial"/>
                <a:cs typeface="Arial"/>
              </a:rPr>
              <a:t>e </a:t>
            </a:r>
            <a:r>
              <a:rPr dirty="0" sz="1400" spc="-5" b="1">
                <a:latin typeface="Arial"/>
                <a:cs typeface="Arial"/>
              </a:rPr>
              <a:t>vetor contendo </a:t>
            </a:r>
            <a:r>
              <a:rPr dirty="0" sz="1400" b="1">
                <a:latin typeface="Arial"/>
                <a:cs typeface="Arial"/>
              </a:rPr>
              <a:t>lixo </a:t>
            </a:r>
            <a:r>
              <a:rPr dirty="0" sz="1400" spc="-5" b="1">
                <a:latin typeface="Arial"/>
                <a:cs typeface="Arial"/>
              </a:rPr>
              <a:t>de</a:t>
            </a:r>
            <a:r>
              <a:rPr dirty="0" sz="1400" spc="-15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memória</a:t>
            </a:r>
            <a:endParaRPr sz="14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444240" y="3188207"/>
            <a:ext cx="5337048" cy="31089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491865" y="3212973"/>
            <a:ext cx="5241925" cy="216535"/>
          </a:xfrm>
          <a:custGeom>
            <a:avLst/>
            <a:gdLst/>
            <a:ahLst/>
            <a:cxnLst/>
            <a:rect l="l" t="t" r="r" b="b"/>
            <a:pathLst>
              <a:path w="5241925" h="216535">
                <a:moveTo>
                  <a:pt x="0" y="216026"/>
                </a:moveTo>
                <a:lnTo>
                  <a:pt x="5241544" y="216026"/>
                </a:lnTo>
                <a:lnTo>
                  <a:pt x="5241544" y="0"/>
                </a:lnTo>
                <a:lnTo>
                  <a:pt x="0" y="0"/>
                </a:lnTo>
                <a:lnTo>
                  <a:pt x="0" y="216026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1105"/>
              </a:lnSpc>
            </a:pPr>
            <a:fld id="{81D60167-4931-47E6-BA6A-407CBD079E47}" type="slidenum">
              <a:rPr dirty="0" spc="-5"/>
              <a:t>10</a:t>
            </a:fld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17017" y="980719"/>
            <a:ext cx="8312404" cy="56815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5"/>
              <a:t>Execu</a:t>
            </a:r>
            <a:r>
              <a:rPr dirty="0"/>
              <a:t>ç</a:t>
            </a:r>
            <a:r>
              <a:rPr dirty="0" spc="-5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1635251" y="2744723"/>
            <a:ext cx="1310639" cy="61722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764664" y="2767583"/>
            <a:ext cx="1139190" cy="455295"/>
          </a:xfrm>
          <a:custGeom>
            <a:avLst/>
            <a:gdLst/>
            <a:ahLst/>
            <a:cxnLst/>
            <a:rect l="l" t="t" r="r" b="b"/>
            <a:pathLst>
              <a:path w="1139189" h="455294">
                <a:moveTo>
                  <a:pt x="64897" y="374776"/>
                </a:moveTo>
                <a:lnTo>
                  <a:pt x="0" y="445388"/>
                </a:lnTo>
                <a:lnTo>
                  <a:pt x="95377" y="454913"/>
                </a:lnTo>
                <a:lnTo>
                  <a:pt x="87165" y="433324"/>
                </a:lnTo>
                <a:lnTo>
                  <a:pt x="71882" y="433324"/>
                </a:lnTo>
                <a:lnTo>
                  <a:pt x="61722" y="406653"/>
                </a:lnTo>
                <a:lnTo>
                  <a:pt x="75084" y="401560"/>
                </a:lnTo>
                <a:lnTo>
                  <a:pt x="64897" y="374776"/>
                </a:lnTo>
                <a:close/>
              </a:path>
              <a:path w="1139189" h="455294">
                <a:moveTo>
                  <a:pt x="75084" y="401560"/>
                </a:moveTo>
                <a:lnTo>
                  <a:pt x="61722" y="406653"/>
                </a:lnTo>
                <a:lnTo>
                  <a:pt x="71882" y="433324"/>
                </a:lnTo>
                <a:lnTo>
                  <a:pt x="85230" y="428236"/>
                </a:lnTo>
                <a:lnTo>
                  <a:pt x="75084" y="401560"/>
                </a:lnTo>
                <a:close/>
              </a:path>
              <a:path w="1139189" h="455294">
                <a:moveTo>
                  <a:pt x="85230" y="428236"/>
                </a:moveTo>
                <a:lnTo>
                  <a:pt x="71882" y="433324"/>
                </a:lnTo>
                <a:lnTo>
                  <a:pt x="87165" y="433324"/>
                </a:lnTo>
                <a:lnTo>
                  <a:pt x="85230" y="428236"/>
                </a:lnTo>
                <a:close/>
              </a:path>
              <a:path w="1139189" h="455294">
                <a:moveTo>
                  <a:pt x="1128522" y="0"/>
                </a:moveTo>
                <a:lnTo>
                  <a:pt x="75084" y="401560"/>
                </a:lnTo>
                <a:lnTo>
                  <a:pt x="85230" y="428236"/>
                </a:lnTo>
                <a:lnTo>
                  <a:pt x="1138809" y="26669"/>
                </a:lnTo>
                <a:lnTo>
                  <a:pt x="1128522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962276" y="2473147"/>
            <a:ext cx="1872614" cy="307975"/>
          </a:xfrm>
          <a:prstGeom prst="rect">
            <a:avLst/>
          </a:prstGeom>
          <a:solidFill>
            <a:srgbClr val="DDDDDD"/>
          </a:solidFill>
          <a:ln w="3175">
            <a:solidFill>
              <a:srgbClr val="000000"/>
            </a:solidFill>
          </a:ln>
        </p:spPr>
        <p:txBody>
          <a:bodyPr wrap="square" lIns="0" tIns="38735" rIns="0" bIns="0" rtlCol="0" vert="horz">
            <a:spAutoFit/>
          </a:bodyPr>
          <a:lstStyle/>
          <a:p>
            <a:pPr marL="207010">
              <a:lnSpc>
                <a:spcPct val="100000"/>
              </a:lnSpc>
              <a:spcBef>
                <a:spcPts val="305"/>
              </a:spcBef>
            </a:pPr>
            <a:r>
              <a:rPr dirty="0" sz="1400" spc="-15" b="1">
                <a:latin typeface="Arial"/>
                <a:cs typeface="Arial"/>
              </a:rPr>
              <a:t>Vetor</a:t>
            </a:r>
            <a:r>
              <a:rPr dirty="0" sz="1400" spc="-9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inicializado</a:t>
            </a:r>
            <a:endParaRPr sz="14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522475" y="2746248"/>
            <a:ext cx="243839" cy="101041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565655" y="2780919"/>
            <a:ext cx="144780" cy="900430"/>
          </a:xfrm>
          <a:custGeom>
            <a:avLst/>
            <a:gdLst/>
            <a:ahLst/>
            <a:cxnLst/>
            <a:rect l="l" t="t" r="r" b="b"/>
            <a:pathLst>
              <a:path w="144780" h="900429">
                <a:moveTo>
                  <a:pt x="0" y="0"/>
                </a:moveTo>
                <a:lnTo>
                  <a:pt x="28188" y="956"/>
                </a:lnTo>
                <a:lnTo>
                  <a:pt x="51196" y="3555"/>
                </a:lnTo>
                <a:lnTo>
                  <a:pt x="66704" y="7393"/>
                </a:lnTo>
                <a:lnTo>
                  <a:pt x="72389" y="12064"/>
                </a:lnTo>
                <a:lnTo>
                  <a:pt x="72389" y="438022"/>
                </a:lnTo>
                <a:lnTo>
                  <a:pt x="78075" y="442694"/>
                </a:lnTo>
                <a:lnTo>
                  <a:pt x="93583" y="446531"/>
                </a:lnTo>
                <a:lnTo>
                  <a:pt x="116591" y="449131"/>
                </a:lnTo>
                <a:lnTo>
                  <a:pt x="144780" y="450088"/>
                </a:lnTo>
                <a:lnTo>
                  <a:pt x="116591" y="451026"/>
                </a:lnTo>
                <a:lnTo>
                  <a:pt x="93583" y="453596"/>
                </a:lnTo>
                <a:lnTo>
                  <a:pt x="78075" y="457428"/>
                </a:lnTo>
                <a:lnTo>
                  <a:pt x="72389" y="462152"/>
                </a:lnTo>
                <a:lnTo>
                  <a:pt x="72389" y="888110"/>
                </a:lnTo>
                <a:lnTo>
                  <a:pt x="66704" y="892762"/>
                </a:lnTo>
                <a:lnTo>
                  <a:pt x="51196" y="896556"/>
                </a:lnTo>
                <a:lnTo>
                  <a:pt x="28188" y="899112"/>
                </a:lnTo>
                <a:lnTo>
                  <a:pt x="0" y="900048"/>
                </a:lnTo>
              </a:path>
            </a:pathLst>
          </a:custGeom>
          <a:ln w="2540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444240" y="3404615"/>
            <a:ext cx="5337048" cy="31089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491865" y="3429000"/>
            <a:ext cx="5241925" cy="216535"/>
          </a:xfrm>
          <a:custGeom>
            <a:avLst/>
            <a:gdLst/>
            <a:ahLst/>
            <a:cxnLst/>
            <a:rect l="l" t="t" r="r" b="b"/>
            <a:pathLst>
              <a:path w="5241925" h="216535">
                <a:moveTo>
                  <a:pt x="0" y="216026"/>
                </a:moveTo>
                <a:lnTo>
                  <a:pt x="5241544" y="216026"/>
                </a:lnTo>
                <a:lnTo>
                  <a:pt x="5241544" y="0"/>
                </a:lnTo>
                <a:lnTo>
                  <a:pt x="0" y="0"/>
                </a:lnTo>
                <a:lnTo>
                  <a:pt x="0" y="216026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1105"/>
              </a:lnSpc>
            </a:pPr>
            <a:fld id="{81D60167-4931-47E6-BA6A-407CBD079E47}" type="slidenum">
              <a:rPr dirty="0" spc="-5"/>
              <a:t>10</a:t>
            </a:fld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17017" y="984656"/>
            <a:ext cx="8323707" cy="567766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5"/>
              <a:t>Execu</a:t>
            </a:r>
            <a:r>
              <a:rPr dirty="0"/>
              <a:t>ç</a:t>
            </a:r>
            <a:r>
              <a:rPr dirty="0" spc="-5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1517903" y="2426207"/>
            <a:ext cx="585216" cy="2575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646427" y="2491485"/>
            <a:ext cx="414020" cy="85725"/>
          </a:xfrm>
          <a:custGeom>
            <a:avLst/>
            <a:gdLst/>
            <a:ahLst/>
            <a:cxnLst/>
            <a:rect l="l" t="t" r="r" b="b"/>
            <a:pathLst>
              <a:path w="414019" h="85725">
                <a:moveTo>
                  <a:pt x="85725" y="0"/>
                </a:moveTo>
                <a:lnTo>
                  <a:pt x="0" y="42925"/>
                </a:lnTo>
                <a:lnTo>
                  <a:pt x="85725" y="85725"/>
                </a:lnTo>
                <a:lnTo>
                  <a:pt x="85725" y="57150"/>
                </a:lnTo>
                <a:lnTo>
                  <a:pt x="71501" y="57150"/>
                </a:lnTo>
                <a:lnTo>
                  <a:pt x="71501" y="28575"/>
                </a:lnTo>
                <a:lnTo>
                  <a:pt x="85725" y="28575"/>
                </a:lnTo>
                <a:lnTo>
                  <a:pt x="85725" y="0"/>
                </a:lnTo>
                <a:close/>
              </a:path>
              <a:path w="414019" h="85725">
                <a:moveTo>
                  <a:pt x="85725" y="28575"/>
                </a:moveTo>
                <a:lnTo>
                  <a:pt x="71501" y="28575"/>
                </a:lnTo>
                <a:lnTo>
                  <a:pt x="71501" y="57150"/>
                </a:lnTo>
                <a:lnTo>
                  <a:pt x="85725" y="57150"/>
                </a:lnTo>
                <a:lnTo>
                  <a:pt x="85725" y="28575"/>
                </a:lnTo>
                <a:close/>
              </a:path>
              <a:path w="414019" h="85725">
                <a:moveTo>
                  <a:pt x="413766" y="28575"/>
                </a:moveTo>
                <a:lnTo>
                  <a:pt x="85725" y="28575"/>
                </a:lnTo>
                <a:lnTo>
                  <a:pt x="85725" y="57150"/>
                </a:lnTo>
                <a:lnTo>
                  <a:pt x="413766" y="57150"/>
                </a:lnTo>
                <a:lnTo>
                  <a:pt x="413766" y="2857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2190242" y="2380564"/>
            <a:ext cx="1872614" cy="307975"/>
          </a:xfrm>
          <a:prstGeom prst="rect">
            <a:avLst/>
          </a:prstGeom>
          <a:solidFill>
            <a:srgbClr val="DDDDDD"/>
          </a:solidFill>
          <a:ln w="3175">
            <a:solidFill>
              <a:srgbClr val="000000"/>
            </a:solidFill>
          </a:ln>
        </p:spPr>
        <p:txBody>
          <a:bodyPr wrap="square" lIns="0" tIns="38735" rIns="0" bIns="0" rtlCol="0" vert="horz">
            <a:spAutoFit/>
          </a:bodyPr>
          <a:lstStyle/>
          <a:p>
            <a:pPr marL="99060">
              <a:lnSpc>
                <a:spcPct val="100000"/>
              </a:lnSpc>
              <a:spcBef>
                <a:spcPts val="305"/>
              </a:spcBef>
            </a:pPr>
            <a:r>
              <a:rPr dirty="0" sz="1400" spc="-10" b="1">
                <a:latin typeface="Arial"/>
                <a:cs typeface="Arial"/>
              </a:rPr>
              <a:t>Variável</a:t>
            </a:r>
            <a:r>
              <a:rPr dirty="0" sz="1400" spc="-10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inicializada</a:t>
            </a:r>
            <a:endParaRPr sz="14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444240" y="3835908"/>
            <a:ext cx="5337048" cy="31089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491865" y="3861053"/>
            <a:ext cx="5241925" cy="216535"/>
          </a:xfrm>
          <a:custGeom>
            <a:avLst/>
            <a:gdLst/>
            <a:ahLst/>
            <a:cxnLst/>
            <a:rect l="l" t="t" r="r" b="b"/>
            <a:pathLst>
              <a:path w="5241925" h="216535">
                <a:moveTo>
                  <a:pt x="0" y="216027"/>
                </a:moveTo>
                <a:lnTo>
                  <a:pt x="5241544" y="216027"/>
                </a:lnTo>
                <a:lnTo>
                  <a:pt x="5241544" y="0"/>
                </a:lnTo>
                <a:lnTo>
                  <a:pt x="0" y="0"/>
                </a:lnTo>
                <a:lnTo>
                  <a:pt x="0" y="216027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1105"/>
              </a:lnSpc>
            </a:pPr>
            <a:fld id="{81D60167-4931-47E6-BA6A-407CBD079E47}" type="slidenum">
              <a:rPr dirty="0" spc="-5"/>
              <a:t>10</a:t>
            </a:fld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17017" y="984656"/>
            <a:ext cx="8323707" cy="567766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5"/>
              <a:t>Execu</a:t>
            </a:r>
            <a:r>
              <a:rPr dirty="0"/>
              <a:t>ç</a:t>
            </a:r>
            <a:r>
              <a:rPr dirty="0" spc="-5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1479803" y="3061716"/>
            <a:ext cx="768096" cy="73152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608836" y="3083686"/>
            <a:ext cx="596900" cy="561340"/>
          </a:xfrm>
          <a:custGeom>
            <a:avLst/>
            <a:gdLst/>
            <a:ahLst/>
            <a:cxnLst/>
            <a:rect l="l" t="t" r="r" b="b"/>
            <a:pathLst>
              <a:path w="596900" h="561339">
                <a:moveTo>
                  <a:pt x="33146" y="471424"/>
                </a:moveTo>
                <a:lnTo>
                  <a:pt x="0" y="561339"/>
                </a:lnTo>
                <a:lnTo>
                  <a:pt x="91820" y="533907"/>
                </a:lnTo>
                <a:lnTo>
                  <a:pt x="81445" y="522859"/>
                </a:lnTo>
                <a:lnTo>
                  <a:pt x="61849" y="522859"/>
                </a:lnTo>
                <a:lnTo>
                  <a:pt x="42290" y="502030"/>
                </a:lnTo>
                <a:lnTo>
                  <a:pt x="52706" y="492253"/>
                </a:lnTo>
                <a:lnTo>
                  <a:pt x="33146" y="471424"/>
                </a:lnTo>
                <a:close/>
              </a:path>
              <a:path w="596900" h="561339">
                <a:moveTo>
                  <a:pt x="52706" y="492253"/>
                </a:moveTo>
                <a:lnTo>
                  <a:pt x="42290" y="502030"/>
                </a:lnTo>
                <a:lnTo>
                  <a:pt x="61849" y="522859"/>
                </a:lnTo>
                <a:lnTo>
                  <a:pt x="72264" y="513081"/>
                </a:lnTo>
                <a:lnTo>
                  <a:pt x="52706" y="492253"/>
                </a:lnTo>
                <a:close/>
              </a:path>
              <a:path w="596900" h="561339">
                <a:moveTo>
                  <a:pt x="72264" y="513081"/>
                </a:moveTo>
                <a:lnTo>
                  <a:pt x="61849" y="522859"/>
                </a:lnTo>
                <a:lnTo>
                  <a:pt x="81445" y="522859"/>
                </a:lnTo>
                <a:lnTo>
                  <a:pt x="72264" y="513081"/>
                </a:lnTo>
                <a:close/>
              </a:path>
              <a:path w="596900" h="561339">
                <a:moveTo>
                  <a:pt x="577088" y="0"/>
                </a:moveTo>
                <a:lnTo>
                  <a:pt x="52706" y="492253"/>
                </a:lnTo>
                <a:lnTo>
                  <a:pt x="72264" y="513081"/>
                </a:lnTo>
                <a:lnTo>
                  <a:pt x="596645" y="20827"/>
                </a:lnTo>
                <a:lnTo>
                  <a:pt x="577088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479803" y="2749295"/>
            <a:ext cx="761999" cy="33375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608836" y="2837433"/>
            <a:ext cx="590550" cy="183515"/>
          </a:xfrm>
          <a:custGeom>
            <a:avLst/>
            <a:gdLst/>
            <a:ahLst/>
            <a:cxnLst/>
            <a:rect l="l" t="t" r="r" b="b"/>
            <a:pathLst>
              <a:path w="590550" h="183514">
                <a:moveTo>
                  <a:pt x="86583" y="27637"/>
                </a:moveTo>
                <a:lnTo>
                  <a:pt x="79551" y="55342"/>
                </a:lnTo>
                <a:lnTo>
                  <a:pt x="583438" y="183261"/>
                </a:lnTo>
                <a:lnTo>
                  <a:pt x="590422" y="155575"/>
                </a:lnTo>
                <a:lnTo>
                  <a:pt x="86583" y="27637"/>
                </a:lnTo>
                <a:close/>
              </a:path>
              <a:path w="590550" h="183514">
                <a:moveTo>
                  <a:pt x="93599" y="0"/>
                </a:moveTo>
                <a:lnTo>
                  <a:pt x="0" y="20446"/>
                </a:lnTo>
                <a:lnTo>
                  <a:pt x="72516" y="83057"/>
                </a:lnTo>
                <a:lnTo>
                  <a:pt x="79551" y="55342"/>
                </a:lnTo>
                <a:lnTo>
                  <a:pt x="65658" y="51815"/>
                </a:lnTo>
                <a:lnTo>
                  <a:pt x="72770" y="24129"/>
                </a:lnTo>
                <a:lnTo>
                  <a:pt x="87474" y="24129"/>
                </a:lnTo>
                <a:lnTo>
                  <a:pt x="93599" y="0"/>
                </a:lnTo>
                <a:close/>
              </a:path>
              <a:path w="590550" h="183514">
                <a:moveTo>
                  <a:pt x="72770" y="24129"/>
                </a:moveTo>
                <a:lnTo>
                  <a:pt x="65658" y="51815"/>
                </a:lnTo>
                <a:lnTo>
                  <a:pt x="79551" y="55342"/>
                </a:lnTo>
                <a:lnTo>
                  <a:pt x="86583" y="27637"/>
                </a:lnTo>
                <a:lnTo>
                  <a:pt x="72770" y="24129"/>
                </a:lnTo>
                <a:close/>
              </a:path>
              <a:path w="590550" h="183514">
                <a:moveTo>
                  <a:pt x="87474" y="24129"/>
                </a:moveTo>
                <a:lnTo>
                  <a:pt x="72770" y="24129"/>
                </a:lnTo>
                <a:lnTo>
                  <a:pt x="86583" y="27637"/>
                </a:lnTo>
                <a:lnTo>
                  <a:pt x="87474" y="2412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2195702" y="2724746"/>
            <a:ext cx="2088514" cy="739140"/>
          </a:xfrm>
          <a:prstGeom prst="rect">
            <a:avLst/>
          </a:prstGeom>
          <a:solidFill>
            <a:srgbClr val="DDDDDD"/>
          </a:solidFill>
          <a:ln w="3175">
            <a:solidFill>
              <a:srgbClr val="000000"/>
            </a:solidFill>
          </a:ln>
        </p:spPr>
        <p:txBody>
          <a:bodyPr wrap="square" lIns="0" tIns="39369" rIns="0" bIns="0" rtlCol="0" vert="horz">
            <a:spAutoFit/>
          </a:bodyPr>
          <a:lstStyle/>
          <a:p>
            <a:pPr algn="ctr" marL="161925" marR="153035">
              <a:lnSpc>
                <a:spcPct val="100000"/>
              </a:lnSpc>
              <a:spcBef>
                <a:spcPts val="309"/>
              </a:spcBef>
            </a:pPr>
            <a:r>
              <a:rPr dirty="0" sz="1400" b="1">
                <a:latin typeface="Arial"/>
                <a:cs typeface="Arial"/>
              </a:rPr>
              <a:t>Início </a:t>
            </a:r>
            <a:r>
              <a:rPr dirty="0" sz="1400" spc="-5" b="1">
                <a:latin typeface="Arial"/>
                <a:cs typeface="Arial"/>
              </a:rPr>
              <a:t>da inversão</a:t>
            </a:r>
            <a:r>
              <a:rPr dirty="0" sz="1400" spc="-14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do  </a:t>
            </a:r>
            <a:r>
              <a:rPr dirty="0" sz="1400" b="1">
                <a:latin typeface="Arial"/>
                <a:cs typeface="Arial"/>
              </a:rPr>
              <a:t>primeiro elemento  </a:t>
            </a:r>
            <a:r>
              <a:rPr dirty="0" sz="1400" spc="-5" b="1">
                <a:latin typeface="Arial"/>
                <a:cs typeface="Arial"/>
              </a:rPr>
              <a:t>com </a:t>
            </a:r>
            <a:r>
              <a:rPr dirty="0" sz="1400" b="1">
                <a:latin typeface="Arial"/>
                <a:cs typeface="Arial"/>
              </a:rPr>
              <a:t>o</a:t>
            </a:r>
            <a:r>
              <a:rPr dirty="0" sz="1400" spc="-10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último</a:t>
            </a:r>
            <a:endParaRPr sz="14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300984" y="4059935"/>
            <a:ext cx="5422392" cy="31089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347846" y="4083939"/>
            <a:ext cx="5328920" cy="216535"/>
          </a:xfrm>
          <a:custGeom>
            <a:avLst/>
            <a:gdLst/>
            <a:ahLst/>
            <a:cxnLst/>
            <a:rect l="l" t="t" r="r" b="b"/>
            <a:pathLst>
              <a:path w="5328920" h="216535">
                <a:moveTo>
                  <a:pt x="0" y="216026"/>
                </a:moveTo>
                <a:lnTo>
                  <a:pt x="5328539" y="216026"/>
                </a:lnTo>
                <a:lnTo>
                  <a:pt x="5328539" y="0"/>
                </a:lnTo>
                <a:lnTo>
                  <a:pt x="0" y="0"/>
                </a:lnTo>
                <a:lnTo>
                  <a:pt x="0" y="216026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1105"/>
              </a:lnSpc>
            </a:pPr>
            <a:fld id="{81D60167-4931-47E6-BA6A-407CBD079E47}" type="slidenum">
              <a:rPr dirty="0" spc="-5"/>
              <a:t>10</a:t>
            </a:fld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14134" y="992441"/>
            <a:ext cx="8310118" cy="569125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5"/>
              <a:t>Execu</a:t>
            </a:r>
            <a:r>
              <a:rPr dirty="0"/>
              <a:t>ç</a:t>
            </a:r>
            <a:r>
              <a:rPr dirty="0" spc="-5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1455419" y="3203448"/>
            <a:ext cx="1150620" cy="56387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583689" y="3225926"/>
            <a:ext cx="980440" cy="401955"/>
          </a:xfrm>
          <a:custGeom>
            <a:avLst/>
            <a:gdLst/>
            <a:ahLst/>
            <a:cxnLst/>
            <a:rect l="l" t="t" r="r" b="b"/>
            <a:pathLst>
              <a:path w="980439" h="401954">
                <a:moveTo>
                  <a:pt x="64389" y="321818"/>
                </a:moveTo>
                <a:lnTo>
                  <a:pt x="0" y="392811"/>
                </a:lnTo>
                <a:lnTo>
                  <a:pt x="95503" y="401700"/>
                </a:lnTo>
                <a:lnTo>
                  <a:pt x="87144" y="380238"/>
                </a:lnTo>
                <a:lnTo>
                  <a:pt x="71754" y="380238"/>
                </a:lnTo>
                <a:lnTo>
                  <a:pt x="61340" y="353568"/>
                </a:lnTo>
                <a:lnTo>
                  <a:pt x="74726" y="348358"/>
                </a:lnTo>
                <a:lnTo>
                  <a:pt x="64389" y="321818"/>
                </a:lnTo>
                <a:close/>
              </a:path>
              <a:path w="980439" h="401954">
                <a:moveTo>
                  <a:pt x="74726" y="348358"/>
                </a:moveTo>
                <a:lnTo>
                  <a:pt x="61340" y="353568"/>
                </a:lnTo>
                <a:lnTo>
                  <a:pt x="71754" y="380238"/>
                </a:lnTo>
                <a:lnTo>
                  <a:pt x="85117" y="375036"/>
                </a:lnTo>
                <a:lnTo>
                  <a:pt x="74726" y="348358"/>
                </a:lnTo>
                <a:close/>
              </a:path>
              <a:path w="980439" h="401954">
                <a:moveTo>
                  <a:pt x="85117" y="375036"/>
                </a:moveTo>
                <a:lnTo>
                  <a:pt x="71754" y="380238"/>
                </a:lnTo>
                <a:lnTo>
                  <a:pt x="87144" y="380238"/>
                </a:lnTo>
                <a:lnTo>
                  <a:pt x="85117" y="375036"/>
                </a:lnTo>
                <a:close/>
              </a:path>
              <a:path w="980439" h="401954">
                <a:moveTo>
                  <a:pt x="969772" y="0"/>
                </a:moveTo>
                <a:lnTo>
                  <a:pt x="74726" y="348358"/>
                </a:lnTo>
                <a:lnTo>
                  <a:pt x="85117" y="375036"/>
                </a:lnTo>
                <a:lnTo>
                  <a:pt x="980059" y="26670"/>
                </a:lnTo>
                <a:lnTo>
                  <a:pt x="969772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479803" y="2769107"/>
            <a:ext cx="1149096" cy="35661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608836" y="2850388"/>
            <a:ext cx="977900" cy="213360"/>
          </a:xfrm>
          <a:custGeom>
            <a:avLst/>
            <a:gdLst/>
            <a:ahLst/>
            <a:cxnLst/>
            <a:rect l="l" t="t" r="r" b="b"/>
            <a:pathLst>
              <a:path w="977900" h="213360">
                <a:moveTo>
                  <a:pt x="86870" y="28138"/>
                </a:moveTo>
                <a:lnTo>
                  <a:pt x="81910" y="56328"/>
                </a:lnTo>
                <a:lnTo>
                  <a:pt x="972438" y="213106"/>
                </a:lnTo>
                <a:lnTo>
                  <a:pt x="977391" y="185038"/>
                </a:lnTo>
                <a:lnTo>
                  <a:pt x="86870" y="28138"/>
                </a:lnTo>
                <a:close/>
              </a:path>
              <a:path w="977900" h="213360">
                <a:moveTo>
                  <a:pt x="91820" y="0"/>
                </a:moveTo>
                <a:lnTo>
                  <a:pt x="0" y="27432"/>
                </a:lnTo>
                <a:lnTo>
                  <a:pt x="76962" y="84454"/>
                </a:lnTo>
                <a:lnTo>
                  <a:pt x="81910" y="56328"/>
                </a:lnTo>
                <a:lnTo>
                  <a:pt x="67818" y="53848"/>
                </a:lnTo>
                <a:lnTo>
                  <a:pt x="72770" y="25653"/>
                </a:lnTo>
                <a:lnTo>
                  <a:pt x="87307" y="25653"/>
                </a:lnTo>
                <a:lnTo>
                  <a:pt x="91820" y="0"/>
                </a:lnTo>
                <a:close/>
              </a:path>
              <a:path w="977900" h="213360">
                <a:moveTo>
                  <a:pt x="72770" y="25653"/>
                </a:moveTo>
                <a:lnTo>
                  <a:pt x="67818" y="53848"/>
                </a:lnTo>
                <a:lnTo>
                  <a:pt x="81910" y="56328"/>
                </a:lnTo>
                <a:lnTo>
                  <a:pt x="86870" y="28138"/>
                </a:lnTo>
                <a:lnTo>
                  <a:pt x="72770" y="25653"/>
                </a:lnTo>
                <a:close/>
              </a:path>
              <a:path w="977900" h="213360">
                <a:moveTo>
                  <a:pt x="87307" y="25653"/>
                </a:moveTo>
                <a:lnTo>
                  <a:pt x="72770" y="25653"/>
                </a:lnTo>
                <a:lnTo>
                  <a:pt x="86870" y="28138"/>
                </a:lnTo>
                <a:lnTo>
                  <a:pt x="87307" y="25653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2558669" y="2963621"/>
            <a:ext cx="1872614" cy="307975"/>
          </a:xfrm>
          <a:prstGeom prst="rect">
            <a:avLst/>
          </a:prstGeom>
          <a:solidFill>
            <a:srgbClr val="DDDDDD"/>
          </a:solidFill>
          <a:ln w="3175">
            <a:solidFill>
              <a:srgbClr val="000000"/>
            </a:solidFill>
          </a:ln>
        </p:spPr>
        <p:txBody>
          <a:bodyPr wrap="square" lIns="0" tIns="39369" rIns="0" bIns="0" rtlCol="0" vert="horz">
            <a:spAutoFit/>
          </a:bodyPr>
          <a:lstStyle/>
          <a:p>
            <a:pPr marL="321310">
              <a:lnSpc>
                <a:spcPct val="100000"/>
              </a:lnSpc>
              <a:spcBef>
                <a:spcPts val="309"/>
              </a:spcBef>
            </a:pPr>
            <a:r>
              <a:rPr dirty="0" sz="1400" spc="-5" b="1">
                <a:latin typeface="Arial"/>
                <a:cs typeface="Arial"/>
              </a:rPr>
              <a:t>Continuação...</a:t>
            </a:r>
            <a:endParaRPr sz="14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300984" y="4340352"/>
            <a:ext cx="5422392" cy="31089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347846" y="4365116"/>
            <a:ext cx="5328920" cy="216535"/>
          </a:xfrm>
          <a:custGeom>
            <a:avLst/>
            <a:gdLst/>
            <a:ahLst/>
            <a:cxnLst/>
            <a:rect l="l" t="t" r="r" b="b"/>
            <a:pathLst>
              <a:path w="5328920" h="216535">
                <a:moveTo>
                  <a:pt x="0" y="216026"/>
                </a:moveTo>
                <a:lnTo>
                  <a:pt x="5328539" y="216026"/>
                </a:lnTo>
                <a:lnTo>
                  <a:pt x="5328539" y="0"/>
                </a:lnTo>
                <a:lnTo>
                  <a:pt x="0" y="0"/>
                </a:lnTo>
                <a:lnTo>
                  <a:pt x="0" y="216026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1105"/>
              </a:lnSpc>
            </a:pPr>
            <a:fld id="{81D60167-4931-47E6-BA6A-407CBD079E47}" type="slidenum">
              <a:rPr dirty="0" spc="-5"/>
              <a:t>10</a:t>
            </a:fld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14134" y="992441"/>
            <a:ext cx="8318754" cy="569125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5"/>
              <a:t>Execu</a:t>
            </a:r>
            <a:r>
              <a:rPr dirty="0"/>
              <a:t>ç</a:t>
            </a:r>
            <a:r>
              <a:rPr dirty="0" spc="-5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1408175" y="3014472"/>
            <a:ext cx="1225296" cy="79247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536700" y="3037077"/>
            <a:ext cx="1054735" cy="621030"/>
          </a:xfrm>
          <a:custGeom>
            <a:avLst/>
            <a:gdLst/>
            <a:ahLst/>
            <a:cxnLst/>
            <a:rect l="l" t="t" r="r" b="b"/>
            <a:pathLst>
              <a:path w="1054735" h="621029">
                <a:moveTo>
                  <a:pt x="52578" y="540385"/>
                </a:moveTo>
                <a:lnTo>
                  <a:pt x="0" y="620522"/>
                </a:lnTo>
                <a:lnTo>
                  <a:pt x="95631" y="614553"/>
                </a:lnTo>
                <a:lnTo>
                  <a:pt x="85457" y="597027"/>
                </a:lnTo>
                <a:lnTo>
                  <a:pt x="68961" y="597027"/>
                </a:lnTo>
                <a:lnTo>
                  <a:pt x="54609" y="572262"/>
                </a:lnTo>
                <a:lnTo>
                  <a:pt x="66928" y="565107"/>
                </a:lnTo>
                <a:lnTo>
                  <a:pt x="52578" y="540385"/>
                </a:lnTo>
                <a:close/>
              </a:path>
              <a:path w="1054735" h="621029">
                <a:moveTo>
                  <a:pt x="66928" y="565107"/>
                </a:moveTo>
                <a:lnTo>
                  <a:pt x="54609" y="572262"/>
                </a:lnTo>
                <a:lnTo>
                  <a:pt x="68961" y="597027"/>
                </a:lnTo>
                <a:lnTo>
                  <a:pt x="81298" y="589861"/>
                </a:lnTo>
                <a:lnTo>
                  <a:pt x="66928" y="565107"/>
                </a:lnTo>
                <a:close/>
              </a:path>
              <a:path w="1054735" h="621029">
                <a:moveTo>
                  <a:pt x="81298" y="589861"/>
                </a:moveTo>
                <a:lnTo>
                  <a:pt x="68961" y="597027"/>
                </a:lnTo>
                <a:lnTo>
                  <a:pt x="85457" y="597027"/>
                </a:lnTo>
                <a:lnTo>
                  <a:pt x="81298" y="589861"/>
                </a:lnTo>
                <a:close/>
              </a:path>
              <a:path w="1054735" h="621029">
                <a:moveTo>
                  <a:pt x="1039876" y="0"/>
                </a:moveTo>
                <a:lnTo>
                  <a:pt x="66928" y="565107"/>
                </a:lnTo>
                <a:lnTo>
                  <a:pt x="81298" y="589861"/>
                </a:lnTo>
                <a:lnTo>
                  <a:pt x="1054227" y="24764"/>
                </a:lnTo>
                <a:lnTo>
                  <a:pt x="103987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479803" y="2770632"/>
            <a:ext cx="1149096" cy="35509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608836" y="2851657"/>
            <a:ext cx="977900" cy="212090"/>
          </a:xfrm>
          <a:custGeom>
            <a:avLst/>
            <a:gdLst/>
            <a:ahLst/>
            <a:cxnLst/>
            <a:rect l="l" t="t" r="r" b="b"/>
            <a:pathLst>
              <a:path w="977900" h="212089">
                <a:moveTo>
                  <a:pt x="86893" y="28247"/>
                </a:moveTo>
                <a:lnTo>
                  <a:pt x="81999" y="56302"/>
                </a:lnTo>
                <a:lnTo>
                  <a:pt x="972438" y="211836"/>
                </a:lnTo>
                <a:lnTo>
                  <a:pt x="977391" y="183768"/>
                </a:lnTo>
                <a:lnTo>
                  <a:pt x="86893" y="28247"/>
                </a:lnTo>
                <a:close/>
              </a:path>
              <a:path w="977900" h="212089">
                <a:moveTo>
                  <a:pt x="91820" y="0"/>
                </a:moveTo>
                <a:lnTo>
                  <a:pt x="0" y="27558"/>
                </a:lnTo>
                <a:lnTo>
                  <a:pt x="77088" y="84454"/>
                </a:lnTo>
                <a:lnTo>
                  <a:pt x="81999" y="56302"/>
                </a:lnTo>
                <a:lnTo>
                  <a:pt x="67944" y="53847"/>
                </a:lnTo>
                <a:lnTo>
                  <a:pt x="72770" y="25780"/>
                </a:lnTo>
                <a:lnTo>
                  <a:pt x="87323" y="25780"/>
                </a:lnTo>
                <a:lnTo>
                  <a:pt x="91820" y="0"/>
                </a:lnTo>
                <a:close/>
              </a:path>
              <a:path w="977900" h="212089">
                <a:moveTo>
                  <a:pt x="72770" y="25780"/>
                </a:moveTo>
                <a:lnTo>
                  <a:pt x="67944" y="53847"/>
                </a:lnTo>
                <a:lnTo>
                  <a:pt x="81999" y="56302"/>
                </a:lnTo>
                <a:lnTo>
                  <a:pt x="86893" y="28247"/>
                </a:lnTo>
                <a:lnTo>
                  <a:pt x="72770" y="25780"/>
                </a:lnTo>
                <a:close/>
              </a:path>
              <a:path w="977900" h="212089">
                <a:moveTo>
                  <a:pt x="87323" y="25780"/>
                </a:moveTo>
                <a:lnTo>
                  <a:pt x="72770" y="25780"/>
                </a:lnTo>
                <a:lnTo>
                  <a:pt x="86893" y="28247"/>
                </a:lnTo>
                <a:lnTo>
                  <a:pt x="87323" y="2578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2585085" y="2860370"/>
            <a:ext cx="1872614" cy="307975"/>
          </a:xfrm>
          <a:prstGeom prst="rect">
            <a:avLst/>
          </a:prstGeom>
          <a:solidFill>
            <a:srgbClr val="DDDDDD"/>
          </a:solidFill>
          <a:ln w="3175">
            <a:solidFill>
              <a:srgbClr val="000000"/>
            </a:solidFill>
          </a:ln>
        </p:spPr>
        <p:txBody>
          <a:bodyPr wrap="square" lIns="0" tIns="39369" rIns="0" bIns="0" rtlCol="0" vert="horz">
            <a:spAutoFit/>
          </a:bodyPr>
          <a:lstStyle/>
          <a:p>
            <a:pPr marL="257810">
              <a:lnSpc>
                <a:spcPct val="100000"/>
              </a:lnSpc>
              <a:spcBef>
                <a:spcPts val="309"/>
              </a:spcBef>
            </a:pPr>
            <a:r>
              <a:rPr dirty="0" sz="1400" spc="-5" b="1">
                <a:latin typeface="Arial"/>
                <a:cs typeface="Arial"/>
              </a:rPr>
              <a:t>Fim da</a:t>
            </a:r>
            <a:r>
              <a:rPr dirty="0" sz="1400" spc="-8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inversão</a:t>
            </a:r>
            <a:endParaRPr sz="14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300984" y="3404615"/>
            <a:ext cx="5422392" cy="31089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347846" y="3429000"/>
            <a:ext cx="5328920" cy="216535"/>
          </a:xfrm>
          <a:custGeom>
            <a:avLst/>
            <a:gdLst/>
            <a:ahLst/>
            <a:cxnLst/>
            <a:rect l="l" t="t" r="r" b="b"/>
            <a:pathLst>
              <a:path w="5328920" h="216535">
                <a:moveTo>
                  <a:pt x="0" y="216026"/>
                </a:moveTo>
                <a:lnTo>
                  <a:pt x="5328539" y="216026"/>
                </a:lnTo>
                <a:lnTo>
                  <a:pt x="5328539" y="0"/>
                </a:lnTo>
                <a:lnTo>
                  <a:pt x="0" y="0"/>
                </a:lnTo>
                <a:lnTo>
                  <a:pt x="0" y="216026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1105"/>
              </a:lnSpc>
            </a:pPr>
            <a:fld id="{81D60167-4931-47E6-BA6A-407CBD079E47}" type="slidenum">
              <a:rPr dirty="0" spc="-5"/>
              <a:t>10</a:t>
            </a:fld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14134" y="992352"/>
            <a:ext cx="8318754" cy="564273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5"/>
              <a:t>Execu</a:t>
            </a:r>
            <a:r>
              <a:rPr dirty="0"/>
              <a:t>ç</a:t>
            </a:r>
            <a:r>
              <a:rPr dirty="0" spc="-5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1488947" y="2449067"/>
            <a:ext cx="903731" cy="25755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618361" y="2514600"/>
            <a:ext cx="732790" cy="85725"/>
          </a:xfrm>
          <a:custGeom>
            <a:avLst/>
            <a:gdLst/>
            <a:ahLst/>
            <a:cxnLst/>
            <a:rect l="l" t="t" r="r" b="b"/>
            <a:pathLst>
              <a:path w="732789" h="85725">
                <a:moveTo>
                  <a:pt x="85725" y="0"/>
                </a:moveTo>
                <a:lnTo>
                  <a:pt x="0" y="42925"/>
                </a:lnTo>
                <a:lnTo>
                  <a:pt x="85725" y="85725"/>
                </a:lnTo>
                <a:lnTo>
                  <a:pt x="85725" y="57150"/>
                </a:lnTo>
                <a:lnTo>
                  <a:pt x="71500" y="57150"/>
                </a:lnTo>
                <a:lnTo>
                  <a:pt x="71500" y="28575"/>
                </a:lnTo>
                <a:lnTo>
                  <a:pt x="85725" y="28575"/>
                </a:lnTo>
                <a:lnTo>
                  <a:pt x="85725" y="0"/>
                </a:lnTo>
                <a:close/>
              </a:path>
              <a:path w="732789" h="85725">
                <a:moveTo>
                  <a:pt x="85725" y="28575"/>
                </a:moveTo>
                <a:lnTo>
                  <a:pt x="71500" y="28575"/>
                </a:lnTo>
                <a:lnTo>
                  <a:pt x="71500" y="57150"/>
                </a:lnTo>
                <a:lnTo>
                  <a:pt x="85725" y="57150"/>
                </a:lnTo>
                <a:lnTo>
                  <a:pt x="85725" y="28575"/>
                </a:lnTo>
                <a:close/>
              </a:path>
              <a:path w="732789" h="85725">
                <a:moveTo>
                  <a:pt x="732282" y="28575"/>
                </a:moveTo>
                <a:lnTo>
                  <a:pt x="85725" y="28575"/>
                </a:lnTo>
                <a:lnTo>
                  <a:pt x="85725" y="57150"/>
                </a:lnTo>
                <a:lnTo>
                  <a:pt x="732282" y="57150"/>
                </a:lnTo>
                <a:lnTo>
                  <a:pt x="732282" y="2857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984120" y="2148928"/>
            <a:ext cx="2223135" cy="739140"/>
          </a:xfrm>
          <a:prstGeom prst="rect">
            <a:avLst/>
          </a:prstGeom>
          <a:solidFill>
            <a:srgbClr val="DDDDDD"/>
          </a:solidFill>
          <a:ln w="3175">
            <a:solidFill>
              <a:srgbClr val="000000"/>
            </a:solidFill>
          </a:ln>
        </p:spPr>
        <p:txBody>
          <a:bodyPr wrap="square" lIns="0" tIns="38735" rIns="0" bIns="0" rtlCol="0" vert="horz">
            <a:spAutoFit/>
          </a:bodyPr>
          <a:lstStyle/>
          <a:p>
            <a:pPr algn="ctr" marL="148590" marR="140970">
              <a:lnSpc>
                <a:spcPct val="100000"/>
              </a:lnSpc>
              <a:spcBef>
                <a:spcPts val="305"/>
              </a:spcBef>
            </a:pPr>
            <a:r>
              <a:rPr dirty="0" sz="1400" b="1">
                <a:latin typeface="Arial"/>
                <a:cs typeface="Arial"/>
              </a:rPr>
              <a:t>Incremento </a:t>
            </a:r>
            <a:r>
              <a:rPr dirty="0" sz="1400" spc="-5" b="1">
                <a:latin typeface="Arial"/>
                <a:cs typeface="Arial"/>
              </a:rPr>
              <a:t>da</a:t>
            </a:r>
            <a:r>
              <a:rPr dirty="0" sz="1400" spc="-13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variável  </a:t>
            </a:r>
            <a:r>
              <a:rPr dirty="0" sz="1400" b="1">
                <a:latin typeface="Arial"/>
                <a:cs typeface="Arial"/>
              </a:rPr>
              <a:t>e teste </a:t>
            </a:r>
            <a:r>
              <a:rPr dirty="0" sz="1400" spc="-5" b="1">
                <a:latin typeface="Arial"/>
                <a:cs typeface="Arial"/>
              </a:rPr>
              <a:t>da condição  </a:t>
            </a:r>
            <a:r>
              <a:rPr dirty="0" sz="1400" spc="-5" b="1" u="sng">
                <a:latin typeface="Arial"/>
                <a:cs typeface="Arial"/>
              </a:rPr>
              <a:t>verdadeiro</a:t>
            </a:r>
            <a:r>
              <a:rPr dirty="0" sz="1400" spc="-5" b="1">
                <a:latin typeface="Arial"/>
                <a:cs typeface="Arial"/>
              </a:rPr>
              <a:t>.</a:t>
            </a:r>
            <a:endParaRPr sz="14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300984" y="3835908"/>
            <a:ext cx="5422392" cy="31089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347846" y="3861053"/>
            <a:ext cx="5328920" cy="216535"/>
          </a:xfrm>
          <a:custGeom>
            <a:avLst/>
            <a:gdLst/>
            <a:ahLst/>
            <a:cxnLst/>
            <a:rect l="l" t="t" r="r" b="b"/>
            <a:pathLst>
              <a:path w="5328920" h="216535">
                <a:moveTo>
                  <a:pt x="0" y="216027"/>
                </a:moveTo>
                <a:lnTo>
                  <a:pt x="5328539" y="216027"/>
                </a:lnTo>
                <a:lnTo>
                  <a:pt x="5328539" y="0"/>
                </a:lnTo>
                <a:lnTo>
                  <a:pt x="0" y="0"/>
                </a:lnTo>
                <a:lnTo>
                  <a:pt x="0" y="216027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1105"/>
              </a:lnSpc>
            </a:pPr>
            <a:fld id="{81D60167-4931-47E6-BA6A-407CBD079E47}" type="slidenum">
              <a:rPr dirty="0" spc="-5"/>
              <a:t>10</a:t>
            </a:fld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35838" y="992670"/>
            <a:ext cx="8297036" cy="565353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5"/>
              <a:t>Execu</a:t>
            </a:r>
            <a:r>
              <a:rPr dirty="0"/>
              <a:t>ç</a:t>
            </a:r>
            <a:r>
              <a:rPr dirty="0" spc="-5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1479803" y="2973323"/>
            <a:ext cx="768096" cy="6766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609089" y="2995929"/>
            <a:ext cx="596265" cy="505459"/>
          </a:xfrm>
          <a:custGeom>
            <a:avLst/>
            <a:gdLst/>
            <a:ahLst/>
            <a:cxnLst/>
            <a:rect l="l" t="t" r="r" b="b"/>
            <a:pathLst>
              <a:path w="596264" h="505460">
                <a:moveTo>
                  <a:pt x="37972" y="417068"/>
                </a:moveTo>
                <a:lnTo>
                  <a:pt x="0" y="505079"/>
                </a:lnTo>
                <a:lnTo>
                  <a:pt x="93217" y="482600"/>
                </a:lnTo>
                <a:lnTo>
                  <a:pt x="82618" y="470027"/>
                </a:lnTo>
                <a:lnTo>
                  <a:pt x="63880" y="470027"/>
                </a:lnTo>
                <a:lnTo>
                  <a:pt x="45465" y="448183"/>
                </a:lnTo>
                <a:lnTo>
                  <a:pt x="56422" y="438952"/>
                </a:lnTo>
                <a:lnTo>
                  <a:pt x="37972" y="417068"/>
                </a:lnTo>
                <a:close/>
              </a:path>
              <a:path w="596264" h="505460">
                <a:moveTo>
                  <a:pt x="56422" y="438952"/>
                </a:moveTo>
                <a:lnTo>
                  <a:pt x="45465" y="448183"/>
                </a:lnTo>
                <a:lnTo>
                  <a:pt x="63880" y="470027"/>
                </a:lnTo>
                <a:lnTo>
                  <a:pt x="74837" y="460796"/>
                </a:lnTo>
                <a:lnTo>
                  <a:pt x="56422" y="438952"/>
                </a:lnTo>
                <a:close/>
              </a:path>
              <a:path w="596264" h="505460">
                <a:moveTo>
                  <a:pt x="74837" y="460796"/>
                </a:moveTo>
                <a:lnTo>
                  <a:pt x="63880" y="470027"/>
                </a:lnTo>
                <a:lnTo>
                  <a:pt x="82618" y="470027"/>
                </a:lnTo>
                <a:lnTo>
                  <a:pt x="74837" y="460796"/>
                </a:lnTo>
                <a:close/>
              </a:path>
              <a:path w="596264" h="505460">
                <a:moveTo>
                  <a:pt x="577468" y="0"/>
                </a:moveTo>
                <a:lnTo>
                  <a:pt x="56422" y="438952"/>
                </a:lnTo>
                <a:lnTo>
                  <a:pt x="74837" y="460796"/>
                </a:lnTo>
                <a:lnTo>
                  <a:pt x="595884" y="21844"/>
                </a:lnTo>
                <a:lnTo>
                  <a:pt x="577468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479803" y="2898648"/>
            <a:ext cx="760476" cy="25755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609089" y="2951607"/>
            <a:ext cx="588010" cy="92075"/>
          </a:xfrm>
          <a:custGeom>
            <a:avLst/>
            <a:gdLst/>
            <a:ahLst/>
            <a:cxnLst/>
            <a:rect l="l" t="t" r="r" b="b"/>
            <a:pathLst>
              <a:path w="588010" h="92075">
                <a:moveTo>
                  <a:pt x="82549" y="6476"/>
                </a:moveTo>
                <a:lnTo>
                  <a:pt x="0" y="55244"/>
                </a:lnTo>
                <a:lnTo>
                  <a:pt x="88518" y="91947"/>
                </a:lnTo>
                <a:lnTo>
                  <a:pt x="86603" y="64515"/>
                </a:lnTo>
                <a:lnTo>
                  <a:pt x="72262" y="64515"/>
                </a:lnTo>
                <a:lnTo>
                  <a:pt x="70358" y="35940"/>
                </a:lnTo>
                <a:lnTo>
                  <a:pt x="84538" y="34952"/>
                </a:lnTo>
                <a:lnTo>
                  <a:pt x="82549" y="6476"/>
                </a:lnTo>
                <a:close/>
              </a:path>
              <a:path w="588010" h="92075">
                <a:moveTo>
                  <a:pt x="84538" y="34952"/>
                </a:moveTo>
                <a:lnTo>
                  <a:pt x="70358" y="35940"/>
                </a:lnTo>
                <a:lnTo>
                  <a:pt x="72262" y="64515"/>
                </a:lnTo>
                <a:lnTo>
                  <a:pt x="86533" y="63521"/>
                </a:lnTo>
                <a:lnTo>
                  <a:pt x="84538" y="34952"/>
                </a:lnTo>
                <a:close/>
              </a:path>
              <a:path w="588010" h="92075">
                <a:moveTo>
                  <a:pt x="86533" y="63521"/>
                </a:moveTo>
                <a:lnTo>
                  <a:pt x="72262" y="64515"/>
                </a:lnTo>
                <a:lnTo>
                  <a:pt x="86603" y="64515"/>
                </a:lnTo>
                <a:lnTo>
                  <a:pt x="86533" y="63521"/>
                </a:lnTo>
                <a:close/>
              </a:path>
              <a:path w="588010" h="92075">
                <a:moveTo>
                  <a:pt x="585978" y="0"/>
                </a:moveTo>
                <a:lnTo>
                  <a:pt x="84538" y="34952"/>
                </a:lnTo>
                <a:lnTo>
                  <a:pt x="86533" y="63521"/>
                </a:lnTo>
                <a:lnTo>
                  <a:pt x="588010" y="28575"/>
                </a:lnTo>
                <a:lnTo>
                  <a:pt x="585978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2195702" y="2637497"/>
            <a:ext cx="2088514" cy="739140"/>
          </a:xfrm>
          <a:prstGeom prst="rect">
            <a:avLst/>
          </a:prstGeom>
          <a:solidFill>
            <a:srgbClr val="DDDDDD"/>
          </a:solidFill>
          <a:ln w="3175">
            <a:solidFill>
              <a:srgbClr val="000000"/>
            </a:solidFill>
          </a:ln>
        </p:spPr>
        <p:txBody>
          <a:bodyPr wrap="square" lIns="0" tIns="38735" rIns="0" bIns="0" rtlCol="0" vert="horz">
            <a:spAutoFit/>
          </a:bodyPr>
          <a:lstStyle/>
          <a:p>
            <a:pPr algn="ctr" marL="161925" marR="153035">
              <a:lnSpc>
                <a:spcPct val="100000"/>
              </a:lnSpc>
              <a:spcBef>
                <a:spcPts val="305"/>
              </a:spcBef>
            </a:pPr>
            <a:r>
              <a:rPr dirty="0" sz="1400" b="1">
                <a:latin typeface="Arial"/>
                <a:cs typeface="Arial"/>
              </a:rPr>
              <a:t>Início </a:t>
            </a:r>
            <a:r>
              <a:rPr dirty="0" sz="1400" spc="-5" b="1">
                <a:latin typeface="Arial"/>
                <a:cs typeface="Arial"/>
              </a:rPr>
              <a:t>da inversão</a:t>
            </a:r>
            <a:r>
              <a:rPr dirty="0" sz="1400" spc="-14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do  segundo </a:t>
            </a:r>
            <a:r>
              <a:rPr dirty="0" sz="1400" b="1">
                <a:latin typeface="Arial"/>
                <a:cs typeface="Arial"/>
              </a:rPr>
              <a:t>elemento  </a:t>
            </a:r>
            <a:r>
              <a:rPr dirty="0" sz="1400" spc="-5" b="1">
                <a:latin typeface="Arial"/>
                <a:cs typeface="Arial"/>
              </a:rPr>
              <a:t>com </a:t>
            </a:r>
            <a:r>
              <a:rPr dirty="0" sz="1400" b="1">
                <a:latin typeface="Arial"/>
                <a:cs typeface="Arial"/>
              </a:rPr>
              <a:t>o</a:t>
            </a:r>
            <a:r>
              <a:rPr dirty="0" sz="1400" spc="-7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penúltimo</a:t>
            </a:r>
            <a:endParaRPr sz="14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300984" y="4052315"/>
            <a:ext cx="5422392" cy="31089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347846" y="4077080"/>
            <a:ext cx="5328920" cy="216535"/>
          </a:xfrm>
          <a:custGeom>
            <a:avLst/>
            <a:gdLst/>
            <a:ahLst/>
            <a:cxnLst/>
            <a:rect l="l" t="t" r="r" b="b"/>
            <a:pathLst>
              <a:path w="5328920" h="216535">
                <a:moveTo>
                  <a:pt x="0" y="216027"/>
                </a:moveTo>
                <a:lnTo>
                  <a:pt x="5328539" y="216027"/>
                </a:lnTo>
                <a:lnTo>
                  <a:pt x="5328539" y="0"/>
                </a:lnTo>
                <a:lnTo>
                  <a:pt x="0" y="0"/>
                </a:lnTo>
                <a:lnTo>
                  <a:pt x="0" y="216027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1105"/>
              </a:lnSpc>
            </a:pPr>
            <a:fld id="{81D60167-4931-47E6-BA6A-407CBD079E47}" type="slidenum">
              <a:rPr dirty="0" spc="-5"/>
              <a:t>10</a:t>
            </a:fld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35851" y="992695"/>
            <a:ext cx="8297036" cy="56561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5"/>
              <a:t>Execu</a:t>
            </a:r>
            <a:r>
              <a:rPr dirty="0"/>
              <a:t>ç</a:t>
            </a:r>
            <a:r>
              <a:rPr dirty="0" spc="-5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1490472" y="3012948"/>
            <a:ext cx="1141476" cy="56540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619630" y="3036189"/>
            <a:ext cx="969644" cy="401320"/>
          </a:xfrm>
          <a:custGeom>
            <a:avLst/>
            <a:gdLst/>
            <a:ahLst/>
            <a:cxnLst/>
            <a:rect l="l" t="t" r="r" b="b"/>
            <a:pathLst>
              <a:path w="969644" h="401320">
                <a:moveTo>
                  <a:pt x="64135" y="321563"/>
                </a:moveTo>
                <a:lnTo>
                  <a:pt x="0" y="392811"/>
                </a:lnTo>
                <a:lnTo>
                  <a:pt x="95504" y="401320"/>
                </a:lnTo>
                <a:lnTo>
                  <a:pt x="87112" y="379984"/>
                </a:lnTo>
                <a:lnTo>
                  <a:pt x="71755" y="379984"/>
                </a:lnTo>
                <a:lnTo>
                  <a:pt x="61341" y="353313"/>
                </a:lnTo>
                <a:lnTo>
                  <a:pt x="74573" y="348104"/>
                </a:lnTo>
                <a:lnTo>
                  <a:pt x="64135" y="321563"/>
                </a:lnTo>
                <a:close/>
              </a:path>
              <a:path w="969644" h="401320">
                <a:moveTo>
                  <a:pt x="74573" y="348104"/>
                </a:moveTo>
                <a:lnTo>
                  <a:pt x="61341" y="353313"/>
                </a:lnTo>
                <a:lnTo>
                  <a:pt x="71755" y="379984"/>
                </a:lnTo>
                <a:lnTo>
                  <a:pt x="85052" y="374747"/>
                </a:lnTo>
                <a:lnTo>
                  <a:pt x="74573" y="348104"/>
                </a:lnTo>
                <a:close/>
              </a:path>
              <a:path w="969644" h="401320">
                <a:moveTo>
                  <a:pt x="85052" y="374747"/>
                </a:moveTo>
                <a:lnTo>
                  <a:pt x="71755" y="379984"/>
                </a:lnTo>
                <a:lnTo>
                  <a:pt x="87112" y="379984"/>
                </a:lnTo>
                <a:lnTo>
                  <a:pt x="85052" y="374747"/>
                </a:lnTo>
                <a:close/>
              </a:path>
              <a:path w="969644" h="401320">
                <a:moveTo>
                  <a:pt x="958850" y="0"/>
                </a:moveTo>
                <a:lnTo>
                  <a:pt x="74573" y="348104"/>
                </a:lnTo>
                <a:lnTo>
                  <a:pt x="85052" y="374747"/>
                </a:lnTo>
                <a:lnTo>
                  <a:pt x="969391" y="26543"/>
                </a:lnTo>
                <a:lnTo>
                  <a:pt x="95885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490472" y="2854451"/>
            <a:ext cx="1136904" cy="27127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619630" y="2928492"/>
            <a:ext cx="965835" cy="135255"/>
          </a:xfrm>
          <a:custGeom>
            <a:avLst/>
            <a:gdLst/>
            <a:ahLst/>
            <a:cxnLst/>
            <a:rect l="l" t="t" r="r" b="b"/>
            <a:pathLst>
              <a:path w="965835" h="135255">
                <a:moveTo>
                  <a:pt x="86745" y="28444"/>
                </a:moveTo>
                <a:lnTo>
                  <a:pt x="84208" y="56895"/>
                </a:lnTo>
                <a:lnTo>
                  <a:pt x="962787" y="135255"/>
                </a:lnTo>
                <a:lnTo>
                  <a:pt x="965326" y="106680"/>
                </a:lnTo>
                <a:lnTo>
                  <a:pt x="86745" y="28444"/>
                </a:lnTo>
                <a:close/>
              </a:path>
              <a:path w="965835" h="135255">
                <a:moveTo>
                  <a:pt x="89281" y="0"/>
                </a:moveTo>
                <a:lnTo>
                  <a:pt x="0" y="35179"/>
                </a:lnTo>
                <a:lnTo>
                  <a:pt x="81661" y="85471"/>
                </a:lnTo>
                <a:lnTo>
                  <a:pt x="84208" y="56895"/>
                </a:lnTo>
                <a:lnTo>
                  <a:pt x="69976" y="55626"/>
                </a:lnTo>
                <a:lnTo>
                  <a:pt x="72517" y="27178"/>
                </a:lnTo>
                <a:lnTo>
                  <a:pt x="86857" y="27178"/>
                </a:lnTo>
                <a:lnTo>
                  <a:pt x="89281" y="0"/>
                </a:lnTo>
                <a:close/>
              </a:path>
              <a:path w="965835" h="135255">
                <a:moveTo>
                  <a:pt x="72517" y="27178"/>
                </a:moveTo>
                <a:lnTo>
                  <a:pt x="69976" y="55626"/>
                </a:lnTo>
                <a:lnTo>
                  <a:pt x="84208" y="56895"/>
                </a:lnTo>
                <a:lnTo>
                  <a:pt x="86745" y="28444"/>
                </a:lnTo>
                <a:lnTo>
                  <a:pt x="72517" y="27178"/>
                </a:lnTo>
                <a:close/>
              </a:path>
              <a:path w="965835" h="135255">
                <a:moveTo>
                  <a:pt x="86857" y="27178"/>
                </a:moveTo>
                <a:lnTo>
                  <a:pt x="72517" y="27178"/>
                </a:lnTo>
                <a:lnTo>
                  <a:pt x="86745" y="28444"/>
                </a:lnTo>
                <a:lnTo>
                  <a:pt x="86857" y="27178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2572766" y="2877769"/>
            <a:ext cx="1872614" cy="307975"/>
          </a:xfrm>
          <a:prstGeom prst="rect">
            <a:avLst/>
          </a:prstGeom>
          <a:solidFill>
            <a:srgbClr val="DDDDDD"/>
          </a:solidFill>
          <a:ln w="3175">
            <a:solidFill>
              <a:srgbClr val="000000"/>
            </a:solidFill>
          </a:ln>
        </p:spPr>
        <p:txBody>
          <a:bodyPr wrap="square" lIns="0" tIns="39369" rIns="0" bIns="0" rtlCol="0" vert="horz">
            <a:spAutoFit/>
          </a:bodyPr>
          <a:lstStyle/>
          <a:p>
            <a:pPr marL="321945">
              <a:lnSpc>
                <a:spcPct val="100000"/>
              </a:lnSpc>
              <a:spcBef>
                <a:spcPts val="309"/>
              </a:spcBef>
            </a:pPr>
            <a:r>
              <a:rPr dirty="0" sz="1400" spc="-5" b="1">
                <a:latin typeface="Arial"/>
                <a:cs typeface="Arial"/>
              </a:rPr>
              <a:t>Continuação...</a:t>
            </a:r>
            <a:endParaRPr sz="14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300984" y="4340352"/>
            <a:ext cx="5422392" cy="31089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347846" y="4365116"/>
            <a:ext cx="5328920" cy="216535"/>
          </a:xfrm>
          <a:custGeom>
            <a:avLst/>
            <a:gdLst/>
            <a:ahLst/>
            <a:cxnLst/>
            <a:rect l="l" t="t" r="r" b="b"/>
            <a:pathLst>
              <a:path w="5328920" h="216535">
                <a:moveTo>
                  <a:pt x="0" y="216026"/>
                </a:moveTo>
                <a:lnTo>
                  <a:pt x="5328539" y="216026"/>
                </a:lnTo>
                <a:lnTo>
                  <a:pt x="5328539" y="0"/>
                </a:lnTo>
                <a:lnTo>
                  <a:pt x="0" y="0"/>
                </a:lnTo>
                <a:lnTo>
                  <a:pt x="0" y="216026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1105"/>
              </a:lnSpc>
            </a:pPr>
            <a:fld id="{81D60167-4931-47E6-BA6A-407CBD079E47}" type="slidenum">
              <a:rPr dirty="0" spc="-5"/>
              <a:t>10</a:t>
            </a:fld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35851" y="992695"/>
            <a:ext cx="8292973" cy="56561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5"/>
              <a:t>Execu</a:t>
            </a:r>
            <a:r>
              <a:rPr dirty="0"/>
              <a:t>ç</a:t>
            </a:r>
            <a:r>
              <a:rPr dirty="0" spc="-5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1479803" y="3014472"/>
            <a:ext cx="1152144" cy="63550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608836" y="3036442"/>
            <a:ext cx="981075" cy="467995"/>
          </a:xfrm>
          <a:custGeom>
            <a:avLst/>
            <a:gdLst/>
            <a:ahLst/>
            <a:cxnLst/>
            <a:rect l="l" t="t" r="r" b="b"/>
            <a:pathLst>
              <a:path w="981075" h="467995">
                <a:moveTo>
                  <a:pt x="59689" y="389636"/>
                </a:moveTo>
                <a:lnTo>
                  <a:pt x="0" y="464566"/>
                </a:lnTo>
                <a:lnTo>
                  <a:pt x="95757" y="467487"/>
                </a:lnTo>
                <a:lnTo>
                  <a:pt x="86520" y="447548"/>
                </a:lnTo>
                <a:lnTo>
                  <a:pt x="70738" y="447548"/>
                </a:lnTo>
                <a:lnTo>
                  <a:pt x="58800" y="421513"/>
                </a:lnTo>
                <a:lnTo>
                  <a:pt x="71692" y="415542"/>
                </a:lnTo>
                <a:lnTo>
                  <a:pt x="59689" y="389636"/>
                </a:lnTo>
                <a:close/>
              </a:path>
              <a:path w="981075" h="467995">
                <a:moveTo>
                  <a:pt x="71692" y="415542"/>
                </a:moveTo>
                <a:lnTo>
                  <a:pt x="58800" y="421513"/>
                </a:lnTo>
                <a:lnTo>
                  <a:pt x="70738" y="447548"/>
                </a:lnTo>
                <a:lnTo>
                  <a:pt x="83732" y="441530"/>
                </a:lnTo>
                <a:lnTo>
                  <a:pt x="71692" y="415542"/>
                </a:lnTo>
                <a:close/>
              </a:path>
              <a:path w="981075" h="467995">
                <a:moveTo>
                  <a:pt x="83732" y="441530"/>
                </a:moveTo>
                <a:lnTo>
                  <a:pt x="70738" y="447548"/>
                </a:lnTo>
                <a:lnTo>
                  <a:pt x="86520" y="447548"/>
                </a:lnTo>
                <a:lnTo>
                  <a:pt x="83732" y="441530"/>
                </a:lnTo>
                <a:close/>
              </a:path>
              <a:path w="981075" h="467995">
                <a:moveTo>
                  <a:pt x="968882" y="0"/>
                </a:moveTo>
                <a:lnTo>
                  <a:pt x="71692" y="415542"/>
                </a:lnTo>
                <a:lnTo>
                  <a:pt x="83732" y="441530"/>
                </a:lnTo>
                <a:lnTo>
                  <a:pt x="980947" y="26035"/>
                </a:lnTo>
                <a:lnTo>
                  <a:pt x="968882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479803" y="2904744"/>
            <a:ext cx="1147572" cy="25907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608836" y="2974467"/>
            <a:ext cx="975360" cy="89535"/>
          </a:xfrm>
          <a:custGeom>
            <a:avLst/>
            <a:gdLst/>
            <a:ahLst/>
            <a:cxnLst/>
            <a:rect l="l" t="t" r="r" b="b"/>
            <a:pathLst>
              <a:path w="975360" h="89535">
                <a:moveTo>
                  <a:pt x="86190" y="28583"/>
                </a:moveTo>
                <a:lnTo>
                  <a:pt x="85132" y="57157"/>
                </a:lnTo>
                <a:lnTo>
                  <a:pt x="974344" y="89281"/>
                </a:lnTo>
                <a:lnTo>
                  <a:pt x="975359" y="60706"/>
                </a:lnTo>
                <a:lnTo>
                  <a:pt x="86190" y="28583"/>
                </a:lnTo>
                <a:close/>
              </a:path>
              <a:path w="975360" h="89535">
                <a:moveTo>
                  <a:pt x="87249" y="0"/>
                </a:moveTo>
                <a:lnTo>
                  <a:pt x="0" y="39750"/>
                </a:lnTo>
                <a:lnTo>
                  <a:pt x="84074" y="85725"/>
                </a:lnTo>
                <a:lnTo>
                  <a:pt x="85132" y="57157"/>
                </a:lnTo>
                <a:lnTo>
                  <a:pt x="70865" y="56642"/>
                </a:lnTo>
                <a:lnTo>
                  <a:pt x="71881" y="28067"/>
                </a:lnTo>
                <a:lnTo>
                  <a:pt x="86209" y="28067"/>
                </a:lnTo>
                <a:lnTo>
                  <a:pt x="87249" y="0"/>
                </a:lnTo>
                <a:close/>
              </a:path>
              <a:path w="975360" h="89535">
                <a:moveTo>
                  <a:pt x="71881" y="28067"/>
                </a:moveTo>
                <a:lnTo>
                  <a:pt x="70865" y="56642"/>
                </a:lnTo>
                <a:lnTo>
                  <a:pt x="85132" y="57157"/>
                </a:lnTo>
                <a:lnTo>
                  <a:pt x="86190" y="28583"/>
                </a:lnTo>
                <a:lnTo>
                  <a:pt x="71881" y="28067"/>
                </a:lnTo>
                <a:close/>
              </a:path>
              <a:path w="975360" h="89535">
                <a:moveTo>
                  <a:pt x="86209" y="28067"/>
                </a:moveTo>
                <a:lnTo>
                  <a:pt x="71881" y="28067"/>
                </a:lnTo>
                <a:lnTo>
                  <a:pt x="86190" y="28583"/>
                </a:lnTo>
                <a:lnTo>
                  <a:pt x="86209" y="2806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2585085" y="2860370"/>
            <a:ext cx="1872614" cy="307975"/>
          </a:xfrm>
          <a:prstGeom prst="rect">
            <a:avLst/>
          </a:prstGeom>
          <a:solidFill>
            <a:srgbClr val="DDDDDD"/>
          </a:solidFill>
          <a:ln w="3175">
            <a:solidFill>
              <a:srgbClr val="000000"/>
            </a:solidFill>
          </a:ln>
        </p:spPr>
        <p:txBody>
          <a:bodyPr wrap="square" lIns="0" tIns="39369" rIns="0" bIns="0" rtlCol="0" vert="horz">
            <a:spAutoFit/>
          </a:bodyPr>
          <a:lstStyle/>
          <a:p>
            <a:pPr marL="257810">
              <a:lnSpc>
                <a:spcPct val="100000"/>
              </a:lnSpc>
              <a:spcBef>
                <a:spcPts val="309"/>
              </a:spcBef>
            </a:pPr>
            <a:r>
              <a:rPr dirty="0" sz="1400" spc="-5" b="1">
                <a:latin typeface="Arial"/>
                <a:cs typeface="Arial"/>
              </a:rPr>
              <a:t>Fim da</a:t>
            </a:r>
            <a:r>
              <a:rPr dirty="0" sz="1400" spc="-8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inversão</a:t>
            </a:r>
            <a:endParaRPr sz="14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300984" y="3404615"/>
            <a:ext cx="5422392" cy="31089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347846" y="3429000"/>
            <a:ext cx="5328920" cy="216535"/>
          </a:xfrm>
          <a:custGeom>
            <a:avLst/>
            <a:gdLst/>
            <a:ahLst/>
            <a:cxnLst/>
            <a:rect l="l" t="t" r="r" b="b"/>
            <a:pathLst>
              <a:path w="5328920" h="216535">
                <a:moveTo>
                  <a:pt x="0" y="216026"/>
                </a:moveTo>
                <a:lnTo>
                  <a:pt x="5328539" y="216026"/>
                </a:lnTo>
                <a:lnTo>
                  <a:pt x="5328539" y="0"/>
                </a:lnTo>
                <a:lnTo>
                  <a:pt x="0" y="0"/>
                </a:lnTo>
                <a:lnTo>
                  <a:pt x="0" y="216026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1105"/>
              </a:lnSpc>
            </a:pPr>
            <a:fld id="{81D60167-4931-47E6-BA6A-407CBD079E47}" type="slidenum">
              <a:rPr dirty="0" spc="-5"/>
              <a:t>10</a:t>
            </a:fld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35851" y="992695"/>
            <a:ext cx="8292973" cy="56561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435851" y="992695"/>
            <a:ext cx="8314055" cy="565619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5"/>
              <a:t>Execu</a:t>
            </a:r>
            <a:r>
              <a:rPr dirty="0"/>
              <a:t>ç</a:t>
            </a:r>
            <a:r>
              <a:rPr dirty="0" spc="-5"/>
              <a:t>ão</a:t>
            </a:r>
          </a:p>
        </p:txBody>
      </p:sp>
      <p:sp>
        <p:nvSpPr>
          <p:cNvPr id="5" name="object 5"/>
          <p:cNvSpPr/>
          <p:nvPr/>
        </p:nvSpPr>
        <p:spPr>
          <a:xfrm>
            <a:off x="3300984" y="3835908"/>
            <a:ext cx="5422392" cy="31089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347846" y="3861053"/>
            <a:ext cx="5328920" cy="216535"/>
          </a:xfrm>
          <a:custGeom>
            <a:avLst/>
            <a:gdLst/>
            <a:ahLst/>
            <a:cxnLst/>
            <a:rect l="l" t="t" r="r" b="b"/>
            <a:pathLst>
              <a:path w="5328920" h="216535">
                <a:moveTo>
                  <a:pt x="0" y="216027"/>
                </a:moveTo>
                <a:lnTo>
                  <a:pt x="5328539" y="216027"/>
                </a:lnTo>
                <a:lnTo>
                  <a:pt x="5328539" y="0"/>
                </a:lnTo>
                <a:lnTo>
                  <a:pt x="0" y="0"/>
                </a:lnTo>
                <a:lnTo>
                  <a:pt x="0" y="216027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488947" y="2449067"/>
            <a:ext cx="903731" cy="25755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618361" y="2514600"/>
            <a:ext cx="732790" cy="85725"/>
          </a:xfrm>
          <a:custGeom>
            <a:avLst/>
            <a:gdLst/>
            <a:ahLst/>
            <a:cxnLst/>
            <a:rect l="l" t="t" r="r" b="b"/>
            <a:pathLst>
              <a:path w="732789" h="85725">
                <a:moveTo>
                  <a:pt x="85725" y="0"/>
                </a:moveTo>
                <a:lnTo>
                  <a:pt x="0" y="42925"/>
                </a:lnTo>
                <a:lnTo>
                  <a:pt x="85725" y="85725"/>
                </a:lnTo>
                <a:lnTo>
                  <a:pt x="85725" y="57150"/>
                </a:lnTo>
                <a:lnTo>
                  <a:pt x="71500" y="57150"/>
                </a:lnTo>
                <a:lnTo>
                  <a:pt x="71500" y="28575"/>
                </a:lnTo>
                <a:lnTo>
                  <a:pt x="85725" y="28575"/>
                </a:lnTo>
                <a:lnTo>
                  <a:pt x="85725" y="0"/>
                </a:lnTo>
                <a:close/>
              </a:path>
              <a:path w="732789" h="85725">
                <a:moveTo>
                  <a:pt x="85725" y="28575"/>
                </a:moveTo>
                <a:lnTo>
                  <a:pt x="71500" y="28575"/>
                </a:lnTo>
                <a:lnTo>
                  <a:pt x="71500" y="57150"/>
                </a:lnTo>
                <a:lnTo>
                  <a:pt x="85725" y="57150"/>
                </a:lnTo>
                <a:lnTo>
                  <a:pt x="85725" y="28575"/>
                </a:lnTo>
                <a:close/>
              </a:path>
              <a:path w="732789" h="85725">
                <a:moveTo>
                  <a:pt x="732282" y="28575"/>
                </a:moveTo>
                <a:lnTo>
                  <a:pt x="85725" y="28575"/>
                </a:lnTo>
                <a:lnTo>
                  <a:pt x="85725" y="57150"/>
                </a:lnTo>
                <a:lnTo>
                  <a:pt x="732282" y="57150"/>
                </a:lnTo>
                <a:lnTo>
                  <a:pt x="732282" y="2857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1984120" y="2148928"/>
            <a:ext cx="2223135" cy="739140"/>
          </a:xfrm>
          <a:prstGeom prst="rect">
            <a:avLst/>
          </a:prstGeom>
          <a:solidFill>
            <a:srgbClr val="DDDDDD"/>
          </a:solidFill>
          <a:ln w="3175">
            <a:solidFill>
              <a:srgbClr val="000000"/>
            </a:solidFill>
          </a:ln>
        </p:spPr>
        <p:txBody>
          <a:bodyPr wrap="square" lIns="0" tIns="38735" rIns="0" bIns="0" rtlCol="0" vert="horz">
            <a:spAutoFit/>
          </a:bodyPr>
          <a:lstStyle/>
          <a:p>
            <a:pPr algn="ctr" marL="148590" marR="140970">
              <a:lnSpc>
                <a:spcPct val="100000"/>
              </a:lnSpc>
              <a:spcBef>
                <a:spcPts val="305"/>
              </a:spcBef>
            </a:pPr>
            <a:r>
              <a:rPr dirty="0" sz="1400" b="1">
                <a:latin typeface="Arial"/>
                <a:cs typeface="Arial"/>
              </a:rPr>
              <a:t>Incremento </a:t>
            </a:r>
            <a:r>
              <a:rPr dirty="0" sz="1400" spc="-5" b="1">
                <a:latin typeface="Arial"/>
                <a:cs typeface="Arial"/>
              </a:rPr>
              <a:t>da</a:t>
            </a:r>
            <a:r>
              <a:rPr dirty="0" sz="1400" spc="-13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variável  </a:t>
            </a:r>
            <a:r>
              <a:rPr dirty="0" sz="1400" b="1">
                <a:latin typeface="Arial"/>
                <a:cs typeface="Arial"/>
              </a:rPr>
              <a:t>e teste </a:t>
            </a:r>
            <a:r>
              <a:rPr dirty="0" sz="1400" spc="-5" b="1">
                <a:latin typeface="Arial"/>
                <a:cs typeface="Arial"/>
              </a:rPr>
              <a:t>da condição  </a:t>
            </a:r>
            <a:r>
              <a:rPr dirty="0" sz="1400" spc="-5" b="1" u="sng">
                <a:latin typeface="Arial"/>
                <a:cs typeface="Arial"/>
              </a:rPr>
              <a:t>verdadeiro</a:t>
            </a:r>
            <a:r>
              <a:rPr dirty="0" sz="1400" spc="-5" b="1">
                <a:latin typeface="Arial"/>
                <a:cs typeface="Arial"/>
              </a:rPr>
              <a:t>.</a:t>
            </a:r>
            <a:endParaRPr sz="1400">
              <a:latin typeface="Arial"/>
              <a:cs typeface="Arial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1105"/>
              </a:lnSpc>
            </a:pPr>
            <a:fld id="{81D60167-4931-47E6-BA6A-407CBD079E47}" type="slidenum">
              <a:rPr dirty="0" spc="-5"/>
              <a:t>10</a:t>
            </a:fld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35851" y="992695"/>
            <a:ext cx="8322564" cy="56561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5"/>
              <a:t>Execu</a:t>
            </a:r>
            <a:r>
              <a:rPr dirty="0"/>
              <a:t>ç</a:t>
            </a:r>
            <a:r>
              <a:rPr dirty="0" spc="-5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3300984" y="4052315"/>
            <a:ext cx="5422392" cy="31089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347846" y="4077080"/>
            <a:ext cx="5328920" cy="216535"/>
          </a:xfrm>
          <a:custGeom>
            <a:avLst/>
            <a:gdLst/>
            <a:ahLst/>
            <a:cxnLst/>
            <a:rect l="l" t="t" r="r" b="b"/>
            <a:pathLst>
              <a:path w="5328920" h="216535">
                <a:moveTo>
                  <a:pt x="0" y="216027"/>
                </a:moveTo>
                <a:lnTo>
                  <a:pt x="5328539" y="216027"/>
                </a:lnTo>
                <a:lnTo>
                  <a:pt x="5328539" y="0"/>
                </a:lnTo>
                <a:lnTo>
                  <a:pt x="0" y="0"/>
                </a:lnTo>
                <a:lnTo>
                  <a:pt x="0" y="216027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479803" y="3154679"/>
            <a:ext cx="868680" cy="27889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609089" y="3177285"/>
            <a:ext cx="696595" cy="139065"/>
          </a:xfrm>
          <a:custGeom>
            <a:avLst/>
            <a:gdLst/>
            <a:ahLst/>
            <a:cxnLst/>
            <a:rect l="l" t="t" r="r" b="b"/>
            <a:pathLst>
              <a:path w="696594" h="139064">
                <a:moveTo>
                  <a:pt x="79247" y="53721"/>
                </a:moveTo>
                <a:lnTo>
                  <a:pt x="0" y="107696"/>
                </a:lnTo>
                <a:lnTo>
                  <a:pt x="90678" y="138684"/>
                </a:lnTo>
                <a:lnTo>
                  <a:pt x="87124" y="112267"/>
                </a:lnTo>
                <a:lnTo>
                  <a:pt x="72771" y="112267"/>
                </a:lnTo>
                <a:lnTo>
                  <a:pt x="68960" y="83947"/>
                </a:lnTo>
                <a:lnTo>
                  <a:pt x="83059" y="82049"/>
                </a:lnTo>
                <a:lnTo>
                  <a:pt x="79247" y="53721"/>
                </a:lnTo>
                <a:close/>
              </a:path>
              <a:path w="696594" h="139064">
                <a:moveTo>
                  <a:pt x="83059" y="82049"/>
                </a:moveTo>
                <a:lnTo>
                  <a:pt x="68960" y="83947"/>
                </a:lnTo>
                <a:lnTo>
                  <a:pt x="72771" y="112267"/>
                </a:lnTo>
                <a:lnTo>
                  <a:pt x="86869" y="110370"/>
                </a:lnTo>
                <a:lnTo>
                  <a:pt x="83059" y="82049"/>
                </a:lnTo>
                <a:close/>
              </a:path>
              <a:path w="696594" h="139064">
                <a:moveTo>
                  <a:pt x="86869" y="110370"/>
                </a:moveTo>
                <a:lnTo>
                  <a:pt x="72771" y="112267"/>
                </a:lnTo>
                <a:lnTo>
                  <a:pt x="87124" y="112267"/>
                </a:lnTo>
                <a:lnTo>
                  <a:pt x="86869" y="110370"/>
                </a:lnTo>
                <a:close/>
              </a:path>
              <a:path w="696594" h="139064">
                <a:moveTo>
                  <a:pt x="692785" y="0"/>
                </a:moveTo>
                <a:lnTo>
                  <a:pt x="83059" y="82049"/>
                </a:lnTo>
                <a:lnTo>
                  <a:pt x="86869" y="110370"/>
                </a:lnTo>
                <a:lnTo>
                  <a:pt x="696595" y="28321"/>
                </a:lnTo>
                <a:lnTo>
                  <a:pt x="692785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479803" y="3032760"/>
            <a:ext cx="867156" cy="25755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609089" y="3104388"/>
            <a:ext cx="695960" cy="101600"/>
          </a:xfrm>
          <a:custGeom>
            <a:avLst/>
            <a:gdLst/>
            <a:ahLst/>
            <a:cxnLst/>
            <a:rect l="l" t="t" r="r" b="b"/>
            <a:pathLst>
              <a:path w="695960" h="101600">
                <a:moveTo>
                  <a:pt x="86567" y="28590"/>
                </a:moveTo>
                <a:lnTo>
                  <a:pt x="84498" y="57044"/>
                </a:lnTo>
                <a:lnTo>
                  <a:pt x="693673" y="101346"/>
                </a:lnTo>
                <a:lnTo>
                  <a:pt x="695705" y="72898"/>
                </a:lnTo>
                <a:lnTo>
                  <a:pt x="86567" y="28590"/>
                </a:lnTo>
                <a:close/>
              </a:path>
              <a:path w="695960" h="101600">
                <a:moveTo>
                  <a:pt x="88646" y="0"/>
                </a:moveTo>
                <a:lnTo>
                  <a:pt x="0" y="36575"/>
                </a:lnTo>
                <a:lnTo>
                  <a:pt x="82422" y="85598"/>
                </a:lnTo>
                <a:lnTo>
                  <a:pt x="84498" y="57044"/>
                </a:lnTo>
                <a:lnTo>
                  <a:pt x="70230" y="56007"/>
                </a:lnTo>
                <a:lnTo>
                  <a:pt x="72390" y="27559"/>
                </a:lnTo>
                <a:lnTo>
                  <a:pt x="86642" y="27559"/>
                </a:lnTo>
                <a:lnTo>
                  <a:pt x="88646" y="0"/>
                </a:lnTo>
                <a:close/>
              </a:path>
              <a:path w="695960" h="101600">
                <a:moveTo>
                  <a:pt x="72390" y="27559"/>
                </a:moveTo>
                <a:lnTo>
                  <a:pt x="70230" y="56007"/>
                </a:lnTo>
                <a:lnTo>
                  <a:pt x="84498" y="57044"/>
                </a:lnTo>
                <a:lnTo>
                  <a:pt x="86567" y="28590"/>
                </a:lnTo>
                <a:lnTo>
                  <a:pt x="72390" y="27559"/>
                </a:lnTo>
                <a:close/>
              </a:path>
              <a:path w="695960" h="101600">
                <a:moveTo>
                  <a:pt x="86642" y="27559"/>
                </a:moveTo>
                <a:lnTo>
                  <a:pt x="72390" y="27559"/>
                </a:lnTo>
                <a:lnTo>
                  <a:pt x="86567" y="28590"/>
                </a:lnTo>
                <a:lnTo>
                  <a:pt x="86642" y="2755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2303779" y="2822155"/>
            <a:ext cx="2088514" cy="739140"/>
          </a:xfrm>
          <a:prstGeom prst="rect">
            <a:avLst/>
          </a:prstGeom>
          <a:solidFill>
            <a:srgbClr val="DDDDDD"/>
          </a:solidFill>
          <a:ln w="3175">
            <a:solidFill>
              <a:srgbClr val="000000"/>
            </a:solidFill>
          </a:ln>
        </p:spPr>
        <p:txBody>
          <a:bodyPr wrap="square" lIns="0" tIns="38735" rIns="0" bIns="0" rtlCol="0" vert="horz">
            <a:spAutoFit/>
          </a:bodyPr>
          <a:lstStyle/>
          <a:p>
            <a:pPr algn="ctr" marL="95885" marR="88900" indent="635">
              <a:lnSpc>
                <a:spcPct val="100000"/>
              </a:lnSpc>
              <a:spcBef>
                <a:spcPts val="305"/>
              </a:spcBef>
            </a:pPr>
            <a:r>
              <a:rPr dirty="0" sz="1400" b="1">
                <a:latin typeface="Arial"/>
                <a:cs typeface="Arial"/>
              </a:rPr>
              <a:t>Início </a:t>
            </a:r>
            <a:r>
              <a:rPr dirty="0" sz="1400" spc="-5" b="1">
                <a:latin typeface="Arial"/>
                <a:cs typeface="Arial"/>
              </a:rPr>
              <a:t>da inversão do  </a:t>
            </a:r>
            <a:r>
              <a:rPr dirty="0" sz="1400" b="1">
                <a:latin typeface="Arial"/>
                <a:cs typeface="Arial"/>
              </a:rPr>
              <a:t>terceiro elemento</a:t>
            </a:r>
            <a:r>
              <a:rPr dirty="0" sz="1400" spc="-15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com  </a:t>
            </a:r>
            <a:r>
              <a:rPr dirty="0" sz="1400" b="1">
                <a:latin typeface="Arial"/>
                <a:cs typeface="Arial"/>
              </a:rPr>
              <a:t>o</a:t>
            </a:r>
            <a:r>
              <a:rPr dirty="0" sz="1400" spc="-7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antepenúltimo</a:t>
            </a:r>
            <a:endParaRPr sz="1400">
              <a:latin typeface="Arial"/>
              <a:cs typeface="Arial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1105"/>
              </a:lnSpc>
            </a:pPr>
            <a:fld id="{81D60167-4931-47E6-BA6A-407CBD079E47}" type="slidenum">
              <a:rPr dirty="0" spc="-5"/>
              <a:t>10</a:t>
            </a:fld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35851" y="1013205"/>
            <a:ext cx="8322564" cy="567334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435851" y="1013256"/>
            <a:ext cx="8322564" cy="569302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5"/>
              <a:t>Execu</a:t>
            </a:r>
            <a:r>
              <a:rPr dirty="0"/>
              <a:t>ç</a:t>
            </a:r>
            <a:r>
              <a:rPr dirty="0" spc="-5"/>
              <a:t>ão</a:t>
            </a:r>
          </a:p>
        </p:txBody>
      </p:sp>
      <p:sp>
        <p:nvSpPr>
          <p:cNvPr id="5" name="object 5"/>
          <p:cNvSpPr/>
          <p:nvPr/>
        </p:nvSpPr>
        <p:spPr>
          <a:xfrm>
            <a:off x="3300984" y="4340352"/>
            <a:ext cx="5422392" cy="31089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347846" y="4365116"/>
            <a:ext cx="5328920" cy="216535"/>
          </a:xfrm>
          <a:custGeom>
            <a:avLst/>
            <a:gdLst/>
            <a:ahLst/>
            <a:cxnLst/>
            <a:rect l="l" t="t" r="r" b="b"/>
            <a:pathLst>
              <a:path w="5328920" h="216535">
                <a:moveTo>
                  <a:pt x="0" y="216026"/>
                </a:moveTo>
                <a:lnTo>
                  <a:pt x="5328539" y="216026"/>
                </a:lnTo>
                <a:lnTo>
                  <a:pt x="5328539" y="0"/>
                </a:lnTo>
                <a:lnTo>
                  <a:pt x="0" y="0"/>
                </a:lnTo>
                <a:lnTo>
                  <a:pt x="0" y="216026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479803" y="3154679"/>
            <a:ext cx="870204" cy="33985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609089" y="3177539"/>
            <a:ext cx="697865" cy="191135"/>
          </a:xfrm>
          <a:custGeom>
            <a:avLst/>
            <a:gdLst/>
            <a:ahLst/>
            <a:cxnLst/>
            <a:rect l="l" t="t" r="r" b="b"/>
            <a:pathLst>
              <a:path w="697864" h="191135">
                <a:moveTo>
                  <a:pt x="74422" y="107442"/>
                </a:moveTo>
                <a:lnTo>
                  <a:pt x="0" y="167894"/>
                </a:lnTo>
                <a:lnTo>
                  <a:pt x="93090" y="191135"/>
                </a:lnTo>
                <a:lnTo>
                  <a:pt x="87566" y="166370"/>
                </a:lnTo>
                <a:lnTo>
                  <a:pt x="72897" y="166370"/>
                </a:lnTo>
                <a:lnTo>
                  <a:pt x="66674" y="138430"/>
                </a:lnTo>
                <a:lnTo>
                  <a:pt x="80644" y="135335"/>
                </a:lnTo>
                <a:lnTo>
                  <a:pt x="74422" y="107442"/>
                </a:lnTo>
                <a:close/>
              </a:path>
              <a:path w="697864" h="191135">
                <a:moveTo>
                  <a:pt x="80644" y="135335"/>
                </a:moveTo>
                <a:lnTo>
                  <a:pt x="66674" y="138430"/>
                </a:lnTo>
                <a:lnTo>
                  <a:pt x="72897" y="166370"/>
                </a:lnTo>
                <a:lnTo>
                  <a:pt x="86876" y="163273"/>
                </a:lnTo>
                <a:lnTo>
                  <a:pt x="80644" y="135335"/>
                </a:lnTo>
                <a:close/>
              </a:path>
              <a:path w="697864" h="191135">
                <a:moveTo>
                  <a:pt x="86876" y="163273"/>
                </a:moveTo>
                <a:lnTo>
                  <a:pt x="72897" y="166370"/>
                </a:lnTo>
                <a:lnTo>
                  <a:pt x="87566" y="166370"/>
                </a:lnTo>
                <a:lnTo>
                  <a:pt x="86876" y="163273"/>
                </a:lnTo>
                <a:close/>
              </a:path>
              <a:path w="697864" h="191135">
                <a:moveTo>
                  <a:pt x="691515" y="0"/>
                </a:moveTo>
                <a:lnTo>
                  <a:pt x="80644" y="135335"/>
                </a:lnTo>
                <a:lnTo>
                  <a:pt x="86876" y="163273"/>
                </a:lnTo>
                <a:lnTo>
                  <a:pt x="697737" y="27939"/>
                </a:lnTo>
                <a:lnTo>
                  <a:pt x="691515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479803" y="3083051"/>
            <a:ext cx="867156" cy="25755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609089" y="3148583"/>
            <a:ext cx="694690" cy="85725"/>
          </a:xfrm>
          <a:custGeom>
            <a:avLst/>
            <a:gdLst/>
            <a:ahLst/>
            <a:cxnLst/>
            <a:rect l="l" t="t" r="r" b="b"/>
            <a:pathLst>
              <a:path w="694689" h="85725">
                <a:moveTo>
                  <a:pt x="85724" y="0"/>
                </a:moveTo>
                <a:lnTo>
                  <a:pt x="0" y="42925"/>
                </a:lnTo>
                <a:lnTo>
                  <a:pt x="85724" y="85725"/>
                </a:lnTo>
                <a:lnTo>
                  <a:pt x="85724" y="57150"/>
                </a:lnTo>
                <a:lnTo>
                  <a:pt x="71501" y="57150"/>
                </a:lnTo>
                <a:lnTo>
                  <a:pt x="71501" y="28575"/>
                </a:lnTo>
                <a:lnTo>
                  <a:pt x="85724" y="28575"/>
                </a:lnTo>
                <a:lnTo>
                  <a:pt x="85724" y="0"/>
                </a:lnTo>
                <a:close/>
              </a:path>
              <a:path w="694689" h="85725">
                <a:moveTo>
                  <a:pt x="85724" y="28575"/>
                </a:moveTo>
                <a:lnTo>
                  <a:pt x="71501" y="28575"/>
                </a:lnTo>
                <a:lnTo>
                  <a:pt x="71501" y="57150"/>
                </a:lnTo>
                <a:lnTo>
                  <a:pt x="85724" y="57150"/>
                </a:lnTo>
                <a:lnTo>
                  <a:pt x="85724" y="28575"/>
                </a:lnTo>
                <a:close/>
              </a:path>
              <a:path w="694689" h="85725">
                <a:moveTo>
                  <a:pt x="694690" y="28575"/>
                </a:moveTo>
                <a:lnTo>
                  <a:pt x="85724" y="28575"/>
                </a:lnTo>
                <a:lnTo>
                  <a:pt x="85724" y="57150"/>
                </a:lnTo>
                <a:lnTo>
                  <a:pt x="694690" y="57150"/>
                </a:lnTo>
                <a:lnTo>
                  <a:pt x="694690" y="2857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2298826" y="3037662"/>
            <a:ext cx="1872614" cy="307975"/>
          </a:xfrm>
          <a:prstGeom prst="rect">
            <a:avLst/>
          </a:prstGeom>
          <a:solidFill>
            <a:srgbClr val="DDDDDD"/>
          </a:solidFill>
          <a:ln w="3175">
            <a:solidFill>
              <a:srgbClr val="000000"/>
            </a:solidFill>
          </a:ln>
        </p:spPr>
        <p:txBody>
          <a:bodyPr wrap="square" lIns="0" tIns="38735" rIns="0" bIns="0" rtlCol="0" vert="horz">
            <a:spAutoFit/>
          </a:bodyPr>
          <a:lstStyle/>
          <a:p>
            <a:pPr marL="321945">
              <a:lnSpc>
                <a:spcPct val="100000"/>
              </a:lnSpc>
              <a:spcBef>
                <a:spcPts val="305"/>
              </a:spcBef>
            </a:pPr>
            <a:r>
              <a:rPr dirty="0" sz="1400" spc="-5" b="1">
                <a:latin typeface="Arial"/>
                <a:cs typeface="Arial"/>
              </a:rPr>
              <a:t>Continuação...</a:t>
            </a:r>
            <a:endParaRPr sz="1400">
              <a:latin typeface="Arial"/>
              <a:cs typeface="Arial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1105"/>
              </a:lnSpc>
            </a:pPr>
            <a:fld id="{81D60167-4931-47E6-BA6A-407CBD079E47}" type="slidenum">
              <a:rPr dirty="0" spc="-5"/>
              <a:t>10</a:t>
            </a:fld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35851" y="1013205"/>
            <a:ext cx="8335009" cy="567334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5"/>
              <a:t>Execu</a:t>
            </a:r>
            <a:r>
              <a:rPr dirty="0"/>
              <a:t>ç</a:t>
            </a:r>
            <a:r>
              <a:rPr dirty="0" spc="-5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3300984" y="3404615"/>
            <a:ext cx="5422392" cy="31089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347846" y="3429000"/>
            <a:ext cx="5328920" cy="216535"/>
          </a:xfrm>
          <a:custGeom>
            <a:avLst/>
            <a:gdLst/>
            <a:ahLst/>
            <a:cxnLst/>
            <a:rect l="l" t="t" r="r" b="b"/>
            <a:pathLst>
              <a:path w="5328920" h="216535">
                <a:moveTo>
                  <a:pt x="0" y="216026"/>
                </a:moveTo>
                <a:lnTo>
                  <a:pt x="5328539" y="216026"/>
                </a:lnTo>
                <a:lnTo>
                  <a:pt x="5328539" y="0"/>
                </a:lnTo>
                <a:lnTo>
                  <a:pt x="0" y="0"/>
                </a:lnTo>
                <a:lnTo>
                  <a:pt x="0" y="216026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479803" y="3186683"/>
            <a:ext cx="868680" cy="27889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609089" y="3208654"/>
            <a:ext cx="696595" cy="139065"/>
          </a:xfrm>
          <a:custGeom>
            <a:avLst/>
            <a:gdLst/>
            <a:ahLst/>
            <a:cxnLst/>
            <a:rect l="l" t="t" r="r" b="b"/>
            <a:pathLst>
              <a:path w="696594" h="139064">
                <a:moveTo>
                  <a:pt x="79247" y="53721"/>
                </a:moveTo>
                <a:lnTo>
                  <a:pt x="0" y="107696"/>
                </a:lnTo>
                <a:lnTo>
                  <a:pt x="90678" y="138684"/>
                </a:lnTo>
                <a:lnTo>
                  <a:pt x="87124" y="112268"/>
                </a:lnTo>
                <a:lnTo>
                  <a:pt x="72771" y="112268"/>
                </a:lnTo>
                <a:lnTo>
                  <a:pt x="68960" y="83947"/>
                </a:lnTo>
                <a:lnTo>
                  <a:pt x="83059" y="82049"/>
                </a:lnTo>
                <a:lnTo>
                  <a:pt x="79247" y="53721"/>
                </a:lnTo>
                <a:close/>
              </a:path>
              <a:path w="696594" h="139064">
                <a:moveTo>
                  <a:pt x="83059" y="82049"/>
                </a:moveTo>
                <a:lnTo>
                  <a:pt x="68960" y="83947"/>
                </a:lnTo>
                <a:lnTo>
                  <a:pt x="72771" y="112268"/>
                </a:lnTo>
                <a:lnTo>
                  <a:pt x="86869" y="110370"/>
                </a:lnTo>
                <a:lnTo>
                  <a:pt x="83059" y="82049"/>
                </a:lnTo>
                <a:close/>
              </a:path>
              <a:path w="696594" h="139064">
                <a:moveTo>
                  <a:pt x="86869" y="110370"/>
                </a:moveTo>
                <a:lnTo>
                  <a:pt x="72771" y="112268"/>
                </a:lnTo>
                <a:lnTo>
                  <a:pt x="87124" y="112268"/>
                </a:lnTo>
                <a:lnTo>
                  <a:pt x="86869" y="110370"/>
                </a:lnTo>
                <a:close/>
              </a:path>
              <a:path w="696594" h="139064">
                <a:moveTo>
                  <a:pt x="692785" y="0"/>
                </a:moveTo>
                <a:lnTo>
                  <a:pt x="83059" y="82049"/>
                </a:lnTo>
                <a:lnTo>
                  <a:pt x="86869" y="110370"/>
                </a:lnTo>
                <a:lnTo>
                  <a:pt x="696595" y="28321"/>
                </a:lnTo>
                <a:lnTo>
                  <a:pt x="692785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479803" y="3063239"/>
            <a:ext cx="867156" cy="25755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609089" y="3135757"/>
            <a:ext cx="695960" cy="101600"/>
          </a:xfrm>
          <a:custGeom>
            <a:avLst/>
            <a:gdLst/>
            <a:ahLst/>
            <a:cxnLst/>
            <a:rect l="l" t="t" r="r" b="b"/>
            <a:pathLst>
              <a:path w="695960" h="101600">
                <a:moveTo>
                  <a:pt x="86567" y="28590"/>
                </a:moveTo>
                <a:lnTo>
                  <a:pt x="84498" y="57044"/>
                </a:lnTo>
                <a:lnTo>
                  <a:pt x="693673" y="101345"/>
                </a:lnTo>
                <a:lnTo>
                  <a:pt x="695705" y="72897"/>
                </a:lnTo>
                <a:lnTo>
                  <a:pt x="86567" y="28590"/>
                </a:lnTo>
                <a:close/>
              </a:path>
              <a:path w="695960" h="101600">
                <a:moveTo>
                  <a:pt x="88646" y="0"/>
                </a:moveTo>
                <a:lnTo>
                  <a:pt x="0" y="36575"/>
                </a:lnTo>
                <a:lnTo>
                  <a:pt x="82422" y="85597"/>
                </a:lnTo>
                <a:lnTo>
                  <a:pt x="84498" y="57044"/>
                </a:lnTo>
                <a:lnTo>
                  <a:pt x="70230" y="56006"/>
                </a:lnTo>
                <a:lnTo>
                  <a:pt x="72390" y="27558"/>
                </a:lnTo>
                <a:lnTo>
                  <a:pt x="86642" y="27558"/>
                </a:lnTo>
                <a:lnTo>
                  <a:pt x="88646" y="0"/>
                </a:lnTo>
                <a:close/>
              </a:path>
              <a:path w="695960" h="101600">
                <a:moveTo>
                  <a:pt x="72390" y="27558"/>
                </a:moveTo>
                <a:lnTo>
                  <a:pt x="70230" y="56006"/>
                </a:lnTo>
                <a:lnTo>
                  <a:pt x="84498" y="57044"/>
                </a:lnTo>
                <a:lnTo>
                  <a:pt x="86567" y="28590"/>
                </a:lnTo>
                <a:lnTo>
                  <a:pt x="72390" y="27558"/>
                </a:lnTo>
                <a:close/>
              </a:path>
              <a:path w="695960" h="101600">
                <a:moveTo>
                  <a:pt x="86642" y="27558"/>
                </a:moveTo>
                <a:lnTo>
                  <a:pt x="72390" y="27558"/>
                </a:lnTo>
                <a:lnTo>
                  <a:pt x="86567" y="28590"/>
                </a:lnTo>
                <a:lnTo>
                  <a:pt x="86642" y="27558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2277745" y="3068904"/>
            <a:ext cx="1872614" cy="307975"/>
          </a:xfrm>
          <a:prstGeom prst="rect">
            <a:avLst/>
          </a:prstGeom>
          <a:solidFill>
            <a:srgbClr val="DDDDDD"/>
          </a:solidFill>
          <a:ln w="3175">
            <a:solidFill>
              <a:srgbClr val="000000"/>
            </a:solidFill>
          </a:ln>
        </p:spPr>
        <p:txBody>
          <a:bodyPr wrap="square" lIns="0" tIns="38735" rIns="0" bIns="0" rtlCol="0" vert="horz">
            <a:spAutoFit/>
          </a:bodyPr>
          <a:lstStyle/>
          <a:p>
            <a:pPr marL="257810">
              <a:lnSpc>
                <a:spcPct val="100000"/>
              </a:lnSpc>
              <a:spcBef>
                <a:spcPts val="305"/>
              </a:spcBef>
            </a:pPr>
            <a:r>
              <a:rPr dirty="0" sz="1400" spc="-5" b="1">
                <a:latin typeface="Arial"/>
                <a:cs typeface="Arial"/>
              </a:rPr>
              <a:t>Fim da</a:t>
            </a:r>
            <a:r>
              <a:rPr dirty="0" sz="1400" spc="-8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inversão</a:t>
            </a:r>
            <a:endParaRPr sz="1400">
              <a:latin typeface="Arial"/>
              <a:cs typeface="Arial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1105"/>
              </a:lnSpc>
            </a:pPr>
            <a:fld id="{81D60167-4931-47E6-BA6A-407CBD079E47}" type="slidenum">
              <a:rPr dirty="0" spc="-5"/>
              <a:t>10</a:t>
            </a:fld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35851" y="1017574"/>
            <a:ext cx="8335009" cy="569036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5"/>
              <a:t>Execu</a:t>
            </a:r>
            <a:r>
              <a:rPr dirty="0"/>
              <a:t>ç</a:t>
            </a:r>
            <a:r>
              <a:rPr dirty="0" spc="-5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1488947" y="2449067"/>
            <a:ext cx="903731" cy="25755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618361" y="2514600"/>
            <a:ext cx="732790" cy="85725"/>
          </a:xfrm>
          <a:custGeom>
            <a:avLst/>
            <a:gdLst/>
            <a:ahLst/>
            <a:cxnLst/>
            <a:rect l="l" t="t" r="r" b="b"/>
            <a:pathLst>
              <a:path w="732789" h="85725">
                <a:moveTo>
                  <a:pt x="85725" y="0"/>
                </a:moveTo>
                <a:lnTo>
                  <a:pt x="0" y="42925"/>
                </a:lnTo>
                <a:lnTo>
                  <a:pt x="85725" y="85725"/>
                </a:lnTo>
                <a:lnTo>
                  <a:pt x="85725" y="57150"/>
                </a:lnTo>
                <a:lnTo>
                  <a:pt x="71500" y="57150"/>
                </a:lnTo>
                <a:lnTo>
                  <a:pt x="71500" y="28575"/>
                </a:lnTo>
                <a:lnTo>
                  <a:pt x="85725" y="28575"/>
                </a:lnTo>
                <a:lnTo>
                  <a:pt x="85725" y="0"/>
                </a:lnTo>
                <a:close/>
              </a:path>
              <a:path w="732789" h="85725">
                <a:moveTo>
                  <a:pt x="85725" y="28575"/>
                </a:moveTo>
                <a:lnTo>
                  <a:pt x="71500" y="28575"/>
                </a:lnTo>
                <a:lnTo>
                  <a:pt x="71500" y="57150"/>
                </a:lnTo>
                <a:lnTo>
                  <a:pt x="85725" y="57150"/>
                </a:lnTo>
                <a:lnTo>
                  <a:pt x="85725" y="28575"/>
                </a:lnTo>
                <a:close/>
              </a:path>
              <a:path w="732789" h="85725">
                <a:moveTo>
                  <a:pt x="732282" y="28575"/>
                </a:moveTo>
                <a:lnTo>
                  <a:pt x="85725" y="28575"/>
                </a:lnTo>
                <a:lnTo>
                  <a:pt x="85725" y="57150"/>
                </a:lnTo>
                <a:lnTo>
                  <a:pt x="732282" y="57150"/>
                </a:lnTo>
                <a:lnTo>
                  <a:pt x="732282" y="2857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984120" y="2148928"/>
            <a:ext cx="2223135" cy="739140"/>
          </a:xfrm>
          <a:prstGeom prst="rect">
            <a:avLst/>
          </a:prstGeom>
          <a:solidFill>
            <a:srgbClr val="DDDDDD"/>
          </a:solidFill>
          <a:ln w="3175">
            <a:solidFill>
              <a:srgbClr val="000000"/>
            </a:solidFill>
          </a:ln>
        </p:spPr>
        <p:txBody>
          <a:bodyPr wrap="square" lIns="0" tIns="38735" rIns="0" bIns="0" rtlCol="0" vert="horz">
            <a:spAutoFit/>
          </a:bodyPr>
          <a:lstStyle/>
          <a:p>
            <a:pPr algn="ctr" marL="148590" marR="140970">
              <a:lnSpc>
                <a:spcPct val="100000"/>
              </a:lnSpc>
              <a:spcBef>
                <a:spcPts val="305"/>
              </a:spcBef>
            </a:pPr>
            <a:r>
              <a:rPr dirty="0" sz="1400" b="1">
                <a:latin typeface="Arial"/>
                <a:cs typeface="Arial"/>
              </a:rPr>
              <a:t>Incremento </a:t>
            </a:r>
            <a:r>
              <a:rPr dirty="0" sz="1400" spc="-5" b="1">
                <a:latin typeface="Arial"/>
                <a:cs typeface="Arial"/>
              </a:rPr>
              <a:t>da</a:t>
            </a:r>
            <a:r>
              <a:rPr dirty="0" sz="1400" spc="-13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variável  </a:t>
            </a:r>
            <a:r>
              <a:rPr dirty="0" sz="1400" b="1">
                <a:latin typeface="Arial"/>
                <a:cs typeface="Arial"/>
              </a:rPr>
              <a:t>e teste </a:t>
            </a:r>
            <a:r>
              <a:rPr dirty="0" sz="1400" spc="-5" b="1">
                <a:latin typeface="Arial"/>
                <a:cs typeface="Arial"/>
              </a:rPr>
              <a:t>da condição  </a:t>
            </a:r>
            <a:r>
              <a:rPr dirty="0" sz="1400" b="1" u="sng">
                <a:latin typeface="Arial"/>
                <a:cs typeface="Arial"/>
              </a:rPr>
              <a:t>falso</a:t>
            </a:r>
            <a:r>
              <a:rPr dirty="0" sz="1400" b="1">
                <a:latin typeface="Arial"/>
                <a:cs typeface="Arial"/>
              </a:rPr>
              <a:t>.</a:t>
            </a:r>
            <a:endParaRPr sz="14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300984" y="4832603"/>
            <a:ext cx="5422392" cy="31089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347846" y="4856607"/>
            <a:ext cx="5328920" cy="216535"/>
          </a:xfrm>
          <a:custGeom>
            <a:avLst/>
            <a:gdLst/>
            <a:ahLst/>
            <a:cxnLst/>
            <a:rect l="l" t="t" r="r" b="b"/>
            <a:pathLst>
              <a:path w="5328920" h="216535">
                <a:moveTo>
                  <a:pt x="0" y="216027"/>
                </a:moveTo>
                <a:lnTo>
                  <a:pt x="5328539" y="216027"/>
                </a:lnTo>
                <a:lnTo>
                  <a:pt x="5328539" y="0"/>
                </a:lnTo>
                <a:lnTo>
                  <a:pt x="0" y="0"/>
                </a:lnTo>
                <a:lnTo>
                  <a:pt x="0" y="216027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1105"/>
              </a:lnSpc>
            </a:pPr>
            <a:fld id="{81D60167-4931-47E6-BA6A-407CBD079E47}" type="slidenum">
              <a:rPr dirty="0" spc="-5"/>
              <a:t>10</a:t>
            </a:fld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18465" y="1017574"/>
            <a:ext cx="8360156" cy="569036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5"/>
              <a:t>Execu</a:t>
            </a:r>
            <a:r>
              <a:rPr dirty="0"/>
              <a:t>ç</a:t>
            </a:r>
            <a:r>
              <a:rPr dirty="0" spc="-5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3300984" y="5061203"/>
            <a:ext cx="5422392" cy="31089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347846" y="5085207"/>
            <a:ext cx="5328920" cy="216535"/>
          </a:xfrm>
          <a:custGeom>
            <a:avLst/>
            <a:gdLst/>
            <a:ahLst/>
            <a:cxnLst/>
            <a:rect l="l" t="t" r="r" b="b"/>
            <a:pathLst>
              <a:path w="5328920" h="216535">
                <a:moveTo>
                  <a:pt x="0" y="216027"/>
                </a:moveTo>
                <a:lnTo>
                  <a:pt x="5328539" y="216027"/>
                </a:lnTo>
                <a:lnTo>
                  <a:pt x="5328539" y="0"/>
                </a:lnTo>
                <a:lnTo>
                  <a:pt x="0" y="0"/>
                </a:lnTo>
                <a:lnTo>
                  <a:pt x="0" y="216027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679448" y="5049011"/>
            <a:ext cx="1653539" cy="29260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721866" y="5071490"/>
            <a:ext cx="1482090" cy="158750"/>
          </a:xfrm>
          <a:custGeom>
            <a:avLst/>
            <a:gdLst/>
            <a:ahLst/>
            <a:cxnLst/>
            <a:rect l="l" t="t" r="r" b="b"/>
            <a:pathLst>
              <a:path w="1482089" h="158750">
                <a:moveTo>
                  <a:pt x="1399539" y="72770"/>
                </a:moveTo>
                <a:lnTo>
                  <a:pt x="1397470" y="101200"/>
                </a:lnTo>
                <a:lnTo>
                  <a:pt x="1411732" y="102234"/>
                </a:lnTo>
                <a:lnTo>
                  <a:pt x="1409700" y="130809"/>
                </a:lnTo>
                <a:lnTo>
                  <a:pt x="1395314" y="130809"/>
                </a:lnTo>
                <a:lnTo>
                  <a:pt x="1393316" y="158241"/>
                </a:lnTo>
                <a:lnTo>
                  <a:pt x="1459801" y="130809"/>
                </a:lnTo>
                <a:lnTo>
                  <a:pt x="1409700" y="130809"/>
                </a:lnTo>
                <a:lnTo>
                  <a:pt x="1395389" y="129772"/>
                </a:lnTo>
                <a:lnTo>
                  <a:pt x="1462316" y="129772"/>
                </a:lnTo>
                <a:lnTo>
                  <a:pt x="1481963" y="121665"/>
                </a:lnTo>
                <a:lnTo>
                  <a:pt x="1399539" y="72770"/>
                </a:lnTo>
                <a:close/>
              </a:path>
              <a:path w="1482089" h="158750">
                <a:moveTo>
                  <a:pt x="1397470" y="101200"/>
                </a:moveTo>
                <a:lnTo>
                  <a:pt x="1395389" y="129772"/>
                </a:lnTo>
                <a:lnTo>
                  <a:pt x="1409700" y="130809"/>
                </a:lnTo>
                <a:lnTo>
                  <a:pt x="1411732" y="102234"/>
                </a:lnTo>
                <a:lnTo>
                  <a:pt x="1397470" y="101200"/>
                </a:lnTo>
                <a:close/>
              </a:path>
              <a:path w="1482089" h="158750">
                <a:moveTo>
                  <a:pt x="2158" y="0"/>
                </a:moveTo>
                <a:lnTo>
                  <a:pt x="0" y="28574"/>
                </a:lnTo>
                <a:lnTo>
                  <a:pt x="1395389" y="129772"/>
                </a:lnTo>
                <a:lnTo>
                  <a:pt x="1397470" y="101200"/>
                </a:lnTo>
                <a:lnTo>
                  <a:pt x="2158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611555" y="4562500"/>
            <a:ext cx="2223135" cy="523240"/>
          </a:xfrm>
          <a:prstGeom prst="rect">
            <a:avLst/>
          </a:prstGeom>
          <a:solidFill>
            <a:srgbClr val="DDDDDD"/>
          </a:solidFill>
          <a:ln w="3175">
            <a:solidFill>
              <a:srgbClr val="000000"/>
            </a:solidFill>
          </a:ln>
        </p:spPr>
        <p:txBody>
          <a:bodyPr wrap="square" lIns="0" tIns="39370" rIns="0" bIns="0" rtlCol="0" vert="horz">
            <a:spAutoFit/>
          </a:bodyPr>
          <a:lstStyle/>
          <a:p>
            <a:pPr marL="297815" marR="289560" indent="137160">
              <a:lnSpc>
                <a:spcPct val="100000"/>
              </a:lnSpc>
              <a:spcBef>
                <a:spcPts val="310"/>
              </a:spcBef>
            </a:pPr>
            <a:r>
              <a:rPr dirty="0" sz="1400" b="1">
                <a:latin typeface="Arial"/>
                <a:cs typeface="Arial"/>
              </a:rPr>
              <a:t>Impressões </a:t>
            </a:r>
            <a:r>
              <a:rPr dirty="0" sz="1400" spc="-5" b="1">
                <a:latin typeface="Arial"/>
                <a:cs typeface="Arial"/>
              </a:rPr>
              <a:t>dos  elementos do</a:t>
            </a:r>
            <a:r>
              <a:rPr dirty="0" sz="1400" spc="-95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vetor</a:t>
            </a:r>
            <a:endParaRPr sz="14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517903" y="2426207"/>
            <a:ext cx="585216" cy="25755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646427" y="2491485"/>
            <a:ext cx="414020" cy="85725"/>
          </a:xfrm>
          <a:custGeom>
            <a:avLst/>
            <a:gdLst/>
            <a:ahLst/>
            <a:cxnLst/>
            <a:rect l="l" t="t" r="r" b="b"/>
            <a:pathLst>
              <a:path w="414019" h="85725">
                <a:moveTo>
                  <a:pt x="85725" y="0"/>
                </a:moveTo>
                <a:lnTo>
                  <a:pt x="0" y="42925"/>
                </a:lnTo>
                <a:lnTo>
                  <a:pt x="85725" y="85725"/>
                </a:lnTo>
                <a:lnTo>
                  <a:pt x="85725" y="57150"/>
                </a:lnTo>
                <a:lnTo>
                  <a:pt x="71501" y="57150"/>
                </a:lnTo>
                <a:lnTo>
                  <a:pt x="71501" y="28575"/>
                </a:lnTo>
                <a:lnTo>
                  <a:pt x="85725" y="28575"/>
                </a:lnTo>
                <a:lnTo>
                  <a:pt x="85725" y="0"/>
                </a:lnTo>
                <a:close/>
              </a:path>
              <a:path w="414019" h="85725">
                <a:moveTo>
                  <a:pt x="85725" y="28575"/>
                </a:moveTo>
                <a:lnTo>
                  <a:pt x="71501" y="28575"/>
                </a:lnTo>
                <a:lnTo>
                  <a:pt x="71501" y="57150"/>
                </a:lnTo>
                <a:lnTo>
                  <a:pt x="85725" y="57150"/>
                </a:lnTo>
                <a:lnTo>
                  <a:pt x="85725" y="28575"/>
                </a:lnTo>
                <a:close/>
              </a:path>
              <a:path w="414019" h="85725">
                <a:moveTo>
                  <a:pt x="413766" y="28575"/>
                </a:moveTo>
                <a:lnTo>
                  <a:pt x="85725" y="28575"/>
                </a:lnTo>
                <a:lnTo>
                  <a:pt x="85725" y="57150"/>
                </a:lnTo>
                <a:lnTo>
                  <a:pt x="413766" y="57150"/>
                </a:lnTo>
                <a:lnTo>
                  <a:pt x="413766" y="2857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2190242" y="2380513"/>
            <a:ext cx="1872614" cy="523240"/>
          </a:xfrm>
          <a:prstGeom prst="rect">
            <a:avLst/>
          </a:prstGeom>
          <a:solidFill>
            <a:srgbClr val="DDDDDD"/>
          </a:solidFill>
          <a:ln w="3175">
            <a:solidFill>
              <a:srgbClr val="000000"/>
            </a:solidFill>
          </a:ln>
        </p:spPr>
        <p:txBody>
          <a:bodyPr wrap="square" lIns="0" tIns="38735" rIns="0" bIns="0" rtlCol="0" vert="horz">
            <a:spAutoFit/>
          </a:bodyPr>
          <a:lstStyle/>
          <a:p>
            <a:pPr marL="464820" marR="91440" indent="-365760">
              <a:lnSpc>
                <a:spcPct val="100000"/>
              </a:lnSpc>
              <a:spcBef>
                <a:spcPts val="305"/>
              </a:spcBef>
            </a:pPr>
            <a:r>
              <a:rPr dirty="0" sz="1400" spc="-10" b="1">
                <a:latin typeface="Arial"/>
                <a:cs typeface="Arial"/>
              </a:rPr>
              <a:t>Variável </a:t>
            </a:r>
            <a:r>
              <a:rPr dirty="0" sz="1400" spc="-5" b="1">
                <a:latin typeface="Arial"/>
                <a:cs typeface="Arial"/>
              </a:rPr>
              <a:t>inicializada  novamente</a:t>
            </a:r>
            <a:endParaRPr sz="1400">
              <a:latin typeface="Arial"/>
              <a:cs typeface="Arial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1105"/>
              </a:lnSpc>
            </a:pPr>
            <a:fld id="{81D60167-4931-47E6-BA6A-407CBD079E47}" type="slidenum">
              <a:rPr dirty="0" spc="-5"/>
              <a:t>10</a:t>
            </a:fld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18465" y="1017593"/>
            <a:ext cx="8360156" cy="57160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5"/>
              <a:t>Execu</a:t>
            </a:r>
            <a:r>
              <a:rPr dirty="0"/>
              <a:t>ç</a:t>
            </a:r>
            <a:r>
              <a:rPr dirty="0" spc="-5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3313176" y="4844796"/>
            <a:ext cx="5423916" cy="31089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360420" y="4869179"/>
            <a:ext cx="5328920" cy="216535"/>
          </a:xfrm>
          <a:custGeom>
            <a:avLst/>
            <a:gdLst/>
            <a:ahLst/>
            <a:cxnLst/>
            <a:rect l="l" t="t" r="r" b="b"/>
            <a:pathLst>
              <a:path w="5328920" h="216535">
                <a:moveTo>
                  <a:pt x="0" y="216027"/>
                </a:moveTo>
                <a:lnTo>
                  <a:pt x="5328539" y="216027"/>
                </a:lnTo>
                <a:lnTo>
                  <a:pt x="5328539" y="0"/>
                </a:lnTo>
                <a:lnTo>
                  <a:pt x="0" y="0"/>
                </a:lnTo>
                <a:lnTo>
                  <a:pt x="0" y="216027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712976" y="5622035"/>
            <a:ext cx="3006852" cy="83667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755267" y="5645340"/>
            <a:ext cx="2835910" cy="687070"/>
          </a:xfrm>
          <a:custGeom>
            <a:avLst/>
            <a:gdLst/>
            <a:ahLst/>
            <a:cxnLst/>
            <a:rect l="l" t="t" r="r" b="b"/>
            <a:pathLst>
              <a:path w="2835910" h="687070">
                <a:moveTo>
                  <a:pt x="2748829" y="658727"/>
                </a:moveTo>
                <a:lnTo>
                  <a:pt x="2742437" y="686574"/>
                </a:lnTo>
                <a:lnTo>
                  <a:pt x="2835529" y="663981"/>
                </a:lnTo>
                <a:lnTo>
                  <a:pt x="2833034" y="661924"/>
                </a:lnTo>
                <a:lnTo>
                  <a:pt x="2762758" y="661924"/>
                </a:lnTo>
                <a:lnTo>
                  <a:pt x="2748829" y="658727"/>
                </a:lnTo>
                <a:close/>
              </a:path>
              <a:path w="2835910" h="687070">
                <a:moveTo>
                  <a:pt x="2755219" y="630885"/>
                </a:moveTo>
                <a:lnTo>
                  <a:pt x="2748829" y="658727"/>
                </a:lnTo>
                <a:lnTo>
                  <a:pt x="2762758" y="661924"/>
                </a:lnTo>
                <a:lnTo>
                  <a:pt x="2769108" y="634072"/>
                </a:lnTo>
                <a:lnTo>
                  <a:pt x="2755219" y="630885"/>
                </a:lnTo>
                <a:close/>
              </a:path>
              <a:path w="2835910" h="687070">
                <a:moveTo>
                  <a:pt x="2761615" y="603021"/>
                </a:moveTo>
                <a:lnTo>
                  <a:pt x="2755219" y="630885"/>
                </a:lnTo>
                <a:lnTo>
                  <a:pt x="2769108" y="634072"/>
                </a:lnTo>
                <a:lnTo>
                  <a:pt x="2762758" y="661924"/>
                </a:lnTo>
                <a:lnTo>
                  <a:pt x="2833034" y="661924"/>
                </a:lnTo>
                <a:lnTo>
                  <a:pt x="2761615" y="603021"/>
                </a:lnTo>
                <a:close/>
              </a:path>
              <a:path w="2835910" h="687070">
                <a:moveTo>
                  <a:pt x="6476" y="0"/>
                </a:moveTo>
                <a:lnTo>
                  <a:pt x="0" y="27851"/>
                </a:lnTo>
                <a:lnTo>
                  <a:pt x="2748829" y="658727"/>
                </a:lnTo>
                <a:lnTo>
                  <a:pt x="2755219" y="630885"/>
                </a:lnTo>
                <a:lnTo>
                  <a:pt x="647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647103" y="5136057"/>
            <a:ext cx="2223135" cy="523240"/>
          </a:xfrm>
          <a:prstGeom prst="rect">
            <a:avLst/>
          </a:prstGeom>
          <a:solidFill>
            <a:srgbClr val="DDDDDD"/>
          </a:solidFill>
          <a:ln w="3175">
            <a:solidFill>
              <a:srgbClr val="000000"/>
            </a:solidFill>
          </a:ln>
        </p:spPr>
        <p:txBody>
          <a:bodyPr wrap="square" lIns="0" tIns="40005" rIns="0" bIns="0" rtlCol="0" vert="horz">
            <a:spAutoFit/>
          </a:bodyPr>
          <a:lstStyle/>
          <a:p>
            <a:pPr marL="297815" marR="289560" indent="137160">
              <a:lnSpc>
                <a:spcPct val="100000"/>
              </a:lnSpc>
              <a:spcBef>
                <a:spcPts val="315"/>
              </a:spcBef>
            </a:pPr>
            <a:r>
              <a:rPr dirty="0" sz="1400" b="1">
                <a:latin typeface="Arial"/>
                <a:cs typeface="Arial"/>
              </a:rPr>
              <a:t>Impressões </a:t>
            </a:r>
            <a:r>
              <a:rPr dirty="0" sz="1400" spc="-5" b="1">
                <a:latin typeface="Arial"/>
                <a:cs typeface="Arial"/>
              </a:rPr>
              <a:t>dos  elementos do</a:t>
            </a:r>
            <a:r>
              <a:rPr dirty="0" sz="1400" spc="-95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vetor</a:t>
            </a:r>
            <a:endParaRPr sz="14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782946" y="5658802"/>
            <a:ext cx="3879469" cy="107049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5004053" y="5659272"/>
            <a:ext cx="1800225" cy="477227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1105"/>
              </a:lnSpc>
            </a:pPr>
            <a:fld id="{81D60167-4931-47E6-BA6A-407CBD079E47}" type="slidenum">
              <a:rPr dirty="0" spc="-5"/>
              <a:t>10</a:t>
            </a:fld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18465" y="1017531"/>
            <a:ext cx="8360156" cy="575030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5"/>
              <a:t>Execu</a:t>
            </a:r>
            <a:r>
              <a:rPr dirty="0"/>
              <a:t>ç</a:t>
            </a:r>
            <a:r>
              <a:rPr dirty="0" spc="-5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3300984" y="5061203"/>
            <a:ext cx="5422392" cy="31089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347846" y="5085207"/>
            <a:ext cx="5328920" cy="216535"/>
          </a:xfrm>
          <a:custGeom>
            <a:avLst/>
            <a:gdLst/>
            <a:ahLst/>
            <a:cxnLst/>
            <a:rect l="l" t="t" r="r" b="b"/>
            <a:pathLst>
              <a:path w="5328920" h="216535">
                <a:moveTo>
                  <a:pt x="0" y="216027"/>
                </a:moveTo>
                <a:lnTo>
                  <a:pt x="5328539" y="216027"/>
                </a:lnTo>
                <a:lnTo>
                  <a:pt x="5328539" y="0"/>
                </a:lnTo>
                <a:lnTo>
                  <a:pt x="0" y="0"/>
                </a:lnTo>
                <a:lnTo>
                  <a:pt x="0" y="216027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782946" y="5658802"/>
            <a:ext cx="3879469" cy="107049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004053" y="5659272"/>
            <a:ext cx="1800225" cy="47722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1105"/>
              </a:lnSpc>
            </a:pPr>
            <a:fld id="{81D60167-4931-47E6-BA6A-407CBD079E47}" type="slidenum">
              <a:rPr dirty="0" spc="-5"/>
              <a:t>10</a:t>
            </a:fld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18465" y="1017595"/>
            <a:ext cx="8372602" cy="57160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418465" y="1031374"/>
            <a:ext cx="8352408" cy="573646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5"/>
              <a:t>Execu</a:t>
            </a:r>
            <a:r>
              <a:rPr dirty="0"/>
              <a:t>ç</a:t>
            </a:r>
            <a:r>
              <a:rPr dirty="0" spc="-5"/>
              <a:t>ão</a:t>
            </a:r>
          </a:p>
        </p:txBody>
      </p:sp>
      <p:sp>
        <p:nvSpPr>
          <p:cNvPr id="5" name="object 5"/>
          <p:cNvSpPr/>
          <p:nvPr/>
        </p:nvSpPr>
        <p:spPr>
          <a:xfrm>
            <a:off x="3300984" y="4844796"/>
            <a:ext cx="5422392" cy="31089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347846" y="4869179"/>
            <a:ext cx="5328920" cy="216535"/>
          </a:xfrm>
          <a:custGeom>
            <a:avLst/>
            <a:gdLst/>
            <a:ahLst/>
            <a:cxnLst/>
            <a:rect l="l" t="t" r="r" b="b"/>
            <a:pathLst>
              <a:path w="5328920" h="216535">
                <a:moveTo>
                  <a:pt x="0" y="216027"/>
                </a:moveTo>
                <a:lnTo>
                  <a:pt x="5328539" y="216027"/>
                </a:lnTo>
                <a:lnTo>
                  <a:pt x="5328539" y="0"/>
                </a:lnTo>
                <a:lnTo>
                  <a:pt x="0" y="0"/>
                </a:lnTo>
                <a:lnTo>
                  <a:pt x="0" y="216027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4782946" y="5658802"/>
            <a:ext cx="3879469" cy="107049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5436108" y="5659272"/>
            <a:ext cx="1368170" cy="477227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1105"/>
              </a:lnSpc>
            </a:pPr>
            <a:fld id="{81D60167-4931-47E6-BA6A-407CBD079E47}" type="slidenum">
              <a:rPr dirty="0" spc="-5"/>
              <a:t>10</a:t>
            </a:fld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26656" y="1031411"/>
            <a:ext cx="8344281" cy="574522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5"/>
              <a:t>Execu</a:t>
            </a:r>
            <a:r>
              <a:rPr dirty="0"/>
              <a:t>ç</a:t>
            </a:r>
            <a:r>
              <a:rPr dirty="0" spc="-5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3300984" y="5061203"/>
            <a:ext cx="5422392" cy="31089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347846" y="5085207"/>
            <a:ext cx="5328920" cy="216535"/>
          </a:xfrm>
          <a:custGeom>
            <a:avLst/>
            <a:gdLst/>
            <a:ahLst/>
            <a:cxnLst/>
            <a:rect l="l" t="t" r="r" b="b"/>
            <a:pathLst>
              <a:path w="5328920" h="216535">
                <a:moveTo>
                  <a:pt x="0" y="216027"/>
                </a:moveTo>
                <a:lnTo>
                  <a:pt x="5328539" y="216027"/>
                </a:lnTo>
                <a:lnTo>
                  <a:pt x="5328539" y="0"/>
                </a:lnTo>
                <a:lnTo>
                  <a:pt x="0" y="0"/>
                </a:lnTo>
                <a:lnTo>
                  <a:pt x="0" y="216027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34657" y="1031392"/>
            <a:ext cx="8369173" cy="18780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434657" y="1031392"/>
            <a:ext cx="8369173" cy="34020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5220080" y="6009017"/>
            <a:ext cx="993330" cy="477227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782946" y="5658802"/>
            <a:ext cx="3879469" cy="107049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5436108" y="5659272"/>
            <a:ext cx="1368170" cy="47722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1105"/>
              </a:lnSpc>
            </a:pPr>
            <a:fld id="{81D60167-4931-47E6-BA6A-407CBD079E47}" type="slidenum">
              <a:rPr dirty="0" spc="-5"/>
              <a:t>10</a:t>
            </a:fld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34657" y="1031411"/>
            <a:ext cx="8369173" cy="574522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5"/>
              <a:t>Execu</a:t>
            </a:r>
            <a:r>
              <a:rPr dirty="0"/>
              <a:t>ç</a:t>
            </a:r>
            <a:r>
              <a:rPr dirty="0" spc="-5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3300984" y="4844796"/>
            <a:ext cx="5422392" cy="31089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347846" y="4869179"/>
            <a:ext cx="5328920" cy="216535"/>
          </a:xfrm>
          <a:custGeom>
            <a:avLst/>
            <a:gdLst/>
            <a:ahLst/>
            <a:cxnLst/>
            <a:rect l="l" t="t" r="r" b="b"/>
            <a:pathLst>
              <a:path w="5328920" h="216535">
                <a:moveTo>
                  <a:pt x="0" y="216027"/>
                </a:moveTo>
                <a:lnTo>
                  <a:pt x="5328539" y="216027"/>
                </a:lnTo>
                <a:lnTo>
                  <a:pt x="5328539" y="0"/>
                </a:lnTo>
                <a:lnTo>
                  <a:pt x="0" y="0"/>
                </a:lnTo>
                <a:lnTo>
                  <a:pt x="0" y="216027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782946" y="5658802"/>
            <a:ext cx="3879469" cy="107049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868161" y="5659272"/>
            <a:ext cx="936104" cy="47722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1105"/>
              </a:lnSpc>
            </a:pPr>
            <a:fld id="{81D60167-4931-47E6-BA6A-407CBD079E47}" type="slidenum">
              <a:rPr dirty="0" spc="-5"/>
              <a:t>10</a:t>
            </a:fld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34657" y="1033315"/>
            <a:ext cx="8378825" cy="574332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5"/>
              <a:t>Execu</a:t>
            </a:r>
            <a:r>
              <a:rPr dirty="0"/>
              <a:t>ç</a:t>
            </a:r>
            <a:r>
              <a:rPr dirty="0" spc="-5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3300984" y="5061203"/>
            <a:ext cx="5422392" cy="31089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347846" y="5085207"/>
            <a:ext cx="5328920" cy="216535"/>
          </a:xfrm>
          <a:custGeom>
            <a:avLst/>
            <a:gdLst/>
            <a:ahLst/>
            <a:cxnLst/>
            <a:rect l="l" t="t" r="r" b="b"/>
            <a:pathLst>
              <a:path w="5328920" h="216535">
                <a:moveTo>
                  <a:pt x="0" y="216027"/>
                </a:moveTo>
                <a:lnTo>
                  <a:pt x="5328539" y="216027"/>
                </a:lnTo>
                <a:lnTo>
                  <a:pt x="5328539" y="0"/>
                </a:lnTo>
                <a:lnTo>
                  <a:pt x="0" y="0"/>
                </a:lnTo>
                <a:lnTo>
                  <a:pt x="0" y="216027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782946" y="5658802"/>
            <a:ext cx="3879469" cy="107049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868161" y="5659272"/>
            <a:ext cx="936104" cy="47722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1105"/>
              </a:lnSpc>
            </a:pPr>
            <a:fld id="{81D60167-4931-47E6-BA6A-407CBD079E47}" type="slidenum">
              <a:rPr dirty="0" spc="-5"/>
              <a:t>10</a:t>
            </a:fld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34657" y="1035498"/>
            <a:ext cx="8378825" cy="576313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5"/>
              <a:t>Execu</a:t>
            </a:r>
            <a:r>
              <a:rPr dirty="0"/>
              <a:t>ç</a:t>
            </a:r>
            <a:r>
              <a:rPr dirty="0" spc="-5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3300984" y="4844796"/>
            <a:ext cx="5422392" cy="31089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347846" y="4869179"/>
            <a:ext cx="5328920" cy="216535"/>
          </a:xfrm>
          <a:custGeom>
            <a:avLst/>
            <a:gdLst/>
            <a:ahLst/>
            <a:cxnLst/>
            <a:rect l="l" t="t" r="r" b="b"/>
            <a:pathLst>
              <a:path w="5328920" h="216535">
                <a:moveTo>
                  <a:pt x="0" y="216027"/>
                </a:moveTo>
                <a:lnTo>
                  <a:pt x="5328539" y="216027"/>
                </a:lnTo>
                <a:lnTo>
                  <a:pt x="5328539" y="0"/>
                </a:lnTo>
                <a:lnTo>
                  <a:pt x="0" y="0"/>
                </a:lnTo>
                <a:lnTo>
                  <a:pt x="0" y="216027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782946" y="5658802"/>
            <a:ext cx="3879469" cy="107049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6156197" y="5659272"/>
            <a:ext cx="648068" cy="47722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1105"/>
              </a:lnSpc>
            </a:pPr>
            <a:fld id="{81D60167-4931-47E6-BA6A-407CBD079E47}" type="slidenum">
              <a:rPr dirty="0" spc="-5"/>
              <a:t>10</a:t>
            </a:fld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34657" y="1035535"/>
            <a:ext cx="8378825" cy="575183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5"/>
              <a:t>Execu</a:t>
            </a:r>
            <a:r>
              <a:rPr dirty="0"/>
              <a:t>ç</a:t>
            </a:r>
            <a:r>
              <a:rPr dirty="0" spc="-5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3300984" y="5061203"/>
            <a:ext cx="5422392" cy="31089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347846" y="5085207"/>
            <a:ext cx="5328920" cy="216535"/>
          </a:xfrm>
          <a:custGeom>
            <a:avLst/>
            <a:gdLst/>
            <a:ahLst/>
            <a:cxnLst/>
            <a:rect l="l" t="t" r="r" b="b"/>
            <a:pathLst>
              <a:path w="5328920" h="216535">
                <a:moveTo>
                  <a:pt x="0" y="216027"/>
                </a:moveTo>
                <a:lnTo>
                  <a:pt x="5328539" y="216027"/>
                </a:lnTo>
                <a:lnTo>
                  <a:pt x="5328539" y="0"/>
                </a:lnTo>
                <a:lnTo>
                  <a:pt x="0" y="0"/>
                </a:lnTo>
                <a:lnTo>
                  <a:pt x="0" y="216027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782946" y="5658802"/>
            <a:ext cx="3879469" cy="107049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6156197" y="5659272"/>
            <a:ext cx="648068" cy="47722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1105"/>
              </a:lnSpc>
            </a:pPr>
            <a:fld id="{81D60167-4931-47E6-BA6A-407CBD079E47}" type="slidenum">
              <a:rPr dirty="0" spc="-5"/>
              <a:t>10</a:t>
            </a:fld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34657" y="1035484"/>
            <a:ext cx="8378825" cy="576046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5"/>
              <a:t>Execu</a:t>
            </a:r>
            <a:r>
              <a:rPr dirty="0"/>
              <a:t>ç</a:t>
            </a:r>
            <a:r>
              <a:rPr dirty="0" spc="-5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3300984" y="4844796"/>
            <a:ext cx="5422392" cy="31089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347846" y="4869179"/>
            <a:ext cx="5328920" cy="216535"/>
          </a:xfrm>
          <a:custGeom>
            <a:avLst/>
            <a:gdLst/>
            <a:ahLst/>
            <a:cxnLst/>
            <a:rect l="l" t="t" r="r" b="b"/>
            <a:pathLst>
              <a:path w="5328920" h="216535">
                <a:moveTo>
                  <a:pt x="0" y="216027"/>
                </a:moveTo>
                <a:lnTo>
                  <a:pt x="5328539" y="216027"/>
                </a:lnTo>
                <a:lnTo>
                  <a:pt x="5328539" y="0"/>
                </a:lnTo>
                <a:lnTo>
                  <a:pt x="0" y="0"/>
                </a:lnTo>
                <a:lnTo>
                  <a:pt x="0" y="216027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782946" y="5658802"/>
            <a:ext cx="3879469" cy="107049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6480175" y="5659272"/>
            <a:ext cx="324040" cy="47722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1105"/>
              </a:lnSpc>
            </a:pPr>
            <a:fld id="{81D60167-4931-47E6-BA6A-407CBD079E47}" type="slidenum">
              <a:rPr dirty="0" spc="-5"/>
              <a:t>10</a:t>
            </a:fld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34657" y="1035533"/>
            <a:ext cx="8378825" cy="575183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5"/>
              <a:t>Execu</a:t>
            </a:r>
            <a:r>
              <a:rPr dirty="0"/>
              <a:t>ç</a:t>
            </a:r>
            <a:r>
              <a:rPr dirty="0" spc="-5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3300984" y="5061203"/>
            <a:ext cx="5422392" cy="31089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347846" y="5085207"/>
            <a:ext cx="5328920" cy="216535"/>
          </a:xfrm>
          <a:custGeom>
            <a:avLst/>
            <a:gdLst/>
            <a:ahLst/>
            <a:cxnLst/>
            <a:rect l="l" t="t" r="r" b="b"/>
            <a:pathLst>
              <a:path w="5328920" h="216535">
                <a:moveTo>
                  <a:pt x="0" y="216027"/>
                </a:moveTo>
                <a:lnTo>
                  <a:pt x="5328539" y="216027"/>
                </a:lnTo>
                <a:lnTo>
                  <a:pt x="5328539" y="0"/>
                </a:lnTo>
                <a:lnTo>
                  <a:pt x="0" y="0"/>
                </a:lnTo>
                <a:lnTo>
                  <a:pt x="0" y="216027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782946" y="5658802"/>
            <a:ext cx="3879469" cy="107049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6480175" y="5659272"/>
            <a:ext cx="324040" cy="47722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1105"/>
              </a:lnSpc>
            </a:pPr>
            <a:fld id="{81D60167-4931-47E6-BA6A-407CBD079E47}" type="slidenum">
              <a:rPr dirty="0" spc="-5"/>
              <a:t>10</a:t>
            </a:fld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7395" y="1035570"/>
            <a:ext cx="8366125" cy="574573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5"/>
              <a:t>Execu</a:t>
            </a:r>
            <a:r>
              <a:rPr dirty="0"/>
              <a:t>ç</a:t>
            </a:r>
            <a:r>
              <a:rPr dirty="0" spc="-5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3300984" y="4844796"/>
            <a:ext cx="5422392" cy="31089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347846" y="4869179"/>
            <a:ext cx="5328920" cy="216535"/>
          </a:xfrm>
          <a:custGeom>
            <a:avLst/>
            <a:gdLst/>
            <a:ahLst/>
            <a:cxnLst/>
            <a:rect l="l" t="t" r="r" b="b"/>
            <a:pathLst>
              <a:path w="5328920" h="216535">
                <a:moveTo>
                  <a:pt x="0" y="216027"/>
                </a:moveTo>
                <a:lnTo>
                  <a:pt x="5328539" y="216027"/>
                </a:lnTo>
                <a:lnTo>
                  <a:pt x="5328539" y="0"/>
                </a:lnTo>
                <a:lnTo>
                  <a:pt x="0" y="0"/>
                </a:lnTo>
                <a:lnTo>
                  <a:pt x="0" y="216027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782946" y="5658802"/>
            <a:ext cx="3879469" cy="107049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1105"/>
              </a:lnSpc>
            </a:pPr>
            <a:fld id="{81D60167-4931-47E6-BA6A-407CBD079E47}" type="slidenum">
              <a:rPr dirty="0" spc="-5"/>
              <a:t>10</a:t>
            </a:fld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7395" y="1035516"/>
            <a:ext cx="8366125" cy="573722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5"/>
              <a:t>Execu</a:t>
            </a:r>
            <a:r>
              <a:rPr dirty="0"/>
              <a:t>ç</a:t>
            </a:r>
            <a:r>
              <a:rPr dirty="0" spc="-5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3300984" y="5276088"/>
            <a:ext cx="5422392" cy="31089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347846" y="5301234"/>
            <a:ext cx="5328920" cy="216535"/>
          </a:xfrm>
          <a:custGeom>
            <a:avLst/>
            <a:gdLst/>
            <a:ahLst/>
            <a:cxnLst/>
            <a:rect l="l" t="t" r="r" b="b"/>
            <a:pathLst>
              <a:path w="5328920" h="216535">
                <a:moveTo>
                  <a:pt x="0" y="216026"/>
                </a:moveTo>
                <a:lnTo>
                  <a:pt x="5328539" y="216026"/>
                </a:lnTo>
                <a:lnTo>
                  <a:pt x="5328539" y="0"/>
                </a:lnTo>
                <a:lnTo>
                  <a:pt x="0" y="0"/>
                </a:lnTo>
                <a:lnTo>
                  <a:pt x="0" y="216026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488947" y="2449067"/>
            <a:ext cx="903731" cy="25755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618361" y="2514600"/>
            <a:ext cx="732790" cy="85725"/>
          </a:xfrm>
          <a:custGeom>
            <a:avLst/>
            <a:gdLst/>
            <a:ahLst/>
            <a:cxnLst/>
            <a:rect l="l" t="t" r="r" b="b"/>
            <a:pathLst>
              <a:path w="732789" h="85725">
                <a:moveTo>
                  <a:pt x="85725" y="0"/>
                </a:moveTo>
                <a:lnTo>
                  <a:pt x="0" y="42925"/>
                </a:lnTo>
                <a:lnTo>
                  <a:pt x="85725" y="85725"/>
                </a:lnTo>
                <a:lnTo>
                  <a:pt x="85725" y="57150"/>
                </a:lnTo>
                <a:lnTo>
                  <a:pt x="71500" y="57150"/>
                </a:lnTo>
                <a:lnTo>
                  <a:pt x="71500" y="28575"/>
                </a:lnTo>
                <a:lnTo>
                  <a:pt x="85725" y="28575"/>
                </a:lnTo>
                <a:lnTo>
                  <a:pt x="85725" y="0"/>
                </a:lnTo>
                <a:close/>
              </a:path>
              <a:path w="732789" h="85725">
                <a:moveTo>
                  <a:pt x="85725" y="28575"/>
                </a:moveTo>
                <a:lnTo>
                  <a:pt x="71500" y="28575"/>
                </a:lnTo>
                <a:lnTo>
                  <a:pt x="71500" y="57150"/>
                </a:lnTo>
                <a:lnTo>
                  <a:pt x="85725" y="57150"/>
                </a:lnTo>
                <a:lnTo>
                  <a:pt x="85725" y="28575"/>
                </a:lnTo>
                <a:close/>
              </a:path>
              <a:path w="732789" h="85725">
                <a:moveTo>
                  <a:pt x="732282" y="28575"/>
                </a:moveTo>
                <a:lnTo>
                  <a:pt x="85725" y="28575"/>
                </a:lnTo>
                <a:lnTo>
                  <a:pt x="85725" y="57150"/>
                </a:lnTo>
                <a:lnTo>
                  <a:pt x="732282" y="57150"/>
                </a:lnTo>
                <a:lnTo>
                  <a:pt x="732282" y="2857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984120" y="2148928"/>
            <a:ext cx="2223135" cy="739140"/>
          </a:xfrm>
          <a:prstGeom prst="rect">
            <a:avLst/>
          </a:prstGeom>
          <a:solidFill>
            <a:srgbClr val="DDDDDD"/>
          </a:solidFill>
          <a:ln w="3175">
            <a:solidFill>
              <a:srgbClr val="000000"/>
            </a:solidFill>
          </a:ln>
        </p:spPr>
        <p:txBody>
          <a:bodyPr wrap="square" lIns="0" tIns="38735" rIns="0" bIns="0" rtlCol="0" vert="horz">
            <a:spAutoFit/>
          </a:bodyPr>
          <a:lstStyle/>
          <a:p>
            <a:pPr algn="ctr" marL="148590" marR="140970">
              <a:lnSpc>
                <a:spcPct val="100000"/>
              </a:lnSpc>
              <a:spcBef>
                <a:spcPts val="305"/>
              </a:spcBef>
            </a:pPr>
            <a:r>
              <a:rPr dirty="0" sz="1400" b="1">
                <a:latin typeface="Arial"/>
                <a:cs typeface="Arial"/>
              </a:rPr>
              <a:t>Incremento </a:t>
            </a:r>
            <a:r>
              <a:rPr dirty="0" sz="1400" spc="-5" b="1">
                <a:latin typeface="Arial"/>
                <a:cs typeface="Arial"/>
              </a:rPr>
              <a:t>da</a:t>
            </a:r>
            <a:r>
              <a:rPr dirty="0" sz="1400" spc="-13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variável  </a:t>
            </a:r>
            <a:r>
              <a:rPr dirty="0" sz="1400" b="1">
                <a:latin typeface="Arial"/>
                <a:cs typeface="Arial"/>
              </a:rPr>
              <a:t>e teste </a:t>
            </a:r>
            <a:r>
              <a:rPr dirty="0" sz="1400" spc="-5" b="1">
                <a:latin typeface="Arial"/>
                <a:cs typeface="Arial"/>
              </a:rPr>
              <a:t>da condição  </a:t>
            </a:r>
            <a:r>
              <a:rPr dirty="0" sz="1400" b="1" u="sng">
                <a:latin typeface="Arial"/>
                <a:cs typeface="Arial"/>
              </a:rPr>
              <a:t>falso</a:t>
            </a:r>
            <a:r>
              <a:rPr dirty="0" sz="1400" b="1">
                <a:latin typeface="Arial"/>
                <a:cs typeface="Arial"/>
              </a:rPr>
              <a:t>.</a:t>
            </a:r>
            <a:endParaRPr sz="14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782946" y="5658802"/>
            <a:ext cx="3879469" cy="107049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1105"/>
              </a:lnSpc>
            </a:pPr>
            <a:fld id="{81D60167-4931-47E6-BA6A-407CBD079E47}" type="slidenum">
              <a:rPr dirty="0" spc="-5"/>
              <a:t>10</a:t>
            </a:fld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7395" y="1035566"/>
            <a:ext cx="8366125" cy="580567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5"/>
              <a:t>Execu</a:t>
            </a:r>
            <a:r>
              <a:rPr dirty="0"/>
              <a:t>ç</a:t>
            </a:r>
            <a:r>
              <a:rPr dirty="0" spc="-5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2148839" y="5289803"/>
            <a:ext cx="1327403" cy="49987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192020" y="5312790"/>
            <a:ext cx="1156335" cy="346710"/>
          </a:xfrm>
          <a:custGeom>
            <a:avLst/>
            <a:gdLst/>
            <a:ahLst/>
            <a:cxnLst/>
            <a:rect l="l" t="t" r="r" b="b"/>
            <a:pathLst>
              <a:path w="1156335" h="346710">
                <a:moveTo>
                  <a:pt x="1069341" y="318560"/>
                </a:moveTo>
                <a:lnTo>
                  <a:pt x="1061846" y="346151"/>
                </a:lnTo>
                <a:lnTo>
                  <a:pt x="1155827" y="327291"/>
                </a:lnTo>
                <a:lnTo>
                  <a:pt x="1150270" y="322326"/>
                </a:lnTo>
                <a:lnTo>
                  <a:pt x="1083183" y="322326"/>
                </a:lnTo>
                <a:lnTo>
                  <a:pt x="1069341" y="318560"/>
                </a:lnTo>
                <a:close/>
              </a:path>
              <a:path w="1156335" h="346710">
                <a:moveTo>
                  <a:pt x="1076831" y="290987"/>
                </a:moveTo>
                <a:lnTo>
                  <a:pt x="1069341" y="318560"/>
                </a:lnTo>
                <a:lnTo>
                  <a:pt x="1083183" y="322326"/>
                </a:lnTo>
                <a:lnTo>
                  <a:pt x="1090676" y="294754"/>
                </a:lnTo>
                <a:lnTo>
                  <a:pt x="1076831" y="290987"/>
                </a:lnTo>
                <a:close/>
              </a:path>
              <a:path w="1156335" h="346710">
                <a:moveTo>
                  <a:pt x="1084326" y="263398"/>
                </a:moveTo>
                <a:lnTo>
                  <a:pt x="1076831" y="290987"/>
                </a:lnTo>
                <a:lnTo>
                  <a:pt x="1090676" y="294754"/>
                </a:lnTo>
                <a:lnTo>
                  <a:pt x="1083183" y="322326"/>
                </a:lnTo>
                <a:lnTo>
                  <a:pt x="1150270" y="322326"/>
                </a:lnTo>
                <a:lnTo>
                  <a:pt x="1084326" y="263398"/>
                </a:lnTo>
                <a:close/>
              </a:path>
              <a:path w="1156335" h="346710">
                <a:moveTo>
                  <a:pt x="7493" y="0"/>
                </a:moveTo>
                <a:lnTo>
                  <a:pt x="0" y="27686"/>
                </a:lnTo>
                <a:lnTo>
                  <a:pt x="1069341" y="318560"/>
                </a:lnTo>
                <a:lnTo>
                  <a:pt x="1076831" y="290987"/>
                </a:lnTo>
                <a:lnTo>
                  <a:pt x="7493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331594" y="5132006"/>
            <a:ext cx="864235" cy="400685"/>
          </a:xfrm>
          <a:prstGeom prst="rect">
            <a:avLst/>
          </a:prstGeom>
          <a:solidFill>
            <a:srgbClr val="DDDDDD"/>
          </a:solidFill>
          <a:ln w="3175">
            <a:solidFill>
              <a:srgbClr val="000000"/>
            </a:solidFill>
          </a:ln>
        </p:spPr>
        <p:txBody>
          <a:bodyPr wrap="square" lIns="0" tIns="38100" rIns="0" bIns="0" rtlCol="0" vert="horz">
            <a:spAutoFit/>
          </a:bodyPr>
          <a:lstStyle/>
          <a:p>
            <a:pPr marL="212090">
              <a:lnSpc>
                <a:spcPct val="100000"/>
              </a:lnSpc>
              <a:spcBef>
                <a:spcPts val="300"/>
              </a:spcBef>
            </a:pPr>
            <a:r>
              <a:rPr dirty="0" sz="2000" b="1">
                <a:latin typeface="Arial"/>
                <a:cs typeface="Arial"/>
              </a:rPr>
              <a:t>FIM</a:t>
            </a:r>
            <a:endParaRPr sz="20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782946" y="5748103"/>
            <a:ext cx="3879469" cy="107049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300984" y="5507735"/>
            <a:ext cx="5422392" cy="31089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347846" y="5532069"/>
            <a:ext cx="5328920" cy="216535"/>
          </a:xfrm>
          <a:custGeom>
            <a:avLst/>
            <a:gdLst/>
            <a:ahLst/>
            <a:cxnLst/>
            <a:rect l="l" t="t" r="r" b="b"/>
            <a:pathLst>
              <a:path w="5328920" h="216535">
                <a:moveTo>
                  <a:pt x="0" y="216026"/>
                </a:moveTo>
                <a:lnTo>
                  <a:pt x="5328539" y="216026"/>
                </a:lnTo>
                <a:lnTo>
                  <a:pt x="5328539" y="0"/>
                </a:lnTo>
                <a:lnTo>
                  <a:pt x="0" y="0"/>
                </a:lnTo>
                <a:lnTo>
                  <a:pt x="0" y="216026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1105"/>
              </a:lnSpc>
            </a:pPr>
            <a:fld id="{81D60167-4931-47E6-BA6A-407CBD079E47}" type="slidenum">
              <a:rPr dirty="0" spc="-5"/>
              <a:t>10</a:t>
            </a:fld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609015" y="1081373"/>
          <a:ext cx="7723505" cy="9163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84080"/>
                <a:gridCol w="2699976"/>
                <a:gridCol w="1546880"/>
                <a:gridCol w="391977"/>
              </a:tblGrid>
              <a:tr h="486477">
                <a:tc>
                  <a:txBody>
                    <a:bodyPr/>
                    <a:lstStyle/>
                    <a:p>
                      <a:pPr marL="365125" indent="-342900">
                        <a:lnSpc>
                          <a:spcPts val="3735"/>
                        </a:lnSpc>
                        <a:buClr>
                          <a:srgbClr val="852B34"/>
                        </a:buClr>
                        <a:buSzPct val="70312"/>
                        <a:buChar char="•"/>
                        <a:tabLst>
                          <a:tab pos="364490" algn="l"/>
                          <a:tab pos="365125" algn="l"/>
                          <a:tab pos="1617980" algn="l"/>
                        </a:tabLst>
                      </a:pPr>
                      <a:r>
                        <a:rPr dirty="0" sz="3200">
                          <a:latin typeface="Arial"/>
                          <a:cs typeface="Arial"/>
                        </a:rPr>
                        <a:t>Para	</a:t>
                      </a:r>
                      <a:r>
                        <a:rPr dirty="0" sz="3200" spc="-5">
                          <a:latin typeface="Arial"/>
                          <a:cs typeface="Arial"/>
                        </a:rPr>
                        <a:t>maiores</a:t>
                      </a:r>
                      <a:endParaRPr sz="32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73380">
                        <a:lnSpc>
                          <a:spcPts val="3735"/>
                        </a:lnSpc>
                      </a:pPr>
                      <a:r>
                        <a:rPr dirty="0" sz="3200" spc="-5">
                          <a:latin typeface="Arial"/>
                          <a:cs typeface="Arial"/>
                        </a:rPr>
                        <a:t>informações</a:t>
                      </a:r>
                      <a:endParaRPr sz="32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28575">
                        <a:lnSpc>
                          <a:spcPts val="3735"/>
                        </a:lnSpc>
                      </a:pPr>
                      <a:r>
                        <a:rPr dirty="0" sz="3200">
                          <a:latin typeface="Arial"/>
                          <a:cs typeface="Arial"/>
                        </a:rPr>
                        <a:t>sobre</a:t>
                      </a:r>
                      <a:endParaRPr sz="32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5875">
                        <a:lnSpc>
                          <a:spcPts val="3735"/>
                        </a:lnSpc>
                      </a:pPr>
                      <a:r>
                        <a:rPr dirty="0" sz="3200">
                          <a:latin typeface="Arial"/>
                          <a:cs typeface="Arial"/>
                        </a:rPr>
                        <a:t>o</a:t>
                      </a:r>
                      <a:endParaRPr sz="32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</a:tr>
              <a:tr h="429827">
                <a:tc>
                  <a:txBody>
                    <a:bodyPr/>
                    <a:lstStyle/>
                    <a:p>
                      <a:pPr marL="364490">
                        <a:lnSpc>
                          <a:spcPts val="3365"/>
                        </a:lnSpc>
                        <a:tabLst>
                          <a:tab pos="2366645" algn="l"/>
                        </a:tabLst>
                      </a:pPr>
                      <a:r>
                        <a:rPr dirty="0" sz="3200" spc="-5" i="1">
                          <a:latin typeface="Arial"/>
                          <a:cs typeface="Arial"/>
                        </a:rPr>
                        <a:t>debugger	</a:t>
                      </a:r>
                      <a:r>
                        <a:rPr dirty="0" sz="3200" spc="-10">
                          <a:latin typeface="Arial"/>
                          <a:cs typeface="Arial"/>
                        </a:rPr>
                        <a:t>do</a:t>
                      </a:r>
                      <a:endParaRPr sz="32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1590">
                        <a:lnSpc>
                          <a:spcPts val="3365"/>
                        </a:lnSpc>
                      </a:pPr>
                      <a:r>
                        <a:rPr dirty="0" sz="3200" spc="-5">
                          <a:latin typeface="Arial"/>
                          <a:cs typeface="Arial"/>
                        </a:rPr>
                        <a:t>Code::Blocks,</a:t>
                      </a:r>
                      <a:endParaRPr sz="32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16510">
                        <a:lnSpc>
                          <a:spcPts val="3365"/>
                        </a:lnSpc>
                      </a:pPr>
                      <a:r>
                        <a:rPr dirty="0" sz="3200" spc="-5">
                          <a:latin typeface="Arial"/>
                          <a:cs typeface="Arial"/>
                        </a:rPr>
                        <a:t>acesse</a:t>
                      </a:r>
                      <a:endParaRPr sz="32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4604">
                        <a:lnSpc>
                          <a:spcPts val="3365"/>
                        </a:lnSpc>
                      </a:pPr>
                      <a:r>
                        <a:rPr dirty="0" sz="3200">
                          <a:latin typeface="Arial"/>
                          <a:cs typeface="Arial"/>
                        </a:rPr>
                        <a:t>o</a:t>
                      </a:r>
                      <a:endParaRPr sz="32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1105"/>
              </a:lnSpc>
            </a:pPr>
            <a:fld id="{81D60167-4931-47E6-BA6A-407CBD079E47}" type="slidenum">
              <a:rPr dirty="0" spc="-5"/>
              <a:t>10</a:t>
            </a:fld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54965">
              <a:lnSpc>
                <a:spcPct val="100000"/>
              </a:lnSpc>
            </a:pPr>
            <a:r>
              <a:rPr dirty="0" spc="-5"/>
              <a:t>endereço</a:t>
            </a:r>
            <a:r>
              <a:rPr dirty="0" spc="-75"/>
              <a:t> </a:t>
            </a:r>
            <a:r>
              <a:rPr dirty="0" spc="-5"/>
              <a:t>abaixo:</a:t>
            </a: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4000">
              <a:latin typeface="Times New Roman"/>
              <a:cs typeface="Times New Roman"/>
            </a:endParaRPr>
          </a:p>
          <a:p>
            <a:pPr marL="12700">
              <a:lnSpc>
                <a:spcPts val="3650"/>
              </a:lnSpc>
            </a:pPr>
            <a:r>
              <a:rPr dirty="0" spc="-5" u="heavy">
                <a:solidFill>
                  <a:srgbClr val="7D9CE8"/>
                </a:solidFill>
                <a:hlinkClick r:id="rId2"/>
              </a:rPr>
              <a:t>http://wiki.codeblocks.org/index.php/Debu</a:t>
            </a:r>
          </a:p>
          <a:p>
            <a:pPr marL="12700">
              <a:lnSpc>
                <a:spcPts val="3650"/>
              </a:lnSpc>
            </a:pPr>
            <a:r>
              <a:rPr dirty="0" spc="-5" u="heavy">
                <a:solidFill>
                  <a:srgbClr val="7D9CE8"/>
                </a:solidFill>
              </a:rPr>
              <a:t>gging_with_Code::Blocks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5"/>
              <a:t>Dica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7D9CE8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Eduardo Pagani Julio</dc:creator>
  <dc:title>Slide 1</dc:title>
  <dcterms:created xsi:type="dcterms:W3CDTF">2017-03-06T11:14:34Z</dcterms:created>
  <dcterms:modified xsi:type="dcterms:W3CDTF">2017-03-06T11:14:34Z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2016-06-13T00:00:00Z</vt:filetime>
  </property>
  <property fmtid="{D5CDD505-2E9C-101B-9397-08002B2CF9AE}" pid="3" name="Creator">
    <vt:lpwstr>Versão de Avaliação do Microsoft® PowerPoint® 2010</vt:lpwstr>
  </property>
  <property fmtid="{D5CDD505-2E9C-101B-9397-08002B2CF9AE}" pid="4" name="LastSaved">
    <vt:filetime>2017-03-06T00:00:00Z</vt:filetime>
  </property>
</Properties>
</file>