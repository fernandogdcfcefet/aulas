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85" r:id="rId4"/>
    <p:sldMasterId id="2147483691" r:id="rId5"/>
    <p:sldMasterId id="2147483703" r:id="rId6"/>
  </p:sldMasterIdLst>
  <p:notesMasterIdLst>
    <p:notesMasterId r:id="rId298"/>
  </p:notesMasterIdLst>
  <p:handoutMasterIdLst>
    <p:handoutMasterId r:id="rId299"/>
  </p:handoutMasterIdLst>
  <p:sldIdLst>
    <p:sldId id="256" r:id="rId7"/>
    <p:sldId id="308" r:id="rId8"/>
    <p:sldId id="309" r:id="rId9"/>
    <p:sldId id="311" r:id="rId10"/>
    <p:sldId id="312" r:id="rId11"/>
    <p:sldId id="439" r:id="rId12"/>
    <p:sldId id="699" r:id="rId13"/>
    <p:sldId id="313" r:id="rId14"/>
    <p:sldId id="314" r:id="rId15"/>
    <p:sldId id="339" r:id="rId16"/>
    <p:sldId id="341" r:id="rId17"/>
    <p:sldId id="664" r:id="rId18"/>
    <p:sldId id="665" r:id="rId19"/>
    <p:sldId id="666" r:id="rId20"/>
    <p:sldId id="667" r:id="rId21"/>
    <p:sldId id="668" r:id="rId22"/>
    <p:sldId id="669" r:id="rId23"/>
    <p:sldId id="670" r:id="rId24"/>
    <p:sldId id="671" r:id="rId25"/>
    <p:sldId id="672" r:id="rId26"/>
    <p:sldId id="673" r:id="rId27"/>
    <p:sldId id="674" r:id="rId28"/>
    <p:sldId id="675" r:id="rId29"/>
    <p:sldId id="676" r:id="rId30"/>
    <p:sldId id="677" r:id="rId31"/>
    <p:sldId id="678" r:id="rId32"/>
    <p:sldId id="679" r:id="rId33"/>
    <p:sldId id="680" r:id="rId34"/>
    <p:sldId id="681" r:id="rId35"/>
    <p:sldId id="682" r:id="rId36"/>
    <p:sldId id="683" r:id="rId37"/>
    <p:sldId id="684" r:id="rId38"/>
    <p:sldId id="685" r:id="rId39"/>
    <p:sldId id="686" r:id="rId40"/>
    <p:sldId id="687" r:id="rId41"/>
    <p:sldId id="688" r:id="rId42"/>
    <p:sldId id="689" r:id="rId43"/>
    <p:sldId id="690" r:id="rId44"/>
    <p:sldId id="691" r:id="rId45"/>
    <p:sldId id="692" r:id="rId46"/>
    <p:sldId id="693" r:id="rId47"/>
    <p:sldId id="694" r:id="rId48"/>
    <p:sldId id="695" r:id="rId49"/>
    <p:sldId id="696" r:id="rId50"/>
    <p:sldId id="697" r:id="rId51"/>
    <p:sldId id="698" r:id="rId52"/>
    <p:sldId id="342" r:id="rId53"/>
    <p:sldId id="343" r:id="rId54"/>
    <p:sldId id="344" r:id="rId55"/>
    <p:sldId id="345" r:id="rId56"/>
    <p:sldId id="346" r:id="rId57"/>
    <p:sldId id="347" r:id="rId58"/>
    <p:sldId id="348" r:id="rId59"/>
    <p:sldId id="349" r:id="rId60"/>
    <p:sldId id="350" r:id="rId61"/>
    <p:sldId id="351" r:id="rId62"/>
    <p:sldId id="352" r:id="rId63"/>
    <p:sldId id="353" r:id="rId64"/>
    <p:sldId id="354" r:id="rId65"/>
    <p:sldId id="355" r:id="rId66"/>
    <p:sldId id="356" r:id="rId67"/>
    <p:sldId id="357" r:id="rId68"/>
    <p:sldId id="358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795" r:id="rId85"/>
    <p:sldId id="796" r:id="rId86"/>
    <p:sldId id="797" r:id="rId87"/>
    <p:sldId id="798" r:id="rId88"/>
    <p:sldId id="334" r:id="rId89"/>
    <p:sldId id="335" r:id="rId90"/>
    <p:sldId id="336" r:id="rId91"/>
    <p:sldId id="337" r:id="rId92"/>
    <p:sldId id="338" r:id="rId93"/>
    <p:sldId id="566" r:id="rId94"/>
    <p:sldId id="567" r:id="rId95"/>
    <p:sldId id="568" r:id="rId96"/>
    <p:sldId id="569" r:id="rId97"/>
    <p:sldId id="570" r:id="rId98"/>
    <p:sldId id="571" r:id="rId99"/>
    <p:sldId id="572" r:id="rId100"/>
    <p:sldId id="573" r:id="rId101"/>
    <p:sldId id="574" r:id="rId102"/>
    <p:sldId id="575" r:id="rId103"/>
    <p:sldId id="576" r:id="rId104"/>
    <p:sldId id="577" r:id="rId105"/>
    <p:sldId id="578" r:id="rId106"/>
    <p:sldId id="579" r:id="rId107"/>
    <p:sldId id="580" r:id="rId108"/>
    <p:sldId id="581" r:id="rId109"/>
    <p:sldId id="582" r:id="rId110"/>
    <p:sldId id="583" r:id="rId111"/>
    <p:sldId id="584" r:id="rId112"/>
    <p:sldId id="585" r:id="rId113"/>
    <p:sldId id="586" r:id="rId114"/>
    <p:sldId id="587" r:id="rId115"/>
    <p:sldId id="588" r:id="rId116"/>
    <p:sldId id="589" r:id="rId117"/>
    <p:sldId id="590" r:id="rId118"/>
    <p:sldId id="591" r:id="rId119"/>
    <p:sldId id="592" r:id="rId120"/>
    <p:sldId id="593" r:id="rId121"/>
    <p:sldId id="594" r:id="rId122"/>
    <p:sldId id="595" r:id="rId123"/>
    <p:sldId id="596" r:id="rId124"/>
    <p:sldId id="597" r:id="rId125"/>
    <p:sldId id="598" r:id="rId126"/>
    <p:sldId id="599" r:id="rId127"/>
    <p:sldId id="625" r:id="rId128"/>
    <p:sldId id="600" r:id="rId129"/>
    <p:sldId id="601" r:id="rId130"/>
    <p:sldId id="602" r:id="rId131"/>
    <p:sldId id="603" r:id="rId132"/>
    <p:sldId id="604" r:id="rId133"/>
    <p:sldId id="605" r:id="rId134"/>
    <p:sldId id="606" r:id="rId135"/>
    <p:sldId id="607" r:id="rId136"/>
    <p:sldId id="608" r:id="rId137"/>
    <p:sldId id="609" r:id="rId138"/>
    <p:sldId id="610" r:id="rId139"/>
    <p:sldId id="611" r:id="rId140"/>
    <p:sldId id="612" r:id="rId141"/>
    <p:sldId id="613" r:id="rId142"/>
    <p:sldId id="614" r:id="rId143"/>
    <p:sldId id="615" r:id="rId144"/>
    <p:sldId id="616" r:id="rId145"/>
    <p:sldId id="617" r:id="rId146"/>
    <p:sldId id="618" r:id="rId147"/>
    <p:sldId id="619" r:id="rId148"/>
    <p:sldId id="620" r:id="rId149"/>
    <p:sldId id="621" r:id="rId150"/>
    <p:sldId id="622" r:id="rId151"/>
    <p:sldId id="623" r:id="rId152"/>
    <p:sldId id="624" r:id="rId153"/>
    <p:sldId id="626" r:id="rId154"/>
    <p:sldId id="627" r:id="rId155"/>
    <p:sldId id="628" r:id="rId156"/>
    <p:sldId id="629" r:id="rId157"/>
    <p:sldId id="630" r:id="rId158"/>
    <p:sldId id="631" r:id="rId159"/>
    <p:sldId id="632" r:id="rId160"/>
    <p:sldId id="633" r:id="rId161"/>
    <p:sldId id="634" r:id="rId162"/>
    <p:sldId id="635" r:id="rId163"/>
    <p:sldId id="636" r:id="rId164"/>
    <p:sldId id="637" r:id="rId165"/>
    <p:sldId id="638" r:id="rId166"/>
    <p:sldId id="639" r:id="rId167"/>
    <p:sldId id="640" r:id="rId168"/>
    <p:sldId id="641" r:id="rId169"/>
    <p:sldId id="642" r:id="rId170"/>
    <p:sldId id="643" r:id="rId171"/>
    <p:sldId id="644" r:id="rId172"/>
    <p:sldId id="645" r:id="rId173"/>
    <p:sldId id="654" r:id="rId174"/>
    <p:sldId id="655" r:id="rId175"/>
    <p:sldId id="656" r:id="rId176"/>
    <p:sldId id="657" r:id="rId177"/>
    <p:sldId id="658" r:id="rId178"/>
    <p:sldId id="659" r:id="rId179"/>
    <p:sldId id="660" r:id="rId180"/>
    <p:sldId id="661" r:id="rId181"/>
    <p:sldId id="662" r:id="rId182"/>
    <p:sldId id="663" r:id="rId183"/>
    <p:sldId id="648" r:id="rId184"/>
    <p:sldId id="649" r:id="rId185"/>
    <p:sldId id="650" r:id="rId186"/>
    <p:sldId id="651" r:id="rId187"/>
    <p:sldId id="652" r:id="rId188"/>
    <p:sldId id="653" r:id="rId189"/>
    <p:sldId id="646" r:id="rId190"/>
    <p:sldId id="647" r:id="rId191"/>
    <p:sldId id="518" r:id="rId192"/>
    <p:sldId id="519" r:id="rId193"/>
    <p:sldId id="520" r:id="rId194"/>
    <p:sldId id="521" r:id="rId195"/>
    <p:sldId id="522" r:id="rId196"/>
    <p:sldId id="523" r:id="rId197"/>
    <p:sldId id="524" r:id="rId198"/>
    <p:sldId id="525" r:id="rId199"/>
    <p:sldId id="526" r:id="rId200"/>
    <p:sldId id="527" r:id="rId201"/>
    <p:sldId id="528" r:id="rId202"/>
    <p:sldId id="529" r:id="rId203"/>
    <p:sldId id="530" r:id="rId204"/>
    <p:sldId id="531" r:id="rId205"/>
    <p:sldId id="532" r:id="rId206"/>
    <p:sldId id="533" r:id="rId207"/>
    <p:sldId id="534" r:id="rId208"/>
    <p:sldId id="535" r:id="rId209"/>
    <p:sldId id="536" r:id="rId210"/>
    <p:sldId id="537" r:id="rId211"/>
    <p:sldId id="538" r:id="rId212"/>
    <p:sldId id="539" r:id="rId213"/>
    <p:sldId id="540" r:id="rId214"/>
    <p:sldId id="541" r:id="rId215"/>
    <p:sldId id="542" r:id="rId216"/>
    <p:sldId id="543" r:id="rId217"/>
    <p:sldId id="544" r:id="rId218"/>
    <p:sldId id="545" r:id="rId219"/>
    <p:sldId id="546" r:id="rId220"/>
    <p:sldId id="547" r:id="rId221"/>
    <p:sldId id="548" r:id="rId222"/>
    <p:sldId id="549" r:id="rId223"/>
    <p:sldId id="550" r:id="rId224"/>
    <p:sldId id="551" r:id="rId225"/>
    <p:sldId id="552" r:id="rId226"/>
    <p:sldId id="553" r:id="rId227"/>
    <p:sldId id="554" r:id="rId228"/>
    <p:sldId id="555" r:id="rId229"/>
    <p:sldId id="556" r:id="rId230"/>
    <p:sldId id="557" r:id="rId231"/>
    <p:sldId id="558" r:id="rId232"/>
    <p:sldId id="559" r:id="rId233"/>
    <p:sldId id="560" r:id="rId234"/>
    <p:sldId id="561" r:id="rId235"/>
    <p:sldId id="562" r:id="rId236"/>
    <p:sldId id="563" r:id="rId237"/>
    <p:sldId id="564" r:id="rId238"/>
    <p:sldId id="565" r:id="rId239"/>
    <p:sldId id="777" r:id="rId240"/>
    <p:sldId id="440" r:id="rId241"/>
    <p:sldId id="441" r:id="rId242"/>
    <p:sldId id="442" r:id="rId243"/>
    <p:sldId id="257" r:id="rId244"/>
    <p:sldId id="258" r:id="rId245"/>
    <p:sldId id="259" r:id="rId246"/>
    <p:sldId id="260" r:id="rId247"/>
    <p:sldId id="261" r:id="rId248"/>
    <p:sldId id="262" r:id="rId249"/>
    <p:sldId id="263" r:id="rId250"/>
    <p:sldId id="264" r:id="rId251"/>
    <p:sldId id="265" r:id="rId252"/>
    <p:sldId id="266" r:id="rId253"/>
    <p:sldId id="267" r:id="rId254"/>
    <p:sldId id="268" r:id="rId255"/>
    <p:sldId id="269" r:id="rId256"/>
    <p:sldId id="270" r:id="rId257"/>
    <p:sldId id="271" r:id="rId258"/>
    <p:sldId id="282" r:id="rId259"/>
    <p:sldId id="283" r:id="rId260"/>
    <p:sldId id="284" r:id="rId261"/>
    <p:sldId id="285" r:id="rId262"/>
    <p:sldId id="286" r:id="rId263"/>
    <p:sldId id="287" r:id="rId264"/>
    <p:sldId id="288" r:id="rId265"/>
    <p:sldId id="289" r:id="rId266"/>
    <p:sldId id="290" r:id="rId267"/>
    <p:sldId id="291" r:id="rId268"/>
    <p:sldId id="297" r:id="rId269"/>
    <p:sldId id="298" r:id="rId270"/>
    <p:sldId id="299" r:id="rId271"/>
    <p:sldId id="300" r:id="rId272"/>
    <p:sldId id="301" r:id="rId273"/>
    <p:sldId id="302" r:id="rId274"/>
    <p:sldId id="303" r:id="rId275"/>
    <p:sldId id="443" r:id="rId276"/>
    <p:sldId id="304" r:id="rId277"/>
    <p:sldId id="305" r:id="rId278"/>
    <p:sldId id="306" r:id="rId279"/>
    <p:sldId id="307" r:id="rId280"/>
    <p:sldId id="778" r:id="rId281"/>
    <p:sldId id="779" r:id="rId282"/>
    <p:sldId id="780" r:id="rId283"/>
    <p:sldId id="781" r:id="rId284"/>
    <p:sldId id="782" r:id="rId285"/>
    <p:sldId id="783" r:id="rId286"/>
    <p:sldId id="784" r:id="rId287"/>
    <p:sldId id="785" r:id="rId288"/>
    <p:sldId id="786" r:id="rId289"/>
    <p:sldId id="787" r:id="rId290"/>
    <p:sldId id="788" r:id="rId291"/>
    <p:sldId id="789" r:id="rId292"/>
    <p:sldId id="790" r:id="rId293"/>
    <p:sldId id="791" r:id="rId294"/>
    <p:sldId id="792" r:id="rId295"/>
    <p:sldId id="793" r:id="rId296"/>
    <p:sldId id="794" r:id="rId297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362" y="-2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17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299" Type="http://schemas.openxmlformats.org/officeDocument/2006/relationships/handoutMaster" Target="handoutMasters/handoutMaster1.xml"/><Relationship Id="rId303" Type="http://schemas.openxmlformats.org/officeDocument/2006/relationships/tableStyles" Target="tableStyles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63" Type="http://schemas.openxmlformats.org/officeDocument/2006/relationships/slide" Target="slides/slide57.xml"/><Relationship Id="rId84" Type="http://schemas.openxmlformats.org/officeDocument/2006/relationships/slide" Target="slides/slide78.xml"/><Relationship Id="rId138" Type="http://schemas.openxmlformats.org/officeDocument/2006/relationships/slide" Target="slides/slide132.xml"/><Relationship Id="rId159" Type="http://schemas.openxmlformats.org/officeDocument/2006/relationships/slide" Target="slides/slide153.xml"/><Relationship Id="rId170" Type="http://schemas.openxmlformats.org/officeDocument/2006/relationships/slide" Target="slides/slide164.xml"/><Relationship Id="rId191" Type="http://schemas.openxmlformats.org/officeDocument/2006/relationships/slide" Target="slides/slide185.xml"/><Relationship Id="rId205" Type="http://schemas.openxmlformats.org/officeDocument/2006/relationships/slide" Target="slides/slide199.xml"/><Relationship Id="rId226" Type="http://schemas.openxmlformats.org/officeDocument/2006/relationships/slide" Target="slides/slide220.xml"/><Relationship Id="rId247" Type="http://schemas.openxmlformats.org/officeDocument/2006/relationships/slide" Target="slides/slide241.xml"/><Relationship Id="rId107" Type="http://schemas.openxmlformats.org/officeDocument/2006/relationships/slide" Target="slides/slide101.xml"/><Relationship Id="rId268" Type="http://schemas.openxmlformats.org/officeDocument/2006/relationships/slide" Target="slides/slide262.xml"/><Relationship Id="rId289" Type="http://schemas.openxmlformats.org/officeDocument/2006/relationships/slide" Target="slides/slide283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53" Type="http://schemas.openxmlformats.org/officeDocument/2006/relationships/slide" Target="slides/slide47.xml"/><Relationship Id="rId74" Type="http://schemas.openxmlformats.org/officeDocument/2006/relationships/slide" Target="slides/slide68.xml"/><Relationship Id="rId128" Type="http://schemas.openxmlformats.org/officeDocument/2006/relationships/slide" Target="slides/slide122.xml"/><Relationship Id="rId149" Type="http://schemas.openxmlformats.org/officeDocument/2006/relationships/slide" Target="slides/slide143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9.xml"/><Relationship Id="rId160" Type="http://schemas.openxmlformats.org/officeDocument/2006/relationships/slide" Target="slides/slide154.xml"/><Relationship Id="rId181" Type="http://schemas.openxmlformats.org/officeDocument/2006/relationships/slide" Target="slides/slide175.xml"/><Relationship Id="rId216" Type="http://schemas.openxmlformats.org/officeDocument/2006/relationships/slide" Target="slides/slide210.xml"/><Relationship Id="rId237" Type="http://schemas.openxmlformats.org/officeDocument/2006/relationships/slide" Target="slides/slide231.xml"/><Relationship Id="rId258" Type="http://schemas.openxmlformats.org/officeDocument/2006/relationships/slide" Target="slides/slide252.xml"/><Relationship Id="rId279" Type="http://schemas.openxmlformats.org/officeDocument/2006/relationships/slide" Target="slides/slide273.xml"/><Relationship Id="rId22" Type="http://schemas.openxmlformats.org/officeDocument/2006/relationships/slide" Target="slides/slide16.xml"/><Relationship Id="rId43" Type="http://schemas.openxmlformats.org/officeDocument/2006/relationships/slide" Target="slides/slide37.xml"/><Relationship Id="rId64" Type="http://schemas.openxmlformats.org/officeDocument/2006/relationships/slide" Target="slides/slide58.xml"/><Relationship Id="rId118" Type="http://schemas.openxmlformats.org/officeDocument/2006/relationships/slide" Target="slides/slide112.xml"/><Relationship Id="rId139" Type="http://schemas.openxmlformats.org/officeDocument/2006/relationships/slide" Target="slides/slide133.xml"/><Relationship Id="rId290" Type="http://schemas.openxmlformats.org/officeDocument/2006/relationships/slide" Target="slides/slide284.xml"/><Relationship Id="rId85" Type="http://schemas.openxmlformats.org/officeDocument/2006/relationships/slide" Target="slides/slide79.xml"/><Relationship Id="rId150" Type="http://schemas.openxmlformats.org/officeDocument/2006/relationships/slide" Target="slides/slide144.xml"/><Relationship Id="rId171" Type="http://schemas.openxmlformats.org/officeDocument/2006/relationships/slide" Target="slides/slide165.xml"/><Relationship Id="rId192" Type="http://schemas.openxmlformats.org/officeDocument/2006/relationships/slide" Target="slides/slide186.xml"/><Relationship Id="rId206" Type="http://schemas.openxmlformats.org/officeDocument/2006/relationships/slide" Target="slides/slide200.xml"/><Relationship Id="rId227" Type="http://schemas.openxmlformats.org/officeDocument/2006/relationships/slide" Target="slides/slide221.xml"/><Relationship Id="rId248" Type="http://schemas.openxmlformats.org/officeDocument/2006/relationships/slide" Target="slides/slide242.xml"/><Relationship Id="rId269" Type="http://schemas.openxmlformats.org/officeDocument/2006/relationships/slide" Target="slides/slide263.xml"/><Relationship Id="rId12" Type="http://schemas.openxmlformats.org/officeDocument/2006/relationships/slide" Target="slides/slide6.xml"/><Relationship Id="rId33" Type="http://schemas.openxmlformats.org/officeDocument/2006/relationships/slide" Target="slides/slide27.xml"/><Relationship Id="rId108" Type="http://schemas.openxmlformats.org/officeDocument/2006/relationships/slide" Target="slides/slide102.xml"/><Relationship Id="rId129" Type="http://schemas.openxmlformats.org/officeDocument/2006/relationships/slide" Target="slides/slide123.xml"/><Relationship Id="rId280" Type="http://schemas.openxmlformats.org/officeDocument/2006/relationships/slide" Target="slides/slide274.xml"/><Relationship Id="rId54" Type="http://schemas.openxmlformats.org/officeDocument/2006/relationships/slide" Target="slides/slide48.xml"/><Relationship Id="rId75" Type="http://schemas.openxmlformats.org/officeDocument/2006/relationships/slide" Target="slides/slide69.xml"/><Relationship Id="rId96" Type="http://schemas.openxmlformats.org/officeDocument/2006/relationships/slide" Target="slides/slide90.xml"/><Relationship Id="rId140" Type="http://schemas.openxmlformats.org/officeDocument/2006/relationships/slide" Target="slides/slide134.xml"/><Relationship Id="rId161" Type="http://schemas.openxmlformats.org/officeDocument/2006/relationships/slide" Target="slides/slide155.xml"/><Relationship Id="rId182" Type="http://schemas.openxmlformats.org/officeDocument/2006/relationships/slide" Target="slides/slide176.xml"/><Relationship Id="rId217" Type="http://schemas.openxmlformats.org/officeDocument/2006/relationships/slide" Target="slides/slide211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2.xml"/><Relationship Id="rId259" Type="http://schemas.openxmlformats.org/officeDocument/2006/relationships/slide" Target="slides/slide253.xml"/><Relationship Id="rId23" Type="http://schemas.openxmlformats.org/officeDocument/2006/relationships/slide" Target="slides/slide17.xml"/><Relationship Id="rId119" Type="http://schemas.openxmlformats.org/officeDocument/2006/relationships/slide" Target="slides/slide113.xml"/><Relationship Id="rId270" Type="http://schemas.openxmlformats.org/officeDocument/2006/relationships/slide" Target="slides/slide264.xml"/><Relationship Id="rId291" Type="http://schemas.openxmlformats.org/officeDocument/2006/relationships/slide" Target="slides/slide285.xml"/><Relationship Id="rId44" Type="http://schemas.openxmlformats.org/officeDocument/2006/relationships/slide" Target="slides/slide38.xml"/><Relationship Id="rId65" Type="http://schemas.openxmlformats.org/officeDocument/2006/relationships/slide" Target="slides/slide59.xml"/><Relationship Id="rId86" Type="http://schemas.openxmlformats.org/officeDocument/2006/relationships/slide" Target="slides/slide80.xml"/><Relationship Id="rId130" Type="http://schemas.openxmlformats.org/officeDocument/2006/relationships/slide" Target="slides/slide124.xml"/><Relationship Id="rId151" Type="http://schemas.openxmlformats.org/officeDocument/2006/relationships/slide" Target="slides/slide145.xml"/><Relationship Id="rId172" Type="http://schemas.openxmlformats.org/officeDocument/2006/relationships/slide" Target="slides/slide166.xml"/><Relationship Id="rId193" Type="http://schemas.openxmlformats.org/officeDocument/2006/relationships/slide" Target="slides/slide187.xml"/><Relationship Id="rId207" Type="http://schemas.openxmlformats.org/officeDocument/2006/relationships/slide" Target="slides/slide201.xml"/><Relationship Id="rId228" Type="http://schemas.openxmlformats.org/officeDocument/2006/relationships/slide" Target="slides/slide222.xml"/><Relationship Id="rId249" Type="http://schemas.openxmlformats.org/officeDocument/2006/relationships/slide" Target="slides/slide243.xml"/><Relationship Id="rId13" Type="http://schemas.openxmlformats.org/officeDocument/2006/relationships/slide" Target="slides/slide7.xml"/><Relationship Id="rId109" Type="http://schemas.openxmlformats.org/officeDocument/2006/relationships/slide" Target="slides/slide103.xml"/><Relationship Id="rId260" Type="http://schemas.openxmlformats.org/officeDocument/2006/relationships/slide" Target="slides/slide254.xml"/><Relationship Id="rId281" Type="http://schemas.openxmlformats.org/officeDocument/2006/relationships/slide" Target="slides/slide275.xml"/><Relationship Id="rId34" Type="http://schemas.openxmlformats.org/officeDocument/2006/relationships/slide" Target="slides/slide28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20" Type="http://schemas.openxmlformats.org/officeDocument/2006/relationships/slide" Target="slides/slide114.xml"/><Relationship Id="rId141" Type="http://schemas.openxmlformats.org/officeDocument/2006/relationships/slide" Target="slides/slide135.xml"/><Relationship Id="rId7" Type="http://schemas.openxmlformats.org/officeDocument/2006/relationships/slide" Target="slides/slide1.xml"/><Relationship Id="rId162" Type="http://schemas.openxmlformats.org/officeDocument/2006/relationships/slide" Target="slides/slide156.xml"/><Relationship Id="rId183" Type="http://schemas.openxmlformats.org/officeDocument/2006/relationships/slide" Target="slides/slide177.xml"/><Relationship Id="rId218" Type="http://schemas.openxmlformats.org/officeDocument/2006/relationships/slide" Target="slides/slide212.xml"/><Relationship Id="rId239" Type="http://schemas.openxmlformats.org/officeDocument/2006/relationships/slide" Target="slides/slide23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50" Type="http://schemas.openxmlformats.org/officeDocument/2006/relationships/slide" Target="slides/slide244.xml"/><Relationship Id="rId255" Type="http://schemas.openxmlformats.org/officeDocument/2006/relationships/slide" Target="slides/slide249.xml"/><Relationship Id="rId271" Type="http://schemas.openxmlformats.org/officeDocument/2006/relationships/slide" Target="slides/slide265.xml"/><Relationship Id="rId276" Type="http://schemas.openxmlformats.org/officeDocument/2006/relationships/slide" Target="slides/slide270.xml"/><Relationship Id="rId292" Type="http://schemas.openxmlformats.org/officeDocument/2006/relationships/slide" Target="slides/slide286.xml"/><Relationship Id="rId297" Type="http://schemas.openxmlformats.org/officeDocument/2006/relationships/slide" Target="slides/slide291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Relationship Id="rId131" Type="http://schemas.openxmlformats.org/officeDocument/2006/relationships/slide" Target="slides/slide125.xml"/><Relationship Id="rId136" Type="http://schemas.openxmlformats.org/officeDocument/2006/relationships/slide" Target="slides/slide130.xml"/><Relationship Id="rId157" Type="http://schemas.openxmlformats.org/officeDocument/2006/relationships/slide" Target="slides/slide151.xml"/><Relationship Id="rId178" Type="http://schemas.openxmlformats.org/officeDocument/2006/relationships/slide" Target="slides/slide172.xml"/><Relationship Id="rId301" Type="http://schemas.openxmlformats.org/officeDocument/2006/relationships/viewProps" Target="viewProps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52" Type="http://schemas.openxmlformats.org/officeDocument/2006/relationships/slide" Target="slides/slide146.xml"/><Relationship Id="rId173" Type="http://schemas.openxmlformats.org/officeDocument/2006/relationships/slide" Target="slides/slide167.xml"/><Relationship Id="rId194" Type="http://schemas.openxmlformats.org/officeDocument/2006/relationships/slide" Target="slides/slide188.xml"/><Relationship Id="rId199" Type="http://schemas.openxmlformats.org/officeDocument/2006/relationships/slide" Target="slides/slide193.xml"/><Relationship Id="rId203" Type="http://schemas.openxmlformats.org/officeDocument/2006/relationships/slide" Target="slides/slide197.xml"/><Relationship Id="rId208" Type="http://schemas.openxmlformats.org/officeDocument/2006/relationships/slide" Target="slides/slide202.xml"/><Relationship Id="rId229" Type="http://schemas.openxmlformats.org/officeDocument/2006/relationships/slide" Target="slides/slide223.xml"/><Relationship Id="rId19" Type="http://schemas.openxmlformats.org/officeDocument/2006/relationships/slide" Target="slides/slide13.xml"/><Relationship Id="rId224" Type="http://schemas.openxmlformats.org/officeDocument/2006/relationships/slide" Target="slides/slide218.xml"/><Relationship Id="rId240" Type="http://schemas.openxmlformats.org/officeDocument/2006/relationships/slide" Target="slides/slide234.xml"/><Relationship Id="rId245" Type="http://schemas.openxmlformats.org/officeDocument/2006/relationships/slide" Target="slides/slide239.xml"/><Relationship Id="rId261" Type="http://schemas.openxmlformats.org/officeDocument/2006/relationships/slide" Target="slides/slide255.xml"/><Relationship Id="rId266" Type="http://schemas.openxmlformats.org/officeDocument/2006/relationships/slide" Target="slides/slide260.xml"/><Relationship Id="rId287" Type="http://schemas.openxmlformats.org/officeDocument/2006/relationships/slide" Target="slides/slide281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26" Type="http://schemas.openxmlformats.org/officeDocument/2006/relationships/slide" Target="slides/slide120.xml"/><Relationship Id="rId147" Type="http://schemas.openxmlformats.org/officeDocument/2006/relationships/slide" Target="slides/slide141.xml"/><Relationship Id="rId168" Type="http://schemas.openxmlformats.org/officeDocument/2006/relationships/slide" Target="slides/slide162.xml"/><Relationship Id="rId282" Type="http://schemas.openxmlformats.org/officeDocument/2006/relationships/slide" Target="slides/slide276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142" Type="http://schemas.openxmlformats.org/officeDocument/2006/relationships/slide" Target="slides/slide136.xml"/><Relationship Id="rId163" Type="http://schemas.openxmlformats.org/officeDocument/2006/relationships/slide" Target="slides/slide157.xml"/><Relationship Id="rId184" Type="http://schemas.openxmlformats.org/officeDocument/2006/relationships/slide" Target="slides/slide178.xml"/><Relationship Id="rId189" Type="http://schemas.openxmlformats.org/officeDocument/2006/relationships/slide" Target="slides/slide183.xml"/><Relationship Id="rId219" Type="http://schemas.openxmlformats.org/officeDocument/2006/relationships/slide" Target="slides/slide213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8.xml"/><Relationship Id="rId230" Type="http://schemas.openxmlformats.org/officeDocument/2006/relationships/slide" Target="slides/slide224.xml"/><Relationship Id="rId235" Type="http://schemas.openxmlformats.org/officeDocument/2006/relationships/slide" Target="slides/slide229.xml"/><Relationship Id="rId251" Type="http://schemas.openxmlformats.org/officeDocument/2006/relationships/slide" Target="slides/slide245.xml"/><Relationship Id="rId256" Type="http://schemas.openxmlformats.org/officeDocument/2006/relationships/slide" Target="slides/slide250.xml"/><Relationship Id="rId277" Type="http://schemas.openxmlformats.org/officeDocument/2006/relationships/slide" Target="slides/slide271.xml"/><Relationship Id="rId298" Type="http://schemas.openxmlformats.org/officeDocument/2006/relationships/notesMaster" Target="notesMasters/notesMaster1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Relationship Id="rId158" Type="http://schemas.openxmlformats.org/officeDocument/2006/relationships/slide" Target="slides/slide152.xml"/><Relationship Id="rId272" Type="http://schemas.openxmlformats.org/officeDocument/2006/relationships/slide" Target="slides/slide266.xml"/><Relationship Id="rId293" Type="http://schemas.openxmlformats.org/officeDocument/2006/relationships/slide" Target="slides/slide287.xml"/><Relationship Id="rId302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slide" Target="slides/slide105.xml"/><Relationship Id="rId132" Type="http://schemas.openxmlformats.org/officeDocument/2006/relationships/slide" Target="slides/slide126.xml"/><Relationship Id="rId153" Type="http://schemas.openxmlformats.org/officeDocument/2006/relationships/slide" Target="slides/slide147.xml"/><Relationship Id="rId174" Type="http://schemas.openxmlformats.org/officeDocument/2006/relationships/slide" Target="slides/slide168.xml"/><Relationship Id="rId179" Type="http://schemas.openxmlformats.org/officeDocument/2006/relationships/slide" Target="slides/slide173.xml"/><Relationship Id="rId195" Type="http://schemas.openxmlformats.org/officeDocument/2006/relationships/slide" Target="slides/slide189.xml"/><Relationship Id="rId209" Type="http://schemas.openxmlformats.org/officeDocument/2006/relationships/slide" Target="slides/slide203.xml"/><Relationship Id="rId190" Type="http://schemas.openxmlformats.org/officeDocument/2006/relationships/slide" Target="slides/slide184.xml"/><Relationship Id="rId204" Type="http://schemas.openxmlformats.org/officeDocument/2006/relationships/slide" Target="slides/slide198.xml"/><Relationship Id="rId220" Type="http://schemas.openxmlformats.org/officeDocument/2006/relationships/slide" Target="slides/slide214.xml"/><Relationship Id="rId225" Type="http://schemas.openxmlformats.org/officeDocument/2006/relationships/slide" Target="slides/slide219.xml"/><Relationship Id="rId241" Type="http://schemas.openxmlformats.org/officeDocument/2006/relationships/slide" Target="slides/slide235.xml"/><Relationship Id="rId246" Type="http://schemas.openxmlformats.org/officeDocument/2006/relationships/slide" Target="slides/slide240.xml"/><Relationship Id="rId267" Type="http://schemas.openxmlformats.org/officeDocument/2006/relationships/slide" Target="slides/slide261.xml"/><Relationship Id="rId288" Type="http://schemas.openxmlformats.org/officeDocument/2006/relationships/slide" Target="slides/slide282.xml"/><Relationship Id="rId15" Type="http://schemas.openxmlformats.org/officeDocument/2006/relationships/slide" Target="slides/slide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27" Type="http://schemas.openxmlformats.org/officeDocument/2006/relationships/slide" Target="slides/slide121.xml"/><Relationship Id="rId262" Type="http://schemas.openxmlformats.org/officeDocument/2006/relationships/slide" Target="slides/slide256.xml"/><Relationship Id="rId283" Type="http://schemas.openxmlformats.org/officeDocument/2006/relationships/slide" Target="slides/slide277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52" Type="http://schemas.openxmlformats.org/officeDocument/2006/relationships/slide" Target="slides/slide46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43" Type="http://schemas.openxmlformats.org/officeDocument/2006/relationships/slide" Target="slides/slide137.xml"/><Relationship Id="rId148" Type="http://schemas.openxmlformats.org/officeDocument/2006/relationships/slide" Target="slides/slide142.xml"/><Relationship Id="rId164" Type="http://schemas.openxmlformats.org/officeDocument/2006/relationships/slide" Target="slides/slide158.xml"/><Relationship Id="rId169" Type="http://schemas.openxmlformats.org/officeDocument/2006/relationships/slide" Target="slides/slide163.xml"/><Relationship Id="rId185" Type="http://schemas.openxmlformats.org/officeDocument/2006/relationships/slide" Target="slides/slide17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80" Type="http://schemas.openxmlformats.org/officeDocument/2006/relationships/slide" Target="slides/slide174.xml"/><Relationship Id="rId210" Type="http://schemas.openxmlformats.org/officeDocument/2006/relationships/slide" Target="slides/slide204.xml"/><Relationship Id="rId215" Type="http://schemas.openxmlformats.org/officeDocument/2006/relationships/slide" Target="slides/slide209.xml"/><Relationship Id="rId236" Type="http://schemas.openxmlformats.org/officeDocument/2006/relationships/slide" Target="slides/slide230.xml"/><Relationship Id="rId257" Type="http://schemas.openxmlformats.org/officeDocument/2006/relationships/slide" Target="slides/slide251.xml"/><Relationship Id="rId278" Type="http://schemas.openxmlformats.org/officeDocument/2006/relationships/slide" Target="slides/slide272.xml"/><Relationship Id="rId26" Type="http://schemas.openxmlformats.org/officeDocument/2006/relationships/slide" Target="slides/slide20.xml"/><Relationship Id="rId231" Type="http://schemas.openxmlformats.org/officeDocument/2006/relationships/slide" Target="slides/slide225.xml"/><Relationship Id="rId252" Type="http://schemas.openxmlformats.org/officeDocument/2006/relationships/slide" Target="slides/slide246.xml"/><Relationship Id="rId273" Type="http://schemas.openxmlformats.org/officeDocument/2006/relationships/slide" Target="slides/slide267.xml"/><Relationship Id="rId294" Type="http://schemas.openxmlformats.org/officeDocument/2006/relationships/slide" Target="slides/slide288.xml"/><Relationship Id="rId47" Type="http://schemas.openxmlformats.org/officeDocument/2006/relationships/slide" Target="slides/slide41.xml"/><Relationship Id="rId68" Type="http://schemas.openxmlformats.org/officeDocument/2006/relationships/slide" Target="slides/slide62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slide" Target="slides/slide127.xml"/><Relationship Id="rId154" Type="http://schemas.openxmlformats.org/officeDocument/2006/relationships/slide" Target="slides/slide148.xml"/><Relationship Id="rId175" Type="http://schemas.openxmlformats.org/officeDocument/2006/relationships/slide" Target="slides/slide169.xml"/><Relationship Id="rId196" Type="http://schemas.openxmlformats.org/officeDocument/2006/relationships/slide" Target="slides/slide190.xml"/><Relationship Id="rId200" Type="http://schemas.openxmlformats.org/officeDocument/2006/relationships/slide" Target="slides/slide194.xml"/><Relationship Id="rId16" Type="http://schemas.openxmlformats.org/officeDocument/2006/relationships/slide" Target="slides/slide10.xml"/><Relationship Id="rId221" Type="http://schemas.openxmlformats.org/officeDocument/2006/relationships/slide" Target="slides/slide215.xml"/><Relationship Id="rId242" Type="http://schemas.openxmlformats.org/officeDocument/2006/relationships/slide" Target="slides/slide236.xml"/><Relationship Id="rId263" Type="http://schemas.openxmlformats.org/officeDocument/2006/relationships/slide" Target="slides/slide257.xml"/><Relationship Id="rId284" Type="http://schemas.openxmlformats.org/officeDocument/2006/relationships/slide" Target="slides/slide278.xml"/><Relationship Id="rId37" Type="http://schemas.openxmlformats.org/officeDocument/2006/relationships/slide" Target="slides/slide31.xml"/><Relationship Id="rId58" Type="http://schemas.openxmlformats.org/officeDocument/2006/relationships/slide" Target="slides/slide52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44" Type="http://schemas.openxmlformats.org/officeDocument/2006/relationships/slide" Target="slides/slide138.xml"/><Relationship Id="rId90" Type="http://schemas.openxmlformats.org/officeDocument/2006/relationships/slide" Target="slides/slide84.xml"/><Relationship Id="rId165" Type="http://schemas.openxmlformats.org/officeDocument/2006/relationships/slide" Target="slides/slide159.xml"/><Relationship Id="rId186" Type="http://schemas.openxmlformats.org/officeDocument/2006/relationships/slide" Target="slides/slide180.xml"/><Relationship Id="rId211" Type="http://schemas.openxmlformats.org/officeDocument/2006/relationships/slide" Target="slides/slide205.xml"/><Relationship Id="rId232" Type="http://schemas.openxmlformats.org/officeDocument/2006/relationships/slide" Target="slides/slide226.xml"/><Relationship Id="rId253" Type="http://schemas.openxmlformats.org/officeDocument/2006/relationships/slide" Target="slides/slide247.xml"/><Relationship Id="rId274" Type="http://schemas.openxmlformats.org/officeDocument/2006/relationships/slide" Target="slides/slide268.xml"/><Relationship Id="rId295" Type="http://schemas.openxmlformats.org/officeDocument/2006/relationships/slide" Target="slides/slide289.xml"/><Relationship Id="rId27" Type="http://schemas.openxmlformats.org/officeDocument/2006/relationships/slide" Target="slides/slide21.xml"/><Relationship Id="rId48" Type="http://schemas.openxmlformats.org/officeDocument/2006/relationships/slide" Target="slides/slide42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34" Type="http://schemas.openxmlformats.org/officeDocument/2006/relationships/slide" Target="slides/slide128.xml"/><Relationship Id="rId80" Type="http://schemas.openxmlformats.org/officeDocument/2006/relationships/slide" Target="slides/slide74.xml"/><Relationship Id="rId155" Type="http://schemas.openxmlformats.org/officeDocument/2006/relationships/slide" Target="slides/slide149.xml"/><Relationship Id="rId176" Type="http://schemas.openxmlformats.org/officeDocument/2006/relationships/slide" Target="slides/slide170.xml"/><Relationship Id="rId197" Type="http://schemas.openxmlformats.org/officeDocument/2006/relationships/slide" Target="slides/slide191.xml"/><Relationship Id="rId201" Type="http://schemas.openxmlformats.org/officeDocument/2006/relationships/slide" Target="slides/slide195.xml"/><Relationship Id="rId222" Type="http://schemas.openxmlformats.org/officeDocument/2006/relationships/slide" Target="slides/slide216.xml"/><Relationship Id="rId243" Type="http://schemas.openxmlformats.org/officeDocument/2006/relationships/slide" Target="slides/slide237.xml"/><Relationship Id="rId264" Type="http://schemas.openxmlformats.org/officeDocument/2006/relationships/slide" Target="slides/slide258.xml"/><Relationship Id="rId285" Type="http://schemas.openxmlformats.org/officeDocument/2006/relationships/slide" Target="slides/slide279.xml"/><Relationship Id="rId17" Type="http://schemas.openxmlformats.org/officeDocument/2006/relationships/slide" Target="slides/slide11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24" Type="http://schemas.openxmlformats.org/officeDocument/2006/relationships/slide" Target="slides/slide118.xml"/><Relationship Id="rId70" Type="http://schemas.openxmlformats.org/officeDocument/2006/relationships/slide" Target="slides/slide64.xml"/><Relationship Id="rId91" Type="http://schemas.openxmlformats.org/officeDocument/2006/relationships/slide" Target="slides/slide85.xml"/><Relationship Id="rId145" Type="http://schemas.openxmlformats.org/officeDocument/2006/relationships/slide" Target="slides/slide139.xml"/><Relationship Id="rId166" Type="http://schemas.openxmlformats.org/officeDocument/2006/relationships/slide" Target="slides/slide160.xml"/><Relationship Id="rId187" Type="http://schemas.openxmlformats.org/officeDocument/2006/relationships/slide" Target="slides/slide181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6.xml"/><Relationship Id="rId233" Type="http://schemas.openxmlformats.org/officeDocument/2006/relationships/slide" Target="slides/slide227.xml"/><Relationship Id="rId254" Type="http://schemas.openxmlformats.org/officeDocument/2006/relationships/slide" Target="slides/slide248.xml"/><Relationship Id="rId28" Type="http://schemas.openxmlformats.org/officeDocument/2006/relationships/slide" Target="slides/slide22.xml"/><Relationship Id="rId49" Type="http://schemas.openxmlformats.org/officeDocument/2006/relationships/slide" Target="slides/slide43.xml"/><Relationship Id="rId114" Type="http://schemas.openxmlformats.org/officeDocument/2006/relationships/slide" Target="slides/slide108.xml"/><Relationship Id="rId275" Type="http://schemas.openxmlformats.org/officeDocument/2006/relationships/slide" Target="slides/slide269.xml"/><Relationship Id="rId296" Type="http://schemas.openxmlformats.org/officeDocument/2006/relationships/slide" Target="slides/slide290.xml"/><Relationship Id="rId300" Type="http://schemas.openxmlformats.org/officeDocument/2006/relationships/presProps" Target="presProps.xml"/><Relationship Id="rId60" Type="http://schemas.openxmlformats.org/officeDocument/2006/relationships/slide" Target="slides/slide54.xml"/><Relationship Id="rId81" Type="http://schemas.openxmlformats.org/officeDocument/2006/relationships/slide" Target="slides/slide75.xml"/><Relationship Id="rId135" Type="http://schemas.openxmlformats.org/officeDocument/2006/relationships/slide" Target="slides/slide129.xml"/><Relationship Id="rId156" Type="http://schemas.openxmlformats.org/officeDocument/2006/relationships/slide" Target="slides/slide150.xml"/><Relationship Id="rId177" Type="http://schemas.openxmlformats.org/officeDocument/2006/relationships/slide" Target="slides/slide171.xml"/><Relationship Id="rId198" Type="http://schemas.openxmlformats.org/officeDocument/2006/relationships/slide" Target="slides/slide192.xml"/><Relationship Id="rId202" Type="http://schemas.openxmlformats.org/officeDocument/2006/relationships/slide" Target="slides/slide196.xml"/><Relationship Id="rId223" Type="http://schemas.openxmlformats.org/officeDocument/2006/relationships/slide" Target="slides/slide217.xml"/><Relationship Id="rId244" Type="http://schemas.openxmlformats.org/officeDocument/2006/relationships/slide" Target="slides/slide238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265" Type="http://schemas.openxmlformats.org/officeDocument/2006/relationships/slide" Target="slides/slide259.xml"/><Relationship Id="rId286" Type="http://schemas.openxmlformats.org/officeDocument/2006/relationships/slide" Target="slides/slide280.xml"/><Relationship Id="rId50" Type="http://schemas.openxmlformats.org/officeDocument/2006/relationships/slide" Target="slides/slide44.xml"/><Relationship Id="rId104" Type="http://schemas.openxmlformats.org/officeDocument/2006/relationships/slide" Target="slides/slide98.xml"/><Relationship Id="rId125" Type="http://schemas.openxmlformats.org/officeDocument/2006/relationships/slide" Target="slides/slide119.xml"/><Relationship Id="rId146" Type="http://schemas.openxmlformats.org/officeDocument/2006/relationships/slide" Target="slides/slide140.xml"/><Relationship Id="rId167" Type="http://schemas.openxmlformats.org/officeDocument/2006/relationships/slide" Target="slides/slide161.xml"/><Relationship Id="rId188" Type="http://schemas.openxmlformats.org/officeDocument/2006/relationships/slide" Target="slides/slide182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13" Type="http://schemas.openxmlformats.org/officeDocument/2006/relationships/slide" Target="slides/slide207.xml"/><Relationship Id="rId234" Type="http://schemas.openxmlformats.org/officeDocument/2006/relationships/slide" Target="slides/slide2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33DDF-8ADD-4D40-831B-EFAF5BDF5914}" type="datetimeFigureOut">
              <a:rPr lang="pt-BR" smtClean="0"/>
              <a:t>25/02/2019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B885A2-398D-461C-BB59-C5B0075AFC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7021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EDF46-074E-4C45-B1DA-59B0957AE473}" type="datetimeFigureOut">
              <a:rPr lang="pt-BR" smtClean="0"/>
              <a:t>25/02/2019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1FBF-96AB-4ED4-B7B8-8DDEA26A06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493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AFCE6-2794-4072-9B02-9131E56B3907}" type="slidenum">
              <a:rPr lang="pt-BR" smtClean="0"/>
              <a:t>290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5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826D2-01CF-4A1E-8F21-69C9D5064437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35CE-E74F-408F-BBE8-46BA919F4EA1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DB3A-8191-4CB2-8D44-725919351B0A}" type="datetime1">
              <a:rPr lang="en-US" smtClean="0"/>
              <a:t>2/25/2019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88960-FA20-4693-A0F9-F1BA6A5387EF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0048A-2DD4-433F-A1B8-94AD01C5E802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F4B22F4D-54A3-4064-90AC-BF8620867796}" type="datetime1">
              <a:rPr lang="en-US" smtClean="0"/>
              <a:t>2/25/2019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4670" y="967807"/>
            <a:ext cx="8822055" cy="59247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49C056-62B9-4AD8-B468-EECF1CDA4D43}" type="datetime1">
              <a:rPr lang="en-US" smtClean="0"/>
              <a:t>2/25/2019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1096-83D1-421A-AD0B-BBF9767604A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534670" y="2602794"/>
            <a:ext cx="4277360" cy="173893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5112782" y="2602794"/>
            <a:ext cx="4277360" cy="173893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534670" y="1729599"/>
            <a:ext cx="4277360" cy="7254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3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5079365" y="1729599"/>
            <a:ext cx="4277360" cy="72542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3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04730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350" y="251884"/>
            <a:ext cx="9373433" cy="118494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712894" y="1763183"/>
            <a:ext cx="9267613" cy="142346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712894" y="4282017"/>
            <a:ext cx="9267613" cy="142346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70402C-4998-430B-94F1-DD3269B4914A}" type="datetime1">
              <a:rPr lang="en-US" smtClean="0"/>
              <a:t>2/25/2019</a:t>
            </a:fld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E9A4A-CA64-4DD6-B4DD-FC4F2BA2C0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74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1B93D-876C-4B5B-BBB8-35F80BB3CE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4A233-C3E6-4375-9FCF-16F5815F8A0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3799A-74C1-49AD-8CDD-E8C5C49A1A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1DA87-C3E4-4A50-BE85-7458091DE3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A8E58-99F3-43D9-AC70-D3D4879C87D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48E8D-52CC-4BB9-85F6-5EA06AE7B56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28FBB-760A-4A28-918C-49EB1D1BDCF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3742D-14CF-43CF-B89F-08A21C7FB40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C80AE-1EA5-4714-AAAF-77A1A69EF42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45321-E977-4520-B200-C08FACE731B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91785-968A-49E7-92FD-6C9B8E0017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2583D-A326-4FE5-B274-BA1E0CF1B65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D588A-B6A9-4652-93D4-7E672676ABC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C884A-CFAE-431A-9BA6-2E746B8EAA1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85EEA-FDF8-48EF-A074-F38FC2CFE46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76E42-816E-416F-888F-C76252F71A6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B3BB9-CC7E-4E4A-B779-55E3C02FDC4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B5D33-DA88-4AA8-8122-772BFC8B0E8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AE5D6-45F0-4084-8B70-0CBCF9784E4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E02F9-C92A-4D68-BC82-99048AE6DAE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E1A21-40C6-4112-AE2F-C1E4F795A0E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A2161-45EE-4D43-B259-245D33BD98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1A91-98EA-4BD4-90BE-7B165CC4CA9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5AC68-6E4A-49EE-B1B6-8648C7E9E59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AE4D-43CC-4463-B43D-11F0CC21338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2EC9-1968-4C6F-B01E-40A2E6A655B2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1" r:id="rId7"/>
    <p:sldLayoutId id="2147483712" r:id="rId8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1D918-1BD7-41E6-8A0E-1A2FF59F163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39FFC-4343-4960-9A7A-46ABEA8393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F2AEC-1305-4EEE-A4C6-F57AE01007F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40ABD-9CB4-47DF-BDF5-52C0B7BDFC9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E672D-B3B0-4374-ADE5-E7E00CB42A7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2/25/2019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acaodescomplicada.wordpress.com/complementar/" TargetMode="External"/><Relationship Id="rId2" Type="http://schemas.openxmlformats.org/officeDocument/2006/relationships/hyperlink" Target="https://www.urionlinejudge.com.br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ites.google.com/site/laboratoriodealgoritmos/lpa-llpa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4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5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5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4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5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5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7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4.xml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1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6.png"/></Relationships>
</file>

<file path=ppt/slides/_rels/slide2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5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9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4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7.png"/><Relationship Id="rId4" Type="http://schemas.openxmlformats.org/officeDocument/2006/relationships/image" Target="../media/image87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77.png"/><Relationship Id="rId4" Type="http://schemas.openxmlformats.org/officeDocument/2006/relationships/image" Target="../media/image9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1.png"/><Relationship Id="rId4" Type="http://schemas.openxmlformats.org/officeDocument/2006/relationships/image" Target="../media/image93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77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8.png"/><Relationship Id="rId4" Type="http://schemas.openxmlformats.org/officeDocument/2006/relationships/image" Target="../media/image108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81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11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3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2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12.png"/><Relationship Id="rId4" Type="http://schemas.openxmlformats.org/officeDocument/2006/relationships/image" Target="../media/image83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30.png"/><Relationship Id="rId4" Type="http://schemas.openxmlformats.org/officeDocument/2006/relationships/image" Target="../media/image112.png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5.xml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smtClean="0">
                <a:latin typeface="Arial"/>
                <a:cs typeface="Arial"/>
              </a:rPr>
              <a:t>samuel@cefetmg.br</a:t>
            </a:r>
            <a:endParaRPr lang="pt-BR" sz="1700" spc="5" dirty="0" smtClean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Segunda 15:00 – 16:40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cs typeface="Calibri"/>
              </a:rPr>
              <a:t>Quinta 09:00 </a:t>
            </a:r>
            <a:r>
              <a:rPr lang="pt-BR" dirty="0">
                <a:cs typeface="Calibri"/>
              </a:rPr>
              <a:t>– </a:t>
            </a:r>
            <a:r>
              <a:rPr lang="pt-BR" dirty="0" smtClean="0">
                <a:cs typeface="Calibri"/>
              </a:rPr>
              <a:t>10:40</a:t>
            </a:r>
            <a:r>
              <a:rPr lang="pt-BR" dirty="0" smtClean="0">
                <a:latin typeface="Calibri"/>
                <a:cs typeface="Calibri"/>
              </a:rPr>
              <a:t>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</a:t>
            </a:r>
            <a:endParaRPr lang="pt-BR" sz="2700" dirty="0" smtClean="0"/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Listas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Pilhas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Filas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Árvores</a:t>
            </a:r>
          </a:p>
          <a:p>
            <a:pPr marL="991289" marR="45714" lvl="1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 smtClean="0"/>
              <a:t>Grafos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endParaRPr lang="pt-BR" sz="2700" dirty="0"/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310022" y="2138952"/>
            <a:ext cx="7924831" cy="6476271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lvl="1">
              <a:lnSpc>
                <a:spcPct val="150000"/>
              </a:lnSpc>
            </a:pPr>
            <a:r>
              <a:rPr lang="pt-BR" dirty="0"/>
              <a:t>*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Transparências adaptadas. Originais por Charles Ornelas Almeida, Israel Guerra,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Nivio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Ziviani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, André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Backers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, Rodrigo Luís de Souza da Silva,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Alessandreia</a:t>
            </a:r>
            <a:r>
              <a:rPr lang="pt-BR" spc="5" dirty="0">
                <a:latin typeface="Times New Roman" pitchFamily="18" charset="0"/>
                <a:cs typeface="Times New Roman" pitchFamily="18" charset="0"/>
              </a:rPr>
              <a:t> Marta de Oliveira e João Paulo </a:t>
            </a:r>
            <a:r>
              <a:rPr lang="pt-BR" spc="5" dirty="0" err="1">
                <a:latin typeface="Times New Roman" pitchFamily="18" charset="0"/>
                <a:cs typeface="Times New Roman" pitchFamily="18" charset="0"/>
              </a:rPr>
              <a:t>Scoralick</a:t>
            </a:r>
            <a:endParaRPr lang="pt-BR" spc="5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 para lista de exercícios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3552394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</a:t>
            </a:r>
            <a:r>
              <a:rPr lang="pt-BR" sz="2800" dirty="0" smtClean="0">
                <a:hlinkClick r:id="rId2"/>
              </a:rPr>
              <a:t>www.urionlinejudge.com.br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https://programacaodescomplicada.wordpress.com/complementar</a:t>
            </a:r>
            <a:r>
              <a:rPr lang="pt-BR" sz="2800" dirty="0" smtClean="0">
                <a:hlinkClick r:id="rId3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4"/>
              </a:rPr>
              <a:t>https://</a:t>
            </a:r>
            <a:r>
              <a:rPr lang="pt-BR" sz="2800" dirty="0" smtClean="0">
                <a:hlinkClick r:id="rId4"/>
              </a:rPr>
              <a:t>sites.google.com/site/laboratoriodealgoritmos/lpa-llpa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97952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 smtClean="0"/>
              <a:t>10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4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Definição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Variável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um </a:t>
            </a:r>
            <a:r>
              <a:rPr lang="pt-BR" b="1" i="1" dirty="0" smtClean="0"/>
              <a:t>valor</a:t>
            </a:r>
            <a:r>
              <a:rPr lang="pt-BR" dirty="0" smtClean="0"/>
              <a:t> que pode ser modificado pelo programa;</a:t>
            </a:r>
          </a:p>
          <a:p>
            <a:pPr eaLnBrk="1" hangingPunct="1">
              <a:lnSpc>
                <a:spcPct val="90000"/>
              </a:lnSpc>
            </a:pPr>
            <a:endParaRPr lang="pt-BR" dirty="0" smtClean="0"/>
          </a:p>
          <a:p>
            <a:pPr eaLnBrk="1" hangingPunct="1">
              <a:lnSpc>
                <a:spcPct val="90000"/>
              </a:lnSpc>
            </a:pPr>
            <a:r>
              <a:rPr lang="pt-BR" dirty="0" smtClean="0"/>
              <a:t>Ponteiro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o </a:t>
            </a:r>
            <a:r>
              <a:rPr lang="pt-BR" b="1" i="1" dirty="0" smtClean="0"/>
              <a:t>endereço de memória </a:t>
            </a:r>
            <a:r>
              <a:rPr lang="pt-BR" dirty="0" smtClean="0"/>
              <a:t>de uma outra variável.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Um ponteiro é uma variável como qualquer outra do programa – sua diferença é que ela não armazena um valor inteiro, real, caractere ou booleano.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Ela serve para armazenar endereços de memória (são valores inteiros sem sinal).</a:t>
            </a:r>
          </a:p>
        </p:txBody>
      </p:sp>
    </p:spTree>
    <p:extLst>
      <p:ext uri="{BB962C8B-B14F-4D97-AF65-F5344CB8AC3E}">
        <p14:creationId xmlns:p14="http://schemas.microsoft.com/office/powerpoint/2010/main" val="3753967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548037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Como qualquer variável, um ponteiro também possui um tipo 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É o </a:t>
            </a:r>
            <a:r>
              <a:rPr lang="pt-BR" b="1" i="1" dirty="0" smtClean="0"/>
              <a:t>asterisco</a:t>
            </a:r>
            <a:r>
              <a:rPr lang="pt-BR" dirty="0" smtClean="0"/>
              <a:t> (</a:t>
            </a:r>
            <a:r>
              <a:rPr lang="pt-BR" b="1" dirty="0" smtClean="0"/>
              <a:t>*</a:t>
            </a:r>
            <a:r>
              <a:rPr lang="pt-BR" dirty="0" smtClean="0"/>
              <a:t>) que informa ao compilador que aquela variável não vai guardar um valor mas sim um endereço para o tipo especificado.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2757" y="4617881"/>
            <a:ext cx="2617655" cy="1994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upo 2"/>
          <p:cNvGrpSpPr/>
          <p:nvPr/>
        </p:nvGrpSpPr>
        <p:grpSpPr>
          <a:xfrm>
            <a:off x="6032500" y="1652970"/>
            <a:ext cx="4589251" cy="1500805"/>
            <a:chOff x="4786314" y="1500174"/>
            <a:chExt cx="3924300" cy="13620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1500174"/>
              <a:ext cx="3924300" cy="136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" name="Retângulo 1"/>
            <p:cNvSpPr/>
            <p:nvPr/>
          </p:nvSpPr>
          <p:spPr>
            <a:xfrm>
              <a:off x="6619881" y="1772816"/>
              <a:ext cx="128583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55035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 smtClean="0"/>
              <a:t>Exemplos de declaração de variáveis e ponteiros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809" y="2518825"/>
            <a:ext cx="9601782" cy="401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840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016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Na linguagem C, quando declaramos </a:t>
            </a:r>
            <a:r>
              <a:rPr lang="pt-BR" dirty="0" smtClean="0"/>
              <a:t>um ponteiro </a:t>
            </a:r>
            <a:r>
              <a:rPr lang="pt-BR" dirty="0"/>
              <a:t>nós informamos ao compilador para que tipo de variável vamos apontá-lo. </a:t>
            </a:r>
          </a:p>
          <a:p>
            <a:pPr lvl="1"/>
            <a:r>
              <a:rPr lang="pt-BR" dirty="0"/>
              <a:t>Um ponteiro </a:t>
            </a:r>
            <a:r>
              <a:rPr lang="pt-BR" b="1" dirty="0" err="1"/>
              <a:t>int</a:t>
            </a:r>
            <a:r>
              <a:rPr lang="pt-BR" b="1" dirty="0"/>
              <a:t>*</a:t>
            </a:r>
            <a:r>
              <a:rPr lang="pt-BR" dirty="0"/>
              <a:t> aponta para um </a:t>
            </a:r>
            <a:r>
              <a:rPr lang="pt-BR" dirty="0" smtClean="0"/>
              <a:t>inteiro, isto é,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Esse ponteiro guarda </a:t>
            </a:r>
            <a:r>
              <a:rPr lang="pt-BR" dirty="0"/>
              <a:t>o endereço de memória onde se encontra </a:t>
            </a:r>
            <a:r>
              <a:rPr lang="pt-BR" dirty="0" smtClean="0"/>
              <a:t>armazenada uma </a:t>
            </a:r>
            <a:r>
              <a:rPr lang="pt-BR" dirty="0"/>
              <a:t>variável do tipo </a:t>
            </a:r>
            <a:r>
              <a:rPr lang="pt-BR" b="1" dirty="0" err="1"/>
              <a:t>int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40018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Ponteiros apontam para uma posição de memória.</a:t>
            </a:r>
          </a:p>
          <a:p>
            <a:pPr lvl="1" eaLnBrk="1" hangingPunct="1"/>
            <a:r>
              <a:rPr lang="pt-BR" b="1" dirty="0" smtClean="0"/>
              <a:t>Cuidado</a:t>
            </a:r>
            <a:r>
              <a:rPr lang="pt-BR" dirty="0" smtClean="0"/>
              <a:t>: Ponteiros não inicializados apontam para um lugar indefinido.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*p;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13567"/>
              </p:ext>
            </p:extLst>
          </p:nvPr>
        </p:nvGraphicFramePr>
        <p:xfrm>
          <a:off x="5792258" y="390139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????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38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Um ponteiro pode ter o valor especial NULL que é o endereço de nenhum lugar.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 = NULL;</a:t>
            </a:r>
          </a:p>
          <a:p>
            <a:pPr lvl="1" eaLnBrk="1" hangingPunct="1"/>
            <a:endParaRPr lang="pt-BR" dirty="0" smtClean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824831"/>
              </p:ext>
            </p:extLst>
          </p:nvPr>
        </p:nvGraphicFramePr>
        <p:xfrm>
          <a:off x="5380141" y="4538823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NULL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grpSp>
        <p:nvGrpSpPr>
          <p:cNvPr id="12" name="Grupo 11"/>
          <p:cNvGrpSpPr/>
          <p:nvPr/>
        </p:nvGrpSpPr>
        <p:grpSpPr>
          <a:xfrm>
            <a:off x="5519382" y="3313683"/>
            <a:ext cx="3091083" cy="2636922"/>
            <a:chOff x="5072066" y="2428868"/>
            <a:chExt cx="2643206" cy="2393173"/>
          </a:xfrm>
        </p:grpSpPr>
        <p:sp>
          <p:nvSpPr>
            <p:cNvPr id="6" name="Retângulo 5"/>
            <p:cNvSpPr/>
            <p:nvPr/>
          </p:nvSpPr>
          <p:spPr>
            <a:xfrm>
              <a:off x="5072066" y="2428868"/>
              <a:ext cx="2428892" cy="10001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smtClean="0"/>
                <a:t>Nenhum lugar na memória</a:t>
              </a:r>
              <a:endParaRPr lang="pt-BR" b="1" dirty="0"/>
            </a:p>
          </p:txBody>
        </p:sp>
        <p:cxnSp>
          <p:nvCxnSpPr>
            <p:cNvPr id="8" name="Conector angulado 7"/>
            <p:cNvCxnSpPr>
              <a:endCxn id="6" idx="3"/>
            </p:cNvCxnSpPr>
            <p:nvPr/>
          </p:nvCxnSpPr>
          <p:spPr>
            <a:xfrm flipH="1" flipV="1">
              <a:off x="7500958" y="2928934"/>
              <a:ext cx="214314" cy="1893107"/>
            </a:xfrm>
            <a:prstGeom prst="bentConnector3">
              <a:avLst>
                <a:gd name="adj1" fmla="val -248887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3264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4"/>
            <a:ext cx="9713172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Os ponteiros devem ser inicializados antes de serem usados.</a:t>
            </a:r>
          </a:p>
          <a:p>
            <a:r>
              <a:rPr lang="pt-BR" dirty="0" smtClean="0"/>
              <a:t>Assim, devemos apontar um ponteiro para um lugar conhecido</a:t>
            </a:r>
          </a:p>
          <a:p>
            <a:pPr lvl="1" eaLnBrk="1" hangingPunct="1"/>
            <a:r>
              <a:rPr lang="pt-BR" dirty="0" smtClean="0"/>
              <a:t>Podemos apontá-lo para uma variável que já exista no programa.</a:t>
            </a:r>
          </a:p>
        </p:txBody>
      </p:sp>
      <p:sp>
        <p:nvSpPr>
          <p:cNvPr id="2" name="Elipse 1"/>
          <p:cNvSpPr/>
          <p:nvPr/>
        </p:nvSpPr>
        <p:spPr>
          <a:xfrm>
            <a:off x="6576026" y="5703241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6576026" y="6542852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516346"/>
              </p:ext>
            </p:extLst>
          </p:nvPr>
        </p:nvGraphicFramePr>
        <p:xfrm>
          <a:off x="3675845" y="4460109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4" name="Conector angulado 3"/>
          <p:cNvCxnSpPr>
            <a:stCxn id="2" idx="6"/>
            <a:endCxn id="7" idx="6"/>
          </p:cNvCxnSpPr>
          <p:nvPr/>
        </p:nvCxnSpPr>
        <p:spPr>
          <a:xfrm>
            <a:off x="6932472" y="5871163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368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6232257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defRPr/>
            </a:pPr>
            <a:r>
              <a:rPr lang="pt-BR" dirty="0" smtClean="0"/>
              <a:t>O ponteiro armazena o endereço da variável para onde ele aponta. </a:t>
            </a:r>
          </a:p>
          <a:p>
            <a:pPr lvl="1" eaLnBrk="1" hangingPunct="1">
              <a:defRPr/>
            </a:pPr>
            <a:r>
              <a:rPr lang="pt-BR" sz="2300" dirty="0"/>
              <a:t>Para saber o endereço de memória de uma variável do nosso programa, usamos o operador </a:t>
            </a:r>
            <a:r>
              <a:rPr lang="pt-BR" sz="2300" b="1" dirty="0"/>
              <a:t>&amp;</a:t>
            </a:r>
            <a:r>
              <a:rPr lang="pt-BR" sz="2300" dirty="0"/>
              <a:t>. </a:t>
            </a:r>
          </a:p>
          <a:p>
            <a:pPr lvl="1">
              <a:defRPr/>
            </a:pPr>
            <a:r>
              <a:rPr lang="pt-BR" sz="2300" dirty="0"/>
              <a:t>Ao armazenar o endereço, o ponteiro estará apontando para aquela variável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334134" y="4541403"/>
            <a:ext cx="8298524" cy="2865173"/>
            <a:chOff x="1023938" y="3714752"/>
            <a:chExt cx="7096125" cy="26003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3938" y="3714752"/>
              <a:ext cx="7096125" cy="2600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1428728" y="5286388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Elipse 7"/>
          <p:cNvSpPr/>
          <p:nvPr/>
        </p:nvSpPr>
        <p:spPr>
          <a:xfrm>
            <a:off x="9583565" y="2659959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9583565" y="3499570"/>
            <a:ext cx="356447" cy="3358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endParaRPr lang="pt-BR"/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76307"/>
              </p:ext>
            </p:extLst>
          </p:nvPr>
        </p:nvGraphicFramePr>
        <p:xfrm>
          <a:off x="6683384" y="1416827"/>
          <a:ext cx="3475355" cy="28602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118315"/>
                <a:gridCol w="1293155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c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11" name="Conector angulado 10"/>
          <p:cNvCxnSpPr>
            <a:stCxn id="8" idx="6"/>
            <a:endCxn id="9" idx="6"/>
          </p:cNvCxnSpPr>
          <p:nvPr/>
        </p:nvCxnSpPr>
        <p:spPr>
          <a:xfrm>
            <a:off x="9940012" y="2827881"/>
            <a:ext cx="14852" cy="839611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148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Tendo um ponteiro armazenado um endereço de memória, como saber o valor guardado dentro dessa posição?</a:t>
            </a:r>
          </a:p>
        </p:txBody>
      </p:sp>
    </p:spTree>
    <p:extLst>
      <p:ext uri="{BB962C8B-B14F-4D97-AF65-F5344CB8AC3E}">
        <p14:creationId xmlns:p14="http://schemas.microsoft.com/office/powerpoint/2010/main" val="148575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711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9406882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Para acessar o </a:t>
            </a:r>
            <a:r>
              <a:rPr lang="pt-BR" b="1" dirty="0" smtClean="0"/>
              <a:t>valor</a:t>
            </a:r>
            <a:r>
              <a:rPr lang="pt-BR" dirty="0" smtClean="0"/>
              <a:t> guardado dentro de uma posição na memória apontada por um ponteiro, basta usar o operador </a:t>
            </a:r>
            <a:r>
              <a:rPr lang="pt-BR" b="1" i="1" dirty="0" smtClean="0"/>
              <a:t>asterisco</a:t>
            </a:r>
            <a:r>
              <a:rPr lang="pt-BR" dirty="0" smtClean="0"/>
              <a:t> “*” na frente do nome do ponteiro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33952" y="3195796"/>
            <a:ext cx="9958229" cy="4282017"/>
            <a:chOff x="200054" y="2900386"/>
            <a:chExt cx="8515350" cy="38862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0054" y="2900386"/>
              <a:ext cx="8515350" cy="3886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714348" y="5224186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236290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7302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9323340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b="1" dirty="0" smtClean="0"/>
              <a:t>*p</a:t>
            </a:r>
            <a:r>
              <a:rPr lang="pt-BR" dirty="0" smtClean="0"/>
              <a:t> :conteúdo da posição de memória apontado por </a:t>
            </a:r>
            <a:r>
              <a:rPr lang="pt-BR" b="1" dirty="0" smtClean="0"/>
              <a:t>p</a:t>
            </a:r>
            <a:r>
              <a:rPr lang="pt-BR" dirty="0" smtClean="0"/>
              <a:t>;</a:t>
            </a:r>
          </a:p>
          <a:p>
            <a:pPr eaLnBrk="1" hangingPunct="1"/>
            <a:r>
              <a:rPr lang="pt-BR" b="1" dirty="0" smtClean="0"/>
              <a:t>&amp;c</a:t>
            </a:r>
            <a:r>
              <a:rPr lang="pt-BR" dirty="0" smtClean="0"/>
              <a:t>: o endereço na memória onde está armazenada a variável </a:t>
            </a:r>
            <a:r>
              <a:rPr lang="pt-BR" b="1" dirty="0" smtClean="0"/>
              <a:t>c</a:t>
            </a:r>
            <a:r>
              <a:rPr lang="pt-BR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52" y="3195796"/>
            <a:ext cx="9958229" cy="4282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9424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De modo geral, um ponteiro só pode receber o endereço de memória de uma variável do mesmo tipo do ponteiro</a:t>
            </a:r>
          </a:p>
          <a:p>
            <a:pPr lvl="1"/>
            <a:r>
              <a:rPr lang="pt-BR" dirty="0"/>
              <a:t>Isso ocorre porque diferentes tipos de variáveis ocupam espaços de memória de tamanhos diferentes</a:t>
            </a:r>
          </a:p>
          <a:p>
            <a:pPr lvl="1"/>
            <a:r>
              <a:rPr lang="pt-BR" dirty="0"/>
              <a:t>Na verdade, nós podemos atribuir a um ponteiro de inteiro (</a:t>
            </a:r>
            <a:r>
              <a:rPr lang="pt-BR" b="1" dirty="0" err="1"/>
              <a:t>int</a:t>
            </a:r>
            <a:r>
              <a:rPr lang="pt-BR" b="1" dirty="0"/>
              <a:t> *</a:t>
            </a:r>
            <a:r>
              <a:rPr lang="pt-BR" dirty="0"/>
              <a:t>) o endereço de uma variável do tipo </a:t>
            </a:r>
            <a:r>
              <a:rPr lang="pt-BR" b="1" dirty="0" err="1"/>
              <a:t>float</a:t>
            </a:r>
            <a:r>
              <a:rPr lang="pt-BR" dirty="0"/>
              <a:t>. No entanto, o compilador assume que qualquer endereço que esse ponteiro armazene obrigatoriamente apontará para uma variável do tipo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Isso gera problemas na interpretação dos valores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0526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762" y="1500805"/>
            <a:ext cx="9089390" cy="4554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386" name="Título 1"/>
          <p:cNvSpPr>
            <a:spLocks noGrp="1"/>
          </p:cNvSpPr>
          <p:nvPr>
            <p:ph type="ctrTitle"/>
          </p:nvPr>
        </p:nvSpPr>
        <p:spPr>
          <a:xfrm>
            <a:off x="802005" y="442580"/>
            <a:ext cx="9089390" cy="592470"/>
          </a:xfrm>
        </p:spPr>
        <p:txBody>
          <a:bodyPr/>
          <a:lstStyle/>
          <a:p>
            <a:r>
              <a:rPr lang="pt-BR" dirty="0" smtClean="0"/>
              <a:t>Utilização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 b="8163"/>
          <a:stretch>
            <a:fillRect/>
          </a:stretch>
        </p:blipFill>
        <p:spPr bwMode="auto">
          <a:xfrm>
            <a:off x="584763" y="6081312"/>
            <a:ext cx="5536062" cy="141685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0347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Atribuição </a:t>
            </a:r>
          </a:p>
          <a:p>
            <a:pPr lvl="1" eaLnBrk="1" hangingPunct="1"/>
            <a:r>
              <a:rPr lang="pt-BR" dirty="0" smtClean="0"/>
              <a:t>p1 aponta para o mesmo lugar que p2;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sz="3600" b="1" dirty="0"/>
              <a:t>	</a:t>
            </a:r>
          </a:p>
          <a:p>
            <a:pPr lvl="1" eaLnBrk="1" hangingPunct="1">
              <a:buFont typeface="Wingdings" pitchFamily="2" charset="2"/>
              <a:buNone/>
            </a:pPr>
            <a:endParaRPr lang="pt-BR" sz="3600" b="1" dirty="0"/>
          </a:p>
          <a:p>
            <a:pPr lvl="1" eaLnBrk="1" hangingPunct="1"/>
            <a:endParaRPr lang="pt-BR" dirty="0" smtClean="0"/>
          </a:p>
          <a:p>
            <a:pPr lvl="1" eaLnBrk="1" hangingPunct="1"/>
            <a:r>
              <a:rPr lang="pt-BR" dirty="0" smtClean="0"/>
              <a:t>a variável apontada por p1 recebe o mesmo conteúdo da variável apontada por p2;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5700" y="2406650"/>
            <a:ext cx="4489000" cy="120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07770" y="5504726"/>
            <a:ext cx="4477861" cy="1815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76822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9445837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pt-BR" dirty="0" smtClean="0"/>
              <a:t>Apenas duas operações aritméticas podem ser utilizadas com no endereço armazenado pelo ponteiro: adição e subtração</a:t>
            </a:r>
          </a:p>
          <a:p>
            <a:pPr>
              <a:lnSpc>
                <a:spcPct val="90000"/>
              </a:lnSpc>
              <a:defRPr/>
            </a:pPr>
            <a:r>
              <a:rPr lang="pt-BR" dirty="0" smtClean="0">
                <a:ea typeface="+mn-ea"/>
              </a:rPr>
              <a:t>podemos apenas somar e subtrair valores INTEIROS</a:t>
            </a:r>
            <a:endParaRPr lang="pt-BR" sz="2600" b="1" dirty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p++;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p--;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subtrai 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 = p+15;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+15 no endereço armazenado no ponteiro.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pt-BR" sz="2300" b="1" dirty="0"/>
          </a:p>
        </p:txBody>
      </p:sp>
    </p:spTree>
    <p:extLst>
      <p:ext uri="{BB962C8B-B14F-4D97-AF65-F5344CB8AC3E}">
        <p14:creationId xmlns:p14="http://schemas.microsoft.com/office/powerpoint/2010/main" val="1303228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4254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5719863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pt-BR" dirty="0"/>
              <a:t>As operações de adição e subtração no endereço dependem do tipo de dado que o ponteiro aponta.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Considere um ponteiro para inteiro, </a:t>
            </a:r>
            <a:r>
              <a:rPr lang="pt-BR" dirty="0" err="1"/>
              <a:t>int</a:t>
            </a:r>
            <a:r>
              <a:rPr lang="pt-BR" dirty="0"/>
              <a:t> *. </a:t>
            </a:r>
            <a:endParaRPr lang="pt-BR" dirty="0" smtClean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O </a:t>
            </a:r>
            <a:r>
              <a:rPr lang="pt-BR" dirty="0"/>
              <a:t>tipo </a:t>
            </a:r>
            <a:r>
              <a:rPr lang="pt-BR" dirty="0" err="1"/>
              <a:t>int</a:t>
            </a:r>
            <a:r>
              <a:rPr lang="pt-BR" dirty="0"/>
              <a:t> ocupa um espaço de 4 bytes na memória.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Assim, nas operações de adição e subtração são adicionados/subtraídos 4 bytes por incremento/decremento, pois esse é o tamanho de um inteiro na memória e, portanto, é também o valor mínimo necessário para sair dessa posição reservada de memória</a:t>
            </a:r>
          </a:p>
          <a:p>
            <a:pPr>
              <a:lnSpc>
                <a:spcPct val="90000"/>
              </a:lnSpc>
              <a:defRPr/>
            </a:pP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41720"/>
              </p:ext>
            </p:extLst>
          </p:nvPr>
        </p:nvGraphicFramePr>
        <p:xfrm>
          <a:off x="6505152" y="1259417"/>
          <a:ext cx="3603488" cy="5720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3109"/>
                <a:gridCol w="1247236"/>
                <a:gridCol w="125314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a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int</a:t>
                      </a:r>
                      <a:r>
                        <a:rPr lang="en-US" sz="1800" dirty="0" smtClean="0"/>
                        <a:t> b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c 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‘k’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129</a:t>
                      </a:r>
                      <a:endParaRPr lang="en-US" sz="1800" dirty="0"/>
                    </a:p>
                  </a:txBody>
                  <a:tcPr marL="106934" marR="106934" marT="50377" marB="50377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char d</a:t>
                      </a:r>
                      <a:endParaRPr lang="en-US" sz="1800" dirty="0"/>
                    </a:p>
                  </a:txBody>
                  <a:tcPr marL="106934" marR="106934" marT="50377" marB="5037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‘s’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130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558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Ilegais com ponteiros</a:t>
            </a:r>
          </a:p>
          <a:p>
            <a:pPr lvl="1" eaLnBrk="1" hangingPunct="1"/>
            <a:r>
              <a:rPr lang="pt-BR" dirty="0" smtClean="0"/>
              <a:t>Dividir ou multiplicar ponteiros;</a:t>
            </a:r>
          </a:p>
          <a:p>
            <a:pPr lvl="1" eaLnBrk="1" hangingPunct="1"/>
            <a:r>
              <a:rPr lang="pt-BR" dirty="0" smtClean="0"/>
              <a:t>Somar o endereço de dois ponteiros;</a:t>
            </a:r>
          </a:p>
          <a:p>
            <a:pPr lvl="1" eaLnBrk="1" hangingPunct="1"/>
            <a:r>
              <a:rPr lang="pt-BR" dirty="0" smtClean="0"/>
              <a:t>Não se pode adicionar ou subtrair valores dos tipos </a:t>
            </a:r>
            <a:r>
              <a:rPr lang="pt-BR" b="1" dirty="0" err="1" smtClean="0"/>
              <a:t>float</a:t>
            </a:r>
            <a:r>
              <a:rPr lang="pt-BR" dirty="0" smtClean="0"/>
              <a:t> ou </a:t>
            </a:r>
            <a:r>
              <a:rPr lang="pt-BR" b="1" dirty="0" err="1" smtClean="0"/>
              <a:t>double</a:t>
            </a:r>
            <a:r>
              <a:rPr lang="pt-BR" dirty="0" smtClean="0"/>
              <a:t> de ponteiros.</a:t>
            </a:r>
          </a:p>
        </p:txBody>
      </p:sp>
    </p:spTree>
    <p:extLst>
      <p:ext uri="{BB962C8B-B14F-4D97-AF65-F5344CB8AC3E}">
        <p14:creationId xmlns:p14="http://schemas.microsoft.com/office/powerpoint/2010/main" val="1032220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Já sobre seu conteúdo apontado, valem todas as operações</a:t>
            </a:r>
          </a:p>
          <a:p>
            <a:pPr lvl="1" eaLnBrk="1" hangingPunct="1"/>
            <a:r>
              <a:rPr lang="pt-BR" dirty="0" smtClean="0"/>
              <a:t>(*p)++; </a:t>
            </a:r>
          </a:p>
          <a:p>
            <a:pPr lvl="2"/>
            <a:r>
              <a:rPr lang="pt-BR" dirty="0" smtClean="0"/>
              <a:t>incrementar o conteúdo da variável apontada pelo ponteiro p;</a:t>
            </a:r>
          </a:p>
          <a:p>
            <a:pPr lvl="1" eaLnBrk="1" hangingPunct="1"/>
            <a:r>
              <a:rPr lang="pt-BR" dirty="0" smtClean="0"/>
              <a:t>*p = (*p) * 10; </a:t>
            </a:r>
          </a:p>
          <a:p>
            <a:pPr lvl="2"/>
            <a:r>
              <a:rPr lang="pt-BR" dirty="0" smtClean="0"/>
              <a:t>multiplica o conteúdo da variável apontada pelo ponteiro p por 10;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554" y="4815547"/>
            <a:ext cx="2428293" cy="205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325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Operações com ponteiros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Operações relacionais</a:t>
            </a:r>
          </a:p>
          <a:p>
            <a:pPr lvl="1" eaLnBrk="1" hangingPunct="1"/>
            <a:r>
              <a:rPr lang="pt-BR" b="1" dirty="0" smtClean="0"/>
              <a:t>==</a:t>
            </a:r>
            <a:r>
              <a:rPr lang="pt-BR" dirty="0" smtClean="0"/>
              <a:t> e </a:t>
            </a:r>
            <a:r>
              <a:rPr lang="pt-BR" b="1" dirty="0" smtClean="0"/>
              <a:t>!=</a:t>
            </a:r>
            <a:r>
              <a:rPr lang="pt-BR" dirty="0" smtClean="0"/>
              <a:t> para saber se dois ponteiros são iguais ou diferentes. </a:t>
            </a:r>
          </a:p>
          <a:p>
            <a:pPr lvl="1"/>
            <a:r>
              <a:rPr lang="pt-BR" b="1" dirty="0" smtClean="0"/>
              <a:t>&gt;</a:t>
            </a:r>
            <a:r>
              <a:rPr lang="pt-BR" dirty="0" smtClean="0"/>
              <a:t>, </a:t>
            </a:r>
            <a:r>
              <a:rPr lang="pt-BR" b="1" dirty="0" smtClean="0"/>
              <a:t>&lt;</a:t>
            </a:r>
            <a:r>
              <a:rPr lang="pt-BR" dirty="0" smtClean="0"/>
              <a:t>, </a:t>
            </a:r>
            <a:r>
              <a:rPr lang="pt-BR" b="1" dirty="0" smtClean="0"/>
              <a:t>&gt;=</a:t>
            </a:r>
            <a:r>
              <a:rPr lang="pt-BR" dirty="0" smtClean="0"/>
              <a:t> e </a:t>
            </a:r>
            <a:r>
              <a:rPr lang="pt-BR" b="1" dirty="0" smtClean="0"/>
              <a:t>&lt;=</a:t>
            </a:r>
            <a:r>
              <a:rPr lang="pt-BR" dirty="0" smtClean="0"/>
              <a:t> para saber qual ponteiro aponta para uma posição mais alta na memória.</a:t>
            </a:r>
          </a:p>
          <a:p>
            <a:pPr lvl="1" eaLnBrk="1" hangingPunct="1"/>
            <a:endParaRPr lang="pt-B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4251" y="4103624"/>
            <a:ext cx="6404901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1022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Normalmente, um ponteiro aponta para um tipo específico de dado.</a:t>
            </a:r>
          </a:p>
          <a:p>
            <a:pPr lvl="1" eaLnBrk="1" hangingPunct="1"/>
            <a:r>
              <a:rPr lang="pt-BR" dirty="0" smtClean="0"/>
              <a:t>Um ponteiro genérico é um ponteiro que pode apontar para qualquer tipo de dado.</a:t>
            </a:r>
          </a:p>
          <a:p>
            <a:pPr eaLnBrk="1" hangingPunct="1"/>
            <a:r>
              <a:rPr lang="pt-BR" dirty="0" smtClean="0"/>
              <a:t>Declaração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844" y="3930434"/>
            <a:ext cx="3263715" cy="398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52015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5391" y="2550342"/>
            <a:ext cx="8632693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Exemplos</a:t>
            </a:r>
          </a:p>
        </p:txBody>
      </p:sp>
    </p:spTree>
    <p:extLst>
      <p:ext uri="{BB962C8B-B14F-4D97-AF65-F5344CB8AC3E}">
        <p14:creationId xmlns:p14="http://schemas.microsoft.com/office/powerpoint/2010/main" val="63684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9498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Para acessar o </a:t>
            </a:r>
            <a:r>
              <a:rPr lang="pt-BR" b="1" dirty="0"/>
              <a:t>conteúdo</a:t>
            </a:r>
            <a:r>
              <a:rPr lang="pt-BR" dirty="0"/>
              <a:t> de um ponteiro genérico é preciso antes convertê-lo para o tipo de ponteiro com o qual se deseja </a:t>
            </a:r>
            <a:r>
              <a:rPr lang="pt-BR" dirty="0" smtClean="0"/>
              <a:t>trabalhar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Isso é feito vai </a:t>
            </a:r>
            <a:r>
              <a:rPr lang="pt-BR" b="1" i="1" dirty="0" err="1" smtClean="0"/>
              <a:t>type</a:t>
            </a:r>
            <a:r>
              <a:rPr lang="pt-BR" b="1" i="1" dirty="0" smtClean="0"/>
              <a:t> </a:t>
            </a:r>
            <a:r>
              <a:rPr lang="pt-BR" b="1" i="1" dirty="0" err="1"/>
              <a:t>cast</a:t>
            </a:r>
            <a:endParaRPr lang="pt-BR" b="1" i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4273" y="3416194"/>
            <a:ext cx="8164856" cy="4061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8126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4254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r>
              <a:rPr lang="pt-BR" dirty="0"/>
              <a:t>Ponteiros e </a:t>
            </a:r>
            <a:r>
              <a:rPr lang="pt-BR" dirty="0" err="1"/>
              <a:t>arrays</a:t>
            </a:r>
            <a:r>
              <a:rPr lang="pt-BR" dirty="0"/>
              <a:t> possuem uma ligação muito forte.</a:t>
            </a:r>
          </a:p>
          <a:p>
            <a:pPr lvl="1"/>
            <a:r>
              <a:rPr lang="pt-BR" dirty="0" err="1"/>
              <a:t>Arrays</a:t>
            </a:r>
            <a:r>
              <a:rPr lang="pt-BR" dirty="0"/>
              <a:t> são agrupamentos de dados do mesmo tipo na memória.</a:t>
            </a:r>
          </a:p>
          <a:p>
            <a:pPr lvl="1"/>
            <a:r>
              <a:rPr lang="pt-BR" dirty="0"/>
              <a:t>Quando declaramos um </a:t>
            </a:r>
            <a:r>
              <a:rPr lang="pt-BR" dirty="0" err="1"/>
              <a:t>array</a:t>
            </a:r>
            <a:r>
              <a:rPr lang="pt-BR" dirty="0"/>
              <a:t>, informamos ao computador para reservar uma certa quantidade de memória a fim de armazenar os elementos do </a:t>
            </a:r>
            <a:r>
              <a:rPr lang="pt-BR" dirty="0" err="1"/>
              <a:t>array</a:t>
            </a:r>
            <a:r>
              <a:rPr lang="pt-BR" dirty="0"/>
              <a:t> de forma </a:t>
            </a:r>
            <a:r>
              <a:rPr lang="pt-BR" dirty="0" err="1" smtClean="0"/>
              <a:t>sequencial</a:t>
            </a:r>
            <a:r>
              <a:rPr lang="pt-BR" dirty="0"/>
              <a:t>. </a:t>
            </a:r>
          </a:p>
          <a:p>
            <a:pPr lvl="1"/>
            <a:r>
              <a:rPr lang="pt-BR" dirty="0"/>
              <a:t>Como resultado dessa operação, o computador nos devolve um ponteiro que aponta para o começo dessa </a:t>
            </a:r>
            <a:r>
              <a:rPr lang="pt-BR" dirty="0" err="1" smtClean="0"/>
              <a:t>sequência</a:t>
            </a:r>
            <a:r>
              <a:rPr lang="pt-BR" dirty="0" smtClean="0"/>
              <a:t> </a:t>
            </a:r>
            <a:r>
              <a:rPr lang="pt-BR" dirty="0"/>
              <a:t>de bytes na memória. 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0410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016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4" y="1763184"/>
            <a:ext cx="5524923" cy="4869744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O nome do </a:t>
            </a:r>
            <a:r>
              <a:rPr lang="pt-BR" dirty="0" err="1" smtClean="0"/>
              <a:t>array</a:t>
            </a:r>
            <a:r>
              <a:rPr lang="pt-BR" dirty="0" smtClean="0"/>
              <a:t> (sem índice) é apenas um ponteiro que aponta para o primeiro elemento do </a:t>
            </a:r>
            <a:r>
              <a:rPr lang="pt-BR" dirty="0" err="1" smtClean="0"/>
              <a:t>array</a:t>
            </a:r>
            <a:r>
              <a:rPr lang="pt-BR" dirty="0" smtClean="0"/>
              <a:t>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61421"/>
              </p:ext>
            </p:extLst>
          </p:nvPr>
        </p:nvGraphicFramePr>
        <p:xfrm>
          <a:off x="6505152" y="1259416"/>
          <a:ext cx="3475355" cy="49033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63885"/>
                <a:gridCol w="1202917"/>
                <a:gridCol w="1208553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Memória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120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121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*p</a:t>
                      </a:r>
                      <a:endParaRPr lang="en-US" sz="1800" dirty="0" smtClean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122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123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 smtClean="0"/>
                        <a:t>int</a:t>
                      </a:r>
                      <a:r>
                        <a:rPr lang="pt-BR" sz="1800" dirty="0" smtClean="0"/>
                        <a:t> </a:t>
                      </a:r>
                      <a:r>
                        <a:rPr lang="pt-BR" sz="1800" dirty="0" err="1" smtClean="0"/>
                        <a:t>vet</a:t>
                      </a:r>
                      <a:r>
                        <a:rPr lang="pt-BR" sz="1800" dirty="0" smtClean="0"/>
                        <a:t>[5]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124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2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125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3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126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4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127</a:t>
                      </a:r>
                      <a:endParaRPr lang="en-US" sz="1800" dirty="0"/>
                    </a:p>
                  </a:txBody>
                  <a:tcPr marL="106934" marR="106934" marT="50377" marB="50377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5</a:t>
                      </a:r>
                      <a:endParaRPr lang="en-US" sz="1800" dirty="0"/>
                    </a:p>
                  </a:txBody>
                  <a:tcPr marL="106934" marR="106934" marT="50377" marB="5037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128</a:t>
                      </a:r>
                      <a:endParaRPr lang="en-US" sz="18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06934" marR="106934" marT="50377" marB="50377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7" name="Conector angulado 6"/>
          <p:cNvCxnSpPr/>
          <p:nvPr/>
        </p:nvCxnSpPr>
        <p:spPr>
          <a:xfrm>
            <a:off x="9695112" y="3139960"/>
            <a:ext cx="1857" cy="755650"/>
          </a:xfrm>
          <a:prstGeom prst="bentConnector3">
            <a:avLst>
              <a:gd name="adj1" fmla="val 4540114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9561" y="3620822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4114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712893" y="1763183"/>
            <a:ext cx="9713172" cy="5373511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700" dirty="0"/>
              <a:t>Os colchetes </a:t>
            </a:r>
            <a:r>
              <a:rPr lang="pt-BR" sz="2700" b="1" dirty="0"/>
              <a:t>[ ]</a:t>
            </a:r>
            <a:r>
              <a:rPr lang="pt-BR" sz="2700" dirty="0"/>
              <a:t> substituem o uso conjunto de operações aritméticas e de acesso ao conteúdo (operador “*”) no acesso ao conteúdo de uma posição de um </a:t>
            </a:r>
            <a:r>
              <a:rPr lang="pt-BR" sz="2700" dirty="0" err="1"/>
              <a:t>array</a:t>
            </a:r>
            <a:r>
              <a:rPr lang="pt-BR" sz="2700" dirty="0"/>
              <a:t> ou ponteiro.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O valor entre colchetes é o deslocamento a partir da posição inicial do </a:t>
            </a:r>
            <a:r>
              <a:rPr lang="pt-BR" sz="2300" dirty="0" err="1"/>
              <a:t>array</a:t>
            </a:r>
            <a:r>
              <a:rPr lang="pt-BR" sz="2300" dirty="0"/>
              <a:t>.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300" dirty="0"/>
              <a:t>Nesse caso, </a:t>
            </a:r>
            <a:r>
              <a:rPr lang="pt-BR" sz="2300" b="1" dirty="0"/>
              <a:t>p[2]</a:t>
            </a:r>
            <a:r>
              <a:rPr lang="pt-BR" sz="2300" dirty="0"/>
              <a:t> equivale a </a:t>
            </a:r>
            <a:r>
              <a:rPr lang="pt-BR" sz="2300" b="1" dirty="0"/>
              <a:t>*(p+2)</a:t>
            </a:r>
            <a:r>
              <a:rPr lang="pt-BR" sz="2300" dirty="0"/>
              <a:t>.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pt-BR" sz="27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700" dirty="0"/>
              <a:t>	</a:t>
            </a:r>
            <a:endParaRPr lang="pt-BR" sz="23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934" y="4565391"/>
            <a:ext cx="8543581" cy="2602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89732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592470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smtClean="0"/>
              <a:t>Nesse exemplo</a:t>
            </a:r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Temos que: </a:t>
            </a:r>
          </a:p>
          <a:p>
            <a:pPr lvl="1" eaLnBrk="1" hangingPunct="1"/>
            <a:r>
              <a:rPr lang="pt-BR" b="1" dirty="0" smtClean="0"/>
              <a:t>*p</a:t>
            </a:r>
            <a:r>
              <a:rPr lang="pt-BR" dirty="0" smtClean="0"/>
              <a:t> é equivalente a 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*(p+índice)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dirty="0" smtClean="0"/>
              <a:t> é equivalente a </a:t>
            </a:r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(</a:t>
            </a:r>
            <a:r>
              <a:rPr lang="pt-BR" b="1" dirty="0" err="1" smtClean="0"/>
              <a:t>vet</a:t>
            </a:r>
            <a:r>
              <a:rPr lang="pt-BR" b="1" dirty="0" smtClean="0"/>
              <a:t> + índice)</a:t>
            </a:r>
            <a:r>
              <a:rPr lang="pt-BR" dirty="0" smtClean="0"/>
              <a:t>;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1675" y="2261701"/>
            <a:ext cx="3987747" cy="1280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54076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Ponteiros e Arrays</a:t>
            </a:r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1203296" y="2603500"/>
            <a:ext cx="2940109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719990" y="2603500"/>
            <a:ext cx="3063420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ço Reservado para Texto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4011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dirty="0" err="1" smtClean="0"/>
              <a:t>Arrays</a:t>
            </a:r>
            <a:r>
              <a:rPr lang="pt-BR" dirty="0" smtClean="0"/>
              <a:t> Multidimensionais</a:t>
            </a:r>
          </a:p>
          <a:p>
            <a:pPr lvl="1" eaLnBrk="1" hangingPunct="1"/>
            <a:r>
              <a:rPr lang="pt-BR" dirty="0" smtClean="0"/>
              <a:t>Apesar de terem mais de uma dimensão, na memória os dados são armazenados linearmente. </a:t>
            </a:r>
          </a:p>
          <a:p>
            <a:pPr lvl="1" eaLnBrk="1" hangingPunct="1"/>
            <a:r>
              <a:rPr lang="pt-BR" dirty="0" smtClean="0"/>
              <a:t>Ex.: </a:t>
            </a:r>
          </a:p>
          <a:p>
            <a:pPr lvl="1" eaLnBrk="1" hangingPunct="1"/>
            <a:r>
              <a:rPr lang="pt-BR" dirty="0" err="1" smtClean="0"/>
              <a:t>int</a:t>
            </a:r>
            <a:r>
              <a:rPr lang="pt-BR" dirty="0" smtClean="0"/>
              <a:t> </a:t>
            </a:r>
            <a:r>
              <a:rPr lang="pt-BR" dirty="0" err="1" smtClean="0"/>
              <a:t>mat</a:t>
            </a:r>
            <a:r>
              <a:rPr lang="pt-BR" dirty="0" smtClean="0"/>
              <a:t>[5][5];</a:t>
            </a:r>
          </a:p>
          <a:p>
            <a:pPr eaLnBrk="1" hangingPunct="1"/>
            <a:endParaRPr lang="pt-BR" dirty="0" smtClean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grpSp>
        <p:nvGrpSpPr>
          <p:cNvPr id="66" name="Grupo 65"/>
          <p:cNvGrpSpPr/>
          <p:nvPr/>
        </p:nvGrpSpPr>
        <p:grpSpPr>
          <a:xfrm>
            <a:off x="3831802" y="3984680"/>
            <a:ext cx="3118908" cy="2316181"/>
            <a:chOff x="3276600" y="3048000"/>
            <a:chExt cx="2667000" cy="2102080"/>
          </a:xfrm>
        </p:grpSpPr>
        <p:grpSp>
          <p:nvGrpSpPr>
            <p:cNvPr id="67" name="Group 63"/>
            <p:cNvGrpSpPr>
              <a:grpSpLocks/>
            </p:cNvGrpSpPr>
            <p:nvPr/>
          </p:nvGrpSpPr>
          <p:grpSpPr bwMode="auto">
            <a:xfrm>
              <a:off x="3657600" y="3352800"/>
              <a:ext cx="1524000" cy="1524000"/>
              <a:chOff x="3792" y="2304"/>
              <a:chExt cx="960" cy="96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3792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3984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Rectangle 45"/>
              <p:cNvSpPr>
                <a:spLocks noChangeArrowheads="1"/>
              </p:cNvSpPr>
              <p:nvPr/>
            </p:nvSpPr>
            <p:spPr bwMode="auto">
              <a:xfrm>
                <a:off x="4176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Rectangle 46"/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Rectangle 47"/>
              <p:cNvSpPr>
                <a:spLocks noChangeArrowheads="1"/>
              </p:cNvSpPr>
              <p:nvPr/>
            </p:nvSpPr>
            <p:spPr bwMode="auto">
              <a:xfrm>
                <a:off x="4560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Rectangle 48"/>
              <p:cNvSpPr>
                <a:spLocks noChangeArrowheads="1"/>
              </p:cNvSpPr>
              <p:nvPr/>
            </p:nvSpPr>
            <p:spPr bwMode="auto">
              <a:xfrm>
                <a:off x="3792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Rectangle 49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Rectangle 50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Rectangle 51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Rectangle 52"/>
              <p:cNvSpPr>
                <a:spLocks noChangeArrowheads="1"/>
              </p:cNvSpPr>
              <p:nvPr/>
            </p:nvSpPr>
            <p:spPr bwMode="auto">
              <a:xfrm>
                <a:off x="4560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Rectangle 53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Rectangle 54"/>
              <p:cNvSpPr>
                <a:spLocks noChangeArrowheads="1"/>
              </p:cNvSpPr>
              <p:nvPr/>
            </p:nvSpPr>
            <p:spPr bwMode="auto">
              <a:xfrm>
                <a:off x="3984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Rectangle 5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Rectangle 56"/>
              <p:cNvSpPr>
                <a:spLocks noChangeArrowheads="1"/>
              </p:cNvSpPr>
              <p:nvPr/>
            </p:nvSpPr>
            <p:spPr bwMode="auto">
              <a:xfrm>
                <a:off x="4368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Rectangle 57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Rectangle 58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59"/>
              <p:cNvSpPr>
                <a:spLocks noChangeArrowheads="1"/>
              </p:cNvSpPr>
              <p:nvPr/>
            </p:nvSpPr>
            <p:spPr bwMode="auto">
              <a:xfrm>
                <a:off x="3984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60"/>
              <p:cNvSpPr>
                <a:spLocks noChangeArrowheads="1"/>
              </p:cNvSpPr>
              <p:nvPr/>
            </p:nvSpPr>
            <p:spPr bwMode="auto">
              <a:xfrm>
                <a:off x="4176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61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62"/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8" name="Text Box 65"/>
            <p:cNvSpPr txBox="1">
              <a:spLocks noChangeArrowheads="1"/>
            </p:cNvSpPr>
            <p:nvPr/>
          </p:nvSpPr>
          <p:spPr bwMode="auto">
            <a:xfrm>
              <a:off x="3276600" y="3048000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69" name="Text Box 66"/>
            <p:cNvSpPr txBox="1">
              <a:spLocks noChangeArrowheads="1"/>
            </p:cNvSpPr>
            <p:nvPr/>
          </p:nvSpPr>
          <p:spPr bwMode="auto">
            <a:xfrm>
              <a:off x="5105400" y="4814888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grpSp>
        <p:nvGrpSpPr>
          <p:cNvPr id="95" name="Grupo 2"/>
          <p:cNvGrpSpPr/>
          <p:nvPr/>
        </p:nvGrpSpPr>
        <p:grpSpPr>
          <a:xfrm>
            <a:off x="356447" y="6503513"/>
            <a:ext cx="9178502" cy="659444"/>
            <a:chOff x="381000" y="5334000"/>
            <a:chExt cx="7848600" cy="598487"/>
          </a:xfrm>
        </p:grpSpPr>
        <p:grpSp>
          <p:nvGrpSpPr>
            <p:cNvPr id="96" name="Group 64"/>
            <p:cNvGrpSpPr>
              <a:grpSpLocks/>
            </p:cNvGrpSpPr>
            <p:nvPr/>
          </p:nvGrpSpPr>
          <p:grpSpPr bwMode="auto">
            <a:xfrm>
              <a:off x="457200" y="5627687"/>
              <a:ext cx="7620000" cy="304800"/>
              <a:chOff x="576" y="3696"/>
              <a:chExt cx="4800" cy="192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03" name="Rectangle 4"/>
              <p:cNvSpPr>
                <a:spLocks noChangeArrowheads="1"/>
              </p:cNvSpPr>
              <p:nvPr/>
            </p:nvSpPr>
            <p:spPr bwMode="auto">
              <a:xfrm>
                <a:off x="57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5"/>
              <p:cNvSpPr>
                <a:spLocks noChangeArrowheads="1"/>
              </p:cNvSpPr>
              <p:nvPr/>
            </p:nvSpPr>
            <p:spPr bwMode="auto">
              <a:xfrm>
                <a:off x="76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6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7"/>
              <p:cNvSpPr>
                <a:spLocks noChangeArrowheads="1"/>
              </p:cNvSpPr>
              <p:nvPr/>
            </p:nvSpPr>
            <p:spPr bwMode="auto">
              <a:xfrm>
                <a:off x="115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Rectangle 8"/>
              <p:cNvSpPr>
                <a:spLocks noChangeArrowheads="1"/>
              </p:cNvSpPr>
              <p:nvPr/>
            </p:nvSpPr>
            <p:spPr bwMode="auto">
              <a:xfrm>
                <a:off x="134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9"/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10"/>
              <p:cNvSpPr>
                <a:spLocks noChangeArrowheads="1"/>
              </p:cNvSpPr>
              <p:nvPr/>
            </p:nvSpPr>
            <p:spPr bwMode="auto">
              <a:xfrm>
                <a:off x="172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11"/>
              <p:cNvSpPr>
                <a:spLocks noChangeArrowheads="1"/>
              </p:cNvSpPr>
              <p:nvPr/>
            </p:nvSpPr>
            <p:spPr bwMode="auto">
              <a:xfrm>
                <a:off x="192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12"/>
              <p:cNvSpPr>
                <a:spLocks noChangeArrowheads="1"/>
              </p:cNvSpPr>
              <p:nvPr/>
            </p:nvSpPr>
            <p:spPr bwMode="auto">
              <a:xfrm>
                <a:off x="211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13"/>
              <p:cNvSpPr>
                <a:spLocks noChangeArrowheads="1"/>
              </p:cNvSpPr>
              <p:nvPr/>
            </p:nvSpPr>
            <p:spPr bwMode="auto">
              <a:xfrm>
                <a:off x="230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Rectangle 14"/>
              <p:cNvSpPr>
                <a:spLocks noChangeArrowheads="1"/>
              </p:cNvSpPr>
              <p:nvPr/>
            </p:nvSpPr>
            <p:spPr bwMode="auto">
              <a:xfrm>
                <a:off x="249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15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Rectangle 16"/>
              <p:cNvSpPr>
                <a:spLocks noChangeArrowheads="1"/>
              </p:cNvSpPr>
              <p:nvPr/>
            </p:nvSpPr>
            <p:spPr bwMode="auto">
              <a:xfrm>
                <a:off x="288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17"/>
              <p:cNvSpPr>
                <a:spLocks noChangeArrowheads="1"/>
              </p:cNvSpPr>
              <p:nvPr/>
            </p:nvSpPr>
            <p:spPr bwMode="auto">
              <a:xfrm>
                <a:off x="307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Rectangle 18"/>
              <p:cNvSpPr>
                <a:spLocks noChangeArrowheads="1"/>
              </p:cNvSpPr>
              <p:nvPr/>
            </p:nvSpPr>
            <p:spPr bwMode="auto">
              <a:xfrm>
                <a:off x="326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19"/>
              <p:cNvSpPr>
                <a:spLocks noChangeArrowheads="1"/>
              </p:cNvSpPr>
              <p:nvPr/>
            </p:nvSpPr>
            <p:spPr bwMode="auto">
              <a:xfrm>
                <a:off x="345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20"/>
              <p:cNvSpPr>
                <a:spLocks noChangeArrowheads="1"/>
              </p:cNvSpPr>
              <p:nvPr/>
            </p:nvSpPr>
            <p:spPr bwMode="auto">
              <a:xfrm>
                <a:off x="364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21"/>
              <p:cNvSpPr>
                <a:spLocks noChangeArrowheads="1"/>
              </p:cNvSpPr>
              <p:nvPr/>
            </p:nvSpPr>
            <p:spPr bwMode="auto">
              <a:xfrm>
                <a:off x="384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22"/>
              <p:cNvSpPr>
                <a:spLocks noChangeArrowheads="1"/>
              </p:cNvSpPr>
              <p:nvPr/>
            </p:nvSpPr>
            <p:spPr bwMode="auto">
              <a:xfrm>
                <a:off x="403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23"/>
              <p:cNvSpPr>
                <a:spLocks noChangeArrowheads="1"/>
              </p:cNvSpPr>
              <p:nvPr/>
            </p:nvSpPr>
            <p:spPr bwMode="auto">
              <a:xfrm>
                <a:off x="422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" name="Rectangle 24"/>
              <p:cNvSpPr>
                <a:spLocks noChangeArrowheads="1"/>
              </p:cNvSpPr>
              <p:nvPr/>
            </p:nvSpPr>
            <p:spPr bwMode="auto">
              <a:xfrm>
                <a:off x="441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Rectangle 25"/>
              <p:cNvSpPr>
                <a:spLocks noChangeArrowheads="1"/>
              </p:cNvSpPr>
              <p:nvPr/>
            </p:nvSpPr>
            <p:spPr bwMode="auto">
              <a:xfrm>
                <a:off x="460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Rectangle 26"/>
              <p:cNvSpPr>
                <a:spLocks noChangeArrowheads="1"/>
              </p:cNvSpPr>
              <p:nvPr/>
            </p:nvSpPr>
            <p:spPr bwMode="auto">
              <a:xfrm>
                <a:off x="480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27"/>
              <p:cNvSpPr>
                <a:spLocks noChangeArrowheads="1"/>
              </p:cNvSpPr>
              <p:nvPr/>
            </p:nvSpPr>
            <p:spPr bwMode="auto">
              <a:xfrm>
                <a:off x="499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28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7" name="Text Box 67"/>
            <p:cNvSpPr txBox="1">
              <a:spLocks noChangeArrowheads="1"/>
            </p:cNvSpPr>
            <p:nvPr/>
          </p:nvSpPr>
          <p:spPr bwMode="auto">
            <a:xfrm>
              <a:off x="381000" y="5337175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98" name="Text Box 68"/>
            <p:cNvSpPr txBox="1">
              <a:spLocks noChangeArrowheads="1"/>
            </p:cNvSpPr>
            <p:nvPr/>
          </p:nvSpPr>
          <p:spPr bwMode="auto">
            <a:xfrm>
              <a:off x="1905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1,0</a:t>
              </a:r>
            </a:p>
          </p:txBody>
        </p:sp>
        <p:sp>
          <p:nvSpPr>
            <p:cNvPr id="99" name="Text Box 69"/>
            <p:cNvSpPr txBox="1">
              <a:spLocks noChangeArrowheads="1"/>
            </p:cNvSpPr>
            <p:nvPr/>
          </p:nvSpPr>
          <p:spPr bwMode="auto">
            <a:xfrm>
              <a:off x="3429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2,0</a:t>
              </a:r>
            </a:p>
          </p:txBody>
        </p:sp>
        <p:sp>
          <p:nvSpPr>
            <p:cNvPr id="100" name="Text Box 70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3,0</a:t>
              </a:r>
            </a:p>
          </p:txBody>
        </p:sp>
        <p:sp>
          <p:nvSpPr>
            <p:cNvPr id="101" name="Text Box 71"/>
            <p:cNvSpPr txBox="1">
              <a:spLocks noChangeArrowheads="1"/>
            </p:cNvSpPr>
            <p:nvPr/>
          </p:nvSpPr>
          <p:spPr bwMode="auto">
            <a:xfrm>
              <a:off x="6477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4,0</a:t>
              </a:r>
            </a:p>
          </p:txBody>
        </p:sp>
        <p:sp>
          <p:nvSpPr>
            <p:cNvPr id="102" name="Text Box 72"/>
            <p:cNvSpPr txBox="1">
              <a:spLocks noChangeArrowheads="1"/>
            </p:cNvSpPr>
            <p:nvPr/>
          </p:nvSpPr>
          <p:spPr bwMode="auto">
            <a:xfrm>
              <a:off x="76962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0097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tretch>
            <a:fillRect/>
          </a:stretch>
        </p:blipFill>
        <p:spPr bwMode="auto">
          <a:xfrm>
            <a:off x="780208" y="4097337"/>
            <a:ext cx="3786284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 bwMode="auto">
          <a:xfrm>
            <a:off x="5545447" y="4097337"/>
            <a:ext cx="3412507" cy="173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Espaço Reservado para Texto 8"/>
          <p:cNvSpPr>
            <a:spLocks noGrp="1"/>
          </p:cNvSpPr>
          <p:nvPr>
            <p:ph type="body" sz="quarter" idx="1"/>
          </p:nvPr>
        </p:nvSpPr>
        <p:spPr>
          <a:xfrm>
            <a:off x="534670" y="2952313"/>
            <a:ext cx="4277360" cy="725424"/>
          </a:xfrm>
        </p:spPr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3"/>
          </p:nvPr>
        </p:nvSpPr>
        <p:spPr>
          <a:xfrm>
            <a:off x="5079365" y="2952313"/>
            <a:ext cx="4277360" cy="725424"/>
          </a:xfrm>
        </p:spPr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534670" y="1763183"/>
            <a:ext cx="9624060" cy="1175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4278" tIns="52139" rIns="104278" bIns="52139"/>
          <a:lstStyle/>
          <a:p>
            <a:pPr marL="391043" indent="-391043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</a:pPr>
            <a:r>
              <a:rPr lang="pt-BR" sz="2300" dirty="0"/>
              <a:t>Pode-se então percorrer as várias dimensões do </a:t>
            </a:r>
            <a:r>
              <a:rPr lang="pt-BR" sz="2300" dirty="0" err="1"/>
              <a:t>array</a:t>
            </a:r>
            <a:r>
              <a:rPr lang="pt-BR" sz="2300" dirty="0"/>
              <a:t> como se existisse apenas uma dimensão. As dimensões mais a direita mudam mais rápido</a:t>
            </a:r>
          </a:p>
        </p:txBody>
      </p:sp>
    </p:spTree>
    <p:extLst>
      <p:ext uri="{BB962C8B-B14F-4D97-AF65-F5344CB8AC3E}">
        <p14:creationId xmlns:p14="http://schemas.microsoft.com/office/powerpoint/2010/main" val="38454516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6065172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 smtClean="0"/>
              <a:t>Existem duas abordagens para acessar o conteúdo de um ponteiro para uma </a:t>
            </a:r>
            <a:r>
              <a:rPr lang="pt-BR" dirty="0" err="1" smtClean="0"/>
              <a:t>struct</a:t>
            </a: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Abordagem 1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Devemos acessar o conteúdo do ponteiro para </a:t>
            </a:r>
            <a:r>
              <a:rPr lang="pt-BR" dirty="0" err="1" smtClean="0"/>
              <a:t>struct</a:t>
            </a:r>
            <a:r>
              <a:rPr lang="pt-BR" dirty="0" smtClean="0"/>
              <a:t> para somente depois acessar os seus campos e modificá-los.</a:t>
            </a:r>
          </a:p>
          <a:p>
            <a:pPr>
              <a:lnSpc>
                <a:spcPct val="90000"/>
              </a:lnSpc>
            </a:pPr>
            <a:r>
              <a:rPr lang="pt-BR" dirty="0" smtClean="0"/>
              <a:t>Abordagem 2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Podemos usar o </a:t>
            </a:r>
            <a:r>
              <a:rPr lang="pt-BR" b="1" i="1" dirty="0" smtClean="0"/>
              <a:t>operador seta </a:t>
            </a:r>
            <a:r>
              <a:rPr lang="pt-BR" i="1" dirty="0" smtClean="0"/>
              <a:t>“</a:t>
            </a:r>
            <a:r>
              <a:rPr lang="pt-BR" b="1" i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pt-BR" i="1" dirty="0" smtClean="0"/>
              <a:t>”</a:t>
            </a:r>
            <a:endParaRPr lang="pt-BR" dirty="0" smtClean="0"/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ponteiro-&gt;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nome_campo</a:t>
            </a:r>
            <a:endParaRPr lang="pt-BR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</a:t>
            </a:r>
            <a:r>
              <a:rPr lang="pt-BR" dirty="0" err="1" smtClean="0"/>
              <a:t>struct</a:t>
            </a:r>
            <a:endParaRPr lang="pt-B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7555" y="2597539"/>
            <a:ext cx="2673350" cy="313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1121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A linguagem C permite criar ponteiros com diferentes níveis de apontamento.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possível criar um ponteiro que aponte para outro ponteiro, criando assim vários níveis de apontamento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Assim, um ponteiro poderá apontar para outro ponteiro, que, por sua vez, aponta para outro ponteiro, que aponta para um terceiro ponteiro e assim por diante.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7302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</p:spTree>
    <p:extLst>
      <p:ext uri="{BB962C8B-B14F-4D97-AF65-F5344CB8AC3E}">
        <p14:creationId xmlns:p14="http://schemas.microsoft.com/office/powerpoint/2010/main" val="39600633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>
              <a:lnSpc>
                <a:spcPct val="90000"/>
              </a:lnSpc>
            </a:pPr>
            <a:r>
              <a:rPr lang="pt-BR" dirty="0"/>
              <a:t>Um ponteiro para um ponteiro é como se você anotasse o endereço de um papel que tem o endereço da casa do seu amigo.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Podemos </a:t>
            </a:r>
            <a:r>
              <a:rPr lang="pt-BR" dirty="0"/>
              <a:t>declarar um ponteiro para um ponteiro com a seguinte </a:t>
            </a:r>
            <a:r>
              <a:rPr lang="pt-BR" dirty="0" smtClean="0"/>
              <a:t>notação</a:t>
            </a:r>
          </a:p>
          <a:p>
            <a:pPr lvl="1">
              <a:lnSpc>
                <a:spcPct val="90000"/>
              </a:lnSpc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tipo_ponteiro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**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Acesso ao conteúdo</a:t>
            </a:r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**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/>
              <a:t> </a:t>
            </a:r>
            <a:r>
              <a:rPr lang="pt-BR" dirty="0"/>
              <a:t>é o conteúdo final da variável apontada; </a:t>
            </a:r>
          </a:p>
          <a:p>
            <a:pPr lvl="1">
              <a:lnSpc>
                <a:spcPct val="90000"/>
              </a:lnSpc>
            </a:pPr>
            <a:r>
              <a:rPr lang="pt-BR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/>
              <a:t>é o conteúdo do ponteiro intermediário.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5778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</p:spTree>
    <p:extLst>
      <p:ext uri="{BB962C8B-B14F-4D97-AF65-F5344CB8AC3E}">
        <p14:creationId xmlns:p14="http://schemas.microsoft.com/office/powerpoint/2010/main" val="1184031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591" y="2177748"/>
            <a:ext cx="5823781" cy="2545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890" name="Título 1"/>
          <p:cNvSpPr>
            <a:spLocks noGrp="1"/>
          </p:cNvSpPr>
          <p:nvPr>
            <p:ph type="ctrTitle"/>
          </p:nvPr>
        </p:nvSpPr>
        <p:spPr>
          <a:xfrm>
            <a:off x="802005" y="806450"/>
            <a:ext cx="9089390" cy="653476"/>
          </a:xfrm>
        </p:spPr>
        <p:txBody>
          <a:bodyPr/>
          <a:lstStyle/>
          <a:p>
            <a:r>
              <a:rPr lang="pt-BR" dirty="0" smtClean="0"/>
              <a:t>Ponteiro para ponteiro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84302"/>
              </p:ext>
            </p:extLst>
          </p:nvPr>
        </p:nvGraphicFramePr>
        <p:xfrm>
          <a:off x="6015042" y="2825666"/>
          <a:ext cx="4366472" cy="4494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675"/>
                <a:gridCol w="1574306"/>
                <a:gridCol w="1455491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Memória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dirty="0" smtClean="0"/>
                        <a:t> **p2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dirty="0" smtClean="0"/>
                        <a:t> *p1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125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 smtClean="0"/>
                        <a:t>int</a:t>
                      </a:r>
                      <a:r>
                        <a:rPr lang="pt-BR" sz="2000" baseline="0" dirty="0" smtClean="0"/>
                        <a:t> x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127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6193266" y="5092616"/>
            <a:ext cx="1856" cy="75565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angulado 6"/>
          <p:cNvCxnSpPr/>
          <p:nvPr/>
        </p:nvCxnSpPr>
        <p:spPr>
          <a:xfrm>
            <a:off x="10114179" y="5848266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1696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654050"/>
            <a:ext cx="9089390" cy="653476"/>
          </a:xfrm>
        </p:spPr>
        <p:txBody>
          <a:bodyPr/>
          <a:lstStyle/>
          <a:p>
            <a:pPr eaLnBrk="1" hangingPunct="1"/>
            <a:r>
              <a:rPr lang="pt-BR" dirty="0" smtClean="0"/>
              <a:t>Ponteiro para ponteiro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4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É a quantidade de asteriscos (*) na declaração do ponteiro que indica o número de níveis de apontamento que ele possui.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6186" y="3227251"/>
            <a:ext cx="9301030" cy="2350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171247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ítulo 1"/>
          <p:cNvSpPr>
            <a:spLocks noGrp="1"/>
          </p:cNvSpPr>
          <p:nvPr>
            <p:ph type="title"/>
          </p:nvPr>
        </p:nvSpPr>
        <p:spPr>
          <a:xfrm>
            <a:off x="228350" y="251884"/>
            <a:ext cx="9373433" cy="592470"/>
          </a:xfrm>
        </p:spPr>
        <p:txBody>
          <a:bodyPr/>
          <a:lstStyle/>
          <a:p>
            <a:r>
              <a:rPr lang="pt-BR" dirty="0"/>
              <a:t>Ponteiro para ponteiro</a:t>
            </a:r>
            <a:endParaRPr lang="pt-BR" dirty="0" smtClean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2894" y="1763184"/>
            <a:ext cx="9267613" cy="415498"/>
          </a:xfrm>
        </p:spPr>
        <p:txBody>
          <a:bodyPr/>
          <a:lstStyle/>
          <a:p>
            <a:pPr eaLnBrk="1" hangingPunct="1"/>
            <a:r>
              <a:rPr lang="pt-BR" sz="2700" dirty="0"/>
              <a:t>Conceito de “ponteiro para ponteiro”: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34" y="3232503"/>
            <a:ext cx="2818156" cy="2392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59279"/>
              </p:ext>
            </p:extLst>
          </p:nvPr>
        </p:nvGraphicFramePr>
        <p:xfrm>
          <a:off x="4722918" y="2474054"/>
          <a:ext cx="4366472" cy="44947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6675"/>
                <a:gridCol w="1574306"/>
                <a:gridCol w="1455491"/>
              </a:tblGrid>
              <a:tr h="408611">
                <a:tc gridSpan="3"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Memória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 marL="106934" marR="106934" marT="50377" marB="50377">
                    <a:solidFill>
                      <a:schemeClr val="accent2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119</a:t>
                      </a:r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120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***p3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**p2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123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124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*p1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125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126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char letra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‘a’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</a:tr>
              <a:tr h="408611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127</a:t>
                      </a:r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6934" marR="106934" marT="50377" marB="50377"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8822055" y="3985354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do 10"/>
          <p:cNvCxnSpPr/>
          <p:nvPr/>
        </p:nvCxnSpPr>
        <p:spPr>
          <a:xfrm>
            <a:off x="4901142" y="4741004"/>
            <a:ext cx="1856" cy="75565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/>
          <p:nvPr/>
        </p:nvCxnSpPr>
        <p:spPr>
          <a:xfrm>
            <a:off x="8822055" y="5496654"/>
            <a:ext cx="1857" cy="75565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482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30450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11450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476825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863850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232481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906710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 err="1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5" dirty="0" smtClean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 err="1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 err="1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 err="1" smtClean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 err="1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50" spc="-1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50" dirty="0" smtClean="0">
                <a:solidFill>
                  <a:prstClr val="black"/>
                </a:solidFill>
                <a:latin typeface="Arial"/>
                <a:cs typeface="Arial"/>
              </a:rPr>
              <a:t>0,1 ou 2</a:t>
            </a:r>
            <a:r>
              <a:rPr sz="2600" spc="10" dirty="0" smtClean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25" dirty="0" err="1" smtClean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 err="1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 err="1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err="1" smtClean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 err="1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 err="1" smtClean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 smtClean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smtClean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0" dirty="0" err="1" smtClean="0">
                <a:solidFill>
                  <a:prstClr val="black"/>
                </a:solidFill>
                <a:latin typeface="Arial"/>
                <a:cs typeface="Arial"/>
              </a:rPr>
              <a:t>ões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dirty="0" smtClean="0">
                <a:solidFill>
                  <a:prstClr val="black"/>
                </a:solidFill>
                <a:latin typeface="Arial"/>
                <a:cs typeface="Arial"/>
              </a:rPr>
              <a:t>respostas 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) 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ois 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5" dirty="0" smtClean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lang="pt-BR" sz="2600" spc="20" dirty="0" smtClean="0">
                <a:solidFill>
                  <a:prstClr val="black"/>
                </a:solidFill>
                <a:latin typeface="Arial"/>
                <a:cs typeface="Arial"/>
              </a:rPr>
              <a:t>cada cartão </a:t>
            </a:r>
            <a:r>
              <a:rPr lang="pt-BR" sz="26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15" dirty="0" smtClean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lang="pt-BR"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lang="pt-BR"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lang="pt-BR"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lang="pt-BR"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lang="pt-BR"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lang="pt-BR"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lang="pt-BR"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lang="pt-BR" sz="2600" spc="10" dirty="0" smtClean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3397250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5378450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eaLnBrk="1" hangingPunct="1"/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Apesar de terem o comportamento de estruturas com mais de uma dimensão, na memória os dados são armazenados linearmente:</a:t>
            </a:r>
          </a:p>
          <a:p>
            <a:pPr marL="800100" lvl="1" indent="-342900" eaLnBrk="1" hangingPunct="1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mat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[5][5];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3831802" y="3358446"/>
            <a:ext cx="3118908" cy="2316181"/>
            <a:chOff x="3276600" y="3048000"/>
            <a:chExt cx="2667000" cy="2102080"/>
          </a:xfrm>
        </p:grpSpPr>
        <p:grpSp>
          <p:nvGrpSpPr>
            <p:cNvPr id="27686" name="Group 63"/>
            <p:cNvGrpSpPr>
              <a:grpSpLocks/>
            </p:cNvGrpSpPr>
            <p:nvPr/>
          </p:nvGrpSpPr>
          <p:grpSpPr bwMode="auto">
            <a:xfrm>
              <a:off x="3657600" y="3352800"/>
              <a:ext cx="1524000" cy="1524000"/>
              <a:chOff x="3792" y="2304"/>
              <a:chExt cx="960" cy="96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7689" name="Rectangle 3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0" name="Rectangle 39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1" name="Rectangle 40"/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2" name="Rectangle 41"/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3" name="Rectangle 42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4" name="Rectangle 43"/>
              <p:cNvSpPr>
                <a:spLocks noChangeArrowheads="1"/>
              </p:cNvSpPr>
              <p:nvPr/>
            </p:nvSpPr>
            <p:spPr bwMode="auto">
              <a:xfrm>
                <a:off x="3792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5" name="Rectangle 44"/>
              <p:cNvSpPr>
                <a:spLocks noChangeArrowheads="1"/>
              </p:cNvSpPr>
              <p:nvPr/>
            </p:nvSpPr>
            <p:spPr bwMode="auto">
              <a:xfrm>
                <a:off x="3984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6" name="Rectangle 45"/>
              <p:cNvSpPr>
                <a:spLocks noChangeArrowheads="1"/>
              </p:cNvSpPr>
              <p:nvPr/>
            </p:nvSpPr>
            <p:spPr bwMode="auto">
              <a:xfrm>
                <a:off x="4176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7" name="Rectangle 46"/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8" name="Rectangle 47"/>
              <p:cNvSpPr>
                <a:spLocks noChangeArrowheads="1"/>
              </p:cNvSpPr>
              <p:nvPr/>
            </p:nvSpPr>
            <p:spPr bwMode="auto">
              <a:xfrm>
                <a:off x="4560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9" name="Rectangle 48"/>
              <p:cNvSpPr>
                <a:spLocks noChangeArrowheads="1"/>
              </p:cNvSpPr>
              <p:nvPr/>
            </p:nvSpPr>
            <p:spPr bwMode="auto">
              <a:xfrm>
                <a:off x="3792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0" name="Rectangle 49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1" name="Rectangle 50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2" name="Rectangle 51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3" name="Rectangle 52"/>
              <p:cNvSpPr>
                <a:spLocks noChangeArrowheads="1"/>
              </p:cNvSpPr>
              <p:nvPr/>
            </p:nvSpPr>
            <p:spPr bwMode="auto">
              <a:xfrm>
                <a:off x="4560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4" name="Rectangle 53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5" name="Rectangle 54"/>
              <p:cNvSpPr>
                <a:spLocks noChangeArrowheads="1"/>
              </p:cNvSpPr>
              <p:nvPr/>
            </p:nvSpPr>
            <p:spPr bwMode="auto">
              <a:xfrm>
                <a:off x="3984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6" name="Rectangle 5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7" name="Rectangle 56"/>
              <p:cNvSpPr>
                <a:spLocks noChangeArrowheads="1"/>
              </p:cNvSpPr>
              <p:nvPr/>
            </p:nvSpPr>
            <p:spPr bwMode="auto">
              <a:xfrm>
                <a:off x="4368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8" name="Rectangle 57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09" name="Rectangle 58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0" name="Rectangle 59"/>
              <p:cNvSpPr>
                <a:spLocks noChangeArrowheads="1"/>
              </p:cNvSpPr>
              <p:nvPr/>
            </p:nvSpPr>
            <p:spPr bwMode="auto">
              <a:xfrm>
                <a:off x="3984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1" name="Rectangle 60"/>
              <p:cNvSpPr>
                <a:spLocks noChangeArrowheads="1"/>
              </p:cNvSpPr>
              <p:nvPr/>
            </p:nvSpPr>
            <p:spPr bwMode="auto">
              <a:xfrm>
                <a:off x="4176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2" name="Rectangle 61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713" name="Rectangle 62"/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87" name="Text Box 65"/>
            <p:cNvSpPr txBox="1">
              <a:spLocks noChangeArrowheads="1"/>
            </p:cNvSpPr>
            <p:nvPr/>
          </p:nvSpPr>
          <p:spPr bwMode="auto">
            <a:xfrm>
              <a:off x="3276600" y="3048000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27688" name="Text Box 66"/>
            <p:cNvSpPr txBox="1">
              <a:spLocks noChangeArrowheads="1"/>
            </p:cNvSpPr>
            <p:nvPr/>
          </p:nvSpPr>
          <p:spPr bwMode="auto">
            <a:xfrm>
              <a:off x="5105400" y="4814888"/>
              <a:ext cx="8382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356447" y="5877278"/>
            <a:ext cx="9178502" cy="659444"/>
            <a:chOff x="381000" y="5334000"/>
            <a:chExt cx="7848600" cy="598487"/>
          </a:xfrm>
        </p:grpSpPr>
        <p:grpSp>
          <p:nvGrpSpPr>
            <p:cNvPr id="27654" name="Group 64"/>
            <p:cNvGrpSpPr>
              <a:grpSpLocks/>
            </p:cNvGrpSpPr>
            <p:nvPr/>
          </p:nvGrpSpPr>
          <p:grpSpPr bwMode="auto">
            <a:xfrm>
              <a:off x="457200" y="5627687"/>
              <a:ext cx="7620000" cy="304800"/>
              <a:chOff x="576" y="3696"/>
              <a:chExt cx="4800" cy="192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27661" name="Rectangle 4"/>
              <p:cNvSpPr>
                <a:spLocks noChangeArrowheads="1"/>
              </p:cNvSpPr>
              <p:nvPr/>
            </p:nvSpPr>
            <p:spPr bwMode="auto">
              <a:xfrm>
                <a:off x="57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2" name="Rectangle 5"/>
              <p:cNvSpPr>
                <a:spLocks noChangeArrowheads="1"/>
              </p:cNvSpPr>
              <p:nvPr/>
            </p:nvSpPr>
            <p:spPr bwMode="auto">
              <a:xfrm>
                <a:off x="76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3" name="Rectangle 6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4" name="Rectangle 7"/>
              <p:cNvSpPr>
                <a:spLocks noChangeArrowheads="1"/>
              </p:cNvSpPr>
              <p:nvPr/>
            </p:nvSpPr>
            <p:spPr bwMode="auto">
              <a:xfrm>
                <a:off x="115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5" name="Rectangle 8"/>
              <p:cNvSpPr>
                <a:spLocks noChangeArrowheads="1"/>
              </p:cNvSpPr>
              <p:nvPr/>
            </p:nvSpPr>
            <p:spPr bwMode="auto">
              <a:xfrm>
                <a:off x="134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6" name="Rectangle 9"/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Rectangle 10"/>
              <p:cNvSpPr>
                <a:spLocks noChangeArrowheads="1"/>
              </p:cNvSpPr>
              <p:nvPr/>
            </p:nvSpPr>
            <p:spPr bwMode="auto">
              <a:xfrm>
                <a:off x="172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8" name="Rectangle 11"/>
              <p:cNvSpPr>
                <a:spLocks noChangeArrowheads="1"/>
              </p:cNvSpPr>
              <p:nvPr/>
            </p:nvSpPr>
            <p:spPr bwMode="auto">
              <a:xfrm>
                <a:off x="192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9" name="Rectangle 12"/>
              <p:cNvSpPr>
                <a:spLocks noChangeArrowheads="1"/>
              </p:cNvSpPr>
              <p:nvPr/>
            </p:nvSpPr>
            <p:spPr bwMode="auto">
              <a:xfrm>
                <a:off x="211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0" name="Rectangle 13"/>
              <p:cNvSpPr>
                <a:spLocks noChangeArrowheads="1"/>
              </p:cNvSpPr>
              <p:nvPr/>
            </p:nvSpPr>
            <p:spPr bwMode="auto">
              <a:xfrm>
                <a:off x="230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1" name="Rectangle 14"/>
              <p:cNvSpPr>
                <a:spLocks noChangeArrowheads="1"/>
              </p:cNvSpPr>
              <p:nvPr/>
            </p:nvSpPr>
            <p:spPr bwMode="auto">
              <a:xfrm>
                <a:off x="249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2" name="Rectangle 15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3" name="Rectangle 16"/>
              <p:cNvSpPr>
                <a:spLocks noChangeArrowheads="1"/>
              </p:cNvSpPr>
              <p:nvPr/>
            </p:nvSpPr>
            <p:spPr bwMode="auto">
              <a:xfrm>
                <a:off x="288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4" name="Rectangle 17"/>
              <p:cNvSpPr>
                <a:spLocks noChangeArrowheads="1"/>
              </p:cNvSpPr>
              <p:nvPr/>
            </p:nvSpPr>
            <p:spPr bwMode="auto">
              <a:xfrm>
                <a:off x="307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5" name="Rectangle 18"/>
              <p:cNvSpPr>
                <a:spLocks noChangeArrowheads="1"/>
              </p:cNvSpPr>
              <p:nvPr/>
            </p:nvSpPr>
            <p:spPr bwMode="auto">
              <a:xfrm>
                <a:off x="326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6" name="Rectangle 19"/>
              <p:cNvSpPr>
                <a:spLocks noChangeArrowheads="1"/>
              </p:cNvSpPr>
              <p:nvPr/>
            </p:nvSpPr>
            <p:spPr bwMode="auto">
              <a:xfrm>
                <a:off x="345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7" name="Rectangle 20"/>
              <p:cNvSpPr>
                <a:spLocks noChangeArrowheads="1"/>
              </p:cNvSpPr>
              <p:nvPr/>
            </p:nvSpPr>
            <p:spPr bwMode="auto">
              <a:xfrm>
                <a:off x="364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8" name="Rectangle 21"/>
              <p:cNvSpPr>
                <a:spLocks noChangeArrowheads="1"/>
              </p:cNvSpPr>
              <p:nvPr/>
            </p:nvSpPr>
            <p:spPr bwMode="auto">
              <a:xfrm>
                <a:off x="384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9" name="Rectangle 22"/>
              <p:cNvSpPr>
                <a:spLocks noChangeArrowheads="1"/>
              </p:cNvSpPr>
              <p:nvPr/>
            </p:nvSpPr>
            <p:spPr bwMode="auto">
              <a:xfrm>
                <a:off x="403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0" name="Rectangle 23"/>
              <p:cNvSpPr>
                <a:spLocks noChangeArrowheads="1"/>
              </p:cNvSpPr>
              <p:nvPr/>
            </p:nvSpPr>
            <p:spPr bwMode="auto">
              <a:xfrm>
                <a:off x="422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1" name="Rectangle 24"/>
              <p:cNvSpPr>
                <a:spLocks noChangeArrowheads="1"/>
              </p:cNvSpPr>
              <p:nvPr/>
            </p:nvSpPr>
            <p:spPr bwMode="auto">
              <a:xfrm>
                <a:off x="441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2" name="Rectangle 25"/>
              <p:cNvSpPr>
                <a:spLocks noChangeArrowheads="1"/>
              </p:cNvSpPr>
              <p:nvPr/>
            </p:nvSpPr>
            <p:spPr bwMode="auto">
              <a:xfrm>
                <a:off x="460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3" name="Rectangle 26"/>
              <p:cNvSpPr>
                <a:spLocks noChangeArrowheads="1"/>
              </p:cNvSpPr>
              <p:nvPr/>
            </p:nvSpPr>
            <p:spPr bwMode="auto">
              <a:xfrm>
                <a:off x="480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4" name="Rectangle 27"/>
              <p:cNvSpPr>
                <a:spLocks noChangeArrowheads="1"/>
              </p:cNvSpPr>
              <p:nvPr/>
            </p:nvSpPr>
            <p:spPr bwMode="auto">
              <a:xfrm>
                <a:off x="499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5" name="Rectangle 28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55" name="Text Box 67"/>
            <p:cNvSpPr txBox="1">
              <a:spLocks noChangeArrowheads="1"/>
            </p:cNvSpPr>
            <p:nvPr/>
          </p:nvSpPr>
          <p:spPr bwMode="auto">
            <a:xfrm>
              <a:off x="381000" y="5337175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27656" name="Text Box 68"/>
            <p:cNvSpPr txBox="1">
              <a:spLocks noChangeArrowheads="1"/>
            </p:cNvSpPr>
            <p:nvPr/>
          </p:nvSpPr>
          <p:spPr bwMode="auto">
            <a:xfrm>
              <a:off x="1905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1,0</a:t>
              </a:r>
            </a:p>
          </p:txBody>
        </p:sp>
        <p:sp>
          <p:nvSpPr>
            <p:cNvPr id="27657" name="Text Box 69"/>
            <p:cNvSpPr txBox="1">
              <a:spLocks noChangeArrowheads="1"/>
            </p:cNvSpPr>
            <p:nvPr/>
          </p:nvSpPr>
          <p:spPr bwMode="auto">
            <a:xfrm>
              <a:off x="3429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2,0</a:t>
              </a:r>
            </a:p>
          </p:txBody>
        </p:sp>
        <p:sp>
          <p:nvSpPr>
            <p:cNvPr id="27658" name="Text Box 70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3,0</a:t>
              </a:r>
            </a:p>
          </p:txBody>
        </p:sp>
        <p:sp>
          <p:nvSpPr>
            <p:cNvPr id="27659" name="Text Box 71"/>
            <p:cNvSpPr txBox="1">
              <a:spLocks noChangeArrowheads="1"/>
            </p:cNvSpPr>
            <p:nvPr/>
          </p:nvSpPr>
          <p:spPr bwMode="auto">
            <a:xfrm>
              <a:off x="64770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4,0</a:t>
              </a:r>
            </a:p>
          </p:txBody>
        </p:sp>
        <p:sp>
          <p:nvSpPr>
            <p:cNvPr id="27660" name="Text Box 72"/>
            <p:cNvSpPr txBox="1">
              <a:spLocks noChangeArrowheads="1"/>
            </p:cNvSpPr>
            <p:nvPr/>
          </p:nvSpPr>
          <p:spPr bwMode="auto">
            <a:xfrm>
              <a:off x="7696200" y="5334000"/>
              <a:ext cx="533400" cy="335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sp>
        <p:nvSpPr>
          <p:cNvPr id="67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: </a:t>
            </a:r>
            <a:r>
              <a:rPr lang="pt-BR" b="0" i="1" dirty="0" smtClean="0"/>
              <a:t>representação</a:t>
            </a:r>
            <a:endParaRPr lang="pt-BR" b="0" i="1" spc="-5" dirty="0"/>
          </a:p>
        </p:txBody>
      </p:sp>
    </p:spTree>
    <p:extLst>
      <p:ext uri="{BB962C8B-B14F-4D97-AF65-F5344CB8AC3E}">
        <p14:creationId xmlns:p14="http://schemas.microsoft.com/office/powerpoint/2010/main" val="36011736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4670" y="1763183"/>
            <a:ext cx="8732943" cy="5370153"/>
          </a:xfrm>
          <a:prstGeom prst="rect">
            <a:avLst/>
          </a:prstGeom>
        </p:spPr>
        <p:txBody>
          <a:bodyPr lIns="104278" tIns="52139" rIns="104278" bIns="52139"/>
          <a:lstStyle/>
          <a:p>
            <a:pPr marL="342900" indent="-342900" eaLnBrk="1" hangingPunct="1">
              <a:buFont typeface="Arial" pitchFamily="34" charset="0"/>
              <a:buChar char="•"/>
            </a:pP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array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N-dimensional funciona basicamente como outros tipos de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array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. Basta lembrar que o índice que varia mais rapidamente é o índice mais à direita.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vet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1 dimensão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float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mat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2 dimensões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double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cub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[5][5][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3 dimensões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pt-BR" sz="2300" kern="1200" dirty="0" err="1">
                <a:solidFill>
                  <a:prstClr val="black"/>
                </a:solidFill>
                <a:latin typeface="Arial"/>
                <a:cs typeface="Arial"/>
              </a:rPr>
              <a:t>int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 X[5][5][5][</a:t>
            </a:r>
            <a:r>
              <a:rPr lang="pt-BR" sz="2300" kern="1200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lang="pt-BR" sz="2300" kern="1200" dirty="0">
                <a:solidFill>
                  <a:prstClr val="black"/>
                </a:solidFill>
                <a:latin typeface="Arial"/>
                <a:cs typeface="Arial"/>
              </a:rPr>
              <a:t>]; // 4 dimensões</a:t>
            </a: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: </a:t>
            </a:r>
            <a:r>
              <a:rPr lang="pt-BR" b="0" i="1" dirty="0" smtClean="0"/>
              <a:t>representação</a:t>
            </a:r>
            <a:endParaRPr lang="pt-BR" b="0" i="1" spc="-5" dirty="0"/>
          </a:p>
        </p:txBody>
      </p:sp>
    </p:spTree>
    <p:extLst>
      <p:ext uri="{BB962C8B-B14F-4D97-AF65-F5344CB8AC3E}">
        <p14:creationId xmlns:p14="http://schemas.microsoft.com/office/powerpoint/2010/main" val="31234490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 especiais</a:t>
            </a:r>
            <a:endParaRPr lang="pt-BR" b="0" i="1" spc="-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2486" y="1949450"/>
            <a:ext cx="644842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98070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 txBox="1">
            <a:spLocks/>
          </p:cNvSpPr>
          <p:nvPr/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/>
            <a:r>
              <a:rPr lang="pt-BR" b="0" i="1" spc="-10" dirty="0" smtClean="0"/>
              <a:t>M</a:t>
            </a:r>
            <a:r>
              <a:rPr lang="pt-BR" b="0" i="1" spc="5" dirty="0" smtClean="0"/>
              <a:t>a</a:t>
            </a:r>
            <a:r>
              <a:rPr lang="pt-BR" b="0" i="1" spc="-10" dirty="0" smtClean="0"/>
              <a:t>t</a:t>
            </a:r>
            <a:r>
              <a:rPr lang="pt-BR" b="0" i="1" dirty="0" smtClean="0"/>
              <a:t>r</a:t>
            </a:r>
            <a:r>
              <a:rPr lang="pt-BR" b="0" i="1" spc="-5" dirty="0" smtClean="0"/>
              <a:t>i</a:t>
            </a:r>
            <a:r>
              <a:rPr lang="pt-BR" b="0" i="1" dirty="0" smtClean="0"/>
              <a:t>z</a:t>
            </a:r>
            <a:r>
              <a:rPr lang="pt-BR" b="0" i="1" spc="5" dirty="0" smtClean="0"/>
              <a:t>e</a:t>
            </a:r>
            <a:r>
              <a:rPr lang="pt-BR" b="0" i="1" dirty="0" smtClean="0"/>
              <a:t>s</a:t>
            </a:r>
            <a:r>
              <a:rPr lang="pt-BR" b="0" i="1" spc="-5" dirty="0" smtClean="0"/>
              <a:t> especiais</a:t>
            </a:r>
            <a:endParaRPr lang="pt-BR" b="0" i="1" spc="-5" dirty="0"/>
          </a:p>
        </p:txBody>
      </p:sp>
      <p:sp>
        <p:nvSpPr>
          <p:cNvPr id="2" name="CaixaDeTexto 1"/>
          <p:cNvSpPr txBox="1"/>
          <p:nvPr/>
        </p:nvSpPr>
        <p:spPr>
          <a:xfrm>
            <a:off x="1689100" y="1492250"/>
            <a:ext cx="7924800" cy="4916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Quadradas: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Diagonal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diferente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Tridiagonal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| i-j | &gt; </a:t>
            </a: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lang="pt-BR" dirty="0" smtClean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Triangular 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Inferior</a:t>
            </a: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&lt;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Triangular Superior</a:t>
            </a: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0 para i &gt; j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Simetrica</a:t>
            </a:r>
            <a:endParaRPr lang="pt-BR" sz="2850" spc="10" dirty="0">
              <a:solidFill>
                <a:prstClr val="black"/>
              </a:solidFill>
              <a:latin typeface="Arial"/>
              <a:cs typeface="Arial"/>
            </a:endParaRPr>
          </a:p>
          <a:p>
            <a:pPr lvl="2"/>
            <a:r>
              <a:rPr lang="pt-BR" sz="2850" spc="10" dirty="0" smtClean="0">
                <a:solidFill>
                  <a:prstClr val="black"/>
                </a:solidFill>
                <a:latin typeface="Arial"/>
                <a:cs typeface="Arial"/>
              </a:rPr>
              <a:t>M(</a:t>
            </a:r>
            <a:r>
              <a:rPr lang="pt-BR" sz="2850" spc="10" dirty="0" err="1" smtClean="0">
                <a:solidFill>
                  <a:prstClr val="black"/>
                </a:solidFill>
                <a:latin typeface="Arial"/>
                <a:cs typeface="Arial"/>
              </a:rPr>
              <a:t>i,j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= M(</a:t>
            </a:r>
            <a:r>
              <a:rPr lang="pt-BR" sz="2850" spc="10" dirty="0" err="1">
                <a:solidFill>
                  <a:prstClr val="black"/>
                </a:solidFill>
                <a:latin typeface="Arial"/>
                <a:cs typeface="Arial"/>
              </a:rPr>
              <a:t>j,i</a:t>
            </a:r>
            <a:r>
              <a:rPr lang="pt-BR" sz="2850" spc="10" dirty="0">
                <a:solidFill>
                  <a:prstClr val="black"/>
                </a:solidFill>
                <a:latin typeface="Arial"/>
                <a:cs typeface="Arial"/>
              </a:rPr>
              <a:t>) para todo i, j</a:t>
            </a:r>
          </a:p>
        </p:txBody>
      </p:sp>
    </p:spTree>
    <p:extLst>
      <p:ext uri="{BB962C8B-B14F-4D97-AF65-F5344CB8AC3E}">
        <p14:creationId xmlns:p14="http://schemas.microsoft.com/office/powerpoint/2010/main" val="17074255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935722"/>
            <a:ext cx="9124292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Até </a:t>
            </a:r>
            <a:r>
              <a:rPr sz="3400" spc="-6" dirty="0">
                <a:latin typeface="Arial"/>
                <a:cs typeface="Arial"/>
              </a:rPr>
              <a:t>agora vimos as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de dados  homogêneas: </a:t>
            </a:r>
            <a:r>
              <a:rPr sz="3400" b="1" spc="-17" dirty="0">
                <a:latin typeface="Arial"/>
                <a:cs typeface="Arial"/>
              </a:rPr>
              <a:t>vetores</a:t>
            </a:r>
            <a:r>
              <a:rPr sz="3400" spc="-17" dirty="0">
                <a:latin typeface="Arial"/>
                <a:cs typeface="Arial"/>
              </a:rPr>
              <a:t>, </a:t>
            </a:r>
            <a:r>
              <a:rPr sz="3400" b="1" spc="-6" dirty="0">
                <a:latin typeface="Arial"/>
                <a:cs typeface="Arial"/>
              </a:rPr>
              <a:t>matrizes </a:t>
            </a:r>
            <a:r>
              <a:rPr sz="3400" spc="-6" dirty="0">
                <a:latin typeface="Arial"/>
                <a:cs typeface="Arial"/>
              </a:rPr>
              <a:t>e</a:t>
            </a:r>
            <a:r>
              <a:rPr sz="3400" spc="103" dirty="0">
                <a:latin typeface="Arial"/>
                <a:cs typeface="Arial"/>
              </a:rPr>
              <a:t> </a:t>
            </a:r>
            <a:r>
              <a:rPr sz="3400" b="1" i="1" spc="-6" dirty="0">
                <a:latin typeface="Arial"/>
                <a:cs typeface="Arial"/>
              </a:rPr>
              <a:t>strings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193349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Nestas estruturas </a:t>
            </a:r>
            <a:r>
              <a:rPr sz="3400" spc="-6" dirty="0">
                <a:latin typeface="Arial"/>
                <a:cs typeface="Arial"/>
              </a:rPr>
              <a:t>todos os elementos da  </a:t>
            </a:r>
            <a:r>
              <a:rPr sz="3400" dirty="0">
                <a:latin typeface="Arial"/>
                <a:cs typeface="Arial"/>
              </a:rPr>
              <a:t>estrutura são de </a:t>
            </a:r>
            <a:r>
              <a:rPr sz="3400" spc="-6" dirty="0">
                <a:latin typeface="Arial"/>
                <a:cs typeface="Arial"/>
              </a:rPr>
              <a:t>tipos </a:t>
            </a:r>
            <a:r>
              <a:rPr sz="3400" dirty="0">
                <a:latin typeface="Arial"/>
                <a:cs typeface="Arial"/>
              </a:rPr>
              <a:t>de </a:t>
            </a:r>
            <a:r>
              <a:rPr sz="3400" spc="-6" dirty="0">
                <a:latin typeface="Arial"/>
                <a:cs typeface="Arial"/>
              </a:rPr>
              <a:t>dados</a:t>
            </a:r>
            <a:r>
              <a:rPr sz="3400" spc="-4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primitivos:  </a:t>
            </a:r>
            <a:r>
              <a:rPr sz="3400" b="1" dirty="0">
                <a:latin typeface="Arial"/>
                <a:cs typeface="Arial"/>
              </a:rPr>
              <a:t>inteiro, </a:t>
            </a:r>
            <a:r>
              <a:rPr sz="3400" b="1" spc="-6" dirty="0">
                <a:latin typeface="Arial"/>
                <a:cs typeface="Arial"/>
              </a:rPr>
              <a:t>real,</a:t>
            </a:r>
            <a:r>
              <a:rPr sz="3400" b="1" spc="-34" dirty="0">
                <a:latin typeface="Arial"/>
                <a:cs typeface="Arial"/>
              </a:rPr>
              <a:t> </a:t>
            </a:r>
            <a:r>
              <a:rPr sz="3400" b="1" spc="-11" dirty="0">
                <a:latin typeface="Arial"/>
                <a:cs typeface="Arial"/>
              </a:rPr>
              <a:t>caractere</a:t>
            </a:r>
            <a:r>
              <a:rPr sz="3400" spc="-11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1780552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86058"/>
            <a:ext cx="9426529" cy="53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</a:t>
            </a:r>
            <a:r>
              <a:rPr sz="3400" dirty="0">
                <a:latin typeface="Arial"/>
                <a:cs typeface="Arial"/>
              </a:rPr>
              <a:t>em </a:t>
            </a:r>
            <a:r>
              <a:rPr sz="3400" spc="-6" dirty="0">
                <a:latin typeface="Arial"/>
                <a:cs typeface="Arial"/>
              </a:rPr>
              <a:t>muitos </a:t>
            </a:r>
            <a:r>
              <a:rPr sz="3400" dirty="0">
                <a:latin typeface="Arial"/>
                <a:cs typeface="Arial"/>
              </a:rPr>
              <a:t>casos, </a:t>
            </a:r>
            <a:r>
              <a:rPr sz="3400" spc="-6" dirty="0">
                <a:latin typeface="Arial"/>
                <a:cs typeface="Arial"/>
              </a:rPr>
              <a:t>necessitamos  armazenar conjuntos de informações  relacionadas, formados por diversos tipos de  </a:t>
            </a:r>
            <a:r>
              <a:rPr sz="3400" spc="-11" dirty="0">
                <a:latin typeface="Arial"/>
                <a:cs typeface="Arial"/>
              </a:rPr>
              <a:t>dados</a:t>
            </a:r>
            <a:r>
              <a:rPr sz="3400" spc="-3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11" dirty="0">
                <a:latin typeface="Arial"/>
                <a:cs typeface="Arial"/>
              </a:rPr>
              <a:t>Endereço;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pessoais de um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cliente;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de </a:t>
            </a:r>
            <a:r>
              <a:rPr sz="3400" dirty="0">
                <a:latin typeface="Arial"/>
                <a:cs typeface="Arial"/>
              </a:rPr>
              <a:t>um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produto.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326595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59890"/>
            <a:ext cx="9306971" cy="5248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784259" indent="-521391">
              <a:lnSpc>
                <a:spcPct val="900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Quando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determinada estrutura </a:t>
            </a:r>
            <a:r>
              <a:rPr sz="3400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dirty="0">
                <a:latin typeface="Arial"/>
                <a:cs typeface="Arial"/>
              </a:rPr>
              <a:t>for </a:t>
            </a:r>
            <a:r>
              <a:rPr sz="3400" spc="-6" dirty="0">
                <a:latin typeface="Arial"/>
                <a:cs typeface="Arial"/>
              </a:rPr>
              <a:t>composta </a:t>
            </a:r>
            <a:r>
              <a:rPr sz="3400" spc="-11" dirty="0">
                <a:latin typeface="Arial"/>
                <a:cs typeface="Arial"/>
              </a:rPr>
              <a:t>por </a:t>
            </a:r>
            <a:r>
              <a:rPr sz="3400" b="1" spc="-11" dirty="0">
                <a:latin typeface="Arial"/>
                <a:cs typeface="Arial"/>
              </a:rPr>
              <a:t>diversos </a:t>
            </a:r>
            <a:r>
              <a:rPr sz="3400" b="1" dirty="0">
                <a:latin typeface="Arial"/>
                <a:cs typeface="Arial"/>
              </a:rPr>
              <a:t>tipos  </a:t>
            </a:r>
            <a:r>
              <a:rPr sz="3400" b="1" spc="-6" dirty="0">
                <a:latin typeface="Arial"/>
                <a:cs typeface="Arial"/>
              </a:rPr>
              <a:t>diferentes, </a:t>
            </a:r>
            <a:r>
              <a:rPr sz="3400" spc="-6" dirty="0">
                <a:latin typeface="Arial"/>
                <a:cs typeface="Arial"/>
              </a:rPr>
              <a:t>primitivos </a:t>
            </a:r>
            <a:r>
              <a:rPr sz="3400" dirty="0">
                <a:latin typeface="Arial"/>
                <a:cs typeface="Arial"/>
              </a:rPr>
              <a:t>ou </a:t>
            </a:r>
            <a:r>
              <a:rPr sz="3400" spc="-11" dirty="0">
                <a:latin typeface="Arial"/>
                <a:cs typeface="Arial"/>
              </a:rPr>
              <a:t>não, </a:t>
            </a:r>
            <a:r>
              <a:rPr sz="3400" spc="-6" dirty="0">
                <a:latin typeface="Arial"/>
                <a:cs typeface="Arial"/>
              </a:rPr>
              <a:t>temos </a:t>
            </a:r>
            <a:r>
              <a:rPr sz="3400" dirty="0">
                <a:latin typeface="Arial"/>
                <a:cs typeface="Arial"/>
              </a:rPr>
              <a:t>um  </a:t>
            </a:r>
            <a:r>
              <a:rPr sz="3400" spc="-6" dirty="0">
                <a:latin typeface="Arial"/>
                <a:cs typeface="Arial"/>
              </a:rPr>
              <a:t>conjunto heterogêneo de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535874" marR="5793" indent="-521391">
              <a:lnSpc>
                <a:spcPts val="3695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Essas </a:t>
            </a:r>
            <a:r>
              <a:rPr sz="3400" spc="-6" dirty="0">
                <a:latin typeface="Arial"/>
                <a:cs typeface="Arial"/>
              </a:rPr>
              <a:t>variáveis são chamadas de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b="1" u="heavy" spc="-17" dirty="0">
                <a:latin typeface="Arial"/>
                <a:cs typeface="Arial"/>
              </a:rPr>
              <a:t>variáveis  </a:t>
            </a:r>
            <a:r>
              <a:rPr sz="3400" b="1" u="heavy" dirty="0">
                <a:latin typeface="Arial"/>
                <a:cs typeface="Arial"/>
              </a:rPr>
              <a:t>compostas</a:t>
            </a:r>
            <a:r>
              <a:rPr sz="3400" b="1" u="heavy" spc="-86" dirty="0">
                <a:latin typeface="Arial"/>
                <a:cs typeface="Arial"/>
              </a:rPr>
              <a:t> </a:t>
            </a:r>
            <a:r>
              <a:rPr sz="3400" b="1" u="heavy" spc="-6" dirty="0">
                <a:latin typeface="Arial"/>
                <a:cs typeface="Arial"/>
              </a:rPr>
              <a:t>heterogêneas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spcBef>
                <a:spcPts val="6"/>
              </a:spcBef>
              <a:buClr>
                <a:srgbClr val="852B34"/>
              </a:buClr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535874" indent="-521391">
              <a:lnSpc>
                <a:spcPts val="39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Estas </a:t>
            </a:r>
            <a:r>
              <a:rPr sz="3400" spc="-6" dirty="0">
                <a:latin typeface="Arial"/>
                <a:cs typeface="Arial"/>
              </a:rPr>
              <a:t>variáveis compostas são</a:t>
            </a:r>
            <a:r>
              <a:rPr sz="3400" spc="23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chamadas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00"/>
              </a:lnSpc>
            </a:pPr>
            <a:r>
              <a:rPr sz="3400" spc="-6" dirty="0">
                <a:latin typeface="Arial"/>
                <a:cs typeface="Arial"/>
              </a:rPr>
              <a:t>de </a:t>
            </a:r>
            <a:r>
              <a:rPr sz="3400" b="1" spc="-6" dirty="0">
                <a:solidFill>
                  <a:srgbClr val="FF0000"/>
                </a:solidFill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(ou </a:t>
            </a:r>
            <a:r>
              <a:rPr sz="3400" b="1" i="1" spc="-6" dirty="0">
                <a:solidFill>
                  <a:srgbClr val="FF0000"/>
                </a:solidFill>
                <a:latin typeface="Arial"/>
                <a:cs typeface="Arial"/>
              </a:rPr>
              <a:t>structs </a:t>
            </a:r>
            <a:r>
              <a:rPr sz="3400" dirty="0">
                <a:latin typeface="Arial"/>
                <a:cs typeface="Arial"/>
              </a:rPr>
              <a:t>na </a:t>
            </a:r>
            <a:r>
              <a:rPr sz="3400" spc="-6" dirty="0">
                <a:latin typeface="Arial"/>
                <a:cs typeface="Arial"/>
              </a:rPr>
              <a:t>linguagem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C).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Variáveis</a:t>
            </a:r>
            <a:r>
              <a:rPr spc="-103" dirty="0"/>
              <a:t> </a:t>
            </a:r>
            <a:r>
              <a:rPr dirty="0"/>
              <a:t>compostas</a:t>
            </a:r>
          </a:p>
        </p:txBody>
      </p:sp>
    </p:spTree>
    <p:extLst>
      <p:ext uri="{BB962C8B-B14F-4D97-AF65-F5344CB8AC3E}">
        <p14:creationId xmlns:p14="http://schemas.microsoft.com/office/powerpoint/2010/main" val="26855320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10072" y="4329594"/>
          <a:ext cx="3356539" cy="27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6539"/>
              </a:tblGrid>
              <a:tr h="713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65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713669">
                <a:tc>
                  <a:txBody>
                    <a:bodyPr/>
                    <a:lstStyle/>
                    <a:p>
                      <a:pPr marL="1022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sobrenome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71688"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salário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6329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cargo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755593" y="4335191"/>
            <a:ext cx="549522" cy="2854678"/>
          </a:xfrm>
          <a:custGeom>
            <a:avLst/>
            <a:gdLst/>
            <a:ahLst/>
            <a:cxnLst/>
            <a:rect l="l" t="t" r="r" b="b"/>
            <a:pathLst>
              <a:path w="469900" h="2590800">
                <a:moveTo>
                  <a:pt x="469900" y="2590800"/>
                </a:moveTo>
                <a:lnTo>
                  <a:pt x="416017" y="2586699"/>
                </a:lnTo>
                <a:lnTo>
                  <a:pt x="366559" y="2575020"/>
                </a:lnTo>
                <a:lnTo>
                  <a:pt x="322936" y="2556692"/>
                </a:lnTo>
                <a:lnTo>
                  <a:pt x="286554" y="2532649"/>
                </a:lnTo>
                <a:lnTo>
                  <a:pt x="258824" y="2503822"/>
                </a:lnTo>
                <a:lnTo>
                  <a:pt x="234950" y="2435542"/>
                </a:lnTo>
                <a:lnTo>
                  <a:pt x="234950" y="1450593"/>
                </a:lnTo>
                <a:lnTo>
                  <a:pt x="228746" y="1415005"/>
                </a:lnTo>
                <a:lnTo>
                  <a:pt x="183345" y="1353522"/>
                </a:lnTo>
                <a:lnTo>
                  <a:pt x="146963" y="1329490"/>
                </a:lnTo>
                <a:lnTo>
                  <a:pt x="103340" y="1311171"/>
                </a:lnTo>
                <a:lnTo>
                  <a:pt x="53882" y="1299498"/>
                </a:lnTo>
                <a:lnTo>
                  <a:pt x="0" y="1295400"/>
                </a:lnTo>
                <a:lnTo>
                  <a:pt x="53882" y="1291301"/>
                </a:lnTo>
                <a:lnTo>
                  <a:pt x="103340" y="1279628"/>
                </a:lnTo>
                <a:lnTo>
                  <a:pt x="146963" y="1261309"/>
                </a:lnTo>
                <a:lnTo>
                  <a:pt x="183345" y="1237277"/>
                </a:lnTo>
                <a:lnTo>
                  <a:pt x="211075" y="1208462"/>
                </a:lnTo>
                <a:lnTo>
                  <a:pt x="234950" y="1140206"/>
                </a:lnTo>
                <a:lnTo>
                  <a:pt x="234950" y="155194"/>
                </a:lnTo>
                <a:lnTo>
                  <a:pt x="241153" y="119605"/>
                </a:lnTo>
                <a:lnTo>
                  <a:pt x="286554" y="58122"/>
                </a:lnTo>
                <a:lnTo>
                  <a:pt x="322936" y="34090"/>
                </a:lnTo>
                <a:lnTo>
                  <a:pt x="366559" y="15771"/>
                </a:lnTo>
                <a:lnTo>
                  <a:pt x="416017" y="4098"/>
                </a:lnTo>
                <a:lnTo>
                  <a:pt x="4699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266" y="1281105"/>
            <a:ext cx="9283207" cy="4875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Uma estrutura </a:t>
            </a:r>
            <a:r>
              <a:rPr sz="3400" spc="-6" dirty="0">
                <a:latin typeface="Arial"/>
                <a:cs typeface="Arial"/>
              </a:rPr>
              <a:t>pode </a:t>
            </a:r>
            <a:r>
              <a:rPr sz="3400" dirty="0">
                <a:latin typeface="Arial"/>
                <a:cs typeface="Arial"/>
              </a:rPr>
              <a:t>ser </a:t>
            </a:r>
            <a:r>
              <a:rPr sz="3400" spc="-6" dirty="0">
                <a:latin typeface="Arial"/>
                <a:cs typeface="Arial"/>
              </a:rPr>
              <a:t>definida </a:t>
            </a:r>
            <a:r>
              <a:rPr sz="3400" dirty="0">
                <a:latin typeface="Arial"/>
                <a:cs typeface="Arial"/>
              </a:rPr>
              <a:t>como uma  </a:t>
            </a:r>
            <a:r>
              <a:rPr sz="3400" spc="-6" dirty="0">
                <a:latin typeface="Arial"/>
                <a:cs typeface="Arial"/>
              </a:rPr>
              <a:t>coleção de uma ou mais variáveis  relacionadas (campos), </a:t>
            </a:r>
            <a:r>
              <a:rPr sz="3400" b="1" dirty="0">
                <a:latin typeface="Arial"/>
                <a:cs typeface="Arial"/>
              </a:rPr>
              <a:t>onde </a:t>
            </a:r>
            <a:r>
              <a:rPr sz="3400" b="1" spc="-6" dirty="0">
                <a:latin typeface="Arial"/>
                <a:cs typeface="Arial"/>
              </a:rPr>
              <a:t>cada </a:t>
            </a:r>
            <a:r>
              <a:rPr sz="3400" b="1" spc="-23" dirty="0">
                <a:latin typeface="Arial"/>
                <a:cs typeface="Arial"/>
              </a:rPr>
              <a:t>variável  </a:t>
            </a:r>
            <a:r>
              <a:rPr sz="3400" b="1" dirty="0">
                <a:latin typeface="Arial"/>
                <a:cs typeface="Arial"/>
              </a:rPr>
              <a:t>pode </a:t>
            </a:r>
            <a:r>
              <a:rPr sz="3400" b="1" spc="-6" dirty="0">
                <a:latin typeface="Arial"/>
                <a:cs typeface="Arial"/>
              </a:rPr>
              <a:t>ser </a:t>
            </a:r>
            <a:r>
              <a:rPr sz="3400" b="1" dirty="0">
                <a:latin typeface="Arial"/>
                <a:cs typeface="Arial"/>
              </a:rPr>
              <a:t>de um tipo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distinto</a:t>
            </a:r>
            <a:r>
              <a:rPr sz="3400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  <a:p>
            <a:pPr marL="963849">
              <a:spcBef>
                <a:spcPts val="1983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empregado</a:t>
            </a:r>
            <a:endParaRPr sz="3600">
              <a:latin typeface="Arial"/>
              <a:cs typeface="Arial"/>
            </a:endParaRPr>
          </a:p>
          <a:p>
            <a:pPr marL="963849">
              <a:spcBef>
                <a:spcPts val="912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(4</a:t>
            </a:r>
            <a:r>
              <a:rPr sz="3600" spc="-91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campos)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Definição de</a:t>
            </a:r>
            <a:r>
              <a:rPr spc="-108" dirty="0"/>
              <a:t> </a:t>
            </a:r>
            <a:r>
              <a:rPr dirty="0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5996724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692" y="2947035"/>
            <a:ext cx="6695257" cy="2723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1200">
              <a:latin typeface="Times New Roman"/>
              <a:cs typeface="Times New Roman"/>
            </a:endParaRPr>
          </a:p>
          <a:p>
            <a:pPr marR="918951" algn="r"/>
            <a:r>
              <a:rPr sz="110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38760"/>
            <a:ext cx="8630465" cy="102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lnSpc>
                <a:spcPts val="3991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Sintaxe para definir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estrutura </a:t>
            </a:r>
            <a:r>
              <a:rPr sz="3400" dirty="0">
                <a:latin typeface="Arial"/>
                <a:cs typeface="Arial"/>
              </a:rPr>
              <a:t>com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n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91"/>
              </a:lnSpc>
            </a:pPr>
            <a:r>
              <a:rPr sz="3400" spc="-6" dirty="0">
                <a:latin typeface="Arial"/>
                <a:cs typeface="Arial"/>
              </a:rPr>
              <a:t>campos em</a:t>
            </a:r>
            <a:r>
              <a:rPr sz="3400" spc="-63" dirty="0">
                <a:latin typeface="Arial"/>
                <a:cs typeface="Arial"/>
              </a:rPr>
              <a:t> </a:t>
            </a:r>
            <a:r>
              <a:rPr sz="3400" spc="-17" dirty="0">
                <a:latin typeface="Arial"/>
                <a:cs typeface="Arial"/>
              </a:rPr>
              <a:t>C</a:t>
            </a:r>
            <a:r>
              <a:rPr sz="3400" spc="-17" dirty="0">
                <a:latin typeface="Courier New"/>
                <a:cs typeface="Courier New"/>
              </a:rPr>
              <a:t>: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40" dirty="0"/>
              <a:t> </a:t>
            </a:r>
            <a:r>
              <a:rPr spc="-6" dirty="0"/>
              <a:t>Definição</a:t>
            </a:r>
          </a:p>
        </p:txBody>
      </p:sp>
      <p:sp>
        <p:nvSpPr>
          <p:cNvPr id="5" name="object 5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0862" y="2963826"/>
            <a:ext cx="4039729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NomeDaEstrutura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221" y="2963827"/>
            <a:ext cx="1901049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tipo1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tipo2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7901" y="3971780"/>
            <a:ext cx="4041956" cy="1049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identificador1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spc="-6" dirty="0">
                <a:latin typeface="Courier New"/>
                <a:cs typeface="Courier New"/>
              </a:rPr>
              <a:t>identificador2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9221" y="4979594"/>
            <a:ext cx="6179894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tipoN</a:t>
            </a:r>
            <a:r>
              <a:rPr sz="3400" spc="-91" dirty="0">
                <a:latin typeface="Courier New"/>
                <a:cs typeface="Courier New"/>
              </a:rPr>
              <a:t> </a:t>
            </a:r>
            <a:r>
              <a:rPr sz="3400" spc="-6" dirty="0">
                <a:latin typeface="Courier New"/>
                <a:cs typeface="Courier New"/>
              </a:rPr>
              <a:t>identificadorN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>
              <a:spcBef>
                <a:spcPts val="91"/>
              </a:spcBef>
            </a:pP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3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965677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33" y="1200643"/>
            <a:ext cx="9196324" cy="2854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70000"/>
              <a:buChar char="•"/>
              <a:tabLst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dessa forma, </a:t>
            </a:r>
            <a:r>
              <a:rPr sz="3400" dirty="0">
                <a:latin typeface="Arial"/>
                <a:cs typeface="Arial"/>
              </a:rPr>
              <a:t>é </a:t>
            </a:r>
            <a:r>
              <a:rPr sz="3400" spc="-6" dirty="0">
                <a:latin typeface="Arial"/>
                <a:cs typeface="Arial"/>
              </a:rPr>
              <a:t>necessário </a:t>
            </a:r>
            <a:r>
              <a:rPr sz="3400" spc="-11" dirty="0">
                <a:latin typeface="Arial"/>
                <a:cs typeface="Arial"/>
              </a:rPr>
              <a:t>usar  </a:t>
            </a:r>
            <a:r>
              <a:rPr sz="3400" spc="-6" dirty="0">
                <a:latin typeface="Arial"/>
                <a:cs typeface="Arial"/>
              </a:rPr>
              <a:t>a palavra-chave </a:t>
            </a:r>
            <a:r>
              <a:rPr sz="34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3400" b="1" spc="-113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3400" spc="-6" dirty="0">
                <a:latin typeface="Arial"/>
                <a:cs typeface="Arial"/>
              </a:rPr>
              <a:t>toda vez que uma  variável </a:t>
            </a:r>
            <a:r>
              <a:rPr sz="3400" dirty="0">
                <a:latin typeface="Arial"/>
                <a:cs typeface="Arial"/>
              </a:rPr>
              <a:t>é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declarada:</a:t>
            </a:r>
            <a:endParaRPr sz="3400">
              <a:latin typeface="Arial"/>
              <a:cs typeface="Arial"/>
            </a:endParaRPr>
          </a:p>
          <a:p>
            <a:pPr marL="569184">
              <a:spcBef>
                <a:spcPts val="1175"/>
              </a:spcBef>
            </a:pPr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2700" b="1" spc="-11" dirty="0">
                <a:latin typeface="Courier New"/>
                <a:cs typeface="Courier New"/>
              </a:rPr>
              <a:t>&lt;nomeEstrutura&gt; var1, </a:t>
            </a:r>
            <a:r>
              <a:rPr sz="2700" b="1" spc="-6" dirty="0">
                <a:latin typeface="Courier New"/>
                <a:cs typeface="Courier New"/>
              </a:rPr>
              <a:t>...,</a:t>
            </a:r>
            <a:r>
              <a:rPr sz="2700" b="1" spc="-23" dirty="0">
                <a:latin typeface="Courier New"/>
                <a:cs typeface="Courier New"/>
              </a:rPr>
              <a:t> </a:t>
            </a:r>
            <a:r>
              <a:rPr sz="2700" b="1" spc="-6" dirty="0">
                <a:latin typeface="Courier New"/>
                <a:cs typeface="Courier New"/>
              </a:rPr>
              <a:t>varN;</a:t>
            </a:r>
            <a:endParaRPr sz="2700">
              <a:latin typeface="Courier New"/>
              <a:cs typeface="Courier New"/>
            </a:endParaRPr>
          </a:p>
          <a:p>
            <a:pPr marL="535874" indent="-521391">
              <a:spcBef>
                <a:spcPts val="1471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87" y="4241436"/>
            <a:ext cx="463529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Declaracao de</a:t>
            </a:r>
            <a:r>
              <a:rPr sz="23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38587" y="4577281"/>
            <a:ext cx="106934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596" y="4577281"/>
            <a:ext cx="303128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fulano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a2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a3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518" y="4203652"/>
            <a:ext cx="4247656" cy="292457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209">
              <a:spcBef>
                <a:spcPts val="125"/>
              </a:spcBef>
            </a:pPr>
            <a:r>
              <a:rPr sz="2100" spc="-6" dirty="0">
                <a:solidFill>
                  <a:srgbClr val="7E7E7E"/>
                </a:solidFill>
                <a:latin typeface="Courier New"/>
                <a:cs typeface="Courier New"/>
              </a:rPr>
              <a:t>//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Definicao da</a:t>
            </a:r>
            <a:r>
              <a:rPr sz="2100" spc="-6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412768" marR="137082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405958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200643"/>
            <a:ext cx="8983199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Note que para variáveis </a:t>
            </a:r>
            <a:r>
              <a:rPr sz="3400" dirty="0">
                <a:latin typeface="Arial"/>
                <a:cs typeface="Arial"/>
              </a:rPr>
              <a:t>do </a:t>
            </a:r>
            <a:r>
              <a:rPr sz="3400" spc="-6" dirty="0">
                <a:latin typeface="Arial"/>
                <a:cs typeface="Arial"/>
              </a:rPr>
              <a:t>tipo estrutura </a:t>
            </a:r>
            <a:r>
              <a:rPr sz="3400" dirty="0">
                <a:latin typeface="Arial"/>
                <a:cs typeface="Arial"/>
              </a:rPr>
              <a:t>a  </a:t>
            </a:r>
            <a:r>
              <a:rPr sz="3400" spc="-6" dirty="0">
                <a:latin typeface="Arial"/>
                <a:cs typeface="Arial"/>
              </a:rPr>
              <a:t>palavra chave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3400" spc="-6" dirty="0">
                <a:latin typeface="Arial"/>
                <a:cs typeface="Arial"/>
              </a:rPr>
              <a:t>deve vir antes do  nome </a:t>
            </a:r>
            <a:r>
              <a:rPr sz="3400" dirty="0">
                <a:latin typeface="Arial"/>
                <a:cs typeface="Arial"/>
              </a:rPr>
              <a:t>da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estrutura.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5288570"/>
            <a:ext cx="7783904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Existe uma outra </a:t>
            </a:r>
            <a:r>
              <a:rPr sz="3400" spc="-11" dirty="0">
                <a:latin typeface="Arial"/>
                <a:cs typeface="Arial"/>
              </a:rPr>
              <a:t>possibilidade, </a:t>
            </a:r>
            <a:r>
              <a:rPr sz="3400" spc="-6" dirty="0">
                <a:latin typeface="Arial"/>
                <a:cs typeface="Arial"/>
              </a:rPr>
              <a:t>mais  simples, para </a:t>
            </a:r>
            <a:r>
              <a:rPr sz="3400" spc="-11" dirty="0">
                <a:latin typeface="Arial"/>
                <a:cs typeface="Arial"/>
              </a:rPr>
              <a:t>declarar </a:t>
            </a:r>
            <a:r>
              <a:rPr sz="3400" spc="-6" dirty="0">
                <a:latin typeface="Arial"/>
                <a:cs typeface="Arial"/>
              </a:rPr>
              <a:t>variáveis de  estruturas.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8345" y="3302470"/>
            <a:ext cx="4167456" cy="145812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037">
              <a:spcBef>
                <a:spcPts val="160"/>
              </a:spcBef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Tipos</a:t>
            </a:r>
            <a:r>
              <a:rPr sz="2300" spc="-10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primitivos</a:t>
            </a:r>
            <a:endParaRPr sz="2300">
              <a:latin typeface="Courier New"/>
              <a:cs typeface="Courier New"/>
            </a:endParaRPr>
          </a:p>
          <a:p>
            <a:pPr marL="97037" marR="151130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valor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dirty="0">
                <a:latin typeface="Courier New"/>
                <a:cs typeface="Courier New"/>
              </a:rPr>
              <a:t>z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letra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13534" y="3296873"/>
          <a:ext cx="4547663" cy="1458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973"/>
                <a:gridCol w="2187690"/>
              </a:tblGrid>
              <a:tr h="731861"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// Variaveis</a:t>
                      </a:r>
                      <a:r>
                        <a:rPr sz="2200" spc="-8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estruturas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fulano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46">
                <a:tc>
                  <a:txBody>
                    <a:bodyPr/>
                    <a:lstStyle/>
                    <a:p>
                      <a:pPr marL="78740">
                        <a:lnSpc>
                          <a:spcPts val="2045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2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27940">
                      <a:solidFill>
                        <a:srgbClr val="FF0000"/>
                      </a:solidFill>
                      <a:prstDash val="solid"/>
                    </a:lnR>
                    <a:lnB w="27940">
                      <a:solidFill>
                        <a:srgbClr val="FF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155"/>
                        </a:lnSpc>
                      </a:pPr>
                      <a:r>
                        <a:rPr sz="2200" spc="-5" dirty="0">
                          <a:latin typeface="Courier New"/>
                          <a:cs typeface="Courier New"/>
                        </a:rPr>
                        <a:t>a1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200" spc="-8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96015">
                <a:tc gridSpan="2"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4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163277" y="2188306"/>
            <a:ext cx="557689" cy="1591063"/>
          </a:xfrm>
          <a:custGeom>
            <a:avLst/>
            <a:gdLst/>
            <a:ahLst/>
            <a:cxnLst/>
            <a:rect l="l" t="t" r="r" b="b"/>
            <a:pathLst>
              <a:path w="476885" h="1443989">
                <a:moveTo>
                  <a:pt x="371602" y="1335786"/>
                </a:moveTo>
                <a:lnTo>
                  <a:pt x="362839" y="1336039"/>
                </a:lnTo>
                <a:lnTo>
                  <a:pt x="352298" y="1347343"/>
                </a:lnTo>
                <a:lnTo>
                  <a:pt x="352552" y="1356233"/>
                </a:lnTo>
                <a:lnTo>
                  <a:pt x="358267" y="1361439"/>
                </a:lnTo>
                <a:lnTo>
                  <a:pt x="446786" y="1443989"/>
                </a:lnTo>
                <a:lnTo>
                  <a:pt x="452175" y="1421511"/>
                </a:lnTo>
                <a:lnTo>
                  <a:pt x="425323" y="1421511"/>
                </a:lnTo>
                <a:lnTo>
                  <a:pt x="410360" y="1371790"/>
                </a:lnTo>
                <a:lnTo>
                  <a:pt x="377317" y="1340993"/>
                </a:lnTo>
                <a:lnTo>
                  <a:pt x="371602" y="1335786"/>
                </a:lnTo>
                <a:close/>
              </a:path>
              <a:path w="476885" h="1443989">
                <a:moveTo>
                  <a:pt x="410360" y="1371790"/>
                </a:moveTo>
                <a:lnTo>
                  <a:pt x="425323" y="1421511"/>
                </a:lnTo>
                <a:lnTo>
                  <a:pt x="449607" y="1414145"/>
                </a:lnTo>
                <a:lnTo>
                  <a:pt x="425196" y="1414145"/>
                </a:lnTo>
                <a:lnTo>
                  <a:pt x="430782" y="1390824"/>
                </a:lnTo>
                <a:lnTo>
                  <a:pt x="410360" y="1371790"/>
                </a:lnTo>
                <a:close/>
              </a:path>
              <a:path w="476885" h="1443989">
                <a:moveTo>
                  <a:pt x="457200" y="1307719"/>
                </a:moveTo>
                <a:lnTo>
                  <a:pt x="449580" y="1312290"/>
                </a:lnTo>
                <a:lnTo>
                  <a:pt x="437229" y="1363915"/>
                </a:lnTo>
                <a:lnTo>
                  <a:pt x="452120" y="1413383"/>
                </a:lnTo>
                <a:lnTo>
                  <a:pt x="425323" y="1421511"/>
                </a:lnTo>
                <a:lnTo>
                  <a:pt x="452175" y="1421511"/>
                </a:lnTo>
                <a:lnTo>
                  <a:pt x="474980" y="1326388"/>
                </a:lnTo>
                <a:lnTo>
                  <a:pt x="476758" y="1318895"/>
                </a:lnTo>
                <a:lnTo>
                  <a:pt x="472186" y="1311275"/>
                </a:lnTo>
                <a:lnTo>
                  <a:pt x="457200" y="1307719"/>
                </a:lnTo>
                <a:close/>
              </a:path>
              <a:path w="476885" h="1443989">
                <a:moveTo>
                  <a:pt x="430782" y="1390824"/>
                </a:moveTo>
                <a:lnTo>
                  <a:pt x="425196" y="1414145"/>
                </a:lnTo>
                <a:lnTo>
                  <a:pt x="448310" y="1407160"/>
                </a:lnTo>
                <a:lnTo>
                  <a:pt x="430782" y="1390824"/>
                </a:lnTo>
                <a:close/>
              </a:path>
              <a:path w="476885" h="1443989">
                <a:moveTo>
                  <a:pt x="437229" y="1363915"/>
                </a:moveTo>
                <a:lnTo>
                  <a:pt x="430782" y="1390824"/>
                </a:lnTo>
                <a:lnTo>
                  <a:pt x="448310" y="1407160"/>
                </a:lnTo>
                <a:lnTo>
                  <a:pt x="425196" y="1414145"/>
                </a:lnTo>
                <a:lnTo>
                  <a:pt x="449607" y="1414145"/>
                </a:lnTo>
                <a:lnTo>
                  <a:pt x="452120" y="1413383"/>
                </a:lnTo>
                <a:lnTo>
                  <a:pt x="437229" y="1363915"/>
                </a:lnTo>
                <a:close/>
              </a:path>
              <a:path w="476885" h="1443989">
                <a:moveTo>
                  <a:pt x="26670" y="0"/>
                </a:moveTo>
                <a:lnTo>
                  <a:pt x="0" y="8127"/>
                </a:lnTo>
                <a:lnTo>
                  <a:pt x="410360" y="1371790"/>
                </a:lnTo>
                <a:lnTo>
                  <a:pt x="430782" y="1390824"/>
                </a:lnTo>
                <a:lnTo>
                  <a:pt x="437229" y="1363915"/>
                </a:lnTo>
                <a:lnTo>
                  <a:pt x="26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45997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78" y="3105442"/>
            <a:ext cx="68630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993300"/>
                </a:solidFill>
                <a:latin typeface="Courier New"/>
                <a:cs typeface="Courier New"/>
              </a:rPr>
              <a:t>&lt;nomeAntigo&gt;</a:t>
            </a:r>
            <a:r>
              <a:rPr sz="2700" b="1" spc="-34" dirty="0">
                <a:solidFill>
                  <a:srgbClr val="993300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FF0000"/>
                </a:solidFill>
                <a:latin typeface="Courier New"/>
                <a:cs typeface="Courier New"/>
              </a:rPr>
              <a:t>&lt;nomeNovo&gt;;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96441"/>
            <a:ext cx="9191126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O </a:t>
            </a:r>
            <a:r>
              <a:rPr sz="3400" spc="-11" dirty="0">
                <a:latin typeface="Arial"/>
                <a:cs typeface="Arial"/>
              </a:rPr>
              <a:t>comando </a:t>
            </a:r>
            <a:r>
              <a:rPr sz="3400" b="1" spc="-6" dirty="0"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 </a:t>
            </a:r>
            <a:r>
              <a:rPr sz="3400" spc="-11" dirty="0">
                <a:latin typeface="Arial"/>
                <a:cs typeface="Arial"/>
              </a:rPr>
              <a:t>pode </a:t>
            </a:r>
            <a:r>
              <a:rPr sz="3400" spc="-6" dirty="0">
                <a:latin typeface="Arial"/>
                <a:cs typeface="Arial"/>
              </a:rPr>
              <a:t>ser </a:t>
            </a:r>
            <a:r>
              <a:rPr sz="3400" spc="-11" dirty="0">
                <a:latin typeface="Arial"/>
                <a:cs typeface="Arial"/>
              </a:rPr>
              <a:t>usado </a:t>
            </a:r>
            <a:r>
              <a:rPr sz="3400" spc="-6" dirty="0">
                <a:latin typeface="Arial"/>
                <a:cs typeface="Arial"/>
              </a:rPr>
              <a:t>para  </a:t>
            </a:r>
            <a:r>
              <a:rPr sz="3400" spc="-11" dirty="0">
                <a:latin typeface="Arial"/>
                <a:cs typeface="Arial"/>
              </a:rPr>
              <a:t>dar </a:t>
            </a:r>
            <a:r>
              <a:rPr sz="3400" spc="-6" dirty="0">
                <a:latin typeface="Arial"/>
                <a:cs typeface="Arial"/>
              </a:rPr>
              <a:t>um novo nome para </a:t>
            </a:r>
            <a:r>
              <a:rPr sz="3400" spc="-11" dirty="0">
                <a:latin typeface="Arial"/>
                <a:cs typeface="Arial"/>
              </a:rPr>
              <a:t>algum </a:t>
            </a:r>
            <a:r>
              <a:rPr sz="3400" spc="-6" dirty="0">
                <a:latin typeface="Arial"/>
                <a:cs typeface="Arial"/>
              </a:rPr>
              <a:t>tipo </a:t>
            </a:r>
            <a:r>
              <a:rPr sz="3400" spc="-17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66" y="3062482"/>
            <a:ext cx="147925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Us</a:t>
            </a:r>
            <a:r>
              <a:rPr sz="3400" spc="-23" dirty="0">
                <a:latin typeface="Arial"/>
                <a:cs typeface="Arial"/>
              </a:rPr>
              <a:t>o</a:t>
            </a:r>
            <a:r>
              <a:rPr sz="3400" dirty="0">
                <a:latin typeface="Arial"/>
                <a:cs typeface="Arial"/>
              </a:rPr>
              <a:t>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66" y="3678475"/>
            <a:ext cx="263770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66" y="5526459"/>
            <a:ext cx="471623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Declarando</a:t>
            </a:r>
            <a:r>
              <a:rPr sz="3400" spc="-9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variáveis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Comando</a:t>
            </a:r>
            <a:r>
              <a:rPr spc="-125" dirty="0"/>
              <a:t> </a:t>
            </a:r>
            <a:r>
              <a:rPr spc="-6" dirty="0">
                <a:latin typeface="Courier New"/>
                <a:cs typeface="Courier New"/>
              </a:rPr>
              <a:t>typedef</a:t>
            </a:r>
          </a:p>
        </p:txBody>
      </p:sp>
      <p:sp>
        <p:nvSpPr>
          <p:cNvPr id="8" name="object 8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3319" y="4572102"/>
            <a:ext cx="2139423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Inteiro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57235" y="4572102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2957" y="4908227"/>
            <a:ext cx="89185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Rea</a:t>
            </a:r>
            <a:r>
              <a:rPr sz="2300" dirty="0">
                <a:latin typeface="Courier New"/>
                <a:cs typeface="Courier New"/>
              </a:rPr>
              <a:t>l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99" y="6397837"/>
            <a:ext cx="3995173" cy="66241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7761">
              <a:spcBef>
                <a:spcPts val="125"/>
              </a:spcBef>
              <a:tabLst>
                <a:tab pos="1346202" algn="l"/>
              </a:tabLst>
            </a:pPr>
            <a:r>
              <a:rPr sz="2100" spc="-11" dirty="0">
                <a:latin typeface="Courier New"/>
                <a:cs typeface="Courier New"/>
              </a:rPr>
              <a:t>Inteiro	</a:t>
            </a:r>
            <a:r>
              <a:rPr sz="2100" spc="-6" dirty="0">
                <a:latin typeface="Courier New"/>
                <a:cs typeface="Courier New"/>
              </a:rPr>
              <a:t>n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100" spc="-6" dirty="0">
                <a:latin typeface="Courier New"/>
                <a:cs typeface="Courier New"/>
              </a:rPr>
              <a:t>Real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x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2468302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158551"/>
            <a:ext cx="9043349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Assim, com o </a:t>
            </a:r>
            <a:r>
              <a:rPr sz="3400" spc="-6" dirty="0">
                <a:latin typeface="Arial"/>
                <a:cs typeface="Arial"/>
              </a:rPr>
              <a:t>comando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pode-se  definir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e declarar variáveis da  seguinte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forma: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107" y="4256828"/>
          <a:ext cx="9719111" cy="322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2671"/>
                <a:gridCol w="1102013"/>
                <a:gridCol w="5474427"/>
              </a:tblGrid>
              <a:tr h="1502904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Definicao da</a:t>
                      </a:r>
                      <a:r>
                        <a:rPr sz="2000" spc="-5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estrutura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est_Aluno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ts val="206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matricula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7371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cidade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sexo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400" spc="-1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ef </a:t>
                      </a:r>
                      <a:r>
                        <a:rPr sz="2400" b="1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est_Aluno</a:t>
                      </a:r>
                      <a:r>
                        <a:rPr sz="24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claracao </a:t>
                      </a:r>
                      <a:r>
                        <a:rPr sz="2400" spc="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24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variaveis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9429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ts val="108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Aluno a1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400" spc="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85592" y="2996711"/>
            <a:ext cx="130845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spc="-6" dirty="0">
                <a:latin typeface="Courier New"/>
                <a:cs typeface="Courier New"/>
              </a:rPr>
              <a:t>l</a:t>
            </a:r>
            <a:r>
              <a:rPr sz="2700" spc="-23" dirty="0">
                <a:latin typeface="Courier New"/>
                <a:cs typeface="Courier New"/>
              </a:rPr>
              <a:t>u</a:t>
            </a:r>
            <a:r>
              <a:rPr sz="2700" spc="-6" dirty="0">
                <a:latin typeface="Courier New"/>
                <a:cs typeface="Courier New"/>
              </a:rPr>
              <a:t>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7476" y="3007206"/>
            <a:ext cx="1027755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266" y="2996711"/>
            <a:ext cx="7250719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2734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est_Aluno</a:t>
            </a:r>
            <a:endParaRPr sz="2700" dirty="0">
              <a:latin typeface="Courier New"/>
              <a:cs typeface="Courier New"/>
            </a:endParaRPr>
          </a:p>
          <a:p>
            <a:pPr marL="535874" indent="-521391">
              <a:spcBef>
                <a:spcPts val="331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</a:t>
            </a:r>
            <a:endParaRPr sz="3400" dirty="0">
              <a:latin typeface="Arial"/>
              <a:cs typeface="Arial"/>
            </a:endParaRPr>
          </a:p>
          <a:p>
            <a:pPr marR="469976" algn="r">
              <a:spcBef>
                <a:spcPts val="336"/>
              </a:spcBef>
            </a:pPr>
            <a:r>
              <a:rPr sz="2100" dirty="0">
                <a:latin typeface="Arial"/>
                <a:cs typeface="Arial"/>
              </a:rPr>
              <a:t>Nome</a:t>
            </a:r>
            <a:r>
              <a:rPr sz="2100" spc="-97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antigo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2878" y="3985635"/>
            <a:ext cx="1396083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latin typeface="Arial"/>
                <a:cs typeface="Arial"/>
              </a:rPr>
              <a:t>Nome</a:t>
            </a:r>
            <a:r>
              <a:rPr sz="2100" spc="-108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novo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8617" y="3530147"/>
            <a:ext cx="677249" cy="455488"/>
          </a:xfrm>
          <a:custGeom>
            <a:avLst/>
            <a:gdLst/>
            <a:ahLst/>
            <a:cxnLst/>
            <a:rect l="l" t="t" r="r" b="b"/>
            <a:pathLst>
              <a:path w="579120" h="413385">
                <a:moveTo>
                  <a:pt x="545985" y="23224"/>
                </a:moveTo>
                <a:lnTo>
                  <a:pt x="525981" y="24958"/>
                </a:lnTo>
                <a:lnTo>
                  <a:pt x="0" y="396493"/>
                </a:lnTo>
                <a:lnTo>
                  <a:pt x="11683" y="413130"/>
                </a:lnTo>
                <a:lnTo>
                  <a:pt x="537588" y="41649"/>
                </a:lnTo>
                <a:lnTo>
                  <a:pt x="545985" y="23224"/>
                </a:lnTo>
                <a:close/>
              </a:path>
              <a:path w="579120" h="413385">
                <a:moveTo>
                  <a:pt x="577488" y="3301"/>
                </a:moveTo>
                <a:lnTo>
                  <a:pt x="556640" y="3301"/>
                </a:lnTo>
                <a:lnTo>
                  <a:pt x="568325" y="19938"/>
                </a:lnTo>
                <a:lnTo>
                  <a:pt x="537588" y="41649"/>
                </a:lnTo>
                <a:lnTo>
                  <a:pt x="516636" y="87629"/>
                </a:lnTo>
                <a:lnTo>
                  <a:pt x="514350" y="92709"/>
                </a:lnTo>
                <a:lnTo>
                  <a:pt x="516636" y="98805"/>
                </a:lnTo>
                <a:lnTo>
                  <a:pt x="521715" y="101091"/>
                </a:lnTo>
                <a:lnTo>
                  <a:pt x="526795" y="103504"/>
                </a:lnTo>
                <a:lnTo>
                  <a:pt x="532764" y="101218"/>
                </a:lnTo>
                <a:lnTo>
                  <a:pt x="535177" y="96138"/>
                </a:lnTo>
                <a:lnTo>
                  <a:pt x="577488" y="3301"/>
                </a:lnTo>
                <a:close/>
              </a:path>
              <a:path w="579120" h="413385">
                <a:moveTo>
                  <a:pt x="559495" y="7365"/>
                </a:moveTo>
                <a:lnTo>
                  <a:pt x="553212" y="7365"/>
                </a:lnTo>
                <a:lnTo>
                  <a:pt x="563371" y="21716"/>
                </a:lnTo>
                <a:lnTo>
                  <a:pt x="545985" y="23224"/>
                </a:lnTo>
                <a:lnTo>
                  <a:pt x="537588" y="41649"/>
                </a:lnTo>
                <a:lnTo>
                  <a:pt x="568325" y="19938"/>
                </a:lnTo>
                <a:lnTo>
                  <a:pt x="559495" y="7365"/>
                </a:lnTo>
                <a:close/>
              </a:path>
              <a:path w="579120" h="413385">
                <a:moveTo>
                  <a:pt x="578992" y="0"/>
                </a:moveTo>
                <a:lnTo>
                  <a:pt x="468121" y="9651"/>
                </a:lnTo>
                <a:lnTo>
                  <a:pt x="464057" y="14604"/>
                </a:lnTo>
                <a:lnTo>
                  <a:pt x="464438" y="20192"/>
                </a:lnTo>
                <a:lnTo>
                  <a:pt x="464946" y="25780"/>
                </a:lnTo>
                <a:lnTo>
                  <a:pt x="469900" y="29844"/>
                </a:lnTo>
                <a:lnTo>
                  <a:pt x="525981" y="24958"/>
                </a:lnTo>
                <a:lnTo>
                  <a:pt x="556640" y="3301"/>
                </a:lnTo>
                <a:lnTo>
                  <a:pt x="577488" y="3301"/>
                </a:lnTo>
                <a:lnTo>
                  <a:pt x="578992" y="0"/>
                </a:lnTo>
                <a:close/>
              </a:path>
              <a:path w="579120" h="413385">
                <a:moveTo>
                  <a:pt x="556640" y="3301"/>
                </a:moveTo>
                <a:lnTo>
                  <a:pt x="525981" y="24958"/>
                </a:lnTo>
                <a:lnTo>
                  <a:pt x="545985" y="23224"/>
                </a:lnTo>
                <a:lnTo>
                  <a:pt x="553212" y="7365"/>
                </a:lnTo>
                <a:lnTo>
                  <a:pt x="559495" y="7365"/>
                </a:lnTo>
                <a:lnTo>
                  <a:pt x="556640" y="3301"/>
                </a:lnTo>
                <a:close/>
              </a:path>
              <a:path w="579120" h="413385">
                <a:moveTo>
                  <a:pt x="553212" y="7365"/>
                </a:moveTo>
                <a:lnTo>
                  <a:pt x="545985" y="23224"/>
                </a:lnTo>
                <a:lnTo>
                  <a:pt x="563371" y="21716"/>
                </a:lnTo>
                <a:lnTo>
                  <a:pt x="553212" y="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467" y="3518476"/>
            <a:ext cx="681704" cy="488374"/>
          </a:xfrm>
          <a:custGeom>
            <a:avLst/>
            <a:gdLst/>
            <a:ahLst/>
            <a:cxnLst/>
            <a:rect l="l" t="t" r="r" b="b"/>
            <a:pathLst>
              <a:path w="582929" h="443229">
                <a:moveTo>
                  <a:pt x="32108" y="24274"/>
                </a:moveTo>
                <a:lnTo>
                  <a:pt x="39872" y="42815"/>
                </a:lnTo>
                <a:lnTo>
                  <a:pt x="570102" y="443102"/>
                </a:lnTo>
                <a:lnTo>
                  <a:pt x="582421" y="426847"/>
                </a:lnTo>
                <a:lnTo>
                  <a:pt x="52162" y="26658"/>
                </a:lnTo>
                <a:lnTo>
                  <a:pt x="32108" y="24274"/>
                </a:lnTo>
                <a:close/>
              </a:path>
              <a:path w="582929" h="443229">
                <a:moveTo>
                  <a:pt x="0" y="0"/>
                </a:moveTo>
                <a:lnTo>
                  <a:pt x="40766" y="97409"/>
                </a:lnTo>
                <a:lnTo>
                  <a:pt x="42925" y="102615"/>
                </a:lnTo>
                <a:lnTo>
                  <a:pt x="48894" y="105029"/>
                </a:lnTo>
                <a:lnTo>
                  <a:pt x="53975" y="102870"/>
                </a:lnTo>
                <a:lnTo>
                  <a:pt x="59181" y="100711"/>
                </a:lnTo>
                <a:lnTo>
                  <a:pt x="61594" y="94742"/>
                </a:lnTo>
                <a:lnTo>
                  <a:pt x="59435" y="89535"/>
                </a:lnTo>
                <a:lnTo>
                  <a:pt x="39872" y="42815"/>
                </a:lnTo>
                <a:lnTo>
                  <a:pt x="9905" y="20193"/>
                </a:lnTo>
                <a:lnTo>
                  <a:pt x="22225" y="4063"/>
                </a:lnTo>
                <a:lnTo>
                  <a:pt x="34253" y="4063"/>
                </a:lnTo>
                <a:lnTo>
                  <a:pt x="0" y="0"/>
                </a:lnTo>
                <a:close/>
              </a:path>
              <a:path w="582929" h="443229">
                <a:moveTo>
                  <a:pt x="22225" y="4063"/>
                </a:moveTo>
                <a:lnTo>
                  <a:pt x="9905" y="20193"/>
                </a:lnTo>
                <a:lnTo>
                  <a:pt x="39872" y="42815"/>
                </a:lnTo>
                <a:lnTo>
                  <a:pt x="32108" y="24274"/>
                </a:lnTo>
                <a:lnTo>
                  <a:pt x="14858" y="22225"/>
                </a:lnTo>
                <a:lnTo>
                  <a:pt x="25400" y="8255"/>
                </a:lnTo>
                <a:lnTo>
                  <a:pt x="27778" y="8255"/>
                </a:lnTo>
                <a:lnTo>
                  <a:pt x="22225" y="4063"/>
                </a:lnTo>
                <a:close/>
              </a:path>
              <a:path w="582929" h="443229">
                <a:moveTo>
                  <a:pt x="34253" y="4063"/>
                </a:moveTo>
                <a:lnTo>
                  <a:pt x="22225" y="4063"/>
                </a:lnTo>
                <a:lnTo>
                  <a:pt x="52162" y="26658"/>
                </a:lnTo>
                <a:lnTo>
                  <a:pt x="108076" y="33274"/>
                </a:lnTo>
                <a:lnTo>
                  <a:pt x="113029" y="29337"/>
                </a:lnTo>
                <a:lnTo>
                  <a:pt x="113791" y="23749"/>
                </a:lnTo>
                <a:lnTo>
                  <a:pt x="114426" y="18161"/>
                </a:lnTo>
                <a:lnTo>
                  <a:pt x="110489" y="13081"/>
                </a:lnTo>
                <a:lnTo>
                  <a:pt x="34253" y="4063"/>
                </a:lnTo>
                <a:close/>
              </a:path>
              <a:path w="582929" h="443229">
                <a:moveTo>
                  <a:pt x="27778" y="8255"/>
                </a:moveTo>
                <a:lnTo>
                  <a:pt x="25400" y="8255"/>
                </a:lnTo>
                <a:lnTo>
                  <a:pt x="32108" y="24274"/>
                </a:lnTo>
                <a:lnTo>
                  <a:pt x="52162" y="26658"/>
                </a:lnTo>
                <a:lnTo>
                  <a:pt x="27778" y="8255"/>
                </a:lnTo>
                <a:close/>
              </a:path>
              <a:path w="582929" h="443229">
                <a:moveTo>
                  <a:pt x="25400" y="8255"/>
                </a:moveTo>
                <a:lnTo>
                  <a:pt x="14858" y="22225"/>
                </a:lnTo>
                <a:lnTo>
                  <a:pt x="32108" y="24274"/>
                </a:lnTo>
                <a:lnTo>
                  <a:pt x="25400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/>
          <p:nvPr/>
        </p:nvSpPr>
        <p:spPr>
          <a:xfrm>
            <a:off x="5660669" y="3053386"/>
            <a:ext cx="1972031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8506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266" y="1042237"/>
            <a:ext cx="9400538" cy="120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 </a:t>
            </a:r>
            <a:r>
              <a:rPr sz="3400" spc="-6" dirty="0">
                <a:latin typeface="Arial"/>
                <a:cs typeface="Arial"/>
              </a:rPr>
              <a:t>seguinte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também pode </a:t>
            </a:r>
            <a:r>
              <a:rPr sz="3400" dirty="0">
                <a:latin typeface="Arial"/>
                <a:cs typeface="Arial"/>
              </a:rPr>
              <a:t>ser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utilizada:</a:t>
            </a:r>
            <a:endParaRPr sz="3400">
              <a:latin typeface="Arial"/>
              <a:cs typeface="Arial"/>
            </a:endParaRPr>
          </a:p>
          <a:p>
            <a:pPr marL="1588070">
              <a:spcBef>
                <a:spcPts val="2121"/>
              </a:spcBef>
            </a:pP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 Definicao </a:t>
            </a:r>
            <a:r>
              <a:rPr sz="2700" spc="-17" dirty="0">
                <a:solidFill>
                  <a:srgbClr val="7E7E7E"/>
                </a:solidFill>
                <a:latin typeface="Courier New"/>
                <a:cs typeface="Courier New"/>
              </a:rPr>
              <a:t>da</a:t>
            </a:r>
            <a:r>
              <a:rPr sz="27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0321" y="2209857"/>
            <a:ext cx="13106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931" y="2209857"/>
            <a:ext cx="1526780" cy="1245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453" y="3016302"/>
            <a:ext cx="216318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8931" y="3419317"/>
            <a:ext cx="387413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596">
              <a:tabLst>
                <a:tab pos="126582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700" spc="-11" dirty="0">
                <a:latin typeface="Courier New"/>
                <a:cs typeface="Courier New"/>
              </a:rPr>
              <a:t>matricula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idade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cidade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sexo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931" y="5838445"/>
            <a:ext cx="280776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2700" spc="-6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solidFill>
                  <a:srgbClr val="7E7E7E"/>
                </a:solidFill>
                <a:latin typeface="Courier New"/>
                <a:cs typeface="Courier New"/>
              </a:rPr>
              <a:t>Declaracao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930" y="6249855"/>
            <a:ext cx="280850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Aluno a1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885" y="5838445"/>
            <a:ext cx="2596862" cy="850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de</a:t>
            </a:r>
            <a:r>
              <a:rPr sz="2700" spc="-10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700">
              <a:latin typeface="Courier New"/>
              <a:cs typeface="Courier New"/>
            </a:endParaRPr>
          </a:p>
          <a:p>
            <a:pPr marL="14483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a3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18" y="6846678"/>
            <a:ext cx="7966583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dirty="0">
                <a:latin typeface="Arial"/>
                <a:cs typeface="Arial"/>
              </a:rPr>
              <a:t>Esta </a:t>
            </a:r>
            <a:r>
              <a:rPr sz="3400" spc="-6" dirty="0">
                <a:latin typeface="Arial"/>
                <a:cs typeface="Arial"/>
              </a:rPr>
              <a:t>será a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adotada na</a:t>
            </a:r>
            <a:r>
              <a:rPr sz="3400" spc="-8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disciplina.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0239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971"/>
            <a:r>
              <a:rPr dirty="0"/>
              <a:t>Definição e</a:t>
            </a:r>
            <a:r>
              <a:rPr spc="-80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6366" y="1542086"/>
            <a:ext cx="2600575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 marR="144831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matricula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idade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cidade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sexo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66" y="5036266"/>
            <a:ext cx="274241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45545" algn="ctr"/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latin typeface="Courier New"/>
                <a:cs typeface="Courier New"/>
              </a:rPr>
              <a:t>Aluno a1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a3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processamento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6366" y="6920494"/>
            <a:ext cx="1730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38" y="1529911"/>
            <a:ext cx="5216003" cy="616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</a:t>
            </a:r>
            <a:endParaRPr sz="3200">
              <a:latin typeface="Arial"/>
              <a:cs typeface="Arial"/>
            </a:endParaRPr>
          </a:p>
          <a:p>
            <a:pPr marL="465631" marR="5793"/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deve  ficar </a:t>
            </a:r>
            <a:r>
              <a:rPr sz="3200" b="1" spc="-6" dirty="0">
                <a:latin typeface="Arial"/>
                <a:cs typeface="Arial"/>
              </a:rPr>
              <a:t>fora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programa  principal (</a:t>
            </a:r>
            <a:r>
              <a:rPr sz="3200" b="1" dirty="0">
                <a:latin typeface="Courier New"/>
                <a:cs typeface="Courier New"/>
              </a:rPr>
              <a:t>main</a:t>
            </a:r>
            <a:r>
              <a:rPr sz="3200" dirty="0">
                <a:latin typeface="Arial"/>
                <a:cs typeface="Arial"/>
              </a:rPr>
              <a:t>) </a:t>
            </a:r>
            <a:r>
              <a:rPr sz="3200" spc="-6" dirty="0">
                <a:latin typeface="Arial"/>
                <a:cs typeface="Arial"/>
              </a:rPr>
              <a:t>e de  </a:t>
            </a:r>
            <a:r>
              <a:rPr sz="3200" dirty="0">
                <a:latin typeface="Arial"/>
                <a:cs typeface="Arial"/>
              </a:rPr>
              <a:t>qualquer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35874" indent="-521391">
              <a:spcBef>
                <a:spcPts val="1983"/>
              </a:spcBef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0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</a:t>
            </a:r>
            <a:endParaRPr sz="3200">
              <a:latin typeface="Arial"/>
              <a:cs typeface="Arial"/>
            </a:endParaRPr>
          </a:p>
          <a:p>
            <a:pPr marL="465631" marR="6517"/>
            <a:r>
              <a:rPr sz="3200" dirty="0">
                <a:latin typeface="Arial"/>
                <a:cs typeface="Arial"/>
              </a:rPr>
              <a:t>de uma </a:t>
            </a:r>
            <a:r>
              <a:rPr sz="3200" spc="6" dirty="0">
                <a:latin typeface="Arial"/>
                <a:cs typeface="Arial"/>
              </a:rPr>
              <a:t>variável </a:t>
            </a:r>
            <a:r>
              <a:rPr sz="3200" dirty="0">
                <a:latin typeface="Arial"/>
                <a:cs typeface="Arial"/>
              </a:rPr>
              <a:t>do tipo  estrutura deve ficar  </a:t>
            </a:r>
            <a:r>
              <a:rPr sz="3200" b="1" dirty="0">
                <a:latin typeface="Arial"/>
                <a:cs typeface="Arial"/>
              </a:rPr>
              <a:t>dentro </a:t>
            </a:r>
            <a:r>
              <a:rPr sz="3200" dirty="0">
                <a:latin typeface="Arial"/>
                <a:cs typeface="Arial"/>
              </a:rPr>
              <a:t>de alguma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  </a:t>
            </a:r>
            <a:r>
              <a:rPr sz="3200" spc="-6" dirty="0">
                <a:latin typeface="Arial"/>
                <a:cs typeface="Arial"/>
              </a:rPr>
              <a:t>(seja ela a </a:t>
            </a:r>
            <a:r>
              <a:rPr sz="3200" dirty="0">
                <a:latin typeface="Arial"/>
                <a:cs typeface="Arial"/>
              </a:rPr>
              <a:t>main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outra  qualquer).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5699" y="4809153"/>
            <a:ext cx="2510721" cy="943863"/>
          </a:xfrm>
          <a:custGeom>
            <a:avLst/>
            <a:gdLst/>
            <a:ahLst/>
            <a:cxnLst/>
            <a:rect l="l" t="t" r="r" b="b"/>
            <a:pathLst>
              <a:path w="2146935" h="856614">
                <a:moveTo>
                  <a:pt x="2067278" y="819989"/>
                </a:moveTo>
                <a:lnTo>
                  <a:pt x="2014982" y="828548"/>
                </a:lnTo>
                <a:lnTo>
                  <a:pt x="2009902" y="835660"/>
                </a:lnTo>
                <a:lnTo>
                  <a:pt x="2011045" y="843280"/>
                </a:lnTo>
                <a:lnTo>
                  <a:pt x="2012314" y="850900"/>
                </a:lnTo>
                <a:lnTo>
                  <a:pt x="2019553" y="856107"/>
                </a:lnTo>
                <a:lnTo>
                  <a:pt x="2127047" y="838581"/>
                </a:lnTo>
                <a:lnTo>
                  <a:pt x="2115692" y="838581"/>
                </a:lnTo>
                <a:lnTo>
                  <a:pt x="2067278" y="819989"/>
                </a:lnTo>
                <a:close/>
              </a:path>
              <a:path w="2146935" h="856614">
                <a:moveTo>
                  <a:pt x="2094690" y="815518"/>
                </a:moveTo>
                <a:lnTo>
                  <a:pt x="2067278" y="819989"/>
                </a:lnTo>
                <a:lnTo>
                  <a:pt x="2115692" y="838581"/>
                </a:lnTo>
                <a:lnTo>
                  <a:pt x="2117348" y="834263"/>
                </a:lnTo>
                <a:lnTo>
                  <a:pt x="2109724" y="834263"/>
                </a:lnTo>
                <a:lnTo>
                  <a:pt x="2094690" y="815518"/>
                </a:lnTo>
                <a:close/>
              </a:path>
              <a:path w="2146935" h="856614">
                <a:moveTo>
                  <a:pt x="2057273" y="734060"/>
                </a:moveTo>
                <a:lnTo>
                  <a:pt x="2051177" y="738886"/>
                </a:lnTo>
                <a:lnTo>
                  <a:pt x="2045208" y="743712"/>
                </a:lnTo>
                <a:lnTo>
                  <a:pt x="2044191" y="752475"/>
                </a:lnTo>
                <a:lnTo>
                  <a:pt x="2049017" y="758571"/>
                </a:lnTo>
                <a:lnTo>
                  <a:pt x="2077288" y="793820"/>
                </a:lnTo>
                <a:lnTo>
                  <a:pt x="2125726" y="812419"/>
                </a:lnTo>
                <a:lnTo>
                  <a:pt x="2115692" y="838581"/>
                </a:lnTo>
                <a:lnTo>
                  <a:pt x="2127047" y="838581"/>
                </a:lnTo>
                <a:lnTo>
                  <a:pt x="2146554" y="835406"/>
                </a:lnTo>
                <a:lnTo>
                  <a:pt x="2066036" y="735076"/>
                </a:lnTo>
                <a:lnTo>
                  <a:pt x="2057273" y="734060"/>
                </a:lnTo>
                <a:close/>
              </a:path>
              <a:path w="2146935" h="856614">
                <a:moveTo>
                  <a:pt x="2118360" y="811657"/>
                </a:moveTo>
                <a:lnTo>
                  <a:pt x="2094690" y="815518"/>
                </a:lnTo>
                <a:lnTo>
                  <a:pt x="2109724" y="834263"/>
                </a:lnTo>
                <a:lnTo>
                  <a:pt x="2118360" y="811657"/>
                </a:lnTo>
                <a:close/>
              </a:path>
              <a:path w="2146935" h="856614">
                <a:moveTo>
                  <a:pt x="2123741" y="811657"/>
                </a:moveTo>
                <a:lnTo>
                  <a:pt x="2118360" y="811657"/>
                </a:lnTo>
                <a:lnTo>
                  <a:pt x="2109724" y="834263"/>
                </a:lnTo>
                <a:lnTo>
                  <a:pt x="2117348" y="834263"/>
                </a:lnTo>
                <a:lnTo>
                  <a:pt x="2125726" y="812419"/>
                </a:lnTo>
                <a:lnTo>
                  <a:pt x="2123741" y="811657"/>
                </a:lnTo>
                <a:close/>
              </a:path>
              <a:path w="2146935" h="856614">
                <a:moveTo>
                  <a:pt x="9906" y="0"/>
                </a:moveTo>
                <a:lnTo>
                  <a:pt x="0" y="26162"/>
                </a:lnTo>
                <a:lnTo>
                  <a:pt x="2067278" y="819989"/>
                </a:lnTo>
                <a:lnTo>
                  <a:pt x="2094690" y="815518"/>
                </a:lnTo>
                <a:lnTo>
                  <a:pt x="2077288" y="793820"/>
                </a:lnTo>
                <a:lnTo>
                  <a:pt x="9906" y="0"/>
                </a:lnTo>
                <a:close/>
              </a:path>
              <a:path w="2146935" h="856614">
                <a:moveTo>
                  <a:pt x="2077288" y="793820"/>
                </a:moveTo>
                <a:lnTo>
                  <a:pt x="2094690" y="815518"/>
                </a:lnTo>
                <a:lnTo>
                  <a:pt x="2118360" y="811657"/>
                </a:lnTo>
                <a:lnTo>
                  <a:pt x="2123741" y="811657"/>
                </a:lnTo>
                <a:lnTo>
                  <a:pt x="2077288" y="7938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890" y="1791451"/>
            <a:ext cx="2613942" cy="538051"/>
          </a:xfrm>
          <a:custGeom>
            <a:avLst/>
            <a:gdLst/>
            <a:ahLst/>
            <a:cxnLst/>
            <a:rect l="l" t="t" r="r" b="b"/>
            <a:pathLst>
              <a:path w="2235200" h="488314">
                <a:moveTo>
                  <a:pt x="2154036" y="444194"/>
                </a:moveTo>
                <a:lnTo>
                  <a:pt x="2111375" y="459105"/>
                </a:lnTo>
                <a:lnTo>
                  <a:pt x="2104009" y="461772"/>
                </a:lnTo>
                <a:lnTo>
                  <a:pt x="2100199" y="469646"/>
                </a:lnTo>
                <a:lnTo>
                  <a:pt x="2102739" y="477012"/>
                </a:lnTo>
                <a:lnTo>
                  <a:pt x="2105279" y="484250"/>
                </a:lnTo>
                <a:lnTo>
                  <a:pt x="2113279" y="488061"/>
                </a:lnTo>
                <a:lnTo>
                  <a:pt x="2210409" y="454025"/>
                </a:lnTo>
                <a:lnTo>
                  <a:pt x="2204847" y="454025"/>
                </a:lnTo>
                <a:lnTo>
                  <a:pt x="2154036" y="444194"/>
                </a:lnTo>
                <a:close/>
              </a:path>
              <a:path w="2235200" h="488314">
                <a:moveTo>
                  <a:pt x="2180380" y="434986"/>
                </a:moveTo>
                <a:lnTo>
                  <a:pt x="2154036" y="444194"/>
                </a:lnTo>
                <a:lnTo>
                  <a:pt x="2204847" y="454025"/>
                </a:lnTo>
                <a:lnTo>
                  <a:pt x="2205489" y="450723"/>
                </a:lnTo>
                <a:lnTo>
                  <a:pt x="2198369" y="450723"/>
                </a:lnTo>
                <a:lnTo>
                  <a:pt x="2180380" y="434986"/>
                </a:lnTo>
                <a:close/>
              </a:path>
              <a:path w="2235200" h="488314">
                <a:moveTo>
                  <a:pt x="2137917" y="360680"/>
                </a:moveTo>
                <a:lnTo>
                  <a:pt x="2129154" y="361315"/>
                </a:lnTo>
                <a:lnTo>
                  <a:pt x="2118994" y="372999"/>
                </a:lnTo>
                <a:lnTo>
                  <a:pt x="2119503" y="381762"/>
                </a:lnTo>
                <a:lnTo>
                  <a:pt x="2159598" y="416806"/>
                </a:lnTo>
                <a:lnTo>
                  <a:pt x="2210180" y="426593"/>
                </a:lnTo>
                <a:lnTo>
                  <a:pt x="2204847" y="454025"/>
                </a:lnTo>
                <a:lnTo>
                  <a:pt x="2210409" y="454025"/>
                </a:lnTo>
                <a:lnTo>
                  <a:pt x="2234691" y="445516"/>
                </a:lnTo>
                <a:lnTo>
                  <a:pt x="2143760" y="365887"/>
                </a:lnTo>
                <a:lnTo>
                  <a:pt x="2137917" y="360680"/>
                </a:lnTo>
                <a:close/>
              </a:path>
              <a:path w="2235200" h="488314">
                <a:moveTo>
                  <a:pt x="2202941" y="427100"/>
                </a:moveTo>
                <a:lnTo>
                  <a:pt x="2180380" y="434986"/>
                </a:lnTo>
                <a:lnTo>
                  <a:pt x="2198369" y="450723"/>
                </a:lnTo>
                <a:lnTo>
                  <a:pt x="2202941" y="427100"/>
                </a:lnTo>
                <a:close/>
              </a:path>
              <a:path w="2235200" h="488314">
                <a:moveTo>
                  <a:pt x="2210082" y="427100"/>
                </a:moveTo>
                <a:lnTo>
                  <a:pt x="2202941" y="427100"/>
                </a:lnTo>
                <a:lnTo>
                  <a:pt x="2198369" y="450723"/>
                </a:lnTo>
                <a:lnTo>
                  <a:pt x="2205489" y="450723"/>
                </a:lnTo>
                <a:lnTo>
                  <a:pt x="2210082" y="427100"/>
                </a:lnTo>
                <a:close/>
              </a:path>
              <a:path w="2235200" h="488314">
                <a:moveTo>
                  <a:pt x="5333" y="0"/>
                </a:moveTo>
                <a:lnTo>
                  <a:pt x="0" y="27432"/>
                </a:lnTo>
                <a:lnTo>
                  <a:pt x="2154036" y="444194"/>
                </a:lnTo>
                <a:lnTo>
                  <a:pt x="2180380" y="434986"/>
                </a:lnTo>
                <a:lnTo>
                  <a:pt x="2159598" y="416806"/>
                </a:lnTo>
                <a:lnTo>
                  <a:pt x="5333" y="0"/>
                </a:lnTo>
                <a:close/>
              </a:path>
              <a:path w="2235200" h="488314">
                <a:moveTo>
                  <a:pt x="2159598" y="416806"/>
                </a:moveTo>
                <a:lnTo>
                  <a:pt x="2180380" y="434986"/>
                </a:lnTo>
                <a:lnTo>
                  <a:pt x="2202941" y="427100"/>
                </a:lnTo>
                <a:lnTo>
                  <a:pt x="2210082" y="427100"/>
                </a:lnTo>
                <a:lnTo>
                  <a:pt x="2210180" y="426593"/>
                </a:lnTo>
                <a:lnTo>
                  <a:pt x="2159598" y="4168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258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321" y="1200643"/>
            <a:ext cx="6298710" cy="3777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marR="5793" indent="-588013"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Cada </a:t>
            </a:r>
            <a:r>
              <a:rPr sz="3400" dirty="0">
                <a:latin typeface="Arial"/>
                <a:cs typeface="Arial"/>
              </a:rPr>
              <a:t>campo de uma  </a:t>
            </a:r>
            <a:r>
              <a:rPr sz="3400" spc="-6" dirty="0">
                <a:latin typeface="Arial"/>
                <a:cs typeface="Arial"/>
              </a:rPr>
              <a:t>estrutura pode armazenar  </a:t>
            </a:r>
            <a:r>
              <a:rPr sz="3400" dirty="0">
                <a:latin typeface="Arial"/>
                <a:cs typeface="Arial"/>
              </a:rPr>
              <a:t>um </a:t>
            </a:r>
            <a:r>
              <a:rPr sz="3400" spc="-6" dirty="0">
                <a:latin typeface="Arial"/>
                <a:cs typeface="Arial"/>
              </a:rPr>
              <a:t>valor (como </a:t>
            </a:r>
            <a:r>
              <a:rPr sz="3400" dirty="0">
                <a:latin typeface="Arial"/>
                <a:cs typeface="Arial"/>
              </a:rPr>
              <a:t>uma  </a:t>
            </a:r>
            <a:r>
              <a:rPr sz="3400" spc="-6" dirty="0">
                <a:latin typeface="Arial"/>
                <a:cs typeface="Arial"/>
              </a:rPr>
              <a:t>variável). Seu valor pode ser  acessado, modificado,  impresso,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etc.</a:t>
            </a:r>
            <a:endParaRPr sz="3400">
              <a:latin typeface="Arial"/>
              <a:cs typeface="Arial"/>
            </a:endParaRPr>
          </a:p>
          <a:p>
            <a:pPr marL="602496" indent="-588013">
              <a:spcBef>
                <a:spcPts val="912"/>
              </a:spcBef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Campos são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acessados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17052" y="2350911"/>
            <a:ext cx="3282280" cy="2544022"/>
          </a:xfrm>
          <a:custGeom>
            <a:avLst/>
            <a:gdLst/>
            <a:ahLst/>
            <a:cxnLst/>
            <a:rect l="l" t="t" r="r" b="b"/>
            <a:pathLst>
              <a:path w="2806700" h="2308860">
                <a:moveTo>
                  <a:pt x="0" y="2308860"/>
                </a:moveTo>
                <a:lnTo>
                  <a:pt x="2806700" y="2308860"/>
                </a:lnTo>
                <a:lnTo>
                  <a:pt x="2806700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182" y="4894932"/>
          <a:ext cx="9941148" cy="2519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869"/>
                <a:gridCol w="348662"/>
                <a:gridCol w="2933617"/>
              </a:tblGrid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210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usando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operador</a:t>
                      </a:r>
                      <a:r>
                        <a:rPr sz="3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de</a:t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acesso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ponto </a:t>
                      </a:r>
                      <a:r>
                        <a:rPr sz="33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(.)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33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4151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dirty="0">
                          <a:latin typeface="Arial"/>
                          <a:cs typeface="Arial"/>
                        </a:rPr>
                        <a:t>nome da 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variável</a:t>
                      </a:r>
                      <a:r>
                        <a:rPr sz="33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" dirty="0">
                          <a:latin typeface="Arial"/>
                          <a:cs typeface="Arial"/>
                        </a:rPr>
                        <a:t>declarada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como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estrutura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 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nome</a:t>
                      </a:r>
                      <a:r>
                        <a:rPr sz="33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do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spc="-5" dirty="0">
                          <a:latin typeface="Arial"/>
                          <a:cs typeface="Arial"/>
                        </a:rPr>
                        <a:t>campo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.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7052" y="2350910"/>
            <a:ext cx="3411248" cy="2598114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15207" rIns="0" bIns="0" rtlCol="0">
            <a:spAutoFit/>
          </a:bodyPr>
          <a:lstStyle/>
          <a:p>
            <a:pPr marL="99209">
              <a:spcBef>
                <a:spcPts val="120"/>
              </a:spcBef>
            </a:pP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 dirty="0">
              <a:latin typeface="Courier New"/>
              <a:cs typeface="Courier New"/>
            </a:endParaRPr>
          </a:p>
          <a:p>
            <a:pPr marL="412044" marR="430147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412044">
              <a:lnSpc>
                <a:spcPts val="2463"/>
              </a:lnSpc>
            </a:pP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 dirty="0">
              <a:latin typeface="Courier New"/>
              <a:cs typeface="Courier New"/>
            </a:endParaRPr>
          </a:p>
          <a:p>
            <a:pPr marL="41204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174277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749" y="1063227"/>
            <a:ext cx="9632227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</a:t>
            </a:r>
            <a:r>
              <a:rPr sz="3000" spc="-11" dirty="0">
                <a:latin typeface="Arial"/>
                <a:cs typeface="Arial"/>
              </a:rPr>
              <a:t>programa </a:t>
            </a:r>
            <a:r>
              <a:rPr sz="3000" spc="-6" dirty="0">
                <a:latin typeface="Arial"/>
                <a:cs typeface="Arial"/>
              </a:rPr>
              <a:t>são criadas duas variáveis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535874" marR="5793" indent="-521391">
              <a:lnSpc>
                <a:spcPts val="3330"/>
              </a:lnSpc>
              <a:spcBef>
                <a:spcPts val="758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Cada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variável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b="1" spc="-941" dirty="0"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(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b="1" spc="-96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e</a:t>
            </a:r>
            <a:r>
              <a:rPr sz="3000" spc="6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a2</a:t>
            </a:r>
            <a:r>
              <a:rPr sz="3000" spc="-6" dirty="0">
                <a:latin typeface="Arial"/>
                <a:cs typeface="Arial"/>
              </a:rPr>
              <a:t>)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tem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1" dirty="0">
                <a:latin typeface="Arial"/>
                <a:cs typeface="Arial"/>
              </a:rPr>
              <a:t>nome,</a:t>
            </a:r>
            <a:r>
              <a:rPr sz="3000" spc="29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matricula,  idade, cidade e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sexo.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5749" y="2440469"/>
            <a:ext cx="4096909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uso </a:t>
            </a:r>
            <a:r>
              <a:rPr sz="3000" dirty="0">
                <a:latin typeface="Arial"/>
                <a:cs typeface="Arial"/>
              </a:rPr>
              <a:t>de</a:t>
            </a:r>
            <a:r>
              <a:rPr sz="3000" spc="-63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C00000"/>
                </a:solidFill>
                <a:latin typeface="Courier New"/>
                <a:cs typeface="Courier New"/>
              </a:rPr>
              <a:t>a1.idade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8061" y="2440469"/>
            <a:ext cx="53140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permite acessar </a:t>
            </a:r>
            <a:r>
              <a:rPr sz="3000" dirty="0">
                <a:latin typeface="Arial"/>
                <a:cs typeface="Arial"/>
              </a:rPr>
              <a:t>ou </a:t>
            </a:r>
            <a:r>
              <a:rPr sz="3000" spc="-6" dirty="0">
                <a:latin typeface="Arial"/>
                <a:cs typeface="Arial"/>
              </a:rPr>
              <a:t>modificar</a:t>
            </a:r>
            <a:r>
              <a:rPr sz="3000" spc="3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420" y="2832568"/>
            <a:ext cx="5114267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campo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idade</a:t>
            </a:r>
            <a:r>
              <a:rPr sz="3000" b="1" spc="-929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da variável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4399" y="3845418"/>
            <a:ext cx="5994245" cy="299634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>
              <a:lnSpc>
                <a:spcPts val="2167"/>
              </a:lnSpc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>
              <a:lnSpc>
                <a:spcPts val="2440"/>
              </a:lnSpc>
            </a:pPr>
            <a:r>
              <a:rPr spc="-6" dirty="0">
                <a:latin typeface="Courier New"/>
                <a:cs typeface="Courier New"/>
              </a:rPr>
              <a:t>Aluno </a:t>
            </a:r>
            <a:r>
              <a:rPr sz="2100" b="1" dirty="0">
                <a:latin typeface="Courier New"/>
                <a:cs typeface="Courier New"/>
              </a:rPr>
              <a:t>a1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b="1"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b="1" spc="-6" dirty="0">
                <a:latin typeface="Courier New"/>
                <a:cs typeface="Courier New"/>
              </a:rPr>
              <a:t>a1</a:t>
            </a:r>
            <a:r>
              <a:rPr sz="21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z="2100" b="1" spc="-11" dirty="0">
                <a:latin typeface="Courier New"/>
                <a:cs typeface="Courier New"/>
              </a:rPr>
              <a:t>a1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idade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pc="-2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"Matricula %d"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100" b="1" spc="-11" dirty="0">
                <a:latin typeface="Courier New"/>
                <a:cs typeface="Courier New"/>
              </a:rPr>
              <a:t>a2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matricula</a:t>
            </a:r>
            <a:r>
              <a:rPr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>
              <a:spcBef>
                <a:spcPts val="46"/>
              </a:spcBef>
            </a:pP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BDBDE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67" y="4175665"/>
            <a:ext cx="4099137" cy="200107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4759" rIns="0" bIns="0" rtlCol="0">
            <a:spAutoFit/>
          </a:bodyPr>
          <a:lstStyle/>
          <a:p>
            <a:pPr marL="97761">
              <a:spcBef>
                <a:spcPts val="274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 marR="1813282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1600" spc="-6" dirty="0">
                <a:latin typeface="Courier New"/>
                <a:cs typeface="Courier New"/>
              </a:rPr>
              <a:t>nome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11" dirty="0">
                <a:latin typeface="Courier New"/>
                <a:cs typeface="Courier New"/>
              </a:rPr>
              <a:t>matricula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idade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cidade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sexo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7761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81783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041398"/>
            <a:ext cx="3860019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Neste </a:t>
            </a:r>
            <a:r>
              <a:rPr sz="3200" dirty="0">
                <a:latin typeface="Arial"/>
                <a:cs typeface="Arial"/>
              </a:rPr>
              <a:t>exemplo,  serão </a:t>
            </a:r>
            <a:r>
              <a:rPr sz="3200" spc="-6" dirty="0">
                <a:latin typeface="Arial"/>
                <a:cs typeface="Arial"/>
              </a:rPr>
              <a:t>lidos  </a:t>
            </a:r>
            <a:r>
              <a:rPr sz="3200" dirty="0">
                <a:latin typeface="Arial"/>
                <a:cs typeface="Arial"/>
              </a:rPr>
              <a:t>matrícula </a:t>
            </a:r>
            <a:r>
              <a:rPr sz="3200" spc="-6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nome 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funcionário.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349250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6287" y="953938"/>
            <a:ext cx="5200408" cy="637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300" spc="-86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Funcionario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endParaRPr sz="2300">
              <a:latin typeface="Times New Roman"/>
              <a:cs typeface="Times New Roman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 marR="700257"/>
            <a:r>
              <a:rPr sz="2300" spc="-6" dirty="0">
                <a:latin typeface="Courier New"/>
                <a:cs typeface="Courier New"/>
              </a:rPr>
              <a:t>Funcionario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 marR="5793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"Informacoes lidas:"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"%d\n"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6287" y="7006905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123693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204405"/>
            <a:ext cx="9835700" cy="6311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084" marR="310662" indent="-683601">
              <a:lnSpc>
                <a:spcPct val="94900"/>
              </a:lnSpc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para representar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de  um cartão de </a:t>
            </a:r>
            <a:r>
              <a:rPr sz="2700" dirty="0">
                <a:latin typeface="Arial"/>
                <a:cs typeface="Arial"/>
              </a:rPr>
              <a:t>crédito. </a:t>
            </a:r>
            <a:r>
              <a:rPr sz="2700" spc="-6" dirty="0">
                <a:latin typeface="Arial"/>
                <a:cs typeface="Arial"/>
              </a:rPr>
              <a:t>Você </a:t>
            </a:r>
            <a:r>
              <a:rPr sz="2700" dirty="0">
                <a:latin typeface="Arial"/>
                <a:cs typeface="Arial"/>
              </a:rPr>
              <a:t>precisa apenas criar </a:t>
            </a:r>
            <a:r>
              <a:rPr sz="2700" spc="-6" dirty="0">
                <a:latin typeface="Arial"/>
                <a:cs typeface="Arial"/>
              </a:rPr>
              <a:t>a 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com </a:t>
            </a:r>
            <a:r>
              <a:rPr sz="2700" dirty="0">
                <a:latin typeface="Arial"/>
                <a:cs typeface="Arial"/>
              </a:rPr>
              <a:t>os dados </a:t>
            </a:r>
            <a:r>
              <a:rPr sz="2700" spc="-6" dirty="0">
                <a:latin typeface="Arial"/>
                <a:cs typeface="Arial"/>
              </a:rPr>
              <a:t>e tipos </a:t>
            </a:r>
            <a:r>
              <a:rPr sz="2700" dirty="0">
                <a:latin typeface="Arial"/>
                <a:cs typeface="Arial"/>
              </a:rPr>
              <a:t>apropriados. Não </a:t>
            </a:r>
            <a:r>
              <a:rPr sz="2700" spc="-6" dirty="0">
                <a:latin typeface="Arial"/>
                <a:cs typeface="Arial"/>
              </a:rPr>
              <a:t>é  </a:t>
            </a:r>
            <a:r>
              <a:rPr sz="2700" dirty="0">
                <a:latin typeface="Arial"/>
                <a:cs typeface="Arial"/>
              </a:rPr>
              <a:t>necessário criar um programa para</a:t>
            </a:r>
            <a:r>
              <a:rPr sz="2700" spc="-5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utilizá-la.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733"/>
              </a:spcBef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chamada </a:t>
            </a:r>
            <a:r>
              <a:rPr sz="2700" spc="-6" dirty="0">
                <a:latin typeface="Courier New"/>
                <a:cs typeface="Courier New"/>
              </a:rPr>
              <a:t>medidas</a:t>
            </a:r>
            <a:r>
              <a:rPr sz="2700" spc="-981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para representar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o peso a altura de uma</a:t>
            </a:r>
            <a:r>
              <a:rPr sz="2700" spc="-1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pessoa.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869"/>
              </a:spcBef>
              <a:buClr>
                <a:srgbClr val="C5000A"/>
              </a:buClr>
              <a:buAutoNum type="arabicParenR" startAt="3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Considerando </a:t>
            </a:r>
            <a:r>
              <a:rPr sz="2700" spc="-6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do exercício (2) e a </a:t>
            </a:r>
            <a:r>
              <a:rPr sz="2700" dirty="0">
                <a:latin typeface="Arial"/>
                <a:cs typeface="Arial"/>
              </a:rPr>
              <a:t>declaração:</a:t>
            </a:r>
            <a:endParaRPr sz="2700">
              <a:latin typeface="Arial"/>
              <a:cs typeface="Arial"/>
            </a:endParaRPr>
          </a:p>
          <a:p>
            <a:pPr marL="2309326">
              <a:spcBef>
                <a:spcPts val="319"/>
              </a:spcBef>
            </a:pPr>
            <a:r>
              <a:rPr sz="2700" spc="-11" dirty="0">
                <a:latin typeface="Courier New"/>
                <a:cs typeface="Courier New"/>
              </a:rPr>
              <a:t>medidas </a:t>
            </a:r>
            <a:r>
              <a:rPr sz="2700" spc="-6" dirty="0">
                <a:latin typeface="Courier New"/>
                <a:cs typeface="Courier New"/>
              </a:rPr>
              <a:t>joao,</a:t>
            </a:r>
            <a:r>
              <a:rPr sz="2700" spc="-86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maria;</a:t>
            </a:r>
            <a:endParaRPr sz="2700">
              <a:latin typeface="Courier New"/>
              <a:cs typeface="Courier New"/>
            </a:endParaRPr>
          </a:p>
          <a:p>
            <a:pPr marL="399009">
              <a:lnSpc>
                <a:spcPts val="3205"/>
              </a:lnSpc>
              <a:spcBef>
                <a:spcPts val="570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</a:t>
            </a:r>
            <a:r>
              <a:rPr sz="2700" dirty="0">
                <a:latin typeface="Arial"/>
                <a:cs typeface="Arial"/>
              </a:rPr>
              <a:t>instruções para atribuir: </a:t>
            </a:r>
            <a:r>
              <a:rPr sz="2700" spc="-6" dirty="0">
                <a:latin typeface="Arial"/>
                <a:cs typeface="Arial"/>
              </a:rPr>
              <a:t>1.78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</a:t>
            </a:r>
            <a:r>
              <a:rPr sz="2700" spc="29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</a:t>
            </a:r>
            <a:endParaRPr sz="2700">
              <a:latin typeface="Arial"/>
              <a:cs typeface="Arial"/>
            </a:endParaRPr>
          </a:p>
          <a:p>
            <a:pPr marL="782086" marR="5793">
              <a:lnSpc>
                <a:spcPts val="3125"/>
              </a:lnSpc>
              <a:spcBef>
                <a:spcPts val="154"/>
              </a:spcBef>
            </a:pPr>
            <a:r>
              <a:rPr sz="2700" spc="-6" dirty="0">
                <a:latin typeface="Arial"/>
                <a:cs typeface="Arial"/>
              </a:rPr>
              <a:t>1.64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; 75 ao peso de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 59 ao peso  </a:t>
            </a:r>
            <a:r>
              <a:rPr sz="2700" dirty="0">
                <a:latin typeface="Arial"/>
                <a:cs typeface="Arial"/>
              </a:rPr>
              <a:t>de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793673" marR="918951" indent="-394664">
              <a:lnSpc>
                <a:spcPct val="92400"/>
              </a:lnSpc>
              <a:spcBef>
                <a:spcPts val="855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um </a:t>
            </a:r>
            <a:r>
              <a:rPr sz="2700" dirty="0">
                <a:latin typeface="Arial"/>
                <a:cs typeface="Arial"/>
              </a:rPr>
              <a:t>conjunto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instruções para </a:t>
            </a:r>
            <a:r>
              <a:rPr sz="2700" spc="-6" dirty="0">
                <a:latin typeface="Arial"/>
                <a:cs typeface="Arial"/>
              </a:rPr>
              <a:t>imprimir a  </a:t>
            </a:r>
            <a:r>
              <a:rPr sz="2700" dirty="0">
                <a:latin typeface="Arial"/>
                <a:cs typeface="Arial"/>
              </a:rPr>
              <a:t>média das alturas </a:t>
            </a:r>
            <a:r>
              <a:rPr sz="2700" spc="-6" dirty="0">
                <a:latin typeface="Arial"/>
                <a:cs typeface="Arial"/>
              </a:rPr>
              <a:t>e a </a:t>
            </a:r>
            <a:r>
              <a:rPr sz="2700" dirty="0">
                <a:latin typeface="Arial"/>
                <a:cs typeface="Arial"/>
              </a:rPr>
              <a:t>média dos pesos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joao </a:t>
            </a:r>
            <a:r>
              <a:rPr sz="2700" spc="-6" dirty="0">
                <a:latin typeface="Arial"/>
                <a:cs typeface="Arial"/>
              </a:rPr>
              <a:t>e 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4852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091" y="1093874"/>
            <a:ext cx="871289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60" marR="5793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uma estrutura onde </a:t>
            </a:r>
            <a:r>
              <a:rPr sz="3200" spc="-6" dirty="0">
                <a:latin typeface="Arial"/>
                <a:cs typeface="Arial"/>
              </a:rPr>
              <a:t>um de seus  </a:t>
            </a:r>
            <a:r>
              <a:rPr sz="3200" dirty="0">
                <a:latin typeface="Arial"/>
                <a:cs typeface="Arial"/>
              </a:rPr>
              <a:t>campos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outra</a:t>
            </a:r>
            <a:r>
              <a:rPr sz="3200" spc="-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761" y="6686103"/>
            <a:ext cx="5726910" cy="38615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6656" rIns="0" bIns="0" rtlCol="0">
            <a:spAutoFit/>
          </a:bodyPr>
          <a:lstStyle/>
          <a:p>
            <a:pPr marL="109347">
              <a:spcBef>
                <a:spcPts val="131"/>
              </a:spcBef>
            </a:pPr>
            <a:r>
              <a:rPr sz="2400" b="1" spc="-6" dirty="0">
                <a:latin typeface="Courier New"/>
                <a:cs typeface="Courier New"/>
              </a:rPr>
              <a:t>ficha_pessoal </a:t>
            </a:r>
            <a:r>
              <a:rPr sz="2400" spc="-6" dirty="0">
                <a:latin typeface="Courier New"/>
                <a:cs typeface="Courier New"/>
              </a:rPr>
              <a:t>ficha1</a:t>
            </a:r>
            <a:r>
              <a:rPr sz="24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spc="-4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ficha2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5" name="object 5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2598" y="2240363"/>
            <a:ext cx="1069340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6440" y="2240363"/>
            <a:ext cx="1247563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6870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887" y="2912331"/>
            <a:ext cx="249586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8985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idade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948" y="3584439"/>
            <a:ext cx="9131718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/>
            <a:r>
              <a:rPr sz="2300" spc="-6" dirty="0">
                <a:latin typeface="Courier New"/>
                <a:cs typeface="Courier New"/>
              </a:rPr>
              <a:t>endereco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end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220867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ficha_pessoal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900">
              <a:latin typeface="Times New Roman"/>
              <a:cs typeface="Times New Roman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Repare </a:t>
            </a:r>
            <a:r>
              <a:rPr sz="3200" spc="-6" dirty="0">
                <a:latin typeface="Arial"/>
                <a:cs typeface="Arial"/>
              </a:rPr>
              <a:t>que um </a:t>
            </a:r>
            <a:r>
              <a:rPr sz="3200" dirty="0">
                <a:latin typeface="Arial"/>
                <a:cs typeface="Arial"/>
              </a:rPr>
              <a:t>campo do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endereco</a:t>
            </a:r>
            <a:r>
              <a:rPr sz="3200" b="1" spc="-103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declarado dentro de</a:t>
            </a:r>
            <a:r>
              <a:rPr sz="3200" spc="-17" dirty="0">
                <a:latin typeface="Arial"/>
                <a:cs typeface="Arial"/>
              </a:rPr>
              <a:t>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ficha_pessoal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376560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 </a:t>
            </a:r>
            <a:r>
              <a:rPr sz="3200" dirty="0">
                <a:latin typeface="Arial"/>
                <a:cs typeface="Arial"/>
              </a:rPr>
              <a:t>de variáveis do tipo definido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acima: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393652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104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7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2904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105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22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64441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106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42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8" y="5677171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2999812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99812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9132" y="39647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9647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 dirty="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 dirty="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 dirty="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 dirty="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0909" y="5435412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30909" y="5435412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9133" y="5418584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9132" y="64793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9132" y="647932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87356" y="6437809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 err="1" smtClean="0">
                <a:latin typeface="Courier New"/>
                <a:cs typeface="Courier New"/>
              </a:rPr>
              <a:t>dia</a:t>
            </a:r>
            <a:endParaRPr sz="2700" dirty="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716580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 dirty="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75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7" y="5677171"/>
            <a:ext cx="4635292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673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408" y="805746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1492" y="198148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08" y="1981482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17" y="2317327"/>
            <a:ext cx="3239209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408" y="2989295"/>
            <a:ext cx="252631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492" y="3493481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08" y="3493481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417" y="3829326"/>
            <a:ext cx="1991646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1278" y="4501435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ma</a:t>
            </a:r>
            <a:r>
              <a:rPr sz="2300" dirty="0">
                <a:latin typeface="Courier New"/>
                <a:cs typeface="Courier New"/>
              </a:rPr>
              <a:t>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408" y="4501434"/>
            <a:ext cx="2347350" cy="703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spc="-6" dirty="0">
                <a:latin typeface="Courier New"/>
                <a:cs typeface="Courier New"/>
              </a:rPr>
              <a:t>Responsavel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08" y="5341327"/>
            <a:ext cx="216986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25" y="5677170"/>
            <a:ext cx="466499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226" y="6685053"/>
            <a:ext cx="5913302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mae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ano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1975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"%s"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pai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0713" y="823238"/>
            <a:ext cx="2172097" cy="75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09431" y="1541296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0416" y="2497843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mae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9133" y="2877767"/>
            <a:ext cx="2168384" cy="108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 marR="5793">
              <a:lnSpc>
                <a:spcPts val="2646"/>
              </a:lnSpc>
              <a:spcBef>
                <a:spcPts val="290"/>
              </a:spcBef>
            </a:pPr>
            <a:r>
              <a:rPr sz="2700" b="1" spc="-6" dirty="0">
                <a:latin typeface="Courier New"/>
                <a:cs typeface="Courier New"/>
              </a:rPr>
              <a:t>cpf  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7356" y="3922013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0416" y="4902350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87356" y="6326450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23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4" y="1203443"/>
            <a:ext cx="8989139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Em alguns casos </a:t>
            </a:r>
            <a:r>
              <a:rPr sz="2700" spc="-6" dirty="0">
                <a:latin typeface="Arial"/>
                <a:cs typeface="Arial"/>
              </a:rPr>
              <a:t>o tipo </a:t>
            </a:r>
            <a:r>
              <a:rPr sz="2700" dirty="0">
                <a:latin typeface="Arial"/>
                <a:cs typeface="Arial"/>
              </a:rPr>
              <a:t>estrutura possui </a:t>
            </a:r>
            <a:r>
              <a:rPr sz="2700" spc="-6" dirty="0">
                <a:latin typeface="Arial"/>
                <a:cs typeface="Arial"/>
              </a:rPr>
              <a:t>vetores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como  um </a:t>
            </a:r>
            <a:r>
              <a:rPr sz="2700" dirty="0">
                <a:latin typeface="Arial"/>
                <a:cs typeface="Arial"/>
              </a:rPr>
              <a:t>dos seus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campos.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8262" y="5011079"/>
            <a:ext cx="736433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</a:t>
            </a:r>
            <a:r>
              <a:rPr sz="2700" spc="-6" dirty="0">
                <a:latin typeface="Arial"/>
                <a:cs typeface="Arial"/>
              </a:rPr>
              <a:t>acesso a </a:t>
            </a:r>
            <a:r>
              <a:rPr sz="2700" dirty="0">
                <a:latin typeface="Arial"/>
                <a:cs typeface="Arial"/>
              </a:rPr>
              <a:t>estes campos </a:t>
            </a:r>
            <a:r>
              <a:rPr sz="2700" spc="-6" dirty="0">
                <a:latin typeface="Arial"/>
                <a:cs typeface="Arial"/>
              </a:rPr>
              <a:t>é feito da</a:t>
            </a:r>
            <a:r>
              <a:rPr sz="2700" spc="-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mesma  maneira </a:t>
            </a:r>
            <a:r>
              <a:rPr sz="2700" spc="-6" dirty="0">
                <a:latin typeface="Arial"/>
                <a:cs typeface="Arial"/>
              </a:rPr>
              <a:t>como </a:t>
            </a:r>
            <a:r>
              <a:rPr sz="2700" dirty="0">
                <a:latin typeface="Arial"/>
                <a:cs typeface="Arial"/>
              </a:rPr>
              <a:t>acesso direto </a:t>
            </a:r>
            <a:r>
              <a:rPr sz="2700" spc="-6" dirty="0">
                <a:latin typeface="Arial"/>
                <a:cs typeface="Arial"/>
              </a:rPr>
              <a:t>a um</a:t>
            </a:r>
            <a:r>
              <a:rPr sz="2700" spc="-51" dirty="0">
                <a:latin typeface="Arial"/>
                <a:cs typeface="Arial"/>
              </a:rPr>
              <a:t> </a:t>
            </a:r>
            <a:r>
              <a:rPr sz="2700" spc="-34" dirty="0">
                <a:latin typeface="Arial"/>
                <a:cs typeface="Arial"/>
              </a:rPr>
              <a:t>vetor.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com</a:t>
            </a:r>
            <a:r>
              <a:rPr spc="-46" dirty="0"/>
              <a:t> </a:t>
            </a:r>
            <a:r>
              <a:rPr spc="-6" dirty="0"/>
              <a:t>vetor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2671" y="2269748"/>
            <a:ext cx="3635756" cy="179956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 marL="9920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99209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Dados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3" y="6000420"/>
            <a:ext cx="5795229" cy="111948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933" marR="1184716">
              <a:lnSpc>
                <a:spcPct val="100899"/>
              </a:lnSpc>
              <a:spcBef>
                <a:spcPts val="125"/>
              </a:spcBef>
            </a:pPr>
            <a:r>
              <a:rPr sz="2300" spc="-6" dirty="0">
                <a:latin typeface="Courier New"/>
                <a:cs typeface="Courier New"/>
              </a:rPr>
              <a:t>Dados 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86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521796"/>
            <a:ext cx="9113153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98084" algn="l"/>
              </a:tabLst>
            </a:pPr>
            <a:r>
              <a:rPr sz="2700" dirty="0">
                <a:solidFill>
                  <a:srgbClr val="C5000A"/>
                </a:solidFill>
                <a:latin typeface="Arial"/>
                <a:cs typeface="Arial"/>
              </a:rPr>
              <a:t>4)	</a:t>
            </a:r>
            <a:r>
              <a:rPr sz="2700" spc="-6" dirty="0">
                <a:latin typeface="Arial"/>
                <a:cs typeface="Arial"/>
              </a:rPr>
              <a:t>Faça </a:t>
            </a:r>
            <a:r>
              <a:rPr sz="2700" dirty="0">
                <a:latin typeface="Arial"/>
                <a:cs typeface="Arial"/>
              </a:rPr>
              <a:t>um programa </a:t>
            </a:r>
            <a:r>
              <a:rPr sz="2700" spc="-6" dirty="0">
                <a:latin typeface="Arial"/>
                <a:cs typeface="Arial"/>
              </a:rPr>
              <a:t>(função </a:t>
            </a:r>
            <a:r>
              <a:rPr sz="2700" dirty="0">
                <a:latin typeface="Arial"/>
                <a:cs typeface="Arial"/>
              </a:rPr>
              <a:t>principal) para leitura,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spc="-11" dirty="0">
                <a:latin typeface="Arial"/>
                <a:cs typeface="Arial"/>
              </a:rPr>
              <a:t>via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teclado, dos dados </a:t>
            </a:r>
            <a:r>
              <a:rPr sz="2700" spc="-6" dirty="0">
                <a:latin typeface="Arial"/>
                <a:cs typeface="Arial"/>
              </a:rPr>
              <a:t>de um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atleta.</a:t>
            </a:r>
            <a:endParaRPr sz="2700">
              <a:latin typeface="Arial"/>
              <a:cs typeface="Arial"/>
            </a:endParaRPr>
          </a:p>
          <a:p>
            <a:pPr marL="698084" marR="41277"/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dados a serem guardados na estrutura atleta</a:t>
            </a:r>
            <a:r>
              <a:rPr sz="2700" spc="-10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são  </a:t>
            </a:r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seguintes: nome, medidas (estrutura definida </a:t>
            </a:r>
            <a:r>
              <a:rPr sz="2700" spc="-6" dirty="0">
                <a:latin typeface="Arial"/>
                <a:cs typeface="Arial"/>
              </a:rPr>
              <a:t>no  exercício </a:t>
            </a:r>
            <a:r>
              <a:rPr sz="2700" dirty="0">
                <a:latin typeface="Arial"/>
                <a:cs typeface="Arial"/>
              </a:rPr>
              <a:t>2), esporte praticado e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idade.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spc="-6" dirty="0">
                <a:latin typeface="Arial"/>
                <a:cs typeface="Arial"/>
              </a:rPr>
              <a:t>Ao final, imprima </a:t>
            </a:r>
            <a:r>
              <a:rPr sz="2700" dirty="0">
                <a:latin typeface="Arial"/>
                <a:cs typeface="Arial"/>
              </a:rPr>
              <a:t>estas informações </a:t>
            </a:r>
            <a:r>
              <a:rPr sz="2700" spc="-6" dirty="0">
                <a:latin typeface="Arial"/>
                <a:cs typeface="Arial"/>
              </a:rPr>
              <a:t>na</a:t>
            </a:r>
            <a:r>
              <a:rPr sz="2700" spc="-2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tela.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03320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380" y="1203443"/>
            <a:ext cx="9208947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das </a:t>
            </a:r>
            <a:r>
              <a:rPr sz="2700" spc="-6" dirty="0">
                <a:latin typeface="Arial"/>
                <a:cs typeface="Arial"/>
              </a:rPr>
              <a:t>vantagens ao utilizarmos </a:t>
            </a:r>
            <a:r>
              <a:rPr sz="2700" dirty="0">
                <a:latin typeface="Arial"/>
                <a:cs typeface="Arial"/>
              </a:rPr>
              <a:t>estruturas </a:t>
            </a:r>
            <a:r>
              <a:rPr sz="2700" spc="-6" dirty="0">
                <a:latin typeface="Arial"/>
                <a:cs typeface="Arial"/>
              </a:rPr>
              <a:t>é a  </a:t>
            </a:r>
            <a:r>
              <a:rPr sz="2700" dirty="0">
                <a:latin typeface="Arial"/>
                <a:cs typeface="Arial"/>
              </a:rPr>
              <a:t>possibilidade </a:t>
            </a:r>
            <a:r>
              <a:rPr sz="2700" spc="-6" dirty="0">
                <a:latin typeface="Arial"/>
                <a:cs typeface="Arial"/>
              </a:rPr>
              <a:t>de copiarmos toda a </a:t>
            </a:r>
            <a:r>
              <a:rPr sz="2700" dirty="0">
                <a:latin typeface="Arial"/>
                <a:cs typeface="Arial"/>
              </a:rPr>
              <a:t>informação </a:t>
            </a:r>
            <a:r>
              <a:rPr sz="2700" spc="-6" dirty="0">
                <a:latin typeface="Arial"/>
                <a:cs typeface="Arial"/>
              </a:rPr>
              <a:t>de uma  estrutura para outra do </a:t>
            </a:r>
            <a:r>
              <a:rPr sz="2700" dirty="0">
                <a:latin typeface="Arial"/>
                <a:cs typeface="Arial"/>
              </a:rPr>
              <a:t>mesmo </a:t>
            </a:r>
            <a:r>
              <a:rPr sz="2700" spc="-6" dirty="0">
                <a:latin typeface="Arial"/>
                <a:cs typeface="Arial"/>
              </a:rPr>
              <a:t>tipo com uma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atribuição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383" y="2412763"/>
            <a:ext cx="134038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latin typeface="Arial"/>
                <a:cs typeface="Arial"/>
              </a:rPr>
              <a:t>simpl</a:t>
            </a:r>
            <a:r>
              <a:rPr sz="2700" spc="6" dirty="0">
                <a:latin typeface="Arial"/>
                <a:cs typeface="Arial"/>
              </a:rPr>
              <a:t>e</a:t>
            </a:r>
            <a:r>
              <a:rPr sz="2700" dirty="0">
                <a:latin typeface="Arial"/>
                <a:cs typeface="Arial"/>
              </a:rPr>
              <a:t>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244" y="2599996"/>
            <a:ext cx="7595284" cy="5005318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931" rIns="0" bIns="0" rtlCol="0">
            <a:spAutoFit/>
          </a:bodyPr>
          <a:lstStyle/>
          <a:p>
            <a:pPr marL="99933">
              <a:spcBef>
                <a:spcPts val="290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7527">
              <a:tabLst>
                <a:tab pos="1142715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Coordenadas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993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main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Coordenadas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30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segunda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>
              <a:tabLst>
                <a:tab pos="2533091" algn="l"/>
              </a:tabLst>
            </a:pP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	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Atribuição de</a:t>
            </a:r>
            <a:r>
              <a:rPr spc="-91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871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864" y="6312477"/>
            <a:ext cx="966787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Desenvolver </a:t>
            </a:r>
            <a:r>
              <a:rPr sz="3000" dirty="0">
                <a:latin typeface="Arial"/>
                <a:cs typeface="Arial"/>
              </a:rPr>
              <a:t>um </a:t>
            </a:r>
            <a:r>
              <a:rPr sz="3000" spc="-6" dirty="0">
                <a:latin typeface="Arial"/>
                <a:cs typeface="Arial"/>
              </a:rPr>
              <a:t>algoritmo para ler e imprimir o nome  e as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de um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aluno.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2863" y="1278308"/>
            <a:ext cx="9070082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Considere </a:t>
            </a:r>
            <a:r>
              <a:rPr sz="3000" dirty="0">
                <a:latin typeface="Arial"/>
                <a:cs typeface="Arial"/>
              </a:rPr>
              <a:t>as </a:t>
            </a:r>
            <a:r>
              <a:rPr sz="3000" spc="-6" dirty="0">
                <a:latin typeface="Arial"/>
                <a:cs typeface="Arial"/>
              </a:rPr>
              <a:t>informações </a:t>
            </a:r>
            <a:r>
              <a:rPr sz="3000" dirty="0">
                <a:latin typeface="Arial"/>
                <a:cs typeface="Arial"/>
              </a:rPr>
              <a:t>de um </a:t>
            </a:r>
            <a:r>
              <a:rPr sz="3000" spc="-6" dirty="0">
                <a:latin typeface="Arial"/>
                <a:cs typeface="Arial"/>
              </a:rPr>
              <a:t>aluno que tem  </a:t>
            </a:r>
            <a:r>
              <a:rPr sz="3000" dirty="0">
                <a:latin typeface="Arial"/>
                <a:cs typeface="Arial"/>
              </a:rPr>
              <a:t>NOME </a:t>
            </a:r>
            <a:r>
              <a:rPr sz="3000" spc="-6" dirty="0">
                <a:latin typeface="Arial"/>
                <a:cs typeface="Arial"/>
              </a:rPr>
              <a:t>e 4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como campos de uma estrutura;  </a:t>
            </a:r>
            <a:r>
              <a:rPr sz="3000" dirty="0">
                <a:latin typeface="Arial"/>
                <a:cs typeface="Arial"/>
              </a:rPr>
              <a:t>veja </a:t>
            </a:r>
            <a:r>
              <a:rPr sz="3000" i="1" spc="-6" dirty="0">
                <a:latin typeface="Arial"/>
                <a:cs typeface="Arial"/>
              </a:rPr>
              <a:t>layout</a:t>
            </a:r>
            <a:r>
              <a:rPr sz="3000" i="1" spc="-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abaixo.</a:t>
            </a:r>
            <a:endParaRPr sz="3000">
              <a:latin typeface="Arial"/>
              <a:cs typeface="Arial"/>
            </a:endParaRPr>
          </a:p>
          <a:p>
            <a:pPr>
              <a:spcBef>
                <a:spcPts val="29"/>
              </a:spcBef>
            </a:pPr>
            <a:endParaRPr sz="3300">
              <a:latin typeface="Times New Roman"/>
              <a:cs typeface="Times New Roman"/>
            </a:endParaRPr>
          </a:p>
          <a:p>
            <a:pPr marL="1668451"/>
            <a:r>
              <a:rPr sz="2300" dirty="0">
                <a:latin typeface="Arial"/>
                <a:cs typeface="Arial"/>
              </a:rPr>
              <a:t>Cadastro de notas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  <a:p>
            <a:pPr marL="1668451">
              <a:spcBef>
                <a:spcPts val="1483"/>
              </a:spcBef>
              <a:tabLst>
                <a:tab pos="6626009" algn="l"/>
              </a:tabLst>
            </a:pPr>
            <a:r>
              <a:rPr sz="2300" dirty="0">
                <a:latin typeface="Arial"/>
                <a:cs typeface="Arial"/>
              </a:rPr>
              <a:t>Nome: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75810" y="3876205"/>
          <a:ext cx="6570204" cy="194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40"/>
                <a:gridCol w="1641140"/>
                <a:gridCol w="1646784"/>
                <a:gridCol w="1641140"/>
              </a:tblGrid>
              <a:tr h="71003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Notas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1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3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4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841"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3073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786" y="1468620"/>
            <a:ext cx="6133110" cy="293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8750"/>
              <a:buChar char="•"/>
              <a:tabLst>
                <a:tab pos="535874" algn="l"/>
                <a:tab pos="536597" algn="l"/>
              </a:tabLst>
            </a:pPr>
            <a:r>
              <a:rPr sz="3600" spc="-6" dirty="0">
                <a:latin typeface="Arial"/>
                <a:cs typeface="Arial"/>
              </a:rPr>
              <a:t>Ideia básica do algoritmo</a:t>
            </a:r>
            <a:r>
              <a:rPr sz="3600" spc="-51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Ler os dados de um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Imprimir </a:t>
            </a:r>
            <a:r>
              <a:rPr sz="3200" spc="-6" dirty="0">
                <a:latin typeface="Arial"/>
                <a:cs typeface="Arial"/>
              </a:rPr>
              <a:t>os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2668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5" y="1438533"/>
            <a:ext cx="360011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01772" algn="l"/>
              </a:tabLst>
            </a:pPr>
            <a:r>
              <a:rPr sz="2200" spc="6" dirty="0">
                <a:solidFill>
                  <a:srgbClr val="852B34"/>
                </a:solidFill>
                <a:latin typeface="Arial"/>
                <a:cs typeface="Arial"/>
              </a:rPr>
              <a:t>1.	</a:t>
            </a: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906" y="2835087"/>
            <a:ext cx="7069526" cy="211921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1000" rIns="0" bIns="0" rtlCol="0">
            <a:spAutoFit/>
          </a:bodyPr>
          <a:lstStyle/>
          <a:p>
            <a:pPr marL="99209">
              <a:spcBef>
                <a:spcPts val="165"/>
              </a:spcBef>
            </a:pPr>
            <a:r>
              <a:rPr sz="2700"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7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  <a:p>
            <a:pPr marL="99209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17046">
              <a:lnSpc>
                <a:spcPts val="3284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1704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notas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99209"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716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4" y="1438533"/>
            <a:ext cx="3975122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spc="6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12" y="3931759"/>
            <a:ext cx="5169962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520667"/>
            <a:r>
              <a:rPr sz="2300" spc="-6" dirty="0">
                <a:latin typeface="Courier New"/>
                <a:cs typeface="Courier New"/>
              </a:rPr>
              <a:t>Aluno 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 dados do</a:t>
            </a:r>
            <a:r>
              <a:rPr sz="2300" spc="-46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9245" y="4945309"/>
            <a:ext cx="552640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para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percorrer </a:t>
            </a: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o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vetor de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notas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483" y="4945309"/>
            <a:ext cx="303053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contador</a:t>
            </a:r>
            <a:endParaRPr sz="2300">
              <a:latin typeface="Courier New"/>
              <a:cs typeface="Courier New"/>
            </a:endParaRPr>
          </a:p>
          <a:p>
            <a:pPr marL="37656"/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495" y="1623248"/>
            <a:ext cx="4714006" cy="141570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0414" rIns="0" bIns="0" rtlCol="0">
            <a:spAutoFit/>
          </a:bodyPr>
          <a:lstStyle/>
          <a:p>
            <a:pPr marL="99933">
              <a:spcBef>
                <a:spcPts val="23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17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4" y="1438532"/>
            <a:ext cx="4892973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spc="-6" dirty="0">
                <a:latin typeface="Arial"/>
                <a:cs typeface="Arial"/>
              </a:rPr>
              <a:t>Ler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495" y="1270612"/>
            <a:ext cx="471400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99933">
              <a:spcBef>
                <a:spcPts val="6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spc="-6" dirty="0">
                <a:latin typeface="Courier New"/>
                <a:cs typeface="Courier New"/>
              </a:rPr>
              <a:t>Aluno</a:t>
            </a:r>
            <a:r>
              <a:rPr spc="-11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>
              <a:spcBef>
                <a:spcPts val="23"/>
              </a:spcBef>
            </a:pP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970" y="4833361"/>
            <a:ext cx="5768495" cy="2090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>
              <a:tabLst>
                <a:tab pos="83350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latin typeface="Courier New"/>
                <a:cs typeface="Courier New"/>
              </a:rPr>
              <a:t>i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dirty="0">
                <a:latin typeface="Courier New"/>
                <a:cs typeface="Courier New"/>
              </a:rPr>
              <a:t>i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z="27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6" dirty="0">
                <a:latin typeface="Courier New"/>
                <a:cs typeface="Courier New"/>
              </a:rPr>
              <a:t>a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6" dirty="0">
                <a:latin typeface="Courier New"/>
                <a:cs typeface="Courier New"/>
              </a:rPr>
              <a:t>notas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273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691" y="5286750"/>
            <a:ext cx="6252669" cy="558385"/>
          </a:xfrm>
          <a:prstGeom prst="rect">
            <a:avLst/>
          </a:prstGeom>
        </p:spPr>
        <p:txBody>
          <a:bodyPr vert="horz" wrap="square" lIns="0" tIns="4345" rIns="0" bIns="0" rtlCol="0">
            <a:spAutoFit/>
          </a:bodyPr>
          <a:lstStyle/>
          <a:p>
            <a:pPr>
              <a:spcBef>
                <a:spcPts val="34"/>
              </a:spcBef>
            </a:pPr>
            <a:endParaRPr>
              <a:latin typeface="Times New Roman"/>
              <a:cs typeface="Times New Roman"/>
            </a:endParaRPr>
          </a:p>
          <a:p>
            <a:pPr marR="419285" algn="r"/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752" y="1192247"/>
          <a:ext cx="9849807" cy="625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5801"/>
                <a:gridCol w="1116866"/>
                <a:gridCol w="3597140"/>
              </a:tblGrid>
              <a:tr h="4088906">
                <a:tc>
                  <a:txBody>
                    <a:bodyPr/>
                    <a:lstStyle/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172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Definir</a:t>
                      </a:r>
                      <a:r>
                        <a:rPr sz="3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estrutura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Declarar</a:t>
                      </a:r>
                      <a:r>
                        <a:rPr sz="3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variáveis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spc="-5" dirty="0">
                          <a:latin typeface="Arial"/>
                          <a:cs typeface="Arial"/>
                        </a:rPr>
                        <a:t>Ler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 </a:t>
                      </a:r>
                      <a:r>
                        <a:rPr sz="3100" spc="-5" dirty="0">
                          <a:latin typeface="Arial"/>
                          <a:cs typeface="Arial"/>
                        </a:rPr>
                        <a:t>de um</a:t>
                      </a:r>
                      <a:r>
                        <a:rPr sz="3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aluno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Imprimir os</a:t>
                      </a:r>
                      <a:r>
                        <a:rPr sz="31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typedef</a:t>
                      </a:r>
                      <a:r>
                        <a:rPr sz="1800" b="1" spc="-8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-1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main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 marR="19716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gets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om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972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scanf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7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41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puts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11300">
                <a:tc gridSpan="2">
                  <a:txBody>
                    <a:bodyPr/>
                    <a:lstStyle/>
                    <a:p>
                      <a:pPr marL="85090">
                        <a:lnSpc>
                          <a:spcPts val="1465"/>
                        </a:lnSpc>
                      </a:pPr>
                      <a:r>
                        <a:rPr sz="26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6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26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2600" spc="-1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600" spc="-12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2557" y="1136273"/>
            <a:ext cx="4547665" cy="617594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50691" rIns="0" bIns="0" rtlCol="0">
            <a:spAutoFit/>
          </a:bodyPr>
          <a:lstStyle/>
          <a:p>
            <a:pPr marL="377284" marR="1947249" indent="-278075">
              <a:spcBef>
                <a:spcPts val="39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1900">
              <a:latin typeface="Times New Roman"/>
              <a:cs typeface="Times New Roman"/>
            </a:endParaRPr>
          </a:p>
          <a:p>
            <a:pPr marL="99209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Aluno</a:t>
            </a:r>
            <a:r>
              <a:rPr spc="-103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scanf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puts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77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1" y="2686476"/>
            <a:ext cx="2028776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1" y="2184107"/>
            <a:ext cx="4460039" cy="137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b="1" spc="-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422182" algn="just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  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 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049" y="3796722"/>
            <a:ext cx="23183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57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101" y="3528045"/>
            <a:ext cx="2028776" cy="8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5839" y="4334072"/>
            <a:ext cx="4032303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8102" y="5409614"/>
            <a:ext cx="3603824" cy="1667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spc="-6" dirty="0">
                <a:latin typeface="Courier New"/>
                <a:cs typeface="Courier New"/>
              </a:rPr>
              <a:t>MinhaEstrutura </a:t>
            </a:r>
            <a:r>
              <a:rPr spc="6" dirty="0">
                <a:latin typeface="Courier New"/>
                <a:cs typeface="Courier New"/>
              </a:rPr>
              <a:t>var;  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0" y="0"/>
                </a:moveTo>
                <a:lnTo>
                  <a:pt x="2485136" y="406907"/>
                </a:lnTo>
                <a:lnTo>
                  <a:pt x="2485136" y="812164"/>
                </a:lnTo>
                <a:lnTo>
                  <a:pt x="2490931" y="855266"/>
                </a:lnTo>
                <a:lnTo>
                  <a:pt x="2507285" y="894004"/>
                </a:lnTo>
                <a:lnTo>
                  <a:pt x="2532649" y="926830"/>
                </a:lnTo>
                <a:lnTo>
                  <a:pt x="2565475" y="952194"/>
                </a:lnTo>
                <a:lnTo>
                  <a:pt x="2604213" y="968548"/>
                </a:lnTo>
                <a:lnTo>
                  <a:pt x="2647315" y="974344"/>
                </a:lnTo>
                <a:lnTo>
                  <a:pt x="3473576" y="974344"/>
                </a:lnTo>
                <a:lnTo>
                  <a:pt x="3516678" y="968548"/>
                </a:lnTo>
                <a:lnTo>
                  <a:pt x="3555416" y="952194"/>
                </a:lnTo>
                <a:lnTo>
                  <a:pt x="3588242" y="926830"/>
                </a:lnTo>
                <a:lnTo>
                  <a:pt x="3613606" y="894004"/>
                </a:lnTo>
                <a:lnTo>
                  <a:pt x="3629960" y="855266"/>
                </a:lnTo>
                <a:lnTo>
                  <a:pt x="3635756" y="812164"/>
                </a:lnTo>
                <a:lnTo>
                  <a:pt x="3635756" y="163702"/>
                </a:lnTo>
                <a:lnTo>
                  <a:pt x="2485136" y="163702"/>
                </a:lnTo>
                <a:lnTo>
                  <a:pt x="0" y="0"/>
                </a:lnTo>
                <a:close/>
              </a:path>
              <a:path w="3636009" h="974725">
                <a:moveTo>
                  <a:pt x="3473576" y="1524"/>
                </a:moveTo>
                <a:lnTo>
                  <a:pt x="2647315" y="1524"/>
                </a:lnTo>
                <a:lnTo>
                  <a:pt x="2604213" y="7319"/>
                </a:lnTo>
                <a:lnTo>
                  <a:pt x="2565475" y="23673"/>
                </a:lnTo>
                <a:lnTo>
                  <a:pt x="2532649" y="49037"/>
                </a:lnTo>
                <a:lnTo>
                  <a:pt x="2507285" y="81863"/>
                </a:lnTo>
                <a:lnTo>
                  <a:pt x="2490931" y="120601"/>
                </a:lnTo>
                <a:lnTo>
                  <a:pt x="2485136" y="163702"/>
                </a:lnTo>
                <a:lnTo>
                  <a:pt x="3635756" y="163702"/>
                </a:lnTo>
                <a:lnTo>
                  <a:pt x="3629960" y="120601"/>
                </a:lnTo>
                <a:lnTo>
                  <a:pt x="3613606" y="81863"/>
                </a:lnTo>
                <a:lnTo>
                  <a:pt x="3588242" y="49037"/>
                </a:lnTo>
                <a:lnTo>
                  <a:pt x="3555416" y="23673"/>
                </a:lnTo>
                <a:lnTo>
                  <a:pt x="3516678" y="7319"/>
                </a:lnTo>
                <a:lnTo>
                  <a:pt x="3473576" y="1524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2485136" y="163702"/>
                </a:moveTo>
                <a:lnTo>
                  <a:pt x="2490931" y="120601"/>
                </a:lnTo>
                <a:lnTo>
                  <a:pt x="2507285" y="81863"/>
                </a:lnTo>
                <a:lnTo>
                  <a:pt x="2532649" y="49037"/>
                </a:lnTo>
                <a:lnTo>
                  <a:pt x="2565475" y="23673"/>
                </a:lnTo>
                <a:lnTo>
                  <a:pt x="2604213" y="7319"/>
                </a:lnTo>
                <a:lnTo>
                  <a:pt x="2647315" y="1524"/>
                </a:lnTo>
                <a:lnTo>
                  <a:pt x="2676906" y="1524"/>
                </a:lnTo>
                <a:lnTo>
                  <a:pt x="2964561" y="1524"/>
                </a:lnTo>
                <a:lnTo>
                  <a:pt x="3473576" y="1524"/>
                </a:lnTo>
                <a:lnTo>
                  <a:pt x="3516678" y="7319"/>
                </a:lnTo>
                <a:lnTo>
                  <a:pt x="3555416" y="23673"/>
                </a:lnTo>
                <a:lnTo>
                  <a:pt x="3588242" y="49037"/>
                </a:lnTo>
                <a:lnTo>
                  <a:pt x="3613606" y="81863"/>
                </a:lnTo>
                <a:lnTo>
                  <a:pt x="3629960" y="120601"/>
                </a:lnTo>
                <a:lnTo>
                  <a:pt x="3635756" y="163702"/>
                </a:lnTo>
                <a:lnTo>
                  <a:pt x="3635756" y="406907"/>
                </a:lnTo>
                <a:lnTo>
                  <a:pt x="3635756" y="812164"/>
                </a:lnTo>
                <a:lnTo>
                  <a:pt x="3629960" y="855266"/>
                </a:lnTo>
                <a:lnTo>
                  <a:pt x="3613606" y="894004"/>
                </a:lnTo>
                <a:lnTo>
                  <a:pt x="3588242" y="926830"/>
                </a:lnTo>
                <a:lnTo>
                  <a:pt x="3555416" y="952194"/>
                </a:lnTo>
                <a:lnTo>
                  <a:pt x="3516678" y="968548"/>
                </a:lnTo>
                <a:lnTo>
                  <a:pt x="3473576" y="974344"/>
                </a:lnTo>
                <a:lnTo>
                  <a:pt x="2964561" y="974344"/>
                </a:lnTo>
                <a:lnTo>
                  <a:pt x="2676906" y="974344"/>
                </a:lnTo>
                <a:lnTo>
                  <a:pt x="2647315" y="974344"/>
                </a:lnTo>
                <a:lnTo>
                  <a:pt x="2604213" y="968548"/>
                </a:lnTo>
                <a:lnTo>
                  <a:pt x="2565475" y="952194"/>
                </a:lnTo>
                <a:lnTo>
                  <a:pt x="2532649" y="926830"/>
                </a:lnTo>
                <a:lnTo>
                  <a:pt x="2507285" y="894004"/>
                </a:lnTo>
                <a:lnTo>
                  <a:pt x="2490931" y="855266"/>
                </a:lnTo>
                <a:lnTo>
                  <a:pt x="2485136" y="812164"/>
                </a:lnTo>
                <a:lnTo>
                  <a:pt x="2485136" y="406907"/>
                </a:lnTo>
                <a:lnTo>
                  <a:pt x="0" y="0"/>
                </a:lnTo>
                <a:lnTo>
                  <a:pt x="2485136" y="163702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99591" y="4183781"/>
            <a:ext cx="1070824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17" dirty="0">
                <a:latin typeface="Arial"/>
                <a:cs typeface="Arial"/>
              </a:rPr>
              <a:t>Tipo </a:t>
            </a:r>
            <a:r>
              <a:rPr spc="-11" dirty="0">
                <a:latin typeface="Arial"/>
                <a:cs typeface="Arial"/>
              </a:rPr>
              <a:t>de  </a:t>
            </a:r>
            <a:r>
              <a:rPr spc="-6" dirty="0">
                <a:latin typeface="Arial"/>
                <a:cs typeface="Arial"/>
              </a:rPr>
              <a:t>retorno 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9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133018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3888982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2439670" y="852677"/>
                </a:moveTo>
                <a:lnTo>
                  <a:pt x="234950" y="852677"/>
                </a:lnTo>
                <a:lnTo>
                  <a:pt x="187600" y="857449"/>
                </a:lnTo>
                <a:lnTo>
                  <a:pt x="143498" y="871136"/>
                </a:lnTo>
                <a:lnTo>
                  <a:pt x="103588" y="892794"/>
                </a:lnTo>
                <a:lnTo>
                  <a:pt x="68816" y="921480"/>
                </a:lnTo>
                <a:lnTo>
                  <a:pt x="40126" y="956249"/>
                </a:lnTo>
                <a:lnTo>
                  <a:pt x="18464" y="996160"/>
                </a:lnTo>
                <a:lnTo>
                  <a:pt x="4773" y="1040267"/>
                </a:lnTo>
                <a:lnTo>
                  <a:pt x="0" y="1087627"/>
                </a:lnTo>
                <a:lnTo>
                  <a:pt x="0" y="2027427"/>
                </a:lnTo>
                <a:lnTo>
                  <a:pt x="4773" y="2074788"/>
                </a:lnTo>
                <a:lnTo>
                  <a:pt x="18464" y="2118895"/>
                </a:lnTo>
                <a:lnTo>
                  <a:pt x="40126" y="2158806"/>
                </a:lnTo>
                <a:lnTo>
                  <a:pt x="68816" y="2193575"/>
                </a:lnTo>
                <a:lnTo>
                  <a:pt x="103588" y="2222261"/>
                </a:lnTo>
                <a:lnTo>
                  <a:pt x="143498" y="2243919"/>
                </a:lnTo>
                <a:lnTo>
                  <a:pt x="187600" y="2257606"/>
                </a:lnTo>
                <a:lnTo>
                  <a:pt x="234950" y="2262378"/>
                </a:lnTo>
                <a:lnTo>
                  <a:pt x="2439670" y="2262378"/>
                </a:lnTo>
                <a:lnTo>
                  <a:pt x="2487030" y="2257606"/>
                </a:lnTo>
                <a:lnTo>
                  <a:pt x="2531137" y="2243919"/>
                </a:lnTo>
                <a:lnTo>
                  <a:pt x="2571048" y="2222261"/>
                </a:lnTo>
                <a:lnTo>
                  <a:pt x="2605817" y="2193575"/>
                </a:lnTo>
                <a:lnTo>
                  <a:pt x="2634503" y="2158806"/>
                </a:lnTo>
                <a:lnTo>
                  <a:pt x="2656161" y="2118895"/>
                </a:lnTo>
                <a:lnTo>
                  <a:pt x="2669848" y="2074788"/>
                </a:lnTo>
                <a:lnTo>
                  <a:pt x="2674620" y="2027427"/>
                </a:lnTo>
                <a:lnTo>
                  <a:pt x="2674620" y="1087627"/>
                </a:lnTo>
                <a:lnTo>
                  <a:pt x="2669848" y="1040267"/>
                </a:lnTo>
                <a:lnTo>
                  <a:pt x="2656161" y="996160"/>
                </a:lnTo>
                <a:lnTo>
                  <a:pt x="2634503" y="956249"/>
                </a:lnTo>
                <a:lnTo>
                  <a:pt x="2605817" y="921480"/>
                </a:lnTo>
                <a:lnTo>
                  <a:pt x="2571048" y="892794"/>
                </a:lnTo>
                <a:lnTo>
                  <a:pt x="2531137" y="871136"/>
                </a:lnTo>
                <a:lnTo>
                  <a:pt x="2487030" y="857449"/>
                </a:lnTo>
                <a:lnTo>
                  <a:pt x="2439670" y="852677"/>
                </a:lnTo>
                <a:close/>
              </a:path>
              <a:path w="3623945" h="2262504">
                <a:moveTo>
                  <a:pt x="3623817" y="0"/>
                </a:moveTo>
                <a:lnTo>
                  <a:pt x="1560195" y="852677"/>
                </a:lnTo>
                <a:lnTo>
                  <a:pt x="2228850" y="852677"/>
                </a:lnTo>
                <a:lnTo>
                  <a:pt x="3623817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0" y="1087627"/>
                </a:moveTo>
                <a:lnTo>
                  <a:pt x="4773" y="1040267"/>
                </a:lnTo>
                <a:lnTo>
                  <a:pt x="18464" y="996160"/>
                </a:lnTo>
                <a:lnTo>
                  <a:pt x="40126" y="956249"/>
                </a:lnTo>
                <a:lnTo>
                  <a:pt x="68816" y="921480"/>
                </a:lnTo>
                <a:lnTo>
                  <a:pt x="103588" y="892794"/>
                </a:lnTo>
                <a:lnTo>
                  <a:pt x="143498" y="871136"/>
                </a:lnTo>
                <a:lnTo>
                  <a:pt x="187600" y="857449"/>
                </a:lnTo>
                <a:lnTo>
                  <a:pt x="234950" y="852677"/>
                </a:lnTo>
                <a:lnTo>
                  <a:pt x="1560195" y="852677"/>
                </a:lnTo>
                <a:lnTo>
                  <a:pt x="3623817" y="0"/>
                </a:lnTo>
                <a:lnTo>
                  <a:pt x="2228850" y="852677"/>
                </a:lnTo>
                <a:lnTo>
                  <a:pt x="2439670" y="852677"/>
                </a:lnTo>
                <a:lnTo>
                  <a:pt x="2487030" y="857449"/>
                </a:lnTo>
                <a:lnTo>
                  <a:pt x="2531137" y="871136"/>
                </a:lnTo>
                <a:lnTo>
                  <a:pt x="2571048" y="892794"/>
                </a:lnTo>
                <a:lnTo>
                  <a:pt x="2605817" y="921480"/>
                </a:lnTo>
                <a:lnTo>
                  <a:pt x="2634503" y="956249"/>
                </a:lnTo>
                <a:lnTo>
                  <a:pt x="2656161" y="996160"/>
                </a:lnTo>
                <a:lnTo>
                  <a:pt x="2669848" y="1040267"/>
                </a:lnTo>
                <a:lnTo>
                  <a:pt x="2674620" y="1087627"/>
                </a:lnTo>
                <a:lnTo>
                  <a:pt x="2674620" y="1440052"/>
                </a:lnTo>
                <a:lnTo>
                  <a:pt x="2674620" y="2027427"/>
                </a:lnTo>
                <a:lnTo>
                  <a:pt x="2669848" y="2074788"/>
                </a:lnTo>
                <a:lnTo>
                  <a:pt x="2656161" y="2118895"/>
                </a:lnTo>
                <a:lnTo>
                  <a:pt x="2634503" y="2158806"/>
                </a:lnTo>
                <a:lnTo>
                  <a:pt x="2605817" y="2193575"/>
                </a:lnTo>
                <a:lnTo>
                  <a:pt x="2571048" y="2222261"/>
                </a:lnTo>
                <a:lnTo>
                  <a:pt x="2531137" y="2243919"/>
                </a:lnTo>
                <a:lnTo>
                  <a:pt x="2487030" y="2257606"/>
                </a:lnTo>
                <a:lnTo>
                  <a:pt x="2439670" y="2262378"/>
                </a:lnTo>
                <a:lnTo>
                  <a:pt x="2228850" y="2262378"/>
                </a:lnTo>
                <a:lnTo>
                  <a:pt x="1560195" y="2262378"/>
                </a:lnTo>
                <a:lnTo>
                  <a:pt x="234950" y="2262378"/>
                </a:lnTo>
                <a:lnTo>
                  <a:pt x="187600" y="2257606"/>
                </a:lnTo>
                <a:lnTo>
                  <a:pt x="143498" y="2243919"/>
                </a:lnTo>
                <a:lnTo>
                  <a:pt x="103588" y="2222261"/>
                </a:lnTo>
                <a:lnTo>
                  <a:pt x="68816" y="2193575"/>
                </a:lnTo>
                <a:lnTo>
                  <a:pt x="40126" y="2158806"/>
                </a:lnTo>
                <a:lnTo>
                  <a:pt x="18464" y="2118895"/>
                </a:lnTo>
                <a:lnTo>
                  <a:pt x="4773" y="2074788"/>
                </a:lnTo>
                <a:lnTo>
                  <a:pt x="0" y="2027427"/>
                </a:lnTo>
                <a:lnTo>
                  <a:pt x="0" y="1440052"/>
                </a:lnTo>
                <a:lnTo>
                  <a:pt x="0" y="108762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258" y="4586376"/>
            <a:ext cx="2884990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693" marR="147003" algn="ctr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71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  </a:t>
            </a:r>
            <a:r>
              <a:rPr spc="-6" dirty="0">
                <a:latin typeface="Arial"/>
                <a:cs typeface="Arial"/>
              </a:rPr>
              <a:t>Observe </a:t>
            </a:r>
            <a:r>
              <a:rPr spc="-11" dirty="0">
                <a:latin typeface="Arial"/>
                <a:cs typeface="Arial"/>
              </a:rPr>
              <a:t>que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5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uma  cópia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7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Assim,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5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15" name="object 15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3403854" y="878408"/>
                </a:moveTo>
                <a:lnTo>
                  <a:pt x="1067054" y="878408"/>
                </a:lnTo>
                <a:lnTo>
                  <a:pt x="1073326" y="925112"/>
                </a:lnTo>
                <a:lnTo>
                  <a:pt x="1091028" y="967081"/>
                </a:lnTo>
                <a:lnTo>
                  <a:pt x="1118489" y="1002639"/>
                </a:lnTo>
                <a:lnTo>
                  <a:pt x="1154034" y="1030112"/>
                </a:lnTo>
                <a:lnTo>
                  <a:pt x="1195994" y="1047823"/>
                </a:lnTo>
                <a:lnTo>
                  <a:pt x="1242694" y="1054099"/>
                </a:lnTo>
                <a:lnTo>
                  <a:pt x="3228213" y="1054099"/>
                </a:lnTo>
                <a:lnTo>
                  <a:pt x="3274913" y="1047823"/>
                </a:lnTo>
                <a:lnTo>
                  <a:pt x="3316873" y="1030112"/>
                </a:lnTo>
                <a:lnTo>
                  <a:pt x="3352418" y="1002639"/>
                </a:lnTo>
                <a:lnTo>
                  <a:pt x="3379879" y="967081"/>
                </a:lnTo>
                <a:lnTo>
                  <a:pt x="3397581" y="925112"/>
                </a:lnTo>
                <a:lnTo>
                  <a:pt x="3403854" y="878408"/>
                </a:lnTo>
                <a:close/>
              </a:path>
              <a:path w="3404234" h="1054100">
                <a:moveTo>
                  <a:pt x="0" y="598804"/>
                </a:moveTo>
                <a:lnTo>
                  <a:pt x="1067054" y="878420"/>
                </a:lnTo>
                <a:lnTo>
                  <a:pt x="3403854" y="878408"/>
                </a:lnTo>
                <a:lnTo>
                  <a:pt x="3403854" y="614895"/>
                </a:lnTo>
                <a:lnTo>
                  <a:pt x="1067054" y="614895"/>
                </a:lnTo>
                <a:lnTo>
                  <a:pt x="0" y="598804"/>
                </a:lnTo>
                <a:close/>
              </a:path>
              <a:path w="3404234" h="1054100">
                <a:moveTo>
                  <a:pt x="3228213" y="0"/>
                </a:moveTo>
                <a:lnTo>
                  <a:pt x="1242694" y="0"/>
                </a:lnTo>
                <a:lnTo>
                  <a:pt x="1195994" y="6276"/>
                </a:lnTo>
                <a:lnTo>
                  <a:pt x="1154034" y="23987"/>
                </a:lnTo>
                <a:lnTo>
                  <a:pt x="1118489" y="51460"/>
                </a:lnTo>
                <a:lnTo>
                  <a:pt x="1091028" y="87018"/>
                </a:lnTo>
                <a:lnTo>
                  <a:pt x="1073326" y="128987"/>
                </a:lnTo>
                <a:lnTo>
                  <a:pt x="1067054" y="175691"/>
                </a:lnTo>
                <a:lnTo>
                  <a:pt x="1067054" y="614895"/>
                </a:lnTo>
                <a:lnTo>
                  <a:pt x="3403854" y="614895"/>
                </a:lnTo>
                <a:lnTo>
                  <a:pt x="3403854" y="175691"/>
                </a:lnTo>
                <a:lnTo>
                  <a:pt x="3397581" y="128987"/>
                </a:lnTo>
                <a:lnTo>
                  <a:pt x="3379879" y="87018"/>
                </a:lnTo>
                <a:lnTo>
                  <a:pt x="3352418" y="51460"/>
                </a:lnTo>
                <a:lnTo>
                  <a:pt x="3316873" y="23987"/>
                </a:lnTo>
                <a:lnTo>
                  <a:pt x="3274913" y="6276"/>
                </a:lnTo>
                <a:lnTo>
                  <a:pt x="3228213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1067054" y="175691"/>
                </a:moveTo>
                <a:lnTo>
                  <a:pt x="1073326" y="128987"/>
                </a:lnTo>
                <a:lnTo>
                  <a:pt x="1091028" y="87018"/>
                </a:lnTo>
                <a:lnTo>
                  <a:pt x="1118489" y="51460"/>
                </a:lnTo>
                <a:lnTo>
                  <a:pt x="1154034" y="23987"/>
                </a:lnTo>
                <a:lnTo>
                  <a:pt x="1195994" y="6276"/>
                </a:lnTo>
                <a:lnTo>
                  <a:pt x="1242694" y="0"/>
                </a:lnTo>
                <a:lnTo>
                  <a:pt x="1456563" y="0"/>
                </a:lnTo>
                <a:lnTo>
                  <a:pt x="2040763" y="0"/>
                </a:lnTo>
                <a:lnTo>
                  <a:pt x="3228213" y="0"/>
                </a:lnTo>
                <a:lnTo>
                  <a:pt x="3274913" y="6276"/>
                </a:lnTo>
                <a:lnTo>
                  <a:pt x="3316873" y="23987"/>
                </a:lnTo>
                <a:lnTo>
                  <a:pt x="3352418" y="51460"/>
                </a:lnTo>
                <a:lnTo>
                  <a:pt x="3379879" y="87018"/>
                </a:lnTo>
                <a:lnTo>
                  <a:pt x="3397581" y="128987"/>
                </a:lnTo>
                <a:lnTo>
                  <a:pt x="3403854" y="175691"/>
                </a:lnTo>
                <a:lnTo>
                  <a:pt x="3403854" y="614895"/>
                </a:lnTo>
                <a:lnTo>
                  <a:pt x="3403854" y="878420"/>
                </a:lnTo>
                <a:lnTo>
                  <a:pt x="3397581" y="925112"/>
                </a:lnTo>
                <a:lnTo>
                  <a:pt x="3379879" y="967081"/>
                </a:lnTo>
                <a:lnTo>
                  <a:pt x="3352418" y="1002639"/>
                </a:lnTo>
                <a:lnTo>
                  <a:pt x="3316873" y="1030112"/>
                </a:lnTo>
                <a:lnTo>
                  <a:pt x="3274913" y="1047823"/>
                </a:lnTo>
                <a:lnTo>
                  <a:pt x="3228213" y="1054099"/>
                </a:lnTo>
                <a:lnTo>
                  <a:pt x="2040763" y="1054099"/>
                </a:lnTo>
                <a:lnTo>
                  <a:pt x="1456563" y="1054099"/>
                </a:lnTo>
                <a:lnTo>
                  <a:pt x="1242694" y="1054099"/>
                </a:lnTo>
                <a:lnTo>
                  <a:pt x="1195994" y="1047823"/>
                </a:lnTo>
                <a:lnTo>
                  <a:pt x="1154034" y="1030112"/>
                </a:lnTo>
                <a:lnTo>
                  <a:pt x="1118489" y="1002639"/>
                </a:lnTo>
                <a:lnTo>
                  <a:pt x="1091028" y="967081"/>
                </a:lnTo>
                <a:lnTo>
                  <a:pt x="1073326" y="925112"/>
                </a:lnTo>
                <a:lnTo>
                  <a:pt x="1067054" y="878408"/>
                </a:lnTo>
                <a:lnTo>
                  <a:pt x="0" y="598804"/>
                </a:lnTo>
                <a:lnTo>
                  <a:pt x="1067054" y="614895"/>
                </a:lnTo>
                <a:lnTo>
                  <a:pt x="1067054" y="17569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25954" y="6425124"/>
            <a:ext cx="15542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</a:t>
            </a:r>
            <a:r>
              <a:rPr spc="-19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2583" y="6710942"/>
            <a:ext cx="1878028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</a:t>
            </a:r>
            <a:r>
              <a:rPr spc="2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na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2078863" y="0"/>
                </a:moveTo>
                <a:lnTo>
                  <a:pt x="648081" y="0"/>
                </a:lnTo>
                <a:lnTo>
                  <a:pt x="601267" y="9451"/>
                </a:lnTo>
                <a:lnTo>
                  <a:pt x="563038" y="35226"/>
                </a:lnTo>
                <a:lnTo>
                  <a:pt x="537263" y="73455"/>
                </a:lnTo>
                <a:lnTo>
                  <a:pt x="527812" y="120269"/>
                </a:lnTo>
                <a:lnTo>
                  <a:pt x="0" y="121158"/>
                </a:lnTo>
                <a:lnTo>
                  <a:pt x="527812" y="300609"/>
                </a:lnTo>
                <a:lnTo>
                  <a:pt x="527812" y="601090"/>
                </a:lnTo>
                <a:lnTo>
                  <a:pt x="537263" y="647904"/>
                </a:lnTo>
                <a:lnTo>
                  <a:pt x="563038" y="686133"/>
                </a:lnTo>
                <a:lnTo>
                  <a:pt x="601267" y="711908"/>
                </a:lnTo>
                <a:lnTo>
                  <a:pt x="648081" y="721360"/>
                </a:lnTo>
                <a:lnTo>
                  <a:pt x="2078863" y="721360"/>
                </a:lnTo>
                <a:lnTo>
                  <a:pt x="2125676" y="711908"/>
                </a:lnTo>
                <a:lnTo>
                  <a:pt x="2163905" y="686133"/>
                </a:lnTo>
                <a:lnTo>
                  <a:pt x="2189680" y="647904"/>
                </a:lnTo>
                <a:lnTo>
                  <a:pt x="2199132" y="601090"/>
                </a:lnTo>
                <a:lnTo>
                  <a:pt x="2199132" y="120269"/>
                </a:lnTo>
                <a:lnTo>
                  <a:pt x="2189680" y="73455"/>
                </a:lnTo>
                <a:lnTo>
                  <a:pt x="2163905" y="35226"/>
                </a:lnTo>
                <a:lnTo>
                  <a:pt x="2125676" y="9451"/>
                </a:lnTo>
                <a:lnTo>
                  <a:pt x="2078863" y="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527812" y="120269"/>
                </a:moveTo>
                <a:lnTo>
                  <a:pt x="537263" y="73455"/>
                </a:lnTo>
                <a:lnTo>
                  <a:pt x="563038" y="35226"/>
                </a:lnTo>
                <a:lnTo>
                  <a:pt x="601267" y="9451"/>
                </a:lnTo>
                <a:lnTo>
                  <a:pt x="648081" y="0"/>
                </a:lnTo>
                <a:lnTo>
                  <a:pt x="806323" y="0"/>
                </a:lnTo>
                <a:lnTo>
                  <a:pt x="1224152" y="0"/>
                </a:lnTo>
                <a:lnTo>
                  <a:pt x="2078863" y="0"/>
                </a:lnTo>
                <a:lnTo>
                  <a:pt x="2125676" y="9451"/>
                </a:lnTo>
                <a:lnTo>
                  <a:pt x="2163905" y="35226"/>
                </a:lnTo>
                <a:lnTo>
                  <a:pt x="2189680" y="73455"/>
                </a:lnTo>
                <a:lnTo>
                  <a:pt x="2199132" y="120269"/>
                </a:lnTo>
                <a:lnTo>
                  <a:pt x="2199132" y="300609"/>
                </a:lnTo>
                <a:lnTo>
                  <a:pt x="2199132" y="601090"/>
                </a:lnTo>
                <a:lnTo>
                  <a:pt x="2189680" y="647904"/>
                </a:lnTo>
                <a:lnTo>
                  <a:pt x="2163905" y="686133"/>
                </a:lnTo>
                <a:lnTo>
                  <a:pt x="2125676" y="711908"/>
                </a:lnTo>
                <a:lnTo>
                  <a:pt x="2078863" y="721360"/>
                </a:lnTo>
                <a:lnTo>
                  <a:pt x="1224152" y="721360"/>
                </a:lnTo>
                <a:lnTo>
                  <a:pt x="806323" y="721360"/>
                </a:lnTo>
                <a:lnTo>
                  <a:pt x="648081" y="721360"/>
                </a:lnTo>
                <a:lnTo>
                  <a:pt x="601267" y="711908"/>
                </a:lnTo>
                <a:lnTo>
                  <a:pt x="563038" y="686133"/>
                </a:lnTo>
                <a:lnTo>
                  <a:pt x="537263" y="647904"/>
                </a:lnTo>
                <a:lnTo>
                  <a:pt x="527812" y="601090"/>
                </a:lnTo>
                <a:lnTo>
                  <a:pt x="527812" y="300609"/>
                </a:lnTo>
                <a:lnTo>
                  <a:pt x="0" y="121158"/>
                </a:lnTo>
                <a:lnTo>
                  <a:pt x="527812" y="120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80404" y="2184108"/>
            <a:ext cx="2157988" cy="840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5836" marR="5793" indent="-34759">
              <a:spcBef>
                <a:spcPts val="40"/>
              </a:spcBef>
            </a:pPr>
            <a:r>
              <a:rPr dirty="0">
                <a:latin typeface="Arial"/>
                <a:cs typeface="Arial"/>
              </a:rPr>
              <a:t>O </a:t>
            </a:r>
            <a:r>
              <a:rPr spc="-6" dirty="0">
                <a:latin typeface="Arial"/>
                <a:cs typeface="Arial"/>
              </a:rPr>
              <a:t>valor </a:t>
            </a:r>
            <a:r>
              <a:rPr spc="-11" dirty="0">
                <a:latin typeface="Arial"/>
                <a:cs typeface="Arial"/>
              </a:rPr>
              <a:t>de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6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 </a:t>
            </a:r>
            <a:r>
              <a:rPr u="sng" spc="-11" dirty="0">
                <a:latin typeface="Arial"/>
                <a:cs typeface="Arial"/>
              </a:rPr>
              <a:t>copiado </a:t>
            </a:r>
            <a:r>
              <a:rPr spc="-6" dirty="0">
                <a:latin typeface="Arial"/>
                <a:cs typeface="Arial"/>
              </a:rPr>
              <a:t>para</a:t>
            </a:r>
            <a:r>
              <a:rPr spc="-3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8078" y="6991301"/>
            <a:ext cx="18097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955"/>
              </a:lnSpc>
            </a:pPr>
            <a:r>
              <a:rPr spc="-6" dirty="0">
                <a:latin typeface="Arial"/>
                <a:cs typeface="Arial"/>
              </a:rPr>
              <a:t>função</a:t>
            </a:r>
            <a:r>
              <a:rPr spc="-80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104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lang="pt-BR" sz="2400" spc="-11" dirty="0" smtClean="0">
                <a:latin typeface="Arial"/>
                <a:cs typeface="Arial"/>
              </a:rPr>
              <a:t>Quando o ponteiro para uma estrutura é passado como parâmetro a forma de acesso muda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510719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 err="1" smtClean="0">
                <a:latin typeface="Courier New"/>
                <a:cs typeface="Courier New"/>
              </a:rPr>
              <a:t>imprime</a:t>
            </a:r>
            <a:r>
              <a:rPr spc="-6" dirty="0" smtClean="0">
                <a:latin typeface="Courier New"/>
                <a:cs typeface="Courier New"/>
              </a:rPr>
              <a:t>(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pt-BR" b="1" spc="-6" dirty="0" smtClean="0">
                <a:latin typeface="Courier New"/>
                <a:cs typeface="Courier New"/>
              </a:rPr>
              <a:t>*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dirty="0" smtClean="0">
                <a:latin typeface="Courier New"/>
                <a:cs typeface="Courier New"/>
              </a:rPr>
              <a:t>-&gt;</a:t>
            </a:r>
            <a:r>
              <a:rPr b="1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 err="1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 smtClean="0">
                <a:solidFill>
                  <a:srgbClr val="00664D"/>
                </a:solidFill>
                <a:latin typeface="Courier New"/>
                <a:cs typeface="Courier New"/>
              </a:rPr>
              <a:t>(</a:t>
            </a:r>
            <a:r>
              <a:rPr lang="pt-BR" spc="-6" dirty="0" smtClean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 err="1" smtClean="0">
                <a:solidFill>
                  <a:srgbClr val="00664D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797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3" y="1835950"/>
            <a:ext cx="9433213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Pode-se criar vetores de estruturas como se</a:t>
            </a:r>
            <a:r>
              <a:rPr sz="3000" spc="171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criam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vetores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tipos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primitivos.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programas apresentados até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momento</a:t>
            </a:r>
            <a:r>
              <a:rPr sz="3000" spc="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só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fizeram </a:t>
            </a:r>
            <a:r>
              <a:rPr sz="3000" spc="-11" dirty="0">
                <a:latin typeface="Arial"/>
                <a:cs typeface="Arial"/>
              </a:rPr>
              <a:t>menção </a:t>
            </a:r>
            <a:r>
              <a:rPr sz="3000" spc="-6" dirty="0">
                <a:latin typeface="Arial"/>
                <a:cs typeface="Arial"/>
              </a:rPr>
              <a:t>a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única instância da</a:t>
            </a:r>
            <a:r>
              <a:rPr sz="3000" spc="18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marR="588013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É </a:t>
            </a:r>
            <a:r>
              <a:rPr sz="3000" spc="-6" dirty="0">
                <a:latin typeface="Arial"/>
                <a:cs typeface="Arial"/>
              </a:rPr>
              <a:t>necessário possuir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definição da estrutura  </a:t>
            </a:r>
            <a:r>
              <a:rPr sz="3000" spc="-11" dirty="0">
                <a:latin typeface="Arial"/>
                <a:cs typeface="Arial"/>
              </a:rPr>
              <a:t>antes </a:t>
            </a:r>
            <a:r>
              <a:rPr sz="3000" spc="-6" dirty="0">
                <a:latin typeface="Arial"/>
                <a:cs typeface="Arial"/>
              </a:rPr>
              <a:t>de declarar um vetor de</a:t>
            </a:r>
            <a:r>
              <a:rPr sz="3000" spc="10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1152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262" y="1914732"/>
            <a:ext cx="9162907" cy="3690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642"/>
              <a:buChar char="•"/>
              <a:tabLst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Suponha que </a:t>
            </a:r>
            <a:r>
              <a:rPr sz="3200" spc="-6" dirty="0">
                <a:latin typeface="Arial"/>
                <a:cs typeface="Arial"/>
              </a:rPr>
              <a:t>deseja-se </a:t>
            </a:r>
            <a:r>
              <a:rPr sz="3200" dirty="0">
                <a:latin typeface="Arial"/>
                <a:cs typeface="Arial"/>
              </a:rPr>
              <a:t>manter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registro de  informações relativas a passagens rodoviárias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todos lugares (poltronas)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ônibus.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B34"/>
              </a:buClr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35874" marR="532253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Pode-se utilizar uma estrutura referente a  cada poltrona </a:t>
            </a:r>
            <a:r>
              <a:rPr sz="3200" spc="-6" dirty="0">
                <a:latin typeface="Arial"/>
                <a:cs typeface="Arial"/>
              </a:rPr>
              <a:t>(</a:t>
            </a: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6" dirty="0">
                <a:latin typeface="Arial"/>
                <a:cs typeface="Arial"/>
              </a:rPr>
              <a:t>) e </a:t>
            </a:r>
            <a:r>
              <a:rPr sz="3200" dirty="0">
                <a:latin typeface="Arial"/>
                <a:cs typeface="Arial"/>
              </a:rPr>
              <a:t>para agrupar  todas elas utiliza-se um vetor de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22868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040" y="3837023"/>
            <a:ext cx="6987840" cy="1845745"/>
          </a:xfrm>
          <a:custGeom>
            <a:avLst/>
            <a:gdLst/>
            <a:ahLst/>
            <a:cxnLst/>
            <a:rect l="l" t="t" r="r" b="b"/>
            <a:pathLst>
              <a:path w="5975350" h="1675129">
                <a:moveTo>
                  <a:pt x="0" y="0"/>
                </a:moveTo>
                <a:lnTo>
                  <a:pt x="59753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923" y="1470997"/>
            <a:ext cx="9639653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940" marR="5793" indent="-379457">
              <a:buClr>
                <a:srgbClr val="852B34"/>
              </a:buClr>
              <a:buSzPct val="68750"/>
              <a:buFont typeface="Wingdings"/>
              <a:buChar char=""/>
              <a:tabLst>
                <a:tab pos="393216" algn="l"/>
                <a:tab pos="393940" algn="l"/>
              </a:tabLst>
            </a:pPr>
            <a:r>
              <a:rPr sz="2700" dirty="0">
                <a:latin typeface="Arial"/>
                <a:cs typeface="Arial"/>
              </a:rPr>
              <a:t>Um ônibus possui 44 lugares numerados de 0 a 43,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passa  por </a:t>
            </a:r>
            <a:r>
              <a:rPr sz="2700" spc="-6" dirty="0">
                <a:latin typeface="Arial"/>
                <a:cs typeface="Arial"/>
              </a:rPr>
              <a:t>várias </a:t>
            </a:r>
            <a:r>
              <a:rPr sz="2700" dirty="0">
                <a:latin typeface="Arial"/>
                <a:cs typeface="Arial"/>
              </a:rPr>
              <a:t>cidades </a:t>
            </a:r>
            <a:r>
              <a:rPr sz="2700" spc="-6" dirty="0">
                <a:latin typeface="Arial"/>
                <a:cs typeface="Arial"/>
              </a:rPr>
              <a:t>e </a:t>
            </a:r>
            <a:r>
              <a:rPr sz="2700" dirty="0">
                <a:latin typeface="Arial"/>
                <a:cs typeface="Arial"/>
              </a:rPr>
              <a:t>precisa armazenar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  </a:t>
            </a:r>
            <a:r>
              <a:rPr sz="2700" spc="-6" dirty="0">
                <a:latin typeface="Arial"/>
                <a:cs typeface="Arial"/>
              </a:rPr>
              <a:t>abaixo: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0758" y="3534371"/>
            <a:ext cx="2971131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lnSpc>
                <a:spcPct val="154200"/>
              </a:lnSpc>
              <a:tabLst>
                <a:tab pos="1356340" algn="l"/>
                <a:tab pos="2079770" algn="l"/>
                <a:tab pos="2560609" algn="l"/>
                <a:tab pos="2802476" algn="l"/>
                <a:tab pos="2866202" algn="l"/>
              </a:tabLst>
            </a:pPr>
            <a:r>
              <a:rPr sz="2300" dirty="0">
                <a:latin typeface="Arial"/>
                <a:cs typeface="Arial"/>
              </a:rPr>
              <a:t>Nome:_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De: </a:t>
            </a:r>
            <a:r>
              <a:rPr sz="2300" u="heavy" dirty="0">
                <a:latin typeface="Arial"/>
                <a:cs typeface="Arial"/>
              </a:rPr>
              <a:t>				</a:t>
            </a:r>
            <a:r>
              <a:rPr sz="2300" dirty="0">
                <a:latin typeface="Arial"/>
                <a:cs typeface="Arial"/>
              </a:rPr>
              <a:t> Data:_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Poltrona:</a:t>
            </a:r>
            <a:r>
              <a:rPr sz="2300" u="heavy" dirty="0">
                <a:latin typeface="Arial"/>
                <a:cs typeface="Arial"/>
              </a:rPr>
              <a:t> 		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3772" y="3534371"/>
            <a:ext cx="3187227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451" marR="5793" indent="-112968">
              <a:lnSpc>
                <a:spcPct val="154200"/>
              </a:lnSpc>
              <a:tabLst>
                <a:tab pos="2815511" algn="l"/>
                <a:tab pos="2993653" algn="l"/>
                <a:tab pos="3092862" algn="l"/>
              </a:tabLst>
            </a:pPr>
            <a:r>
              <a:rPr sz="2300" dirty="0">
                <a:latin typeface="Arial"/>
                <a:cs typeface="Arial"/>
              </a:rPr>
              <a:t>Número: </a:t>
            </a:r>
            <a:r>
              <a:rPr sz="2300" u="heavy" dirty="0">
                <a:latin typeface="Arial"/>
                <a:cs typeface="Arial"/>
              </a:rPr>
              <a:t>	</a:t>
            </a:r>
            <a:r>
              <a:rPr sz="2300" dirty="0">
                <a:latin typeface="Arial"/>
                <a:cs typeface="Arial"/>
              </a:rPr>
              <a:t> Para: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Horário:_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Distância:</a:t>
            </a:r>
            <a:r>
              <a:rPr sz="2300" u="heavy" dirty="0">
                <a:latin typeface="Arial"/>
                <a:cs typeface="Arial"/>
              </a:rPr>
              <a:t> 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95340" y="3299671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5340" y="3966463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467" y="6295683"/>
            <a:ext cx="362387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43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49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899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49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49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49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899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6" name="object 26"/>
          <p:cNvSpPr/>
          <p:nvPr/>
        </p:nvSpPr>
        <p:spPr>
          <a:xfrm>
            <a:off x="1699062" y="3086971"/>
            <a:ext cx="1878771" cy="575833"/>
          </a:xfrm>
          <a:custGeom>
            <a:avLst/>
            <a:gdLst/>
            <a:ahLst/>
            <a:cxnLst/>
            <a:rect l="l" t="t" r="r" b="b"/>
            <a:pathLst>
              <a:path w="1606550" h="522604">
                <a:moveTo>
                  <a:pt x="0" y="0"/>
                </a:moveTo>
                <a:lnTo>
                  <a:pt x="1606550" y="522350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5040" y="3064580"/>
            <a:ext cx="6987840" cy="607319"/>
          </a:xfrm>
          <a:custGeom>
            <a:avLst/>
            <a:gdLst/>
            <a:ahLst/>
            <a:cxnLst/>
            <a:rect l="l" t="t" r="r" b="b"/>
            <a:pathLst>
              <a:path w="5975350" h="551179">
                <a:moveTo>
                  <a:pt x="0" y="0"/>
                </a:moveTo>
                <a:lnTo>
                  <a:pt x="5975350" y="55092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9062" y="3837023"/>
            <a:ext cx="1893623" cy="1845745"/>
          </a:xfrm>
          <a:custGeom>
            <a:avLst/>
            <a:gdLst/>
            <a:ahLst/>
            <a:cxnLst/>
            <a:rect l="l" t="t" r="r" b="b"/>
            <a:pathLst>
              <a:path w="1619250" h="1675129">
                <a:moveTo>
                  <a:pt x="0" y="0"/>
                </a:moveTo>
                <a:lnTo>
                  <a:pt x="16192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86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5860485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150" y="2166197"/>
            <a:ext cx="310405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209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numero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 marR="261420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origem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destino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data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horario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poltrona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distancia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Passagem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484" y="6596544"/>
            <a:ext cx="7547758" cy="50341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862" rIns="0" bIns="0" rtlCol="0">
            <a:spAutoFit/>
          </a:bodyPr>
          <a:lstStyle/>
          <a:p>
            <a:pPr marL="396112">
              <a:spcBef>
                <a:spcPts val="86"/>
              </a:spcBef>
            </a:pP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spc="-6" dirty="0">
                <a:latin typeface="Courier New"/>
                <a:cs typeface="Courier New"/>
              </a:rPr>
              <a:t>dadosPassagem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45" y="1041398"/>
            <a:ext cx="47310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Definição da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1438533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484" y="2177391"/>
            <a:ext cx="7547758" cy="50048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7966" rIns="0" bIns="0" rtlCol="0">
            <a:spAutoFit/>
          </a:bodyPr>
          <a:lstStyle/>
          <a:p>
            <a:pPr marL="396112">
              <a:spcBef>
                <a:spcPts val="63"/>
              </a:spcBef>
            </a:pPr>
            <a:r>
              <a:rPr sz="3200" b="1" spc="-6" dirty="0">
                <a:latin typeface="Courier New"/>
                <a:cs typeface="Courier New"/>
              </a:rPr>
              <a:t>Passagem</a:t>
            </a:r>
            <a:r>
              <a:rPr sz="3200" b="1" spc="-114" dirty="0">
                <a:latin typeface="Courier New"/>
                <a:cs typeface="Courier New"/>
              </a:rPr>
              <a:t> </a:t>
            </a:r>
            <a:r>
              <a:rPr sz="3200" b="1" spc="-6" dirty="0">
                <a:latin typeface="Courier New"/>
                <a:cs typeface="Courier New"/>
              </a:rPr>
              <a:t>dadosPassagem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b="1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45" y="3417917"/>
            <a:ext cx="771632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Observe </a:t>
            </a:r>
            <a:r>
              <a:rPr sz="3200" spc="-6" dirty="0">
                <a:latin typeface="Arial"/>
                <a:cs typeface="Arial"/>
              </a:rPr>
              <a:t>que cada </a:t>
            </a:r>
            <a:r>
              <a:rPr sz="3200" dirty="0">
                <a:latin typeface="Arial"/>
                <a:cs typeface="Arial"/>
              </a:rPr>
              <a:t>posição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spc="6" dirty="0">
                <a:latin typeface="Arial"/>
                <a:cs typeface="Arial"/>
              </a:rPr>
              <a:t>vetor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estruturas pode ser vista como uma  variável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tipo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Passagem.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395" y="5127224"/>
            <a:ext cx="7907175" cy="995122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138" rIns="0" bIns="0" rtlCol="0">
            <a:spAutoFit/>
          </a:bodyPr>
          <a:lstStyle/>
          <a:p>
            <a:pPr marL="97761" marR="302696">
              <a:spcBef>
                <a:spcPts val="80"/>
              </a:spcBef>
            </a:pPr>
            <a:r>
              <a:rPr sz="3200" spc="-6" dirty="0">
                <a:latin typeface="Courier New"/>
                <a:cs typeface="Courier New"/>
              </a:rPr>
              <a:t>Passagem p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32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21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7" y="1354572"/>
            <a:ext cx="9259445" cy="5152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1044229" indent="-521391">
              <a:buClr>
                <a:srgbClr val="852B34"/>
              </a:buClr>
              <a:buSzPct val="69642"/>
              <a:buChar char="•"/>
              <a:tabLst>
                <a:tab pos="521391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478665">
              <a:spcBef>
                <a:spcPts val="2543"/>
              </a:spcBef>
            </a:pPr>
            <a:r>
              <a:rPr sz="2700" spc="-6" dirty="0">
                <a:latin typeface="Courier New"/>
                <a:cs typeface="Courier New"/>
              </a:rPr>
              <a:t>Passagem</a:t>
            </a:r>
            <a:r>
              <a:rPr sz="2700" spc="-63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478665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78665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R="980505" algn="ctr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026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46" y="1354572"/>
            <a:ext cx="817896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118" y="2654990"/>
            <a:ext cx="1740648" cy="84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284"/>
              </a:lnSpc>
            </a:pPr>
            <a:r>
              <a:rPr sz="2700" spc="-6" dirty="0">
                <a:latin typeface="Courier New"/>
                <a:cs typeface="Courier New"/>
              </a:rPr>
              <a:t>int</a:t>
            </a:r>
            <a:r>
              <a:rPr sz="2700" spc="-108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spc="-6" dirty="0">
                <a:latin typeface="Courier New"/>
                <a:cs typeface="Courier New"/>
              </a:rPr>
              <a:t>Passagem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5375" y="3057863"/>
            <a:ext cx="386893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118" y="3461297"/>
            <a:ext cx="3233268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808" y="3461297"/>
            <a:ext cx="152752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i++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8" y="3864310"/>
            <a:ext cx="9424300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9428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639428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L="1265821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710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202" y="3788746"/>
            <a:ext cx="877081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874" algn="l"/>
                <a:tab pos="536597" algn="l"/>
              </a:tabLst>
            </a:pPr>
            <a:r>
              <a:rPr sz="3000" spc="-6" dirty="0">
                <a:latin typeface="Arial"/>
                <a:cs typeface="Arial"/>
              </a:rPr>
              <a:t>Pode-se inicializar um vetor de estruturas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no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11" dirty="0">
                <a:latin typeface="Arial"/>
                <a:cs typeface="Arial"/>
              </a:rPr>
              <a:t>momento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sua criação como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código</a:t>
            </a:r>
            <a:r>
              <a:rPr sz="3000" spc="137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811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809" y="3550855"/>
            <a:ext cx="919558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230"/>
              <a:buChar char="•"/>
              <a:tabLst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Se </a:t>
            </a:r>
            <a:r>
              <a:rPr sz="3000" spc="-6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número </a:t>
            </a:r>
            <a:r>
              <a:rPr sz="3000" spc="-6" dirty="0">
                <a:latin typeface="Arial"/>
                <a:cs typeface="Arial"/>
              </a:rPr>
              <a:t>de elementos </a:t>
            </a:r>
            <a:r>
              <a:rPr sz="3000" dirty="0">
                <a:latin typeface="Arial"/>
                <a:cs typeface="Arial"/>
              </a:rPr>
              <a:t>inicializados for </a:t>
            </a:r>
            <a:r>
              <a:rPr sz="3000" spc="-6" dirty="0">
                <a:latin typeface="Arial"/>
                <a:cs typeface="Arial"/>
              </a:rPr>
              <a:t>menor  que </a:t>
            </a: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alocados </a:t>
            </a:r>
            <a:r>
              <a:rPr sz="3000" dirty="0">
                <a:latin typeface="Arial"/>
                <a:cs typeface="Arial"/>
              </a:rPr>
              <a:t>em </a:t>
            </a:r>
            <a:r>
              <a:rPr sz="3000" spc="-6" dirty="0">
                <a:latin typeface="Arial"/>
                <a:cs typeface="Arial"/>
              </a:rPr>
              <a:t>memória,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restante </a:t>
            </a:r>
            <a:r>
              <a:rPr sz="3000" dirty="0">
                <a:latin typeface="Arial"/>
                <a:cs typeface="Arial"/>
              </a:rPr>
              <a:t>do </a:t>
            </a:r>
            <a:r>
              <a:rPr sz="3000" spc="-6" dirty="0">
                <a:latin typeface="Arial"/>
                <a:cs typeface="Arial"/>
              </a:rPr>
              <a:t>vetor  ficará “zerado” (se numérico) ou vazio (se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i="1" spc="-6" dirty="0">
                <a:latin typeface="Arial"/>
                <a:cs typeface="Arial"/>
              </a:rPr>
              <a:t>strings</a:t>
            </a:r>
            <a:r>
              <a:rPr sz="3000" spc="-6" dirty="0">
                <a:latin typeface="Arial"/>
                <a:cs typeface="Arial"/>
              </a:rPr>
              <a:t>).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950" y="6439818"/>
            <a:ext cx="978520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exemplo, o índice 1 do vetor terá descrição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dirty="0">
                <a:latin typeface="Arial"/>
                <a:cs typeface="Arial"/>
              </a:rPr>
              <a:t>e os </a:t>
            </a:r>
            <a:r>
              <a:rPr sz="3000" spc="-6" dirty="0">
                <a:latin typeface="Arial"/>
                <a:cs typeface="Arial"/>
              </a:rPr>
              <a:t>índices </a:t>
            </a:r>
            <a:r>
              <a:rPr sz="3000" dirty="0">
                <a:latin typeface="Arial"/>
                <a:cs typeface="Arial"/>
              </a:rPr>
              <a:t>3, 4 e 5 </a:t>
            </a:r>
            <a:r>
              <a:rPr sz="3000" spc="-6" dirty="0">
                <a:latin typeface="Arial"/>
                <a:cs typeface="Arial"/>
              </a:rPr>
              <a:t>terão código </a:t>
            </a:r>
            <a:r>
              <a:rPr sz="3000" dirty="0">
                <a:latin typeface="Arial"/>
                <a:cs typeface="Arial"/>
              </a:rPr>
              <a:t>0 e </a:t>
            </a:r>
            <a:r>
              <a:rPr sz="3000" spc="-6" dirty="0">
                <a:latin typeface="Arial"/>
                <a:cs typeface="Arial"/>
              </a:rPr>
              <a:t>descrição</a:t>
            </a:r>
            <a:r>
              <a:rPr sz="3000" spc="10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vazia.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023" y="1519416"/>
            <a:ext cx="8303722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Outro </a:t>
            </a:r>
            <a:r>
              <a:rPr sz="3400" spc="-11" dirty="0">
                <a:latin typeface="Arial"/>
                <a:cs typeface="Arial"/>
              </a:rPr>
              <a:t>exemplo </a:t>
            </a:r>
            <a:r>
              <a:rPr sz="3400" spc="-6" dirty="0">
                <a:latin typeface="Arial"/>
                <a:cs typeface="Arial"/>
              </a:rPr>
              <a:t>mais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completo....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5793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Considere que </a:t>
            </a:r>
            <a:r>
              <a:rPr sz="3400" spc="-6" dirty="0">
                <a:latin typeface="Arial"/>
                <a:cs typeface="Arial"/>
              </a:rPr>
              <a:t>você está fazendo um  programa </a:t>
            </a:r>
            <a:r>
              <a:rPr sz="3400" spc="-11" dirty="0">
                <a:latin typeface="Arial"/>
                <a:cs typeface="Arial"/>
              </a:rPr>
              <a:t>que </a:t>
            </a:r>
            <a:r>
              <a:rPr sz="3400" spc="-6" dirty="0">
                <a:latin typeface="Arial"/>
                <a:cs typeface="Arial"/>
              </a:rPr>
              <a:t>leia </a:t>
            </a:r>
            <a:r>
              <a:rPr sz="3400" dirty="0">
                <a:latin typeface="Arial"/>
                <a:cs typeface="Arial"/>
              </a:rPr>
              <a:t>o </a:t>
            </a:r>
            <a:r>
              <a:rPr sz="3400" spc="-6" dirty="0">
                <a:latin typeface="Arial"/>
                <a:cs typeface="Arial"/>
              </a:rPr>
              <a:t>nome </a:t>
            </a:r>
            <a:r>
              <a:rPr sz="3400" dirty="0">
                <a:latin typeface="Arial"/>
                <a:cs typeface="Arial"/>
              </a:rPr>
              <a:t>e as 4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notas  escolares de 8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6634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511" y="7290623"/>
            <a:ext cx="17822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100" dirty="0">
                <a:latin typeface="Times New Roman"/>
                <a:cs typeface="Times New Roman"/>
              </a:rPr>
              <a:t>46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8960" y="1318188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80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33963" y="1362548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9313" y="2298435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2200" y="1869535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43"/>
              </a:spcBef>
              <a:tabLst>
                <a:tab pos="1619208" algn="l"/>
                <a:tab pos="2131185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446" y="179536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0689" y="223476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0689" y="260419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60689" y="3107960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0446" y="1795368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6452" y="179536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07723" y="2234764"/>
            <a:ext cx="0" cy="862001"/>
          </a:xfrm>
          <a:custGeom>
            <a:avLst/>
            <a:gdLst/>
            <a:ahLst/>
            <a:cxnLst/>
            <a:rect l="l" t="t" r="r" b="b"/>
            <a:pathLst>
              <a:path h="782319">
                <a:moveTo>
                  <a:pt x="0" y="0"/>
                </a:moveTo>
                <a:lnTo>
                  <a:pt x="0" y="7823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2200" y="1869535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39"/>
                </a:moveTo>
                <a:lnTo>
                  <a:pt x="2016760" y="1729739"/>
                </a:lnTo>
                <a:lnTo>
                  <a:pt x="201676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1512" y="1875132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6217" y="1919210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41568" y="285467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751" y="2426476"/>
            <a:ext cx="235848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4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37"/>
              </a:spcBef>
              <a:tabLst>
                <a:tab pos="1618484" algn="l"/>
                <a:tab pos="2131185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997" y="235231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03239" y="278890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3239" y="3161135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03239" y="366490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2997" y="2352310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79003" y="235231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0274" y="2788908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44751" y="2426476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40"/>
                </a:moveTo>
                <a:lnTo>
                  <a:pt x="2016760" y="1729740"/>
                </a:lnTo>
                <a:lnTo>
                  <a:pt x="2016760" y="0"/>
                </a:lnTo>
                <a:lnTo>
                  <a:pt x="0" y="0"/>
                </a:lnTo>
                <a:lnTo>
                  <a:pt x="0" y="1729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27920" y="2426475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3073" y="2470135"/>
            <a:ext cx="107528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Nome:_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8274" y="340602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4131" y="2980620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24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9406" y="290365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59649" y="3340252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59649" y="3712479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59649" y="4216246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29406" y="2903655"/>
            <a:ext cx="0" cy="76964"/>
          </a:xfrm>
          <a:custGeom>
            <a:avLst/>
            <a:gdLst/>
            <a:ahLst/>
            <a:cxnLst/>
            <a:rect l="l" t="t" r="r" b="b"/>
            <a:pathLst>
              <a:path h="69850">
                <a:moveTo>
                  <a:pt x="0" y="0"/>
                </a:moveTo>
                <a:lnTo>
                  <a:pt x="0" y="6985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5412" y="290365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09652" y="3340252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4131" y="2980620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1561" y="2980620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64486" y="3024979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686" y="3960864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9165" y="3537561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775">
              <a:lnSpc>
                <a:spcPts val="220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845088">
              <a:spcBef>
                <a:spcPts val="1243"/>
              </a:spcBef>
              <a:tabLst>
                <a:tab pos="1359237" algn="l"/>
                <a:tab pos="18712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63045" y="345779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69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54683" y="3894395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4683" y="4266623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4683" y="4770389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63045" y="3457798"/>
            <a:ext cx="0" cy="79763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238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66082" y="345779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9165" y="3537561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200"/>
                </a:moveTo>
                <a:lnTo>
                  <a:pt x="2014220" y="1727200"/>
                </a:lnTo>
                <a:lnTo>
                  <a:pt x="2014220" y="0"/>
                </a:lnTo>
                <a:lnTo>
                  <a:pt x="0" y="0"/>
                </a:lnTo>
                <a:lnTo>
                  <a:pt x="0" y="172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99165" y="3534764"/>
            <a:ext cx="2103035" cy="1807961"/>
          </a:xfrm>
          <a:custGeom>
            <a:avLst/>
            <a:gdLst/>
            <a:ahLst/>
            <a:cxnLst/>
            <a:rect l="l" t="t" r="r" b="b"/>
            <a:pathLst>
              <a:path w="1798320" h="1640839">
                <a:moveTo>
                  <a:pt x="0" y="1640839"/>
                </a:moveTo>
                <a:lnTo>
                  <a:pt x="1798320" y="1640839"/>
                </a:lnTo>
                <a:lnTo>
                  <a:pt x="179832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01346" y="3578143"/>
            <a:ext cx="10737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66547" y="451360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2403" y="4094503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17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00650" y="4011942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27921" y="4448538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7921" y="4817967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27921" y="5321734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00650" y="4011942"/>
            <a:ext cx="0" cy="82562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93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3684" y="4011942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7925" y="4448539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72403" y="4094503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199"/>
                </a:moveTo>
                <a:lnTo>
                  <a:pt x="2014219" y="1727199"/>
                </a:lnTo>
                <a:lnTo>
                  <a:pt x="2014219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9832" y="4091704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60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332759" y="4136204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7959" y="507195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84266" y="4643049"/>
            <a:ext cx="2355518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794" algn="ctr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926193">
              <a:spcBef>
                <a:spcPts val="1243"/>
              </a:spcBef>
              <a:tabLst>
                <a:tab pos="1440342" algn="l"/>
                <a:tab pos="1952319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231318" y="4568884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39784" y="5005482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39784" y="5377708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9784" y="5881475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31318" y="4568884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37325" y="4568884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84266" y="4643049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67436" y="4648647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669619" y="4692727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34819" y="5628193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0676" y="5199991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5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68922" y="512582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99164" y="556242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99164" y="593185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9164" y="643561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68922" y="5125825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71956" y="512582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46199" y="5562424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0676" y="5199991"/>
            <a:ext cx="2358489" cy="1903119"/>
          </a:xfrm>
          <a:custGeom>
            <a:avLst/>
            <a:gdLst/>
            <a:ahLst/>
            <a:cxnLst/>
            <a:rect l="l" t="t" r="r" b="b"/>
            <a:pathLst>
              <a:path w="2016760" h="1727200">
                <a:moveTo>
                  <a:pt x="0" y="1727199"/>
                </a:moveTo>
                <a:lnTo>
                  <a:pt x="2016760" y="1727199"/>
                </a:lnTo>
                <a:lnTo>
                  <a:pt x="2016760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52863" y="1200644"/>
            <a:ext cx="424468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Esquematica</a:t>
            </a:r>
            <a:r>
              <a:rPr sz="3200" spc="11" dirty="0">
                <a:latin typeface="Arial"/>
                <a:cs typeface="Arial"/>
              </a:rPr>
              <a:t>m</a:t>
            </a:r>
            <a:r>
              <a:rPr sz="3200" dirty="0">
                <a:latin typeface="Arial"/>
                <a:cs typeface="Arial"/>
              </a:rPr>
              <a:t>ente: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798105" y="5199992"/>
            <a:ext cx="2106006" cy="1807961"/>
          </a:xfrm>
          <a:custGeom>
            <a:avLst/>
            <a:gdLst/>
            <a:ahLst/>
            <a:cxnLst/>
            <a:rect l="l" t="t" r="r" b="b"/>
            <a:pathLst>
              <a:path w="1800860" h="1640839">
                <a:moveTo>
                  <a:pt x="0" y="1640839"/>
                </a:moveTo>
                <a:lnTo>
                  <a:pt x="1800860" y="1640839"/>
                </a:lnTo>
                <a:lnTo>
                  <a:pt x="180086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901031" y="5243790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6623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04047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89148" y="5741961"/>
            <a:ext cx="76339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071">
              <a:spcBef>
                <a:spcPts val="1237"/>
              </a:spcBef>
              <a:tabLst>
                <a:tab pos="624221" algn="l"/>
              </a:tabLst>
            </a:pPr>
            <a:r>
              <a:rPr sz="1500" spc="-6" dirty="0">
                <a:latin typeface="Arial"/>
                <a:cs typeface="Arial"/>
              </a:rPr>
              <a:t>1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799592" y="567717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799592" y="6113767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99592" y="6483196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799592" y="6986963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99592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05596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25349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85110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7686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195377" y="7046086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1944" y="65178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57560" y="5962988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52186" y="5408495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09635" y="485183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61635" y="437605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819084" y="38195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41882" y="3184224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86810" y="5122047"/>
            <a:ext cx="2069321" cy="160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004343" y="3923782"/>
            <a:ext cx="4131067" cy="3198918"/>
          </a:xfrm>
          <a:custGeom>
            <a:avLst/>
            <a:gdLst/>
            <a:ahLst/>
            <a:cxnLst/>
            <a:rect l="l" t="t" r="r" b="b"/>
            <a:pathLst>
              <a:path w="3532504" h="2903220">
                <a:moveTo>
                  <a:pt x="3469234" y="43485"/>
                </a:moveTo>
                <a:lnTo>
                  <a:pt x="0" y="2893237"/>
                </a:lnTo>
                <a:lnTo>
                  <a:pt x="8128" y="2903042"/>
                </a:lnTo>
                <a:lnTo>
                  <a:pt x="3477253" y="53250"/>
                </a:lnTo>
                <a:lnTo>
                  <a:pt x="3469234" y="43485"/>
                </a:lnTo>
                <a:close/>
              </a:path>
              <a:path w="3532504" h="2903220">
                <a:moveTo>
                  <a:pt x="3516343" y="35433"/>
                </a:moveTo>
                <a:lnTo>
                  <a:pt x="3479038" y="35433"/>
                </a:lnTo>
                <a:lnTo>
                  <a:pt x="3487039" y="45212"/>
                </a:lnTo>
                <a:lnTo>
                  <a:pt x="3477253" y="53250"/>
                </a:lnTo>
                <a:lnTo>
                  <a:pt x="3497453" y="77851"/>
                </a:lnTo>
                <a:lnTo>
                  <a:pt x="3516343" y="35433"/>
                </a:lnTo>
                <a:close/>
              </a:path>
              <a:path w="3532504" h="2903220">
                <a:moveTo>
                  <a:pt x="3479038" y="35433"/>
                </a:moveTo>
                <a:lnTo>
                  <a:pt x="3469234" y="43485"/>
                </a:lnTo>
                <a:lnTo>
                  <a:pt x="3477253" y="53250"/>
                </a:lnTo>
                <a:lnTo>
                  <a:pt x="3487039" y="45212"/>
                </a:lnTo>
                <a:lnTo>
                  <a:pt x="3479038" y="35433"/>
                </a:lnTo>
                <a:close/>
              </a:path>
              <a:path w="3532504" h="2903220">
                <a:moveTo>
                  <a:pt x="3532124" y="0"/>
                </a:moveTo>
                <a:lnTo>
                  <a:pt x="3449066" y="18923"/>
                </a:lnTo>
                <a:lnTo>
                  <a:pt x="3469234" y="43485"/>
                </a:lnTo>
                <a:lnTo>
                  <a:pt x="3479038" y="35433"/>
                </a:lnTo>
                <a:lnTo>
                  <a:pt x="3516343" y="35433"/>
                </a:lnTo>
                <a:lnTo>
                  <a:pt x="3532124" y="0"/>
                </a:ln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978278" y="2051450"/>
            <a:ext cx="2946626" cy="740409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39828" rIns="0" bIns="0" rtlCol="0">
            <a:spAutoFit/>
          </a:bodyPr>
          <a:lstStyle/>
          <a:p>
            <a:pPr marL="107899">
              <a:lnSpc>
                <a:spcPts val="2737"/>
              </a:lnSpc>
              <a:spcBef>
                <a:spcPts val="314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</a:t>
            </a:r>
            <a:endParaRPr sz="2300">
              <a:latin typeface="Arial"/>
              <a:cs typeface="Arial"/>
            </a:endParaRPr>
          </a:p>
          <a:p>
            <a:pPr marL="487356"/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112" name="object 112"/>
          <p:cNvSpPr/>
          <p:nvPr/>
        </p:nvSpPr>
        <p:spPr>
          <a:xfrm>
            <a:off x="7594808" y="2796943"/>
            <a:ext cx="831709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1071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24024" y="3351728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62071" y="3904891"/>
            <a:ext cx="830966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18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25565" y="4463011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29157" y="5019475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93837" y="5570598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3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8048" y="3338854"/>
            <a:ext cx="4544695" cy="2594398"/>
          </a:xfrm>
          <a:custGeom>
            <a:avLst/>
            <a:gdLst/>
            <a:ahLst/>
            <a:cxnLst/>
            <a:rect l="l" t="t" r="r" b="b"/>
            <a:pathLst>
              <a:path w="3886200" h="2354579">
                <a:moveTo>
                  <a:pt x="0" y="0"/>
                </a:moveTo>
                <a:lnTo>
                  <a:pt x="3886200" y="2354198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2864" y="1200643"/>
            <a:ext cx="890596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Visão esquemática </a:t>
            </a:r>
            <a:r>
              <a:rPr sz="3400" dirty="0">
                <a:latin typeface="Arial"/>
                <a:cs typeface="Arial"/>
              </a:rPr>
              <a:t>do vetor de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estruturas: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483" y="3543158"/>
            <a:ext cx="2694143" cy="775241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41277" rIns="0" bIns="0" rtlCol="0">
            <a:spAutoFit/>
          </a:bodyPr>
          <a:lstStyle/>
          <a:p>
            <a:pPr marL="488080" marR="131072" indent="-379457">
              <a:spcBef>
                <a:spcPts val="325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  escolares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9879" y="3727872"/>
          <a:ext cx="2916920" cy="2236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082"/>
                <a:gridCol w="727745"/>
                <a:gridCol w="727744"/>
                <a:gridCol w="717349"/>
              </a:tblGrid>
              <a:tr h="591926">
                <a:tc gridSpan="4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1766570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Nome:_</a:t>
                      </a:r>
                      <a:r>
                        <a:rPr sz="2200" u="heavy" dirty="0">
                          <a:latin typeface="Arial"/>
                          <a:cs typeface="Arial"/>
                        </a:rPr>
                        <a:t> 	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27939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2129">
                <a:tc gridSpan="4"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900" spc="-10" dirty="0">
                          <a:latin typeface="Arial"/>
                          <a:cs typeface="Arial"/>
                        </a:rPr>
                        <a:t>notas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3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98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  <a:tr h="60312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19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7569" y="2186766"/>
            <a:ext cx="195303" cy="964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7569" y="3508175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569" y="4094224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569" y="4830982"/>
            <a:ext cx="195303" cy="2380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sz="2300" spc="-6" dirty="0"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34"/>
              </a:spcBef>
            </a:pPr>
            <a:endParaRPr sz="2800">
              <a:latin typeface="Times New Roman"/>
              <a:cs typeface="Times New Roman"/>
            </a:endParaRPr>
          </a:p>
          <a:p>
            <a:pPr marL="14483"/>
            <a:r>
              <a:rPr sz="2300" dirty="0"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7" name="object 27"/>
          <p:cNvSpPr/>
          <p:nvPr/>
        </p:nvSpPr>
        <p:spPr>
          <a:xfrm>
            <a:off x="4108048" y="2655970"/>
            <a:ext cx="4529843" cy="1083098"/>
          </a:xfrm>
          <a:custGeom>
            <a:avLst/>
            <a:gdLst/>
            <a:ahLst/>
            <a:cxnLst/>
            <a:rect l="l" t="t" r="r" b="b"/>
            <a:pathLst>
              <a:path w="3873500" h="982979">
                <a:moveTo>
                  <a:pt x="0" y="0"/>
                </a:moveTo>
                <a:lnTo>
                  <a:pt x="3873500" y="982726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887" y="2661566"/>
            <a:ext cx="2315418" cy="1074003"/>
          </a:xfrm>
          <a:custGeom>
            <a:avLst/>
            <a:gdLst/>
            <a:ahLst/>
            <a:cxnLst/>
            <a:rect l="l" t="t" r="r" b="b"/>
            <a:pathLst>
              <a:path w="1979929" h="974725">
                <a:moveTo>
                  <a:pt x="0" y="0"/>
                </a:moveTo>
                <a:lnTo>
                  <a:pt x="1979548" y="974725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1887" y="3324861"/>
            <a:ext cx="2311705" cy="2646874"/>
          </a:xfrm>
          <a:custGeom>
            <a:avLst/>
            <a:gdLst/>
            <a:ahLst/>
            <a:cxnLst/>
            <a:rect l="l" t="t" r="r" b="b"/>
            <a:pathLst>
              <a:path w="1976754" h="2402204">
                <a:moveTo>
                  <a:pt x="0" y="0"/>
                </a:moveTo>
                <a:lnTo>
                  <a:pt x="1976373" y="2401951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50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464" y="1704829"/>
            <a:ext cx="956539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Definição da </a:t>
            </a:r>
            <a:r>
              <a:rPr sz="3400" dirty="0">
                <a:latin typeface="Arial"/>
                <a:cs typeface="Arial"/>
              </a:rPr>
              <a:t>estrutura </a:t>
            </a:r>
            <a:r>
              <a:rPr sz="3400" spc="-6" dirty="0">
                <a:latin typeface="Arial"/>
                <a:cs typeface="Arial"/>
              </a:rPr>
              <a:t>e do </a:t>
            </a:r>
            <a:r>
              <a:rPr sz="3400" dirty="0">
                <a:latin typeface="Arial"/>
                <a:cs typeface="Arial"/>
              </a:rPr>
              <a:t>vetor </a:t>
            </a:r>
            <a:r>
              <a:rPr sz="3400" spc="-6" dirty="0">
                <a:latin typeface="Arial"/>
                <a:cs typeface="Arial"/>
              </a:rPr>
              <a:t>de 8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02804" y="2733913"/>
            <a:ext cx="1280980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str</a:t>
            </a:r>
            <a:r>
              <a:rPr sz="2700" b="1" spc="-23" dirty="0">
                <a:solidFill>
                  <a:srgbClr val="00009F"/>
                </a:solidFill>
                <a:latin typeface="Courier New"/>
                <a:cs typeface="Courier New"/>
              </a:rPr>
              <a:t>u</a:t>
            </a: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1414" y="2733913"/>
            <a:ext cx="1497076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  float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414" y="3540360"/>
            <a:ext cx="3630558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94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1668451"/>
            <a:r>
              <a:rPr sz="2700" spc="-6" dirty="0">
                <a:latin typeface="Courier New"/>
                <a:cs typeface="Courier New"/>
              </a:rPr>
              <a:t>not</a:t>
            </a:r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dirty="0">
                <a:latin typeface="Courier New"/>
                <a:cs typeface="Courier New"/>
              </a:rPr>
              <a:t>s</a:t>
            </a:r>
            <a:r>
              <a:rPr sz="2700" spc="-29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50" y="4346666"/>
            <a:ext cx="1283951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6" dirty="0">
                <a:latin typeface="Courier New"/>
                <a:cs typeface="Courier New"/>
              </a:rPr>
              <a:t>Alun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414" y="5152833"/>
            <a:ext cx="5132089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main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624945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80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notasAlunos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76425"/>
            <a:r>
              <a:rPr sz="2700" spc="-6" dirty="0">
                <a:latin typeface="Courier New"/>
                <a:cs typeface="Courier New"/>
              </a:rPr>
              <a:t>...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536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19494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1302029"/>
            <a:r>
              <a:rPr sz="2300" b="1" spc="-6" dirty="0" smtClean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 dirty="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 dirty="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994" y="4998065"/>
            <a:ext cx="5882855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782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20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2982298"/>
            <a:ext cx="5200408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0" y="0"/>
                </a:moveTo>
                <a:lnTo>
                  <a:pt x="1010538" y="1561845"/>
                </a:lnTo>
                <a:lnTo>
                  <a:pt x="1010538" y="3169030"/>
                </a:lnTo>
                <a:lnTo>
                  <a:pt x="1013405" y="3215185"/>
                </a:lnTo>
                <a:lnTo>
                  <a:pt x="1021775" y="3259627"/>
                </a:lnTo>
                <a:lnTo>
                  <a:pt x="1035303" y="3302013"/>
                </a:lnTo>
                <a:lnTo>
                  <a:pt x="1053645" y="3341998"/>
                </a:lnTo>
                <a:lnTo>
                  <a:pt x="1076456" y="3379238"/>
                </a:lnTo>
                <a:lnTo>
                  <a:pt x="1103392" y="3413387"/>
                </a:lnTo>
                <a:lnTo>
                  <a:pt x="1134106" y="3444101"/>
                </a:lnTo>
                <a:lnTo>
                  <a:pt x="1168256" y="3471035"/>
                </a:lnTo>
                <a:lnTo>
                  <a:pt x="1205495" y="3493845"/>
                </a:lnTo>
                <a:lnTo>
                  <a:pt x="1245480" y="3512186"/>
                </a:lnTo>
                <a:lnTo>
                  <a:pt x="1287865" y="3525714"/>
                </a:lnTo>
                <a:lnTo>
                  <a:pt x="1332306" y="3534083"/>
                </a:lnTo>
                <a:lnTo>
                  <a:pt x="1378458" y="3536950"/>
                </a:lnTo>
                <a:lnTo>
                  <a:pt x="2849880" y="3536950"/>
                </a:lnTo>
                <a:lnTo>
                  <a:pt x="2896031" y="3534083"/>
                </a:lnTo>
                <a:lnTo>
                  <a:pt x="2940472" y="3525714"/>
                </a:lnTo>
                <a:lnTo>
                  <a:pt x="2982857" y="3512186"/>
                </a:lnTo>
                <a:lnTo>
                  <a:pt x="3022842" y="3493845"/>
                </a:lnTo>
                <a:lnTo>
                  <a:pt x="3060081" y="3471035"/>
                </a:lnTo>
                <a:lnTo>
                  <a:pt x="3094231" y="3444101"/>
                </a:lnTo>
                <a:lnTo>
                  <a:pt x="3124945" y="3413387"/>
                </a:lnTo>
                <a:lnTo>
                  <a:pt x="3151881" y="3379238"/>
                </a:lnTo>
                <a:lnTo>
                  <a:pt x="3174692" y="3341998"/>
                </a:lnTo>
                <a:lnTo>
                  <a:pt x="3193034" y="3302013"/>
                </a:lnTo>
                <a:lnTo>
                  <a:pt x="3206562" y="3259627"/>
                </a:lnTo>
                <a:lnTo>
                  <a:pt x="3214932" y="3215185"/>
                </a:lnTo>
                <a:lnTo>
                  <a:pt x="3217798" y="3169030"/>
                </a:lnTo>
                <a:lnTo>
                  <a:pt x="3217798" y="715390"/>
                </a:lnTo>
                <a:lnTo>
                  <a:pt x="1010538" y="715390"/>
                </a:lnTo>
                <a:lnTo>
                  <a:pt x="0" y="0"/>
                </a:lnTo>
                <a:close/>
              </a:path>
              <a:path w="3218179" h="3536950">
                <a:moveTo>
                  <a:pt x="2849880" y="151129"/>
                </a:moveTo>
                <a:lnTo>
                  <a:pt x="1378458" y="151129"/>
                </a:lnTo>
                <a:lnTo>
                  <a:pt x="1332306" y="153996"/>
                </a:lnTo>
                <a:lnTo>
                  <a:pt x="1287865" y="162366"/>
                </a:lnTo>
                <a:lnTo>
                  <a:pt x="1245480" y="175894"/>
                </a:lnTo>
                <a:lnTo>
                  <a:pt x="1205495" y="194236"/>
                </a:lnTo>
                <a:lnTo>
                  <a:pt x="1168256" y="217047"/>
                </a:lnTo>
                <a:lnTo>
                  <a:pt x="1134106" y="243983"/>
                </a:lnTo>
                <a:lnTo>
                  <a:pt x="1103392" y="274697"/>
                </a:lnTo>
                <a:lnTo>
                  <a:pt x="1076456" y="308847"/>
                </a:lnTo>
                <a:lnTo>
                  <a:pt x="1053645" y="346086"/>
                </a:lnTo>
                <a:lnTo>
                  <a:pt x="1035303" y="386071"/>
                </a:lnTo>
                <a:lnTo>
                  <a:pt x="1021775" y="428456"/>
                </a:lnTo>
                <a:lnTo>
                  <a:pt x="1013405" y="472897"/>
                </a:lnTo>
                <a:lnTo>
                  <a:pt x="1010538" y="519049"/>
                </a:lnTo>
                <a:lnTo>
                  <a:pt x="1010538" y="715390"/>
                </a:lnTo>
                <a:lnTo>
                  <a:pt x="3217798" y="715390"/>
                </a:lnTo>
                <a:lnTo>
                  <a:pt x="3217798" y="519049"/>
                </a:lnTo>
                <a:lnTo>
                  <a:pt x="3214932" y="472897"/>
                </a:lnTo>
                <a:lnTo>
                  <a:pt x="3206562" y="428456"/>
                </a:lnTo>
                <a:lnTo>
                  <a:pt x="3193034" y="386071"/>
                </a:lnTo>
                <a:lnTo>
                  <a:pt x="3174692" y="346086"/>
                </a:lnTo>
                <a:lnTo>
                  <a:pt x="3151881" y="308847"/>
                </a:lnTo>
                <a:lnTo>
                  <a:pt x="3124945" y="274697"/>
                </a:lnTo>
                <a:lnTo>
                  <a:pt x="3094231" y="243983"/>
                </a:lnTo>
                <a:lnTo>
                  <a:pt x="3060081" y="217047"/>
                </a:lnTo>
                <a:lnTo>
                  <a:pt x="3022842" y="194236"/>
                </a:lnTo>
                <a:lnTo>
                  <a:pt x="2982857" y="175894"/>
                </a:lnTo>
                <a:lnTo>
                  <a:pt x="2940472" y="162366"/>
                </a:lnTo>
                <a:lnTo>
                  <a:pt x="2896031" y="153996"/>
                </a:lnTo>
                <a:lnTo>
                  <a:pt x="2849880" y="15112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1010538" y="519049"/>
                </a:moveTo>
                <a:lnTo>
                  <a:pt x="1013405" y="472897"/>
                </a:lnTo>
                <a:lnTo>
                  <a:pt x="1021775" y="428456"/>
                </a:lnTo>
                <a:lnTo>
                  <a:pt x="1035303" y="386071"/>
                </a:lnTo>
                <a:lnTo>
                  <a:pt x="1053645" y="346086"/>
                </a:lnTo>
                <a:lnTo>
                  <a:pt x="1076456" y="308847"/>
                </a:lnTo>
                <a:lnTo>
                  <a:pt x="1103392" y="274697"/>
                </a:lnTo>
                <a:lnTo>
                  <a:pt x="1134106" y="243983"/>
                </a:lnTo>
                <a:lnTo>
                  <a:pt x="1168256" y="217047"/>
                </a:lnTo>
                <a:lnTo>
                  <a:pt x="1205495" y="194236"/>
                </a:lnTo>
                <a:lnTo>
                  <a:pt x="1245480" y="175894"/>
                </a:lnTo>
                <a:lnTo>
                  <a:pt x="1287865" y="162366"/>
                </a:lnTo>
                <a:lnTo>
                  <a:pt x="1332306" y="153996"/>
                </a:lnTo>
                <a:lnTo>
                  <a:pt x="1378458" y="151129"/>
                </a:lnTo>
                <a:lnTo>
                  <a:pt x="1930272" y="151129"/>
                </a:lnTo>
                <a:lnTo>
                  <a:pt x="2849880" y="151129"/>
                </a:lnTo>
                <a:lnTo>
                  <a:pt x="2896031" y="153996"/>
                </a:lnTo>
                <a:lnTo>
                  <a:pt x="2940472" y="162366"/>
                </a:lnTo>
                <a:lnTo>
                  <a:pt x="2982857" y="175894"/>
                </a:lnTo>
                <a:lnTo>
                  <a:pt x="3022842" y="194236"/>
                </a:lnTo>
                <a:lnTo>
                  <a:pt x="3060081" y="217047"/>
                </a:lnTo>
                <a:lnTo>
                  <a:pt x="3094231" y="243983"/>
                </a:lnTo>
                <a:lnTo>
                  <a:pt x="3124945" y="274697"/>
                </a:lnTo>
                <a:lnTo>
                  <a:pt x="3151881" y="308847"/>
                </a:lnTo>
                <a:lnTo>
                  <a:pt x="3174692" y="346086"/>
                </a:lnTo>
                <a:lnTo>
                  <a:pt x="3193034" y="386071"/>
                </a:lnTo>
                <a:lnTo>
                  <a:pt x="3206562" y="428456"/>
                </a:lnTo>
                <a:lnTo>
                  <a:pt x="3214932" y="472897"/>
                </a:lnTo>
                <a:lnTo>
                  <a:pt x="3217798" y="519049"/>
                </a:lnTo>
                <a:lnTo>
                  <a:pt x="3217798" y="715390"/>
                </a:lnTo>
                <a:lnTo>
                  <a:pt x="3217798" y="1561845"/>
                </a:lnTo>
                <a:lnTo>
                  <a:pt x="3217798" y="3169030"/>
                </a:lnTo>
                <a:lnTo>
                  <a:pt x="3214932" y="3215185"/>
                </a:lnTo>
                <a:lnTo>
                  <a:pt x="3206562" y="3259627"/>
                </a:lnTo>
                <a:lnTo>
                  <a:pt x="3193034" y="3302013"/>
                </a:lnTo>
                <a:lnTo>
                  <a:pt x="3174692" y="3341998"/>
                </a:lnTo>
                <a:lnTo>
                  <a:pt x="3151881" y="3379238"/>
                </a:lnTo>
                <a:lnTo>
                  <a:pt x="3124945" y="3413387"/>
                </a:lnTo>
                <a:lnTo>
                  <a:pt x="3094231" y="3444101"/>
                </a:lnTo>
                <a:lnTo>
                  <a:pt x="3060081" y="3471035"/>
                </a:lnTo>
                <a:lnTo>
                  <a:pt x="3022842" y="3493845"/>
                </a:lnTo>
                <a:lnTo>
                  <a:pt x="2982857" y="3512186"/>
                </a:lnTo>
                <a:lnTo>
                  <a:pt x="2940472" y="3525714"/>
                </a:lnTo>
                <a:lnTo>
                  <a:pt x="2896031" y="3534083"/>
                </a:lnTo>
                <a:lnTo>
                  <a:pt x="2849880" y="3536950"/>
                </a:lnTo>
                <a:lnTo>
                  <a:pt x="1930272" y="3536950"/>
                </a:lnTo>
                <a:lnTo>
                  <a:pt x="1378458" y="3536950"/>
                </a:lnTo>
                <a:lnTo>
                  <a:pt x="1332306" y="3534083"/>
                </a:lnTo>
                <a:lnTo>
                  <a:pt x="1287865" y="3525714"/>
                </a:lnTo>
                <a:lnTo>
                  <a:pt x="1245480" y="3512186"/>
                </a:lnTo>
                <a:lnTo>
                  <a:pt x="1205495" y="3493845"/>
                </a:lnTo>
                <a:lnTo>
                  <a:pt x="1168256" y="3471035"/>
                </a:lnTo>
                <a:lnTo>
                  <a:pt x="1134106" y="3444101"/>
                </a:lnTo>
                <a:lnTo>
                  <a:pt x="1103392" y="3413387"/>
                </a:lnTo>
                <a:lnTo>
                  <a:pt x="1076456" y="3379238"/>
                </a:lnTo>
                <a:lnTo>
                  <a:pt x="1053645" y="3341998"/>
                </a:lnTo>
                <a:lnTo>
                  <a:pt x="1035303" y="3302013"/>
                </a:lnTo>
                <a:lnTo>
                  <a:pt x="1021775" y="3259627"/>
                </a:lnTo>
                <a:lnTo>
                  <a:pt x="1013405" y="3215185"/>
                </a:lnTo>
                <a:lnTo>
                  <a:pt x="1010538" y="3169030"/>
                </a:lnTo>
                <a:lnTo>
                  <a:pt x="1010538" y="1561845"/>
                </a:lnTo>
                <a:lnTo>
                  <a:pt x="0" y="0"/>
                </a:lnTo>
                <a:lnTo>
                  <a:pt x="1010538" y="715390"/>
                </a:lnTo>
                <a:lnTo>
                  <a:pt x="1010538" y="5190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5348" y="3069479"/>
            <a:ext cx="2314676" cy="101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38" marR="126727" algn="ctr"/>
            <a:r>
              <a:rPr spc="-6" dirty="0">
                <a:latin typeface="Arial"/>
                <a:cs typeface="Arial"/>
              </a:rPr>
              <a:t>Assim como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ocorre  com tipos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básicos: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1368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08382" y="4043846"/>
            <a:ext cx="1430242" cy="5492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uma</a:t>
            </a:r>
            <a:r>
              <a:rPr spc="-86" dirty="0">
                <a:latin typeface="Arial"/>
                <a:cs typeface="Arial"/>
              </a:rPr>
              <a:t> </a:t>
            </a:r>
            <a:r>
              <a:rPr b="1" spc="-17" dirty="0">
                <a:solidFill>
                  <a:srgbClr val="00664D"/>
                </a:solidFill>
                <a:latin typeface="Arial"/>
                <a:cs typeface="Arial"/>
              </a:rPr>
              <a:t>variável</a:t>
            </a:r>
            <a:endParaRPr>
              <a:latin typeface="Arial"/>
              <a:cs typeface="Arial"/>
            </a:endParaRPr>
          </a:p>
          <a:p>
            <a:pPr marL="60829"/>
            <a:r>
              <a:rPr spc="-11" dirty="0">
                <a:latin typeface="Arial"/>
                <a:cs typeface="Arial"/>
              </a:rPr>
              <a:t>passada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por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5347" y="4581057"/>
            <a:ext cx="2315418" cy="946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2172" algn="ctr"/>
            <a:r>
              <a:rPr spc="-6" dirty="0">
                <a:latin typeface="Arial"/>
                <a:cs typeface="Arial"/>
              </a:rPr>
              <a:t>parâmetro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não têm  efeito </a:t>
            </a:r>
            <a:r>
              <a:rPr dirty="0">
                <a:latin typeface="Arial"/>
                <a:cs typeface="Arial"/>
              </a:rPr>
              <a:t>fora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função;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912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156" y="5499453"/>
            <a:ext cx="187877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-4345" algn="ctr"/>
            <a:r>
              <a:rPr spc="-11" dirty="0">
                <a:latin typeface="Arial"/>
                <a:cs typeface="Arial"/>
              </a:rPr>
              <a:t>um </a:t>
            </a:r>
            <a:r>
              <a:rPr b="1" spc="-11" dirty="0">
                <a:solidFill>
                  <a:srgbClr val="00664D"/>
                </a:solidFill>
                <a:latin typeface="Arial"/>
                <a:cs typeface="Arial"/>
              </a:rPr>
              <a:t>vetor são 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mantidas </a:t>
            </a:r>
            <a:r>
              <a:rPr dirty="0">
                <a:latin typeface="Arial"/>
                <a:cs typeface="Arial"/>
              </a:rPr>
              <a:t>fora</a:t>
            </a:r>
            <a:r>
              <a:rPr spc="-6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da  </a:t>
            </a:r>
            <a:r>
              <a:rPr spc="-6" dirty="0">
                <a:latin typeface="Arial"/>
                <a:cs typeface="Arial"/>
              </a:rPr>
              <a:t>função.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5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1933741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3318142"/>
            <a:ext cx="5200408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142" y="4998064"/>
            <a:ext cx="5912559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70967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1244600" y="0"/>
                </a:moveTo>
                <a:lnTo>
                  <a:pt x="124460" y="0"/>
                </a:lnTo>
                <a:lnTo>
                  <a:pt x="76016" y="9784"/>
                </a:lnTo>
                <a:lnTo>
                  <a:pt x="36455" y="36464"/>
                </a:lnTo>
                <a:lnTo>
                  <a:pt x="9781" y="76027"/>
                </a:lnTo>
                <a:lnTo>
                  <a:pt x="0" y="124460"/>
                </a:lnTo>
                <a:lnTo>
                  <a:pt x="0" y="622300"/>
                </a:lnTo>
                <a:lnTo>
                  <a:pt x="9781" y="670732"/>
                </a:lnTo>
                <a:lnTo>
                  <a:pt x="36455" y="710295"/>
                </a:lnTo>
                <a:lnTo>
                  <a:pt x="76016" y="736975"/>
                </a:lnTo>
                <a:lnTo>
                  <a:pt x="124460" y="746760"/>
                </a:lnTo>
                <a:lnTo>
                  <a:pt x="1244600" y="746760"/>
                </a:lnTo>
                <a:lnTo>
                  <a:pt x="1293032" y="736975"/>
                </a:lnTo>
                <a:lnTo>
                  <a:pt x="1332595" y="710295"/>
                </a:lnTo>
                <a:lnTo>
                  <a:pt x="1359275" y="670732"/>
                </a:lnTo>
                <a:lnTo>
                  <a:pt x="1369060" y="622300"/>
                </a:lnTo>
                <a:lnTo>
                  <a:pt x="1369060" y="311150"/>
                </a:lnTo>
                <a:lnTo>
                  <a:pt x="1702943" y="276733"/>
                </a:lnTo>
                <a:lnTo>
                  <a:pt x="1369060" y="124460"/>
                </a:lnTo>
                <a:lnTo>
                  <a:pt x="1359275" y="76027"/>
                </a:lnTo>
                <a:lnTo>
                  <a:pt x="1332595" y="36464"/>
                </a:lnTo>
                <a:lnTo>
                  <a:pt x="1293032" y="9784"/>
                </a:lnTo>
                <a:lnTo>
                  <a:pt x="12446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0" y="124460"/>
                </a:moveTo>
                <a:lnTo>
                  <a:pt x="9781" y="76027"/>
                </a:lnTo>
                <a:lnTo>
                  <a:pt x="36455" y="36464"/>
                </a:lnTo>
                <a:lnTo>
                  <a:pt x="76016" y="9784"/>
                </a:lnTo>
                <a:lnTo>
                  <a:pt x="124460" y="0"/>
                </a:lnTo>
                <a:lnTo>
                  <a:pt x="798614" y="0"/>
                </a:lnTo>
                <a:lnTo>
                  <a:pt x="1140841" y="0"/>
                </a:lnTo>
                <a:lnTo>
                  <a:pt x="1244600" y="0"/>
                </a:lnTo>
                <a:lnTo>
                  <a:pt x="1293032" y="9784"/>
                </a:lnTo>
                <a:lnTo>
                  <a:pt x="1332595" y="36464"/>
                </a:lnTo>
                <a:lnTo>
                  <a:pt x="1359275" y="76027"/>
                </a:lnTo>
                <a:lnTo>
                  <a:pt x="1369060" y="124460"/>
                </a:lnTo>
                <a:lnTo>
                  <a:pt x="1702943" y="276733"/>
                </a:lnTo>
                <a:lnTo>
                  <a:pt x="1369060" y="311150"/>
                </a:lnTo>
                <a:lnTo>
                  <a:pt x="1369060" y="622300"/>
                </a:lnTo>
                <a:lnTo>
                  <a:pt x="1359275" y="670732"/>
                </a:lnTo>
                <a:lnTo>
                  <a:pt x="1332595" y="710295"/>
                </a:lnTo>
                <a:lnTo>
                  <a:pt x="1293032" y="736975"/>
                </a:lnTo>
                <a:lnTo>
                  <a:pt x="1244600" y="746760"/>
                </a:lnTo>
                <a:lnTo>
                  <a:pt x="1140841" y="746760"/>
                </a:lnTo>
                <a:lnTo>
                  <a:pt x="798614" y="746760"/>
                </a:lnTo>
                <a:lnTo>
                  <a:pt x="124460" y="746760"/>
                </a:lnTo>
                <a:lnTo>
                  <a:pt x="76016" y="736975"/>
                </a:lnTo>
                <a:lnTo>
                  <a:pt x="36455" y="710295"/>
                </a:lnTo>
                <a:lnTo>
                  <a:pt x="9781" y="670732"/>
                </a:lnTo>
                <a:lnTo>
                  <a:pt x="0" y="622300"/>
                </a:lnTo>
                <a:lnTo>
                  <a:pt x="0" y="311150"/>
                </a:lnTo>
                <a:lnTo>
                  <a:pt x="0" y="124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880" y="3275183"/>
            <a:ext cx="1491135" cy="54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42"/>
            <a:r>
              <a:rPr spc="-11" dirty="0">
                <a:latin typeface="Arial"/>
                <a:cs typeface="Arial"/>
              </a:rPr>
              <a:t>Laço para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ler</a:t>
            </a:r>
            <a:endParaRPr>
              <a:latin typeface="Arial"/>
              <a:cs typeface="Arial"/>
            </a:endParaRPr>
          </a:p>
          <a:p>
            <a:pPr marL="14483"/>
            <a:r>
              <a:rPr spc="-11" dirty="0">
                <a:latin typeface="Arial"/>
                <a:cs typeface="Arial"/>
              </a:rPr>
              <a:t>os </a:t>
            </a:r>
            <a:r>
              <a:rPr spc="-6" dirty="0">
                <a:latin typeface="Arial"/>
                <a:cs typeface="Arial"/>
              </a:rPr>
              <a:t>oito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2247" y="3303870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0"/>
                </a:lnTo>
                <a:lnTo>
                  <a:pt x="4752340" y="300608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79"/>
                </a:lnTo>
                <a:lnTo>
                  <a:pt x="60070" y="360679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8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22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 dirty="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4326516"/>
            <a:ext cx="5200408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143" y="5670174"/>
            <a:ext cx="565115" cy="7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1446148" y="0"/>
                </a:moveTo>
                <a:lnTo>
                  <a:pt x="136321" y="0"/>
                </a:lnTo>
                <a:lnTo>
                  <a:pt x="93234" y="6954"/>
                </a:lnTo>
                <a:lnTo>
                  <a:pt x="55813" y="26314"/>
                </a:lnTo>
                <a:lnTo>
                  <a:pt x="26303" y="55824"/>
                </a:lnTo>
                <a:lnTo>
                  <a:pt x="6950" y="93228"/>
                </a:lnTo>
                <a:lnTo>
                  <a:pt x="0" y="136271"/>
                </a:lnTo>
                <a:lnTo>
                  <a:pt x="0" y="681608"/>
                </a:lnTo>
                <a:lnTo>
                  <a:pt x="6950" y="724651"/>
                </a:lnTo>
                <a:lnTo>
                  <a:pt x="26303" y="762055"/>
                </a:lnTo>
                <a:lnTo>
                  <a:pt x="55813" y="791565"/>
                </a:lnTo>
                <a:lnTo>
                  <a:pt x="93234" y="810925"/>
                </a:lnTo>
                <a:lnTo>
                  <a:pt x="136321" y="817880"/>
                </a:lnTo>
                <a:lnTo>
                  <a:pt x="1446148" y="817880"/>
                </a:lnTo>
                <a:lnTo>
                  <a:pt x="1489191" y="810925"/>
                </a:lnTo>
                <a:lnTo>
                  <a:pt x="1526595" y="791565"/>
                </a:lnTo>
                <a:lnTo>
                  <a:pt x="1556105" y="762055"/>
                </a:lnTo>
                <a:lnTo>
                  <a:pt x="1575465" y="724651"/>
                </a:lnTo>
                <a:lnTo>
                  <a:pt x="1582420" y="681608"/>
                </a:lnTo>
                <a:lnTo>
                  <a:pt x="1582420" y="340741"/>
                </a:lnTo>
                <a:lnTo>
                  <a:pt x="2023088" y="340741"/>
                </a:lnTo>
                <a:lnTo>
                  <a:pt x="1582420" y="136271"/>
                </a:lnTo>
                <a:lnTo>
                  <a:pt x="1575465" y="93228"/>
                </a:lnTo>
                <a:lnTo>
                  <a:pt x="1556105" y="55824"/>
                </a:lnTo>
                <a:lnTo>
                  <a:pt x="1526595" y="26314"/>
                </a:lnTo>
                <a:lnTo>
                  <a:pt x="1489191" y="6954"/>
                </a:lnTo>
                <a:lnTo>
                  <a:pt x="1446148" y="0"/>
                </a:lnTo>
                <a:close/>
              </a:path>
              <a:path w="2106295" h="817879">
                <a:moveTo>
                  <a:pt x="2023088" y="340741"/>
                </a:moveTo>
                <a:lnTo>
                  <a:pt x="1582420" y="340741"/>
                </a:lnTo>
                <a:lnTo>
                  <a:pt x="2106295" y="379349"/>
                </a:lnTo>
                <a:lnTo>
                  <a:pt x="2023088" y="340741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0" y="136271"/>
                </a:moveTo>
                <a:lnTo>
                  <a:pt x="6950" y="93228"/>
                </a:lnTo>
                <a:lnTo>
                  <a:pt x="26303" y="55824"/>
                </a:lnTo>
                <a:lnTo>
                  <a:pt x="55813" y="26314"/>
                </a:lnTo>
                <a:lnTo>
                  <a:pt x="93234" y="6954"/>
                </a:lnTo>
                <a:lnTo>
                  <a:pt x="136321" y="0"/>
                </a:lnTo>
                <a:lnTo>
                  <a:pt x="923074" y="0"/>
                </a:lnTo>
                <a:lnTo>
                  <a:pt x="1318641" y="0"/>
                </a:lnTo>
                <a:lnTo>
                  <a:pt x="1446148" y="0"/>
                </a:lnTo>
                <a:lnTo>
                  <a:pt x="1489191" y="6954"/>
                </a:lnTo>
                <a:lnTo>
                  <a:pt x="1526595" y="26314"/>
                </a:lnTo>
                <a:lnTo>
                  <a:pt x="1556105" y="55824"/>
                </a:lnTo>
                <a:lnTo>
                  <a:pt x="1575465" y="93228"/>
                </a:lnTo>
                <a:lnTo>
                  <a:pt x="1582420" y="136271"/>
                </a:lnTo>
                <a:lnTo>
                  <a:pt x="2106295" y="379349"/>
                </a:lnTo>
                <a:lnTo>
                  <a:pt x="1582420" y="340741"/>
                </a:lnTo>
                <a:lnTo>
                  <a:pt x="1582420" y="681608"/>
                </a:lnTo>
                <a:lnTo>
                  <a:pt x="1575465" y="724651"/>
                </a:lnTo>
                <a:lnTo>
                  <a:pt x="1556105" y="762055"/>
                </a:lnTo>
                <a:lnTo>
                  <a:pt x="1526595" y="791565"/>
                </a:lnTo>
                <a:lnTo>
                  <a:pt x="1489191" y="810925"/>
                </a:lnTo>
                <a:lnTo>
                  <a:pt x="1446148" y="817880"/>
                </a:lnTo>
                <a:lnTo>
                  <a:pt x="1318641" y="817880"/>
                </a:lnTo>
                <a:lnTo>
                  <a:pt x="923074" y="817880"/>
                </a:lnTo>
                <a:lnTo>
                  <a:pt x="136321" y="817880"/>
                </a:lnTo>
                <a:lnTo>
                  <a:pt x="93234" y="810925"/>
                </a:lnTo>
                <a:lnTo>
                  <a:pt x="55813" y="791565"/>
                </a:lnTo>
                <a:lnTo>
                  <a:pt x="26303" y="762055"/>
                </a:lnTo>
                <a:lnTo>
                  <a:pt x="6950" y="724651"/>
                </a:lnTo>
                <a:lnTo>
                  <a:pt x="0" y="681608"/>
                </a:lnTo>
                <a:lnTo>
                  <a:pt x="0" y="340741"/>
                </a:lnTo>
                <a:lnTo>
                  <a:pt x="0" y="13627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1473" y="3821909"/>
            <a:ext cx="138865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gets é</a:t>
            </a:r>
            <a:r>
              <a:rPr spc="-46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usado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984" y="4090726"/>
            <a:ext cx="169386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para ler 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nome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125" y="4359261"/>
            <a:ext cx="151935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de cada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lang="pt-BR" sz="2300" spc="-6" dirty="0">
                <a:latin typeface="Courier New"/>
                <a:cs typeface="Courier New"/>
              </a:rPr>
              <a:t>S</a:t>
            </a:r>
            <a:r>
              <a:rPr sz="2300" spc="-6" dirty="0" err="1">
                <a:latin typeface="Courier New"/>
                <a:cs typeface="Courier New"/>
              </a:rPr>
              <a:t>canf</a:t>
            </a:r>
            <a:r>
              <a:rPr lang="pt-BR" sz="2300" spc="-6" dirty="0">
                <a:latin typeface="Courier New"/>
                <a:cs typeface="Courier New"/>
              </a:rPr>
              <a:t> </a:t>
            </a:r>
            <a:r>
              <a:rPr sz="2300" spc="-86" dirty="0" smtClean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86" dirty="0" smtClean="0">
                <a:solidFill>
                  <a:srgbClr val="0000FF"/>
                </a:solidFill>
                <a:latin typeface="Courier New"/>
                <a:cs typeface="Courier New"/>
              </a:rPr>
              <a:t>"%</a:t>
            </a:r>
            <a:r>
              <a:rPr sz="2300" spc="-86" dirty="0">
                <a:solidFill>
                  <a:srgbClr val="0000FF"/>
                </a:solidFill>
                <a:latin typeface="Courier New"/>
                <a:cs typeface="Courier New"/>
              </a:rPr>
              <a:t>f"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86" dirty="0">
                <a:latin typeface="Courier New"/>
                <a:cs typeface="Courier New"/>
              </a:rPr>
              <a:t>A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i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86" dirty="0">
                <a:latin typeface="Courier New"/>
                <a:cs typeface="Courier New"/>
              </a:rPr>
              <a:t>notas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j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67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1871980" y="397637"/>
                </a:moveTo>
                <a:lnTo>
                  <a:pt x="132080" y="397637"/>
                </a:lnTo>
                <a:lnTo>
                  <a:pt x="90331" y="404375"/>
                </a:lnTo>
                <a:lnTo>
                  <a:pt x="54073" y="423134"/>
                </a:lnTo>
                <a:lnTo>
                  <a:pt x="25482" y="451732"/>
                </a:lnTo>
                <a:lnTo>
                  <a:pt x="6733" y="487987"/>
                </a:lnTo>
                <a:lnTo>
                  <a:pt x="0" y="529717"/>
                </a:lnTo>
                <a:lnTo>
                  <a:pt x="0" y="1058037"/>
                </a:lnTo>
                <a:lnTo>
                  <a:pt x="6733" y="1099766"/>
                </a:lnTo>
                <a:lnTo>
                  <a:pt x="25482" y="1136021"/>
                </a:lnTo>
                <a:lnTo>
                  <a:pt x="54073" y="1164619"/>
                </a:lnTo>
                <a:lnTo>
                  <a:pt x="90331" y="1183378"/>
                </a:lnTo>
                <a:lnTo>
                  <a:pt x="132080" y="1190117"/>
                </a:lnTo>
                <a:lnTo>
                  <a:pt x="1871980" y="1190117"/>
                </a:lnTo>
                <a:lnTo>
                  <a:pt x="1913709" y="1183378"/>
                </a:lnTo>
                <a:lnTo>
                  <a:pt x="1949964" y="1164619"/>
                </a:lnTo>
                <a:lnTo>
                  <a:pt x="1978562" y="1136021"/>
                </a:lnTo>
                <a:lnTo>
                  <a:pt x="1997321" y="1099766"/>
                </a:lnTo>
                <a:lnTo>
                  <a:pt x="2004060" y="1058037"/>
                </a:lnTo>
                <a:lnTo>
                  <a:pt x="2004060" y="529717"/>
                </a:lnTo>
                <a:lnTo>
                  <a:pt x="1997321" y="487987"/>
                </a:lnTo>
                <a:lnTo>
                  <a:pt x="1978562" y="451732"/>
                </a:lnTo>
                <a:lnTo>
                  <a:pt x="1949964" y="423134"/>
                </a:lnTo>
                <a:lnTo>
                  <a:pt x="1913709" y="404375"/>
                </a:lnTo>
                <a:lnTo>
                  <a:pt x="1871980" y="397637"/>
                </a:lnTo>
                <a:close/>
              </a:path>
              <a:path w="2004060" h="1190625">
                <a:moveTo>
                  <a:pt x="1979295" y="0"/>
                </a:moveTo>
                <a:lnTo>
                  <a:pt x="1169035" y="397637"/>
                </a:lnTo>
                <a:lnTo>
                  <a:pt x="1670050" y="397637"/>
                </a:lnTo>
                <a:lnTo>
                  <a:pt x="197929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0" y="529717"/>
                </a:moveTo>
                <a:lnTo>
                  <a:pt x="6733" y="487987"/>
                </a:lnTo>
                <a:lnTo>
                  <a:pt x="25482" y="451732"/>
                </a:lnTo>
                <a:lnTo>
                  <a:pt x="54073" y="423134"/>
                </a:lnTo>
                <a:lnTo>
                  <a:pt x="90331" y="404375"/>
                </a:lnTo>
                <a:lnTo>
                  <a:pt x="132080" y="397637"/>
                </a:lnTo>
                <a:lnTo>
                  <a:pt x="1169035" y="397637"/>
                </a:lnTo>
                <a:lnTo>
                  <a:pt x="1979295" y="0"/>
                </a:lnTo>
                <a:lnTo>
                  <a:pt x="1670050" y="397637"/>
                </a:lnTo>
                <a:lnTo>
                  <a:pt x="1871980" y="397637"/>
                </a:lnTo>
                <a:lnTo>
                  <a:pt x="1913709" y="404375"/>
                </a:lnTo>
                <a:lnTo>
                  <a:pt x="1949964" y="423134"/>
                </a:lnTo>
                <a:lnTo>
                  <a:pt x="1978562" y="451732"/>
                </a:lnTo>
                <a:lnTo>
                  <a:pt x="1997321" y="487987"/>
                </a:lnTo>
                <a:lnTo>
                  <a:pt x="2004060" y="529717"/>
                </a:lnTo>
                <a:lnTo>
                  <a:pt x="2004060" y="727837"/>
                </a:lnTo>
                <a:lnTo>
                  <a:pt x="2004060" y="1058037"/>
                </a:lnTo>
                <a:lnTo>
                  <a:pt x="1997321" y="1099766"/>
                </a:lnTo>
                <a:lnTo>
                  <a:pt x="1978562" y="1136021"/>
                </a:lnTo>
                <a:lnTo>
                  <a:pt x="1949964" y="1164619"/>
                </a:lnTo>
                <a:lnTo>
                  <a:pt x="1913709" y="1183378"/>
                </a:lnTo>
                <a:lnTo>
                  <a:pt x="1871980" y="1190117"/>
                </a:lnTo>
                <a:lnTo>
                  <a:pt x="1670050" y="1190117"/>
                </a:lnTo>
                <a:lnTo>
                  <a:pt x="1169035" y="1190117"/>
                </a:lnTo>
                <a:lnTo>
                  <a:pt x="132080" y="1190117"/>
                </a:lnTo>
                <a:lnTo>
                  <a:pt x="90331" y="1183378"/>
                </a:lnTo>
                <a:lnTo>
                  <a:pt x="54073" y="1164619"/>
                </a:lnTo>
                <a:lnTo>
                  <a:pt x="25482" y="1136021"/>
                </a:lnTo>
                <a:lnTo>
                  <a:pt x="6733" y="1099766"/>
                </a:lnTo>
                <a:lnTo>
                  <a:pt x="0" y="1058037"/>
                </a:lnTo>
                <a:lnTo>
                  <a:pt x="0" y="727837"/>
                </a:lnTo>
                <a:lnTo>
                  <a:pt x="0" y="52971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763" y="4998204"/>
            <a:ext cx="2221108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9" marR="5793" indent="-1448" algn="ctr"/>
            <a:r>
              <a:rPr spc="-6" dirty="0">
                <a:latin typeface="Arial"/>
                <a:cs typeface="Arial"/>
              </a:rPr>
              <a:t>Para </a:t>
            </a:r>
            <a:r>
              <a:rPr spc="-11" dirty="0">
                <a:latin typeface="Arial"/>
                <a:cs typeface="Arial"/>
              </a:rPr>
              <a:t>cada aluno, um  </a:t>
            </a:r>
            <a:r>
              <a:rPr spc="-6" dirty="0">
                <a:latin typeface="Arial"/>
                <a:cs typeface="Arial"/>
              </a:rPr>
              <a:t>laço para ler </a:t>
            </a:r>
            <a:r>
              <a:rPr spc="-11" dirty="0">
                <a:latin typeface="Arial"/>
                <a:cs typeface="Arial"/>
              </a:rPr>
              <a:t>as suas  quatro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4730" y="4333793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1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1"/>
                </a:lnTo>
                <a:lnTo>
                  <a:pt x="4752340" y="300609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80"/>
                </a:lnTo>
                <a:lnTo>
                  <a:pt x="60070" y="360680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9"/>
                </a:lnTo>
                <a:lnTo>
                  <a:pt x="0" y="60071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025650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888" y="4998065"/>
            <a:ext cx="516996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594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3442" y="5670174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995" y="6011616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1244600" y="227330"/>
                </a:moveTo>
                <a:lnTo>
                  <a:pt x="124460" y="227330"/>
                </a:lnTo>
                <a:lnTo>
                  <a:pt x="76027" y="237114"/>
                </a:lnTo>
                <a:lnTo>
                  <a:pt x="36464" y="263794"/>
                </a:lnTo>
                <a:lnTo>
                  <a:pt x="9784" y="303357"/>
                </a:lnTo>
                <a:lnTo>
                  <a:pt x="0" y="351789"/>
                </a:lnTo>
                <a:lnTo>
                  <a:pt x="0" y="849630"/>
                </a:lnTo>
                <a:lnTo>
                  <a:pt x="9784" y="898073"/>
                </a:lnTo>
                <a:lnTo>
                  <a:pt x="36464" y="937634"/>
                </a:lnTo>
                <a:lnTo>
                  <a:pt x="76027" y="964308"/>
                </a:lnTo>
                <a:lnTo>
                  <a:pt x="124460" y="974090"/>
                </a:lnTo>
                <a:lnTo>
                  <a:pt x="1244600" y="974090"/>
                </a:lnTo>
                <a:lnTo>
                  <a:pt x="1293032" y="964308"/>
                </a:lnTo>
                <a:lnTo>
                  <a:pt x="1332595" y="937634"/>
                </a:lnTo>
                <a:lnTo>
                  <a:pt x="1359275" y="898073"/>
                </a:lnTo>
                <a:lnTo>
                  <a:pt x="1369059" y="849630"/>
                </a:lnTo>
                <a:lnTo>
                  <a:pt x="1369059" y="351789"/>
                </a:lnTo>
                <a:lnTo>
                  <a:pt x="1359275" y="303357"/>
                </a:lnTo>
                <a:lnTo>
                  <a:pt x="1332595" y="263794"/>
                </a:lnTo>
                <a:lnTo>
                  <a:pt x="1293032" y="237114"/>
                </a:lnTo>
                <a:lnTo>
                  <a:pt x="1244600" y="227330"/>
                </a:lnTo>
                <a:close/>
              </a:path>
              <a:path w="1369059" h="974089">
                <a:moveTo>
                  <a:pt x="830072" y="0"/>
                </a:moveTo>
                <a:lnTo>
                  <a:pt x="798576" y="227330"/>
                </a:lnTo>
                <a:lnTo>
                  <a:pt x="1140841" y="227330"/>
                </a:lnTo>
                <a:lnTo>
                  <a:pt x="83007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0" y="351789"/>
                </a:moveTo>
                <a:lnTo>
                  <a:pt x="9784" y="303357"/>
                </a:lnTo>
                <a:lnTo>
                  <a:pt x="36464" y="263794"/>
                </a:lnTo>
                <a:lnTo>
                  <a:pt x="76027" y="237114"/>
                </a:lnTo>
                <a:lnTo>
                  <a:pt x="124460" y="227330"/>
                </a:lnTo>
                <a:lnTo>
                  <a:pt x="798576" y="227330"/>
                </a:lnTo>
                <a:lnTo>
                  <a:pt x="830072" y="0"/>
                </a:lnTo>
                <a:lnTo>
                  <a:pt x="1140841" y="227330"/>
                </a:lnTo>
                <a:lnTo>
                  <a:pt x="1244600" y="227330"/>
                </a:lnTo>
                <a:lnTo>
                  <a:pt x="1293032" y="237114"/>
                </a:lnTo>
                <a:lnTo>
                  <a:pt x="1332595" y="263794"/>
                </a:lnTo>
                <a:lnTo>
                  <a:pt x="1359275" y="303357"/>
                </a:lnTo>
                <a:lnTo>
                  <a:pt x="1369059" y="351789"/>
                </a:lnTo>
                <a:lnTo>
                  <a:pt x="1369059" y="538480"/>
                </a:lnTo>
                <a:lnTo>
                  <a:pt x="1369059" y="849630"/>
                </a:lnTo>
                <a:lnTo>
                  <a:pt x="1359275" y="898073"/>
                </a:lnTo>
                <a:lnTo>
                  <a:pt x="1332595" y="937634"/>
                </a:lnTo>
                <a:lnTo>
                  <a:pt x="1293032" y="964308"/>
                </a:lnTo>
                <a:lnTo>
                  <a:pt x="1244600" y="974090"/>
                </a:lnTo>
                <a:lnTo>
                  <a:pt x="1140841" y="974090"/>
                </a:lnTo>
                <a:lnTo>
                  <a:pt x="798576" y="974090"/>
                </a:lnTo>
                <a:lnTo>
                  <a:pt x="124460" y="974090"/>
                </a:lnTo>
                <a:lnTo>
                  <a:pt x="76027" y="964308"/>
                </a:lnTo>
                <a:lnTo>
                  <a:pt x="36464" y="937634"/>
                </a:lnTo>
                <a:lnTo>
                  <a:pt x="9784" y="898073"/>
                </a:lnTo>
                <a:lnTo>
                  <a:pt x="0" y="849630"/>
                </a:lnTo>
                <a:lnTo>
                  <a:pt x="0" y="538480"/>
                </a:lnTo>
                <a:lnTo>
                  <a:pt x="0" y="35178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07128" y="5741961"/>
            <a:ext cx="150301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05660"/>
            <a:r>
              <a:rPr spc="-6" dirty="0">
                <a:latin typeface="Arial"/>
                <a:cs typeface="Arial"/>
              </a:rPr>
              <a:t>Índice j </a:t>
            </a:r>
            <a:r>
              <a:rPr spc="-11" dirty="0">
                <a:latin typeface="Arial"/>
                <a:cs typeface="Arial"/>
              </a:rPr>
              <a:t>do 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1333500" y="249428"/>
                </a:moveTo>
                <a:lnTo>
                  <a:pt x="124459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71"/>
                </a:lnTo>
                <a:lnTo>
                  <a:pt x="36464" y="959732"/>
                </a:lnTo>
                <a:lnTo>
                  <a:pt x="76027" y="986406"/>
                </a:lnTo>
                <a:lnTo>
                  <a:pt x="124459" y="996188"/>
                </a:lnTo>
                <a:lnTo>
                  <a:pt x="1333500" y="996188"/>
                </a:lnTo>
                <a:lnTo>
                  <a:pt x="1381932" y="986406"/>
                </a:lnTo>
                <a:lnTo>
                  <a:pt x="1421495" y="959732"/>
                </a:lnTo>
                <a:lnTo>
                  <a:pt x="1448175" y="920171"/>
                </a:lnTo>
                <a:lnTo>
                  <a:pt x="1457959" y="871728"/>
                </a:lnTo>
                <a:lnTo>
                  <a:pt x="1457959" y="373888"/>
                </a:lnTo>
                <a:lnTo>
                  <a:pt x="1448175" y="325455"/>
                </a:lnTo>
                <a:lnTo>
                  <a:pt x="1421495" y="285892"/>
                </a:lnTo>
                <a:lnTo>
                  <a:pt x="1381932" y="259212"/>
                </a:lnTo>
                <a:lnTo>
                  <a:pt x="1333500" y="249428"/>
                </a:lnTo>
                <a:close/>
              </a:path>
              <a:path w="1457960" h="996314">
                <a:moveTo>
                  <a:pt x="1095375" y="0"/>
                </a:moveTo>
                <a:lnTo>
                  <a:pt x="850518" y="249428"/>
                </a:lnTo>
                <a:lnTo>
                  <a:pt x="1215008" y="249428"/>
                </a:lnTo>
                <a:lnTo>
                  <a:pt x="109537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59" y="249428"/>
                </a:lnTo>
                <a:lnTo>
                  <a:pt x="850518" y="249428"/>
                </a:lnTo>
                <a:lnTo>
                  <a:pt x="1095375" y="0"/>
                </a:lnTo>
                <a:lnTo>
                  <a:pt x="1215008" y="249428"/>
                </a:lnTo>
                <a:lnTo>
                  <a:pt x="1333500" y="249428"/>
                </a:lnTo>
                <a:lnTo>
                  <a:pt x="1381932" y="259212"/>
                </a:lnTo>
                <a:lnTo>
                  <a:pt x="1421495" y="285892"/>
                </a:lnTo>
                <a:lnTo>
                  <a:pt x="1448175" y="325455"/>
                </a:lnTo>
                <a:lnTo>
                  <a:pt x="1457959" y="373888"/>
                </a:lnTo>
                <a:lnTo>
                  <a:pt x="1457959" y="560578"/>
                </a:lnTo>
                <a:lnTo>
                  <a:pt x="1457959" y="871728"/>
                </a:lnTo>
                <a:lnTo>
                  <a:pt x="1448175" y="920171"/>
                </a:lnTo>
                <a:lnTo>
                  <a:pt x="1421495" y="959732"/>
                </a:lnTo>
                <a:lnTo>
                  <a:pt x="1381932" y="986406"/>
                </a:lnTo>
                <a:lnTo>
                  <a:pt x="1333500" y="996188"/>
                </a:lnTo>
                <a:lnTo>
                  <a:pt x="1215008" y="996188"/>
                </a:lnTo>
                <a:lnTo>
                  <a:pt x="850518" y="996188"/>
                </a:lnTo>
                <a:lnTo>
                  <a:pt x="124459" y="996188"/>
                </a:lnTo>
                <a:lnTo>
                  <a:pt x="76027" y="986406"/>
                </a:lnTo>
                <a:lnTo>
                  <a:pt x="36464" y="959732"/>
                </a:lnTo>
                <a:lnTo>
                  <a:pt x="9784" y="920171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1829" y="5607203"/>
            <a:ext cx="10827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Índice</a:t>
            </a:r>
            <a:r>
              <a:rPr spc="-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 </a:t>
            </a:r>
            <a:r>
              <a:rPr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  alunos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4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Impressão </a:t>
            </a:r>
            <a:r>
              <a:rPr dirty="0"/>
              <a:t>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17" dirty="0"/>
              <a:t> </a:t>
            </a:r>
            <a:r>
              <a:rPr spc="-6"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6" y="1283906"/>
            <a:ext cx="818342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processo de </a:t>
            </a:r>
            <a:r>
              <a:rPr sz="2700" spc="-6" dirty="0">
                <a:latin typeface="Arial"/>
                <a:cs typeface="Arial"/>
              </a:rPr>
              <a:t>escrita </a:t>
            </a:r>
            <a:r>
              <a:rPr sz="2700" dirty="0">
                <a:latin typeface="Arial"/>
                <a:cs typeface="Arial"/>
              </a:rPr>
              <a:t>de um </a:t>
            </a:r>
            <a:r>
              <a:rPr sz="2700" spc="-6" dirty="0">
                <a:latin typeface="Arial"/>
                <a:cs typeface="Arial"/>
              </a:rPr>
              <a:t>vetor </a:t>
            </a:r>
            <a:r>
              <a:rPr sz="2700" dirty="0">
                <a:latin typeface="Arial"/>
                <a:cs typeface="Arial"/>
              </a:rPr>
              <a:t>de estrutura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é</a:t>
            </a:r>
            <a:endParaRPr sz="2700">
              <a:latin typeface="Arial"/>
              <a:cs typeface="Arial"/>
            </a:endParaRPr>
          </a:p>
          <a:p>
            <a:pPr marL="404802"/>
            <a:r>
              <a:rPr sz="2700" dirty="0">
                <a:latin typeface="Arial"/>
                <a:cs typeface="Arial"/>
              </a:rPr>
              <a:t>similar aos modos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escrita anteriores </a:t>
            </a:r>
            <a:r>
              <a:rPr sz="2700" spc="-6" dirty="0">
                <a:latin typeface="Arial"/>
                <a:cs typeface="Arial"/>
              </a:rPr>
              <a:t>já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vistos.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91634">
              <a:spcBef>
                <a:spcPts val="6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imprime_vetor_alunos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59163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3618" y="3509154"/>
            <a:ext cx="356595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866" y="3173031"/>
            <a:ext cx="142652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120" dirty="0"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419" y="4180844"/>
            <a:ext cx="6240787" cy="2477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5188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95188">
              <a:tabLst>
                <a:tab pos="1390376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042782"/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 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4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4" y="1710007"/>
            <a:ext cx="5037780" cy="508804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49967" rIns="0" bIns="0" rtlCol="0">
            <a:spAutoFit/>
          </a:bodyPr>
          <a:lstStyle/>
          <a:p>
            <a:pPr marL="97761">
              <a:spcBef>
                <a:spcPts val="393"/>
              </a:spcBef>
            </a:pP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1600" spc="-108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>
              <a:spcBef>
                <a:spcPts val="6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>
              <a:lnSpc>
                <a:spcPts val="1916"/>
              </a:lnSpc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1600" b="1" spc="-5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j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 marR="181039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nome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do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aluno"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spc="-11" dirty="0">
                <a:latin typeface="Courier New"/>
                <a:cs typeface="Courier New"/>
              </a:rPr>
              <a:t>gets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4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notas</a:t>
            </a:r>
            <a:r>
              <a:rPr sz="1600" spc="-74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8432" marR="302696" indent="-243316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scanf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"%f%*c"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Programa</a:t>
            </a:r>
            <a:r>
              <a:rPr spc="-51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4913" y="1589663"/>
            <a:ext cx="5361552" cy="5323134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2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 marR="207470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"\nAlunos:"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6" dirty="0">
                <a:latin typeface="Courier New"/>
                <a:cs typeface="Courier New"/>
              </a:rPr>
              <a:t>printf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"\n%20s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9156" marR="617703" indent="-244040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"%.2f 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9209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main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57" dirty="0"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85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9251" y="996337"/>
            <a:ext cx="6020978" cy="680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R="10862" algn="r"/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2817" y="1047415"/>
            <a:ext cx="5781862" cy="420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68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"Produtos</a:t>
            </a:r>
            <a:r>
              <a:rPr sz="2100" spc="-5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armazenados:\n"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7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639428">
              <a:tabLst>
                <a:tab pos="3754014" algn="l"/>
              </a:tabLst>
            </a:pP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%d:	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23" dirty="0">
                <a:latin typeface="Courier New"/>
                <a:cs typeface="Courier New"/>
              </a:rPr>
              <a:t>i</a:t>
            </a:r>
            <a:r>
              <a:rPr sz="2100" spc="-23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639428" marR="472148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"Codigo: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scanf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"%d%*c"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 &amp;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"Descricao: 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gets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4842" y="5280733"/>
            <a:ext cx="1150283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817" y="5280734"/>
            <a:ext cx="450459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1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639428" marR="161486" indent="-312835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8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"%3d </a:t>
            </a:r>
            <a:r>
              <a:rPr sz="2100" dirty="0">
                <a:solidFill>
                  <a:srgbClr val="0000FF"/>
                </a:solidFill>
                <a:latin typeface="Courier New"/>
                <a:cs typeface="Courier New"/>
              </a:rPr>
              <a:t>-</a:t>
            </a:r>
            <a:r>
              <a:rPr sz="2100" spc="-9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%s\n"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53" y="6792453"/>
            <a:ext cx="4662024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7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818" y="7100660"/>
            <a:ext cx="190847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103" dirty="0"/>
              <a:t> </a:t>
            </a:r>
            <a:r>
              <a:rPr spc="-6" dirty="0"/>
              <a:t>2</a:t>
            </a:r>
          </a:p>
        </p:txBody>
      </p:sp>
      <p:sp>
        <p:nvSpPr>
          <p:cNvPr id="11" name="object 11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2924" y="1044616"/>
            <a:ext cx="4344194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100" spc="-57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#define TAM</a:t>
            </a:r>
            <a:r>
              <a:rPr sz="2100"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9F00"/>
                </a:solidFill>
                <a:latin typeface="Courier New"/>
                <a:cs typeface="Courier New"/>
              </a:rPr>
              <a:t>4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main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 marR="5793"/>
            <a:r>
              <a:rPr sz="2100" spc="-11" dirty="0">
                <a:latin typeface="Courier New"/>
                <a:cs typeface="Courier New"/>
              </a:rPr>
              <a:t>Produto 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17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82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91" y="1282505"/>
            <a:ext cx="9729509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0633" indent="-556150">
              <a:lnSpc>
                <a:spcPts val="2714"/>
              </a:lnSpc>
              <a:buClr>
                <a:srgbClr val="C5000A"/>
              </a:buClr>
              <a:buAutoNum type="arabicParenR" startAt="5"/>
              <a:tabLst>
                <a:tab pos="564116" algn="l"/>
                <a:tab pos="564840" algn="l"/>
                <a:tab pos="5159597" algn="l"/>
              </a:tabLst>
            </a:pPr>
            <a:r>
              <a:rPr sz="2500" spc="-6" dirty="0">
                <a:solidFill>
                  <a:srgbClr val="C00000"/>
                </a:solidFill>
                <a:latin typeface="Arial"/>
                <a:cs typeface="Arial"/>
              </a:rPr>
              <a:t>a) </a:t>
            </a:r>
            <a:r>
              <a:rPr sz="2500" spc="-11" dirty="0">
                <a:latin typeface="Arial"/>
                <a:cs typeface="Arial"/>
              </a:rPr>
              <a:t>Crie </a:t>
            </a:r>
            <a:r>
              <a:rPr sz="2500" dirty="0">
                <a:latin typeface="Arial"/>
                <a:cs typeface="Arial"/>
              </a:rPr>
              <a:t>uma</a:t>
            </a:r>
            <a:r>
              <a:rPr sz="2500" spc="7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estrutura</a:t>
            </a:r>
            <a:r>
              <a:rPr sz="2500" spc="11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chamada	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764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contendo apenas as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(inteiros)</a:t>
            </a:r>
            <a:r>
              <a:rPr sz="2500" spc="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ponto.</a:t>
            </a:r>
            <a:endParaRPr sz="2500">
              <a:latin typeface="Arial"/>
              <a:cs typeface="Arial"/>
            </a:endParaRPr>
          </a:p>
          <a:p>
            <a:pPr marL="570633" lvl="1">
              <a:lnSpc>
                <a:spcPts val="2714"/>
              </a:lnSpc>
              <a:spcBef>
                <a:spcPts val="1825"/>
              </a:spcBef>
              <a:buClr>
                <a:srgbClr val="C00000"/>
              </a:buClr>
              <a:buAutoNum type="alphaLcParenR" startAt="2"/>
              <a:tabLst>
                <a:tab pos="945021" algn="l"/>
              </a:tabLst>
            </a:pPr>
            <a:r>
              <a:rPr sz="2500" spc="-6" dirty="0">
                <a:latin typeface="Arial"/>
                <a:cs typeface="Arial"/>
              </a:rPr>
              <a:t>Faça </a:t>
            </a:r>
            <a:r>
              <a:rPr sz="2500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spc="-11" dirty="0">
                <a:latin typeface="Arial"/>
                <a:cs typeface="Arial"/>
              </a:rPr>
              <a:t>dois </a:t>
            </a:r>
            <a:r>
              <a:rPr sz="2500" spc="-6" dirty="0">
                <a:latin typeface="Arial"/>
                <a:cs typeface="Arial"/>
              </a:rPr>
              <a:t>pontos por </a:t>
            </a:r>
            <a:r>
              <a:rPr sz="2500" dirty="0">
                <a:latin typeface="Arial"/>
                <a:cs typeface="Arial"/>
              </a:rPr>
              <a:t>parâmetro</a:t>
            </a:r>
            <a:r>
              <a:rPr sz="2500" spc="14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dirty="0">
                <a:latin typeface="Arial"/>
                <a:cs typeface="Arial"/>
              </a:rPr>
              <a:t>retorne a </a:t>
            </a:r>
            <a:r>
              <a:rPr sz="2500" spc="-6" dirty="0">
                <a:latin typeface="Arial"/>
                <a:cs typeface="Arial"/>
              </a:rPr>
              <a:t>distância entre eles.</a:t>
            </a:r>
            <a:endParaRPr sz="25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570633" marR="158590" lvl="1">
              <a:lnSpc>
                <a:spcPct val="80100"/>
              </a:lnSpc>
              <a:buClr>
                <a:srgbClr val="C00000"/>
              </a:buClr>
              <a:buAutoNum type="alphaLcParenR" startAt="3"/>
              <a:tabLst>
                <a:tab pos="927641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declare 2 </a:t>
            </a:r>
            <a:r>
              <a:rPr sz="2500" dirty="0">
                <a:latin typeface="Arial"/>
                <a:cs typeface="Arial"/>
              </a:rPr>
              <a:t>pontos, </a:t>
            </a:r>
            <a:r>
              <a:rPr sz="2500" spc="-11" dirty="0">
                <a:latin typeface="Arial"/>
                <a:cs typeface="Arial"/>
              </a:rPr>
              <a:t>leia </a:t>
            </a:r>
            <a:r>
              <a:rPr sz="2500" spc="-6" dirty="0">
                <a:latin typeface="Arial"/>
                <a:cs typeface="Arial"/>
              </a:rPr>
              <a:t>as  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cada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um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chame</a:t>
            </a:r>
            <a:r>
              <a:rPr sz="2500" spc="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função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criada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para  </a:t>
            </a:r>
            <a:r>
              <a:rPr sz="2500" spc="-6" dirty="0">
                <a:latin typeface="Arial"/>
                <a:cs typeface="Arial"/>
              </a:rPr>
              <a:t>calcular a distância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eles. Apresente no final a distância 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os </a:t>
            </a:r>
            <a:r>
              <a:rPr sz="2500" spc="-11" dirty="0">
                <a:latin typeface="Arial"/>
                <a:cs typeface="Arial"/>
              </a:rPr>
              <a:t>dois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pontos.</a:t>
            </a:r>
            <a:endParaRPr sz="2500">
              <a:latin typeface="Arial"/>
              <a:cs typeface="Arial"/>
            </a:endParaRPr>
          </a:p>
          <a:p>
            <a:pPr lvl="1">
              <a:spcBef>
                <a:spcPts val="6"/>
              </a:spcBef>
              <a:buClr>
                <a:srgbClr val="C00000"/>
              </a:buClr>
              <a:buFont typeface="Arial"/>
              <a:buAutoNum type="alphaLcParenR" startAt="3"/>
            </a:pPr>
            <a:endParaRPr sz="3300">
              <a:latin typeface="Times New Roman"/>
              <a:cs typeface="Times New Roman"/>
            </a:endParaRPr>
          </a:p>
          <a:p>
            <a:pPr marL="570633" marR="5793" indent="-556150">
              <a:lnSpc>
                <a:spcPct val="80300"/>
              </a:lnSpc>
              <a:buClr>
                <a:srgbClr val="C5000A"/>
              </a:buClr>
              <a:buAutoNum type="arabicParenR" startAt="6"/>
              <a:tabLst>
                <a:tab pos="569909" algn="l"/>
                <a:tab pos="570633" algn="l"/>
              </a:tabLst>
            </a:pPr>
            <a:r>
              <a:rPr sz="2500" spc="-6" dirty="0">
                <a:latin typeface="Arial"/>
                <a:cs typeface="Arial"/>
              </a:rPr>
              <a:t>Utilizando a </a:t>
            </a:r>
            <a:r>
              <a:rPr sz="2500" dirty="0">
                <a:latin typeface="Arial"/>
                <a:cs typeface="Arial"/>
              </a:rPr>
              <a:t>estrutura 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667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definida no exercício </a:t>
            </a:r>
            <a:r>
              <a:rPr sz="2500" dirty="0">
                <a:latin typeface="Arial"/>
                <a:cs typeface="Arial"/>
              </a:rPr>
              <a:t>5, faça uma 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-6" dirty="0">
                <a:latin typeface="Arial"/>
                <a:cs typeface="Arial"/>
              </a:rPr>
              <a:t>pontos </a:t>
            </a:r>
            <a:r>
              <a:rPr sz="2500" dirty="0">
                <a:latin typeface="Arial"/>
                <a:cs typeface="Arial"/>
              </a:rPr>
              <a:t>e retorne o </a:t>
            </a:r>
            <a:r>
              <a:rPr sz="2500" spc="-6" dirty="0">
                <a:latin typeface="Arial"/>
                <a:cs typeface="Arial"/>
              </a:rPr>
              <a:t>ponto mais próximo </a:t>
            </a:r>
            <a:r>
              <a:rPr sz="2500" dirty="0">
                <a:latin typeface="Arial"/>
                <a:cs typeface="Arial"/>
              </a:rPr>
              <a:t>da  </a:t>
            </a:r>
            <a:r>
              <a:rPr sz="2500" spc="-6" dirty="0">
                <a:latin typeface="Arial"/>
                <a:cs typeface="Arial"/>
              </a:rPr>
              <a:t>origem. Em seguida, modifique o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principal para ler 4  pontos e imprimir apenas as coordenadas do ponto mais  próximo </a:t>
            </a:r>
            <a:r>
              <a:rPr sz="2500" dirty="0">
                <a:latin typeface="Arial"/>
                <a:cs typeface="Arial"/>
              </a:rPr>
              <a:t>da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origem.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4994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62" y="1483245"/>
            <a:ext cx="967158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 indent="-553254" algn="just">
              <a:lnSpc>
                <a:spcPts val="2144"/>
              </a:lnSpc>
              <a:buClr>
                <a:srgbClr val="C5000A"/>
              </a:buClr>
              <a:buAutoNum type="arabicParenR" startAt="7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Utilizando </a:t>
            </a:r>
            <a:r>
              <a:rPr sz="2500" dirty="0">
                <a:latin typeface="Arial"/>
                <a:cs typeface="Arial"/>
              </a:rPr>
              <a:t>a  estrutura </a:t>
            </a:r>
            <a:r>
              <a:rPr sz="2500" spc="-6" dirty="0">
                <a:latin typeface="Courier New"/>
                <a:cs typeface="Courier New"/>
              </a:rPr>
              <a:t>medidas </a:t>
            </a:r>
            <a:r>
              <a:rPr sz="2500" dirty="0">
                <a:latin typeface="Arial"/>
                <a:cs typeface="Arial"/>
              </a:rPr>
              <a:t>definida  </a:t>
            </a:r>
            <a:r>
              <a:rPr sz="2500" spc="-6" dirty="0">
                <a:latin typeface="Arial"/>
                <a:cs typeface="Arial"/>
              </a:rPr>
              <a:t>no exercício  2,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faça</a:t>
            </a:r>
            <a:endParaRPr sz="2500">
              <a:latin typeface="Arial"/>
              <a:cs typeface="Arial"/>
            </a:endParaRPr>
          </a:p>
          <a:p>
            <a:pPr marL="567737" marR="10862">
              <a:lnSpc>
                <a:spcPts val="2418"/>
              </a:lnSpc>
              <a:spcBef>
                <a:spcPts val="290"/>
              </a:spcBef>
              <a:tabLst>
                <a:tab pos="1184716" algn="l"/>
                <a:tab pos="2722819" algn="l"/>
                <a:tab pos="3430317" algn="l"/>
                <a:tab pos="4099436" algn="l"/>
                <a:tab pos="4449926" algn="l"/>
                <a:tab pos="5423189" algn="l"/>
                <a:tab pos="5773680" algn="l"/>
                <a:tab pos="6124895" algn="l"/>
                <a:tab pos="6990983" algn="l"/>
                <a:tab pos="7518167" algn="l"/>
                <a:tab pos="7868656" algn="l"/>
                <a:tab pos="9233687" algn="l"/>
              </a:tabLst>
            </a:pPr>
            <a:r>
              <a:rPr sz="2500" spc="-11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m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progra</a:t>
            </a:r>
            <a:r>
              <a:rPr sz="2500" dirty="0">
                <a:latin typeface="Arial"/>
                <a:cs typeface="Arial"/>
              </a:rPr>
              <a:t>m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q</a:t>
            </a:r>
            <a:r>
              <a:rPr sz="2500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l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spc="-23" dirty="0">
                <a:latin typeface="Arial"/>
                <a:cs typeface="Arial"/>
              </a:rPr>
              <a:t>i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l</a:t>
            </a:r>
            <a:r>
              <a:rPr sz="2500" spc="6" dirty="0">
                <a:latin typeface="Arial"/>
                <a:cs typeface="Arial"/>
              </a:rPr>
              <a:t>t</a:t>
            </a:r>
            <a:r>
              <a:rPr sz="2500" spc="-6" dirty="0">
                <a:latin typeface="Arial"/>
                <a:cs typeface="Arial"/>
              </a:rPr>
              <a:t>ura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1" dirty="0">
                <a:latin typeface="Arial"/>
                <a:cs typeface="Arial"/>
              </a:rPr>
              <a:t>d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6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esso</a:t>
            </a:r>
            <a:r>
              <a:rPr sz="2500" spc="-17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s	</a:t>
            </a:r>
            <a:r>
              <a:rPr sz="2500" spc="-6" dirty="0">
                <a:latin typeface="Arial"/>
                <a:cs typeface="Arial"/>
              </a:rPr>
              <a:t>e  imprima a média da altura e a média do peso do</a:t>
            </a:r>
            <a:r>
              <a:rPr sz="2500" spc="18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grupo.</a:t>
            </a:r>
            <a:endParaRPr sz="2500">
              <a:latin typeface="Arial"/>
              <a:cs typeface="Arial"/>
            </a:endParaRPr>
          </a:p>
          <a:p>
            <a:pPr marL="567737" marR="7242" indent="-553254" algn="just">
              <a:lnSpc>
                <a:spcPct val="80100"/>
              </a:lnSpc>
              <a:spcBef>
                <a:spcPts val="2058"/>
              </a:spcBef>
              <a:buClr>
                <a:srgbClr val="C00000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receba </a:t>
            </a:r>
            <a:r>
              <a:rPr sz="2500" dirty="0">
                <a:latin typeface="Arial"/>
                <a:cs typeface="Arial"/>
              </a:rPr>
              <a:t>três </a:t>
            </a:r>
            <a:r>
              <a:rPr sz="2500" spc="-11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(de </a:t>
            </a:r>
            <a:r>
              <a:rPr sz="2500" spc="-6" dirty="0">
                <a:latin typeface="Arial"/>
                <a:cs typeface="Arial"/>
              </a:rPr>
              <a:t>no máximo  100 </a:t>
            </a:r>
            <a:r>
              <a:rPr sz="2500" dirty="0">
                <a:latin typeface="Arial"/>
                <a:cs typeface="Arial"/>
              </a:rPr>
              <a:t>caracteres cada) </a:t>
            </a:r>
            <a:r>
              <a:rPr sz="2500" spc="-6" dirty="0">
                <a:latin typeface="Arial"/>
                <a:cs typeface="Arial"/>
              </a:rPr>
              <a:t>e as idades das </a:t>
            </a:r>
            <a:r>
              <a:rPr sz="2500" dirty="0">
                <a:latin typeface="Arial"/>
                <a:cs typeface="Arial"/>
              </a:rPr>
              <a:t>respectivas pessoas </a:t>
            </a:r>
            <a:r>
              <a:rPr sz="2500" spc="11" dirty="0">
                <a:latin typeface="Arial"/>
                <a:cs typeface="Arial"/>
              </a:rPr>
              <a:t>em 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estruturas. </a:t>
            </a:r>
            <a:r>
              <a:rPr sz="2500" spc="-6" dirty="0">
                <a:latin typeface="Arial"/>
                <a:cs typeface="Arial"/>
              </a:rPr>
              <a:t>Após </a:t>
            </a:r>
            <a:r>
              <a:rPr sz="2500" dirty="0">
                <a:latin typeface="Arial"/>
                <a:cs typeface="Arial"/>
              </a:rPr>
              <a:t>o recebimento, </a:t>
            </a:r>
            <a:r>
              <a:rPr sz="2500" spc="-6" dirty="0">
                <a:latin typeface="Arial"/>
                <a:cs typeface="Arial"/>
              </a:rPr>
              <a:t>listar os </a:t>
            </a:r>
            <a:r>
              <a:rPr sz="2500" dirty="0">
                <a:latin typeface="Arial"/>
                <a:cs typeface="Arial"/>
              </a:rPr>
              <a:t>três  </a:t>
            </a:r>
            <a:r>
              <a:rPr sz="2500" spc="-6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armazenados </a:t>
            </a:r>
            <a:r>
              <a:rPr sz="2500" spc="-6" dirty="0">
                <a:latin typeface="Arial"/>
                <a:cs typeface="Arial"/>
              </a:rPr>
              <a:t>neste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por ordem crescente </a:t>
            </a:r>
            <a:r>
              <a:rPr sz="2500" spc="11" dirty="0">
                <a:latin typeface="Arial"/>
                <a:cs typeface="Arial"/>
              </a:rPr>
              <a:t>de  </a:t>
            </a:r>
            <a:r>
              <a:rPr sz="2500" spc="-6" dirty="0">
                <a:latin typeface="Arial"/>
                <a:cs typeface="Arial"/>
              </a:rPr>
              <a:t>idades.</a:t>
            </a:r>
            <a:endParaRPr sz="2500">
              <a:latin typeface="Arial"/>
              <a:cs typeface="Arial"/>
            </a:endParaRPr>
          </a:p>
          <a:p>
            <a:pPr marL="567737" marR="5793" indent="-553254" algn="just">
              <a:lnSpc>
                <a:spcPct val="80100"/>
              </a:lnSpc>
              <a:spcBef>
                <a:spcPts val="2036"/>
              </a:spcBef>
              <a:buClr>
                <a:srgbClr val="C5000A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armazene informações </a:t>
            </a:r>
            <a:r>
              <a:rPr sz="2500" spc="-6" dirty="0">
                <a:latin typeface="Arial"/>
                <a:cs typeface="Arial"/>
              </a:rPr>
              <a:t>de  </a:t>
            </a:r>
            <a:r>
              <a:rPr sz="2500" dirty="0">
                <a:latin typeface="Arial"/>
                <a:cs typeface="Arial"/>
              </a:rPr>
              <a:t>restaurantes. </a:t>
            </a:r>
            <a:r>
              <a:rPr sz="2500" spc="-6" dirty="0">
                <a:latin typeface="Arial"/>
                <a:cs typeface="Arial"/>
              </a:rPr>
              <a:t>Cada </a:t>
            </a:r>
            <a:r>
              <a:rPr sz="2500" dirty="0">
                <a:latin typeface="Arial"/>
                <a:cs typeface="Arial"/>
              </a:rPr>
              <a:t>restaurante </a:t>
            </a:r>
            <a:r>
              <a:rPr sz="2500" spc="-6" dirty="0">
                <a:latin typeface="Arial"/>
                <a:cs typeface="Arial"/>
              </a:rPr>
              <a:t>é identificado </a:t>
            </a:r>
            <a:r>
              <a:rPr sz="2500" spc="-11" dirty="0">
                <a:latin typeface="Arial"/>
                <a:cs typeface="Arial"/>
              </a:rPr>
              <a:t>pelo </a:t>
            </a:r>
            <a:r>
              <a:rPr sz="2500" spc="-6" dirty="0">
                <a:latin typeface="Arial"/>
                <a:cs typeface="Arial"/>
              </a:rPr>
              <a:t>nome, o  tipo de </a:t>
            </a:r>
            <a:r>
              <a:rPr sz="2500" dirty="0">
                <a:latin typeface="Arial"/>
                <a:cs typeface="Arial"/>
              </a:rPr>
              <a:t>comida </a:t>
            </a:r>
            <a:r>
              <a:rPr sz="2500" spc="-6" dirty="0">
                <a:latin typeface="Arial"/>
                <a:cs typeface="Arial"/>
              </a:rPr>
              <a:t>(brasileira, chinesa, francesa, italiana,  japonesa, </a:t>
            </a:r>
            <a:r>
              <a:rPr sz="2500" dirty="0">
                <a:latin typeface="Arial"/>
                <a:cs typeface="Arial"/>
              </a:rPr>
              <a:t>etc.) e </a:t>
            </a:r>
            <a:r>
              <a:rPr sz="2500" spc="-11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nota para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6" dirty="0">
                <a:latin typeface="Arial"/>
                <a:cs typeface="Arial"/>
              </a:rPr>
              <a:t>cozinha </a:t>
            </a:r>
            <a:r>
              <a:rPr sz="2500" dirty="0">
                <a:latin typeface="Arial"/>
                <a:cs typeface="Arial"/>
              </a:rPr>
              <a:t>(entre 0 e 5). O  programa deverá ler </a:t>
            </a:r>
            <a:r>
              <a:rPr sz="2500" spc="-6" dirty="0">
                <a:latin typeface="Arial"/>
                <a:cs typeface="Arial"/>
              </a:rPr>
              <a:t>todas as informações e imprimir a </a:t>
            </a:r>
            <a:r>
              <a:rPr sz="2500" spc="-11" dirty="0">
                <a:latin typeface="Arial"/>
                <a:cs typeface="Arial"/>
              </a:rPr>
              <a:t>lista  </a:t>
            </a:r>
            <a:r>
              <a:rPr sz="2500" spc="-6" dirty="0">
                <a:latin typeface="Arial"/>
                <a:cs typeface="Arial"/>
              </a:rPr>
              <a:t>de todos os </a:t>
            </a:r>
            <a:r>
              <a:rPr sz="2500" dirty="0">
                <a:latin typeface="Arial"/>
                <a:cs typeface="Arial"/>
              </a:rPr>
              <a:t>restaurantes </a:t>
            </a:r>
            <a:r>
              <a:rPr sz="2500" spc="-6" dirty="0">
                <a:latin typeface="Arial"/>
                <a:cs typeface="Arial"/>
              </a:rPr>
              <a:t>e, ao final, o tipo de cozinha </a:t>
            </a:r>
            <a:r>
              <a:rPr sz="2500" spc="11" dirty="0">
                <a:latin typeface="Arial"/>
                <a:cs typeface="Arial"/>
              </a:rPr>
              <a:t>do  </a:t>
            </a:r>
            <a:r>
              <a:rPr sz="2500" dirty="0">
                <a:latin typeface="Arial"/>
                <a:cs typeface="Arial"/>
              </a:rPr>
              <a:t>restaurante com </a:t>
            </a:r>
            <a:r>
              <a:rPr sz="2500" spc="-6" dirty="0">
                <a:latin typeface="Arial"/>
                <a:cs typeface="Arial"/>
              </a:rPr>
              <a:t>maior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nota.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559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744" y="1125779"/>
            <a:ext cx="9580246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287" marR="5793" indent="-509804" algn="just">
              <a:lnSpc>
                <a:spcPct val="80000"/>
              </a:lnSpc>
              <a:buClr>
                <a:srgbClr val="C00000"/>
              </a:buClr>
              <a:buAutoNum type="arabicParenR" startAt="10"/>
              <a:tabLst>
                <a:tab pos="625669" algn="l"/>
              </a:tabLst>
            </a:pPr>
            <a:r>
              <a:rPr sz="2500" dirty="0">
                <a:latin typeface="Arial"/>
                <a:cs typeface="Arial"/>
              </a:rPr>
              <a:t>Faça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permita </a:t>
            </a:r>
            <a:r>
              <a:rPr sz="2500" spc="-6" dirty="0">
                <a:latin typeface="Arial"/>
                <a:cs typeface="Arial"/>
              </a:rPr>
              <a:t>o </a:t>
            </a:r>
            <a:r>
              <a:rPr sz="2500" dirty="0">
                <a:latin typeface="Arial"/>
                <a:cs typeface="Arial"/>
              </a:rPr>
              <a:t>cadastro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veículos. A  estrutura veículos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conter </a:t>
            </a:r>
            <a:r>
              <a:rPr sz="2500" spc="-6" dirty="0">
                <a:latin typeface="Arial"/>
                <a:cs typeface="Arial"/>
              </a:rPr>
              <a:t>os campos placa, </a:t>
            </a:r>
            <a:r>
              <a:rPr sz="2500" dirty="0">
                <a:latin typeface="Arial"/>
                <a:cs typeface="Arial"/>
              </a:rPr>
              <a:t>marca,  </a:t>
            </a:r>
            <a:r>
              <a:rPr sz="2500" spc="-6" dirty="0">
                <a:latin typeface="Arial"/>
                <a:cs typeface="Arial"/>
              </a:rPr>
              <a:t>modelo e </a:t>
            </a:r>
            <a:r>
              <a:rPr sz="2500" spc="-11" dirty="0">
                <a:latin typeface="Arial"/>
                <a:cs typeface="Arial"/>
              </a:rPr>
              <a:t>ano. </a:t>
            </a:r>
            <a:r>
              <a:rPr sz="2500" spc="-6" dirty="0">
                <a:latin typeface="Arial"/>
                <a:cs typeface="Arial"/>
              </a:rPr>
              <a:t>Faça um menu </a:t>
            </a:r>
            <a:r>
              <a:rPr sz="2500" dirty="0">
                <a:latin typeface="Arial"/>
                <a:cs typeface="Arial"/>
              </a:rPr>
              <a:t>com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20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opções:</a:t>
            </a:r>
            <a:endParaRPr sz="2500">
              <a:latin typeface="Arial"/>
              <a:cs typeface="Arial"/>
            </a:endParaRPr>
          </a:p>
          <a:p>
            <a:pPr marL="1048575">
              <a:spcBef>
                <a:spcPts val="616"/>
              </a:spcBef>
            </a:pPr>
            <a:r>
              <a:rPr sz="2100" spc="-6" dirty="0">
                <a:latin typeface="Courier New"/>
                <a:cs typeface="Courier New"/>
              </a:rPr>
              <a:t>Menu:</a:t>
            </a:r>
            <a:endParaRPr sz="2100">
              <a:latin typeface="Courier New"/>
              <a:cs typeface="Courier New"/>
            </a:endParaRPr>
          </a:p>
          <a:p>
            <a:pPr marL="1697417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Ler </a:t>
            </a:r>
            <a:r>
              <a:rPr sz="2100" spc="-6" dirty="0">
                <a:latin typeface="Courier New"/>
                <a:cs typeface="Courier New"/>
              </a:rPr>
              <a:t>as </a:t>
            </a:r>
            <a:r>
              <a:rPr sz="2100" spc="-11" dirty="0">
                <a:latin typeface="Courier New"/>
                <a:cs typeface="Courier New"/>
              </a:rPr>
              <a:t>informações </a:t>
            </a:r>
            <a:r>
              <a:rPr sz="2100" spc="-6" dirty="0">
                <a:latin typeface="Courier New"/>
                <a:cs typeface="Courier New"/>
              </a:rPr>
              <a:t>de um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veículo</a:t>
            </a:r>
            <a:endParaRPr sz="2100">
              <a:latin typeface="Courier New"/>
              <a:cs typeface="Courier New"/>
            </a:endParaRPr>
          </a:p>
          <a:p>
            <a:pPr marL="1697417" marR="498218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Verificar </a:t>
            </a:r>
            <a:r>
              <a:rPr sz="2100" spc="-6" dirty="0">
                <a:latin typeface="Courier New"/>
                <a:cs typeface="Courier New"/>
              </a:rPr>
              <a:t>se </a:t>
            </a:r>
            <a:r>
              <a:rPr sz="2100" spc="-17" dirty="0">
                <a:latin typeface="Courier New"/>
                <a:cs typeface="Courier New"/>
              </a:rPr>
              <a:t>uma </a:t>
            </a:r>
            <a:r>
              <a:rPr sz="2100" spc="-11" dirty="0">
                <a:latin typeface="Courier New"/>
                <a:cs typeface="Courier New"/>
              </a:rPr>
              <a:t>placa está no formato correto  (AAADDDD)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Imprimir por</a:t>
            </a:r>
            <a:r>
              <a:rPr sz="2100" spc="-91" dirty="0">
                <a:latin typeface="Courier New"/>
                <a:cs typeface="Courier New"/>
              </a:rPr>
              <a:t> </a:t>
            </a:r>
            <a:r>
              <a:rPr sz="2100" spc="-17" dirty="0">
                <a:latin typeface="Courier New"/>
                <a:cs typeface="Courier New"/>
              </a:rPr>
              <a:t>ano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Pesquisar veículo </a:t>
            </a:r>
            <a:r>
              <a:rPr sz="2100" spc="-6" dirty="0">
                <a:latin typeface="Courier New"/>
                <a:cs typeface="Courier New"/>
              </a:rPr>
              <a:t>por</a:t>
            </a:r>
            <a:r>
              <a:rPr sz="2100" spc="-103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placa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844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6" dirty="0">
                <a:latin typeface="Courier New"/>
                <a:cs typeface="Courier New"/>
              </a:rPr>
              <a:t>Imprimir todos os veículos</a:t>
            </a:r>
            <a:r>
              <a:rPr sz="2100" spc="-268" dirty="0"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cadastrados</a:t>
            </a:r>
            <a:endParaRPr sz="2100">
              <a:latin typeface="Courier New"/>
              <a:cs typeface="Courier New"/>
            </a:endParaRPr>
          </a:p>
          <a:p>
            <a:pPr marL="523563">
              <a:spcBef>
                <a:spcPts val="205"/>
              </a:spcBef>
            </a:pPr>
            <a:r>
              <a:rPr sz="2500" dirty="0">
                <a:latin typeface="Arial"/>
                <a:cs typeface="Arial"/>
              </a:rPr>
              <a:t>O programa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ter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características: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91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primeiro item, peça inicialmente </a:t>
            </a:r>
            <a:r>
              <a:rPr sz="2500" dirty="0">
                <a:latin typeface="Arial"/>
                <a:cs typeface="Arial"/>
              </a:rPr>
              <a:t>o </a:t>
            </a:r>
            <a:r>
              <a:rPr sz="2500" spc="-6" dirty="0">
                <a:latin typeface="Arial"/>
                <a:cs typeface="Arial"/>
              </a:rPr>
              <a:t>índice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14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vetor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que deseja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alterar.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68"/>
              </a:spcBef>
              <a:buClr>
                <a:srgbClr val="808080"/>
              </a:buClr>
              <a:buSzPct val="68181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terceiro </a:t>
            </a:r>
            <a:r>
              <a:rPr sz="2500" dirty="0">
                <a:latin typeface="Arial"/>
                <a:cs typeface="Arial"/>
              </a:rPr>
              <a:t>item, </a:t>
            </a:r>
            <a:r>
              <a:rPr sz="2500" spc="-6" dirty="0">
                <a:latin typeface="Arial"/>
                <a:cs typeface="Arial"/>
              </a:rPr>
              <a:t>peça o ano mínimo e </a:t>
            </a:r>
            <a:r>
              <a:rPr sz="2500" spc="-11" dirty="0">
                <a:latin typeface="Arial"/>
                <a:cs typeface="Arial"/>
              </a:rPr>
              <a:t>máximo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imprima </a:t>
            </a:r>
            <a:r>
              <a:rPr sz="2500" dirty="0">
                <a:latin typeface="Arial"/>
                <a:cs typeface="Arial"/>
              </a:rPr>
              <a:t>os </a:t>
            </a:r>
            <a:r>
              <a:rPr sz="2500" spc="-6" dirty="0">
                <a:latin typeface="Arial"/>
                <a:cs typeface="Arial"/>
              </a:rPr>
              <a:t>veículos que </a:t>
            </a:r>
            <a:r>
              <a:rPr sz="2500" dirty="0">
                <a:latin typeface="Arial"/>
                <a:cs typeface="Arial"/>
              </a:rPr>
              <a:t>estão </a:t>
            </a:r>
            <a:r>
              <a:rPr sz="2500" spc="-6" dirty="0">
                <a:latin typeface="Arial"/>
                <a:cs typeface="Arial"/>
              </a:rPr>
              <a:t>nesse</a:t>
            </a:r>
            <a:r>
              <a:rPr sz="2500" spc="10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intervalo.</a:t>
            </a:r>
            <a:endParaRPr sz="2500">
              <a:latin typeface="Arial"/>
              <a:cs typeface="Arial"/>
            </a:endParaRPr>
          </a:p>
          <a:p>
            <a:pPr marL="1697417" marR="101382" indent="-648842">
              <a:lnSpc>
                <a:spcPts val="2418"/>
              </a:lnSpc>
              <a:spcBef>
                <a:spcPts val="644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6" dirty="0">
                <a:latin typeface="Arial"/>
                <a:cs typeface="Arial"/>
              </a:rPr>
              <a:t>Faça funções para realizar as operações de cada um  dos itens do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menu.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7254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060" y="505035"/>
            <a:ext cx="750824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dirty="0" smtClean="0"/>
              <a:t>Recursividade - </a:t>
            </a:r>
            <a:r>
              <a:rPr dirty="0" err="1" smtClean="0"/>
              <a:t>D</a:t>
            </a:r>
            <a:r>
              <a:rPr spc="-10" dirty="0" err="1" smtClean="0"/>
              <a:t>efi</a:t>
            </a:r>
            <a:r>
              <a:rPr spc="5" dirty="0" err="1" smtClean="0"/>
              <a:t>n</a:t>
            </a:r>
            <a:r>
              <a:rPr dirty="0" err="1" smtClean="0"/>
              <a:t>i</a:t>
            </a:r>
            <a:r>
              <a:rPr spc="-10" dirty="0" err="1" smtClean="0"/>
              <a:t>ç</a:t>
            </a:r>
            <a:r>
              <a:rPr spc="0" dirty="0" err="1" smtClean="0"/>
              <a:t>ã</a:t>
            </a:r>
            <a:r>
              <a:rPr spc="-5" dirty="0" err="1" smtClean="0"/>
              <a:t>o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94079" y="1950096"/>
            <a:ext cx="8859520" cy="4624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5" dirty="0">
                <a:latin typeface="Arial"/>
                <a:cs typeface="Arial"/>
              </a:rPr>
              <a:t>ão é 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 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a,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ou indi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amen</a:t>
            </a:r>
            <a:r>
              <a:rPr sz="330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latin typeface="Times New Roman"/>
              <a:cs typeface="Times New Roman"/>
            </a:endParaRPr>
          </a:p>
          <a:p>
            <a:pPr marL="390525" marR="426084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opó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ar</a:t>
            </a:r>
            <a:r>
              <a:rPr sz="3300" dirty="0">
                <a:latin typeface="Arial"/>
                <a:cs typeface="Arial"/>
              </a:rPr>
              <a:t> s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ionali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e ou o</a:t>
            </a:r>
            <a:r>
              <a:rPr sz="3300" spc="-10" dirty="0">
                <a:latin typeface="Arial"/>
                <a:cs typeface="Arial"/>
              </a:rPr>
              <a:t>b</a:t>
            </a:r>
            <a:r>
              <a:rPr sz="3300" dirty="0">
                <a:latin typeface="Arial"/>
                <a:cs typeface="Arial"/>
              </a:rPr>
              <a:t>j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manei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mais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la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e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on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a.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852A33"/>
              </a:buClr>
              <a:buFont typeface="Wingdings"/>
              <a:buChar char=""/>
            </a:pPr>
            <a:endParaRPr sz="4450">
              <a:latin typeface="Times New Roman"/>
              <a:cs typeface="Times New Roman"/>
            </a:endParaRPr>
          </a:p>
          <a:p>
            <a:pPr marL="390525" marR="1050925" indent="-377825">
              <a:lnSpc>
                <a:spcPts val="3579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latin typeface="Arial"/>
                <a:cs typeface="Arial"/>
              </a:rPr>
              <a:t>Lin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ua</a:t>
            </a:r>
            <a:r>
              <a:rPr sz="3300" spc="-20" dirty="0">
                <a:latin typeface="Arial"/>
                <a:cs typeface="Arial"/>
              </a:rPr>
              <a:t>g</a:t>
            </a:r>
            <a:r>
              <a:rPr sz="3300" spc="-5" dirty="0">
                <a:latin typeface="Arial"/>
                <a:cs typeface="Arial"/>
              </a:rPr>
              <a:t>ens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spc="-5" dirty="0">
                <a:latin typeface="Arial"/>
                <a:cs typeface="Arial"/>
              </a:rPr>
              <a:t>m </a:t>
            </a:r>
            <a:r>
              <a:rPr sz="3300" spc="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ma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un</a:t>
            </a:r>
            <a:r>
              <a:rPr sz="3300" dirty="0">
                <a:latin typeface="Arial"/>
                <a:cs typeface="Arial"/>
              </a:rPr>
              <a:t>ç</a:t>
            </a:r>
            <a:r>
              <a:rPr sz="3300" spc="-20" dirty="0">
                <a:latin typeface="Arial"/>
                <a:cs typeface="Arial"/>
              </a:rPr>
              <a:t>ã</a:t>
            </a:r>
            <a:r>
              <a:rPr sz="3300" spc="-5" dirty="0">
                <a:latin typeface="Arial"/>
                <a:cs typeface="Arial"/>
              </a:rPr>
              <a:t>o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hamar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si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óp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ia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ão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di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as</a:t>
            </a:r>
            <a:r>
              <a:rPr sz="3300" dirty="0">
                <a:latin typeface="Arial"/>
                <a:cs typeface="Arial"/>
              </a:rPr>
              <a:t> r</a:t>
            </a:r>
            <a:r>
              <a:rPr sz="3300" spc="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</a:t>
            </a:r>
            <a:r>
              <a:rPr sz="3300" dirty="0">
                <a:latin typeface="Arial"/>
                <a:cs typeface="Arial"/>
              </a:rPr>
              <a:t>rs</a:t>
            </a:r>
            <a:r>
              <a:rPr sz="3300" spc="-1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as</a:t>
            </a:r>
            <a:endParaRPr sz="3300">
              <a:latin typeface="Arial"/>
              <a:cs typeface="Arial"/>
            </a:endParaRPr>
          </a:p>
          <a:p>
            <a:pPr marL="774065" lvl="1" indent="-382270">
              <a:lnSpc>
                <a:spcPct val="100000"/>
              </a:lnSpc>
              <a:spcBef>
                <a:spcPts val="309"/>
              </a:spcBef>
              <a:buClr>
                <a:srgbClr val="7F7F7F"/>
              </a:buClr>
              <a:buSzPct val="68421"/>
              <a:buFont typeface="Wingdings"/>
              <a:buChar char=""/>
              <a:tabLst>
                <a:tab pos="774700" algn="l"/>
              </a:tabLst>
            </a:pPr>
            <a:r>
              <a:rPr sz="2850" spc="10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 li</a:t>
            </a:r>
            <a:r>
              <a:rPr sz="2850" spc="5" dirty="0">
                <a:latin typeface="Arial"/>
                <a:cs typeface="Arial"/>
              </a:rPr>
              <a:t>ngua</a:t>
            </a:r>
            <a:r>
              <a:rPr sz="2850" spc="15" dirty="0">
                <a:latin typeface="Arial"/>
                <a:cs typeface="Arial"/>
              </a:rPr>
              <a:t>g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 é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li</a:t>
            </a:r>
            <a:r>
              <a:rPr sz="2850" spc="5" dirty="0">
                <a:latin typeface="Arial"/>
                <a:cs typeface="Arial"/>
              </a:rPr>
              <a:t>nguage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-5" dirty="0">
                <a:latin typeface="Arial"/>
                <a:cs typeface="Arial"/>
              </a:rPr>
              <a:t>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192225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566" y="2074705"/>
            <a:ext cx="7235190" cy="1523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b="1" spc="15" dirty="0">
                <a:latin typeface="Arial"/>
                <a:cs typeface="Arial"/>
              </a:rPr>
              <a:t>C</a:t>
            </a:r>
            <a:r>
              <a:rPr sz="2850" b="1" spc="5" dirty="0">
                <a:latin typeface="Arial"/>
                <a:cs typeface="Arial"/>
              </a:rPr>
              <a:t>á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cu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va</a:t>
            </a:r>
            <a:r>
              <a:rPr sz="2850" b="1" spc="-5" dirty="0">
                <a:latin typeface="Arial"/>
                <a:cs typeface="Arial"/>
              </a:rPr>
              <a:t>l</a:t>
            </a:r>
            <a:r>
              <a:rPr sz="2850" b="1" spc="5" dirty="0">
                <a:latin typeface="Arial"/>
                <a:cs typeface="Arial"/>
              </a:rPr>
              <a:t>or</a:t>
            </a:r>
            <a:r>
              <a:rPr sz="2850" b="1" spc="10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de</a:t>
            </a:r>
            <a:r>
              <a:rPr sz="2850" b="1" dirty="0">
                <a:latin typeface="Arial"/>
                <a:cs typeface="Arial"/>
              </a:rPr>
              <a:t> 2</a:t>
            </a:r>
            <a:r>
              <a:rPr sz="2775" b="1" spc="15" baseline="27027" dirty="0">
                <a:latin typeface="Arial"/>
                <a:cs typeface="Arial"/>
              </a:rPr>
              <a:t>n</a:t>
            </a:r>
            <a:r>
              <a:rPr sz="2775" b="1" baseline="27027" dirty="0">
                <a:latin typeface="Arial"/>
                <a:cs typeface="Arial"/>
              </a:rPr>
              <a:t> </a:t>
            </a:r>
            <a:r>
              <a:rPr sz="2775" b="1" spc="-359" baseline="27027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pa</a:t>
            </a:r>
            <a:r>
              <a:rPr sz="2850" b="1" spc="15" dirty="0">
                <a:latin typeface="Arial"/>
                <a:cs typeface="Arial"/>
              </a:rPr>
              <a:t>r</a:t>
            </a:r>
            <a:r>
              <a:rPr sz="2850" b="1" spc="5" dirty="0">
                <a:latin typeface="Arial"/>
                <a:cs typeface="Arial"/>
              </a:rPr>
              <a:t>a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u</a:t>
            </a:r>
            <a:r>
              <a:rPr sz="2850" b="1" spc="15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 nú</a:t>
            </a:r>
            <a:r>
              <a:rPr sz="2850" b="1" spc="20" dirty="0">
                <a:latin typeface="Arial"/>
                <a:cs typeface="Arial"/>
              </a:rPr>
              <a:t>m</a:t>
            </a:r>
            <a:r>
              <a:rPr sz="2850" b="1" spc="5" dirty="0">
                <a:latin typeface="Arial"/>
                <a:cs typeface="Arial"/>
              </a:rPr>
              <a:t>ero</a:t>
            </a:r>
            <a:r>
              <a:rPr sz="2850" b="1" dirty="0">
                <a:latin typeface="Arial"/>
                <a:cs typeface="Arial"/>
              </a:rPr>
              <a:t> </a:t>
            </a:r>
            <a:r>
              <a:rPr sz="2850" b="1" spc="5" dirty="0">
                <a:latin typeface="Arial"/>
                <a:cs typeface="Arial"/>
              </a:rPr>
              <a:t>n:</a:t>
            </a:r>
            <a:endParaRPr sz="2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Ap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ende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os 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52" baseline="27027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…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.</a:t>
            </a:r>
            <a:endParaRPr sz="2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357538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832085"/>
            <a:ext cx="5833745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650" spc="-10" dirty="0">
                <a:latin typeface="Arial"/>
                <a:cs typeface="Arial"/>
              </a:rPr>
              <a:t>I</a:t>
            </a:r>
            <a:r>
              <a:rPr sz="2650" spc="-15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ple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5" dirty="0">
                <a:latin typeface="Arial"/>
                <a:cs typeface="Arial"/>
              </a:rPr>
              <a:t>en</a:t>
            </a:r>
            <a:r>
              <a:rPr sz="2650" spc="-10" dirty="0">
                <a:latin typeface="Arial"/>
                <a:cs typeface="Arial"/>
              </a:rPr>
              <a:t>t</a:t>
            </a:r>
            <a:r>
              <a:rPr sz="2650" spc="-15" dirty="0">
                <a:latin typeface="Arial"/>
                <a:cs typeface="Arial"/>
              </a:rPr>
              <a:t>a</a:t>
            </a:r>
            <a:r>
              <a:rPr sz="2650" dirty="0">
                <a:latin typeface="Arial"/>
                <a:cs typeface="Arial"/>
              </a:rPr>
              <a:t>ç</a:t>
            </a:r>
            <a:r>
              <a:rPr sz="2650" spc="-15" dirty="0">
                <a:latin typeface="Arial"/>
                <a:cs typeface="Arial"/>
              </a:rPr>
              <a:t>ã</a:t>
            </a:r>
            <a:r>
              <a:rPr sz="2650" spc="-10" dirty="0">
                <a:latin typeface="Arial"/>
                <a:cs typeface="Arial"/>
              </a:rPr>
              <a:t>o</a:t>
            </a:r>
            <a:r>
              <a:rPr sz="2650" spc="5" dirty="0">
                <a:latin typeface="Arial"/>
                <a:cs typeface="Arial"/>
              </a:rPr>
              <a:t> 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srgbClr val="320065"/>
                </a:solidFill>
                <a:latin typeface="Arial"/>
                <a:cs typeface="Arial"/>
              </a:rPr>
              <a:t>v</a:t>
            </a:r>
            <a:r>
              <a:rPr sz="2650" spc="-10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u</a:t>
            </a:r>
            <a:r>
              <a:rPr sz="2650" spc="-5" dirty="0">
                <a:latin typeface="Arial"/>
                <a:cs typeface="Arial"/>
              </a:rPr>
              <a:t>i</a:t>
            </a:r>
            <a:r>
              <a:rPr sz="2650" spc="0" dirty="0">
                <a:latin typeface="Arial"/>
                <a:cs typeface="Arial"/>
              </a:rPr>
              <a:t>t</a:t>
            </a:r>
            <a:r>
              <a:rPr sz="2650" spc="-10" dirty="0">
                <a:latin typeface="Arial"/>
                <a:cs typeface="Arial"/>
              </a:rPr>
              <a:t>o s</a:t>
            </a:r>
            <a:r>
              <a:rPr sz="2650" spc="0" dirty="0">
                <a:latin typeface="Arial"/>
                <a:cs typeface="Arial"/>
              </a:rPr>
              <a:t>i</a:t>
            </a:r>
            <a:r>
              <a:rPr sz="2650" dirty="0">
                <a:latin typeface="Arial"/>
                <a:cs typeface="Arial"/>
              </a:rPr>
              <a:t>m</a:t>
            </a:r>
            <a:r>
              <a:rPr sz="2650" spc="-15" dirty="0">
                <a:latin typeface="Arial"/>
                <a:cs typeface="Arial"/>
              </a:rPr>
              <a:t>p</a:t>
            </a:r>
            <a:r>
              <a:rPr sz="2650" spc="0" dirty="0">
                <a:latin typeface="Arial"/>
                <a:cs typeface="Arial"/>
              </a:rPr>
              <a:t>l</a:t>
            </a:r>
            <a:r>
              <a:rPr sz="2650" spc="-15" dirty="0">
                <a:latin typeface="Arial"/>
                <a:cs typeface="Arial"/>
              </a:rPr>
              <a:t>e</a:t>
            </a:r>
            <a:r>
              <a:rPr sz="2650" spc="-10" dirty="0">
                <a:latin typeface="Arial"/>
                <a:cs typeface="Arial"/>
              </a:rPr>
              <a:t>s</a:t>
            </a:r>
            <a:r>
              <a:rPr sz="2650" spc="-5" dirty="0">
                <a:latin typeface="Arial"/>
                <a:cs typeface="Arial"/>
              </a:rPr>
              <a:t>: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111" y="2743941"/>
            <a:ext cx="4204970" cy="3091122"/>
          </a:xfrm>
          <a:custGeom>
            <a:avLst/>
            <a:gdLst/>
            <a:ahLst/>
            <a:cxnLst/>
            <a:rect l="l" t="t" r="r" b="b"/>
            <a:pathLst>
              <a:path w="4204970" h="3093720">
                <a:moveTo>
                  <a:pt x="0" y="0"/>
                </a:moveTo>
                <a:lnTo>
                  <a:pt x="0" y="3093719"/>
                </a:lnTo>
                <a:lnTo>
                  <a:pt x="4204715" y="3093719"/>
                </a:lnTo>
                <a:lnTo>
                  <a:pt x="4204715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1267" y="2776171"/>
            <a:ext cx="255778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dirty="0">
                <a:latin typeface="Courier New"/>
                <a:cs typeface="Courier New"/>
              </a:rPr>
              <a:t>te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c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a(i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9492" y="3417960"/>
            <a:ext cx="1481455" cy="113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403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P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latin typeface="Courier New"/>
                <a:cs typeface="Courier New"/>
              </a:rPr>
              <a:t>f</a:t>
            </a:r>
            <a:r>
              <a:rPr sz="1750" spc="1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r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3485" y="4273005"/>
            <a:ext cx="53721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i++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900" y="4273005"/>
            <a:ext cx="2019300" cy="65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1</a:t>
            </a:r>
            <a:r>
              <a:rPr sz="1750" spc="5" dirty="0">
                <a:latin typeface="Courier New"/>
                <a:cs typeface="Courier New"/>
              </a:rPr>
              <a:t>;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i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&lt;</a:t>
            </a: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403860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=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Po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*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2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492" y="4541003"/>
            <a:ext cx="808355" cy="761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03860">
              <a:lnSpc>
                <a:spcPct val="140000"/>
              </a:lnSpc>
            </a:pP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</a:t>
            </a:r>
            <a:r>
              <a:rPr sz="1750" spc="5" dirty="0">
                <a:latin typeface="Courier New"/>
                <a:cs typeface="Courier New"/>
              </a:rPr>
              <a:t>t 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10" dirty="0">
                <a:latin typeface="Courier New"/>
                <a:cs typeface="Courier New"/>
              </a:rPr>
              <a:t>e</a:t>
            </a:r>
            <a:r>
              <a:rPr sz="1750" dirty="0">
                <a:latin typeface="Courier New"/>
                <a:cs typeface="Courier New"/>
              </a:rPr>
              <a:t>t</a:t>
            </a:r>
            <a:r>
              <a:rPr sz="1750" spc="10" dirty="0">
                <a:latin typeface="Courier New"/>
                <a:cs typeface="Courier New"/>
              </a:rPr>
              <a:t>u</a:t>
            </a:r>
            <a:r>
              <a:rPr sz="175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2716" y="5020661"/>
            <a:ext cx="80645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P</a:t>
            </a:r>
            <a:r>
              <a:rPr sz="1750" dirty="0">
                <a:latin typeface="Courier New"/>
                <a:cs typeface="Courier New"/>
              </a:rPr>
              <a:t>ot)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1267" y="5395249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2832119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4" y="2074705"/>
            <a:ext cx="688276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15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1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ar</a:t>
            </a:r>
            <a:r>
              <a:rPr sz="2850" spc="-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or de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baseline="27027" dirty="0">
                <a:latin typeface="Arial"/>
                <a:cs typeface="Arial"/>
              </a:rPr>
              <a:t> </a:t>
            </a:r>
            <a:r>
              <a:rPr sz="2775" spc="-337" baseline="27027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endo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20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:</a:t>
            </a:r>
            <a:endParaRPr sz="2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1324" y="4171491"/>
            <a:ext cx="3442335" cy="149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22630">
              <a:lnSpc>
                <a:spcPts val="3340"/>
              </a:lnSpc>
            </a:pP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= 1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340"/>
              </a:lnSpc>
            </a:pPr>
            <a:r>
              <a:rPr sz="4275" spc="7" baseline="-17543" dirty="0">
                <a:latin typeface="Arial"/>
                <a:cs typeface="Arial"/>
              </a:rPr>
              <a:t>2</a:t>
            </a:r>
            <a:r>
              <a:rPr sz="1850" spc="10" dirty="0">
                <a:latin typeface="Arial"/>
                <a:cs typeface="Arial"/>
              </a:rPr>
              <a:t>n</a:t>
            </a:r>
            <a:endParaRPr sz="1850">
              <a:latin typeface="Arial"/>
              <a:cs typeface="Arial"/>
            </a:endParaRPr>
          </a:p>
          <a:p>
            <a:pPr marL="822960">
              <a:lnSpc>
                <a:spcPct val="100000"/>
              </a:lnSpc>
              <a:spcBef>
                <a:spcPts val="1580"/>
              </a:spcBef>
            </a:pPr>
            <a:r>
              <a:rPr sz="2850" spc="5" dirty="0">
                <a:latin typeface="Arial"/>
                <a:cs typeface="Arial"/>
              </a:rPr>
              <a:t>2 *</a:t>
            </a:r>
            <a:r>
              <a:rPr sz="2850" spc="2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775" spc="15" baseline="27027" dirty="0">
                <a:latin typeface="Arial"/>
                <a:cs typeface="Arial"/>
              </a:rPr>
              <a:t>n</a:t>
            </a:r>
            <a:r>
              <a:rPr sz="2775" spc="7" baseline="27027" dirty="0">
                <a:latin typeface="Arial"/>
                <a:cs typeface="Arial"/>
              </a:rPr>
              <a:t>-</a:t>
            </a:r>
            <a:r>
              <a:rPr sz="2775" spc="15" baseline="27027" dirty="0">
                <a:latin typeface="Arial"/>
                <a:cs typeface="Arial"/>
              </a:rPr>
              <a:t>1</a:t>
            </a:r>
            <a:r>
              <a:rPr sz="2850" dirty="0">
                <a:latin typeface="Arial"/>
                <a:cs typeface="Arial"/>
              </a:rPr>
              <a:t>,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spc="2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&gt; 1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9887" y="4061094"/>
            <a:ext cx="117475" cy="1773969"/>
          </a:xfrm>
          <a:custGeom>
            <a:avLst/>
            <a:gdLst/>
            <a:ahLst/>
            <a:cxnLst/>
            <a:rect l="l" t="t" r="r" b="b"/>
            <a:pathLst>
              <a:path w="117475" h="1775460">
                <a:moveTo>
                  <a:pt x="117347" y="0"/>
                </a:moveTo>
                <a:lnTo>
                  <a:pt x="85114" y="24416"/>
                </a:lnTo>
                <a:lnTo>
                  <a:pt x="69616" y="60899"/>
                </a:lnTo>
                <a:lnTo>
                  <a:pt x="61020" y="101437"/>
                </a:lnTo>
                <a:lnTo>
                  <a:pt x="58002" y="139798"/>
                </a:lnTo>
                <a:lnTo>
                  <a:pt x="57911" y="147827"/>
                </a:lnTo>
                <a:lnTo>
                  <a:pt x="57911" y="740663"/>
                </a:lnTo>
                <a:lnTo>
                  <a:pt x="57826" y="748693"/>
                </a:lnTo>
                <a:lnTo>
                  <a:pt x="54961" y="787054"/>
                </a:lnTo>
                <a:lnTo>
                  <a:pt x="46744" y="827592"/>
                </a:lnTo>
                <a:lnTo>
                  <a:pt x="31769" y="864075"/>
                </a:lnTo>
                <a:lnTo>
                  <a:pt x="0" y="888491"/>
                </a:lnTo>
                <a:lnTo>
                  <a:pt x="3179" y="888708"/>
                </a:lnTo>
                <a:lnTo>
                  <a:pt x="34210" y="916826"/>
                </a:lnTo>
                <a:lnTo>
                  <a:pt x="48439" y="954959"/>
                </a:lnTo>
                <a:lnTo>
                  <a:pt x="55844" y="996794"/>
                </a:lnTo>
                <a:lnTo>
                  <a:pt x="57911" y="1036319"/>
                </a:lnTo>
                <a:lnTo>
                  <a:pt x="57911" y="1627631"/>
                </a:lnTo>
                <a:lnTo>
                  <a:pt x="58002" y="1635803"/>
                </a:lnTo>
                <a:lnTo>
                  <a:pt x="61020" y="1674607"/>
                </a:lnTo>
                <a:lnTo>
                  <a:pt x="69616" y="1715219"/>
                </a:lnTo>
                <a:lnTo>
                  <a:pt x="85114" y="1751432"/>
                </a:lnTo>
                <a:lnTo>
                  <a:pt x="114163" y="1775243"/>
                </a:lnTo>
                <a:lnTo>
                  <a:pt x="117347" y="1775459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85921317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80" y="1931326"/>
            <a:ext cx="8485505" cy="2769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igni</a:t>
            </a:r>
            <a:r>
              <a:rPr sz="3300" spc="-10" dirty="0">
                <a:latin typeface="Arial"/>
                <a:cs typeface="Arial"/>
              </a:rPr>
              <a:t>f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a que,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spc="-10" dirty="0">
                <a:latin typeface="Arial"/>
                <a:cs typeface="Arial"/>
              </a:rPr>
              <a:t>c</a:t>
            </a:r>
            <a:r>
              <a:rPr sz="3300" spc="-5" dirty="0">
                <a:latin typeface="Arial"/>
                <a:cs typeface="Arial"/>
              </a:rPr>
              <a:t>ulo do </a:t>
            </a:r>
            <a:r>
              <a:rPr sz="3300" dirty="0">
                <a:latin typeface="Arial"/>
                <a:cs typeface="Arial"/>
              </a:rPr>
              <a:t>v</a:t>
            </a:r>
            <a:r>
              <a:rPr sz="3300" spc="-5" dirty="0">
                <a:latin typeface="Arial"/>
                <a:cs typeface="Arial"/>
              </a:rPr>
              <a:t>alor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</a:t>
            </a:r>
            <a:r>
              <a:rPr sz="3300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n </a:t>
            </a:r>
            <a:r>
              <a:rPr sz="3300" spc="-5" dirty="0">
                <a:latin typeface="Arial"/>
                <a:cs typeface="Arial"/>
              </a:rPr>
              <a:t>pa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a um de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m</a:t>
            </a:r>
            <a:r>
              <a:rPr sz="3300" spc="10" dirty="0">
                <a:latin typeface="Arial"/>
                <a:cs typeface="Arial"/>
              </a:rPr>
              <a:t>i</a:t>
            </a:r>
            <a:r>
              <a:rPr sz="3300" spc="-5" dirty="0">
                <a:latin typeface="Arial"/>
                <a:cs typeface="Arial"/>
              </a:rPr>
              <a:t>nado n,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há ne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ss</a:t>
            </a:r>
            <a:r>
              <a:rPr sz="3300" spc="-5" dirty="0">
                <a:latin typeface="Arial"/>
                <a:cs typeface="Arial"/>
              </a:rPr>
              <a:t>i</a:t>
            </a:r>
            <a:r>
              <a:rPr sz="3300" spc="-20" dirty="0">
                <a:latin typeface="Arial"/>
                <a:cs typeface="Arial"/>
              </a:rPr>
              <a:t>d</a:t>
            </a:r>
            <a:r>
              <a:rPr sz="3300" spc="-5" dirty="0">
                <a:latin typeface="Arial"/>
                <a:cs typeface="Arial"/>
              </a:rPr>
              <a:t>ade</a:t>
            </a:r>
            <a:r>
              <a:rPr sz="3300" spc="-2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de que 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e 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320065"/>
                </a:solidFill>
                <a:latin typeface="Arial"/>
                <a:cs typeface="Arial"/>
              </a:rPr>
              <a:t>a </a:t>
            </a:r>
            <a:r>
              <a:rPr sz="3300" spc="-5" dirty="0">
                <a:latin typeface="Arial"/>
                <a:cs typeface="Arial"/>
              </a:rPr>
              <a:t>aos</a:t>
            </a:r>
            <a:r>
              <a:rPr sz="3300" dirty="0">
                <a:latin typeface="Arial"/>
                <a:cs typeface="Arial"/>
              </a:rPr>
              <a:t> c</a:t>
            </a:r>
            <a:r>
              <a:rPr sz="3300" spc="-5" dirty="0">
                <a:latin typeface="Arial"/>
                <a:cs typeface="Arial"/>
              </a:rPr>
              <a:t>ál</a:t>
            </a:r>
            <a:r>
              <a:rPr sz="3300" dirty="0">
                <a:latin typeface="Arial"/>
                <a:cs typeface="Arial"/>
              </a:rPr>
              <a:t>c</a:t>
            </a:r>
            <a:r>
              <a:rPr sz="3300" spc="-20" dirty="0">
                <a:latin typeface="Arial"/>
                <a:cs typeface="Arial"/>
              </a:rPr>
              <a:t>u</a:t>
            </a:r>
            <a:r>
              <a:rPr sz="3300" spc="-5" dirty="0">
                <a:latin typeface="Arial"/>
                <a:cs typeface="Arial"/>
              </a:rPr>
              <a:t>los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5" dirty="0">
                <a:latin typeface="Arial"/>
                <a:cs typeface="Arial"/>
              </a:rPr>
              <a:t>io</a:t>
            </a:r>
            <a:r>
              <a:rPr sz="3300" dirty="0">
                <a:latin typeface="Arial"/>
                <a:cs typeface="Arial"/>
              </a:rPr>
              <a:t>r</a:t>
            </a:r>
            <a:r>
              <a:rPr sz="3300" spc="-20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s</a:t>
            </a:r>
            <a:r>
              <a:rPr sz="3300" spc="-5" dirty="0"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</a:pPr>
            <a:r>
              <a:rPr sz="3300" spc="-10" dirty="0">
                <a:latin typeface="Arial"/>
                <a:cs typeface="Arial"/>
              </a:rPr>
              <a:t>P</a:t>
            </a:r>
            <a:r>
              <a:rPr sz="3300" spc="-5" dirty="0">
                <a:latin typeface="Arial"/>
                <a:cs typeface="Arial"/>
              </a:rPr>
              <a:t>or</a:t>
            </a:r>
            <a:r>
              <a:rPr sz="3300" spc="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e</a:t>
            </a:r>
            <a:r>
              <a:rPr sz="3300" dirty="0">
                <a:latin typeface="Arial"/>
                <a:cs typeface="Arial"/>
              </a:rPr>
              <a:t>x</a:t>
            </a:r>
            <a:r>
              <a:rPr sz="3300" spc="-5" dirty="0">
                <a:latin typeface="Arial"/>
                <a:cs typeface="Arial"/>
              </a:rPr>
              <a:t>emplo:</a:t>
            </a:r>
            <a:r>
              <a:rPr sz="3300" spc="-1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Quan</a:t>
            </a:r>
            <a:r>
              <a:rPr sz="3300" spc="-10" dirty="0">
                <a:latin typeface="Arial"/>
                <a:cs typeface="Arial"/>
              </a:rPr>
              <a:t>t</a:t>
            </a:r>
            <a:r>
              <a:rPr sz="3300" spc="-5" dirty="0">
                <a:latin typeface="Arial"/>
                <a:cs typeface="Arial"/>
              </a:rPr>
              <a:t>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é o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-7" baseline="25252" dirty="0">
                <a:latin typeface="Arial"/>
                <a:cs typeface="Arial"/>
              </a:rPr>
              <a:t>4</a:t>
            </a:r>
            <a:r>
              <a:rPr sz="3300" spc="-5" dirty="0">
                <a:latin typeface="Arial"/>
                <a:cs typeface="Arial"/>
              </a:rPr>
              <a:t>?</a:t>
            </a:r>
            <a:endParaRPr sz="33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28702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77470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051657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1885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575420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77141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249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456302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40393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3"/>
            <a:ext cx="1911350" cy="3105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&gt;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736907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7494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2" y="1944514"/>
            <a:ext cx="1911350" cy="3716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4" name="object 4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n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666304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1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003282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2" y="3279938"/>
            <a:ext cx="3962400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endParaRPr sz="3300" baseline="25252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4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44838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4195445" cy="23246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330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8 =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659999"/>
                </a:solidFill>
                <a:latin typeface="Arial"/>
                <a:cs typeface="Arial"/>
              </a:rPr>
              <a:t>3</a:t>
            </a:r>
            <a:r>
              <a:rPr sz="3300" spc="442" baseline="25252" dirty="0">
                <a:solidFill>
                  <a:srgbClr val="659999"/>
                </a:solidFill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 </a:t>
            </a:r>
            <a:r>
              <a:rPr sz="3300" spc="-5" dirty="0">
                <a:solidFill>
                  <a:srgbClr val="659999"/>
                </a:solidFill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160498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203" y="1944513"/>
            <a:ext cx="41465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-7" baseline="-16835" dirty="0">
                <a:latin typeface="Arial"/>
                <a:cs typeface="Arial"/>
              </a:rPr>
              <a:t>2</a:t>
            </a:r>
            <a:r>
              <a:rPr sz="2200" dirty="0">
                <a:latin typeface="Arial"/>
                <a:cs typeface="Arial"/>
              </a:rPr>
              <a:t>4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48203" y="3279938"/>
            <a:ext cx="5163185" cy="358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4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3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8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2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*</a:t>
            </a:r>
            <a:r>
              <a:rPr sz="3300" spc="5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 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4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3300" spc="-5" dirty="0">
                <a:latin typeface="Arial"/>
                <a:cs typeface="Arial"/>
              </a:rPr>
              <a:t>2</a:t>
            </a:r>
            <a:r>
              <a:rPr sz="3300" baseline="25252" dirty="0">
                <a:latin typeface="Arial"/>
                <a:cs typeface="Arial"/>
              </a:rPr>
              <a:t>1</a:t>
            </a:r>
            <a:r>
              <a:rPr sz="3300" spc="442" baseline="25252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=</a:t>
            </a:r>
            <a:r>
              <a:rPr sz="3300" dirty="0">
                <a:latin typeface="Arial"/>
                <a:cs typeface="Arial"/>
              </a:rPr>
              <a:t> </a:t>
            </a:r>
            <a:r>
              <a:rPr sz="3300" spc="-5" dirty="0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4800">
              <a:latin typeface="Times New Roman"/>
              <a:cs typeface="Times New Roman"/>
            </a:endParaRPr>
          </a:p>
          <a:p>
            <a:pPr marL="1996439">
              <a:lnSpc>
                <a:spcPct val="100000"/>
              </a:lnSpc>
            </a:pP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an</a:t>
            </a:r>
            <a:r>
              <a:rPr sz="3300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o,</a:t>
            </a:r>
            <a:r>
              <a:rPr sz="3300" spc="-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3300" baseline="25252" dirty="0">
                <a:solidFill>
                  <a:srgbClr val="FF3200"/>
                </a:solidFill>
                <a:latin typeface="Arial"/>
                <a:cs typeface="Arial"/>
              </a:rPr>
              <a:t>4 </a:t>
            </a:r>
            <a:r>
              <a:rPr sz="3300" spc="-457" baseline="25252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3300" spc="2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srgbClr val="FF3200"/>
                </a:solidFill>
                <a:latin typeface="Arial"/>
                <a:cs typeface="Arial"/>
              </a:rPr>
              <a:t>16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5" name="object 5"/>
          <p:cNvSpPr/>
          <p:nvPr/>
        </p:nvSpPr>
        <p:spPr>
          <a:xfrm>
            <a:off x="7720584" y="2268854"/>
            <a:ext cx="78105" cy="869854"/>
          </a:xfrm>
          <a:custGeom>
            <a:avLst/>
            <a:gdLst/>
            <a:ahLst/>
            <a:cxnLst/>
            <a:rect l="l" t="t" r="r" b="b"/>
            <a:pathLst>
              <a:path w="78104" h="870585">
                <a:moveTo>
                  <a:pt x="77723" y="0"/>
                </a:moveTo>
                <a:lnTo>
                  <a:pt x="47325" y="26038"/>
                </a:lnTo>
                <a:lnTo>
                  <a:pt x="38310" y="64293"/>
                </a:lnTo>
                <a:lnTo>
                  <a:pt x="38099" y="71627"/>
                </a:lnTo>
                <a:lnTo>
                  <a:pt x="38099" y="362711"/>
                </a:lnTo>
                <a:lnTo>
                  <a:pt x="37906" y="370063"/>
                </a:lnTo>
                <a:lnTo>
                  <a:pt x="29494" y="408920"/>
                </a:lnTo>
                <a:lnTo>
                  <a:pt x="0" y="435863"/>
                </a:lnTo>
                <a:lnTo>
                  <a:pt x="3943" y="436233"/>
                </a:lnTo>
                <a:lnTo>
                  <a:pt x="31670" y="467415"/>
                </a:lnTo>
                <a:lnTo>
                  <a:pt x="38099" y="507491"/>
                </a:lnTo>
                <a:lnTo>
                  <a:pt x="38099" y="798575"/>
                </a:lnTo>
                <a:lnTo>
                  <a:pt x="38310" y="805910"/>
                </a:lnTo>
                <a:lnTo>
                  <a:pt x="47325" y="844165"/>
                </a:lnTo>
                <a:lnTo>
                  <a:pt x="73762" y="869834"/>
                </a:lnTo>
                <a:lnTo>
                  <a:pt x="77723" y="870203"/>
                </a:lnTo>
              </a:path>
            </a:pathLst>
          </a:custGeom>
          <a:ln w="41980">
            <a:solidFill>
              <a:srgbClr val="6598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43571" y="2189671"/>
            <a:ext cx="2895600" cy="963084"/>
          </a:xfrm>
          <a:prstGeom prst="rect">
            <a:avLst/>
          </a:prstGeom>
          <a:ln w="10495">
            <a:solidFill>
              <a:srgbClr val="65989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61670">
              <a:lnSpc>
                <a:spcPts val="2090"/>
              </a:lnSpc>
              <a:spcBef>
                <a:spcPts val="37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,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=</a:t>
            </a:r>
            <a:r>
              <a:rPr sz="1950" spc="-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100965">
              <a:lnSpc>
                <a:spcPts val="2090"/>
              </a:lnSpc>
            </a:pPr>
            <a:r>
              <a:rPr sz="2925" spc="22" baseline="-15669" dirty="0">
                <a:latin typeface="Arial"/>
                <a:cs typeface="Arial"/>
              </a:rPr>
              <a:t>2</a:t>
            </a:r>
            <a:r>
              <a:rPr sz="1300" spc="10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600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10" dirty="0">
                <a:latin typeface="Arial"/>
                <a:cs typeface="Arial"/>
              </a:rPr>
              <a:t> 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2</a:t>
            </a:r>
            <a:r>
              <a:rPr sz="1950" spc="-7" baseline="23504" dirty="0">
                <a:latin typeface="Arial"/>
                <a:cs typeface="Arial"/>
              </a:rPr>
              <a:t>n</a:t>
            </a:r>
            <a:r>
              <a:rPr sz="1950" spc="7" baseline="23504" dirty="0">
                <a:latin typeface="Arial"/>
                <a:cs typeface="Arial"/>
              </a:rPr>
              <a:t>-1</a:t>
            </a:r>
            <a:r>
              <a:rPr sz="1950" spc="5" dirty="0">
                <a:latin typeface="Arial"/>
                <a:cs typeface="Arial"/>
              </a:rPr>
              <a:t>,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se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&gt;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89409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080" y="1948573"/>
            <a:ext cx="8625205" cy="4873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pa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: </a:t>
            </a:r>
            <a:r>
              <a:rPr sz="3500" spc="10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-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ur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o</a:t>
            </a:r>
            <a:r>
              <a:rPr sz="3500" spc="15" dirty="0">
                <a:latin typeface="Arial"/>
                <a:cs typeface="Arial"/>
              </a:rPr>
              <a:t>u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15" dirty="0">
                <a:latin typeface="Arial"/>
                <a:cs typeface="Arial"/>
              </a:rPr>
              <a:t>e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b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575310" indent="-377825">
              <a:lnSpc>
                <a:spcPts val="380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Tod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20" dirty="0">
                <a:latin typeface="Arial"/>
                <a:cs typeface="Arial"/>
              </a:rPr>
              <a:t>p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5" dirty="0">
                <a:latin typeface="Arial"/>
                <a:cs typeface="Arial"/>
              </a:rPr>
              <a:t>og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</a:t>
            </a:r>
            <a:r>
              <a:rPr sz="3500" spc="10" dirty="0">
                <a:latin typeface="Arial"/>
                <a:cs typeface="Arial"/>
              </a:rPr>
              <a:t>rs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10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d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v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p</a:t>
            </a:r>
            <a:r>
              <a:rPr sz="3500" spc="20" dirty="0">
                <a:latin typeface="Arial"/>
                <a:cs typeface="Arial"/>
              </a:rPr>
              <a:t>o</a:t>
            </a:r>
            <a:r>
              <a:rPr sz="3500" spc="10" dirty="0">
                <a:latin typeface="Arial"/>
                <a:cs typeface="Arial"/>
              </a:rPr>
              <a:t>s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20" dirty="0">
                <a:latin typeface="Arial"/>
                <a:cs typeface="Arial"/>
              </a:rPr>
              <a:t>u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r u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15" dirty="0">
                <a:latin typeface="Arial"/>
                <a:cs typeface="Arial"/>
              </a:rPr>
              <a:t>a 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on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d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ç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ã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ad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!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  <a:buClr>
                <a:srgbClr val="852A33"/>
              </a:buClr>
              <a:buFont typeface="Wingdings"/>
              <a:buChar char=""/>
            </a:pPr>
            <a:endParaRPr sz="4750">
              <a:latin typeface="Times New Roman"/>
              <a:cs typeface="Times New Roman"/>
            </a:endParaRPr>
          </a:p>
          <a:p>
            <a:pPr marL="390525" marR="302260" indent="-377825">
              <a:lnSpc>
                <a:spcPts val="3790"/>
              </a:lnSpc>
              <a:buClr>
                <a:srgbClr val="852A33"/>
              </a:buClr>
              <a:buSzPct val="68571"/>
              <a:buFont typeface="Wingdings"/>
              <a:buChar char=""/>
              <a:tabLst>
                <a:tab pos="391160" algn="l"/>
              </a:tabLst>
            </a:pPr>
            <a:r>
              <a:rPr sz="3500" spc="10" dirty="0">
                <a:latin typeface="Arial"/>
                <a:cs typeface="Arial"/>
              </a:rPr>
              <a:t>C</a:t>
            </a:r>
            <a:r>
              <a:rPr sz="3500" dirty="0">
                <a:latin typeface="Arial"/>
                <a:cs typeface="Arial"/>
              </a:rPr>
              <a:t>on</a:t>
            </a:r>
            <a:r>
              <a:rPr sz="3500" spc="15" dirty="0">
                <a:latin typeface="Arial"/>
                <a:cs typeface="Arial"/>
              </a:rPr>
              <a:t>d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-5" dirty="0">
                <a:latin typeface="Arial"/>
                <a:cs typeface="Arial"/>
              </a:rPr>
              <a:t>ç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-10" dirty="0">
                <a:latin typeface="Arial"/>
                <a:cs typeface="Arial"/>
              </a:rPr>
              <a:t> </a:t>
            </a:r>
            <a:r>
              <a:rPr sz="3500" spc="5" dirty="0">
                <a:latin typeface="Arial"/>
                <a:cs typeface="Arial"/>
              </a:rPr>
              <a:t>qu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de</a:t>
            </a:r>
            <a:r>
              <a:rPr sz="3500" spc="10" dirty="0">
                <a:latin typeface="Arial"/>
                <a:cs typeface="Arial"/>
              </a:rPr>
              <a:t>f</a:t>
            </a:r>
            <a:r>
              <a:rPr sz="3500" dirty="0">
                <a:latin typeface="Arial"/>
                <a:cs typeface="Arial"/>
              </a:rPr>
              <a:t>i</a:t>
            </a:r>
            <a:r>
              <a:rPr sz="3500" spc="5" dirty="0">
                <a:latin typeface="Arial"/>
                <a:cs typeface="Arial"/>
              </a:rPr>
              <a:t>n</a:t>
            </a:r>
            <a:r>
              <a:rPr sz="3500" spc="15" dirty="0">
                <a:latin typeface="Arial"/>
                <a:cs typeface="Arial"/>
              </a:rPr>
              <a:t>e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10" dirty="0">
                <a:latin typeface="Arial"/>
                <a:cs typeface="Arial"/>
              </a:rPr>
              <a:t>r</a:t>
            </a:r>
            <a:r>
              <a:rPr sz="3500" spc="20" dirty="0">
                <a:latin typeface="Arial"/>
                <a:cs typeface="Arial"/>
              </a:rPr>
              <a:t>e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ur</a:t>
            </a:r>
            <a:r>
              <a:rPr sz="3500" spc="-5" dirty="0">
                <a:latin typeface="Arial"/>
                <a:cs typeface="Arial"/>
              </a:rPr>
              <a:t>s</a:t>
            </a:r>
            <a:r>
              <a:rPr sz="3500" spc="5" dirty="0">
                <a:latin typeface="Arial"/>
                <a:cs typeface="Arial"/>
              </a:rPr>
              <a:t>ã</a:t>
            </a:r>
            <a:r>
              <a:rPr sz="3500" spc="15" dirty="0">
                <a:latin typeface="Arial"/>
                <a:cs typeface="Arial"/>
              </a:rPr>
              <a:t>o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-5" dirty="0">
                <a:latin typeface="Arial"/>
                <a:cs typeface="Arial"/>
              </a:rPr>
              <a:t>c</a:t>
            </a:r>
            <a:r>
              <a:rPr sz="3500" spc="5" dirty="0">
                <a:latin typeface="Arial"/>
                <a:cs typeface="Arial"/>
              </a:rPr>
              <a:t>h</a:t>
            </a:r>
            <a:r>
              <a:rPr sz="3500" spc="20" dirty="0">
                <a:latin typeface="Arial"/>
                <a:cs typeface="Arial"/>
              </a:rPr>
              <a:t>a</a:t>
            </a:r>
            <a:r>
              <a:rPr sz="3500" spc="10" dirty="0">
                <a:latin typeface="Arial"/>
                <a:cs typeface="Arial"/>
              </a:rPr>
              <a:t>m</a:t>
            </a:r>
            <a:r>
              <a:rPr sz="3500" spc="5" dirty="0">
                <a:latin typeface="Arial"/>
                <a:cs typeface="Arial"/>
              </a:rPr>
              <a:t>ad</a:t>
            </a:r>
            <a:r>
              <a:rPr sz="3500" spc="15" dirty="0">
                <a:latin typeface="Arial"/>
                <a:cs typeface="Arial"/>
              </a:rPr>
              <a:t>a</a:t>
            </a:r>
            <a:r>
              <a:rPr sz="3500" spc="5" dirty="0">
                <a:latin typeface="Arial"/>
                <a:cs typeface="Arial"/>
              </a:rPr>
              <a:t> 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s</a:t>
            </a:r>
            <a:r>
              <a:rPr sz="3500" spc="15" dirty="0">
                <a:solidFill>
                  <a:srgbClr val="320065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320065"/>
                </a:solidFill>
                <a:latin typeface="Arial"/>
                <a:cs typeface="Arial"/>
              </a:rPr>
              <a:t>r</a:t>
            </a:r>
            <a:r>
              <a:rPr sz="3500" spc="20" dirty="0">
                <a:solidFill>
                  <a:srgbClr val="320065"/>
                </a:solidFill>
                <a:latin typeface="Arial"/>
                <a:cs typeface="Arial"/>
              </a:rPr>
              <a:t>e</a:t>
            </a:r>
            <a:r>
              <a:rPr sz="3500" spc="-5" dirty="0">
                <a:solidFill>
                  <a:srgbClr val="320065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320065"/>
                </a:solidFill>
                <a:latin typeface="Arial"/>
                <a:cs typeface="Arial"/>
              </a:rPr>
              <a:t>u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rs</a:t>
            </a:r>
            <a:r>
              <a:rPr sz="3500" dirty="0">
                <a:solidFill>
                  <a:srgbClr val="320065"/>
                </a:solidFill>
                <a:latin typeface="Arial"/>
                <a:cs typeface="Arial"/>
              </a:rPr>
              <a:t>i</a:t>
            </a:r>
            <a:r>
              <a:rPr sz="3500" spc="10" dirty="0">
                <a:solidFill>
                  <a:srgbClr val="320065"/>
                </a:solidFill>
                <a:latin typeface="Arial"/>
                <a:cs typeface="Arial"/>
              </a:rPr>
              <a:t>vo</a:t>
            </a:r>
            <a:r>
              <a:rPr sz="3500" spc="5" dirty="0">
                <a:latin typeface="Arial"/>
                <a:cs typeface="Arial"/>
              </a:rPr>
              <a:t>.</a:t>
            </a:r>
            <a:endParaRPr sz="3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90453211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7396" y="3631686"/>
            <a:ext cx="147383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5" dirty="0">
                <a:latin typeface="Arial"/>
                <a:cs typeface="Arial"/>
              </a:rPr>
              <a:t>2,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=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93993" y="3631686"/>
            <a:ext cx="243840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B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se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ã</a:t>
            </a:r>
            <a:r>
              <a:rPr sz="2400" spc="10" dirty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5" y="3939276"/>
            <a:ext cx="31305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7" baseline="-17361" dirty="0">
                <a:latin typeface="Arial"/>
                <a:cs typeface="Arial"/>
              </a:rPr>
              <a:t>2</a:t>
            </a:r>
            <a:r>
              <a:rPr sz="1650" dirty="0"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7395" y="4848339"/>
            <a:ext cx="223901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0" dirty="0">
                <a:latin typeface="Arial"/>
                <a:cs typeface="Arial"/>
              </a:rPr>
              <a:t>2 </a:t>
            </a:r>
            <a:r>
              <a:rPr sz="2400" spc="5" dirty="0">
                <a:latin typeface="Arial"/>
                <a:cs typeface="Arial"/>
              </a:rPr>
              <a:t>*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2</a:t>
            </a:r>
            <a:r>
              <a:rPr sz="2475" baseline="25252" dirty="0">
                <a:latin typeface="Arial"/>
                <a:cs typeface="Arial"/>
              </a:rPr>
              <a:t>n-1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se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n &gt;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7479" y="4848339"/>
            <a:ext cx="2217420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sso r</a:t>
            </a:r>
            <a:r>
              <a:rPr sz="2400" spc="5" dirty="0">
                <a:latin typeface="Arial"/>
                <a:cs typeface="Arial"/>
              </a:rPr>
              <a:t>e</a:t>
            </a:r>
            <a:r>
              <a:rPr sz="2400" spc="10" dirty="0">
                <a:latin typeface="Arial"/>
                <a:cs typeface="Arial"/>
              </a:rPr>
              <a:t>c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i</a:t>
            </a:r>
            <a:r>
              <a:rPr sz="2400" spc="10" dirty="0">
                <a:latin typeface="Arial"/>
                <a:cs typeface="Arial"/>
              </a:rPr>
              <a:t>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3103" y="3458097"/>
            <a:ext cx="318770" cy="1982709"/>
          </a:xfrm>
          <a:custGeom>
            <a:avLst/>
            <a:gdLst/>
            <a:ahLst/>
            <a:cxnLst/>
            <a:rect l="l" t="t" r="r" b="b"/>
            <a:pathLst>
              <a:path w="318769" h="1984375">
                <a:moveTo>
                  <a:pt x="318515" y="0"/>
                </a:moveTo>
                <a:lnTo>
                  <a:pt x="279521" y="4983"/>
                </a:lnTo>
                <a:lnTo>
                  <a:pt x="244015" y="19118"/>
                </a:lnTo>
                <a:lnTo>
                  <a:pt x="209197" y="44907"/>
                </a:lnTo>
                <a:lnTo>
                  <a:pt x="185075" y="74528"/>
                </a:lnTo>
                <a:lnTo>
                  <a:pt x="168087" y="109452"/>
                </a:lnTo>
                <a:lnTo>
                  <a:pt x="159394" y="148455"/>
                </a:lnTo>
                <a:lnTo>
                  <a:pt x="158495" y="166115"/>
                </a:lnTo>
                <a:lnTo>
                  <a:pt x="158495" y="827531"/>
                </a:lnTo>
                <a:lnTo>
                  <a:pt x="158397" y="833468"/>
                </a:lnTo>
                <a:lnTo>
                  <a:pt x="152407" y="873291"/>
                </a:lnTo>
                <a:lnTo>
                  <a:pt x="137929" y="909247"/>
                </a:lnTo>
                <a:lnTo>
                  <a:pt x="112394" y="944117"/>
                </a:lnTo>
                <a:lnTo>
                  <a:pt x="78839" y="970690"/>
                </a:lnTo>
                <a:lnTo>
                  <a:pt x="38899" y="987235"/>
                </a:lnTo>
                <a:lnTo>
                  <a:pt x="0" y="992123"/>
                </a:lnTo>
                <a:lnTo>
                  <a:pt x="5738" y="992229"/>
                </a:lnTo>
                <a:lnTo>
                  <a:pt x="44185" y="998595"/>
                </a:lnTo>
                <a:lnTo>
                  <a:pt x="83417" y="1016790"/>
                </a:lnTo>
                <a:lnTo>
                  <a:pt x="116058" y="1044882"/>
                </a:lnTo>
                <a:lnTo>
                  <a:pt x="137929" y="1076143"/>
                </a:lnTo>
                <a:lnTo>
                  <a:pt x="152407" y="1112357"/>
                </a:lnTo>
                <a:lnTo>
                  <a:pt x="158397" y="1152300"/>
                </a:lnTo>
                <a:lnTo>
                  <a:pt x="158495" y="1158239"/>
                </a:lnTo>
                <a:lnTo>
                  <a:pt x="158495" y="1818131"/>
                </a:lnTo>
                <a:lnTo>
                  <a:pt x="158596" y="1824071"/>
                </a:lnTo>
                <a:lnTo>
                  <a:pt x="164706" y="1864014"/>
                </a:lnTo>
                <a:lnTo>
                  <a:pt x="179442" y="1900228"/>
                </a:lnTo>
                <a:lnTo>
                  <a:pt x="201645" y="1931489"/>
                </a:lnTo>
                <a:lnTo>
                  <a:pt x="234674" y="1959581"/>
                </a:lnTo>
                <a:lnTo>
                  <a:pt x="274208" y="1977776"/>
                </a:lnTo>
                <a:lnTo>
                  <a:pt x="312775" y="1984142"/>
                </a:lnTo>
                <a:lnTo>
                  <a:pt x="318515" y="1984247"/>
                </a:lnTo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100583"/>
                </a:lnTo>
                <a:lnTo>
                  <a:pt x="178307" y="100583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4588" y="3695642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100583"/>
                </a:lnTo>
                <a:lnTo>
                  <a:pt x="713231" y="100583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92556" y="340581"/>
            <a:ext cx="5822315" cy="118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  <p:sp>
        <p:nvSpPr>
          <p:cNvPr id="11" name="object 11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397763"/>
                </a:moveTo>
                <a:lnTo>
                  <a:pt x="178307" y="0"/>
                </a:lnTo>
                <a:lnTo>
                  <a:pt x="0" y="199643"/>
                </a:lnTo>
                <a:lnTo>
                  <a:pt x="178307" y="397763"/>
                </a:lnTo>
                <a:close/>
              </a:path>
              <a:path w="713739" h="398145">
                <a:moveTo>
                  <a:pt x="713231" y="298703"/>
                </a:moveTo>
                <a:lnTo>
                  <a:pt x="713231" y="99059"/>
                </a:lnTo>
                <a:lnTo>
                  <a:pt x="178307" y="99059"/>
                </a:lnTo>
                <a:lnTo>
                  <a:pt x="178307" y="298703"/>
                </a:lnTo>
                <a:lnTo>
                  <a:pt x="713231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04588" y="4805706"/>
            <a:ext cx="713740" cy="397811"/>
          </a:xfrm>
          <a:custGeom>
            <a:avLst/>
            <a:gdLst/>
            <a:ahLst/>
            <a:cxnLst/>
            <a:rect l="l" t="t" r="r" b="b"/>
            <a:pathLst>
              <a:path w="713739" h="398145">
                <a:moveTo>
                  <a:pt x="178307" y="0"/>
                </a:moveTo>
                <a:lnTo>
                  <a:pt x="178307" y="99059"/>
                </a:lnTo>
                <a:lnTo>
                  <a:pt x="713231" y="99059"/>
                </a:lnTo>
                <a:lnTo>
                  <a:pt x="713231" y="298703"/>
                </a:lnTo>
                <a:lnTo>
                  <a:pt x="178307" y="298703"/>
                </a:lnTo>
                <a:lnTo>
                  <a:pt x="178307" y="397763"/>
                </a:lnTo>
                <a:lnTo>
                  <a:pt x="0" y="199643"/>
                </a:lnTo>
                <a:lnTo>
                  <a:pt x="178307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776460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7615" y="2060241"/>
            <a:ext cx="9067800" cy="5404388"/>
          </a:xfrm>
          <a:custGeom>
            <a:avLst/>
            <a:gdLst/>
            <a:ahLst/>
            <a:cxnLst/>
            <a:rect l="l" t="t" r="r" b="b"/>
            <a:pathLst>
              <a:path w="9067800" h="5408930">
                <a:moveTo>
                  <a:pt x="0" y="0"/>
                </a:moveTo>
                <a:lnTo>
                  <a:pt x="0" y="5408675"/>
                </a:lnTo>
                <a:lnTo>
                  <a:pt x="9067799" y="5408675"/>
                </a:lnTo>
                <a:lnTo>
                  <a:pt x="9067799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0071" y="2109728"/>
            <a:ext cx="457835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 Po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5" dirty="0">
                <a:latin typeface="Arial"/>
                <a:cs typeface="Arial"/>
              </a:rPr>
              <a:t>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-10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t</a:t>
            </a:r>
            <a:r>
              <a:rPr sz="2850" spc="-5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n)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{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0338" y="3158882"/>
            <a:ext cx="28809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Ba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da</a:t>
            </a:r>
            <a:r>
              <a:rPr sz="2850" spc="10" dirty="0">
                <a:latin typeface="Arial"/>
                <a:cs typeface="Arial"/>
              </a:rPr>
              <a:t> 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ão</a:t>
            </a:r>
            <a:endParaRPr sz="2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930" y="3069049"/>
            <a:ext cx="2133600" cy="1581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065" marR="5080" indent="-405765">
              <a:lnSpc>
                <a:spcPct val="120700"/>
              </a:lnSpc>
              <a:tabLst>
                <a:tab pos="498475" algn="l"/>
              </a:tabLst>
            </a:pPr>
            <a:r>
              <a:rPr sz="2850" spc="-5" dirty="0">
                <a:latin typeface="Arial"/>
                <a:cs typeface="Arial"/>
              </a:rPr>
              <a:t>i</a:t>
            </a:r>
            <a:r>
              <a:rPr sz="2850" dirty="0">
                <a:latin typeface="Arial"/>
                <a:cs typeface="Arial"/>
              </a:rPr>
              <a:t>f	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=</a:t>
            </a:r>
            <a:r>
              <a:rPr sz="2850" spc="5" dirty="0">
                <a:latin typeface="Arial"/>
                <a:cs typeface="Arial"/>
              </a:rPr>
              <a:t>= 1)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-10" dirty="0">
                <a:latin typeface="Arial"/>
                <a:cs typeface="Arial"/>
              </a:rPr>
              <a:t>2</a:t>
            </a:r>
            <a:r>
              <a:rPr sz="2850" spc="10" dirty="0">
                <a:latin typeface="Arial"/>
                <a:cs typeface="Arial"/>
              </a:rPr>
              <a:t>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e</a:t>
            </a:r>
            <a:endParaRPr sz="2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070" y="4731851"/>
            <a:ext cx="6990080" cy="96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3925">
              <a:lnSpc>
                <a:spcPct val="100000"/>
              </a:lnSpc>
            </a:pP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2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*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</a:t>
            </a:r>
            <a:r>
              <a:rPr sz="2850" spc="15" dirty="0">
                <a:latin typeface="Arial"/>
                <a:cs typeface="Arial"/>
              </a:rPr>
              <a:t>o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en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5" dirty="0">
                <a:latin typeface="Arial"/>
                <a:cs typeface="Arial"/>
              </a:rPr>
              <a:t>R</a:t>
            </a:r>
            <a:r>
              <a:rPr sz="2850" spc="-10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(</a:t>
            </a:r>
            <a:r>
              <a:rPr sz="2850" spc="5" dirty="0">
                <a:latin typeface="Arial"/>
                <a:cs typeface="Arial"/>
              </a:rPr>
              <a:t>n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- 1</a:t>
            </a:r>
            <a:r>
              <a:rPr sz="2850" spc="10" dirty="0">
                <a:latin typeface="Arial"/>
                <a:cs typeface="Arial"/>
              </a:rPr>
              <a:t>))</a:t>
            </a:r>
            <a:r>
              <a:rPr sz="2850" dirty="0">
                <a:latin typeface="Arial"/>
                <a:cs typeface="Arial"/>
              </a:rPr>
              <a:t>;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850" spc="5" dirty="0">
                <a:latin typeface="Arial"/>
                <a:cs typeface="Arial"/>
              </a:rPr>
              <a:t>}</a:t>
            </a:r>
            <a:endParaRPr sz="2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6759" y="6827115"/>
            <a:ext cx="26142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50" spc="5" dirty="0">
                <a:latin typeface="Arial"/>
                <a:cs typeface="Arial"/>
              </a:rPr>
              <a:t>Pa</a:t>
            </a:r>
            <a:r>
              <a:rPr sz="2850" spc="-5" dirty="0">
                <a:latin typeface="Arial"/>
                <a:cs typeface="Arial"/>
              </a:rPr>
              <a:t>s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-10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rsi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o</a:t>
            </a:r>
            <a:endParaRPr sz="28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397763"/>
                </a:moveTo>
                <a:lnTo>
                  <a:pt x="358139" y="0"/>
                </a:lnTo>
                <a:lnTo>
                  <a:pt x="0" y="198119"/>
                </a:lnTo>
                <a:lnTo>
                  <a:pt x="358139" y="397763"/>
                </a:lnTo>
                <a:close/>
              </a:path>
              <a:path w="1428114" h="398145">
                <a:moveTo>
                  <a:pt x="1427987" y="298703"/>
                </a:moveTo>
                <a:lnTo>
                  <a:pt x="1427987" y="99059"/>
                </a:lnTo>
                <a:lnTo>
                  <a:pt x="358139" y="99059"/>
                </a:lnTo>
                <a:lnTo>
                  <a:pt x="358139" y="298703"/>
                </a:lnTo>
                <a:lnTo>
                  <a:pt x="1427987" y="298703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14345" y="3219030"/>
            <a:ext cx="1428115" cy="397811"/>
          </a:xfrm>
          <a:custGeom>
            <a:avLst/>
            <a:gdLst/>
            <a:ahLst/>
            <a:cxnLst/>
            <a:rect l="l" t="t" r="r" b="b"/>
            <a:pathLst>
              <a:path w="1428114" h="398145">
                <a:moveTo>
                  <a:pt x="358139" y="0"/>
                </a:moveTo>
                <a:lnTo>
                  <a:pt x="358139" y="99059"/>
                </a:lnTo>
                <a:lnTo>
                  <a:pt x="1427987" y="99059"/>
                </a:lnTo>
                <a:lnTo>
                  <a:pt x="1427987" y="298703"/>
                </a:lnTo>
                <a:lnTo>
                  <a:pt x="358139" y="298703"/>
                </a:lnTo>
                <a:lnTo>
                  <a:pt x="358139" y="397763"/>
                </a:lnTo>
                <a:lnTo>
                  <a:pt x="0" y="198119"/>
                </a:lnTo>
                <a:lnTo>
                  <a:pt x="358139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198119" y="0"/>
                </a:lnTo>
                <a:lnTo>
                  <a:pt x="0" y="356615"/>
                </a:lnTo>
                <a:lnTo>
                  <a:pt x="99059" y="356615"/>
                </a:lnTo>
                <a:lnTo>
                  <a:pt x="99059" y="1426463"/>
                </a:lnTo>
                <a:lnTo>
                  <a:pt x="297179" y="1426463"/>
                </a:lnTo>
                <a:lnTo>
                  <a:pt x="297179" y="356615"/>
                </a:lnTo>
                <a:lnTo>
                  <a:pt x="396239" y="356615"/>
                </a:lnTo>
                <a:close/>
              </a:path>
            </a:pathLst>
          </a:custGeom>
          <a:solidFill>
            <a:srgbClr val="E6E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9100" y="5282317"/>
            <a:ext cx="396240" cy="1425647"/>
          </a:xfrm>
          <a:custGeom>
            <a:avLst/>
            <a:gdLst/>
            <a:ahLst/>
            <a:cxnLst/>
            <a:rect l="l" t="t" r="r" b="b"/>
            <a:pathLst>
              <a:path w="396239" h="1426845">
                <a:moveTo>
                  <a:pt x="396239" y="356615"/>
                </a:moveTo>
                <a:lnTo>
                  <a:pt x="297179" y="356615"/>
                </a:lnTo>
                <a:lnTo>
                  <a:pt x="297179" y="1426463"/>
                </a:lnTo>
                <a:lnTo>
                  <a:pt x="99059" y="1426463"/>
                </a:lnTo>
                <a:lnTo>
                  <a:pt x="99059" y="356615"/>
                </a:lnTo>
                <a:lnTo>
                  <a:pt x="0" y="356615"/>
                </a:lnTo>
                <a:lnTo>
                  <a:pt x="198119" y="0"/>
                </a:lnTo>
                <a:lnTo>
                  <a:pt x="396239" y="356615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mp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5" dirty="0"/>
              <a:t>d</a:t>
            </a:r>
            <a:r>
              <a:rPr spc="-5" dirty="0"/>
              <a:t>e</a:t>
            </a:r>
            <a:r>
              <a:rPr dirty="0"/>
              <a:t> 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 </a:t>
            </a:r>
            <a:r>
              <a:rPr spc="-10" dirty="0"/>
              <a:t>rec</a:t>
            </a:r>
            <a:r>
              <a:rPr dirty="0"/>
              <a:t>ur</a:t>
            </a:r>
            <a:r>
              <a:rPr spc="0" dirty="0"/>
              <a:t>s</a:t>
            </a:r>
            <a:r>
              <a:rPr spc="-10" dirty="0"/>
              <a:t>iv</a:t>
            </a:r>
            <a:r>
              <a:rPr spc="-5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47828049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2700" y="2071668"/>
            <a:ext cx="8209915" cy="3517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87655">
              <a:lnSpc>
                <a:spcPct val="100699"/>
              </a:lnSpc>
            </a:pP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as 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1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du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an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x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1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r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u</a:t>
            </a:r>
            <a:r>
              <a:rPr sz="2850" spc="-5" dirty="0">
                <a:latin typeface="Arial"/>
                <a:cs typeface="Arial"/>
              </a:rPr>
              <a:t>r</a:t>
            </a:r>
            <a:r>
              <a:rPr sz="2850" spc="10" dirty="0">
                <a:latin typeface="Arial"/>
                <a:cs typeface="Arial"/>
              </a:rPr>
              <a:t>s</a:t>
            </a:r>
            <a:r>
              <a:rPr sz="2850" spc="-15" dirty="0">
                <a:latin typeface="Arial"/>
                <a:cs typeface="Arial"/>
              </a:rPr>
              <a:t>i</a:t>
            </a:r>
            <a:r>
              <a:rPr sz="2850" spc="10" dirty="0">
                <a:latin typeface="Arial"/>
                <a:cs typeface="Arial"/>
              </a:rPr>
              <a:t>v</a:t>
            </a:r>
            <a:r>
              <a:rPr sz="2850" spc="5" dirty="0">
                <a:latin typeface="Arial"/>
                <a:cs typeface="Arial"/>
              </a:rPr>
              <a:t>a?</a:t>
            </a:r>
            <a:endParaRPr sz="285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400"/>
              </a:lnSpc>
              <a:spcBef>
                <a:spcPts val="1615"/>
              </a:spcBef>
            </a:pPr>
            <a:r>
              <a:rPr sz="2850" spc="5" dirty="0">
                <a:latin typeface="Arial"/>
                <a:cs typeface="Arial"/>
              </a:rPr>
              <a:t>Suponha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que</a:t>
            </a:r>
            <a:r>
              <a:rPr sz="2850" spc="10" dirty="0">
                <a:latin typeface="Arial"/>
                <a:cs typeface="Arial"/>
              </a:rPr>
              <a:t> </a:t>
            </a:r>
            <a:r>
              <a:rPr sz="2850" spc="-5" dirty="0">
                <a:latin typeface="Arial"/>
                <a:cs typeface="Arial"/>
              </a:rPr>
              <a:t>f</a:t>
            </a:r>
            <a:r>
              <a:rPr sz="2850" spc="5" dirty="0">
                <a:latin typeface="Arial"/>
                <a:cs typeface="Arial"/>
              </a:rPr>
              <a:t>un</a:t>
            </a:r>
            <a:r>
              <a:rPr sz="2850" spc="20" dirty="0">
                <a:latin typeface="Arial"/>
                <a:cs typeface="Arial"/>
              </a:rPr>
              <a:t>ç</a:t>
            </a:r>
            <a:r>
              <a:rPr sz="2850" spc="5" dirty="0">
                <a:latin typeface="Arial"/>
                <a:cs typeface="Arial"/>
              </a:rPr>
              <a:t>ão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ha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spc="5" dirty="0">
                <a:latin typeface="Arial"/>
                <a:cs typeface="Arial"/>
              </a:rPr>
              <a:t>ada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e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5" dirty="0">
                <a:latin typeface="Arial"/>
                <a:cs typeface="Arial"/>
              </a:rPr>
              <a:t>a</a:t>
            </a:r>
            <a:r>
              <a:rPr sz="2850" spc="-5" dirty="0">
                <a:latin typeface="Arial"/>
                <a:cs typeface="Arial"/>
              </a:rPr>
              <a:t>l</a:t>
            </a:r>
            <a:r>
              <a:rPr sz="2850" spc="5" dirty="0">
                <a:latin typeface="Arial"/>
                <a:cs typeface="Arial"/>
              </a:rPr>
              <a:t>gu</a:t>
            </a:r>
            <a:r>
              <a:rPr sz="2850" spc="10" dirty="0">
                <a:latin typeface="Arial"/>
                <a:cs typeface="Arial"/>
              </a:rPr>
              <a:t>m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pon</a:t>
            </a:r>
            <a:r>
              <a:rPr sz="2850" spc="-5" dirty="0">
                <a:latin typeface="Arial"/>
                <a:cs typeface="Arial"/>
              </a:rPr>
              <a:t>t</a:t>
            </a:r>
            <a:r>
              <a:rPr sz="2850" spc="5" dirty="0">
                <a:latin typeface="Arial"/>
                <a:cs typeface="Arial"/>
              </a:rPr>
              <a:t>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5" dirty="0">
                <a:latin typeface="Arial"/>
                <a:cs typeface="Arial"/>
              </a:rPr>
              <a:t>do</a:t>
            </a:r>
            <a:r>
              <a:rPr sz="2850" dirty="0">
                <a:latin typeface="Arial"/>
                <a:cs typeface="Arial"/>
              </a:rPr>
              <a:t> </a:t>
            </a:r>
            <a:r>
              <a:rPr sz="2850" spc="10" dirty="0">
                <a:latin typeface="Arial"/>
                <a:cs typeface="Arial"/>
              </a:rPr>
              <a:t>c</a:t>
            </a:r>
            <a:r>
              <a:rPr sz="2850" spc="5" dirty="0">
                <a:latin typeface="Arial"/>
                <a:cs typeface="Arial"/>
              </a:rPr>
              <a:t>ód</a:t>
            </a:r>
            <a:r>
              <a:rPr sz="2850" spc="-5" dirty="0">
                <a:latin typeface="Arial"/>
                <a:cs typeface="Arial"/>
              </a:rPr>
              <a:t>i</a:t>
            </a:r>
            <a:r>
              <a:rPr sz="2850" spc="5" dirty="0">
                <a:latin typeface="Arial"/>
                <a:cs typeface="Arial"/>
              </a:rPr>
              <a:t>go</a:t>
            </a:r>
            <a:r>
              <a:rPr sz="28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850" spc="-1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850" spc="1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850" spc="-10" dirty="0" err="1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850" spc="-5" dirty="0" err="1" smtClean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850" spc="1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850" spc="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85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2850" spc="-10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06294355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u="sng" spc="5" dirty="0" err="1" smtClean="0">
                <a:latin typeface="Arial"/>
                <a:cs typeface="Arial"/>
              </a:rPr>
              <a:t>int</a:t>
            </a:r>
            <a:r>
              <a:rPr sz="1950" spc="1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smtClean="0">
                <a:latin typeface="Arial"/>
                <a:cs typeface="Arial"/>
              </a:rPr>
              <a:t>u</a:t>
            </a:r>
            <a:r>
              <a:rPr sz="1950" u="sng" spc="5" dirty="0" err="1" smtClean="0">
                <a:latin typeface="Arial"/>
                <a:cs typeface="Arial"/>
              </a:rPr>
              <a:t>r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498" y="5010508"/>
            <a:ext cx="2999740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-5" dirty="0" err="1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Recu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 err="1" smtClean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dirty="0" err="1" smtClean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1950" spc="15" dirty="0" err="1" smtClean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195" y="2664761"/>
            <a:ext cx="1231900" cy="2305652"/>
          </a:xfrm>
          <a:custGeom>
            <a:avLst/>
            <a:gdLst/>
            <a:ahLst/>
            <a:cxnLst/>
            <a:rect l="l" t="t" r="r" b="b"/>
            <a:pathLst>
              <a:path w="1231900" h="2307590">
                <a:moveTo>
                  <a:pt x="138683" y="48767"/>
                </a:moveTo>
                <a:lnTo>
                  <a:pt x="25907" y="0"/>
                </a:lnTo>
                <a:lnTo>
                  <a:pt x="0" y="120395"/>
                </a:lnTo>
                <a:lnTo>
                  <a:pt x="48767" y="95208"/>
                </a:lnTo>
                <a:lnTo>
                  <a:pt x="48767" y="77723"/>
                </a:lnTo>
                <a:lnTo>
                  <a:pt x="76199" y="62483"/>
                </a:lnTo>
                <a:lnTo>
                  <a:pt x="83780" y="77124"/>
                </a:lnTo>
                <a:lnTo>
                  <a:pt x="138683" y="48767"/>
                </a:lnTo>
                <a:close/>
              </a:path>
              <a:path w="1231900" h="2307590">
                <a:moveTo>
                  <a:pt x="83780" y="77124"/>
                </a:moveTo>
                <a:lnTo>
                  <a:pt x="76199" y="62483"/>
                </a:lnTo>
                <a:lnTo>
                  <a:pt x="48767" y="77723"/>
                </a:lnTo>
                <a:lnTo>
                  <a:pt x="55906" y="91520"/>
                </a:lnTo>
                <a:lnTo>
                  <a:pt x="83780" y="77124"/>
                </a:lnTo>
                <a:close/>
              </a:path>
              <a:path w="1231900" h="2307590">
                <a:moveTo>
                  <a:pt x="55906" y="91520"/>
                </a:moveTo>
                <a:lnTo>
                  <a:pt x="48767" y="77723"/>
                </a:lnTo>
                <a:lnTo>
                  <a:pt x="48767" y="95208"/>
                </a:lnTo>
                <a:lnTo>
                  <a:pt x="55906" y="91520"/>
                </a:lnTo>
                <a:close/>
              </a:path>
              <a:path w="1231900" h="2307590">
                <a:moveTo>
                  <a:pt x="1231391" y="2293619"/>
                </a:moveTo>
                <a:lnTo>
                  <a:pt x="83780" y="77124"/>
                </a:lnTo>
                <a:lnTo>
                  <a:pt x="55906" y="91520"/>
                </a:lnTo>
                <a:lnTo>
                  <a:pt x="1202435" y="2307335"/>
                </a:lnTo>
                <a:lnTo>
                  <a:pt x="1231391" y="2293619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36496" y="35060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74165826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 err="1" smtClean="0">
                <a:latin typeface="Arial"/>
                <a:cs typeface="Arial"/>
              </a:rPr>
              <a:t>F</a:t>
            </a:r>
            <a:r>
              <a:rPr sz="1950" spc="5" dirty="0" err="1" smtClean="0">
                <a:latin typeface="Arial"/>
                <a:cs typeface="Arial"/>
              </a:rPr>
              <a:t>at</a:t>
            </a:r>
            <a:r>
              <a:rPr sz="1950" spc="15" dirty="0" err="1" smtClean="0">
                <a:latin typeface="Arial"/>
                <a:cs typeface="Arial"/>
              </a:rPr>
              <a:t>o</a:t>
            </a:r>
            <a:r>
              <a:rPr sz="1950" spc="5" dirty="0" err="1" smtClean="0">
                <a:latin typeface="Arial"/>
                <a:cs typeface="Arial"/>
              </a:rPr>
              <a:t>rial</a:t>
            </a:r>
            <a:r>
              <a:rPr sz="1950" spc="15" dirty="0" err="1" smtClean="0">
                <a:latin typeface="Arial"/>
                <a:cs typeface="Arial"/>
              </a:rPr>
              <a:t>Recu</a:t>
            </a:r>
            <a:r>
              <a:rPr sz="1950" spc="5" dirty="0" err="1" smtClean="0">
                <a:latin typeface="Arial"/>
                <a:cs typeface="Arial"/>
              </a:rPr>
              <a:t>r</a:t>
            </a:r>
            <a:r>
              <a:rPr sz="1950" spc="15" dirty="0" err="1" smtClean="0">
                <a:latin typeface="Arial"/>
                <a:cs typeface="Arial"/>
              </a:rPr>
              <a:t>s</a:t>
            </a:r>
            <a:r>
              <a:rPr sz="1950" spc="-5" dirty="0" err="1" smtClean="0">
                <a:latin typeface="Arial"/>
                <a:cs typeface="Arial"/>
              </a:rPr>
              <a:t>i</a:t>
            </a:r>
            <a:r>
              <a:rPr sz="1950" spc="15" dirty="0" err="1" smtClean="0">
                <a:latin typeface="Arial"/>
                <a:cs typeface="Arial"/>
              </a:rPr>
              <a:t>vo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194354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33205634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Re</a:t>
            </a:r>
            <a:r>
              <a:rPr sz="195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s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159474051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dirty="0">
                <a:latin typeface="Arial"/>
                <a:cs typeface="Arial"/>
              </a:rPr>
              <a:t> </a:t>
            </a:r>
            <a:r>
              <a:rPr sz="1950" spc="10" dirty="0">
                <a:latin typeface="Arial"/>
                <a:cs typeface="Arial"/>
              </a:rPr>
              <a:t>*</a:t>
            </a:r>
            <a:r>
              <a:rPr sz="1950" spc="5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Fa</a:t>
            </a:r>
            <a:r>
              <a:rPr sz="1950" spc="5" dirty="0">
                <a:latin typeface="Arial"/>
                <a:cs typeface="Arial"/>
              </a:rPr>
              <a:t>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</a:t>
            </a:r>
            <a:r>
              <a:rPr sz="1950" spc="15" dirty="0">
                <a:latin typeface="Arial"/>
                <a:cs typeface="Arial"/>
              </a:rPr>
              <a:t>a</a:t>
            </a:r>
            <a:r>
              <a:rPr sz="1950" spc="5" dirty="0">
                <a:latin typeface="Arial"/>
                <a:cs typeface="Arial"/>
              </a:rPr>
              <a:t>l</a:t>
            </a:r>
            <a:r>
              <a:rPr sz="1950" spc="15" dirty="0">
                <a:latin typeface="Arial"/>
                <a:cs typeface="Arial"/>
              </a:rPr>
              <a:t>Re</a:t>
            </a:r>
            <a:r>
              <a:rPr sz="1950" dirty="0">
                <a:latin typeface="Arial"/>
                <a:cs typeface="Arial"/>
              </a:rPr>
              <a:t>c</a:t>
            </a:r>
            <a:r>
              <a:rPr sz="1950" spc="15" dirty="0">
                <a:latin typeface="Arial"/>
                <a:cs typeface="Arial"/>
              </a:rPr>
              <a:t>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(</a:t>
            </a:r>
            <a:r>
              <a:rPr sz="1950" spc="15" dirty="0">
                <a:latin typeface="Arial"/>
                <a:cs typeface="Arial"/>
              </a:rPr>
              <a:t>n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-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r>
              <a:rPr sz="1950" spc="-10" dirty="0">
                <a:latin typeface="Arial"/>
                <a:cs typeface="Arial"/>
              </a:rPr>
              <a:t>)</a:t>
            </a:r>
            <a:r>
              <a:rPr sz="1950" spc="5" dirty="0"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(1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435890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2748188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lang="pt-BR"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(2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38775" y="6561345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8567" y="6862844"/>
            <a:ext cx="10985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5"/>
              </a:lnSpc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297376135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(3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9372901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ne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363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2963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2963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96621767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4588" y="3756552"/>
            <a:ext cx="5316220" cy="3436907"/>
          </a:xfrm>
          <a:prstGeom prst="rect">
            <a:avLst/>
          </a:prstGeom>
          <a:ln w="10495">
            <a:solidFill>
              <a:srgbClr val="D8D8EC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70"/>
              </a:spcBef>
            </a:pPr>
            <a:r>
              <a:rPr sz="1950" u="sng" spc="5" dirty="0" err="1" smtClean="0">
                <a:latin typeface="Arial"/>
                <a:cs typeface="Arial"/>
              </a:rPr>
              <a:t>i</a:t>
            </a:r>
            <a:r>
              <a:rPr sz="1950" u="sng" spc="15" dirty="0" err="1" smtClean="0">
                <a:latin typeface="Arial"/>
                <a:cs typeface="Arial"/>
              </a:rPr>
              <a:t>n</a:t>
            </a:r>
            <a:r>
              <a:rPr sz="1950" u="sng" spc="5" dirty="0" err="1" smtClean="0">
                <a:latin typeface="Arial"/>
                <a:cs typeface="Arial"/>
              </a:rPr>
              <a:t>t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F</a:t>
            </a:r>
            <a:r>
              <a:rPr sz="1950" spc="5" dirty="0">
                <a:latin typeface="Arial"/>
                <a:cs typeface="Arial"/>
              </a:rPr>
              <a:t>at</a:t>
            </a:r>
            <a:r>
              <a:rPr sz="1950" spc="15" dirty="0">
                <a:latin typeface="Arial"/>
                <a:cs typeface="Arial"/>
              </a:rPr>
              <a:t>o</a:t>
            </a:r>
            <a:r>
              <a:rPr sz="1950" spc="5" dirty="0">
                <a:latin typeface="Arial"/>
                <a:cs typeface="Arial"/>
              </a:rPr>
              <a:t>rial</a:t>
            </a:r>
            <a:r>
              <a:rPr sz="1950" spc="15" dirty="0">
                <a:latin typeface="Arial"/>
                <a:cs typeface="Arial"/>
              </a:rPr>
              <a:t>Recu</a:t>
            </a:r>
            <a:r>
              <a:rPr sz="1950" spc="5" dirty="0">
                <a:latin typeface="Arial"/>
                <a:cs typeface="Arial"/>
              </a:rPr>
              <a:t>r</a:t>
            </a:r>
            <a:r>
              <a:rPr sz="1950" spc="15" dirty="0">
                <a:latin typeface="Arial"/>
                <a:cs typeface="Arial"/>
              </a:rPr>
              <a:t>s</a:t>
            </a:r>
            <a:r>
              <a:rPr sz="1950" spc="-5" dirty="0">
                <a:latin typeface="Arial"/>
                <a:cs typeface="Arial"/>
              </a:rPr>
              <a:t>i</a:t>
            </a:r>
            <a:r>
              <a:rPr sz="1950" spc="15" dirty="0">
                <a:latin typeface="Arial"/>
                <a:cs typeface="Arial"/>
              </a:rPr>
              <a:t>vo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  <a:tabLst>
                <a:tab pos="648335" algn="l"/>
              </a:tabLst>
            </a:pPr>
            <a:r>
              <a:rPr lang="pt-BR" sz="1950" u="sng" spc="15" dirty="0" err="1" smtClean="0">
                <a:latin typeface="Arial"/>
                <a:cs typeface="Arial"/>
              </a:rPr>
              <a:t>if</a:t>
            </a:r>
            <a:r>
              <a:rPr sz="1950" dirty="0">
                <a:latin typeface="Arial"/>
                <a:cs typeface="Arial"/>
              </a:rPr>
              <a:t>	</a:t>
            </a:r>
            <a:r>
              <a:rPr sz="1950" spc="5" dirty="0"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lang="pt-BR" sz="1950" spc="10" dirty="0" smtClean="0">
                <a:solidFill>
                  <a:srgbClr val="FF3200"/>
                </a:solidFill>
                <a:latin typeface="Arial"/>
                <a:cs typeface="Arial"/>
              </a:rPr>
              <a:t>=</a:t>
            </a:r>
            <a:r>
              <a:rPr sz="1950" spc="15" dirty="0" smtClean="0">
                <a:latin typeface="Arial"/>
                <a:cs typeface="Arial"/>
              </a:rPr>
              <a:t>=</a:t>
            </a:r>
            <a:r>
              <a:rPr sz="1950" spc="5" dirty="0" smtClean="0">
                <a:latin typeface="Arial"/>
                <a:cs typeface="Arial"/>
              </a:rPr>
              <a:t> </a:t>
            </a:r>
            <a:r>
              <a:rPr sz="1950" spc="15" dirty="0">
                <a:latin typeface="Arial"/>
                <a:cs typeface="Arial"/>
              </a:rPr>
              <a:t>1</a:t>
            </a:r>
            <a:r>
              <a:rPr sz="1950" spc="5" dirty="0">
                <a:latin typeface="Arial"/>
                <a:cs typeface="Arial"/>
              </a:rPr>
              <a:t>)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</a:t>
            </a:r>
            <a:endParaRPr sz="1950" dirty="0">
              <a:latin typeface="Arial"/>
              <a:cs typeface="Arial"/>
            </a:endParaRPr>
          </a:p>
          <a:p>
            <a:pPr marL="451484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latin typeface="Arial"/>
                <a:cs typeface="Arial"/>
              </a:rPr>
              <a:t>r</a:t>
            </a:r>
            <a:r>
              <a:rPr sz="1950" u="sng" spc="15" dirty="0" smtClean="0">
                <a:latin typeface="Arial"/>
                <a:cs typeface="Arial"/>
              </a:rPr>
              <a:t>e</a:t>
            </a:r>
            <a:r>
              <a:rPr sz="1950" u="sng" spc="5" dirty="0" smtClean="0"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latin typeface="Arial"/>
                <a:cs typeface="Arial"/>
              </a:rPr>
              <a:t>urn</a:t>
            </a:r>
            <a:r>
              <a:rPr sz="1950" spc="10" dirty="0" smtClean="0">
                <a:latin typeface="Arial"/>
                <a:cs typeface="Arial"/>
              </a:rPr>
              <a:t> </a:t>
            </a:r>
            <a:r>
              <a:rPr sz="1950" spc="5" dirty="0">
                <a:latin typeface="Arial"/>
                <a:cs typeface="Arial"/>
              </a:rPr>
              <a:t>1;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5"/>
              </a:spcBef>
            </a:pPr>
            <a:r>
              <a:rPr lang="pt-BR" sz="1950" u="sng" spc="15" dirty="0" err="1" smtClean="0">
                <a:latin typeface="Arial"/>
                <a:cs typeface="Arial"/>
              </a:rPr>
              <a:t>else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{ //</a:t>
            </a:r>
            <a:r>
              <a:rPr sz="1950" spc="10" dirty="0">
                <a:latin typeface="Arial"/>
                <a:cs typeface="Arial"/>
              </a:rPr>
              <a:t> 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 smtClean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5" dirty="0" smtClean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lang="pt-BR" sz="1950" spc="15" dirty="0" err="1" smtClean="0">
                <a:solidFill>
                  <a:srgbClr val="D8D8EC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Fa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t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o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a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l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e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cu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r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s</a:t>
            </a:r>
            <a:r>
              <a:rPr sz="1950" spc="-5" dirty="0">
                <a:solidFill>
                  <a:srgbClr val="D8D8EC"/>
                </a:solidFill>
                <a:latin typeface="Arial"/>
                <a:cs typeface="Arial"/>
              </a:rPr>
              <a:t>i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vo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-</a:t>
            </a:r>
            <a:r>
              <a:rPr sz="1950" spc="10" dirty="0">
                <a:solidFill>
                  <a:srgbClr val="D8D8EC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D8D8EC"/>
                </a:solidFill>
                <a:latin typeface="Arial"/>
                <a:cs typeface="Arial"/>
              </a:rPr>
              <a:t>1</a:t>
            </a:r>
            <a:r>
              <a:rPr sz="1950" spc="-10" dirty="0">
                <a:solidFill>
                  <a:srgbClr val="D8D8EC"/>
                </a:solidFill>
                <a:latin typeface="Arial"/>
                <a:cs typeface="Arial"/>
              </a:rPr>
              <a:t>)</a:t>
            </a:r>
            <a:r>
              <a:rPr sz="1950" spc="5" dirty="0">
                <a:solidFill>
                  <a:srgbClr val="D8D8EC"/>
                </a:solidFill>
                <a:latin typeface="Arial"/>
                <a:cs typeface="Arial"/>
              </a:rPr>
              <a:t>);</a:t>
            </a:r>
            <a:endParaRPr sz="1950" dirty="0">
              <a:latin typeface="Arial"/>
              <a:cs typeface="Arial"/>
            </a:endParaRPr>
          </a:p>
          <a:p>
            <a:pPr marL="591820">
              <a:lnSpc>
                <a:spcPct val="100000"/>
              </a:lnSpc>
              <a:spcBef>
                <a:spcPts val="35"/>
              </a:spcBef>
            </a:pP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1950" u="sng" spc="15" dirty="0" smtClean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1950" u="sng" spc="5" dirty="0" smtClean="0">
                <a:solidFill>
                  <a:srgbClr val="FF3200"/>
                </a:solidFill>
                <a:latin typeface="Arial"/>
                <a:cs typeface="Arial"/>
              </a:rPr>
              <a:t>t</a:t>
            </a:r>
            <a:r>
              <a:rPr lang="pt-BR" sz="1950" u="sng" spc="15" dirty="0" err="1" smtClean="0">
                <a:solidFill>
                  <a:srgbClr val="FF3200"/>
                </a:solidFill>
                <a:latin typeface="Arial"/>
                <a:cs typeface="Arial"/>
              </a:rPr>
              <a:t>urn</a:t>
            </a:r>
            <a:r>
              <a:rPr sz="1950" spc="10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F3200"/>
                </a:solidFill>
                <a:latin typeface="Arial"/>
                <a:cs typeface="Arial"/>
              </a:rPr>
              <a:t>(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r>
              <a:rPr sz="1950" spc="10" dirty="0">
                <a:solidFill>
                  <a:srgbClr val="FF3200"/>
                </a:solidFill>
                <a:latin typeface="Arial"/>
                <a:cs typeface="Arial"/>
              </a:rPr>
              <a:t> *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6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));</a:t>
            </a:r>
            <a:endParaRPr sz="195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latin typeface="Arial"/>
                <a:cs typeface="Arial"/>
              </a:rPr>
              <a:t>}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1133" y="3264203"/>
            <a:ext cx="2622550" cy="34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Fator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srgbClr val="FF3200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e</a:t>
            </a:r>
            <a:r>
              <a:rPr sz="2200" spc="10" dirty="0">
                <a:solidFill>
                  <a:srgbClr val="FF3200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ur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si</a:t>
            </a:r>
            <a:r>
              <a:rPr sz="2200" spc="-15" dirty="0">
                <a:solidFill>
                  <a:srgbClr val="FF3200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srgbClr val="FF3200"/>
                </a:solidFill>
                <a:latin typeface="Arial"/>
                <a:cs typeface="Arial"/>
              </a:rPr>
              <a:t> (4</a:t>
            </a:r>
            <a:r>
              <a:rPr sz="2200" dirty="0">
                <a:solidFill>
                  <a:srgbClr val="FF3200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4</a:t>
            </a:r>
            <a:endParaRPr sz="1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4872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9344" y="2270375"/>
            <a:ext cx="795655" cy="157348"/>
          </a:xfrm>
          <a:custGeom>
            <a:avLst/>
            <a:gdLst/>
            <a:ahLst/>
            <a:cxnLst/>
            <a:rect l="l" t="t" r="r" b="b"/>
            <a:pathLst>
              <a:path w="79565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5655" h="157480">
                <a:moveTo>
                  <a:pt x="795527" y="79247"/>
                </a:moveTo>
                <a:lnTo>
                  <a:pt x="701039" y="0"/>
                </a:lnTo>
                <a:lnTo>
                  <a:pt x="701039" y="62483"/>
                </a:lnTo>
                <a:lnTo>
                  <a:pt x="716279" y="62483"/>
                </a:lnTo>
                <a:lnTo>
                  <a:pt x="716279" y="144435"/>
                </a:lnTo>
                <a:lnTo>
                  <a:pt x="795527" y="79247"/>
                </a:lnTo>
                <a:close/>
              </a:path>
              <a:path w="795655" h="157480">
                <a:moveTo>
                  <a:pt x="716279" y="144435"/>
                </a:moveTo>
                <a:lnTo>
                  <a:pt x="716279" y="94487"/>
                </a:lnTo>
                <a:lnTo>
                  <a:pt x="701039" y="94487"/>
                </a:lnTo>
                <a:lnTo>
                  <a:pt x="701039" y="156971"/>
                </a:lnTo>
                <a:lnTo>
                  <a:pt x="716279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12107" y="2108967"/>
            <a:ext cx="71374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18104" y="2270375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4755" y="94487"/>
                </a:moveTo>
                <a:lnTo>
                  <a:pt x="714755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4755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4755" y="62483"/>
                </a:lnTo>
                <a:lnTo>
                  <a:pt x="714755" y="144435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4755" y="144435"/>
                </a:moveTo>
                <a:lnTo>
                  <a:pt x="714755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4755" y="144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19344" y="2110489"/>
            <a:ext cx="715010" cy="41998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35"/>
              </a:spcBef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25340" y="2271898"/>
            <a:ext cx="794385" cy="157348"/>
          </a:xfrm>
          <a:custGeom>
            <a:avLst/>
            <a:gdLst/>
            <a:ahLst/>
            <a:cxnLst/>
            <a:rect l="l" t="t" r="r" b="b"/>
            <a:pathLst>
              <a:path w="794385" h="157480">
                <a:moveTo>
                  <a:pt x="716279" y="94487"/>
                </a:moveTo>
                <a:lnTo>
                  <a:pt x="716279" y="62483"/>
                </a:lnTo>
                <a:lnTo>
                  <a:pt x="0" y="62483"/>
                </a:lnTo>
                <a:lnTo>
                  <a:pt x="0" y="94487"/>
                </a:lnTo>
                <a:lnTo>
                  <a:pt x="716279" y="94487"/>
                </a:lnTo>
                <a:close/>
              </a:path>
              <a:path w="794385" h="157480">
                <a:moveTo>
                  <a:pt x="794003" y="79247"/>
                </a:moveTo>
                <a:lnTo>
                  <a:pt x="699515" y="0"/>
                </a:lnTo>
                <a:lnTo>
                  <a:pt x="699515" y="62483"/>
                </a:lnTo>
                <a:lnTo>
                  <a:pt x="716279" y="62483"/>
                </a:lnTo>
                <a:lnTo>
                  <a:pt x="716279" y="143182"/>
                </a:lnTo>
                <a:lnTo>
                  <a:pt x="794003" y="79247"/>
                </a:lnTo>
                <a:close/>
              </a:path>
              <a:path w="794385" h="157480">
                <a:moveTo>
                  <a:pt x="716279" y="143182"/>
                </a:moveTo>
                <a:lnTo>
                  <a:pt x="716279" y="94487"/>
                </a:lnTo>
                <a:lnTo>
                  <a:pt x="699515" y="94487"/>
                </a:lnTo>
                <a:lnTo>
                  <a:pt x="699515" y="156971"/>
                </a:lnTo>
                <a:lnTo>
                  <a:pt x="716279" y="1431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21480" y="2663238"/>
            <a:ext cx="1571625" cy="269648"/>
          </a:xfrm>
          <a:custGeom>
            <a:avLst/>
            <a:gdLst/>
            <a:ahLst/>
            <a:cxnLst/>
            <a:rect l="l" t="t" r="r" b="b"/>
            <a:pathLst>
              <a:path w="1571625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2003" y="94487"/>
                </a:lnTo>
                <a:lnTo>
                  <a:pt x="32003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71625" h="269875">
                <a:moveTo>
                  <a:pt x="62483" y="94487"/>
                </a:moveTo>
                <a:lnTo>
                  <a:pt x="62483" y="79247"/>
                </a:lnTo>
                <a:lnTo>
                  <a:pt x="32003" y="79247"/>
                </a:lnTo>
                <a:lnTo>
                  <a:pt x="32003" y="94487"/>
                </a:lnTo>
                <a:lnTo>
                  <a:pt x="62483" y="94487"/>
                </a:lnTo>
                <a:close/>
              </a:path>
              <a:path w="1571625" h="269875">
                <a:moveTo>
                  <a:pt x="62483" y="237743"/>
                </a:moveTo>
                <a:lnTo>
                  <a:pt x="62483" y="94487"/>
                </a:lnTo>
                <a:lnTo>
                  <a:pt x="32003" y="94487"/>
                </a:lnTo>
                <a:lnTo>
                  <a:pt x="32003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71625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71625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71625" h="269875">
                <a:moveTo>
                  <a:pt x="1571243" y="269747"/>
                </a:moveTo>
                <a:lnTo>
                  <a:pt x="1571243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71243" y="269747"/>
                </a:lnTo>
                <a:close/>
              </a:path>
              <a:path w="1571625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29631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95372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0098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2</a:t>
            </a:r>
            <a:endParaRPr sz="1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8887" y="2664761"/>
            <a:ext cx="1569720" cy="269648"/>
          </a:xfrm>
          <a:custGeom>
            <a:avLst/>
            <a:gdLst/>
            <a:ahLst/>
            <a:cxnLst/>
            <a:rect l="l" t="t" r="r" b="b"/>
            <a:pathLst>
              <a:path w="1569720" h="269875">
                <a:moveTo>
                  <a:pt x="94487" y="94487"/>
                </a:moveTo>
                <a:lnTo>
                  <a:pt x="47243" y="0"/>
                </a:lnTo>
                <a:lnTo>
                  <a:pt x="0" y="94487"/>
                </a:lnTo>
                <a:lnTo>
                  <a:pt x="30479" y="94487"/>
                </a:lnTo>
                <a:lnTo>
                  <a:pt x="30479" y="79247"/>
                </a:lnTo>
                <a:lnTo>
                  <a:pt x="62483" y="79247"/>
                </a:lnTo>
                <a:lnTo>
                  <a:pt x="62483" y="94487"/>
                </a:lnTo>
                <a:lnTo>
                  <a:pt x="94487" y="94487"/>
                </a:lnTo>
                <a:close/>
              </a:path>
              <a:path w="1569720" h="269875">
                <a:moveTo>
                  <a:pt x="62483" y="94487"/>
                </a:moveTo>
                <a:lnTo>
                  <a:pt x="62483" y="79247"/>
                </a:lnTo>
                <a:lnTo>
                  <a:pt x="30479" y="79247"/>
                </a:lnTo>
                <a:lnTo>
                  <a:pt x="30479" y="94487"/>
                </a:lnTo>
                <a:lnTo>
                  <a:pt x="62483" y="94487"/>
                </a:lnTo>
                <a:close/>
              </a:path>
              <a:path w="1569720" h="269875">
                <a:moveTo>
                  <a:pt x="62483" y="237743"/>
                </a:moveTo>
                <a:lnTo>
                  <a:pt x="62483" y="94487"/>
                </a:lnTo>
                <a:lnTo>
                  <a:pt x="30479" y="94487"/>
                </a:lnTo>
                <a:lnTo>
                  <a:pt x="30479" y="269747"/>
                </a:lnTo>
                <a:lnTo>
                  <a:pt x="47243" y="269747"/>
                </a:lnTo>
                <a:lnTo>
                  <a:pt x="47243" y="237743"/>
                </a:lnTo>
                <a:lnTo>
                  <a:pt x="62483" y="237743"/>
                </a:lnTo>
                <a:close/>
              </a:path>
              <a:path w="1569720" h="269875">
                <a:moveTo>
                  <a:pt x="1554479" y="237743"/>
                </a:moveTo>
                <a:lnTo>
                  <a:pt x="47243" y="237743"/>
                </a:lnTo>
                <a:lnTo>
                  <a:pt x="62483" y="254507"/>
                </a:lnTo>
                <a:lnTo>
                  <a:pt x="62483" y="269747"/>
                </a:lnTo>
                <a:lnTo>
                  <a:pt x="1539239" y="269747"/>
                </a:lnTo>
                <a:lnTo>
                  <a:pt x="1539239" y="254507"/>
                </a:lnTo>
                <a:lnTo>
                  <a:pt x="1554479" y="237743"/>
                </a:lnTo>
                <a:close/>
              </a:path>
              <a:path w="1569720" h="269875">
                <a:moveTo>
                  <a:pt x="62483" y="269747"/>
                </a:moveTo>
                <a:lnTo>
                  <a:pt x="62483" y="254507"/>
                </a:lnTo>
                <a:lnTo>
                  <a:pt x="47243" y="237743"/>
                </a:lnTo>
                <a:lnTo>
                  <a:pt x="47243" y="269747"/>
                </a:lnTo>
                <a:lnTo>
                  <a:pt x="62483" y="269747"/>
                </a:lnTo>
                <a:close/>
              </a:path>
              <a:path w="1569720" h="269875">
                <a:moveTo>
                  <a:pt x="1569719" y="269747"/>
                </a:moveTo>
                <a:lnTo>
                  <a:pt x="1569719" y="1523"/>
                </a:lnTo>
                <a:lnTo>
                  <a:pt x="1539239" y="1523"/>
                </a:lnTo>
                <a:lnTo>
                  <a:pt x="1539239" y="237743"/>
                </a:lnTo>
                <a:lnTo>
                  <a:pt x="1554479" y="237743"/>
                </a:lnTo>
                <a:lnTo>
                  <a:pt x="1554479" y="269747"/>
                </a:lnTo>
                <a:lnTo>
                  <a:pt x="1569719" y="269747"/>
                </a:lnTo>
                <a:close/>
              </a:path>
              <a:path w="1569720" h="269875">
                <a:moveTo>
                  <a:pt x="1554479" y="269747"/>
                </a:moveTo>
                <a:lnTo>
                  <a:pt x="1554479" y="237743"/>
                </a:lnTo>
                <a:lnTo>
                  <a:pt x="1539239" y="254507"/>
                </a:lnTo>
                <a:lnTo>
                  <a:pt x="1539239" y="269747"/>
                </a:lnTo>
                <a:lnTo>
                  <a:pt x="1554479" y="2697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52092" y="2554362"/>
            <a:ext cx="1657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latin typeface="Arial"/>
                <a:cs typeface="Arial"/>
              </a:rPr>
              <a:t>6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96111" y="2664760"/>
            <a:ext cx="158750" cy="2457925"/>
          </a:xfrm>
          <a:custGeom>
            <a:avLst/>
            <a:gdLst/>
            <a:ahLst/>
            <a:cxnLst/>
            <a:rect l="l" t="t" r="r" b="b"/>
            <a:pathLst>
              <a:path w="158750" h="2459990">
                <a:moveTo>
                  <a:pt x="158495" y="2365247"/>
                </a:moveTo>
                <a:lnTo>
                  <a:pt x="0" y="2365247"/>
                </a:lnTo>
                <a:lnTo>
                  <a:pt x="64007" y="2441565"/>
                </a:lnTo>
                <a:lnTo>
                  <a:pt x="64007" y="2380487"/>
                </a:lnTo>
                <a:lnTo>
                  <a:pt x="94487" y="2380487"/>
                </a:lnTo>
                <a:lnTo>
                  <a:pt x="94487" y="2441565"/>
                </a:lnTo>
                <a:lnTo>
                  <a:pt x="158495" y="2365247"/>
                </a:lnTo>
                <a:close/>
              </a:path>
              <a:path w="158750" h="2459990">
                <a:moveTo>
                  <a:pt x="94487" y="2365247"/>
                </a:moveTo>
                <a:lnTo>
                  <a:pt x="94487" y="0"/>
                </a:lnTo>
                <a:lnTo>
                  <a:pt x="64007" y="0"/>
                </a:lnTo>
                <a:lnTo>
                  <a:pt x="64007" y="2365247"/>
                </a:lnTo>
                <a:lnTo>
                  <a:pt x="94487" y="2365247"/>
                </a:lnTo>
                <a:close/>
              </a:path>
              <a:path w="158750" h="2459990">
                <a:moveTo>
                  <a:pt x="94487" y="2441565"/>
                </a:moveTo>
                <a:lnTo>
                  <a:pt x="94487" y="2380487"/>
                </a:lnTo>
                <a:lnTo>
                  <a:pt x="64007" y="2380487"/>
                </a:lnTo>
                <a:lnTo>
                  <a:pt x="64007" y="2441565"/>
                </a:lnTo>
                <a:lnTo>
                  <a:pt x="79247" y="2459735"/>
                </a:lnTo>
                <a:lnTo>
                  <a:pt x="94487" y="244156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7107" y="5322666"/>
            <a:ext cx="944244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70" dirty="0" smtClean="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r>
              <a:rPr sz="1950" spc="5" dirty="0">
                <a:solidFill>
                  <a:srgbClr val="FF3200"/>
                </a:solidFill>
                <a:latin typeface="Arial"/>
                <a:cs typeface="Arial"/>
              </a:rPr>
              <a:t>;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81760" y="3664425"/>
            <a:ext cx="305435" cy="308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15" dirty="0">
                <a:solidFill>
                  <a:srgbClr val="FF3200"/>
                </a:solidFill>
                <a:latin typeface="Arial"/>
                <a:cs typeface="Arial"/>
              </a:rPr>
              <a:t>24</a:t>
            </a:r>
            <a:endParaRPr sz="19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914095"/>
          </a:xfrm>
          <a:prstGeom prst="rect">
            <a:avLst/>
          </a:prstGeom>
        </p:spPr>
        <p:txBody>
          <a:bodyPr vert="horz" wrap="square" lIns="0" tIns="31851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S</a:t>
            </a:r>
            <a:r>
              <a:rPr spc="-10" dirty="0"/>
              <a:t>i</a:t>
            </a:r>
            <a:r>
              <a:rPr spc="-15" dirty="0"/>
              <a:t>m</a:t>
            </a:r>
            <a:r>
              <a:rPr dirty="0"/>
              <a:t>ul</a:t>
            </a:r>
            <a:r>
              <a:rPr spc="-10" dirty="0"/>
              <a:t>a</a:t>
            </a:r>
            <a:r>
              <a:rPr dirty="0"/>
              <a:t>nd</a:t>
            </a:r>
            <a:r>
              <a:rPr spc="-5" dirty="0"/>
              <a:t>o</a:t>
            </a:r>
            <a:r>
              <a:rPr spc="20" dirty="0"/>
              <a:t> 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a</a:t>
            </a:r>
            <a:r>
              <a:rPr spc="-10" dirty="0"/>
              <a:t>l</a:t>
            </a:r>
            <a:r>
              <a:rPr spc="5" dirty="0"/>
              <a:t>g</a:t>
            </a:r>
            <a:r>
              <a:rPr dirty="0"/>
              <a:t>o</a:t>
            </a:r>
            <a:r>
              <a:rPr spc="-10" dirty="0"/>
              <a:t>rit</a:t>
            </a:r>
            <a:r>
              <a:rPr spc="-5" dirty="0"/>
              <a:t>mo</a:t>
            </a:r>
          </a:p>
        </p:txBody>
      </p:sp>
    </p:spTree>
    <p:extLst>
      <p:ext uri="{BB962C8B-B14F-4D97-AF65-F5344CB8AC3E}">
        <p14:creationId xmlns:p14="http://schemas.microsoft.com/office/powerpoint/2010/main" val="3471426148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02005" y="8826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843" y="2307648"/>
            <a:ext cx="8321040" cy="1418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405" marR="5080" indent="-53340">
              <a:lnSpc>
                <a:spcPct val="101099"/>
              </a:lnSpc>
            </a:pPr>
            <a:r>
              <a:rPr sz="3050" spc="15" dirty="0">
                <a:latin typeface="Arial"/>
                <a:cs typeface="Arial"/>
              </a:rPr>
              <a:t>Escre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um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25" dirty="0">
                <a:latin typeface="Arial"/>
                <a:cs typeface="Arial"/>
              </a:rPr>
              <a:t>ó</a:t>
            </a:r>
            <a:r>
              <a:rPr sz="3050" spc="15" dirty="0">
                <a:latin typeface="Arial"/>
                <a:cs typeface="Arial"/>
              </a:rPr>
              <a:t>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g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re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urs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p</a:t>
            </a:r>
            <a:r>
              <a:rPr sz="3050" spc="15" dirty="0">
                <a:latin typeface="Arial"/>
                <a:cs typeface="Arial"/>
              </a:rPr>
              <a:t>ara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25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l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10" dirty="0">
                <a:latin typeface="Arial"/>
                <a:cs typeface="Arial"/>
              </a:rPr>
              <a:t>r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á</a:t>
            </a:r>
            <a:r>
              <a:rPr sz="3050" spc="20" dirty="0">
                <a:latin typeface="Arial"/>
                <a:cs typeface="Arial"/>
              </a:rPr>
              <a:t>x</a:t>
            </a:r>
            <a:r>
              <a:rPr sz="3050" spc="15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o d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10" dirty="0">
                <a:latin typeface="Arial"/>
                <a:cs typeface="Arial"/>
              </a:rPr>
              <a:t>r </a:t>
            </a:r>
            <a:r>
              <a:rPr sz="3050" spc="20" dirty="0">
                <a:latin typeface="Arial"/>
                <a:cs typeface="Arial"/>
              </a:rPr>
              <a:t>c</a:t>
            </a:r>
            <a:r>
              <a:rPr sz="3050" spc="15" dirty="0">
                <a:latin typeface="Arial"/>
                <a:cs typeface="Arial"/>
              </a:rPr>
              <a:t>o</a:t>
            </a:r>
            <a:r>
              <a:rPr sz="3050" spc="25" dirty="0">
                <a:latin typeface="Arial"/>
                <a:cs typeface="Arial"/>
              </a:rPr>
              <a:t>mum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MDC</a:t>
            </a:r>
            <a:r>
              <a:rPr sz="3050" spc="5" dirty="0">
                <a:latin typeface="Arial"/>
                <a:cs typeface="Arial"/>
              </a:rPr>
              <a:t>,</a:t>
            </a:r>
            <a:r>
              <a:rPr sz="3050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e do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spc="25" dirty="0">
                <a:latin typeface="Arial"/>
                <a:cs typeface="Arial"/>
              </a:rPr>
              <a:t>úm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25" dirty="0">
                <a:latin typeface="Arial"/>
                <a:cs typeface="Arial"/>
              </a:rPr>
              <a:t>r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25" dirty="0">
                <a:latin typeface="Arial"/>
                <a:cs typeface="Arial"/>
              </a:rPr>
              <a:t>e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15" dirty="0">
                <a:latin typeface="Arial"/>
                <a:cs typeface="Arial"/>
              </a:rPr>
              <a:t>ros</a:t>
            </a:r>
            <a:r>
              <a:rPr sz="3050" spc="2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po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dirty="0">
                <a:latin typeface="Arial"/>
                <a:cs typeface="Arial"/>
              </a:rPr>
              <a:t>iti</a:t>
            </a:r>
            <a:r>
              <a:rPr sz="3050" spc="20" dirty="0">
                <a:latin typeface="Arial"/>
                <a:cs typeface="Arial"/>
              </a:rPr>
              <a:t>v</a:t>
            </a:r>
            <a:r>
              <a:rPr sz="3050" spc="15" dirty="0">
                <a:latin typeface="Arial"/>
                <a:cs typeface="Arial"/>
              </a:rPr>
              <a:t>os</a:t>
            </a:r>
            <a:r>
              <a:rPr sz="3050" spc="20" dirty="0">
                <a:latin typeface="Arial"/>
                <a:cs typeface="Arial"/>
              </a:rPr>
              <a:t> N</a:t>
            </a:r>
            <a:r>
              <a:rPr sz="3050" spc="10" dirty="0">
                <a:latin typeface="Arial"/>
                <a:cs typeface="Arial"/>
              </a:rPr>
              <a:t> 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 </a:t>
            </a:r>
            <a:r>
              <a:rPr sz="3050" spc="25" dirty="0">
                <a:latin typeface="Arial"/>
                <a:cs typeface="Arial"/>
              </a:rPr>
              <a:t>d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20" dirty="0">
                <a:latin typeface="Arial"/>
                <a:cs typeface="Arial"/>
              </a:rPr>
              <a:t>s</a:t>
            </a:r>
            <a:r>
              <a:rPr sz="3050" spc="15" dirty="0">
                <a:latin typeface="Arial"/>
                <a:cs typeface="Arial"/>
              </a:rPr>
              <a:t>eg</a:t>
            </a:r>
            <a:r>
              <a:rPr sz="3050" spc="25" dirty="0">
                <a:latin typeface="Arial"/>
                <a:cs typeface="Arial"/>
              </a:rPr>
              <a:t>u</a:t>
            </a:r>
            <a:r>
              <a:rPr sz="3050" dirty="0">
                <a:latin typeface="Arial"/>
                <a:cs typeface="Arial"/>
              </a:rPr>
              <a:t>i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dirty="0">
                <a:latin typeface="Arial"/>
                <a:cs typeface="Arial"/>
              </a:rPr>
              <a:t>t</a:t>
            </a:r>
            <a:r>
              <a:rPr sz="3050" spc="15" dirty="0">
                <a:latin typeface="Arial"/>
                <a:cs typeface="Arial"/>
              </a:rPr>
              <a:t>e</a:t>
            </a:r>
            <a:r>
              <a:rPr sz="3050" spc="5" dirty="0">
                <a:latin typeface="Arial"/>
                <a:cs typeface="Arial"/>
              </a:rPr>
              <a:t> </a:t>
            </a:r>
            <a:r>
              <a:rPr sz="3050" spc="35" dirty="0">
                <a:latin typeface="Arial"/>
                <a:cs typeface="Arial"/>
              </a:rPr>
              <a:t>m</a:t>
            </a:r>
            <a:r>
              <a:rPr sz="3050" spc="15" dirty="0">
                <a:latin typeface="Arial"/>
                <a:cs typeface="Arial"/>
              </a:rPr>
              <a:t>a</a:t>
            </a:r>
            <a:r>
              <a:rPr sz="3050" spc="25" dirty="0">
                <a:latin typeface="Arial"/>
                <a:cs typeface="Arial"/>
              </a:rPr>
              <a:t>n</a:t>
            </a:r>
            <a:r>
              <a:rPr sz="3050" spc="15" dirty="0">
                <a:latin typeface="Arial"/>
                <a:cs typeface="Arial"/>
              </a:rPr>
              <a:t>eira</a:t>
            </a:r>
            <a:r>
              <a:rPr sz="3050" spc="5" dirty="0">
                <a:latin typeface="Arial"/>
                <a:cs typeface="Arial"/>
              </a:rPr>
              <a:t>: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6132" y="4228594"/>
            <a:ext cx="8567928" cy="1528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530301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368" y="4409797"/>
            <a:ext cx="951230" cy="317233"/>
          </a:xfrm>
          <a:custGeom>
            <a:avLst/>
            <a:gdLst/>
            <a:ahLst/>
            <a:cxnLst/>
            <a:rect l="l" t="t" r="r" b="b"/>
            <a:pathLst>
              <a:path w="951230" h="317500">
                <a:moveTo>
                  <a:pt x="0" y="0"/>
                </a:moveTo>
                <a:lnTo>
                  <a:pt x="0" y="316991"/>
                </a:lnTo>
                <a:lnTo>
                  <a:pt x="950975" y="316991"/>
                </a:lnTo>
                <a:lnTo>
                  <a:pt x="95097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88725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3904615" cy="1402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40195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&gt;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=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&amp;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)==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0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 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ur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9233" y="6336291"/>
            <a:ext cx="1346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26336" y="4091550"/>
            <a:ext cx="3889375" cy="317233"/>
          </a:xfrm>
          <a:custGeom>
            <a:avLst/>
            <a:gdLst/>
            <a:ahLst/>
            <a:cxnLst/>
            <a:rect l="l" t="t" r="r" b="b"/>
            <a:pathLst>
              <a:path w="3889375" h="317500">
                <a:moveTo>
                  <a:pt x="0" y="0"/>
                </a:moveTo>
                <a:lnTo>
                  <a:pt x="0" y="316991"/>
                </a:lnTo>
                <a:lnTo>
                  <a:pt x="3889247" y="316991"/>
                </a:lnTo>
                <a:lnTo>
                  <a:pt x="3889247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468869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74079" y="2189671"/>
            <a:ext cx="4203700" cy="4598616"/>
          </a:xfrm>
          <a:custGeom>
            <a:avLst/>
            <a:gdLst/>
            <a:ahLst/>
            <a:cxnLst/>
            <a:rect l="l" t="t" r="r" b="b"/>
            <a:pathLst>
              <a:path w="4203700" h="4602480">
                <a:moveTo>
                  <a:pt x="0" y="0"/>
                </a:moveTo>
                <a:lnTo>
                  <a:pt x="0" y="4602479"/>
                </a:lnTo>
                <a:lnTo>
                  <a:pt x="4203191" y="4602479"/>
                </a:lnTo>
                <a:lnTo>
                  <a:pt x="4203191" y="0"/>
                </a:lnTo>
                <a:lnTo>
                  <a:pt x="0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79234" y="2223423"/>
            <a:ext cx="2961005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2659" y="2971079"/>
            <a:ext cx="202120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7458" y="2864489"/>
            <a:ext cx="1481455" cy="151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985" indent="-134620">
              <a:lnSpc>
                <a:spcPct val="140000"/>
              </a:lnSpc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233" y="5963224"/>
            <a:ext cx="402590" cy="654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7970">
              <a:lnSpc>
                <a:spcPct val="100000"/>
              </a:lnSpc>
            </a:pP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6335" y="4409797"/>
            <a:ext cx="3810000" cy="713141"/>
          </a:xfrm>
          <a:custGeom>
            <a:avLst/>
            <a:gdLst/>
            <a:ahLst/>
            <a:cxnLst/>
            <a:rect l="l" t="t" r="r" b="b"/>
            <a:pathLst>
              <a:path w="3810000" h="713739">
                <a:moveTo>
                  <a:pt x="0" y="0"/>
                </a:moveTo>
                <a:lnTo>
                  <a:pt x="0" y="713231"/>
                </a:lnTo>
                <a:lnTo>
                  <a:pt x="3809999" y="71323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421588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i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f</a:t>
            </a:r>
            <a:r>
              <a:rPr sz="1750" spc="15" dirty="0">
                <a:solidFill>
                  <a:srgbClr val="FF3200"/>
                </a:solidFill>
                <a:latin typeface="Courier New"/>
                <a:cs typeface="Courier New"/>
              </a:rPr>
              <a:t>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&lt;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450">
              <a:latin typeface="Times New Roman"/>
              <a:cs typeface="Times New Roman"/>
            </a:endParaRPr>
          </a:p>
          <a:p>
            <a:pPr marL="99695">
              <a:lnSpc>
                <a:spcPct val="100000"/>
              </a:lnSpc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409797"/>
            <a:ext cx="3810000" cy="317233"/>
          </a:xfrm>
          <a:custGeom>
            <a:avLst/>
            <a:gdLst/>
            <a:ahLst/>
            <a:cxnLst/>
            <a:rect l="l" t="t" r="r" b="b"/>
            <a:pathLst>
              <a:path w="3810000" h="317500">
                <a:moveTo>
                  <a:pt x="0" y="0"/>
                </a:moveTo>
                <a:lnTo>
                  <a:pt x="0" y="316991"/>
                </a:lnTo>
                <a:lnTo>
                  <a:pt x="3809999" y="316991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068055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1098761"/>
          </a:xfrm>
          <a:prstGeom prst="rect">
            <a:avLst/>
          </a:prstGeom>
        </p:spPr>
        <p:txBody>
          <a:bodyPr vert="horz" wrap="square" lIns="0" tIns="501395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9119" y="4108300"/>
            <a:ext cx="5236464" cy="934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74079" y="2189671"/>
            <a:ext cx="4203700" cy="4598616"/>
          </a:xfrm>
          <a:prstGeom prst="rect">
            <a:avLst/>
          </a:prstGeom>
          <a:ln w="10313">
            <a:solidFill>
              <a:srgbClr val="00000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225"/>
              </a:spcBef>
            </a:pPr>
            <a:r>
              <a:rPr sz="1750" dirty="0">
                <a:latin typeface="Courier New"/>
                <a:cs typeface="Courier New"/>
              </a:rPr>
              <a:t>in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10" dirty="0">
                <a:latin typeface="Courier New"/>
                <a:cs typeface="Courier New"/>
              </a:rPr>
              <a:t>D</a:t>
            </a:r>
            <a:r>
              <a:rPr sz="1750" spc="5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(</a:t>
            </a: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 n</a:t>
            </a:r>
            <a:r>
              <a:rPr sz="1750" spc="5" dirty="0">
                <a:latin typeface="Courier New"/>
                <a:cs typeface="Courier New"/>
              </a:rPr>
              <a:t>,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i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5" dirty="0">
                <a:latin typeface="Courier New"/>
                <a:cs typeface="Courier New"/>
              </a:rPr>
              <a:t>t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502284" marR="180975" indent="-134620">
              <a:lnSpc>
                <a:spcPct val="140000"/>
              </a:lnSpc>
              <a:spcBef>
                <a:spcPts val="1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(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&gt;</a:t>
            </a:r>
            <a:r>
              <a:rPr sz="1750" spc="10" dirty="0">
                <a:latin typeface="Courier New"/>
                <a:cs typeface="Courier New"/>
              </a:rPr>
              <a:t>=</a:t>
            </a:r>
            <a:r>
              <a:rPr sz="175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 </a:t>
            </a:r>
            <a:r>
              <a:rPr sz="1750" spc="10" dirty="0">
                <a:latin typeface="Courier New"/>
                <a:cs typeface="Courier New"/>
              </a:rPr>
              <a:t>&amp;</a:t>
            </a:r>
            <a:r>
              <a:rPr sz="1750" spc="5" dirty="0">
                <a:latin typeface="Courier New"/>
                <a:cs typeface="Courier New"/>
              </a:rPr>
              <a:t>&amp;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%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)==</a:t>
            </a:r>
            <a:r>
              <a:rPr sz="1750" spc="10" dirty="0">
                <a:latin typeface="Courier New"/>
                <a:cs typeface="Courier New"/>
              </a:rPr>
              <a:t>0</a:t>
            </a:r>
            <a:r>
              <a:rPr sz="1750" spc="5" dirty="0">
                <a:latin typeface="Courier New"/>
                <a:cs typeface="Courier New"/>
              </a:rPr>
              <a:t>)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spc="5" dirty="0">
                <a:latin typeface="Courier New"/>
                <a:cs typeface="Courier New"/>
              </a:rPr>
              <a:t>) 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ur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dirty="0">
                <a:latin typeface="Courier New"/>
                <a:cs typeface="Courier New"/>
              </a:rPr>
              <a:t>e</a:t>
            </a:r>
            <a:r>
              <a:rPr sz="1750" spc="10" dirty="0">
                <a:latin typeface="Courier New"/>
                <a:cs typeface="Courier New"/>
              </a:rPr>
              <a:t>l</a:t>
            </a:r>
            <a:r>
              <a:rPr sz="1750" dirty="0">
                <a:latin typeface="Courier New"/>
                <a:cs typeface="Courier New"/>
              </a:rPr>
              <a:t>s</a:t>
            </a:r>
            <a:r>
              <a:rPr sz="1750" spc="5" dirty="0"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{</a:t>
            </a:r>
            <a:endParaRPr sz="1750">
              <a:latin typeface="Courier New"/>
              <a:cs typeface="Courier New"/>
            </a:endParaRPr>
          </a:p>
          <a:p>
            <a:pPr marL="637540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latin typeface="Courier New"/>
                <a:cs typeface="Courier New"/>
              </a:rPr>
              <a:t>i</a:t>
            </a:r>
            <a:r>
              <a:rPr sz="1750" spc="5" dirty="0">
                <a:latin typeface="Courier New"/>
                <a:cs typeface="Courier New"/>
              </a:rPr>
              <a:t>f</a:t>
            </a:r>
            <a:r>
              <a:rPr sz="1750" spc="15" dirty="0">
                <a:latin typeface="Courier New"/>
                <a:cs typeface="Courier New"/>
              </a:rPr>
              <a:t> </a:t>
            </a:r>
            <a:r>
              <a:rPr sz="1750" dirty="0">
                <a:latin typeface="Courier New"/>
                <a:cs typeface="Courier New"/>
              </a:rPr>
              <a:t>(</a:t>
            </a:r>
            <a:r>
              <a:rPr sz="1750" spc="10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&lt;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spc="5" dirty="0">
                <a:latin typeface="Courier New"/>
                <a:cs typeface="Courier New"/>
              </a:rPr>
              <a:t>)</a:t>
            </a:r>
            <a:endParaRPr sz="1750">
              <a:latin typeface="Courier New"/>
              <a:cs typeface="Courier New"/>
            </a:endParaRPr>
          </a:p>
          <a:p>
            <a:pPr marL="637540" marR="854075" indent="269240">
              <a:lnSpc>
                <a:spcPct val="140600"/>
              </a:lnSpc>
            </a:pPr>
            <a:r>
              <a:rPr sz="1750" dirty="0">
                <a:latin typeface="Courier New"/>
                <a:cs typeface="Courier New"/>
              </a:rPr>
              <a:t>re</a:t>
            </a:r>
            <a:r>
              <a:rPr sz="1750" spc="10" dirty="0">
                <a:latin typeface="Courier New"/>
                <a:cs typeface="Courier New"/>
              </a:rPr>
              <a:t>t</a:t>
            </a:r>
            <a:r>
              <a:rPr sz="1750" dirty="0">
                <a:latin typeface="Courier New"/>
                <a:cs typeface="Courier New"/>
              </a:rPr>
              <a:t>u</a:t>
            </a:r>
            <a:r>
              <a:rPr sz="1750" spc="10" dirty="0">
                <a:latin typeface="Courier New"/>
                <a:cs typeface="Courier New"/>
              </a:rPr>
              <a:t>r</a:t>
            </a:r>
            <a:r>
              <a:rPr sz="1750" spc="5" dirty="0">
                <a:latin typeface="Courier New"/>
                <a:cs typeface="Courier New"/>
              </a:rPr>
              <a:t>n</a:t>
            </a:r>
            <a:r>
              <a:rPr sz="1750" dirty="0">
                <a:latin typeface="Courier New"/>
                <a:cs typeface="Courier New"/>
              </a:rPr>
              <a:t> (</a:t>
            </a:r>
            <a:r>
              <a:rPr sz="1750" spc="10" dirty="0">
                <a:latin typeface="Courier New"/>
                <a:cs typeface="Courier New"/>
              </a:rPr>
              <a:t>M</a:t>
            </a:r>
            <a:r>
              <a:rPr sz="1750" dirty="0">
                <a:latin typeface="Courier New"/>
                <a:cs typeface="Courier New"/>
              </a:rPr>
              <a:t>D</a:t>
            </a:r>
            <a:r>
              <a:rPr sz="1750" spc="10" dirty="0">
                <a:latin typeface="Courier New"/>
                <a:cs typeface="Courier New"/>
              </a:rPr>
              <a:t>C</a:t>
            </a:r>
            <a:r>
              <a:rPr sz="1750" dirty="0">
                <a:latin typeface="Courier New"/>
                <a:cs typeface="Courier New"/>
              </a:rPr>
              <a:t>(m</a:t>
            </a:r>
            <a:r>
              <a:rPr sz="1750" spc="10" dirty="0">
                <a:latin typeface="Courier New"/>
                <a:cs typeface="Courier New"/>
              </a:rPr>
              <a:t>,</a:t>
            </a:r>
            <a:r>
              <a:rPr sz="1750" dirty="0">
                <a:latin typeface="Courier New"/>
                <a:cs typeface="Courier New"/>
              </a:rPr>
              <a:t>n</a:t>
            </a:r>
            <a:r>
              <a:rPr sz="1750" spc="10" dirty="0">
                <a:latin typeface="Courier New"/>
                <a:cs typeface="Courier New"/>
              </a:rPr>
              <a:t>)</a:t>
            </a:r>
            <a:r>
              <a:rPr sz="1750" dirty="0">
                <a:latin typeface="Courier New"/>
                <a:cs typeface="Courier New"/>
              </a:rPr>
              <a:t>)</a:t>
            </a:r>
            <a:r>
              <a:rPr sz="1750" spc="5" dirty="0">
                <a:latin typeface="Courier New"/>
                <a:cs typeface="Courier New"/>
              </a:rPr>
              <a:t>; 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l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s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e</a:t>
            </a:r>
            <a:endParaRPr sz="1750">
              <a:latin typeface="Courier New"/>
              <a:cs typeface="Courier New"/>
            </a:endParaRPr>
          </a:p>
          <a:p>
            <a:pPr marL="907415">
              <a:lnSpc>
                <a:spcPct val="100000"/>
              </a:lnSpc>
              <a:spcBef>
                <a:spcPts val="840"/>
              </a:spcBef>
            </a:pP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re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t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u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r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 (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M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D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C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(m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,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n</a:t>
            </a:r>
            <a:r>
              <a:rPr sz="1750" spc="10" dirty="0">
                <a:solidFill>
                  <a:srgbClr val="FF3200"/>
                </a:solidFill>
                <a:latin typeface="Courier New"/>
                <a:cs typeface="Courier New"/>
              </a:rPr>
              <a:t>%</a:t>
            </a:r>
            <a:r>
              <a:rPr sz="1750" dirty="0">
                <a:solidFill>
                  <a:srgbClr val="FF3200"/>
                </a:solidFill>
                <a:latin typeface="Courier New"/>
                <a:cs typeface="Courier New"/>
              </a:rPr>
              <a:t>m))</a:t>
            </a:r>
            <a:r>
              <a:rPr sz="1750" spc="5" dirty="0">
                <a:solidFill>
                  <a:srgbClr val="FF3200"/>
                </a:solidFill>
                <a:latin typeface="Courier New"/>
                <a:cs typeface="Courier New"/>
              </a:rPr>
              <a:t>;</a:t>
            </a:r>
            <a:endParaRPr sz="1750">
              <a:latin typeface="Courier New"/>
              <a:cs typeface="Courier New"/>
            </a:endParaRPr>
          </a:p>
          <a:p>
            <a:pPr marL="367665">
              <a:lnSpc>
                <a:spcPct val="100000"/>
              </a:lnSpc>
              <a:spcBef>
                <a:spcPts val="85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  <a:p>
            <a:pPr marL="99695">
              <a:lnSpc>
                <a:spcPct val="100000"/>
              </a:lnSpc>
              <a:spcBef>
                <a:spcPts val="840"/>
              </a:spcBef>
            </a:pPr>
            <a:r>
              <a:rPr sz="1750" spc="5" dirty="0">
                <a:latin typeface="Courier New"/>
                <a:cs typeface="Courier New"/>
              </a:rPr>
              <a:t>}</a:t>
            </a:r>
            <a:endParaRPr sz="175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26335" y="4728047"/>
            <a:ext cx="3810000" cy="315330"/>
          </a:xfrm>
          <a:custGeom>
            <a:avLst/>
            <a:gdLst/>
            <a:ahLst/>
            <a:cxnLst/>
            <a:rect l="l" t="t" r="r" b="b"/>
            <a:pathLst>
              <a:path w="3810000" h="315595">
                <a:moveTo>
                  <a:pt x="0" y="0"/>
                </a:moveTo>
                <a:lnTo>
                  <a:pt x="0" y="315467"/>
                </a:lnTo>
                <a:lnTo>
                  <a:pt x="3809999" y="315467"/>
                </a:lnTo>
                <a:lnTo>
                  <a:pt x="38099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FF3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76658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1" y="1501807"/>
            <a:ext cx="7468870" cy="93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920">
              <a:lnSpc>
                <a:spcPct val="92000"/>
              </a:lnSpc>
              <a:tabLst>
                <a:tab pos="641985" algn="l"/>
              </a:tabLst>
            </a:pPr>
            <a:r>
              <a:rPr sz="2200" spc="-5" dirty="0">
                <a:solidFill>
                  <a:srgbClr val="852A33"/>
                </a:solidFill>
                <a:latin typeface="Arial"/>
                <a:cs typeface="Arial"/>
              </a:rPr>
              <a:t>1</a:t>
            </a:r>
            <a:r>
              <a:rPr sz="2200" dirty="0">
                <a:solidFill>
                  <a:srgbClr val="852A33"/>
                </a:solidFill>
                <a:latin typeface="Arial"/>
                <a:cs typeface="Arial"/>
              </a:rPr>
              <a:t>)	</a:t>
            </a: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ã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spc="-15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150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-é</a:t>
            </a:r>
            <a:r>
              <a:rPr sz="2200" dirty="0">
                <a:latin typeface="Arial"/>
                <a:cs typeface="Arial"/>
              </a:rPr>
              <a:t>simo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bona</a:t>
            </a:r>
            <a:r>
              <a:rPr sz="2200" dirty="0">
                <a:latin typeface="Arial"/>
                <a:cs typeface="Arial"/>
              </a:rPr>
              <a:t>cci.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equên</a:t>
            </a:r>
            <a:r>
              <a:rPr sz="2200" dirty="0">
                <a:latin typeface="Arial"/>
                <a:cs typeface="Arial"/>
              </a:rPr>
              <a:t>cia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é </a:t>
            </a:r>
            <a:r>
              <a:rPr sz="2200" spc="-5" dirty="0">
                <a:latin typeface="Arial"/>
                <a:cs typeface="Arial"/>
              </a:rPr>
              <a:t>dad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por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6252" y="3673815"/>
            <a:ext cx="8392795" cy="2900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5080" indent="-629285">
              <a:lnSpc>
                <a:spcPts val="239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ja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v</a:t>
            </a:r>
            <a:r>
              <a:rPr sz="2200" spc="-5" dirty="0">
                <a:latin typeface="Arial"/>
                <a:cs typeface="Arial"/>
              </a:rPr>
              <a:t>eto</a:t>
            </a:r>
            <a:r>
              <a:rPr sz="2200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nte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1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s. </a:t>
            </a:r>
            <a:r>
              <a:rPr sz="2200" spc="5" dirty="0">
                <a:latin typeface="Arial"/>
                <a:cs typeface="Arial"/>
              </a:rPr>
              <a:t>D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fun</a:t>
            </a:r>
            <a:r>
              <a:rPr sz="2200" dirty="0">
                <a:latin typeface="Arial"/>
                <a:cs typeface="Arial"/>
              </a:rPr>
              <a:t>ç</a:t>
            </a:r>
            <a:r>
              <a:rPr sz="2200" spc="-5" dirty="0">
                <a:latin typeface="Arial"/>
                <a:cs typeface="Arial"/>
              </a:rPr>
              <a:t>õe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rsi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par</a:t>
            </a:r>
            <a:r>
              <a:rPr sz="2200" dirty="0">
                <a:latin typeface="Arial"/>
                <a:cs typeface="Arial"/>
              </a:rPr>
              <a:t>a c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lc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: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35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á</a:t>
            </a:r>
            <a:r>
              <a:rPr sz="2200" spc="-15" dirty="0">
                <a:latin typeface="Arial"/>
                <a:cs typeface="Arial"/>
              </a:rPr>
              <a:t>x</a:t>
            </a:r>
            <a:r>
              <a:rPr sz="2200" dirty="0">
                <a:latin typeface="Arial"/>
                <a:cs typeface="Arial"/>
              </a:rPr>
              <a:t>imo</a:t>
            </a:r>
            <a:r>
              <a:rPr sz="2200" spc="-5" dirty="0">
                <a:latin typeface="Arial"/>
                <a:cs typeface="Arial"/>
              </a:rPr>
              <a:t> 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ma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S;</a:t>
            </a:r>
            <a:endParaRPr sz="2200">
              <a:latin typeface="Arial"/>
              <a:cs typeface="Arial"/>
            </a:endParaRPr>
          </a:p>
          <a:p>
            <a:pPr marL="1280160" lvl="1" indent="-504190">
              <a:lnSpc>
                <a:spcPct val="100000"/>
              </a:lnSpc>
              <a:spcBef>
                <a:spcPts val="405"/>
              </a:spcBef>
              <a:buAutoNum type="alphaLcParenR"/>
              <a:tabLst>
                <a:tab pos="1280795" algn="l"/>
              </a:tabLst>
            </a:pP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éd</a:t>
            </a:r>
            <a:r>
              <a:rPr sz="2200" dirty="0">
                <a:latin typeface="Arial"/>
                <a:cs typeface="Arial"/>
              </a:rPr>
              <a:t>ia</a:t>
            </a:r>
            <a:r>
              <a:rPr sz="2200" spc="-5" dirty="0">
                <a:latin typeface="Arial"/>
                <a:cs typeface="Arial"/>
              </a:rPr>
              <a:t> ar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ét</a:t>
            </a:r>
            <a:r>
              <a:rPr sz="2200" dirty="0">
                <a:latin typeface="Arial"/>
                <a:cs typeface="Arial"/>
              </a:rPr>
              <a:t>ica</a:t>
            </a:r>
            <a:r>
              <a:rPr sz="2200" spc="-5" dirty="0">
                <a:latin typeface="Arial"/>
                <a:cs typeface="Arial"/>
              </a:rPr>
              <a:t> do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ento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"/>
              </a:spcBef>
              <a:buFont typeface="Arial"/>
              <a:buAutoNum type="alphaLcParenR"/>
            </a:pPr>
            <a:endParaRPr sz="3250">
              <a:latin typeface="Times New Roman"/>
              <a:cs typeface="Times New Roman"/>
            </a:endParaRPr>
          </a:p>
          <a:p>
            <a:pPr marL="641985" marR="318770" indent="-629285">
              <a:lnSpc>
                <a:spcPts val="2380"/>
              </a:lnSpc>
              <a:buClr>
                <a:srgbClr val="852A33"/>
              </a:buClr>
              <a:buAutoNum type="arabicParenR" startAt="2"/>
              <a:tabLst>
                <a:tab pos="642620" algn="l"/>
              </a:tabLst>
            </a:pPr>
            <a:r>
              <a:rPr sz="2200" dirty="0">
                <a:latin typeface="Arial"/>
                <a:cs typeface="Arial"/>
              </a:rPr>
              <a:t>Esc</a:t>
            </a:r>
            <a:r>
              <a:rPr sz="2200" spc="-5" dirty="0">
                <a:latin typeface="Arial"/>
                <a:cs typeface="Arial"/>
              </a:rPr>
              <a:t>re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pro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ed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ent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re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ur</a:t>
            </a:r>
            <a:r>
              <a:rPr sz="2200" dirty="0">
                <a:latin typeface="Arial"/>
                <a:cs typeface="Arial"/>
              </a:rPr>
              <a:t>si</a:t>
            </a:r>
            <a:r>
              <a:rPr sz="2200" spc="-15" dirty="0">
                <a:latin typeface="Arial"/>
                <a:cs typeface="Arial"/>
              </a:rPr>
              <a:t>v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qu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im</a:t>
            </a:r>
            <a:r>
              <a:rPr sz="2200" spc="-5" dirty="0">
                <a:latin typeface="Arial"/>
                <a:cs typeface="Arial"/>
              </a:rPr>
              <a:t>pr</a:t>
            </a:r>
            <a:r>
              <a:rPr sz="2200" dirty="0">
                <a:latin typeface="Arial"/>
                <a:cs typeface="Arial"/>
              </a:rPr>
              <a:t>ima</a:t>
            </a:r>
            <a:r>
              <a:rPr sz="2200" spc="-5" dirty="0">
                <a:latin typeface="Arial"/>
                <a:cs typeface="Arial"/>
              </a:rPr>
              <a:t> n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 t</a:t>
            </a:r>
            <a:r>
              <a:rPr sz="2200" dirty="0">
                <a:latin typeface="Arial"/>
                <a:cs typeface="Arial"/>
              </a:rPr>
              <a:t>ela</a:t>
            </a:r>
            <a:r>
              <a:rPr sz="2200" spc="-5" dirty="0">
                <a:latin typeface="Arial"/>
                <a:cs typeface="Arial"/>
              </a:rPr>
              <a:t> 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ero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15" dirty="0">
                <a:latin typeface="Arial"/>
                <a:cs typeface="Arial"/>
              </a:rPr>
              <a:t>í</a:t>
            </a:r>
            <a:r>
              <a:rPr sz="2200" spc="-1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pare</a:t>
            </a:r>
            <a:r>
              <a:rPr sz="2200" dirty="0">
                <a:latin typeface="Arial"/>
                <a:cs typeface="Arial"/>
              </a:rPr>
              <a:t>s 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1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à</a:t>
            </a:r>
            <a:r>
              <a:rPr sz="2200" spc="-2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 nú</a:t>
            </a:r>
            <a:r>
              <a:rPr sz="2200" dirty="0">
                <a:latin typeface="Arial"/>
                <a:cs typeface="Arial"/>
              </a:rPr>
              <a:t>m</a:t>
            </a:r>
            <a:r>
              <a:rPr sz="2200" spc="-5" dirty="0">
                <a:latin typeface="Arial"/>
                <a:cs typeface="Arial"/>
              </a:rPr>
              <a:t>er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forne</a:t>
            </a:r>
            <a:r>
              <a:rPr sz="2200" dirty="0">
                <a:latin typeface="Arial"/>
                <a:cs typeface="Arial"/>
              </a:rPr>
              <a:t>ci</a:t>
            </a:r>
            <a:r>
              <a:rPr sz="2200" spc="-5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lo</a:t>
            </a:r>
            <a:r>
              <a:rPr sz="2200" spc="-5" dirty="0">
                <a:latin typeface="Arial"/>
                <a:cs typeface="Arial"/>
              </a:rPr>
              <a:t> u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u</a:t>
            </a:r>
            <a:r>
              <a:rPr sz="2200" dirty="0">
                <a:latin typeface="Arial"/>
                <a:cs typeface="Arial"/>
              </a:rPr>
              <a:t>á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50847" y="2506398"/>
            <a:ext cx="5236464" cy="962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56621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505035"/>
            <a:ext cx="9222232" cy="672491"/>
          </a:xfrm>
          <a:prstGeom prst="rect">
            <a:avLst/>
          </a:prstGeom>
        </p:spPr>
        <p:txBody>
          <a:bodyPr vert="horz" wrap="square" lIns="0" tIns="79247" rIns="0" bIns="0" rtlCol="0">
            <a:spAutoFit/>
          </a:bodyPr>
          <a:lstStyle/>
          <a:p>
            <a:pPr marL="10795">
              <a:lnSpc>
                <a:spcPct val="100000"/>
              </a:lnSpc>
            </a:pPr>
            <a:r>
              <a:rPr spc="-5" dirty="0"/>
              <a:t>E</a:t>
            </a:r>
            <a:r>
              <a:rPr spc="-10" dirty="0"/>
              <a:t>xe</a:t>
            </a:r>
            <a:r>
              <a:rPr dirty="0"/>
              <a:t>r</a:t>
            </a:r>
            <a:r>
              <a:rPr spc="0" dirty="0"/>
              <a:t>c</a:t>
            </a:r>
            <a:r>
              <a:rPr dirty="0"/>
              <a:t>í</a:t>
            </a:r>
            <a:r>
              <a:rPr spc="-10" dirty="0"/>
              <a:t>c</a:t>
            </a:r>
            <a:r>
              <a:rPr dirty="0"/>
              <a:t>io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2" y="1470876"/>
            <a:ext cx="9130665" cy="5131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985" marR="30353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ed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me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pr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2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 i</a:t>
            </a:r>
            <a:r>
              <a:rPr sz="2600" spc="25" dirty="0">
                <a:latin typeface="Arial"/>
                <a:cs typeface="Arial"/>
              </a:rPr>
              <a:t>mp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t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sé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20" dirty="0">
                <a:latin typeface="Arial"/>
                <a:cs typeface="Arial"/>
              </a:rPr>
              <a:t>te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[i,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5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 incr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  <a:buClr>
                <a:srgbClr val="852A33"/>
              </a:buClr>
              <a:buFont typeface="Arial"/>
              <a:buAutoNum type="arabicParenR" startAt="4"/>
            </a:pPr>
            <a:endParaRPr sz="3550">
              <a:latin typeface="Times New Roman"/>
              <a:cs typeface="Times New Roman"/>
            </a:endParaRPr>
          </a:p>
          <a:p>
            <a:pPr marL="641985" marR="5080" indent="-629285" algn="just">
              <a:lnSpc>
                <a:spcPct val="9130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20" dirty="0">
                <a:latin typeface="Arial"/>
                <a:cs typeface="Arial"/>
              </a:rPr>
              <a:t>Esc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f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10" dirty="0">
                <a:latin typeface="Arial"/>
                <a:cs typeface="Arial"/>
              </a:rPr>
              <a:t>t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So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(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, </a:t>
            </a:r>
            <a:r>
              <a:rPr sz="2600" spc="15" dirty="0">
                <a:latin typeface="Arial"/>
                <a:cs typeface="Arial"/>
              </a:rPr>
              <a:t>q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ér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alores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[i</a:t>
            </a:r>
            <a:r>
              <a:rPr sz="2600" spc="25" dirty="0">
                <a:latin typeface="Arial"/>
                <a:cs typeface="Arial"/>
              </a:rPr>
              <a:t>,</a:t>
            </a:r>
            <a:r>
              <a:rPr sz="2600" spc="-5" dirty="0">
                <a:latin typeface="Arial"/>
                <a:cs typeface="Arial"/>
              </a:rPr>
              <a:t>j</a:t>
            </a:r>
            <a:r>
              <a:rPr sz="2600" spc="20" dirty="0">
                <a:latin typeface="Arial"/>
                <a:cs typeface="Arial"/>
              </a:rPr>
              <a:t>]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co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re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20" dirty="0">
                <a:latin typeface="Arial"/>
                <a:cs typeface="Arial"/>
              </a:rPr>
              <a:t>to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(i</a:t>
            </a:r>
            <a:r>
              <a:rPr sz="2600" spc="10" dirty="0">
                <a:latin typeface="Arial"/>
                <a:cs typeface="Arial"/>
              </a:rPr>
              <a:t>,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j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k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in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eiros</a:t>
            </a:r>
            <a:r>
              <a:rPr sz="2600" spc="5" dirty="0">
                <a:latin typeface="Arial"/>
                <a:cs typeface="Arial"/>
              </a:rPr>
              <a:t>)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Clr>
                <a:srgbClr val="852A33"/>
              </a:buClr>
              <a:buFont typeface="Arial"/>
              <a:buAutoNum type="arabicParenR" startAt="4"/>
            </a:pPr>
            <a:endParaRPr sz="3600">
              <a:latin typeface="Times New Roman"/>
              <a:cs typeface="Times New Roman"/>
            </a:endParaRPr>
          </a:p>
          <a:p>
            <a:pPr marL="641985" marR="243840" indent="-629285">
              <a:lnSpc>
                <a:spcPts val="2860"/>
              </a:lnSpc>
              <a:buClr>
                <a:srgbClr val="852A33"/>
              </a:buClr>
              <a:buAutoNum type="arabicParenR" startAt="4"/>
              <a:tabLst>
                <a:tab pos="642620" algn="l"/>
              </a:tabLst>
            </a:pPr>
            <a:r>
              <a:rPr sz="2600" spc="15" dirty="0">
                <a:latin typeface="Arial"/>
                <a:cs typeface="Arial"/>
              </a:rPr>
              <a:t>Fa</a:t>
            </a:r>
            <a:r>
              <a:rPr sz="2600" spc="25" dirty="0">
                <a:latin typeface="Arial"/>
                <a:cs typeface="Arial"/>
              </a:rPr>
              <a:t>ç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u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curs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qu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25" dirty="0">
                <a:latin typeface="Arial"/>
                <a:cs typeface="Arial"/>
              </a:rPr>
              <a:t>c</a:t>
            </a:r>
            <a:r>
              <a:rPr sz="2600" spc="15" dirty="0">
                <a:latin typeface="Arial"/>
                <a:cs typeface="Arial"/>
              </a:rPr>
              <a:t>ul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s</a:t>
            </a:r>
            <a:r>
              <a:rPr sz="2600" spc="20" dirty="0">
                <a:latin typeface="Arial"/>
                <a:cs typeface="Arial"/>
              </a:rPr>
              <a:t>é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de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5" dirty="0">
                <a:latin typeface="Arial"/>
                <a:cs typeface="Arial"/>
              </a:rPr>
              <a:t>ri</a:t>
            </a:r>
            <a:r>
              <a:rPr sz="2600" spc="20" dirty="0">
                <a:latin typeface="Arial"/>
                <a:cs typeface="Arial"/>
              </a:rPr>
              <a:t>ta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s</a:t>
            </a:r>
            <a:r>
              <a:rPr sz="2600" spc="25" dirty="0">
                <a:latin typeface="Arial"/>
                <a:cs typeface="Arial"/>
              </a:rPr>
              <a:t>eg</a:t>
            </a:r>
            <a:r>
              <a:rPr sz="2600" spc="15" dirty="0">
                <a:latin typeface="Arial"/>
                <a:cs typeface="Arial"/>
              </a:rPr>
              <a:t>ui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alo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n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&gt;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0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25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5" dirty="0">
                <a:latin typeface="Arial"/>
                <a:cs typeface="Arial"/>
              </a:rPr>
              <a:t>n</a:t>
            </a:r>
            <a:r>
              <a:rPr sz="2600" spc="15" dirty="0">
                <a:latin typeface="Arial"/>
                <a:cs typeface="Arial"/>
              </a:rPr>
              <a:t>eci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c</a:t>
            </a:r>
            <a:r>
              <a:rPr sz="2600" spc="25" dirty="0">
                <a:latin typeface="Arial"/>
                <a:cs typeface="Arial"/>
              </a:rPr>
              <a:t>om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</a:t>
            </a:r>
            <a:r>
              <a:rPr sz="2600" spc="15" dirty="0">
                <a:latin typeface="Arial"/>
                <a:cs typeface="Arial"/>
              </a:rPr>
              <a:t>arâ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pa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40" dirty="0">
                <a:latin typeface="Arial"/>
                <a:cs typeface="Arial"/>
              </a:rPr>
              <a:t>m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sm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660"/>
              </a:lnSpc>
            </a:pPr>
            <a:r>
              <a:rPr sz="2600" spc="25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=</a:t>
            </a:r>
            <a:r>
              <a:rPr sz="260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20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2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3</a:t>
            </a:r>
            <a:r>
              <a:rPr sz="2600" spc="10" dirty="0">
                <a:latin typeface="Arial"/>
                <a:cs typeface="Arial"/>
              </a:rPr>
              <a:t>!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+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..</a:t>
            </a:r>
            <a:r>
              <a:rPr sz="2600" spc="10" dirty="0">
                <a:latin typeface="Arial"/>
                <a:cs typeface="Arial"/>
              </a:rPr>
              <a:t>.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1</a:t>
            </a:r>
            <a:r>
              <a:rPr sz="2600" spc="5" dirty="0">
                <a:latin typeface="Arial"/>
                <a:cs typeface="Arial"/>
              </a:rPr>
              <a:t>/</a:t>
            </a:r>
            <a:r>
              <a:rPr sz="2600" spc="15" dirty="0">
                <a:latin typeface="Arial"/>
                <a:cs typeface="Arial"/>
              </a:rPr>
              <a:t>n</a:t>
            </a:r>
            <a:r>
              <a:rPr sz="2600" spc="10" dirty="0">
                <a:latin typeface="Arial"/>
                <a:cs typeface="Arial"/>
              </a:rPr>
              <a:t>!</a:t>
            </a:r>
            <a:endParaRPr sz="2600">
              <a:latin typeface="Arial"/>
              <a:cs typeface="Arial"/>
            </a:endParaRPr>
          </a:p>
          <a:p>
            <a:pPr marL="641985">
              <a:lnSpc>
                <a:spcPts val="2990"/>
              </a:lnSpc>
            </a:pPr>
            <a:r>
              <a:rPr sz="2600" spc="25" dirty="0">
                <a:latin typeface="Arial"/>
                <a:cs typeface="Arial"/>
              </a:rPr>
              <a:t>OBS</a:t>
            </a:r>
            <a:r>
              <a:rPr sz="2600" spc="10" dirty="0">
                <a:latin typeface="Arial"/>
                <a:cs typeface="Arial"/>
              </a:rPr>
              <a:t>: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A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f</a:t>
            </a:r>
            <a:r>
              <a:rPr sz="2600" spc="15" dirty="0">
                <a:latin typeface="Arial"/>
                <a:cs typeface="Arial"/>
              </a:rPr>
              <a:t>un</a:t>
            </a:r>
            <a:r>
              <a:rPr sz="2600" spc="25" dirty="0">
                <a:latin typeface="Arial"/>
                <a:cs typeface="Arial"/>
              </a:rPr>
              <a:t>çã</a:t>
            </a:r>
            <a:r>
              <a:rPr sz="2600" spc="20" dirty="0">
                <a:latin typeface="Arial"/>
                <a:cs typeface="Arial"/>
              </a:rPr>
              <a:t>o</a:t>
            </a:r>
            <a:r>
              <a:rPr sz="2600" spc="5" dirty="0">
                <a:latin typeface="Arial"/>
                <a:cs typeface="Arial"/>
              </a:rPr>
              <a:t> f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15" dirty="0">
                <a:latin typeface="Arial"/>
                <a:cs typeface="Arial"/>
              </a:rPr>
              <a:t>or</a:t>
            </a:r>
            <a:r>
              <a:rPr sz="2600" spc="5" dirty="0">
                <a:latin typeface="Arial"/>
                <a:cs typeface="Arial"/>
              </a:rPr>
              <a:t>i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5" dirty="0">
                <a:latin typeface="Arial"/>
                <a:cs typeface="Arial"/>
              </a:rPr>
              <a:t>l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20" dirty="0">
                <a:latin typeface="Arial"/>
                <a:cs typeface="Arial"/>
              </a:rPr>
              <a:t>t</a:t>
            </a:r>
            <a:r>
              <a:rPr sz="2600" spc="25" dirty="0">
                <a:latin typeface="Arial"/>
                <a:cs typeface="Arial"/>
              </a:rPr>
              <a:t>ambé</a:t>
            </a:r>
            <a:r>
              <a:rPr sz="2600" spc="30" dirty="0">
                <a:latin typeface="Arial"/>
                <a:cs typeface="Arial"/>
              </a:rPr>
              <a:t>m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d</a:t>
            </a:r>
            <a:r>
              <a:rPr sz="2600" spc="15" dirty="0">
                <a:latin typeface="Arial"/>
                <a:cs typeface="Arial"/>
              </a:rPr>
              <a:t>e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2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se</a:t>
            </a:r>
            <a:r>
              <a:rPr sz="2600" spc="10" dirty="0">
                <a:latin typeface="Arial"/>
                <a:cs typeface="Arial"/>
              </a:rPr>
              <a:t>r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spc="15" dirty="0">
                <a:latin typeface="Arial"/>
                <a:cs typeface="Arial"/>
              </a:rPr>
              <a:t>rec</a:t>
            </a:r>
            <a:r>
              <a:rPr sz="2600" spc="25" dirty="0">
                <a:latin typeface="Arial"/>
                <a:cs typeface="Arial"/>
              </a:rPr>
              <a:t>u</a:t>
            </a:r>
            <a:r>
              <a:rPr sz="2600" spc="5" dirty="0">
                <a:latin typeface="Arial"/>
                <a:cs typeface="Arial"/>
              </a:rPr>
              <a:t>r</a:t>
            </a:r>
            <a:r>
              <a:rPr sz="2600" spc="15" dirty="0">
                <a:latin typeface="Arial"/>
                <a:cs typeface="Arial"/>
              </a:rPr>
              <a:t>si</a:t>
            </a:r>
            <a:r>
              <a:rPr sz="2600" spc="25" dirty="0">
                <a:latin typeface="Arial"/>
                <a:cs typeface="Arial"/>
              </a:rPr>
              <a:t>v</a:t>
            </a:r>
            <a:r>
              <a:rPr sz="2600" spc="15" dirty="0">
                <a:latin typeface="Arial"/>
                <a:cs typeface="Arial"/>
              </a:rPr>
              <a:t>a</a:t>
            </a:r>
            <a:r>
              <a:rPr sz="2600" spc="10" dirty="0">
                <a:latin typeface="Arial"/>
                <a:cs typeface="Arial"/>
              </a:rPr>
              <a:t>.</a:t>
            </a:r>
            <a:endParaRPr sz="2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71477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23349" y="1035050"/>
            <a:ext cx="9006962" cy="5963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O </a:t>
            </a:r>
            <a:r>
              <a:rPr lang="pt-BR" sz="3200" i="1" dirty="0" err="1"/>
              <a:t>debugger</a:t>
            </a:r>
            <a:r>
              <a:rPr lang="pt-BR" sz="3200" i="1" dirty="0"/>
              <a:t> </a:t>
            </a:r>
            <a:r>
              <a:rPr lang="pt-BR" sz="3200" dirty="0"/>
              <a:t>ou depurador é uma funcionalidade do </a:t>
            </a:r>
            <a:r>
              <a:rPr lang="pt-BR" sz="3200" dirty="0" err="1"/>
              <a:t>Code</a:t>
            </a:r>
            <a:r>
              <a:rPr lang="pt-BR" sz="3200" dirty="0"/>
              <a:t>::</a:t>
            </a:r>
            <a:r>
              <a:rPr lang="pt-BR" sz="3200" dirty="0" err="1"/>
              <a:t>Blocks</a:t>
            </a:r>
            <a:r>
              <a:rPr lang="pt-BR" sz="3200" dirty="0"/>
              <a:t> e de outras </a:t>
            </a:r>
            <a:r>
              <a:rPr lang="pt-BR" sz="3200" dirty="0" err="1"/>
              <a:t>IDEs</a:t>
            </a:r>
            <a:r>
              <a:rPr lang="pt-BR" sz="3200" dirty="0"/>
              <a:t> que permite a </a:t>
            </a:r>
            <a:r>
              <a:rPr lang="pt-BR" sz="3200" dirty="0" smtClean="0"/>
              <a:t>verificação </a:t>
            </a:r>
            <a:r>
              <a:rPr lang="pt-BR" sz="3200" dirty="0"/>
              <a:t>passo-a-passo da execução de um algoritmo. </a:t>
            </a:r>
          </a:p>
          <a:p>
            <a:pPr>
              <a:spcBef>
                <a:spcPts val="11"/>
              </a:spcBef>
            </a:pPr>
            <a:endParaRPr sz="4300" dirty="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Impressões, leituras de </a:t>
            </a:r>
            <a:r>
              <a:rPr sz="3200" dirty="0">
                <a:latin typeface="Arial"/>
                <a:cs typeface="Arial"/>
              </a:rPr>
              <a:t>dados, variáveis,  vetores, strings </a:t>
            </a:r>
            <a:r>
              <a:rPr sz="3200" spc="-6" dirty="0">
                <a:latin typeface="Arial"/>
                <a:cs typeface="Arial"/>
              </a:rPr>
              <a:t>etc.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ter </a:t>
            </a:r>
            <a:r>
              <a:rPr sz="3200" dirty="0">
                <a:latin typeface="Arial"/>
                <a:cs typeface="Arial"/>
              </a:rPr>
              <a:t>seus valores  verificados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execução de </a:t>
            </a:r>
            <a:r>
              <a:rPr sz="3200" dirty="0">
                <a:latin typeface="Arial"/>
                <a:cs typeface="Arial"/>
              </a:rPr>
              <a:t>uma </a:t>
            </a:r>
            <a:r>
              <a:rPr sz="3200" spc="-6" dirty="0">
                <a:latin typeface="Arial"/>
                <a:cs typeface="Arial"/>
              </a:rPr>
              <a:t>nova  </a:t>
            </a:r>
            <a:r>
              <a:rPr sz="3200" dirty="0">
                <a:latin typeface="Arial"/>
                <a:cs typeface="Arial"/>
              </a:rPr>
              <a:t>instrução.</a:t>
            </a:r>
          </a:p>
          <a:p>
            <a:pPr>
              <a:spcBef>
                <a:spcPts val="40"/>
              </a:spcBef>
              <a:buClr>
                <a:srgbClr val="852B34"/>
              </a:buClr>
              <a:buFont typeface="Arial"/>
              <a:buChar char="•"/>
            </a:pPr>
            <a:endParaRPr sz="4300" dirty="0">
              <a:latin typeface="Times New Roman"/>
              <a:cs typeface="Times New Roman"/>
            </a:endParaRPr>
          </a:p>
          <a:p>
            <a:pPr marL="405526" marR="7966" indent="-391043" algn="just">
              <a:lnSpc>
                <a:spcPts val="3455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Assim, </a:t>
            </a:r>
            <a:r>
              <a:rPr sz="3200" dirty="0">
                <a:latin typeface="Arial"/>
                <a:cs typeface="Arial"/>
              </a:rPr>
              <a:t>possíveis </a:t>
            </a:r>
            <a:r>
              <a:rPr sz="3200" spc="-6" dirty="0">
                <a:latin typeface="Arial"/>
                <a:cs typeface="Arial"/>
              </a:rPr>
              <a:t>falhas no </a:t>
            </a:r>
            <a:r>
              <a:rPr sz="3200" dirty="0">
                <a:latin typeface="Arial"/>
                <a:cs typeface="Arial"/>
              </a:rPr>
              <a:t>algoritmo podem  ser detectadas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facilmente.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3294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9190" cy="553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i="1" dirty="0">
                <a:latin typeface="Arial"/>
                <a:cs typeface="Arial"/>
              </a:rPr>
              <a:t>debugger </a:t>
            </a:r>
            <a:r>
              <a:rPr sz="3200" dirty="0">
                <a:latin typeface="Arial"/>
                <a:cs typeface="Arial"/>
              </a:rPr>
              <a:t>também </a:t>
            </a:r>
            <a:r>
              <a:rPr sz="3200" spc="-6" dirty="0">
                <a:latin typeface="Arial"/>
                <a:cs typeface="Arial"/>
              </a:rPr>
              <a:t>serve como </a:t>
            </a:r>
            <a:r>
              <a:rPr sz="3200" dirty="0">
                <a:latin typeface="Arial"/>
                <a:cs typeface="Arial"/>
              </a:rPr>
              <a:t>uma  importante ferramenta </a:t>
            </a:r>
            <a:r>
              <a:rPr sz="3200" spc="-6" dirty="0">
                <a:latin typeface="Arial"/>
                <a:cs typeface="Arial"/>
              </a:rPr>
              <a:t>para o </a:t>
            </a:r>
            <a:r>
              <a:rPr sz="3200" dirty="0">
                <a:latin typeface="Arial"/>
                <a:cs typeface="Arial"/>
              </a:rPr>
              <a:t>aprendizado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algoritmos, </a:t>
            </a:r>
            <a:r>
              <a:rPr sz="3200" spc="-6" dirty="0">
                <a:latin typeface="Arial"/>
                <a:cs typeface="Arial"/>
              </a:rPr>
              <a:t>permitindo </a:t>
            </a:r>
            <a:r>
              <a:rPr sz="3200" dirty="0">
                <a:latin typeface="Arial"/>
                <a:cs typeface="Arial"/>
              </a:rPr>
              <a:t>que </a:t>
            </a:r>
            <a:r>
              <a:rPr sz="3200" spc="-6" dirty="0">
                <a:latin typeface="Arial"/>
                <a:cs typeface="Arial"/>
              </a:rPr>
              <a:t>seja feito um </a:t>
            </a:r>
            <a:r>
              <a:rPr sz="3200" dirty="0">
                <a:latin typeface="Arial"/>
                <a:cs typeface="Arial"/>
              </a:rPr>
              <a:t>“teste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mesa” </a:t>
            </a:r>
            <a:r>
              <a:rPr sz="3200" spc="-6" dirty="0">
                <a:latin typeface="Arial"/>
                <a:cs typeface="Arial"/>
              </a:rPr>
              <a:t>durante a execução do </a:t>
            </a:r>
            <a:r>
              <a:rPr sz="3200" dirty="0">
                <a:latin typeface="Arial"/>
                <a:cs typeface="Arial"/>
              </a:rPr>
              <a:t>próprio  algoritmo.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Através </a:t>
            </a:r>
            <a:r>
              <a:rPr sz="3200" spc="-11" dirty="0">
                <a:latin typeface="Arial"/>
                <a:cs typeface="Arial"/>
              </a:rPr>
              <a:t>do </a:t>
            </a:r>
            <a:r>
              <a:rPr sz="3200" spc="-6" dirty="0">
                <a:latin typeface="Arial"/>
                <a:cs typeface="Arial"/>
              </a:rPr>
              <a:t>processo de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de  </a:t>
            </a:r>
            <a:r>
              <a:rPr sz="3200" spc="-6" dirty="0">
                <a:latin typeface="Arial"/>
                <a:cs typeface="Arial"/>
              </a:rPr>
              <a:t>execução de um </a:t>
            </a:r>
            <a:r>
              <a:rPr sz="3200" dirty="0">
                <a:latin typeface="Arial"/>
                <a:cs typeface="Arial"/>
              </a:rPr>
              <a:t>código pode </a:t>
            </a:r>
            <a:r>
              <a:rPr sz="3200" spc="-6" dirty="0">
                <a:latin typeface="Arial"/>
                <a:cs typeface="Arial"/>
              </a:rPr>
              <a:t>ser </a:t>
            </a:r>
            <a:r>
              <a:rPr sz="3200" dirty="0">
                <a:latin typeface="Arial"/>
                <a:cs typeface="Arial"/>
              </a:rPr>
              <a:t>verificado  continuamente, por </a:t>
            </a:r>
            <a:r>
              <a:rPr sz="3200" spc="-6" dirty="0">
                <a:latin typeface="Arial"/>
                <a:cs typeface="Arial"/>
              </a:rPr>
              <a:t>meio da </a:t>
            </a:r>
            <a:r>
              <a:rPr sz="3200" dirty="0">
                <a:latin typeface="Arial"/>
                <a:cs typeface="Arial"/>
              </a:rPr>
              <a:t>checagem do  </a:t>
            </a:r>
            <a:r>
              <a:rPr sz="3200" spc="-6" dirty="0">
                <a:latin typeface="Arial"/>
                <a:cs typeface="Arial"/>
              </a:rPr>
              <a:t>resultado de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teste condicional, de </a:t>
            </a:r>
            <a:r>
              <a:rPr sz="3200" dirty="0">
                <a:latin typeface="Arial"/>
                <a:cs typeface="Arial"/>
              </a:rPr>
              <a:t>cada  repetição, </a:t>
            </a:r>
            <a:r>
              <a:rPr sz="3200" spc="-6" dirty="0">
                <a:latin typeface="Arial"/>
                <a:cs typeface="Arial"/>
              </a:rPr>
              <a:t>de cada </a:t>
            </a:r>
            <a:r>
              <a:rPr sz="3200" dirty="0">
                <a:latin typeface="Arial"/>
                <a:cs typeface="Arial"/>
              </a:rPr>
              <a:t>operação </a:t>
            </a:r>
            <a:r>
              <a:rPr sz="3200" spc="-6" dirty="0">
                <a:latin typeface="Arial"/>
                <a:cs typeface="Arial"/>
              </a:rPr>
              <a:t>lógica e  matemática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2772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10675" cy="2304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8690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</a:t>
            </a:r>
            <a:r>
              <a:rPr sz="3200" dirty="0">
                <a:latin typeface="Arial"/>
                <a:cs typeface="Arial"/>
              </a:rPr>
              <a:t>abaixo </a:t>
            </a:r>
            <a:r>
              <a:rPr sz="3200" spc="-6" dirty="0">
                <a:latin typeface="Arial"/>
                <a:cs typeface="Arial"/>
              </a:rPr>
              <a:t>será utilizado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 </a:t>
            </a:r>
            <a:r>
              <a:rPr sz="3200" dirty="0">
                <a:latin typeface="Arial"/>
                <a:cs typeface="Arial"/>
              </a:rPr>
              <a:t>explicação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funcionamento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i="1" spc="-6" dirty="0">
                <a:latin typeface="Arial"/>
                <a:cs typeface="Arial"/>
              </a:rPr>
              <a:t>debugger </a:t>
            </a:r>
            <a:r>
              <a:rPr sz="3200" spc="-6" dirty="0">
                <a:latin typeface="Arial"/>
                <a:cs typeface="Arial"/>
              </a:rPr>
              <a:t>do  </a:t>
            </a:r>
            <a:r>
              <a:rPr sz="3200" dirty="0">
                <a:latin typeface="Arial"/>
                <a:cs typeface="Arial"/>
              </a:rPr>
              <a:t>Code::Blocks.</a:t>
            </a:r>
            <a:endParaRPr sz="3200">
              <a:latin typeface="Arial"/>
              <a:cs typeface="Arial"/>
            </a:endParaRPr>
          </a:p>
          <a:p>
            <a:pPr marL="405526" indent="-391043">
              <a:lnSpc>
                <a:spcPts val="3638"/>
              </a:lnSpc>
              <a:spcBef>
                <a:spcPts val="382"/>
              </a:spcBef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algoritmo inverte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ordem dos elementos</a:t>
            </a:r>
            <a:r>
              <a:rPr sz="3200" spc="29" dirty="0">
                <a:latin typeface="Arial"/>
                <a:cs typeface="Arial"/>
              </a:rPr>
              <a:t> </a:t>
            </a:r>
            <a:r>
              <a:rPr sz="3200" spc="11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vetor </a:t>
            </a:r>
            <a:r>
              <a:rPr sz="3200" spc="-6" dirty="0">
                <a:latin typeface="Arial"/>
                <a:cs typeface="Arial"/>
              </a:rPr>
              <a:t>de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inteiros.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483543" y="3554101"/>
            <a:ext cx="6059742" cy="3741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9190" cy="2352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Antes de dar início ao </a:t>
            </a:r>
            <a:r>
              <a:rPr sz="2700" i="1" dirty="0">
                <a:latin typeface="Arial"/>
                <a:cs typeface="Arial"/>
              </a:rPr>
              <a:t>debugging, </a:t>
            </a:r>
            <a:r>
              <a:rPr sz="2700" spc="-6" dirty="0">
                <a:latin typeface="Arial"/>
                <a:cs typeface="Arial"/>
              </a:rPr>
              <a:t>é necessário  colocar  </a:t>
            </a:r>
            <a:r>
              <a:rPr sz="2700" i="1" spc="-6" dirty="0">
                <a:latin typeface="Arial"/>
                <a:cs typeface="Arial"/>
              </a:rPr>
              <a:t>breakpoints  </a:t>
            </a:r>
            <a:r>
              <a:rPr sz="2700" spc="-6" dirty="0">
                <a:latin typeface="Arial"/>
                <a:cs typeface="Arial"/>
              </a:rPr>
              <a:t>(pontos  de  parada)  nas </a:t>
            </a:r>
            <a:r>
              <a:rPr sz="2700" spc="71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linhas</a:t>
            </a:r>
            <a:endParaRPr sz="2700">
              <a:latin typeface="Arial"/>
              <a:cs typeface="Arial"/>
            </a:endParaRPr>
          </a:p>
          <a:p>
            <a:pPr marL="404802">
              <a:lnSpc>
                <a:spcPts val="2914"/>
              </a:lnSpc>
            </a:pPr>
            <a:r>
              <a:rPr sz="2700" spc="-6" dirty="0">
                <a:latin typeface="Arial"/>
                <a:cs typeface="Arial"/>
              </a:rPr>
              <a:t>cujas execuções devem ser</a:t>
            </a:r>
            <a:r>
              <a:rPr sz="2700" spc="91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verificadas.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ct val="90000"/>
              </a:lnSpc>
              <a:spcBef>
                <a:spcPts val="656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Basta clicar ao lado direito do número de cada </a:t>
            </a:r>
            <a:r>
              <a:rPr sz="2700" dirty="0">
                <a:latin typeface="Arial"/>
                <a:cs typeface="Arial"/>
              </a:rPr>
              <a:t>linha  desejada. Os </a:t>
            </a:r>
            <a:r>
              <a:rPr sz="2700" spc="-6" dirty="0">
                <a:latin typeface="Arial"/>
                <a:cs typeface="Arial"/>
              </a:rPr>
              <a:t>hexágonos em vermelho indicam a  criação de um</a:t>
            </a:r>
            <a:r>
              <a:rPr sz="2700" spc="11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06540" y="3615239"/>
            <a:ext cx="8168272" cy="37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63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94907"/>
            <a:ext cx="9010675" cy="182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Outras formas </a:t>
            </a:r>
            <a:r>
              <a:rPr sz="2700" spc="-6" dirty="0">
                <a:latin typeface="Arial"/>
                <a:cs typeface="Arial"/>
              </a:rPr>
              <a:t>de se adicionar um</a:t>
            </a:r>
            <a:r>
              <a:rPr sz="2700" spc="17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:</a:t>
            </a:r>
            <a:endParaRPr sz="2700">
              <a:latin typeface="Arial"/>
              <a:cs typeface="Arial"/>
            </a:endParaRPr>
          </a:p>
          <a:p>
            <a:pPr marL="803811" marR="5793" lvl="1" indent="-396836" algn="just">
              <a:lnSpc>
                <a:spcPct val="90100"/>
              </a:lnSpc>
              <a:spcBef>
                <a:spcPts val="547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4535" algn="l"/>
              </a:tabLst>
            </a:pPr>
            <a:r>
              <a:rPr sz="2300" dirty="0">
                <a:latin typeface="Arial"/>
                <a:cs typeface="Arial"/>
              </a:rPr>
              <a:t>Clicar com o botão </a:t>
            </a:r>
            <a:r>
              <a:rPr sz="2300" spc="-6" dirty="0">
                <a:latin typeface="Arial"/>
                <a:cs typeface="Arial"/>
              </a:rPr>
              <a:t>esquerdo </a:t>
            </a:r>
            <a:r>
              <a:rPr sz="2300" dirty="0">
                <a:latin typeface="Arial"/>
                <a:cs typeface="Arial"/>
              </a:rPr>
              <a:t>do mouse ao </a:t>
            </a:r>
            <a:r>
              <a:rPr sz="2300" spc="-6" dirty="0">
                <a:latin typeface="Arial"/>
                <a:cs typeface="Arial"/>
              </a:rPr>
              <a:t>lado </a:t>
            </a:r>
            <a:r>
              <a:rPr sz="2300" dirty="0">
                <a:latin typeface="Arial"/>
                <a:cs typeface="Arial"/>
              </a:rPr>
              <a:t>direito do  número de cada linha desejada e </a:t>
            </a:r>
            <a:r>
              <a:rPr sz="2300" spc="-6" dirty="0">
                <a:latin typeface="Arial"/>
                <a:cs typeface="Arial"/>
              </a:rPr>
              <a:t>escolher </a:t>
            </a:r>
            <a:r>
              <a:rPr sz="2300" dirty="0">
                <a:latin typeface="Arial"/>
                <a:cs typeface="Arial"/>
              </a:rPr>
              <a:t>a opção </a:t>
            </a:r>
            <a:r>
              <a:rPr sz="2300" i="1" dirty="0">
                <a:latin typeface="Arial"/>
                <a:cs typeface="Arial"/>
              </a:rPr>
              <a:t>Add  breakpoint</a:t>
            </a:r>
            <a:r>
              <a:rPr sz="2300" dirty="0">
                <a:latin typeface="Arial"/>
                <a:cs typeface="Arial"/>
              </a:rPr>
              <a:t>;</a:t>
            </a:r>
            <a:endParaRPr sz="2300">
              <a:latin typeface="Arial"/>
              <a:cs typeface="Arial"/>
            </a:endParaRPr>
          </a:p>
          <a:p>
            <a:pPr marL="803811" lvl="1" indent="-396836">
              <a:spcBef>
                <a:spcPts val="274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3811" algn="l"/>
                <a:tab pos="804535" algn="l"/>
                <a:tab pos="3087793" algn="l"/>
              </a:tabLst>
            </a:pPr>
            <a:r>
              <a:rPr sz="2300" dirty="0">
                <a:latin typeface="Arial"/>
                <a:cs typeface="Arial"/>
              </a:rPr>
              <a:t>Colocar</a:t>
            </a:r>
            <a:r>
              <a:rPr sz="2300" spc="-1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-6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cursor	na linha desejada e pressionar a tecla</a:t>
            </a:r>
            <a:r>
              <a:rPr sz="2300" spc="-17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F5.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245974" y="3143461"/>
            <a:ext cx="8260652" cy="3977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25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993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dirty="0">
                <a:latin typeface="Arial"/>
                <a:cs typeface="Arial"/>
              </a:rPr>
              <a:t>Com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adição dos </a:t>
            </a:r>
            <a:r>
              <a:rPr sz="3200" i="1" dirty="0">
                <a:latin typeface="Arial"/>
                <a:cs typeface="Arial"/>
              </a:rPr>
              <a:t>breakpoints</a:t>
            </a:r>
            <a:r>
              <a:rPr sz="3200" dirty="0">
                <a:latin typeface="Arial"/>
                <a:cs typeface="Arial"/>
              </a:rPr>
              <a:t>, nas </a:t>
            </a:r>
            <a:r>
              <a:rPr sz="3200" spc="-6" dirty="0">
                <a:latin typeface="Arial"/>
                <a:cs typeface="Arial"/>
              </a:rPr>
              <a:t>linhas </a:t>
            </a:r>
            <a:r>
              <a:rPr sz="3200" dirty="0">
                <a:latin typeface="Arial"/>
                <a:cs typeface="Arial"/>
              </a:rPr>
              <a:t>5,  </a:t>
            </a:r>
            <a:r>
              <a:rPr sz="3200" spc="-6" dirty="0">
                <a:latin typeface="Arial"/>
                <a:cs typeface="Arial"/>
              </a:rPr>
              <a:t>6, 8, 9, </a:t>
            </a:r>
            <a:r>
              <a:rPr sz="3200" spc="-11" dirty="0">
                <a:latin typeface="Arial"/>
                <a:cs typeface="Arial"/>
              </a:rPr>
              <a:t>10 </a:t>
            </a:r>
            <a:r>
              <a:rPr sz="3200" spc="-6" dirty="0">
                <a:latin typeface="Arial"/>
                <a:cs typeface="Arial"/>
              </a:rPr>
              <a:t>e 13 do </a:t>
            </a:r>
            <a:r>
              <a:rPr sz="3200" dirty="0">
                <a:latin typeface="Arial"/>
                <a:cs typeface="Arial"/>
              </a:rPr>
              <a:t>algoritmo abaixo, </a:t>
            </a:r>
            <a:r>
              <a:rPr sz="3200" spc="-6" dirty="0">
                <a:latin typeface="Arial"/>
                <a:cs typeface="Arial"/>
              </a:rPr>
              <a:t>ocorrerá  o </a:t>
            </a:r>
            <a:r>
              <a:rPr sz="3200" dirty="0">
                <a:latin typeface="Arial"/>
                <a:cs typeface="Arial"/>
              </a:rPr>
              <a:t>passo-a-passo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88524" y="3492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88524" y="2826145"/>
            <a:ext cx="9558116" cy="4335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6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185951"/>
            <a:ext cx="900696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lnSpc>
                <a:spcPts val="3638"/>
              </a:lnSpc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3723600" algn="l"/>
              </a:tabLst>
            </a:pPr>
            <a:r>
              <a:rPr sz="3200" spc="-11" dirty="0">
                <a:latin typeface="Arial"/>
                <a:cs typeface="Arial"/>
              </a:rPr>
              <a:t>No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menu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	</a:t>
            </a:r>
            <a:r>
              <a:rPr sz="3200" spc="-6" dirty="0">
                <a:latin typeface="Arial"/>
                <a:cs typeface="Arial"/>
              </a:rPr>
              <a:t>acesse </a:t>
            </a:r>
            <a:r>
              <a:rPr sz="3200" i="1" spc="-6" dirty="0">
                <a:latin typeface="Arial"/>
                <a:cs typeface="Arial"/>
              </a:rPr>
              <a:t>Debugging</a:t>
            </a:r>
            <a:r>
              <a:rPr sz="3200" i="1" spc="130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windows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e clique em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Watches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46759" y="2270714"/>
            <a:ext cx="9686140" cy="499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01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85951"/>
            <a:ext cx="405903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977608" algn="l"/>
                <a:tab pos="2365811" algn="l"/>
              </a:tabLst>
            </a:pPr>
            <a:r>
              <a:rPr sz="3200" spc="-6" dirty="0">
                <a:latin typeface="Arial"/>
                <a:cs typeface="Arial"/>
              </a:rPr>
              <a:t>A	janela	</a:t>
            </a:r>
            <a:r>
              <a:rPr sz="3200" i="1" spc="-6" dirty="0">
                <a:latin typeface="Arial"/>
                <a:cs typeface="Arial"/>
              </a:rPr>
              <a:t>Watches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771" y="1185951"/>
            <a:ext cx="29570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05782" algn="l"/>
              </a:tabLst>
            </a:pPr>
            <a:r>
              <a:rPr sz="3200" spc="-6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6" dirty="0">
                <a:latin typeface="Arial"/>
                <a:cs typeface="Arial"/>
              </a:rPr>
              <a:t>rá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o</a:t>
            </a:r>
            <a:r>
              <a:rPr sz="3200" spc="-6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d</a:t>
            </a:r>
            <a:r>
              <a:rPr sz="3200" spc="11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2831" y="1185951"/>
            <a:ext cx="142652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50681" algn="l"/>
              </a:tabLst>
            </a:pPr>
            <a:r>
              <a:rPr sz="3200" spc="-6" dirty="0">
                <a:latin typeface="Arial"/>
                <a:cs typeface="Arial"/>
              </a:rPr>
              <a:t>Nela	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351" y="1656132"/>
            <a:ext cx="860670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90000"/>
              </a:lnSpc>
            </a:pPr>
            <a:r>
              <a:rPr sz="3200" dirty="0">
                <a:latin typeface="Arial"/>
                <a:cs typeface="Arial"/>
              </a:rPr>
              <a:t>possível acompanhar </a:t>
            </a: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conteúdo das  variáveis, vetores, strings </a:t>
            </a:r>
            <a:r>
              <a:rPr sz="3200" spc="-6" dirty="0">
                <a:latin typeface="Arial"/>
                <a:cs typeface="Arial"/>
              </a:rPr>
              <a:t>etc., a cada </a:t>
            </a:r>
            <a:r>
              <a:rPr sz="3200" dirty="0">
                <a:latin typeface="Arial"/>
                <a:cs typeface="Arial"/>
              </a:rPr>
              <a:t>passo 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algoritmo.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51175" y="6566766"/>
            <a:ext cx="584943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400" spc="-6" dirty="0">
                <a:latin typeface="Arial"/>
                <a:cs typeface="Arial"/>
              </a:rPr>
              <a:t>Inicialmente,</a:t>
            </a:r>
            <a:r>
              <a:rPr sz="1400" spc="-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spc="-6" dirty="0">
                <a:latin typeface="Arial"/>
                <a:cs typeface="Arial"/>
              </a:rPr>
              <a:t>variáveis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439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 </a:t>
            </a:r>
            <a:r>
              <a:rPr sz="1400" spc="23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aux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o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vetor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vet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contém</a:t>
            </a:r>
            <a:r>
              <a:rPr sz="1400" spc="-34" dirty="0">
                <a:latin typeface="Arial"/>
                <a:cs typeface="Arial"/>
              </a:rPr>
              <a:t> </a:t>
            </a:r>
            <a:r>
              <a:rPr sz="1400" spc="-11" dirty="0">
                <a:latin typeface="Arial"/>
                <a:cs typeface="Arial"/>
              </a:rPr>
              <a:t>lixo</a:t>
            </a:r>
            <a:r>
              <a:rPr sz="1400" dirty="0">
                <a:latin typeface="Arial"/>
                <a:cs typeface="Arial"/>
              </a:rPr>
              <a:t> de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memória.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4067" y="3021577"/>
            <a:ext cx="4210526" cy="3454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33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696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Para </a:t>
            </a:r>
            <a:r>
              <a:rPr sz="3200" dirty="0">
                <a:latin typeface="Arial"/>
                <a:cs typeface="Arial"/>
              </a:rPr>
              <a:t>dar </a:t>
            </a:r>
            <a:r>
              <a:rPr sz="3200" spc="-6" dirty="0">
                <a:latin typeface="Arial"/>
                <a:cs typeface="Arial"/>
              </a:rPr>
              <a:t>início ao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acesse </a:t>
            </a:r>
            <a:r>
              <a:rPr sz="3200" spc="-6" dirty="0">
                <a:latin typeface="Arial"/>
                <a:cs typeface="Arial"/>
              </a:rPr>
              <a:t>o menu  </a:t>
            </a:r>
            <a:r>
              <a:rPr sz="3200" i="1" dirty="0">
                <a:latin typeface="Arial"/>
                <a:cs typeface="Arial"/>
              </a:rPr>
              <a:t>Debug </a:t>
            </a:r>
            <a:r>
              <a:rPr sz="3200" spc="-6" dirty="0">
                <a:latin typeface="Arial"/>
                <a:cs typeface="Arial"/>
              </a:rPr>
              <a:t>e, em </a:t>
            </a:r>
            <a:r>
              <a:rPr sz="3200" dirty="0">
                <a:latin typeface="Arial"/>
                <a:cs typeface="Arial"/>
              </a:rPr>
              <a:t>seguida, escolha </a:t>
            </a:r>
            <a:r>
              <a:rPr sz="3200" spc="-6" dirty="0">
                <a:latin typeface="Arial"/>
                <a:cs typeface="Arial"/>
              </a:rPr>
              <a:t>a opção  </a:t>
            </a:r>
            <a:r>
              <a:rPr sz="3200" i="1" spc="-6" dirty="0">
                <a:latin typeface="Arial"/>
                <a:cs typeface="Arial"/>
              </a:rPr>
              <a:t>Start/Continue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pressione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tecla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F8.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19754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557226" y="2598806"/>
            <a:ext cx="7747961" cy="461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618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700" y="3193805"/>
            <a:ext cx="6736693" cy="423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3349" y="1232969"/>
            <a:ext cx="9005477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será </a:t>
            </a:r>
            <a:r>
              <a:rPr sz="3200" dirty="0">
                <a:latin typeface="Arial"/>
                <a:cs typeface="Arial"/>
              </a:rPr>
              <a:t>executado normalmente até  </a:t>
            </a:r>
            <a:r>
              <a:rPr sz="3200" spc="-6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seja encontrado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i="1" dirty="0">
                <a:latin typeface="Arial"/>
                <a:cs typeface="Arial"/>
              </a:rPr>
              <a:t>breakpoint</a:t>
            </a:r>
            <a:r>
              <a:rPr sz="3200" dirty="0">
                <a:latin typeface="Arial"/>
                <a:cs typeface="Arial"/>
              </a:rPr>
              <a:t>. </a:t>
            </a:r>
            <a:r>
              <a:rPr sz="3200" spc="-6" dirty="0">
                <a:latin typeface="Arial"/>
                <a:cs typeface="Arial"/>
              </a:rPr>
              <a:t>A seta  em </a:t>
            </a:r>
            <a:r>
              <a:rPr sz="3200" dirty="0">
                <a:latin typeface="Arial"/>
                <a:cs typeface="Arial"/>
              </a:rPr>
              <a:t>amarelo indica </a:t>
            </a:r>
            <a:r>
              <a:rPr sz="3200" b="1" spc="-6" dirty="0">
                <a:latin typeface="Arial"/>
                <a:cs typeface="Arial"/>
              </a:rPr>
              <a:t>a linha </a:t>
            </a:r>
            <a:r>
              <a:rPr sz="3200" b="1" dirty="0">
                <a:latin typeface="Arial"/>
                <a:cs typeface="Arial"/>
              </a:rPr>
              <a:t>que </a:t>
            </a:r>
            <a:r>
              <a:rPr sz="3200" b="1" spc="-6" dirty="0">
                <a:latin typeface="Arial"/>
                <a:cs typeface="Arial"/>
              </a:rPr>
              <a:t>será  executada </a:t>
            </a:r>
            <a:r>
              <a:rPr sz="3200" spc="-6" dirty="0">
                <a:latin typeface="Arial"/>
                <a:cs typeface="Arial"/>
              </a:rPr>
              <a:t>(linha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5).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434529" y="4768990"/>
            <a:ext cx="230442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543" y="4841758"/>
            <a:ext cx="2105263" cy="94456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332" y="4301019"/>
            <a:ext cx="2105263" cy="47402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2725" rIns="0" bIns="0" rtlCol="0">
            <a:spAutoFit/>
          </a:bodyPr>
          <a:lstStyle/>
          <a:p>
            <a:pPr marL="204211" marR="169452" indent="-28242">
              <a:spcBef>
                <a:spcPts val="336"/>
              </a:spcBef>
            </a:pPr>
            <a:r>
              <a:rPr sz="1400" b="1" spc="-6" dirty="0">
                <a:latin typeface="Arial"/>
                <a:cs typeface="Arial"/>
              </a:rPr>
              <a:t>Execução parada </a:t>
            </a:r>
            <a:r>
              <a:rPr sz="1400" b="1" dirty="0">
                <a:latin typeface="Arial"/>
                <a:cs typeface="Arial"/>
              </a:rPr>
              <a:t>no  primeiro</a:t>
            </a:r>
            <a:r>
              <a:rPr sz="1400" b="1" spc="-1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breakpoint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7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7704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controle </a:t>
            </a:r>
            <a:r>
              <a:rPr sz="3200" spc="-6" dirty="0">
                <a:latin typeface="Arial"/>
                <a:cs typeface="Arial"/>
              </a:rPr>
              <a:t>do fluxo de </a:t>
            </a:r>
            <a:r>
              <a:rPr sz="3200" dirty="0">
                <a:latin typeface="Arial"/>
                <a:cs typeface="Arial"/>
              </a:rPr>
              <a:t>execução pode ser  feito </a:t>
            </a:r>
            <a:r>
              <a:rPr sz="3200" spc="-6" dirty="0">
                <a:latin typeface="Arial"/>
                <a:cs typeface="Arial"/>
              </a:rPr>
              <a:t>através de alguns </a:t>
            </a:r>
            <a:r>
              <a:rPr sz="3200" dirty="0">
                <a:latin typeface="Arial"/>
                <a:cs typeface="Arial"/>
              </a:rPr>
              <a:t>comandos dispostos  </a:t>
            </a:r>
            <a:r>
              <a:rPr sz="3200" spc="-6" dirty="0">
                <a:latin typeface="Arial"/>
                <a:cs typeface="Arial"/>
              </a:rPr>
              <a:t>no menu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 destacado abaixo, que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exibido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partir </a:t>
            </a:r>
            <a:r>
              <a:rPr sz="3200" spc="-6" dirty="0">
                <a:latin typeface="Arial"/>
                <a:cs typeface="Arial"/>
              </a:rPr>
              <a:t>do início do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</a:t>
            </a:r>
            <a:r>
              <a:rPr spc="-11" dirty="0"/>
              <a:t>da</a:t>
            </a:r>
            <a:r>
              <a:rPr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963017" y="3304709"/>
            <a:ext cx="1885603" cy="2837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3914" y="3377057"/>
            <a:ext cx="1684211" cy="94456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41437" y="2984902"/>
            <a:ext cx="1937435" cy="28717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553" rIns="0" bIns="0" rtlCol="0">
            <a:spAutoFit/>
          </a:bodyPr>
          <a:lstStyle/>
          <a:p>
            <a:pPr marL="179590">
              <a:spcBef>
                <a:spcPts val="319"/>
              </a:spcBef>
            </a:pPr>
            <a:r>
              <a:rPr sz="1600" dirty="0">
                <a:latin typeface="Arial"/>
                <a:cs typeface="Arial"/>
              </a:rPr>
              <a:t>Atalhos do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" dirty="0">
                <a:latin typeface="Arial"/>
                <a:cs typeface="Arial"/>
              </a:rPr>
              <a:t>menu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6699" y="3064188"/>
            <a:ext cx="5859835" cy="4327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43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359" y="1344778"/>
            <a:ext cx="225081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735740" algn="l"/>
              </a:tabLst>
            </a:pPr>
            <a:r>
              <a:rPr sz="3200" spc="-6" dirty="0">
                <a:latin typeface="Arial"/>
                <a:cs typeface="Arial"/>
              </a:rPr>
              <a:t>a	p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6" dirty="0">
                <a:latin typeface="Arial"/>
                <a:cs typeface="Arial"/>
              </a:rPr>
              <a:t>ó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m</a:t>
            </a:r>
            <a:r>
              <a:rPr sz="3200" spc="-6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348" y="1344778"/>
            <a:ext cx="62734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151">
              <a:lnSpc>
                <a:spcPts val="3638"/>
              </a:lnSpc>
              <a:tabLst>
                <a:tab pos="1952319" algn="l"/>
                <a:tab pos="4544066" algn="l"/>
              </a:tabLst>
            </a:pPr>
            <a:r>
              <a:rPr sz="3200" b="1" i="1" spc="-6" dirty="0">
                <a:latin typeface="Arial"/>
                <a:cs typeface="Arial"/>
              </a:rPr>
              <a:t>Next	ins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c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ion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6" dirty="0">
                <a:latin typeface="Arial"/>
                <a:cs typeface="Arial"/>
              </a:rPr>
              <a:t>Al</a:t>
            </a:r>
            <a:r>
              <a:rPr sz="3200" b="1" dirty="0">
                <a:latin typeface="Arial"/>
                <a:cs typeface="Arial"/>
              </a:rPr>
              <a:t>t-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spc="6" dirty="0">
                <a:latin typeface="Arial"/>
                <a:cs typeface="Arial"/>
              </a:rPr>
              <a:t>7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dirty="0">
                <a:latin typeface="Arial"/>
                <a:cs typeface="Arial"/>
              </a:rPr>
              <a:t>instrução 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executada.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349" y="2856497"/>
            <a:ext cx="9006962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562668">
              <a:lnSpc>
                <a:spcPts val="3444"/>
              </a:lnSpc>
            </a:pPr>
            <a:r>
              <a:rPr sz="3200" b="1" i="1" spc="-6" dirty="0">
                <a:latin typeface="Arial"/>
                <a:cs typeface="Arial"/>
              </a:rPr>
              <a:t>Next line </a:t>
            </a:r>
            <a:r>
              <a:rPr sz="3200" b="1" dirty="0">
                <a:latin typeface="Arial"/>
                <a:cs typeface="Arial"/>
              </a:rPr>
              <a:t>(F7):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desviada para  </a:t>
            </a:r>
            <a:r>
              <a:rPr sz="3200" spc="-6" dirty="0">
                <a:latin typeface="Arial"/>
                <a:cs typeface="Arial"/>
              </a:rPr>
              <a:t>a próxima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linha.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/>
              <a:cs typeface="Times New Roman"/>
            </a:endParaRPr>
          </a:p>
          <a:p>
            <a:pPr marL="14483" marR="8690" indent="562668">
              <a:lnSpc>
                <a:spcPts val="3444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Run </a:t>
            </a:r>
            <a:r>
              <a:rPr sz="3200" b="1" i="1" spc="6" dirty="0">
                <a:latin typeface="Arial"/>
                <a:cs typeface="Arial"/>
              </a:rPr>
              <a:t>to </a:t>
            </a:r>
            <a:r>
              <a:rPr sz="3200" b="1" i="1" dirty="0">
                <a:latin typeface="Arial"/>
                <a:cs typeface="Arial"/>
              </a:rPr>
              <a:t>cursor </a:t>
            </a:r>
            <a:r>
              <a:rPr sz="3200" b="1" dirty="0">
                <a:latin typeface="Arial"/>
                <a:cs typeface="Arial"/>
              </a:rPr>
              <a:t>(F4):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desviada 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linha na </a:t>
            </a:r>
            <a:r>
              <a:rPr sz="3200" dirty="0">
                <a:latin typeface="Arial"/>
                <a:cs typeface="Arial"/>
              </a:rPr>
              <a:t>qual se encontra 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spc="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cursor.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92" y="5718592"/>
            <a:ext cx="435978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3357178" algn="l"/>
              </a:tabLst>
            </a:pPr>
            <a:r>
              <a:rPr sz="3200" b="1" i="1" spc="-6" dirty="0">
                <a:latin typeface="Arial"/>
                <a:cs typeface="Arial"/>
              </a:rPr>
              <a:t>Sta</a:t>
            </a:r>
            <a:r>
              <a:rPr sz="3200" b="1" i="1" dirty="0">
                <a:latin typeface="Arial"/>
                <a:cs typeface="Arial"/>
              </a:rPr>
              <a:t>r</a:t>
            </a:r>
            <a:r>
              <a:rPr sz="3200" b="1" i="1" spc="-6" dirty="0">
                <a:latin typeface="Arial"/>
                <a:cs typeface="Arial"/>
              </a:rPr>
              <a:t>t/Cont</a:t>
            </a:r>
            <a:r>
              <a:rPr sz="3200" b="1" i="1" spc="6" dirty="0">
                <a:latin typeface="Arial"/>
                <a:cs typeface="Arial"/>
              </a:rPr>
              <a:t>i</a:t>
            </a:r>
            <a:r>
              <a:rPr sz="3200" b="1" i="1" spc="-6" dirty="0">
                <a:latin typeface="Arial"/>
                <a:cs typeface="Arial"/>
              </a:rPr>
              <a:t>n</a:t>
            </a:r>
            <a:r>
              <a:rPr sz="3200" b="1" i="1" spc="-17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e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dirty="0">
                <a:latin typeface="Arial"/>
                <a:cs typeface="Arial"/>
              </a:rPr>
              <a:t>8)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49" y="6141700"/>
            <a:ext cx="62712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2188393" algn="l"/>
                <a:tab pos="2688060" algn="l"/>
                <a:tab pos="4336958" algn="l"/>
                <a:tab pos="578526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gin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7" dirty="0">
                <a:latin typeface="Arial"/>
                <a:cs typeface="Arial"/>
              </a:rPr>
              <a:t>i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(</a:t>
            </a:r>
            <a:r>
              <a:rPr sz="3200" i="1" spc="-6" dirty="0">
                <a:latin typeface="Arial"/>
                <a:cs typeface="Arial"/>
              </a:rPr>
              <a:t>s</a:t>
            </a:r>
            <a:r>
              <a:rPr sz="3200" i="1" dirty="0">
                <a:latin typeface="Arial"/>
                <a:cs typeface="Arial"/>
              </a:rPr>
              <a:t>t</a:t>
            </a:r>
            <a:r>
              <a:rPr sz="3200" i="1" spc="-6" dirty="0">
                <a:latin typeface="Arial"/>
                <a:cs typeface="Arial"/>
              </a:rPr>
              <a:t>a</a:t>
            </a:r>
            <a:r>
              <a:rPr sz="3200" i="1" dirty="0">
                <a:latin typeface="Arial"/>
                <a:cs typeface="Arial"/>
              </a:rPr>
              <a:t>rt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6" dirty="0">
                <a:latin typeface="Arial"/>
                <a:cs typeface="Arial"/>
              </a:rPr>
              <a:t>.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4151" y="5718592"/>
            <a:ext cx="353773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638"/>
              </a:lnSpc>
              <a:tabLst>
                <a:tab pos="787155" algn="l"/>
                <a:tab pos="2982790" algn="l"/>
              </a:tabLst>
            </a:pPr>
            <a:r>
              <a:rPr sz="3200" spc="-6" dirty="0">
                <a:latin typeface="Arial"/>
                <a:cs typeface="Arial"/>
              </a:rPr>
              <a:t>o	pro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6" dirty="0">
                <a:latin typeface="Arial"/>
                <a:cs typeface="Arial"/>
              </a:rPr>
              <a:t>so</a:t>
            </a:r>
            <a:r>
              <a:rPr sz="3200" dirty="0">
                <a:latin typeface="Arial"/>
                <a:cs typeface="Arial"/>
              </a:rPr>
              <a:t>	de</a:t>
            </a:r>
            <a:endParaRPr sz="3200">
              <a:latin typeface="Arial"/>
              <a:cs typeface="Arial"/>
            </a:endParaRPr>
          </a:p>
          <a:p>
            <a:pPr marL="1036264">
              <a:lnSpc>
                <a:spcPts val="3638"/>
              </a:lnSpc>
              <a:tabLst>
                <a:tab pos="320872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</a:t>
            </a:r>
            <a:r>
              <a:rPr sz="3200" i="1" spc="-6" dirty="0">
                <a:latin typeface="Arial"/>
                <a:cs typeface="Arial"/>
              </a:rPr>
              <a:t>i</a:t>
            </a:r>
            <a:r>
              <a:rPr sz="3200" i="1" dirty="0">
                <a:latin typeface="Arial"/>
                <a:cs typeface="Arial"/>
              </a:rPr>
              <a:t>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349" y="6565200"/>
            <a:ext cx="68890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</a:t>
            </a:r>
            <a:r>
              <a:rPr sz="3200" spc="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</a:t>
            </a:r>
            <a:r>
              <a:rPr sz="3200" i="1" dirty="0">
                <a:latin typeface="Arial"/>
                <a:cs typeface="Arial"/>
              </a:rPr>
              <a:t>continue</a:t>
            </a:r>
            <a:r>
              <a:rPr sz="320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88330" y="1345336"/>
            <a:ext cx="590543" cy="476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056" y="2826131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575" y="4333695"/>
            <a:ext cx="406052" cy="346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4" y="5761803"/>
            <a:ext cx="349169" cy="3669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139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454346"/>
            <a:ext cx="9008446" cy="4931562"/>
          </a:xfrm>
          <a:prstGeom prst="rect">
            <a:avLst/>
          </a:prstGeom>
        </p:spPr>
        <p:txBody>
          <a:bodyPr vert="horz" wrap="square" lIns="0" tIns="54312" rIns="0" bIns="0" rtlCol="0">
            <a:spAutoFit/>
          </a:bodyPr>
          <a:lstStyle/>
          <a:p>
            <a:pPr marL="14483" marR="6517" indent="562668" algn="just">
              <a:lnSpc>
                <a:spcPts val="3455"/>
              </a:lnSpc>
              <a:spcBef>
                <a:spcPts val="428"/>
              </a:spcBef>
            </a:pPr>
            <a:r>
              <a:rPr sz="3200" b="1" i="1" spc="-6" dirty="0">
                <a:latin typeface="Arial"/>
                <a:cs typeface="Arial"/>
              </a:rPr>
              <a:t>Step into </a:t>
            </a:r>
            <a:r>
              <a:rPr sz="3200" b="1" dirty="0">
                <a:latin typeface="Arial"/>
                <a:cs typeface="Arial"/>
              </a:rPr>
              <a:t>(Shitf-F7):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6" dirty="0">
                <a:latin typeface="Arial"/>
                <a:cs typeface="Arial"/>
              </a:rPr>
              <a:t>a instrução a </a:t>
            </a:r>
            <a:r>
              <a:rPr sz="3200" dirty="0">
                <a:latin typeface="Arial"/>
                <a:cs typeface="Arial"/>
              </a:rPr>
              <a:t>ser  executada </a:t>
            </a:r>
            <a:r>
              <a:rPr sz="3200" spc="-6" dirty="0">
                <a:latin typeface="Arial"/>
                <a:cs typeface="Arial"/>
              </a:rPr>
              <a:t>for uma </a:t>
            </a:r>
            <a:r>
              <a:rPr sz="3200" dirty="0">
                <a:latin typeface="Arial"/>
                <a:cs typeface="Arial"/>
              </a:rPr>
              <a:t>chamada de função, </a:t>
            </a:r>
            <a:r>
              <a:rPr sz="3200" spc="-6" dirty="0">
                <a:latin typeface="Arial"/>
                <a:cs typeface="Arial"/>
              </a:rPr>
              <a:t>a  execução é </a:t>
            </a:r>
            <a:r>
              <a:rPr sz="3200" dirty="0">
                <a:latin typeface="Arial"/>
                <a:cs typeface="Arial"/>
              </a:rPr>
              <a:t>desviada </a:t>
            </a:r>
            <a:r>
              <a:rPr sz="3200" spc="-6" dirty="0">
                <a:latin typeface="Arial"/>
                <a:cs typeface="Arial"/>
              </a:rPr>
              <a:t>para 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300">
              <a:latin typeface="Times New Roman"/>
              <a:cs typeface="Times New Roman"/>
            </a:endParaRPr>
          </a:p>
          <a:p>
            <a:pPr marL="14483" marR="6517" indent="562668" algn="just">
              <a:lnSpc>
                <a:spcPct val="90000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Step out </a:t>
            </a:r>
            <a:r>
              <a:rPr sz="3200" b="1" dirty="0">
                <a:latin typeface="Arial"/>
                <a:cs typeface="Arial"/>
              </a:rPr>
              <a:t>(Ctrl-F7): </a:t>
            </a:r>
            <a:r>
              <a:rPr sz="3200" spc="-6" dirty="0">
                <a:latin typeface="Arial"/>
                <a:cs typeface="Arial"/>
              </a:rPr>
              <a:t>a função em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interrompida.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retorna </a:t>
            </a:r>
            <a:r>
              <a:rPr sz="3200" spc="-6" dirty="0">
                <a:latin typeface="Arial"/>
                <a:cs typeface="Arial"/>
              </a:rPr>
              <a:t>para a </a:t>
            </a:r>
            <a:r>
              <a:rPr sz="3200" dirty="0">
                <a:latin typeface="Arial"/>
                <a:cs typeface="Arial"/>
              </a:rPr>
              <a:t>instrução  </a:t>
            </a:r>
            <a:r>
              <a:rPr sz="3200" spc="-6" dirty="0">
                <a:latin typeface="Arial"/>
                <a:cs typeface="Arial"/>
              </a:rPr>
              <a:t>seguinte à chamada da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000">
              <a:latin typeface="Times New Roman"/>
              <a:cs typeface="Times New Roman"/>
            </a:endParaRPr>
          </a:p>
          <a:p>
            <a:pPr marL="577151">
              <a:lnSpc>
                <a:spcPts val="3638"/>
              </a:lnSpc>
              <a:spcBef>
                <a:spcPts val="6"/>
              </a:spcBef>
              <a:tabLst>
                <a:tab pos="1698865" algn="l"/>
                <a:tab pos="3772118" algn="l"/>
                <a:tab pos="5910545" algn="l"/>
                <a:tab pos="6447143" algn="l"/>
                <a:tab pos="8317632" algn="l"/>
              </a:tabLst>
            </a:pPr>
            <a:r>
              <a:rPr sz="3200" b="1" i="1" spc="-6" dirty="0">
                <a:latin typeface="Arial"/>
                <a:cs typeface="Arial"/>
              </a:rPr>
              <a:t>Stop	d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bugg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spc="-6" dirty="0">
                <a:latin typeface="Arial"/>
                <a:cs typeface="Arial"/>
              </a:rPr>
              <a:t>(Shif</a:t>
            </a:r>
            <a:r>
              <a:rPr sz="3200" b="1" dirty="0">
                <a:latin typeface="Arial"/>
                <a:cs typeface="Arial"/>
              </a:rPr>
              <a:t>t</a:t>
            </a:r>
            <a:r>
              <a:rPr sz="3200" b="1" spc="-6" dirty="0">
                <a:latin typeface="Arial"/>
                <a:cs typeface="Arial"/>
              </a:rPr>
              <a:t>-</a:t>
            </a:r>
            <a:r>
              <a:rPr sz="3200" b="1" spc="-17" dirty="0">
                <a:latin typeface="Arial"/>
                <a:cs typeface="Arial"/>
              </a:rPr>
              <a:t>F</a:t>
            </a:r>
            <a:r>
              <a:rPr sz="3200" b="1" spc="-6" dirty="0">
                <a:latin typeface="Arial"/>
                <a:cs typeface="Arial"/>
              </a:rPr>
              <a:t>8):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processo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i="1" spc="-6" dirty="0">
                <a:latin typeface="Arial"/>
                <a:cs typeface="Arial"/>
              </a:rPr>
              <a:t>debugging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finalizado.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5179" y="1556611"/>
            <a:ext cx="479227" cy="409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180" y="3394171"/>
            <a:ext cx="491316" cy="40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1316" y="5285814"/>
            <a:ext cx="413091" cy="427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19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8446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 seguir, o algoritmo </a:t>
            </a:r>
            <a:r>
              <a:rPr sz="3200" dirty="0">
                <a:latin typeface="Arial"/>
                <a:cs typeface="Arial"/>
              </a:rPr>
              <a:t>descrito anteriormente  </a:t>
            </a:r>
            <a:r>
              <a:rPr sz="3200" spc="-6" dirty="0">
                <a:latin typeface="Arial"/>
                <a:cs typeface="Arial"/>
              </a:rPr>
              <a:t>será </a:t>
            </a:r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 por meio do  comando </a:t>
            </a:r>
            <a:r>
              <a:rPr sz="3200" i="1" spc="-6" dirty="0">
                <a:latin typeface="Arial"/>
                <a:cs typeface="Arial"/>
              </a:rPr>
              <a:t>Next line </a:t>
            </a:r>
            <a:r>
              <a:rPr sz="3200" spc="-6" dirty="0">
                <a:latin typeface="Arial"/>
                <a:cs typeface="Arial"/>
              </a:rPr>
              <a:t>(F7)     </a:t>
            </a:r>
            <a:r>
              <a:rPr sz="3200" spc="86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2876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3075" y="2667500"/>
            <a:ext cx="7832173" cy="471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7447" y="2032698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2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2587" y="5007439"/>
            <a:ext cx="1295684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62490" y="5079788"/>
            <a:ext cx="1095331" cy="94456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6699" y="4918190"/>
            <a:ext cx="2189918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04145" marR="296903" indent="95588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Próxima </a:t>
            </a:r>
            <a:r>
              <a:rPr sz="1600" b="1" spc="-6" dirty="0">
                <a:latin typeface="Arial"/>
                <a:cs typeface="Arial"/>
              </a:rPr>
              <a:t>linha  </a:t>
            </a:r>
            <a:r>
              <a:rPr sz="1600" b="1" dirty="0">
                <a:latin typeface="Arial"/>
                <a:cs typeface="Arial"/>
              </a:rPr>
              <a:t>a ser</a:t>
            </a:r>
            <a:r>
              <a:rPr sz="1600" b="1" spc="-86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executada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23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3469" y="4382771"/>
            <a:ext cx="1620049" cy="690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960" y="4408377"/>
            <a:ext cx="1419846" cy="512163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7083" y="3875323"/>
            <a:ext cx="2189918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157141" marR="147726" indent="79657" algn="just">
              <a:spcBef>
                <a:spcPts val="354"/>
              </a:spcBef>
            </a:pPr>
            <a:r>
              <a:rPr sz="1600" b="1" spc="-17" dirty="0">
                <a:latin typeface="Arial"/>
                <a:cs typeface="Arial"/>
              </a:rPr>
              <a:t>Vetor </a:t>
            </a:r>
            <a:r>
              <a:rPr sz="1600" b="1" spc="-6" dirty="0">
                <a:latin typeface="Arial"/>
                <a:cs typeface="Arial"/>
              </a:rPr>
              <a:t>inicializado  pela </a:t>
            </a:r>
            <a:r>
              <a:rPr sz="1600" b="1" dirty="0">
                <a:latin typeface="Arial"/>
                <a:cs typeface="Arial"/>
              </a:rPr>
              <a:t>última </a:t>
            </a:r>
            <a:r>
              <a:rPr sz="1600" b="1" spc="-6" dirty="0">
                <a:latin typeface="Arial"/>
                <a:cs typeface="Arial"/>
              </a:rPr>
              <a:t>linha  executada (linha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44" y="4552371"/>
            <a:ext cx="283374" cy="755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5646" y="4590992"/>
            <a:ext cx="169312" cy="635306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186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61040" y="3523007"/>
            <a:ext cx="2573545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836" y="3595495"/>
            <a:ext cx="2371854" cy="94456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223" y="3201661"/>
            <a:ext cx="2209227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75969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execução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38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859" y="4854631"/>
            <a:ext cx="157356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latin typeface="Arial"/>
                <a:cs typeface="Arial"/>
              </a:rPr>
              <a:t>Breakpoints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48453" y="3826948"/>
            <a:ext cx="2721470" cy="1064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8806" y="3926441"/>
            <a:ext cx="2531514" cy="896983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54" y="4263544"/>
            <a:ext cx="1796490" cy="831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806" y="4367516"/>
            <a:ext cx="1606238" cy="659095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8454" y="4543976"/>
            <a:ext cx="1709161" cy="552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8805" y="4633393"/>
            <a:ext cx="1519354" cy="393918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48453" y="4779065"/>
            <a:ext cx="1791145" cy="31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8806" y="4854072"/>
            <a:ext cx="1601782" cy="17352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34000" y="5177041"/>
            <a:ext cx="2548594" cy="5793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3016" y="5202790"/>
            <a:ext cx="2360715" cy="427502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8453" y="3549874"/>
            <a:ext cx="2639488" cy="1341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8805" y="3659305"/>
            <a:ext cx="2449086" cy="1162861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0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826790" y="2465099"/>
            <a:ext cx="1889166" cy="60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8278" y="2490846"/>
            <a:ext cx="1688666" cy="437997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62490" y="2336442"/>
            <a:ext cx="49687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40352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Variáveis </a:t>
            </a: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6" dirty="0">
                <a:latin typeface="Arial"/>
                <a:cs typeface="Arial"/>
              </a:rPr>
              <a:t>vetor contendo </a:t>
            </a:r>
            <a:r>
              <a:rPr sz="1600" b="1" dirty="0">
                <a:latin typeface="Arial"/>
                <a:cs typeface="Arial"/>
              </a:rPr>
              <a:t>lixo </a:t>
            </a:r>
            <a:r>
              <a:rPr sz="1600" b="1" spc="-6" dirty="0">
                <a:latin typeface="Arial"/>
                <a:cs typeface="Arial"/>
              </a:rPr>
              <a:t>de</a:t>
            </a:r>
            <a:r>
              <a:rPr sz="1600" b="1" spc="-177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memória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2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0895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912336" y="3024278"/>
            <a:ext cx="1532719" cy="680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3677" y="3049467"/>
            <a:ext cx="1332219" cy="501668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4773" y="2725042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36074">
              <a:spcBef>
                <a:spcPts val="348"/>
              </a:spcBef>
            </a:pPr>
            <a:r>
              <a:rPr sz="1600" b="1" spc="-17" dirty="0">
                <a:latin typeface="Arial"/>
                <a:cs typeface="Arial"/>
              </a:rPr>
              <a:t>Vetor</a:t>
            </a:r>
            <a:r>
              <a:rPr sz="1600" b="1" spc="-103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0451" y="3025959"/>
            <a:ext cx="285156" cy="1113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0947" y="3064161"/>
            <a:ext cx="169312" cy="99214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7847" y="3751382"/>
            <a:ext cx="6241381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83543" y="377825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2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66" y="2623029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12968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4226603"/>
            <a:ext cx="6241381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4254309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66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373557"/>
            <a:ext cx="898246" cy="806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97765"/>
            <a:ext cx="698041" cy="618514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029316"/>
            <a:ext cx="891115" cy="367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5" y="3126432"/>
            <a:ext cx="690615" cy="202206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3002266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84659" marR="174521" algn="ctr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</a:t>
            </a:r>
            <a:r>
              <a:rPr sz="1600" b="1" dirty="0">
                <a:latin typeface="Arial"/>
                <a:cs typeface="Arial"/>
              </a:rPr>
              <a:t>primeiro 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73448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9897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6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182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02032" y="3529726"/>
            <a:ext cx="1345586" cy="621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036" y="3554493"/>
            <a:ext cx="1146570" cy="44289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1146"/>
            <a:ext cx="1343804" cy="392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0705"/>
            <a:ext cx="1143600" cy="235091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221" y="3265472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6422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9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283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46782" y="3321502"/>
            <a:ext cx="1432916" cy="873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7086" y="3346409"/>
            <a:ext cx="1233454" cy="684283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2826"/>
            <a:ext cx="1343804" cy="391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2103"/>
            <a:ext cx="1143600" cy="233692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82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426"/>
            <a:ext cx="9728321" cy="621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12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688" y="1093775"/>
            <a:ext cx="9702923" cy="6229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276161"/>
            <a:ext cx="898246" cy="745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741" y="3301070"/>
            <a:ext cx="697299" cy="556941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193881"/>
            <a:ext cx="889334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0" y="3252234"/>
            <a:ext cx="687645" cy="101453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2906131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84659" marR="174521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segundo </a:t>
            </a:r>
            <a:r>
              <a:rPr sz="1600" b="1" dirty="0">
                <a:latin typeface="Arial"/>
                <a:cs typeface="Arial"/>
              </a:rPr>
              <a:t>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42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3" y="1093804"/>
            <a:ext cx="9702923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3024" y="3319823"/>
            <a:ext cx="1334893" cy="62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4067" y="3345431"/>
            <a:ext cx="1133945" cy="442195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3024" y="3145182"/>
            <a:ext cx="1329546" cy="298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4068" y="3226765"/>
            <a:ext cx="1129490" cy="149031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8707" y="3170876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7146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4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8" y="3321502"/>
            <a:ext cx="1347368" cy="700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45710"/>
            <a:ext cx="1147313" cy="515661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200598"/>
            <a:ext cx="1342022" cy="285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277423"/>
            <a:ext cx="1140629" cy="98654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495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093804"/>
            <a:ext cx="9722825" cy="623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20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732776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475989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00898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41652"/>
            <a:ext cx="1014091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20576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4142" y="3109597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09347" marR="101382" indent="724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 do  </a:t>
            </a:r>
            <a:r>
              <a:rPr sz="1600" b="1" dirty="0">
                <a:latin typeface="Arial"/>
                <a:cs typeface="Arial"/>
              </a:rPr>
              <a:t>terceiro elemento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com 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antepenúltimo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051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32776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116458"/>
            <a:ext cx="9732776" cy="6272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0548" y="3475990"/>
            <a:ext cx="1017655" cy="37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1741" y="3501178"/>
            <a:ext cx="816114" cy="210602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547" y="3397065"/>
            <a:ext cx="1014091" cy="2837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81740" y="3469273"/>
            <a:ext cx="812401" cy="94456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8349" y="3347054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67146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959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47330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511253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35462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75236"/>
            <a:ext cx="1014091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55140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3696" y="3381478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94007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21216"/>
            <a:ext cx="9747330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532481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535126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60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16"/>
            <a:ext cx="9776738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4022" y="5563262"/>
            <a:ext cx="1933722" cy="322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3627" y="5588031"/>
            <a:ext cx="1733222" cy="174919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180" y="5027199"/>
            <a:ext cx="2599833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39628" marR="330214" indent="156417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366" y="2622973"/>
            <a:ext cx="2189918" cy="537047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530081" marR="104278" indent="-417113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 </a:t>
            </a:r>
            <a:r>
              <a:rPr sz="1600" b="1" spc="-6" dirty="0">
                <a:latin typeface="Arial"/>
                <a:cs typeface="Arial"/>
              </a:rPr>
              <a:t>inicializada  novamente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40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7"/>
            <a:ext cx="9776738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74575" y="5338248"/>
            <a:ext cx="6342968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9824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3230" y="6194650"/>
            <a:ext cx="3516346" cy="921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687" y="6220329"/>
            <a:ext cx="3316439" cy="757049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752" y="5659174"/>
            <a:ext cx="2599833" cy="53851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5622" rIns="0" bIns="0" rtlCol="0">
            <a:spAutoFit/>
          </a:bodyPr>
          <a:lstStyle/>
          <a:p>
            <a:pPr marL="339628" marR="330214" indent="156417">
              <a:spcBef>
                <a:spcPts val="359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40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169"/>
            <a:ext cx="9776738" cy="633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71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9"/>
            <a:ext cx="9791293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372" y="1136422"/>
            <a:ext cx="9767677" cy="632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6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951" y="1136462"/>
            <a:ext cx="975817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308" y="1136442"/>
            <a:ext cx="9787283" cy="206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308" y="1136442"/>
            <a:ext cx="9787283" cy="374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4594" y="6621047"/>
            <a:ext cx="1161644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572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6462"/>
            <a:ext cx="978728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08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8561"/>
            <a:ext cx="9798570" cy="6328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717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66"/>
            <a:ext cx="9798570" cy="6350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101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6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04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50"/>
            <a:ext cx="9798570" cy="6347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78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4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96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5"/>
            <a:ext cx="9783718" cy="633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6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0986"/>
            <a:ext cx="9783718" cy="6321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813468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84117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0"/>
            <a:ext cx="9783718" cy="6396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512948" y="5828579"/>
            <a:ext cx="1552324" cy="55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446" y="5853908"/>
            <a:ext cx="1352270" cy="382023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7226" y="5654711"/>
            <a:ext cx="1010675" cy="39781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3449" rIns="0" bIns="0" rtlCol="0">
            <a:spAutoFit/>
          </a:bodyPr>
          <a:lstStyle/>
          <a:p>
            <a:pPr marL="241867">
              <a:spcBef>
                <a:spcPts val="342"/>
              </a:spcBef>
            </a:pPr>
            <a:r>
              <a:rPr sz="2300" b="1" dirty="0">
                <a:latin typeface="Arial"/>
                <a:cs typeface="Arial"/>
              </a:rPr>
              <a:t>FIM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390" y="6333558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318" y="6068708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5120" y="609552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4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0" y="1339850"/>
            <a:ext cx="8686800" cy="3993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pt-BR" b="0" dirty="0"/>
          </a:p>
          <a:p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Para maiores informações sobre 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debugger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 do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Code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::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Blocks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, acesse o endereço abaixo: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u="sng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pt-BR" sz="3200" u="sng" dirty="0">
                <a:solidFill>
                  <a:schemeClr val="accent1"/>
                </a:solidFill>
                <a:latin typeface="Arial"/>
                <a:cs typeface="Arial"/>
              </a:rPr>
              <a:t>http://wiki.codeblocks.org/index.php/Debugging_with_Code::Blocks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8537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707413" y="2615806"/>
            <a:ext cx="7278573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/>
              <a:t>Dados</a:t>
            </a:r>
            <a:r>
              <a:rPr spc="5" dirty="0"/>
              <a:t> </a:t>
            </a:r>
            <a:r>
              <a:rPr spc="15" dirty="0" err="1" smtClean="0"/>
              <a:t>Básicas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9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9754026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L</a:t>
            </a:r>
            <a:r>
              <a:rPr sz="2050" spc="5" dirty="0" err="1">
                <a:latin typeface="Arial"/>
                <a:cs typeface="Arial"/>
              </a:rPr>
              <a:t>is</a:t>
            </a:r>
            <a:r>
              <a:rPr sz="2050" spc="-5" dirty="0" err="1">
                <a:latin typeface="Arial"/>
                <a:cs typeface="Arial"/>
              </a:rPr>
              <a:t>t</a:t>
            </a:r>
            <a:r>
              <a:rPr sz="2050" dirty="0" err="1">
                <a:latin typeface="Arial"/>
                <a:cs typeface="Arial"/>
              </a:rPr>
              <a:t>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 smtClean="0">
                <a:latin typeface="Arial"/>
                <a:cs typeface="Arial"/>
              </a:rPr>
              <a:t>com alocação estática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L</a:t>
            </a:r>
            <a:r>
              <a:rPr sz="2050" spc="5" dirty="0" err="1">
                <a:latin typeface="Arial"/>
                <a:cs typeface="Arial"/>
              </a:rPr>
              <a:t>is</a:t>
            </a:r>
            <a:r>
              <a:rPr sz="2050" spc="-5" dirty="0" err="1">
                <a:latin typeface="Arial"/>
                <a:cs typeface="Arial"/>
              </a:rPr>
              <a:t>t</a:t>
            </a:r>
            <a:r>
              <a:rPr sz="2050" dirty="0" err="1">
                <a:latin typeface="Arial"/>
                <a:cs typeface="Arial"/>
              </a:rPr>
              <a:t>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</a:t>
            </a:r>
            <a:r>
              <a:rPr lang="pt-BR" sz="2050" dirty="0" smtClean="0">
                <a:latin typeface="Arial"/>
                <a:cs typeface="Arial"/>
              </a:rPr>
              <a:t>dinâmica</a:t>
            </a:r>
            <a:endParaRPr sz="205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 err="1">
                <a:latin typeface="Arial"/>
                <a:cs typeface="Arial"/>
              </a:rPr>
              <a:t>Pil</a:t>
            </a:r>
            <a:r>
              <a:rPr sz="2050" dirty="0" err="1">
                <a:latin typeface="Arial"/>
                <a:cs typeface="Arial"/>
              </a:rPr>
              <a:t>ha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estática </a:t>
            </a:r>
            <a:r>
              <a:rPr sz="2050" spc="-5" dirty="0" err="1" smtClean="0">
                <a:latin typeface="Arial"/>
                <a:cs typeface="Arial"/>
              </a:rPr>
              <a:t>I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ple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en</a:t>
            </a:r>
            <a:r>
              <a:rPr sz="2050" spc="-5" dirty="0" err="1" smtClean="0">
                <a:latin typeface="Arial"/>
                <a:cs typeface="Arial"/>
              </a:rPr>
              <a:t>t</a:t>
            </a:r>
            <a:r>
              <a:rPr sz="2050" dirty="0" err="1" smtClean="0">
                <a:latin typeface="Arial"/>
                <a:cs typeface="Arial"/>
              </a:rPr>
              <a:t>a</a:t>
            </a:r>
            <a:r>
              <a:rPr sz="2050" spc="5" dirty="0" err="1" smtClean="0">
                <a:latin typeface="Arial"/>
                <a:cs typeface="Arial"/>
              </a:rPr>
              <a:t>ç</a:t>
            </a:r>
            <a:r>
              <a:rPr sz="2050" dirty="0" err="1" smtClean="0">
                <a:latin typeface="Arial"/>
                <a:cs typeface="Arial"/>
              </a:rPr>
              <a:t>ã</a:t>
            </a:r>
            <a:r>
              <a:rPr sz="2050" spc="5" dirty="0" err="1" smtClean="0">
                <a:latin typeface="Arial"/>
                <a:cs typeface="Arial"/>
              </a:rPr>
              <a:t>o</a:t>
            </a:r>
            <a:r>
              <a:rPr sz="2050" spc="5" dirty="0" smtClean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 err="1">
                <a:latin typeface="Arial"/>
                <a:cs typeface="Arial"/>
              </a:rPr>
              <a:t>Pil</a:t>
            </a:r>
            <a:r>
              <a:rPr sz="2050" dirty="0" err="1">
                <a:latin typeface="Arial"/>
                <a:cs typeface="Arial"/>
              </a:rPr>
              <a:t>ha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dinâmica</a:t>
            </a:r>
            <a:endParaRPr sz="2050" dirty="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 dirty="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Fila</a:t>
            </a:r>
            <a:r>
              <a:rPr sz="2050" spc="5" dirty="0" err="1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estática</a:t>
            </a:r>
            <a:endParaRPr sz="2050" dirty="0" smtClean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 err="1" smtClean="0">
                <a:latin typeface="Arial"/>
                <a:cs typeface="Arial"/>
              </a:rPr>
              <a:t>I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ple</a:t>
            </a:r>
            <a:r>
              <a:rPr sz="2050" spc="10" dirty="0" err="1" smtClean="0">
                <a:latin typeface="Arial"/>
                <a:cs typeface="Arial"/>
              </a:rPr>
              <a:t>m</a:t>
            </a:r>
            <a:r>
              <a:rPr sz="2050" dirty="0" err="1" smtClean="0">
                <a:latin typeface="Arial"/>
                <a:cs typeface="Arial"/>
              </a:rPr>
              <a:t>en</a:t>
            </a:r>
            <a:r>
              <a:rPr sz="2050" spc="-5" dirty="0" err="1" smtClean="0">
                <a:latin typeface="Arial"/>
                <a:cs typeface="Arial"/>
              </a:rPr>
              <a:t>t</a:t>
            </a:r>
            <a:r>
              <a:rPr sz="2050" dirty="0" err="1" smtClean="0">
                <a:latin typeface="Arial"/>
                <a:cs typeface="Arial"/>
              </a:rPr>
              <a:t>a</a:t>
            </a:r>
            <a:r>
              <a:rPr sz="2050" spc="5" dirty="0" err="1" smtClean="0">
                <a:latin typeface="Arial"/>
                <a:cs typeface="Arial"/>
              </a:rPr>
              <a:t>ç</a:t>
            </a:r>
            <a:r>
              <a:rPr sz="2050" dirty="0" err="1" smtClean="0">
                <a:latin typeface="Arial"/>
                <a:cs typeface="Arial"/>
              </a:rPr>
              <a:t>ã</a:t>
            </a:r>
            <a:r>
              <a:rPr sz="2050" spc="5" dirty="0" err="1" smtClean="0">
                <a:latin typeface="Arial"/>
                <a:cs typeface="Arial"/>
              </a:rPr>
              <a:t>o</a:t>
            </a:r>
            <a:r>
              <a:rPr sz="2050" spc="5" dirty="0" smtClean="0">
                <a:latin typeface="Arial"/>
                <a:cs typeface="Arial"/>
              </a:rPr>
              <a:t> </a:t>
            </a:r>
            <a:r>
              <a:rPr sz="2050" dirty="0" smtClean="0">
                <a:latin typeface="Arial"/>
                <a:cs typeface="Arial"/>
              </a:rPr>
              <a:t>d</a:t>
            </a:r>
            <a:r>
              <a:rPr sz="2050" spc="5" dirty="0" smtClean="0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sz="2050" dirty="0" err="1" smtClean="0">
                <a:latin typeface="Arial"/>
                <a:cs typeface="Arial"/>
              </a:rPr>
              <a:t>Fila</a:t>
            </a:r>
            <a:r>
              <a:rPr sz="2050" spc="5" dirty="0" err="1" smtClean="0">
                <a:latin typeface="Arial"/>
                <a:cs typeface="Arial"/>
              </a:rPr>
              <a:t>s</a:t>
            </a:r>
            <a:r>
              <a:rPr sz="2050" dirty="0" smtClean="0">
                <a:latin typeface="Arial"/>
                <a:cs typeface="Arial"/>
              </a:rPr>
              <a:t> </a:t>
            </a:r>
            <a:r>
              <a:rPr lang="pt-BR" sz="2050" dirty="0">
                <a:latin typeface="Arial"/>
                <a:cs typeface="Arial"/>
              </a:rPr>
              <a:t>com alocação dinâmica</a:t>
            </a:r>
            <a:endParaRPr sz="20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724900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b="1" spc="5" dirty="0">
              <a:solidFill>
                <a:srgbClr val="007F7A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73833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 err="1" smtClean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</a:p>
          <a:p>
            <a:pPr marL="12700"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25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 err="1" smtClean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err="1" smtClean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pt-BR" sz="1700" b="1" spc="-25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190" dirty="0" smtClean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8530411" cy="6103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/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estática</a:t>
            </a:r>
          </a:p>
          <a:p>
            <a:pPr marL="16510">
              <a:lnSpc>
                <a:spcPct val="100000"/>
              </a:lnSpc>
            </a:pP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70" dirty="0" smtClean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 err="1">
                <a:latin typeface="Arial"/>
                <a:cs typeface="Arial"/>
              </a:rPr>
              <a:t>TipoList</a:t>
            </a:r>
            <a:r>
              <a:rPr sz="1700" spc="10" dirty="0" err="1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 smtClean="0">
                <a:latin typeface="Lucida Sans Unicode"/>
                <a:cs typeface="Lucida Sans Unicode"/>
              </a:rPr>
              <a:t>∗</a:t>
            </a:r>
            <a:r>
              <a:rPr lang="pt-BR" sz="1700" spc="-300" dirty="0" smtClean="0">
                <a:latin typeface="Lucida Sans Unicode"/>
                <a:cs typeface="Lucida Sans Unicode"/>
              </a:rPr>
              <a:t> 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 err="1">
                <a:latin typeface="Arial"/>
                <a:cs typeface="Arial"/>
              </a:rPr>
              <a:t>TipoIte</a:t>
            </a:r>
            <a:r>
              <a:rPr sz="1700" spc="15" dirty="0" err="1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 smtClean="0">
                <a:latin typeface="Lucida Sans Unicode"/>
                <a:cs typeface="Lucida Sans Unicode"/>
              </a:rPr>
              <a:t>∗</a:t>
            </a:r>
            <a:r>
              <a:rPr lang="pt-BR" sz="1700" spc="-375" dirty="0" smtClean="0">
                <a:latin typeface="Lucida Sans Unicode"/>
                <a:cs typeface="Lucida Sans Unicode"/>
              </a:rPr>
              <a:t> </a:t>
            </a:r>
            <a:r>
              <a:rPr sz="1700" spc="10" dirty="0" smtClean="0">
                <a:latin typeface="Arial"/>
                <a:cs typeface="Arial"/>
              </a:rPr>
              <a:t>Ite</a:t>
            </a:r>
            <a:r>
              <a:rPr sz="1700" spc="150" dirty="0" smtClean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 smtClean="0">
                <a:latin typeface="Lucida Sans Unicode"/>
                <a:cs typeface="Lucida Sans Unicode"/>
              </a:rPr>
              <a:t>∗</a:t>
            </a:r>
            <a:r>
              <a:rPr lang="pt-BR" sz="1700" spc="-315" dirty="0" smtClean="0">
                <a:latin typeface="Lucida Sans Unicode"/>
                <a:cs typeface="Lucida Sans Unicode"/>
              </a:rPr>
              <a:t> </a:t>
            </a:r>
            <a:r>
              <a:rPr sz="1700" spc="100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8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 smtClean="0">
                <a:latin typeface="Lucida Sans Unicode"/>
                <a:cs typeface="Lucida Sans Unicode"/>
              </a:rPr>
              <a:t>∗</a:t>
            </a:r>
            <a:r>
              <a:rPr lang="pt-BR" sz="1700" spc="-500" dirty="0" smtClean="0">
                <a:latin typeface="Lucida Sans Unicode"/>
                <a:cs typeface="Lucida Sans Unicode"/>
              </a:rPr>
              <a:t>                          </a:t>
            </a:r>
            <a:r>
              <a:rPr sz="1700" spc="10" dirty="0" smtClean="0">
                <a:latin typeface="Arial"/>
                <a:cs typeface="Arial"/>
              </a:rPr>
              <a:t>Ite</a:t>
            </a:r>
            <a:r>
              <a:rPr sz="1700" spc="15" dirty="0" smtClean="0">
                <a:latin typeface="Arial"/>
                <a:cs typeface="Arial"/>
              </a:rPr>
              <a:t>m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80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100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130" dirty="0" smtClean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 smtClean="0">
                <a:latin typeface="Arial"/>
                <a:cs typeface="Arial"/>
              </a:rPr>
              <a:t>Ultim</a:t>
            </a:r>
            <a:r>
              <a:rPr sz="1700" spc="-75" dirty="0" smtClean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 smtClean="0">
                <a:latin typeface="Arial"/>
                <a:cs typeface="Arial"/>
              </a:rPr>
              <a:t>Au</a:t>
            </a:r>
            <a:r>
              <a:rPr sz="1700" spc="-114" dirty="0" smtClean="0">
                <a:latin typeface="Arial"/>
                <a:cs typeface="Arial"/>
              </a:rPr>
              <a:t>x</a:t>
            </a:r>
            <a:r>
              <a:rPr lang="pt-BR" sz="1700" spc="-114" dirty="0" smtClean="0">
                <a:latin typeface="Arial"/>
                <a:cs typeface="Arial"/>
              </a:rPr>
              <a:t> </a:t>
            </a:r>
            <a:r>
              <a:rPr sz="1700" spc="-5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lang="pt-BR" sz="1700" spc="5" dirty="0" smtClean="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5" dirty="0" smtClean="0">
                <a:latin typeface="Arial"/>
                <a:cs typeface="Arial"/>
              </a:rPr>
              <a:t>"</a:t>
            </a:r>
            <a:r>
              <a:rPr lang="pt-BR" sz="1700" spc="-225" dirty="0" smtClean="0">
                <a:latin typeface="Arial"/>
                <a:cs typeface="Arial"/>
              </a:rPr>
              <a:t>     </a:t>
            </a:r>
            <a:r>
              <a:rPr sz="1700" spc="-385" dirty="0" smtClean="0">
                <a:latin typeface="Arial"/>
                <a:cs typeface="Arial"/>
              </a:rPr>
              <a:t>%</a:t>
            </a:r>
            <a:r>
              <a:rPr lang="pt-BR" sz="1700" spc="-385" dirty="0" smtClean="0">
                <a:latin typeface="Arial"/>
                <a:cs typeface="Arial"/>
              </a:rPr>
              <a:t>         </a:t>
            </a:r>
            <a:r>
              <a:rPr sz="1700" spc="130" dirty="0" smtClean="0">
                <a:latin typeface="Arial"/>
                <a:cs typeface="Arial"/>
              </a:rPr>
              <a:t>d</a:t>
            </a:r>
            <a:r>
              <a:rPr lang="pt-BR" sz="1700" spc="130" dirty="0" smtClean="0">
                <a:latin typeface="Arial"/>
                <a:cs typeface="Arial"/>
              </a:rPr>
              <a:t>  </a:t>
            </a:r>
            <a:r>
              <a:rPr sz="1700" spc="130" dirty="0" smtClean="0">
                <a:latin typeface="Arial"/>
                <a:cs typeface="Arial"/>
              </a:rPr>
              <a:t>\</a:t>
            </a:r>
            <a:r>
              <a:rPr sz="1700" spc="65" dirty="0" smtClean="0">
                <a:latin typeface="Arial"/>
                <a:cs typeface="Arial"/>
              </a:rPr>
              <a:t>n</a:t>
            </a:r>
            <a:r>
              <a:rPr lang="pt-BR" sz="1700" spc="65" dirty="0" smtClean="0">
                <a:latin typeface="Arial"/>
                <a:cs typeface="Arial"/>
              </a:rPr>
              <a:t>  </a:t>
            </a:r>
            <a:r>
              <a:rPr sz="1700" spc="5" dirty="0" smtClean="0">
                <a:latin typeface="Arial"/>
                <a:cs typeface="Arial"/>
              </a:rPr>
              <a:t>"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 err="1">
                <a:latin typeface="Arial"/>
                <a:cs typeface="Arial"/>
              </a:rPr>
              <a:t>Imprim</a:t>
            </a:r>
            <a:r>
              <a:rPr sz="1700" i="1" spc="10" dirty="0" err="1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 smtClean="0">
                <a:latin typeface="Lucida Sans Unicode"/>
                <a:cs typeface="Lucida Sans Unicode"/>
              </a:rPr>
              <a:t>∗</a:t>
            </a:r>
            <a:r>
              <a:rPr lang="pt-BR" sz="1700" spc="-380" dirty="0" smtClean="0">
                <a:latin typeface="Lucida Sans Unicode"/>
                <a:cs typeface="Lucida Sans Unicode"/>
              </a:rPr>
              <a:t>   </a:t>
            </a:r>
            <a:r>
              <a:rPr sz="1700" i="1" spc="5" dirty="0" smtClean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9516974" cy="4467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estática 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76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3739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9444811" cy="6581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endParaRPr lang="pt-BR" sz="1700" spc="35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3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lang="pt-BR" sz="1700" spc="8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endParaRPr lang="pt-BR" sz="1700" spc="3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3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8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85" dirty="0" err="1" smtClean="0">
                <a:latin typeface="Arial"/>
                <a:cs typeface="Arial"/>
              </a:rPr>
              <a:t>List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7692289" cy="63150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9682074" cy="36922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5" dirty="0">
                <a:solidFill>
                  <a:srgbClr val="007F7A"/>
                </a:solidFill>
                <a:latin typeface="Arial"/>
                <a:cs typeface="Arial"/>
              </a:rPr>
              <a:t>alocação dinâmica 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 err="1" smtClean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 err="1" smtClean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err="1" smtClean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 err="1" smtClean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 err="1" smtClean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 smtClean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 dirty="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 dirty="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 dirty="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8729015" cy="2398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92883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1828390"/>
            <a:ext cx="3561765" cy="4948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8724895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7997011" cy="6497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8971397" cy="14132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dirty="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2977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estática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 err="1" smtClean="0">
                <a:latin typeface="Arial"/>
                <a:cs typeface="Arial"/>
              </a:rPr>
              <a:t>es</a:t>
            </a:r>
            <a:r>
              <a:rPr sz="1700" spc="5" dirty="0" err="1" smtClean="0">
                <a:latin typeface="Arial"/>
                <a:cs typeface="Arial"/>
              </a:rPr>
              <a:t>t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20" dirty="0" smtClean="0">
                <a:solidFill>
                  <a:srgbClr val="007F7A"/>
                </a:solidFill>
                <a:latin typeface="Arial"/>
                <a:cs typeface="Arial"/>
              </a:rPr>
              <a:t>alocação estática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125" dirty="0" smtClean="0">
                <a:latin typeface="Arial"/>
                <a:cs typeface="Arial"/>
              </a:rPr>
              <a:t>Fil</a:t>
            </a:r>
            <a:r>
              <a:rPr sz="1700" spc="10" dirty="0" smtClean="0">
                <a:latin typeface="Arial"/>
                <a:cs typeface="Arial"/>
              </a:rPr>
              <a:t>a</a:t>
            </a:r>
            <a:r>
              <a:rPr sz="1700" spc="-22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com 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948" y="5683250"/>
            <a:ext cx="4514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8602574" cy="377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0" y="851928"/>
            <a:ext cx="8729015" cy="5805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lang="pt-BR" sz="1700" spc="5" dirty="0">
                <a:latin typeface="Arial"/>
                <a:cs typeface="Arial"/>
              </a:rPr>
              <a:t>	</a:t>
            </a:r>
            <a:r>
              <a:rPr sz="1700" spc="105" dirty="0" smtClean="0">
                <a:latin typeface="Arial"/>
                <a:cs typeface="Arial"/>
              </a:rPr>
              <a:t>Fil</a:t>
            </a:r>
            <a:r>
              <a:rPr sz="1700" spc="45" dirty="0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 smtClean="0">
                <a:latin typeface="Arial"/>
                <a:cs typeface="Arial"/>
              </a:rPr>
              <a:t>Fil</a:t>
            </a:r>
            <a:r>
              <a:rPr sz="1700" spc="45" dirty="0" smtClean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8728937" cy="3156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 err="1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 err="1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 err="1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lang="pt-BR" sz="2450" b="1" spc="15" dirty="0" smtClean="0">
                <a:solidFill>
                  <a:srgbClr val="007F7A"/>
                </a:solidFill>
                <a:latin typeface="Arial"/>
                <a:cs typeface="Arial"/>
              </a:rPr>
              <a:t>alocação dinâmica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707413" y="2615806"/>
            <a:ext cx="7278573" cy="654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pc="15" dirty="0" smtClean="0"/>
              <a:t>Árvores de Pesquisa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9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6240160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5505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14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adequad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equen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undá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952191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38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4328"/>
            <a:ext cx="7586345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38178" y="2124252"/>
            <a:ext cx="379095" cy="351790"/>
          </a:xfrm>
          <a:custGeom>
            <a:avLst/>
            <a:gdLst/>
            <a:ahLst/>
            <a:cxnLst/>
            <a:rect l="l" t="t" r="r" b="b"/>
            <a:pathLst>
              <a:path w="379095" h="351789">
                <a:moveTo>
                  <a:pt x="378574" y="175768"/>
                </a:moveTo>
                <a:lnTo>
                  <a:pt x="373414" y="134842"/>
                </a:lnTo>
                <a:lnTo>
                  <a:pt x="358732" y="97346"/>
                </a:lnTo>
                <a:lnTo>
                  <a:pt x="335718" y="64387"/>
                </a:lnTo>
                <a:lnTo>
                  <a:pt x="305566" y="37071"/>
                </a:lnTo>
                <a:lnTo>
                  <a:pt x="269468" y="16507"/>
                </a:lnTo>
                <a:lnTo>
                  <a:pt x="228618" y="3801"/>
                </a:lnTo>
                <a:lnTo>
                  <a:pt x="189280" y="0"/>
                </a:lnTo>
                <a:lnTo>
                  <a:pt x="184238" y="61"/>
                </a:lnTo>
                <a:lnTo>
                  <a:pt x="145207" y="4790"/>
                </a:lnTo>
                <a:lnTo>
                  <a:pt x="104828" y="18424"/>
                </a:lnTo>
                <a:lnTo>
                  <a:pt x="69334" y="39793"/>
                </a:lnTo>
                <a:lnTo>
                  <a:pt x="39919" y="67790"/>
                </a:lnTo>
                <a:lnTo>
                  <a:pt x="17775" y="101309"/>
                </a:lnTo>
                <a:lnTo>
                  <a:pt x="4093" y="139240"/>
                </a:lnTo>
                <a:lnTo>
                  <a:pt x="0" y="175768"/>
                </a:lnTo>
                <a:lnTo>
                  <a:pt x="65" y="180450"/>
                </a:lnTo>
                <a:lnTo>
                  <a:pt x="6341" y="221049"/>
                </a:lnTo>
                <a:lnTo>
                  <a:pt x="22006" y="258095"/>
                </a:lnTo>
                <a:lnTo>
                  <a:pt x="45870" y="290482"/>
                </a:lnTo>
                <a:lnTo>
                  <a:pt x="76738" y="317103"/>
                </a:lnTo>
                <a:lnTo>
                  <a:pt x="113421" y="336848"/>
                </a:lnTo>
                <a:lnTo>
                  <a:pt x="149943" y="347734"/>
                </a:lnTo>
                <a:lnTo>
                  <a:pt x="189280" y="351536"/>
                </a:lnTo>
                <a:lnTo>
                  <a:pt x="194323" y="351474"/>
                </a:lnTo>
                <a:lnTo>
                  <a:pt x="233354" y="346745"/>
                </a:lnTo>
                <a:lnTo>
                  <a:pt x="273735" y="333111"/>
                </a:lnTo>
                <a:lnTo>
                  <a:pt x="309231" y="311742"/>
                </a:lnTo>
                <a:lnTo>
                  <a:pt x="338649" y="283745"/>
                </a:lnTo>
                <a:lnTo>
                  <a:pt x="360796" y="250226"/>
                </a:lnTo>
                <a:lnTo>
                  <a:pt x="374480" y="212295"/>
                </a:lnTo>
                <a:lnTo>
                  <a:pt x="378574" y="17576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5417" y="3057156"/>
            <a:ext cx="392430" cy="419734"/>
          </a:xfrm>
          <a:custGeom>
            <a:avLst/>
            <a:gdLst/>
            <a:ahLst/>
            <a:cxnLst/>
            <a:rect l="l" t="t" r="r" b="b"/>
            <a:pathLst>
              <a:path w="392429" h="419735">
                <a:moveTo>
                  <a:pt x="392099" y="0"/>
                </a:moveTo>
                <a:lnTo>
                  <a:pt x="0" y="41913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75417" y="3476294"/>
            <a:ext cx="824865" cy="0"/>
          </a:xfrm>
          <a:custGeom>
            <a:avLst/>
            <a:gdLst/>
            <a:ahLst/>
            <a:cxnLst/>
            <a:rect l="l" t="t" r="r" b="b"/>
            <a:pathLst>
              <a:path w="824864">
                <a:moveTo>
                  <a:pt x="0" y="0"/>
                </a:moveTo>
                <a:lnTo>
                  <a:pt x="824750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7517" y="3057156"/>
            <a:ext cx="419734" cy="405765"/>
          </a:xfrm>
          <a:custGeom>
            <a:avLst/>
            <a:gdLst/>
            <a:ahLst/>
            <a:cxnLst/>
            <a:rect l="l" t="t" r="r" b="b"/>
            <a:pathLst>
              <a:path w="419735" h="405764">
                <a:moveTo>
                  <a:pt x="0" y="0"/>
                </a:moveTo>
                <a:lnTo>
                  <a:pt x="419125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16993" y="3057156"/>
            <a:ext cx="500380" cy="405765"/>
          </a:xfrm>
          <a:custGeom>
            <a:avLst/>
            <a:gdLst/>
            <a:ahLst/>
            <a:cxnLst/>
            <a:rect l="l" t="t" r="r" b="b"/>
            <a:pathLst>
              <a:path w="500379" h="405764">
                <a:moveTo>
                  <a:pt x="500265" y="0"/>
                </a:moveTo>
                <a:lnTo>
                  <a:pt x="0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16993" y="3462769"/>
            <a:ext cx="960119" cy="0"/>
          </a:xfrm>
          <a:custGeom>
            <a:avLst/>
            <a:gdLst/>
            <a:ahLst/>
            <a:cxnLst/>
            <a:rect l="l" t="t" r="r" b="b"/>
            <a:pathLst>
              <a:path w="960120">
                <a:moveTo>
                  <a:pt x="0" y="0"/>
                </a:moveTo>
                <a:lnTo>
                  <a:pt x="959954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17259" y="3057156"/>
            <a:ext cx="473709" cy="405765"/>
          </a:xfrm>
          <a:custGeom>
            <a:avLst/>
            <a:gdLst/>
            <a:ahLst/>
            <a:cxnLst/>
            <a:rect l="l" t="t" r="r" b="b"/>
            <a:pathLst>
              <a:path w="473709" h="405764">
                <a:moveTo>
                  <a:pt x="0" y="0"/>
                </a:moveTo>
                <a:lnTo>
                  <a:pt x="473214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7721" y="2146046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4253" y="3146564"/>
            <a:ext cx="151765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526" y="3146564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67517" y="2475788"/>
            <a:ext cx="906144" cy="581660"/>
          </a:xfrm>
          <a:custGeom>
            <a:avLst/>
            <a:gdLst/>
            <a:ahLst/>
            <a:cxnLst/>
            <a:rect l="l" t="t" r="r" b="b"/>
            <a:pathLst>
              <a:path w="906145" h="581660">
                <a:moveTo>
                  <a:pt x="905865" y="0"/>
                </a:moveTo>
                <a:lnTo>
                  <a:pt x="0" y="581367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67517" y="2975991"/>
            <a:ext cx="106045" cy="81280"/>
          </a:xfrm>
          <a:custGeom>
            <a:avLst/>
            <a:gdLst/>
            <a:ahLst/>
            <a:cxnLst/>
            <a:rect l="l" t="t" r="r" b="b"/>
            <a:pathLst>
              <a:path w="106045" h="81280">
                <a:moveTo>
                  <a:pt x="0" y="81165"/>
                </a:moveTo>
                <a:lnTo>
                  <a:pt x="105625" y="45504"/>
                </a:lnTo>
                <a:lnTo>
                  <a:pt x="76415" y="0"/>
                </a:lnTo>
                <a:lnTo>
                  <a:pt x="0" y="81165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8023" y="2475788"/>
            <a:ext cx="1136015" cy="554355"/>
          </a:xfrm>
          <a:custGeom>
            <a:avLst/>
            <a:gdLst/>
            <a:ahLst/>
            <a:cxnLst/>
            <a:rect l="l" t="t" r="r" b="b"/>
            <a:pathLst>
              <a:path w="1136014" h="554355">
                <a:moveTo>
                  <a:pt x="0" y="0"/>
                </a:moveTo>
                <a:lnTo>
                  <a:pt x="1135710" y="554329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94666" y="2958376"/>
            <a:ext cx="109220" cy="71755"/>
          </a:xfrm>
          <a:custGeom>
            <a:avLst/>
            <a:gdLst/>
            <a:ahLst/>
            <a:cxnLst/>
            <a:rect l="l" t="t" r="r" b="b"/>
            <a:pathLst>
              <a:path w="109220" h="71755">
                <a:moveTo>
                  <a:pt x="109067" y="71742"/>
                </a:moveTo>
                <a:lnTo>
                  <a:pt x="23723" y="0"/>
                </a:lnTo>
                <a:lnTo>
                  <a:pt x="0" y="48602"/>
                </a:lnTo>
                <a:lnTo>
                  <a:pt x="109067" y="71742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83613" y="3842067"/>
            <a:ext cx="315023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iant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42551" y="4484992"/>
            <a:ext cx="368935" cy="394335"/>
          </a:xfrm>
          <a:custGeom>
            <a:avLst/>
            <a:gdLst/>
            <a:ahLst/>
            <a:cxnLst/>
            <a:rect l="l" t="t" r="r" b="b"/>
            <a:pathLst>
              <a:path w="368935" h="394335">
                <a:moveTo>
                  <a:pt x="368757" y="0"/>
                </a:moveTo>
                <a:lnTo>
                  <a:pt x="0" y="394195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17126" y="4891900"/>
            <a:ext cx="941069" cy="0"/>
          </a:xfrm>
          <a:custGeom>
            <a:avLst/>
            <a:gdLst/>
            <a:ahLst/>
            <a:cxnLst/>
            <a:rect l="l" t="t" r="r" b="b"/>
            <a:pathLst>
              <a:path w="941070">
                <a:moveTo>
                  <a:pt x="0" y="0"/>
                </a:moveTo>
                <a:lnTo>
                  <a:pt x="940968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6747" y="4472279"/>
            <a:ext cx="521970" cy="407034"/>
          </a:xfrm>
          <a:custGeom>
            <a:avLst/>
            <a:gdLst/>
            <a:ahLst/>
            <a:cxnLst/>
            <a:rect l="l" t="t" r="r" b="b"/>
            <a:pathLst>
              <a:path w="521970" h="407035">
                <a:moveTo>
                  <a:pt x="0" y="0"/>
                </a:moveTo>
                <a:lnTo>
                  <a:pt x="521347" y="40690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66729" y="4535855"/>
            <a:ext cx="203835" cy="165735"/>
          </a:xfrm>
          <a:custGeom>
            <a:avLst/>
            <a:gdLst/>
            <a:ahLst/>
            <a:cxnLst/>
            <a:rect l="l" t="t" r="r" b="b"/>
            <a:pathLst>
              <a:path w="203835" h="165735">
                <a:moveTo>
                  <a:pt x="203454" y="0"/>
                </a:moveTo>
                <a:lnTo>
                  <a:pt x="0" y="165303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66729" y="4701158"/>
            <a:ext cx="216535" cy="114935"/>
          </a:xfrm>
          <a:custGeom>
            <a:avLst/>
            <a:gdLst/>
            <a:ahLst/>
            <a:cxnLst/>
            <a:rect l="l" t="t" r="r" b="b"/>
            <a:pathLst>
              <a:path w="216535" h="114935">
                <a:moveTo>
                  <a:pt x="0" y="0"/>
                </a:moveTo>
                <a:lnTo>
                  <a:pt x="216166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97803" y="4510430"/>
            <a:ext cx="229235" cy="191135"/>
          </a:xfrm>
          <a:custGeom>
            <a:avLst/>
            <a:gdLst/>
            <a:ahLst/>
            <a:cxnLst/>
            <a:rect l="l" t="t" r="r" b="b"/>
            <a:pathLst>
              <a:path w="229235" h="191135">
                <a:moveTo>
                  <a:pt x="228879" y="0"/>
                </a:moveTo>
                <a:lnTo>
                  <a:pt x="0" y="19072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97803" y="4701158"/>
            <a:ext cx="267335" cy="114935"/>
          </a:xfrm>
          <a:custGeom>
            <a:avLst/>
            <a:gdLst/>
            <a:ahLst/>
            <a:cxnLst/>
            <a:rect l="l" t="t" r="r" b="b"/>
            <a:pathLst>
              <a:path w="267335" h="114935">
                <a:moveTo>
                  <a:pt x="0" y="0"/>
                </a:moveTo>
                <a:lnTo>
                  <a:pt x="267030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75195" y="4421416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4" h="356235">
                <a:moveTo>
                  <a:pt x="356044" y="0"/>
                </a:moveTo>
                <a:lnTo>
                  <a:pt x="0" y="356044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75195" y="4777460"/>
            <a:ext cx="763270" cy="0"/>
          </a:xfrm>
          <a:custGeom>
            <a:avLst/>
            <a:gdLst/>
            <a:ahLst/>
            <a:cxnLst/>
            <a:rect l="l" t="t" r="r" b="b"/>
            <a:pathLst>
              <a:path w="763270">
                <a:moveTo>
                  <a:pt x="0" y="0"/>
                </a:moveTo>
                <a:lnTo>
                  <a:pt x="762952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31240" y="4408703"/>
            <a:ext cx="419734" cy="368935"/>
          </a:xfrm>
          <a:custGeom>
            <a:avLst/>
            <a:gdLst/>
            <a:ahLst/>
            <a:cxnLst/>
            <a:rect l="l" t="t" r="r" b="b"/>
            <a:pathLst>
              <a:path w="419734" h="368935">
                <a:moveTo>
                  <a:pt x="0" y="0"/>
                </a:moveTo>
                <a:lnTo>
                  <a:pt x="419620" y="368757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67820" y="4408703"/>
            <a:ext cx="407034" cy="432434"/>
          </a:xfrm>
          <a:custGeom>
            <a:avLst/>
            <a:gdLst/>
            <a:ahLst/>
            <a:cxnLst/>
            <a:rect l="l" t="t" r="r" b="b"/>
            <a:pathLst>
              <a:path w="407035" h="432435">
                <a:moveTo>
                  <a:pt x="406908" y="216166"/>
                </a:moveTo>
                <a:lnTo>
                  <a:pt x="403629" y="177308"/>
                </a:lnTo>
                <a:lnTo>
                  <a:pt x="392591" y="136355"/>
                </a:lnTo>
                <a:lnTo>
                  <a:pt x="374559" y="99165"/>
                </a:lnTo>
                <a:lnTo>
                  <a:pt x="350350" y="66605"/>
                </a:lnTo>
                <a:lnTo>
                  <a:pt x="320784" y="39545"/>
                </a:lnTo>
                <a:lnTo>
                  <a:pt x="286678" y="18854"/>
                </a:lnTo>
                <a:lnTo>
                  <a:pt x="248851" y="5401"/>
                </a:lnTo>
                <a:lnTo>
                  <a:pt x="208123" y="55"/>
                </a:lnTo>
                <a:lnTo>
                  <a:pt x="203454" y="0"/>
                </a:lnTo>
                <a:lnTo>
                  <a:pt x="198784" y="55"/>
                </a:lnTo>
                <a:lnTo>
                  <a:pt x="158056" y="5401"/>
                </a:lnTo>
                <a:lnTo>
                  <a:pt x="120229" y="18854"/>
                </a:lnTo>
                <a:lnTo>
                  <a:pt x="86123" y="39545"/>
                </a:lnTo>
                <a:lnTo>
                  <a:pt x="56557" y="66605"/>
                </a:lnTo>
                <a:lnTo>
                  <a:pt x="32348" y="99165"/>
                </a:lnTo>
                <a:lnTo>
                  <a:pt x="14316" y="136355"/>
                </a:lnTo>
                <a:lnTo>
                  <a:pt x="3278" y="177308"/>
                </a:lnTo>
                <a:lnTo>
                  <a:pt x="0" y="216166"/>
                </a:lnTo>
                <a:lnTo>
                  <a:pt x="52" y="221127"/>
                </a:lnTo>
                <a:lnTo>
                  <a:pt x="4133" y="259730"/>
                </a:lnTo>
                <a:lnTo>
                  <a:pt x="15989" y="300306"/>
                </a:lnTo>
                <a:lnTo>
                  <a:pt x="34748" y="337025"/>
                </a:lnTo>
                <a:lnTo>
                  <a:pt x="59593" y="369017"/>
                </a:lnTo>
                <a:lnTo>
                  <a:pt x="89704" y="395414"/>
                </a:lnTo>
                <a:lnTo>
                  <a:pt x="124263" y="415345"/>
                </a:lnTo>
                <a:lnTo>
                  <a:pt x="162453" y="427941"/>
                </a:lnTo>
                <a:lnTo>
                  <a:pt x="203454" y="432333"/>
                </a:lnTo>
                <a:lnTo>
                  <a:pt x="208123" y="432277"/>
                </a:lnTo>
                <a:lnTo>
                  <a:pt x="248851" y="426931"/>
                </a:lnTo>
                <a:lnTo>
                  <a:pt x="286678" y="413476"/>
                </a:lnTo>
                <a:lnTo>
                  <a:pt x="320784" y="392784"/>
                </a:lnTo>
                <a:lnTo>
                  <a:pt x="350350" y="365723"/>
                </a:lnTo>
                <a:lnTo>
                  <a:pt x="374559" y="333162"/>
                </a:lnTo>
                <a:lnTo>
                  <a:pt x="392591" y="295972"/>
                </a:lnTo>
                <a:lnTo>
                  <a:pt x="403629" y="255021"/>
                </a:lnTo>
                <a:lnTo>
                  <a:pt x="406908" y="216166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60458" y="4570438"/>
            <a:ext cx="14414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20423" y="4494148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3101" y="4481423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00987" y="5174417"/>
            <a:ext cx="7595234" cy="154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marR="5080" indent="-349885">
              <a:lnSpc>
                <a:spcPct val="117100"/>
              </a:lnSpc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marL="362585" marR="92075" indent="-349885">
              <a:lnSpc>
                <a:spcPct val="117000"/>
              </a:lnSpc>
              <a:spcBef>
                <a:spcPts val="575"/>
              </a:spcBef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4026320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4557"/>
            <a:ext cx="75863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646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21295" y="4126217"/>
            <a:ext cx="8297545" cy="2610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24840" algn="l"/>
              </a:tabLst>
            </a:pPr>
            <a:r>
              <a:rPr sz="2050" spc="10" dirty="0">
                <a:latin typeface="Arial"/>
                <a:cs typeface="Arial"/>
              </a:rPr>
              <a:t>O	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í</a:t>
            </a:r>
            <a:r>
              <a:rPr sz="2050" b="1" dirty="0">
                <a:latin typeface="Arial"/>
                <a:cs typeface="Arial"/>
              </a:rPr>
              <a:t>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0.</a:t>
            </a:r>
            <a:endParaRPr sz="2050">
              <a:latin typeface="Arial"/>
              <a:cs typeface="Arial"/>
            </a:endParaRPr>
          </a:p>
          <a:p>
            <a:pPr marL="274955" marR="292735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tu</a:t>
            </a:r>
            <a:r>
              <a:rPr sz="2050" b="1" spc="5" dirty="0">
                <a:latin typeface="Arial"/>
                <a:cs typeface="Arial"/>
              </a:rPr>
              <a:t>ra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5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166" y="1492250"/>
            <a:ext cx="5115534" cy="255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0233769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69320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897" y="832055"/>
            <a:ext cx="8568690" cy="4964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 marR="5080">
              <a:lnSpc>
                <a:spcPct val="1082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Dicion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io usa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395"/>
              </a:spcBef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0979" marR="5464175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65" dirty="0">
                <a:latin typeface="Lucida Sans Unicode"/>
                <a:cs typeface="Lucida Sans Unicode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7329" marR="5888990" indent="-215265">
              <a:lnSpc>
                <a:spcPts val="2720"/>
              </a:lnSpc>
              <a:spcBef>
                <a:spcPts val="200"/>
              </a:spcBef>
              <a:tabLst>
                <a:tab pos="2276475" algn="l"/>
              </a:tabLst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14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4139923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541385" cy="6311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Ch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endParaRPr sz="2450" dirty="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pare-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 dirty="0">
              <a:latin typeface="Arial"/>
              <a:cs typeface="Arial"/>
            </a:endParaRP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vá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vá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8950" marR="2673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5" dirty="0">
                <a:latin typeface="Arial"/>
                <a:cs typeface="Arial"/>
              </a:rPr>
              <a:t>Se a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50"/>
              </a:spcBef>
              <a:tabLst>
                <a:tab pos="2578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467359" algn="l"/>
                <a:tab pos="19494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present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85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5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85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Pesquis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50"/>
              </a:spcBef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9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5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8632530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8606790" cy="6110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serir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 marL="488950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8950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9584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46405" marR="2559050" indent="-196850">
              <a:lnSpc>
                <a:spcPts val="2650"/>
              </a:lnSpc>
              <a:spcBef>
                <a:spcPts val="18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10" dirty="0">
                <a:latin typeface="Arial"/>
                <a:cs typeface="Arial"/>
              </a:rPr>
              <a:t>r</a:t>
            </a:r>
            <a:r>
              <a:rPr sz="1700" spc="150" dirty="0">
                <a:latin typeface="Arial"/>
                <a:cs typeface="Arial"/>
              </a:rPr>
              <a:t>)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(</a:t>
            </a:r>
            <a:r>
              <a:rPr sz="1700" spc="-60" dirty="0">
                <a:latin typeface="Arial"/>
                <a:cs typeface="Arial"/>
              </a:rPr>
              <a:t>TipoN</a:t>
            </a:r>
            <a:r>
              <a:rPr sz="1700" spc="1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10" dirty="0">
                <a:latin typeface="Arial"/>
                <a:cs typeface="Arial"/>
              </a:rPr>
              <a:t>g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35585" marR="4756785" indent="21590">
              <a:lnSpc>
                <a:spcPct val="129700"/>
              </a:lnSpc>
              <a:tabLst>
                <a:tab pos="53784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788670" algn="l"/>
                <a:tab pos="2182495" algn="l"/>
                <a:tab pos="2378075" algn="l"/>
                <a:tab pos="3669029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j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0745290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0582" y="851928"/>
            <a:ext cx="7022465" cy="5963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Inic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zar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9050"/>
            <a:r>
              <a:rPr lang="pt-BR" sz="1700" spc="-100" dirty="0" smtClean="0">
                <a:latin typeface="Arial"/>
                <a:cs typeface="Arial"/>
              </a:rPr>
              <a:t>{</a:t>
            </a:r>
            <a:r>
              <a:rPr lang="pt-BR" sz="1700" spc="-120" dirty="0" smtClean="0">
                <a:latin typeface="Lucida Sans Unicode"/>
                <a:cs typeface="Lucida Sans Unicode"/>
              </a:rPr>
              <a:t>−</a:t>
            </a:r>
            <a:r>
              <a:rPr lang="pt-BR" sz="1700" spc="-15" dirty="0" smtClean="0">
                <a:latin typeface="Lucida Sans Unicode"/>
                <a:cs typeface="Lucida Sans Unicode"/>
              </a:rPr>
              <a:t>−</a:t>
            </a:r>
            <a:r>
              <a:rPr lang="pt-BR" sz="1700" spc="-165" dirty="0" smtClean="0">
                <a:latin typeface="Lucida Sans Unicode"/>
                <a:cs typeface="Lucida Sans Unicode"/>
              </a:rPr>
              <a:t> </a:t>
            </a:r>
            <a:r>
              <a:rPr lang="pt-BR" sz="1700" i="1" spc="10" dirty="0" smtClean="0">
                <a:latin typeface="Times New Roman"/>
                <a:cs typeface="Times New Roman"/>
              </a:rPr>
              <a:t>E</a:t>
            </a:r>
            <a:r>
              <a:rPr lang="pt-BR" sz="1700" i="1" spc="5" dirty="0" smtClean="0">
                <a:latin typeface="Times New Roman"/>
                <a:cs typeface="Times New Roman"/>
              </a:rPr>
              <a:t>nt</a:t>
            </a:r>
            <a:r>
              <a:rPr lang="pt-BR" sz="1700" i="1" spc="-25" dirty="0" smtClean="0">
                <a:latin typeface="Times New Roman"/>
                <a:cs typeface="Times New Roman"/>
              </a:rPr>
              <a:t>r</a:t>
            </a:r>
            <a:r>
              <a:rPr lang="pt-BR" sz="1700" i="1" spc="10" dirty="0" smtClean="0">
                <a:latin typeface="Times New Roman"/>
                <a:cs typeface="Times New Roman"/>
              </a:rPr>
              <a:t>a</a:t>
            </a:r>
            <a:r>
              <a:rPr lang="pt-BR" sz="1700" i="1" dirty="0" smtClean="0">
                <a:latin typeface="Times New Roman"/>
                <a:cs typeface="Times New Roman"/>
              </a:rPr>
              <a:t> </a:t>
            </a:r>
            <a:r>
              <a:rPr lang="pt-BR" sz="1700" i="1" spc="5" dirty="0" smtClean="0">
                <a:latin typeface="Times New Roman"/>
                <a:cs typeface="Times New Roman"/>
              </a:rPr>
              <a:t>aqui </a:t>
            </a:r>
            <a:r>
              <a:rPr lang="pt-BR" sz="1700" i="1" spc="10" dirty="0" smtClean="0">
                <a:latin typeface="Times New Roman"/>
                <a:cs typeface="Times New Roman"/>
              </a:rPr>
              <a:t>a</a:t>
            </a:r>
            <a:r>
              <a:rPr lang="pt-BR" sz="1700" i="1" dirty="0" smtClean="0">
                <a:latin typeface="Times New Roman"/>
                <a:cs typeface="Times New Roman"/>
              </a:rPr>
              <a:t> </a:t>
            </a:r>
            <a:r>
              <a:rPr lang="pt-BR" sz="1700" i="1" spc="5" dirty="0" smtClean="0">
                <a:latin typeface="Times New Roman"/>
                <a:cs typeface="Times New Roman"/>
              </a:rPr>
              <a:t>de</a:t>
            </a:r>
            <a:r>
              <a:rPr lang="pt-BR" sz="1700" i="1" spc="-45" dirty="0" smtClean="0">
                <a:latin typeface="Times New Roman"/>
                <a:cs typeface="Times New Roman"/>
              </a:rPr>
              <a:t>f</a:t>
            </a:r>
            <a:r>
              <a:rPr lang="pt-BR" sz="1700" i="1" spc="-50" dirty="0" smtClean="0">
                <a:latin typeface="Times New Roman"/>
                <a:cs typeface="Times New Roman"/>
              </a:rPr>
              <a:t>i</a:t>
            </a:r>
            <a:r>
              <a:rPr lang="pt-BR" sz="1700" i="1" spc="5" dirty="0" smtClean="0">
                <a:latin typeface="Times New Roman"/>
                <a:cs typeface="Times New Roman"/>
              </a:rPr>
              <a:t>niçã</a:t>
            </a:r>
            <a:r>
              <a:rPr lang="pt-BR" sz="1700" i="1" spc="10" dirty="0" smtClean="0">
                <a:latin typeface="Times New Roman"/>
                <a:cs typeface="Times New Roman"/>
              </a:rPr>
              <a:t>o</a:t>
            </a:r>
            <a:r>
              <a:rPr lang="pt-BR" sz="1700" i="1" spc="5" dirty="0" smtClean="0">
                <a:latin typeface="Times New Roman"/>
                <a:cs typeface="Times New Roman"/>
              </a:rPr>
              <a:t> dos tipos</a:t>
            </a:r>
            <a:r>
              <a:rPr lang="pt-BR" sz="1700" i="1" spc="-100" dirty="0" smtClean="0">
                <a:latin typeface="Times New Roman"/>
                <a:cs typeface="Times New Roman"/>
              </a:rPr>
              <a:t> </a:t>
            </a:r>
            <a:r>
              <a:rPr lang="pt-BR" sz="1700" spc="-120" dirty="0" smtClean="0">
                <a:latin typeface="Lucida Sans Unicode"/>
                <a:cs typeface="Lucida Sans Unicode"/>
              </a:rPr>
              <a:t>−</a:t>
            </a:r>
            <a:r>
              <a:rPr lang="pt-BR" sz="1700" spc="-65" dirty="0" smtClean="0">
                <a:latin typeface="Lucida Sans Unicode"/>
                <a:cs typeface="Lucida Sans Unicode"/>
              </a:rPr>
              <a:t>−</a:t>
            </a:r>
            <a:r>
              <a:rPr lang="pt-BR" sz="1700" spc="5" dirty="0" smtClean="0">
                <a:latin typeface="Arial"/>
                <a:cs typeface="Arial"/>
              </a:rPr>
              <a:t>}</a:t>
            </a:r>
            <a:endParaRPr lang="pt-BR" sz="1700" dirty="0" smtClean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endParaRPr lang="pt-BR" sz="1700" b="1" spc="-25" dirty="0" smtClean="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30" dirty="0" smtClean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Inicializ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 err="1">
                <a:latin typeface="Arial"/>
                <a:cs typeface="Arial"/>
              </a:rPr>
              <a:t>TipoApontado</a:t>
            </a:r>
            <a:r>
              <a:rPr sz="1700" spc="5" dirty="0" err="1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85" dirty="0" smtClean="0">
                <a:latin typeface="Lucida Sans Unicode"/>
                <a:cs typeface="Lucida Sans Unicode"/>
              </a:rPr>
              <a:t>∗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15" dirty="0">
                <a:latin typeface="Lucida Sans Unicode"/>
                <a:cs typeface="Lucida Sans Unicode"/>
              </a:rPr>
              <a:t> 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14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};</a:t>
            </a:r>
            <a:r>
              <a:rPr sz="1700" dirty="0">
                <a:latin typeface="Arial"/>
                <a:cs typeface="Arial"/>
              </a:rPr>
              <a:t>	</a:t>
            </a:r>
            <a:endParaRPr lang="pt-BR" sz="1700" dirty="0" smtClean="0">
              <a:latin typeface="Arial"/>
              <a:cs typeface="Arial"/>
            </a:endParaRPr>
          </a:p>
          <a:p>
            <a:pPr marL="12700" marR="4428490" indent="29845">
              <a:lnSpc>
                <a:spcPct val="129700"/>
              </a:lnSpc>
              <a:tabLst>
                <a:tab pos="570230" algn="l"/>
                <a:tab pos="794385" algn="l"/>
                <a:tab pos="1958975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605"/>
              </a:spcBef>
            </a:pPr>
            <a:r>
              <a:rPr sz="1700" spc="-100" dirty="0" smtClean="0">
                <a:latin typeface="Arial"/>
                <a:cs typeface="Arial"/>
              </a:rPr>
              <a:t>{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Lucida Sans Unicode"/>
                <a:cs typeface="Lucida Sans Unicode"/>
              </a:rPr>
              <a:t> </a:t>
            </a:r>
            <a:r>
              <a:rPr sz="1700" i="1" spc="10" dirty="0">
                <a:latin typeface="Times New Roman"/>
                <a:cs typeface="Times New Roman"/>
              </a:rPr>
              <a:t>E</a:t>
            </a:r>
            <a:r>
              <a:rPr sz="1700" i="1" spc="5" dirty="0">
                <a:latin typeface="Times New Roman"/>
                <a:cs typeface="Times New Roman"/>
              </a:rPr>
              <a:t>nt</a:t>
            </a:r>
            <a:r>
              <a:rPr sz="1700" i="1" spc="-25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a</a:t>
            </a:r>
            <a:r>
              <a:rPr sz="1700" i="1" spc="15" dirty="0">
                <a:latin typeface="Times New Roman"/>
                <a:cs typeface="Times New Roman"/>
              </a:rPr>
              <a:t>m</a:t>
            </a:r>
            <a:r>
              <a:rPr sz="1700" i="1" spc="5" dirty="0">
                <a:latin typeface="Times New Roman"/>
                <a:cs typeface="Times New Roman"/>
              </a:rPr>
              <a:t> aqui os p</a:t>
            </a:r>
            <a:r>
              <a:rPr sz="1700" i="1" spc="-75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oced</a:t>
            </a:r>
            <a:r>
              <a:rPr sz="1700" i="1" spc="10" dirty="0">
                <a:latin typeface="Times New Roman"/>
                <a:cs typeface="Times New Roman"/>
              </a:rPr>
              <a:t>im</a:t>
            </a:r>
            <a:r>
              <a:rPr sz="1700" i="1" spc="5" dirty="0">
                <a:latin typeface="Times New Roman"/>
                <a:cs typeface="Times New Roman"/>
              </a:rPr>
              <a:t>entos Ins</a:t>
            </a:r>
            <a:r>
              <a:rPr sz="1700" i="1" dirty="0">
                <a:latin typeface="Times New Roman"/>
                <a:cs typeface="Times New Roman"/>
              </a:rPr>
              <a:t>e</a:t>
            </a:r>
            <a:r>
              <a:rPr sz="1700" i="1" spc="-60" dirty="0">
                <a:latin typeface="Times New Roman"/>
                <a:cs typeface="Times New Roman"/>
              </a:rPr>
              <a:t>r</a:t>
            </a:r>
            <a:r>
              <a:rPr sz="1700" i="1" spc="5" dirty="0">
                <a:latin typeface="Times New Roman"/>
                <a:cs typeface="Times New Roman"/>
              </a:rPr>
              <a:t>e e Ini</a:t>
            </a:r>
            <a:r>
              <a:rPr sz="1700" i="1" dirty="0">
                <a:latin typeface="Times New Roman"/>
                <a:cs typeface="Times New Roman"/>
              </a:rPr>
              <a:t>c</a:t>
            </a:r>
            <a:r>
              <a:rPr sz="1700" i="1" spc="5" dirty="0">
                <a:latin typeface="Times New Roman"/>
                <a:cs typeface="Times New Roman"/>
              </a:rPr>
              <a:t>ializa</a:t>
            </a:r>
            <a:r>
              <a:rPr sz="1700" i="1" spc="-100" dirty="0">
                <a:latin typeface="Times New Roman"/>
                <a:cs typeface="Times New Roman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spcBef>
                <a:spcPts val="605"/>
              </a:spcBef>
            </a:pPr>
            <a:r>
              <a:rPr sz="1700" b="1" spc="110" dirty="0" err="1">
                <a:latin typeface="Arial"/>
                <a:cs typeface="Arial"/>
              </a:rPr>
              <a:t>in</a:t>
            </a:r>
            <a:r>
              <a:rPr sz="1700" b="1" spc="5" dirty="0" err="1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 smtClean="0">
                <a:latin typeface="Arial"/>
                <a:cs typeface="Arial"/>
              </a:rPr>
              <a:t>mai</a:t>
            </a:r>
            <a:r>
              <a:rPr sz="1700" spc="70" dirty="0" smtClean="0">
                <a:latin typeface="Arial"/>
                <a:cs typeface="Arial"/>
              </a:rPr>
              <a:t>n</a:t>
            </a:r>
            <a:r>
              <a:rPr lang="pt-BR" sz="1700" spc="70" dirty="0" smtClean="0">
                <a:latin typeface="Arial"/>
                <a:cs typeface="Arial"/>
              </a:rPr>
              <a:t>( </a:t>
            </a:r>
            <a:r>
              <a:rPr sz="1700" spc="5" dirty="0" smtClean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8445" marR="2300605" indent="-20891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5" dirty="0" err="1" smtClean="0">
                <a:latin typeface="Arial"/>
                <a:cs typeface="Arial"/>
              </a:rPr>
              <a:t>Tipo</a:t>
            </a:r>
            <a:r>
              <a:rPr lang="pt-BR" sz="1700" spc="55" dirty="0" smtClean="0">
                <a:latin typeface="Arial"/>
                <a:cs typeface="Arial"/>
              </a:rPr>
              <a:t>Apontador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15" dirty="0" smtClean="0">
                <a:latin typeface="Arial"/>
                <a:cs typeface="Arial"/>
              </a:rPr>
              <a:t> </a:t>
            </a:r>
            <a:r>
              <a:rPr lang="pt-BR" sz="1700" spc="15" dirty="0" smtClean="0">
                <a:latin typeface="Arial"/>
                <a:cs typeface="Arial"/>
              </a:rPr>
              <a:t>r</a:t>
            </a:r>
            <a:r>
              <a:rPr lang="pt-BR" sz="1700" spc="75" dirty="0" smtClean="0">
                <a:latin typeface="Arial"/>
                <a:cs typeface="Arial"/>
              </a:rPr>
              <a:t>aiz</a:t>
            </a:r>
            <a:r>
              <a:rPr sz="1700" spc="-16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70" dirty="0" err="1">
                <a:latin typeface="Arial"/>
                <a:cs typeface="Arial"/>
              </a:rPr>
              <a:t>Inicializ</a:t>
            </a:r>
            <a:r>
              <a:rPr sz="1700" spc="165" dirty="0" err="1">
                <a:latin typeface="Arial"/>
                <a:cs typeface="Arial"/>
              </a:rPr>
              <a:t>a</a:t>
            </a:r>
            <a:r>
              <a:rPr sz="1700" spc="-10" dirty="0" smtClean="0">
                <a:latin typeface="Arial"/>
                <a:cs typeface="Arial"/>
              </a:rPr>
              <a:t>(</a:t>
            </a:r>
            <a:r>
              <a:rPr sz="1700" spc="70" dirty="0" smtClean="0">
                <a:latin typeface="Arial"/>
                <a:cs typeface="Arial"/>
              </a:rPr>
              <a:t>&amp;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sz="1700" spc="-2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R="3456940">
              <a:lnSpc>
                <a:spcPct val="100000"/>
              </a:lnSpc>
              <a:spcBef>
                <a:spcPts val="605"/>
              </a:spcBef>
            </a:pPr>
            <a:r>
              <a:rPr lang="pt-BR" sz="1700" spc="25" dirty="0">
                <a:latin typeface="Arial"/>
                <a:cs typeface="Arial"/>
              </a:rPr>
              <a:t> </a:t>
            </a:r>
            <a:r>
              <a:rPr lang="pt-BR" sz="1700" spc="25" dirty="0" smtClean="0">
                <a:latin typeface="Arial"/>
                <a:cs typeface="Arial"/>
              </a:rPr>
              <a:t>   </a:t>
            </a:r>
            <a:r>
              <a:rPr sz="1700" spc="25" dirty="0" err="1" smtClean="0">
                <a:latin typeface="Arial"/>
                <a:cs typeface="Arial"/>
              </a:rPr>
              <a:t>scan</a:t>
            </a:r>
            <a:r>
              <a:rPr sz="1700" spc="155" dirty="0" err="1" smtClean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-40" dirty="0" smtClean="0">
                <a:latin typeface="Arial"/>
                <a:cs typeface="Arial"/>
              </a:rPr>
              <a:t>d</a:t>
            </a:r>
            <a:r>
              <a:rPr sz="1700" spc="-17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&amp;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2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0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lang="pt-BR" sz="1700" spc="5" smtClean="0">
                <a:latin typeface="Arial"/>
                <a:cs typeface="Arial"/>
              </a:rPr>
              <a:t> </a:t>
            </a:r>
            <a:r>
              <a:rPr sz="1700" spc="5" smtClean="0">
                <a:latin typeface="Arial"/>
                <a:cs typeface="Arial"/>
              </a:rPr>
              <a:t>{ </a:t>
            </a:r>
            <a:r>
              <a:rPr sz="1700" spc="-5" smtClean="0">
                <a:latin typeface="Arial"/>
                <a:cs typeface="Arial"/>
              </a:rPr>
              <a:t> </a:t>
            </a:r>
            <a:endParaRPr lang="pt-BR" sz="1700" spc="-5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lang="pt-BR" sz="1700" spc="-5" dirty="0" smtClean="0">
                <a:latin typeface="Arial"/>
                <a:cs typeface="Arial"/>
              </a:rPr>
              <a:t>	</a:t>
            </a:r>
            <a:r>
              <a:rPr sz="1700" spc="40" dirty="0" err="1" smtClean="0">
                <a:latin typeface="Arial"/>
                <a:cs typeface="Arial"/>
              </a:rPr>
              <a:t>I</a:t>
            </a:r>
            <a:r>
              <a:rPr sz="1700" spc="50" dirty="0" err="1" smtClean="0">
                <a:latin typeface="Arial"/>
                <a:cs typeface="Arial"/>
              </a:rPr>
              <a:t>n</a:t>
            </a:r>
            <a:r>
              <a:rPr sz="1700" spc="45" dirty="0" err="1" smtClean="0">
                <a:latin typeface="Arial"/>
                <a:cs typeface="Arial"/>
              </a:rPr>
              <a:t>s</a:t>
            </a:r>
            <a:r>
              <a:rPr sz="1700" spc="50" dirty="0" err="1" smtClean="0">
                <a:latin typeface="Arial"/>
                <a:cs typeface="Arial"/>
              </a:rPr>
              <a:t>e</a:t>
            </a:r>
            <a:r>
              <a:rPr sz="1700" spc="40" dirty="0" err="1" smtClean="0">
                <a:latin typeface="Arial"/>
                <a:cs typeface="Arial"/>
              </a:rPr>
              <a:t>r</a:t>
            </a:r>
            <a:r>
              <a:rPr sz="1700" spc="175" dirty="0" err="1" smtClean="0">
                <a:latin typeface="Arial"/>
                <a:cs typeface="Arial"/>
              </a:rPr>
              <a:t>e</a:t>
            </a:r>
            <a:r>
              <a:rPr sz="1700" spc="130" dirty="0" smtClean="0">
                <a:latin typeface="Arial"/>
                <a:cs typeface="Arial"/>
              </a:rPr>
              <a:t>(</a:t>
            </a:r>
            <a:r>
              <a:rPr sz="1700" spc="15" dirty="0" smtClean="0">
                <a:latin typeface="Arial"/>
                <a:cs typeface="Arial"/>
              </a:rPr>
              <a:t>x</a:t>
            </a:r>
            <a:r>
              <a:rPr sz="1700" spc="25" dirty="0" smtClean="0">
                <a:latin typeface="Arial"/>
                <a:cs typeface="Arial"/>
              </a:rPr>
              <a:t>,</a:t>
            </a:r>
            <a:r>
              <a:rPr sz="1700" spc="100" dirty="0" smtClean="0">
                <a:latin typeface="Arial"/>
                <a:cs typeface="Arial"/>
              </a:rPr>
              <a:t>&amp;</a:t>
            </a:r>
            <a:r>
              <a:rPr lang="pt-BR" sz="1700" spc="75" dirty="0" smtClean="0">
                <a:latin typeface="Arial"/>
                <a:cs typeface="Arial"/>
              </a:rPr>
              <a:t>raiz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sz="1700" spc="-265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dirty="0">
              <a:latin typeface="Arial"/>
              <a:cs typeface="Arial"/>
            </a:endParaRPr>
          </a:p>
          <a:p>
            <a:pPr marL="235585">
              <a:lnSpc>
                <a:spcPct val="100000"/>
              </a:lnSpc>
              <a:spcBef>
                <a:spcPts val="605"/>
              </a:spcBef>
            </a:pPr>
            <a:r>
              <a:rPr lang="pt-BR" sz="1700" spc="25" dirty="0">
                <a:latin typeface="Arial"/>
                <a:cs typeface="Arial"/>
              </a:rPr>
              <a:t>	</a:t>
            </a:r>
            <a:r>
              <a:rPr sz="1700" spc="25" dirty="0" err="1" smtClean="0">
                <a:latin typeface="Arial"/>
                <a:cs typeface="Arial"/>
              </a:rPr>
              <a:t>scan</a:t>
            </a:r>
            <a:r>
              <a:rPr sz="1700" spc="155" dirty="0" err="1" smtClean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90" dirty="0">
                <a:latin typeface="Arial"/>
                <a:cs typeface="Arial"/>
              </a:rPr>
              <a:t>%</a:t>
            </a:r>
            <a:r>
              <a:rPr sz="1700" spc="-40" dirty="0" smtClean="0">
                <a:latin typeface="Arial"/>
                <a:cs typeface="Arial"/>
              </a:rPr>
              <a:t>d</a:t>
            </a:r>
            <a:r>
              <a:rPr sz="1700" spc="5" dirty="0" smtClean="0">
                <a:latin typeface="Arial"/>
                <a:cs typeface="Arial"/>
              </a:rPr>
              <a:t>"</a:t>
            </a:r>
            <a:r>
              <a:rPr sz="1700" spc="-19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&amp;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863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7462204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125" cy="397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2885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Times New Roman"/>
              <a:buChar char="–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querda;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Times New Roman"/>
              <a:buChar char="–"/>
              <a:tabLst>
                <a:tab pos="1115060" algn="l"/>
              </a:tabLst>
            </a:pP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6262279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605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egi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50516" y="1662374"/>
            <a:ext cx="3256472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99064" y="26013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2344" y="25988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0590" y="26013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6955" y="2153462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8481" y="2153462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2711" y="170558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75125" y="3049231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1326" y="4048325"/>
            <a:ext cx="873760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b="1" dirty="0">
                <a:latin typeface="Arial"/>
                <a:cs typeface="Arial"/>
              </a:rPr>
              <a:t>Assi</a:t>
            </a:r>
            <a:r>
              <a:rPr sz="2050" b="1" spc="5" dirty="0">
                <a:latin typeface="Arial"/>
                <a:cs typeface="Arial"/>
              </a:rPr>
              <a:t>m:</a:t>
            </a:r>
            <a:r>
              <a:rPr sz="2050" b="1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5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tro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á-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4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6,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entã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5.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46032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791200" cy="1355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TipoRegistr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0237" y="2196797"/>
            <a:ext cx="4684395" cy="1032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" marR="5080" indent="-69850">
              <a:lnSpc>
                <a:spcPct val="129700"/>
              </a:lnSpc>
              <a:tabLst>
                <a:tab pos="208279" algn="l"/>
              </a:tabLst>
            </a:pPr>
            <a:r>
              <a:rPr sz="1700" spc="5" dirty="0">
                <a:latin typeface="Arial"/>
                <a:cs typeface="Arial"/>
              </a:rPr>
              <a:t>:		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arvor</a:t>
            </a:r>
            <a:r>
              <a:rPr sz="1700" spc="215" dirty="0">
                <a:latin typeface="Arial"/>
                <a:cs typeface="Arial"/>
              </a:rPr>
              <a:t>e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  <a:spcBef>
                <a:spcPts val="605"/>
              </a:spcBef>
            </a:pP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2486" y="2196797"/>
            <a:ext cx="3409315" cy="1360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-40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 err="1">
                <a:latin typeface="Arial"/>
                <a:cs typeface="Arial"/>
              </a:rPr>
              <a:t>Re</a:t>
            </a:r>
            <a:r>
              <a:rPr sz="1700" spc="25" dirty="0" err="1">
                <a:latin typeface="Arial"/>
                <a:cs typeface="Arial"/>
              </a:rPr>
              <a:t>g</a:t>
            </a:r>
            <a:r>
              <a:rPr sz="1700" spc="60" dirty="0" err="1">
                <a:latin typeface="Arial"/>
                <a:cs typeface="Arial"/>
              </a:rPr>
              <a:t>.</a:t>
            </a:r>
            <a:r>
              <a:rPr sz="1700" spc="-120" dirty="0" err="1">
                <a:latin typeface="Arial"/>
                <a:cs typeface="Arial"/>
              </a:rPr>
              <a:t>Chav</a:t>
            </a:r>
            <a:r>
              <a:rPr sz="1700" spc="135" dirty="0" err="1">
                <a:latin typeface="Arial"/>
                <a:cs typeface="Arial"/>
              </a:rPr>
              <a:t>e</a:t>
            </a:r>
            <a:r>
              <a:rPr sz="1700" spc="5" dirty="0" smtClean="0">
                <a:latin typeface="Arial"/>
                <a:cs typeface="Arial"/>
              </a:rPr>
              <a:t>)</a:t>
            </a:r>
            <a:r>
              <a:rPr lang="pt-BR" sz="1700" spc="5" dirty="0" smtClean="0">
                <a:latin typeface="Arial"/>
                <a:cs typeface="Arial"/>
              </a:rPr>
              <a:t> {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40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 </a:t>
            </a: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 smtClean="0">
                <a:latin typeface="Arial"/>
                <a:cs typeface="Arial"/>
              </a:rPr>
              <a:t>f</a:t>
            </a:r>
            <a:r>
              <a:rPr lang="pt-BR" sz="1700" b="1" spc="5" dirty="0">
                <a:latin typeface="Arial"/>
                <a:cs typeface="Arial"/>
              </a:rPr>
              <a:t> </a:t>
            </a:r>
            <a:r>
              <a:rPr lang="pt-BR" sz="1700" b="1" spc="5" dirty="0" smtClean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(</a:t>
            </a:r>
            <a:r>
              <a:rPr sz="1700" spc="-270" dirty="0" smtClean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(</a:t>
            </a:r>
            <a:r>
              <a:rPr sz="1700" spc="-21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2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endParaRPr lang="pt-BR" sz="1700" spc="5" dirty="0" smtClean="0">
              <a:latin typeface="Arial"/>
              <a:cs typeface="Arial"/>
            </a:endParaRPr>
          </a:p>
          <a:p>
            <a:pPr marL="12700" marR="5080">
              <a:lnSpc>
                <a:spcPct val="129700"/>
              </a:lnSpc>
              <a:tabLst>
                <a:tab pos="305435" algn="l"/>
                <a:tab pos="2066289" algn="l"/>
              </a:tabLst>
            </a:pP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15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46" y="3541422"/>
            <a:ext cx="8555990" cy="3832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4340" marR="5361305" indent="-198120">
              <a:lnSpc>
                <a:spcPct val="129700"/>
              </a:lnSpc>
              <a:tabLst>
                <a:tab pos="160083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20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4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lang="pt-BR" sz="1700" spc="-195" dirty="0" smtClean="0">
                <a:latin typeface="Arial"/>
                <a:cs typeface="Arial"/>
              </a:rPr>
              <a:t>(</a:t>
            </a:r>
            <a:r>
              <a:rPr sz="1700" spc="-190" dirty="0" smtClean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195580" marR="1597025" indent="40640">
              <a:lnSpc>
                <a:spcPts val="2650"/>
              </a:lnSpc>
              <a:spcBef>
                <a:spcPts val="185"/>
              </a:spcBef>
              <a:tabLst>
                <a:tab pos="529590" algn="l"/>
                <a:tab pos="13868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150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70" dirty="0">
                <a:latin typeface="Arial"/>
                <a:cs typeface="Arial"/>
              </a:rPr>
              <a:t>r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5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 smtClean="0">
                <a:latin typeface="Arial"/>
                <a:cs typeface="Arial"/>
              </a:rPr>
              <a:t>;</a:t>
            </a:r>
            <a:r>
              <a:rPr lang="pt-BR" sz="1700" spc="5" dirty="0" smtClean="0">
                <a:latin typeface="Arial"/>
                <a:cs typeface="Arial"/>
              </a:rPr>
              <a:t>}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00" dirty="0" smtClean="0">
                <a:latin typeface="Arial"/>
                <a:cs typeface="Arial"/>
              </a:rPr>
              <a:t>Au</a:t>
            </a:r>
            <a:r>
              <a:rPr sz="1700" spc="10" dirty="0" smtClean="0">
                <a:latin typeface="Arial"/>
                <a:cs typeface="Arial"/>
              </a:rPr>
              <a:t>x</a:t>
            </a:r>
            <a:r>
              <a:rPr sz="1700" spc="114" dirty="0" smtClean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20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4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195" dirty="0">
                <a:latin typeface="Lucida Sans Unicode"/>
                <a:cs typeface="Lucida Sans Unicode"/>
              </a:rPr>
              <a:t>∗</a:t>
            </a:r>
            <a:r>
              <a:rPr sz="1700" spc="-114" dirty="0">
                <a:latin typeface="Arial"/>
                <a:cs typeface="Arial"/>
              </a:rPr>
              <a:t>p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1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467359" marR="5080" indent="-262255">
              <a:lnSpc>
                <a:spcPct val="1163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</a:t>
            </a:r>
            <a:r>
              <a:rPr sz="2050" b="1" spc="-5" dirty="0">
                <a:latin typeface="Arial"/>
                <a:cs typeface="Arial"/>
              </a:rPr>
              <a:t>.</a:t>
            </a:r>
            <a:r>
              <a:rPr sz="2050" b="1" spc="5" dirty="0">
                <a:latin typeface="Arial"/>
                <a:cs typeface="Arial"/>
              </a:rPr>
              <a:t>:</a:t>
            </a:r>
            <a:r>
              <a:rPr sz="2050" b="1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2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Wi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h, 1976,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211.</a:t>
            </a:r>
          </a:p>
        </p:txBody>
      </p:sp>
    </p:spTree>
    <p:extLst>
      <p:ext uri="{BB962C8B-B14F-4D97-AF65-F5344CB8AC3E}">
        <p14:creationId xmlns:p14="http://schemas.microsoft.com/office/powerpoint/2010/main" val="320401428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5791200" cy="42070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i="1" spc="150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i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125" dirty="0">
                <a:latin typeface="Arial"/>
                <a:cs typeface="Arial"/>
              </a:rPr>
              <a:t>r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0" dirty="0">
                <a:latin typeface="Lucida Sans Unicode"/>
                <a:cs typeface="Lucida Sans Unicode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257810" algn="l"/>
                <a:tab pos="55118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(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Antecesso</a:t>
            </a:r>
            <a:r>
              <a:rPr sz="1700" spc="125" dirty="0">
                <a:latin typeface="Arial"/>
                <a:cs typeface="Arial"/>
              </a:rPr>
              <a:t>r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&amp;(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223520" marR="3539490" indent="1905">
              <a:lnSpc>
                <a:spcPct val="133100"/>
              </a:lnSpc>
            </a:pP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10" dirty="0">
                <a:latin typeface="Arial"/>
                <a:cs typeface="Arial"/>
              </a:rPr>
              <a:t>g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(</a:t>
            </a:r>
            <a:r>
              <a:rPr sz="1700" spc="-270" dirty="0" smtClean="0">
                <a:latin typeface="Lucida Sans Unicode"/>
                <a:cs typeface="Lucida Sans Unicode"/>
              </a:rPr>
              <a:t>∗</a:t>
            </a:r>
            <a:r>
              <a:rPr sz="1700" spc="75" dirty="0" smtClean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2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5" dirty="0">
                <a:latin typeface="Arial"/>
                <a:cs typeface="Arial"/>
              </a:rPr>
              <a:t>; q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 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1300" marR="3967479" indent="-12065">
              <a:lnSpc>
                <a:spcPts val="2720"/>
              </a:lnSpc>
              <a:spcBef>
                <a:spcPts val="200"/>
              </a:spcBef>
            </a:pPr>
            <a:r>
              <a:rPr sz="1700" spc="-145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lang="pt-BR" sz="1700" spc="-195" dirty="0" smtClean="0">
                <a:latin typeface="Arial"/>
                <a:cs typeface="Arial"/>
              </a:rPr>
              <a:t>(</a:t>
            </a:r>
            <a:r>
              <a:rPr sz="1700" spc="-270" dirty="0" smtClean="0">
                <a:latin typeface="Lucida Sans Unicode"/>
                <a:cs typeface="Lucida Sans Unicode"/>
              </a:rPr>
              <a:t>∗</a:t>
            </a:r>
            <a:r>
              <a:rPr sz="1700" spc="75" dirty="0" smtClean="0">
                <a:latin typeface="Arial"/>
                <a:cs typeface="Arial"/>
              </a:rPr>
              <a:t>r</a:t>
            </a:r>
            <a:r>
              <a:rPr sz="1700" spc="-125" dirty="0">
                <a:latin typeface="Arial"/>
                <a:cs typeface="Arial"/>
              </a:rPr>
              <a:t>)</a:t>
            </a:r>
            <a:r>
              <a:rPr sz="1700" spc="-145" dirty="0">
                <a:latin typeface="Lucida Sans Unicode"/>
                <a:cs typeface="Lucida Sans Unicode"/>
              </a:rPr>
              <a:t>−</a:t>
            </a:r>
            <a:r>
              <a:rPr sz="1700" spc="-1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0620096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1928"/>
            <a:ext cx="50374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etira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Nó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25480" y="1594771"/>
            <a:ext cx="3747382" cy="16331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5384" y="3620383"/>
            <a:ext cx="2519341" cy="17217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24068" y="5835886"/>
            <a:ext cx="1810383" cy="13672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15673" y="5886520"/>
            <a:ext cx="1835700" cy="14305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95251" y="6576497"/>
            <a:ext cx="785495" cy="63500"/>
          </a:xfrm>
          <a:custGeom>
            <a:avLst/>
            <a:gdLst/>
            <a:ahLst/>
            <a:cxnLst/>
            <a:rect l="l" t="t" r="r" b="b"/>
            <a:pathLst>
              <a:path w="785495" h="63500">
                <a:moveTo>
                  <a:pt x="784924" y="63301"/>
                </a:moveTo>
                <a:lnTo>
                  <a:pt x="784924" y="0"/>
                </a:lnTo>
                <a:lnTo>
                  <a:pt x="0" y="0"/>
                </a:lnTo>
                <a:lnTo>
                  <a:pt x="0" y="63301"/>
                </a:lnTo>
                <a:lnTo>
                  <a:pt x="784924" y="63301"/>
                </a:lnTo>
                <a:close/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50647" y="189899"/>
                </a:lnTo>
                <a:lnTo>
                  <a:pt x="164592" y="101282"/>
                </a:lnTo>
                <a:lnTo>
                  <a:pt x="151930" y="886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91555" y="6513194"/>
            <a:ext cx="165100" cy="190500"/>
          </a:xfrm>
          <a:custGeom>
            <a:avLst/>
            <a:gdLst/>
            <a:ahLst/>
            <a:cxnLst/>
            <a:rect l="l" t="t" r="r" b="b"/>
            <a:pathLst>
              <a:path w="165100" h="190500">
                <a:moveTo>
                  <a:pt x="0" y="0"/>
                </a:moveTo>
                <a:lnTo>
                  <a:pt x="151930" y="88621"/>
                </a:lnTo>
                <a:lnTo>
                  <a:pt x="164592" y="101282"/>
                </a:lnTo>
                <a:lnTo>
                  <a:pt x="50647" y="189899"/>
                </a:lnTo>
              </a:path>
            </a:pathLst>
          </a:custGeom>
          <a:ln w="126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59806" y="1645945"/>
            <a:ext cx="2705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bye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0303" y="2127034"/>
            <a:ext cx="279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05324" y="2494165"/>
            <a:ext cx="1949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61227" y="2115426"/>
            <a:ext cx="39052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easy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8067" y="2481503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6250" y="4203268"/>
            <a:ext cx="279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and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96634" y="4165295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5311" y="4646371"/>
            <a:ext cx="1949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09008" y="6431433"/>
            <a:ext cx="1524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6112" y="5888113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80995" y="6483136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06882" y="5951410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85255" y="6609739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and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90523" y="6584418"/>
            <a:ext cx="208279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to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61076" y="3659949"/>
            <a:ext cx="29908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Courier New"/>
                <a:cs typeface="Courier New"/>
              </a:rPr>
              <a:t>bye</a:t>
            </a:r>
            <a:endParaRPr sz="1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27242596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22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981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põe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cent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al.</a:t>
            </a:r>
            <a:endParaRPr sz="2050">
              <a:latin typeface="Arial"/>
              <a:cs typeface="Arial"/>
            </a:endParaRPr>
          </a:p>
          <a:p>
            <a:pPr marL="484505" marR="1460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2415653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4715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311975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8186" y="2029653"/>
            <a:ext cx="3400425" cy="140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740" marR="727710" indent="-193675">
              <a:lnSpc>
                <a:spcPct val="133200"/>
              </a:lnSpc>
              <a:tabLst>
                <a:tab pos="226695" algn="l"/>
                <a:tab pos="528320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1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5740" marR="5080" indent="16510">
              <a:lnSpc>
                <a:spcPts val="2720"/>
              </a:lnSpc>
              <a:spcBef>
                <a:spcPts val="200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"%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5" dirty="0">
                <a:latin typeface="Arial"/>
                <a:cs typeface="Arial"/>
              </a:rPr>
              <a:t>&gt;</a:t>
            </a:r>
            <a:r>
              <a:rPr sz="1700" spc="-150" dirty="0">
                <a:latin typeface="Arial"/>
                <a:cs typeface="Arial"/>
              </a:rPr>
              <a:t>Re</a:t>
            </a:r>
            <a:r>
              <a:rPr sz="1700" spc="35" dirty="0">
                <a:latin typeface="Arial"/>
                <a:cs typeface="Arial"/>
              </a:rPr>
              <a:t>g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50" dirty="0">
                <a:latin typeface="Arial"/>
                <a:cs typeface="Arial"/>
              </a:rPr>
              <a:t>Centra</a:t>
            </a:r>
            <a:r>
              <a:rPr sz="1700" spc="175" dirty="0">
                <a:latin typeface="Arial"/>
                <a:cs typeface="Arial"/>
              </a:rPr>
              <a:t>l</a:t>
            </a:r>
            <a:r>
              <a:rPr sz="1700" spc="100" dirty="0">
                <a:latin typeface="Arial"/>
                <a:cs typeface="Arial"/>
              </a:rPr>
              <a:t>(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75" dirty="0">
                <a:latin typeface="Arial"/>
                <a:cs typeface="Arial"/>
              </a:rPr>
              <a:t>&gt;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3495725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715" y="1636252"/>
            <a:ext cx="379730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1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1, 2,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3, 4, 5,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6, 7.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15835" y="3176163"/>
            <a:ext cx="3256477" cy="2014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64388" y="411514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7668" y="411265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55913" y="411514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12266" y="36672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03805" y="3667264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8035" y="3219373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0449" y="4563021"/>
            <a:ext cx="118745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1564921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429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 marL="484505" marR="224154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apare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1447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uni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ond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317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45" y="5127383"/>
            <a:ext cx="6197055" cy="240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8460826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16645" cy="170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e-balan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tenta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ante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295" y="2735414"/>
            <a:ext cx="141732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j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3263" y="2735414"/>
            <a:ext cx="633730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obte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bon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a, pró</a:t>
            </a:r>
            <a:r>
              <a:rPr sz="2050" spc="5" dirty="0">
                <a:latin typeface="Arial"/>
                <a:cs typeface="Arial"/>
              </a:rPr>
              <a:t>xim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3047850"/>
            <a:ext cx="8522335" cy="700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63855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ót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á</a:t>
            </a:r>
            <a:r>
              <a:rPr sz="2050" spc="65" dirty="0" err="1">
                <a:latin typeface="Arial"/>
                <a:cs typeface="Arial"/>
              </a:rPr>
              <a:t>r</a:t>
            </a:r>
            <a:r>
              <a:rPr sz="2050" spc="-50" dirty="0" err="1">
                <a:latin typeface="Arial"/>
                <a:cs typeface="Arial"/>
              </a:rPr>
              <a:t>v</a:t>
            </a:r>
            <a:r>
              <a:rPr sz="2050" dirty="0" err="1">
                <a:latin typeface="Arial"/>
                <a:cs typeface="Arial"/>
              </a:rPr>
              <a:t>or</a:t>
            </a:r>
            <a:r>
              <a:rPr sz="2050" spc="-30" dirty="0" err="1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.</a:t>
            </a:r>
            <a:endParaRPr sz="20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7178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</TotalTime>
  <Words>14321</Words>
  <Application>Microsoft Office PowerPoint</Application>
  <PresentationFormat>Personalizar</PresentationFormat>
  <Paragraphs>3294</Paragraphs>
  <Slides>291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6</vt:i4>
      </vt:variant>
      <vt:variant>
        <vt:lpstr>Títulos de slides</vt:lpstr>
      </vt:variant>
      <vt:variant>
        <vt:i4>291</vt:i4>
      </vt:variant>
    </vt:vector>
  </HeadingPairs>
  <TitlesOfParts>
    <vt:vector size="297" baseType="lpstr">
      <vt:lpstr>Office Theme</vt:lpstr>
      <vt:lpstr>1_Office Theme</vt:lpstr>
      <vt:lpstr>2_Office Theme</vt:lpstr>
      <vt:lpstr>4_Office Theme</vt:lpstr>
      <vt:lpstr>5_Office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Definição</vt:lpstr>
      <vt:lpstr>Declaração</vt:lpstr>
      <vt:lpstr>Declaração</vt:lpstr>
      <vt:lpstr>Declaração</vt:lpstr>
      <vt:lpstr>Inicialização</vt:lpstr>
      <vt:lpstr>Inicialização</vt:lpstr>
      <vt:lpstr>Inicialização</vt:lpstr>
      <vt:lpstr>Inicialização</vt:lpstr>
      <vt:lpstr>Utilização</vt:lpstr>
      <vt:lpstr>Utilização</vt:lpstr>
      <vt:lpstr>Utilização</vt:lpstr>
      <vt:lpstr>Utilização</vt:lpstr>
      <vt:lpstr>Utilização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Ponteiros Genéricos</vt:lpstr>
      <vt:lpstr>Ponteiros Genéricos</vt:lpstr>
      <vt:lpstr>Ponteiros Genéricos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 para struct</vt:lpstr>
      <vt:lpstr>Ponteiro para ponteiro</vt:lpstr>
      <vt:lpstr>Ponteiro para ponteiro</vt:lpstr>
      <vt:lpstr>Ponteiro para ponteiro</vt:lpstr>
      <vt:lpstr>Ponteiro para ponteiro</vt:lpstr>
      <vt:lpstr>Ponteiro para ponteiro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Apresentação do PowerPoint</vt:lpstr>
      <vt:lpstr>Apresentação do PowerPoint</vt:lpstr>
      <vt:lpstr>Apresentação do PowerPoint</vt:lpstr>
      <vt:lpstr>Apresentação do PowerPoint</vt:lpstr>
      <vt:lpstr>Matrizes e subrotinas</vt:lpstr>
      <vt:lpstr>Exercícios</vt:lpstr>
      <vt:lpstr>Exercícios</vt:lpstr>
      <vt:lpstr>Exercícios</vt:lpstr>
      <vt:lpstr>Exercícios</vt:lpstr>
      <vt:lpstr>Estruturas heterogêneas</vt:lpstr>
      <vt:lpstr>Estruturas heterogêneas</vt:lpstr>
      <vt:lpstr>Variáveis compostas</vt:lpstr>
      <vt:lpstr>Definição de estrutura</vt:lpstr>
      <vt:lpstr>Estruturas - Definição</vt:lpstr>
      <vt:lpstr>Estruturas - Declaração</vt:lpstr>
      <vt:lpstr>Estruturas - Declaração</vt:lpstr>
      <vt:lpstr>Comando typedef</vt:lpstr>
      <vt:lpstr>Estruturas - Declaração</vt:lpstr>
      <vt:lpstr>Estruturas - Declaração</vt:lpstr>
      <vt:lpstr>Definição e Declaração</vt:lpstr>
      <vt:lpstr>Estruturas: Manipulação</vt:lpstr>
      <vt:lpstr>Estruturas: Manipulação</vt:lpstr>
      <vt:lpstr>Estruturas: Manipulação</vt:lpstr>
      <vt:lpstr>Exercícios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com vetor</vt:lpstr>
      <vt:lpstr>Exercício</vt:lpstr>
      <vt:lpstr>Atribuição de estruturas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Estruturas e funções</vt:lpstr>
      <vt:lpstr>Estruturas e funções</vt:lpstr>
      <vt:lpstr>Estruturas e funções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Inicialização de estruturas</vt:lpstr>
      <vt:lpstr>Inicialização de estruturas</vt:lpstr>
      <vt:lpstr>Vetores de estruturas</vt:lpstr>
      <vt:lpstr>Vetores de estruturas</vt:lpstr>
      <vt:lpstr>Vetores de estruturas</vt:lpstr>
      <vt:lpstr>Vetores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Impressão de vetor de estruturas</vt:lpstr>
      <vt:lpstr>Programa completo</vt:lpstr>
      <vt:lpstr>Exemplo 2</vt:lpstr>
      <vt:lpstr>Exercícios</vt:lpstr>
      <vt:lpstr>Exercícios</vt:lpstr>
      <vt:lpstr>Exercícios</vt:lpstr>
      <vt:lpstr>Recursividade - Definição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Exemplo de Algoritmo recursivo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Simulando o algoritmo</vt:lpstr>
      <vt:lpstr>Exercício</vt:lpstr>
      <vt:lpstr>Exercício</vt:lpstr>
      <vt:lpstr>Exercício</vt:lpstr>
      <vt:lpstr>Exercício</vt:lpstr>
      <vt:lpstr>Exercício</vt:lpstr>
      <vt:lpstr>Exercício</vt:lpstr>
      <vt:lpstr>Exercícios</vt:lpstr>
      <vt:lpstr>Exercícios</vt:lpstr>
      <vt:lpstr>Debugger (Depurador)</vt:lpstr>
      <vt:lpstr>Debugger (Depurador)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Controle da execução</vt:lpstr>
      <vt:lpstr>Controle da execução</vt:lpstr>
      <vt:lpstr>Controle da 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Dica</vt:lpstr>
      <vt:lpstr>Estruturas de Dados Básicas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Árvores de Pesquisa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93</cp:revision>
  <dcterms:created xsi:type="dcterms:W3CDTF">2015-06-18T03:37:37Z</dcterms:created>
  <dcterms:modified xsi:type="dcterms:W3CDTF">2019-02-25T15:00:15Z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