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9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81040" y="2180520"/>
            <a:ext cx="11029320" cy="36781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11029320" cy="3678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5382000" cy="3678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2680" y="2180520"/>
            <a:ext cx="5382000" cy="3678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581040" y="702000"/>
            <a:ext cx="11029320" cy="46987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2680" y="2180520"/>
            <a:ext cx="5382000" cy="3678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81040" y="410184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5382000" cy="3678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2680" y="218052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232680" y="410184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2680" y="218052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81040" y="4101840"/>
            <a:ext cx="1102932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1102932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581040" y="4101840"/>
            <a:ext cx="1102932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232680" y="218052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581040" y="410184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232680" y="410184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355104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309920" y="2180520"/>
            <a:ext cx="355104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8039160" y="2180520"/>
            <a:ext cx="355104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581040" y="4101840"/>
            <a:ext cx="355104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4309920" y="4101840"/>
            <a:ext cx="355104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body"/>
          </p:nvPr>
        </p:nvSpPr>
        <p:spPr>
          <a:xfrm>
            <a:off x="8039160" y="4101840"/>
            <a:ext cx="355104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581040" y="2180520"/>
            <a:ext cx="11029320" cy="36781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11029320" cy="3678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5382000" cy="3678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232680" y="2180520"/>
            <a:ext cx="5382000" cy="3678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581040" y="702000"/>
            <a:ext cx="11029320" cy="469872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2680" y="2180520"/>
            <a:ext cx="5382000" cy="3678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581040" y="410184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5382000" cy="36781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2680" y="218052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32680" y="410184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6232680" y="218052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81040" y="4101840"/>
            <a:ext cx="1102932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1102932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581040" y="4101840"/>
            <a:ext cx="1102932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6232680" y="218052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body"/>
          </p:nvPr>
        </p:nvSpPr>
        <p:spPr>
          <a:xfrm>
            <a:off x="581040" y="410184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body"/>
          </p:nvPr>
        </p:nvSpPr>
        <p:spPr>
          <a:xfrm>
            <a:off x="6232680" y="4101840"/>
            <a:ext cx="538200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581040" y="2180520"/>
            <a:ext cx="355104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4309920" y="2180520"/>
            <a:ext cx="355104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8039160" y="2180520"/>
            <a:ext cx="355104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581040" y="4101840"/>
            <a:ext cx="355104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 type="body"/>
          </p:nvPr>
        </p:nvSpPr>
        <p:spPr>
          <a:xfrm>
            <a:off x="4309920" y="4101840"/>
            <a:ext cx="355104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 type="body"/>
          </p:nvPr>
        </p:nvSpPr>
        <p:spPr>
          <a:xfrm>
            <a:off x="8039160" y="4101840"/>
            <a:ext cx="3551040" cy="1754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r="5400000" dist="254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" name="CustomShape 2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38100" dir="5400000" dist="254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" name="CustomShape 3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8100" dir="5400000" dist="254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446400" y="3085920"/>
            <a:ext cx="11262600" cy="3304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r="5400000" dist="254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" name="PlaceHolder 5"/>
          <p:cNvSpPr>
            <a:spLocks noGrp="1"/>
          </p:cNvSpPr>
          <p:nvPr>
            <p:ph type="title"/>
          </p:nvPr>
        </p:nvSpPr>
        <p:spPr>
          <a:xfrm>
            <a:off x="581040" y="1020600"/>
            <a:ext cx="10993320" cy="1474560"/>
          </a:xfrm>
          <a:prstGeom prst="rect">
            <a:avLst/>
          </a:prstGeom>
        </p:spPr>
        <p:txBody>
          <a:bodyPr anchor="b">
            <a:normAutofit/>
          </a:bodyPr>
          <a:p>
            <a:pPr>
              <a:lnSpc>
                <a:spcPct val="100000"/>
              </a:lnSpc>
            </a:pPr>
            <a:r>
              <a:rPr b="0" lang="en-US" sz="3600" spc="-1" strike="noStrike" cap="all">
                <a:solidFill>
                  <a:srgbClr val="4d1434"/>
                </a:solidFill>
                <a:latin typeface="Gill Sans MT"/>
              </a:rPr>
              <a:t>Clique para editar o título Mestre</a:t>
            </a:r>
            <a:endParaRPr b="0" lang="en-US" sz="36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dt"/>
          </p:nvPr>
        </p:nvSpPr>
        <p:spPr>
          <a:xfrm>
            <a:off x="7606080" y="5956200"/>
            <a:ext cx="2844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5F07A52A-6C8F-48F6-90C8-FFF694DAB8E6}" type="datetime">
              <a:rPr b="0" lang="pt-BR" sz="900" spc="-1" strike="noStrike">
                <a:solidFill>
                  <a:srgbClr val="9f296b"/>
                </a:solidFill>
                <a:latin typeface="Gill Sans MT"/>
              </a:rPr>
              <a:t>05/09/19</a:t>
            </a:fld>
            <a:endParaRPr b="0" lang="pt-BR" sz="900" spc="-1" strike="noStrike"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ftr"/>
          </p:nvPr>
        </p:nvSpPr>
        <p:spPr>
          <a:xfrm>
            <a:off x="581040" y="5951880"/>
            <a:ext cx="6916680" cy="364680"/>
          </a:xfrm>
          <a:prstGeom prst="rect">
            <a:avLst/>
          </a:prstGeom>
        </p:spPr>
        <p:txBody>
          <a:bodyPr anchor="ctr"/>
          <a:p>
            <a:endParaRPr b="0" lang="pt-BR" sz="2400" spc="-1" strike="noStrike"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sldNum"/>
          </p:nvPr>
        </p:nvSpPr>
        <p:spPr>
          <a:xfrm>
            <a:off x="10558440" y="5956200"/>
            <a:ext cx="101592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67530EE7-CB3A-48DF-932D-AE850D89EA65}" type="slidenum">
              <a:rPr b="0" lang="pt-BR" sz="900" spc="-1" strike="noStrike">
                <a:solidFill>
                  <a:srgbClr val="9f296b"/>
                </a:solidFill>
                <a:latin typeface="Gill Sans MT"/>
              </a:rPr>
              <a:t>&lt;número&gt;</a:t>
            </a:fld>
            <a:endParaRPr b="0" lang="pt-BR" sz="900" spc="-1" strike="noStrike">
              <a:latin typeface="Times New Roman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Clique para editar o formato do texto da estrutura de tópicos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3d3d3d"/>
                </a:solidFill>
                <a:latin typeface="Gill Sans MT"/>
              </a:rPr>
              <a:t>2.º nível da estrutura de tópicos</a:t>
            </a:r>
            <a:endParaRPr b="0" lang="en-US" sz="1400" spc="-1" strike="noStrike">
              <a:solidFill>
                <a:srgbClr val="3d3d3d"/>
              </a:solidFill>
              <a:latin typeface="Gill Sans MT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3d3d3d"/>
                </a:solidFill>
                <a:latin typeface="Gill Sans MT"/>
              </a:rPr>
              <a:t>3.º nível da estrutura de tópicos</a:t>
            </a:r>
            <a:endParaRPr b="0" lang="en-US" sz="1200" spc="-1" strike="noStrike">
              <a:solidFill>
                <a:srgbClr val="3d3d3d"/>
              </a:solidFill>
              <a:latin typeface="Gill Sans MT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3d3d3d"/>
                </a:solidFill>
                <a:latin typeface="Gill Sans MT"/>
              </a:rPr>
              <a:t>4.º nível da estrutura de tópicos</a:t>
            </a:r>
            <a:endParaRPr b="0" lang="en-US" sz="1200" spc="-1" strike="noStrike">
              <a:solidFill>
                <a:srgbClr val="3d3d3d"/>
              </a:solidFill>
              <a:latin typeface="Gill Sans MT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3d3d3d"/>
                </a:solidFill>
                <a:latin typeface="Gill Sans MT"/>
              </a:rPr>
              <a:t>5.º nível da estrutura de tópicos</a:t>
            </a:r>
            <a:endParaRPr b="0" lang="en-US" sz="2000" spc="-1" strike="noStrike">
              <a:solidFill>
                <a:srgbClr val="3d3d3d"/>
              </a:solidFill>
              <a:latin typeface="Gill Sans MT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3d3d3d"/>
                </a:solidFill>
                <a:latin typeface="Gill Sans MT"/>
              </a:rPr>
              <a:t>6.º nível da estrutura de tópicos</a:t>
            </a:r>
            <a:endParaRPr b="0" lang="en-US" sz="2000" spc="-1" strike="noStrike">
              <a:solidFill>
                <a:srgbClr val="3d3d3d"/>
              </a:solidFill>
              <a:latin typeface="Gill Sans MT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3d3d3d"/>
                </a:solidFill>
                <a:latin typeface="Gill Sans MT"/>
              </a:rPr>
              <a:t>7.º nível da estrutura de tópicos</a:t>
            </a:r>
            <a:endParaRPr b="0" lang="en-US" sz="20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446400" y="457200"/>
            <a:ext cx="3702960" cy="946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r="5400000" dist="254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" name="CustomShape 2"/>
          <p:cNvSpPr/>
          <p:nvPr/>
        </p:nvSpPr>
        <p:spPr>
          <a:xfrm>
            <a:off x="8042040" y="453600"/>
            <a:ext cx="3702960" cy="9828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38100" dir="5400000" dist="254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CustomShape 3"/>
          <p:cNvSpPr/>
          <p:nvPr/>
        </p:nvSpPr>
        <p:spPr>
          <a:xfrm>
            <a:off x="4241880" y="457200"/>
            <a:ext cx="3702960" cy="9108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38100" dir="5400000" dist="254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" name="CustomShape 4"/>
          <p:cNvSpPr/>
          <p:nvPr/>
        </p:nvSpPr>
        <p:spPr>
          <a:xfrm>
            <a:off x="440280" y="614520"/>
            <a:ext cx="11309040" cy="1189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r="5400000" dist="25400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PlaceHolder 5"/>
          <p:cNvSpPr>
            <a:spLocks noGrp="1"/>
          </p:cNvSpPr>
          <p:nvPr>
            <p:ph type="title"/>
          </p:nvPr>
        </p:nvSpPr>
        <p:spPr>
          <a:xfrm>
            <a:off x="581040" y="702000"/>
            <a:ext cx="11029320" cy="1013400"/>
          </a:xfrm>
          <a:prstGeom prst="rect">
            <a:avLst/>
          </a:prstGeom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Clique para editar o título Mestre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body"/>
          </p:nvPr>
        </p:nvSpPr>
        <p:spPr>
          <a:xfrm>
            <a:off x="581040" y="2180520"/>
            <a:ext cx="11029320" cy="3678120"/>
          </a:xfrm>
          <a:prstGeom prst="rect">
            <a:avLst/>
          </a:prstGeom>
        </p:spPr>
        <p:txBody>
          <a:bodyPr anchor="ctr"/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Clique para editar os estilos de texto Mestres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lvl="1" marL="630000" indent="-30564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Segundo nível</a:t>
            </a: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  <a:p>
            <a:pPr lvl="2" marL="900000" indent="-269640">
              <a:lnSpc>
                <a:spcPct val="100000"/>
              </a:lnSpc>
              <a:spcBef>
                <a:spcPts val="281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400" spc="-1" strike="noStrike">
                <a:solidFill>
                  <a:srgbClr val="3d3d3d"/>
                </a:solidFill>
                <a:latin typeface="Gill Sans MT"/>
              </a:rPr>
              <a:t>Terceiro nível</a:t>
            </a:r>
            <a:endParaRPr b="0" lang="en-US" sz="1400" spc="-1" strike="noStrike">
              <a:solidFill>
                <a:srgbClr val="3d3d3d"/>
              </a:solidFill>
              <a:latin typeface="Gill Sans MT"/>
            </a:endParaRPr>
          </a:p>
          <a:p>
            <a:pPr lvl="3" marL="1242000" indent="-23364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200" spc="-1" strike="noStrike">
                <a:solidFill>
                  <a:srgbClr val="3d3d3d"/>
                </a:solidFill>
                <a:latin typeface="Gill Sans MT"/>
              </a:rPr>
              <a:t>Quarto nível</a:t>
            </a:r>
            <a:endParaRPr b="0" lang="en-US" sz="1200" spc="-1" strike="noStrike">
              <a:solidFill>
                <a:srgbClr val="3d3d3d"/>
              </a:solidFill>
              <a:latin typeface="Gill Sans MT"/>
            </a:endParaRPr>
          </a:p>
          <a:p>
            <a:pPr lvl="4" marL="1602000" indent="-233640">
              <a:lnSpc>
                <a:spcPct val="100000"/>
              </a:lnSpc>
              <a:spcBef>
                <a:spcPts val="241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200" spc="-1" strike="noStrike">
                <a:solidFill>
                  <a:srgbClr val="3d3d3d"/>
                </a:solidFill>
                <a:latin typeface="Gill Sans MT"/>
              </a:rPr>
              <a:t>Quinto nível</a:t>
            </a:r>
            <a:endParaRPr b="0" lang="en-US" sz="1200" spc="-1" strike="noStrike">
              <a:solidFill>
                <a:srgbClr val="3d3d3d"/>
              </a:solidFill>
              <a:latin typeface="Gill Sans MT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dt"/>
          </p:nvPr>
        </p:nvSpPr>
        <p:spPr>
          <a:xfrm>
            <a:off x="7606080" y="5956200"/>
            <a:ext cx="2844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30766BCA-D57E-4E04-8D47-B9E5D1F2C066}" type="datetime">
              <a:rPr b="0" lang="pt-BR" sz="900" spc="-1" strike="noStrike">
                <a:solidFill>
                  <a:srgbClr val="903163"/>
                </a:solidFill>
                <a:latin typeface="Gill Sans MT"/>
              </a:rPr>
              <a:t>05/09/19</a:t>
            </a:fld>
            <a:endParaRPr b="0" lang="pt-BR" sz="900" spc="-1" strike="noStrike"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ftr"/>
          </p:nvPr>
        </p:nvSpPr>
        <p:spPr>
          <a:xfrm>
            <a:off x="581040" y="5951880"/>
            <a:ext cx="6916680" cy="364680"/>
          </a:xfrm>
          <a:prstGeom prst="rect">
            <a:avLst/>
          </a:prstGeom>
        </p:spPr>
        <p:txBody>
          <a:bodyPr anchor="ctr"/>
          <a:p>
            <a:endParaRPr b="0" lang="pt-BR" sz="2400" spc="-1" strike="noStrike">
              <a:latin typeface="Times New Roman"/>
            </a:endParaRPr>
          </a:p>
        </p:txBody>
      </p:sp>
      <p:sp>
        <p:nvSpPr>
          <p:cNvPr id="53" name="PlaceHolder 9"/>
          <p:cNvSpPr>
            <a:spLocks noGrp="1"/>
          </p:cNvSpPr>
          <p:nvPr>
            <p:ph type="sldNum"/>
          </p:nvPr>
        </p:nvSpPr>
        <p:spPr>
          <a:xfrm>
            <a:off x="10558440" y="5956200"/>
            <a:ext cx="105228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FA210C2E-C8BA-4621-ADA6-49EEC28F3F6E}" type="slidenum">
              <a:rPr b="0" lang="pt-BR" sz="900" spc="-1" strike="noStrike">
                <a:solidFill>
                  <a:srgbClr val="903163"/>
                </a:solidFill>
                <a:latin typeface="Gill Sans MT"/>
              </a:rPr>
              <a:t>1</a:t>
            </a:fld>
            <a:endParaRPr b="0" lang="pt-BR" sz="9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581040" y="1020600"/>
            <a:ext cx="10993320" cy="147456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3600" spc="-1" strike="noStrike" cap="all">
                <a:solidFill>
                  <a:srgbClr val="4d1434"/>
                </a:solidFill>
                <a:latin typeface="Gill Sans MT"/>
              </a:rPr>
              <a:t>Classificação e pesquisa de dados</a:t>
            </a:r>
            <a:endParaRPr b="0" lang="en-US" sz="36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581040" y="2495520"/>
            <a:ext cx="10993320" cy="59004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</a:pPr>
            <a:r>
              <a:rPr b="0" lang="pt-BR" sz="1600" spc="-1" strike="noStrike" cap="all">
                <a:solidFill>
                  <a:srgbClr val="903163"/>
                </a:solidFill>
                <a:latin typeface="Gill Sans MT"/>
              </a:rPr>
              <a:t>Insertion SORT &amp; Shell sort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92" name="CustomShape 3"/>
          <p:cNvSpPr/>
          <p:nvPr/>
        </p:nvSpPr>
        <p:spPr>
          <a:xfrm>
            <a:off x="593280" y="3244320"/>
            <a:ext cx="28404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ffffff"/>
                </a:solidFill>
                <a:latin typeface="Gill Sans MT"/>
              </a:rPr>
              <a:t>Maria Júlia Marques Schettini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Insertion sort 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94" name="TextShape 2"/>
          <p:cNvSpPr txBox="1"/>
          <p:nvPr/>
        </p:nvSpPr>
        <p:spPr>
          <a:xfrm>
            <a:off x="581040" y="1955520"/>
            <a:ext cx="11029320" cy="43286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Implementação simples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Utilizado em pequenas listas 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Utilizado quando a lista está quase ordenada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</a:pP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Define uma chave começando pelo valor de posição 1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Compara o valor da “chave” com os outros itens anteriores.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 </a:t>
            </a: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Se a chave for menor desloque o item para a </a:t>
            </a:r>
            <a:r>
              <a:rPr b="1" lang="en-US" sz="1800" spc="-1" strike="noStrike">
                <a:solidFill>
                  <a:srgbClr val="3d3d3d"/>
                </a:solidFill>
                <a:latin typeface="Gill Sans MT"/>
              </a:rPr>
              <a:t>direita</a:t>
            </a: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 para liberar um novo espaço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Se a chave for maior ou não existirem mais itens, significa que foi localizada a posição que a chave deve estar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</a:pP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Código fonte 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96" name="Espaço Reservado para Conteúdo 5" descr=""/>
          <p:cNvPicPr/>
          <p:nvPr/>
        </p:nvPicPr>
        <p:blipFill>
          <a:blip r:embed="rId1"/>
          <a:stretch/>
        </p:blipFill>
        <p:spPr>
          <a:xfrm>
            <a:off x="581040" y="2114640"/>
            <a:ext cx="4247640" cy="4247640"/>
          </a:xfrm>
          <a:prstGeom prst="rect">
            <a:avLst/>
          </a:prstGeom>
          <a:ln>
            <a:noFill/>
          </a:ln>
        </p:spPr>
      </p:pic>
      <p:sp>
        <p:nvSpPr>
          <p:cNvPr id="97" name="CustomShape 2"/>
          <p:cNvSpPr/>
          <p:nvPr/>
        </p:nvSpPr>
        <p:spPr>
          <a:xfrm>
            <a:off x="6095880" y="2400480"/>
            <a:ext cx="3676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Declaração das variáveis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98" name="Line 3"/>
          <p:cNvSpPr/>
          <p:nvPr/>
        </p:nvSpPr>
        <p:spPr>
          <a:xfrm>
            <a:off x="814320" y="2769480"/>
            <a:ext cx="1056312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" name="Line 4"/>
          <p:cNvSpPr/>
          <p:nvPr/>
        </p:nvSpPr>
        <p:spPr>
          <a:xfrm>
            <a:off x="814320" y="3121200"/>
            <a:ext cx="1056312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CustomShape 5"/>
          <p:cNvSpPr/>
          <p:nvPr/>
        </p:nvSpPr>
        <p:spPr>
          <a:xfrm>
            <a:off x="6095880" y="2751840"/>
            <a:ext cx="46861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Estrutura de repetição para percorrer a lista 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01" name="CustomShape 6"/>
          <p:cNvSpPr/>
          <p:nvPr/>
        </p:nvSpPr>
        <p:spPr>
          <a:xfrm>
            <a:off x="6095880" y="3503880"/>
            <a:ext cx="519048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A variável</a:t>
            </a:r>
            <a:r>
              <a:rPr b="1" lang="pt-BR" sz="1800" spc="-1" strike="noStrike">
                <a:solidFill>
                  <a:srgbClr val="d45b9f"/>
                </a:solidFill>
                <a:latin typeface="Gill Sans MT"/>
              </a:rPr>
              <a:t> i </a:t>
            </a: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controla a posição do item comparado 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02" name="CustomShape 7"/>
          <p:cNvSpPr/>
          <p:nvPr/>
        </p:nvSpPr>
        <p:spPr>
          <a:xfrm>
            <a:off x="6095880" y="3155400"/>
            <a:ext cx="519048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A variável</a:t>
            </a:r>
            <a:r>
              <a:rPr b="1" lang="pt-BR" sz="1800" spc="-1" strike="noStrike">
                <a:solidFill>
                  <a:srgbClr val="d45b9f"/>
                </a:solidFill>
                <a:latin typeface="Gill Sans MT"/>
              </a:rPr>
              <a:t> j </a:t>
            </a: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controla a posição da chave 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03" name="Line 8"/>
          <p:cNvSpPr/>
          <p:nvPr/>
        </p:nvSpPr>
        <p:spPr>
          <a:xfrm>
            <a:off x="861840" y="4715640"/>
            <a:ext cx="1065600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" name="CustomShape 9"/>
          <p:cNvSpPr/>
          <p:nvPr/>
        </p:nvSpPr>
        <p:spPr>
          <a:xfrm>
            <a:off x="6095880" y="4069440"/>
            <a:ext cx="519048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Estrutura de repetição para percorrer a parte da lista já ordenada examinando a posição que a chave ficará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05" name="CustomShape 10"/>
          <p:cNvSpPr/>
          <p:nvPr/>
        </p:nvSpPr>
        <p:spPr>
          <a:xfrm flipH="1">
            <a:off x="6050880" y="4876920"/>
            <a:ext cx="519048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Comandos para mover o item para a próxima posição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06" name="CustomShape 11"/>
          <p:cNvSpPr/>
          <p:nvPr/>
        </p:nvSpPr>
        <p:spPr>
          <a:xfrm>
            <a:off x="6050880" y="5410080"/>
            <a:ext cx="54669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Comando para alocar a chave para posição correta 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07" name="Line 12"/>
          <p:cNvSpPr/>
          <p:nvPr/>
        </p:nvSpPr>
        <p:spPr>
          <a:xfrm>
            <a:off x="814320" y="5779440"/>
            <a:ext cx="1070352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Teste de mesa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09" name="Picture 6" descr=""/>
          <p:cNvPicPr/>
          <p:nvPr/>
        </p:nvPicPr>
        <p:blipFill>
          <a:blip r:embed="rId1"/>
          <a:stretch/>
        </p:blipFill>
        <p:spPr>
          <a:xfrm>
            <a:off x="790920" y="2002320"/>
            <a:ext cx="3504960" cy="799920"/>
          </a:xfrm>
          <a:prstGeom prst="rect">
            <a:avLst/>
          </a:prstGeom>
          <a:ln>
            <a:noFill/>
          </a:ln>
        </p:spPr>
      </p:pic>
      <p:pic>
        <p:nvPicPr>
          <p:cNvPr id="110" name="Picture 8" descr=""/>
          <p:cNvPicPr/>
          <p:nvPr/>
        </p:nvPicPr>
        <p:blipFill>
          <a:blip r:embed="rId2"/>
          <a:stretch/>
        </p:blipFill>
        <p:spPr>
          <a:xfrm>
            <a:off x="790560" y="3050640"/>
            <a:ext cx="3533400" cy="942480"/>
          </a:xfrm>
          <a:prstGeom prst="rect">
            <a:avLst/>
          </a:prstGeom>
          <a:ln>
            <a:noFill/>
          </a:ln>
        </p:spPr>
      </p:pic>
      <p:sp>
        <p:nvSpPr>
          <p:cNvPr id="111" name="CustomShape 2"/>
          <p:cNvSpPr/>
          <p:nvPr/>
        </p:nvSpPr>
        <p:spPr>
          <a:xfrm>
            <a:off x="4457880" y="2110680"/>
            <a:ext cx="716256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A chave (3) está na posição 1 da lista, considerando que o primeiro elemento da lista (5) já está ordenado.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12" name="CustomShape 3"/>
          <p:cNvSpPr/>
          <p:nvPr/>
        </p:nvSpPr>
        <p:spPr>
          <a:xfrm>
            <a:off x="4667400" y="3105720"/>
            <a:ext cx="716256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É necessário comparar a chave com os itens à esquerda (itens já ordenados).  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113" name="Picture 12" descr=""/>
          <p:cNvPicPr/>
          <p:nvPr/>
        </p:nvPicPr>
        <p:blipFill>
          <a:blip r:embed="rId3"/>
          <a:stretch/>
        </p:blipFill>
        <p:spPr>
          <a:xfrm>
            <a:off x="771480" y="5215320"/>
            <a:ext cx="3571560" cy="847440"/>
          </a:xfrm>
          <a:prstGeom prst="rect">
            <a:avLst/>
          </a:prstGeom>
          <a:ln>
            <a:noFill/>
          </a:ln>
        </p:spPr>
      </p:pic>
      <p:sp>
        <p:nvSpPr>
          <p:cNvPr id="114" name="CustomShape 4"/>
          <p:cNvSpPr/>
          <p:nvPr/>
        </p:nvSpPr>
        <p:spPr>
          <a:xfrm>
            <a:off x="4448160" y="5409720"/>
            <a:ext cx="694332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Quando a iteração chega ao início da lista significa que o item inserido (3) está na posição correta, podendo inserir um novo item (chave/1)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15" name="CustomShape 5"/>
          <p:cNvSpPr/>
          <p:nvPr/>
        </p:nvSpPr>
        <p:spPr>
          <a:xfrm>
            <a:off x="4667400" y="4101120"/>
            <a:ext cx="694332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Como a chave (3) é menor que o item comparado (5) o elemento (5) é movido para a direita para que a chave possa ser alocada em seu lugar 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116" name="Picture 16" descr=""/>
          <p:cNvPicPr/>
          <p:nvPr/>
        </p:nvPicPr>
        <p:blipFill>
          <a:blip r:embed="rId4"/>
          <a:stretch/>
        </p:blipFill>
        <p:spPr>
          <a:xfrm>
            <a:off x="809640" y="3995640"/>
            <a:ext cx="3495240" cy="114264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Teste de mesa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18" name="Picture 2" descr=""/>
          <p:cNvPicPr/>
          <p:nvPr/>
        </p:nvPicPr>
        <p:blipFill>
          <a:blip r:embed="rId1"/>
          <a:stretch/>
        </p:blipFill>
        <p:spPr>
          <a:xfrm>
            <a:off x="581040" y="2909520"/>
            <a:ext cx="3504960" cy="1047240"/>
          </a:xfrm>
          <a:prstGeom prst="rect">
            <a:avLst/>
          </a:prstGeom>
          <a:ln>
            <a:noFill/>
          </a:ln>
        </p:spPr>
      </p:pic>
      <p:pic>
        <p:nvPicPr>
          <p:cNvPr id="119" name="Picture 4" descr=""/>
          <p:cNvPicPr/>
          <p:nvPr/>
        </p:nvPicPr>
        <p:blipFill>
          <a:blip r:embed="rId2"/>
          <a:stretch/>
        </p:blipFill>
        <p:spPr>
          <a:xfrm>
            <a:off x="600120" y="4105080"/>
            <a:ext cx="3504960" cy="1056960"/>
          </a:xfrm>
          <a:prstGeom prst="rect">
            <a:avLst/>
          </a:prstGeom>
          <a:ln>
            <a:noFill/>
          </a:ln>
        </p:spPr>
      </p:pic>
      <p:pic>
        <p:nvPicPr>
          <p:cNvPr id="120" name="Picture 6" descr=""/>
          <p:cNvPicPr/>
          <p:nvPr/>
        </p:nvPicPr>
        <p:blipFill>
          <a:blip r:embed="rId3"/>
          <a:stretch/>
        </p:blipFill>
        <p:spPr>
          <a:xfrm>
            <a:off x="600120" y="5162400"/>
            <a:ext cx="3504960" cy="1056960"/>
          </a:xfrm>
          <a:prstGeom prst="rect">
            <a:avLst/>
          </a:prstGeom>
          <a:ln>
            <a:noFill/>
          </a:ln>
        </p:spPr>
      </p:pic>
      <p:pic>
        <p:nvPicPr>
          <p:cNvPr id="121" name="Picture 14" descr=""/>
          <p:cNvPicPr/>
          <p:nvPr/>
        </p:nvPicPr>
        <p:blipFill>
          <a:blip r:embed="rId4"/>
          <a:stretch/>
        </p:blipFill>
        <p:spPr>
          <a:xfrm>
            <a:off x="581040" y="1893600"/>
            <a:ext cx="3524040" cy="837720"/>
          </a:xfrm>
          <a:prstGeom prst="rect">
            <a:avLst/>
          </a:prstGeom>
          <a:ln>
            <a:noFill/>
          </a:ln>
        </p:spPr>
      </p:pic>
      <p:sp>
        <p:nvSpPr>
          <p:cNvPr id="122" name="CustomShape 2"/>
          <p:cNvSpPr/>
          <p:nvPr/>
        </p:nvSpPr>
        <p:spPr>
          <a:xfrm>
            <a:off x="4495680" y="2156400"/>
            <a:ext cx="711468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Comparando a chave (1) com a lista já ordenada a sua esquerda, começando com o item mais próximo em posição (5)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3" name="CustomShape 3"/>
          <p:cNvSpPr/>
          <p:nvPr/>
        </p:nvSpPr>
        <p:spPr>
          <a:xfrm>
            <a:off x="4495680" y="3296160"/>
            <a:ext cx="711468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Como a chave (1) é menor que o item comparado (5), o elemento (5) é movido para a direita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4" name="CustomShape 4"/>
          <p:cNvSpPr/>
          <p:nvPr/>
        </p:nvSpPr>
        <p:spPr>
          <a:xfrm>
            <a:off x="4495680" y="4436280"/>
            <a:ext cx="691488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Nesse momento o valor da chave (1) é comparado com o valor do item de posição anterior (3)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25" name="CustomShape 5"/>
          <p:cNvSpPr/>
          <p:nvPr/>
        </p:nvSpPr>
        <p:spPr>
          <a:xfrm flipH="1">
            <a:off x="4495680" y="5576040"/>
            <a:ext cx="709560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Como a chave (1) é menor que o item comparado (3), o elemento (3) é movido para a posição à direita 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Teste de mesa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27" name="Picture 2" descr=""/>
          <p:cNvPicPr/>
          <p:nvPr/>
        </p:nvPicPr>
        <p:blipFill>
          <a:blip r:embed="rId1"/>
          <a:stretch/>
        </p:blipFill>
        <p:spPr>
          <a:xfrm>
            <a:off x="571320" y="3348360"/>
            <a:ext cx="3533400" cy="856800"/>
          </a:xfrm>
          <a:prstGeom prst="rect">
            <a:avLst/>
          </a:prstGeom>
          <a:ln>
            <a:noFill/>
          </a:ln>
        </p:spPr>
      </p:pic>
      <p:pic>
        <p:nvPicPr>
          <p:cNvPr id="128" name="Picture 4" descr=""/>
          <p:cNvPicPr/>
          <p:nvPr/>
        </p:nvPicPr>
        <p:blipFill>
          <a:blip r:embed="rId2"/>
          <a:stretch/>
        </p:blipFill>
        <p:spPr>
          <a:xfrm>
            <a:off x="581040" y="4276080"/>
            <a:ext cx="3552480" cy="1047240"/>
          </a:xfrm>
          <a:prstGeom prst="rect">
            <a:avLst/>
          </a:prstGeom>
          <a:ln>
            <a:noFill/>
          </a:ln>
        </p:spPr>
      </p:pic>
      <p:pic>
        <p:nvPicPr>
          <p:cNvPr id="129" name="Picture 8" descr=""/>
          <p:cNvPicPr/>
          <p:nvPr/>
        </p:nvPicPr>
        <p:blipFill>
          <a:blip r:embed="rId3"/>
          <a:stretch/>
        </p:blipFill>
        <p:spPr>
          <a:xfrm>
            <a:off x="581040" y="5394240"/>
            <a:ext cx="3619080" cy="1028520"/>
          </a:xfrm>
          <a:prstGeom prst="rect">
            <a:avLst/>
          </a:prstGeom>
          <a:ln>
            <a:noFill/>
          </a:ln>
        </p:spPr>
      </p:pic>
      <p:pic>
        <p:nvPicPr>
          <p:cNvPr id="130" name="Picture 8" descr=""/>
          <p:cNvPicPr/>
          <p:nvPr/>
        </p:nvPicPr>
        <p:blipFill>
          <a:blip r:embed="rId4"/>
          <a:stretch/>
        </p:blipFill>
        <p:spPr>
          <a:xfrm>
            <a:off x="571320" y="2075040"/>
            <a:ext cx="3485880" cy="914040"/>
          </a:xfrm>
          <a:prstGeom prst="rect">
            <a:avLst/>
          </a:prstGeom>
          <a:ln>
            <a:noFill/>
          </a:ln>
        </p:spPr>
      </p:pic>
      <p:sp>
        <p:nvSpPr>
          <p:cNvPr id="131" name="CustomShape 2"/>
          <p:cNvSpPr/>
          <p:nvPr/>
        </p:nvSpPr>
        <p:spPr>
          <a:xfrm>
            <a:off x="4476600" y="2197440"/>
            <a:ext cx="7143480" cy="91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Como a iteração chegou no início da lista significa que não existem mais elementos a serem comparados e que o item inserido (1) está na posição correta,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2" name="CustomShape 3"/>
          <p:cNvSpPr/>
          <p:nvPr/>
        </p:nvSpPr>
        <p:spPr>
          <a:xfrm>
            <a:off x="4476600" y="3348360"/>
            <a:ext cx="7000200" cy="91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Neste momento a chave é alterada para o valor 2 e está é comparada com a lista já ordenada a sua esquerda, começando com o item mais próximo em posição (5)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3" name="CustomShape 4"/>
          <p:cNvSpPr/>
          <p:nvPr/>
        </p:nvSpPr>
        <p:spPr>
          <a:xfrm>
            <a:off x="4476600" y="4609440"/>
            <a:ext cx="711468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Como a chave (2) é menor que o item comparado (5), o elemento (5) é movido para a direita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34" name="CustomShape 5"/>
          <p:cNvSpPr/>
          <p:nvPr/>
        </p:nvSpPr>
        <p:spPr>
          <a:xfrm>
            <a:off x="4476600" y="5593680"/>
            <a:ext cx="691488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Nesse momento o valor da chave (2) é comparado com o valor do item de posição anterior (3) do comparado na etapa passada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Teste de mesa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36" name="Picture 2" descr=""/>
          <p:cNvPicPr/>
          <p:nvPr/>
        </p:nvPicPr>
        <p:blipFill>
          <a:blip r:embed="rId1"/>
          <a:stretch/>
        </p:blipFill>
        <p:spPr>
          <a:xfrm>
            <a:off x="581040" y="3173400"/>
            <a:ext cx="3504960" cy="1123560"/>
          </a:xfrm>
          <a:prstGeom prst="rect">
            <a:avLst/>
          </a:prstGeom>
          <a:ln>
            <a:noFill/>
          </a:ln>
        </p:spPr>
      </p:pic>
      <p:pic>
        <p:nvPicPr>
          <p:cNvPr id="137" name="Picture 4" descr=""/>
          <p:cNvPicPr/>
          <p:nvPr/>
        </p:nvPicPr>
        <p:blipFill>
          <a:blip r:embed="rId2"/>
          <a:stretch/>
        </p:blipFill>
        <p:spPr>
          <a:xfrm>
            <a:off x="619200" y="4472640"/>
            <a:ext cx="3466800" cy="894960"/>
          </a:xfrm>
          <a:prstGeom prst="rect">
            <a:avLst/>
          </a:prstGeom>
          <a:ln>
            <a:noFill/>
          </a:ln>
        </p:spPr>
      </p:pic>
      <p:pic>
        <p:nvPicPr>
          <p:cNvPr id="138" name="Picture 6" descr=""/>
          <p:cNvPicPr/>
          <p:nvPr/>
        </p:nvPicPr>
        <p:blipFill>
          <a:blip r:embed="rId3"/>
          <a:stretch/>
        </p:blipFill>
        <p:spPr>
          <a:xfrm>
            <a:off x="619200" y="5741640"/>
            <a:ext cx="3409560" cy="828360"/>
          </a:xfrm>
          <a:prstGeom prst="rect">
            <a:avLst/>
          </a:prstGeom>
          <a:ln>
            <a:noFill/>
          </a:ln>
        </p:spPr>
      </p:pic>
      <p:pic>
        <p:nvPicPr>
          <p:cNvPr id="139" name="Picture 10" descr=""/>
          <p:cNvPicPr/>
          <p:nvPr/>
        </p:nvPicPr>
        <p:blipFill>
          <a:blip r:embed="rId4"/>
          <a:stretch/>
        </p:blipFill>
        <p:spPr>
          <a:xfrm>
            <a:off x="619200" y="1835640"/>
            <a:ext cx="3514320" cy="1047240"/>
          </a:xfrm>
          <a:prstGeom prst="rect">
            <a:avLst/>
          </a:prstGeom>
          <a:ln>
            <a:noFill/>
          </a:ln>
        </p:spPr>
      </p:pic>
      <p:sp>
        <p:nvSpPr>
          <p:cNvPr id="140" name="CustomShape 2"/>
          <p:cNvSpPr/>
          <p:nvPr/>
        </p:nvSpPr>
        <p:spPr>
          <a:xfrm>
            <a:off x="4419720" y="2121480"/>
            <a:ext cx="715284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Como a chave (2) é menor que o item comparado (3), o elemento (3) também é movido para a direita.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41" name="CustomShape 3"/>
          <p:cNvSpPr/>
          <p:nvPr/>
        </p:nvSpPr>
        <p:spPr>
          <a:xfrm>
            <a:off x="4419720" y="3373920"/>
            <a:ext cx="7191000" cy="91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Comparando a chave (2) com o item a esquerda (1)  a chave (2) é maior que ele, logo, o mesmo não precisa ser realocado e não há mais itens a esquerda a serem comparados com a chave, portanto esta é sua posição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42" name="CustomShape 4"/>
          <p:cNvSpPr/>
          <p:nvPr/>
        </p:nvSpPr>
        <p:spPr>
          <a:xfrm>
            <a:off x="4419720" y="4597200"/>
            <a:ext cx="609552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Como a chave (2) foi posicionada, a chave troca seu valor para o próximo item da lista (4)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43" name="CustomShape 5"/>
          <p:cNvSpPr/>
          <p:nvPr/>
        </p:nvSpPr>
        <p:spPr>
          <a:xfrm>
            <a:off x="4514760" y="5694120"/>
            <a:ext cx="700020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Neste momento a nova chave (4) é comparada com a lista já ordenada a sua esquerda, começando com o item mais próximo em posição (5)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Teste de mesa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45" name="Picture 2" descr=""/>
          <p:cNvPicPr/>
          <p:nvPr/>
        </p:nvPicPr>
        <p:blipFill>
          <a:blip r:embed="rId1"/>
          <a:stretch/>
        </p:blipFill>
        <p:spPr>
          <a:xfrm>
            <a:off x="581040" y="3429000"/>
            <a:ext cx="3419280" cy="1028520"/>
          </a:xfrm>
          <a:prstGeom prst="rect">
            <a:avLst/>
          </a:prstGeom>
          <a:ln>
            <a:noFill/>
          </a:ln>
        </p:spPr>
      </p:pic>
      <p:pic>
        <p:nvPicPr>
          <p:cNvPr id="146" name="Picture 4" descr=""/>
          <p:cNvPicPr/>
          <p:nvPr/>
        </p:nvPicPr>
        <p:blipFill>
          <a:blip r:embed="rId2"/>
          <a:stretch/>
        </p:blipFill>
        <p:spPr>
          <a:xfrm>
            <a:off x="581040" y="4930920"/>
            <a:ext cx="3457080" cy="875880"/>
          </a:xfrm>
          <a:prstGeom prst="rect">
            <a:avLst/>
          </a:prstGeom>
          <a:ln>
            <a:noFill/>
          </a:ln>
        </p:spPr>
      </p:pic>
      <p:pic>
        <p:nvPicPr>
          <p:cNvPr id="147" name="Picture 8" descr=""/>
          <p:cNvPicPr/>
          <p:nvPr/>
        </p:nvPicPr>
        <p:blipFill>
          <a:blip r:embed="rId3"/>
          <a:stretch/>
        </p:blipFill>
        <p:spPr>
          <a:xfrm>
            <a:off x="581040" y="2076480"/>
            <a:ext cx="3504960" cy="1066320"/>
          </a:xfrm>
          <a:prstGeom prst="rect">
            <a:avLst/>
          </a:prstGeom>
          <a:ln>
            <a:noFill/>
          </a:ln>
        </p:spPr>
      </p:pic>
      <p:sp>
        <p:nvSpPr>
          <p:cNvPr id="148" name="CustomShape 2"/>
          <p:cNvSpPr/>
          <p:nvPr/>
        </p:nvSpPr>
        <p:spPr>
          <a:xfrm>
            <a:off x="4605120" y="2296080"/>
            <a:ext cx="700020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Como o valor do item comparado (5) é maior que a chave (4), o elemento é posicionado à direita.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49" name="CustomShape 3"/>
          <p:cNvSpPr/>
          <p:nvPr/>
        </p:nvSpPr>
        <p:spPr>
          <a:xfrm>
            <a:off x="4419720" y="3373920"/>
            <a:ext cx="719100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Comparando a chave (4) com o item a esquerda (3)  a chave (2) é maior que ele, logo, o mesmo não precisa ser realocado.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50" name="CustomShape 4"/>
          <p:cNvSpPr/>
          <p:nvPr/>
        </p:nvSpPr>
        <p:spPr>
          <a:xfrm>
            <a:off x="4414680" y="4930920"/>
            <a:ext cx="719100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Como não há mais itens a serem comparados com a chave, pois os elementos a esquerda já estão ordenados esta é a posição da chave.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Análise de complexidade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52" name="TextShape 2"/>
          <p:cNvSpPr txBox="1"/>
          <p:nvPr/>
        </p:nvSpPr>
        <p:spPr>
          <a:xfrm>
            <a:off x="581040" y="2180520"/>
            <a:ext cx="11029320" cy="42476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Melhor caso: 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marL="3240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Lista já ordenada</a:t>
            </a: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  <a:p>
            <a:pPr marL="3240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Percorre n - 1 vezes      O(n)</a:t>
            </a: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  <a:p>
            <a:pPr marL="3240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(todos os elementos da lista, exceto o primeiro).</a:t>
            </a: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Pior caso: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marL="3240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Lista ordenada de forma reversa </a:t>
            </a: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  <a:p>
            <a:pPr marL="3240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Percorre a lista para cada elemento</a:t>
            </a: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  <a:p>
            <a:pPr marL="3240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 </a:t>
            </a: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n * n = O(n²)</a:t>
            </a: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Caso médio: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marL="3240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Lista ordenada aleatoriamente </a:t>
            </a: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  <a:p>
            <a:pPr marL="3240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Percorre a lista para metade dos elementos</a:t>
            </a: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  <a:p>
            <a:pPr marL="3240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</a:pP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n * n/2  =  O(n²/2)</a:t>
            </a: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  <a:p>
            <a:pPr marL="3240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</a:pP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  <a:p>
            <a:pPr marL="32400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</a:pP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</p:txBody>
      </p:sp>
      <p:pic>
        <p:nvPicPr>
          <p:cNvPr id="153" name="Espaço Reservado para Conteúdo 5" descr=""/>
          <p:cNvPicPr/>
          <p:nvPr/>
        </p:nvPicPr>
        <p:blipFill>
          <a:blip r:embed="rId1"/>
          <a:stretch/>
        </p:blipFill>
        <p:spPr>
          <a:xfrm>
            <a:off x="5581800" y="2180520"/>
            <a:ext cx="4247640" cy="4247640"/>
          </a:xfrm>
          <a:prstGeom prst="rect">
            <a:avLst/>
          </a:prstGeom>
          <a:ln>
            <a:noFill/>
          </a:ln>
        </p:spPr>
      </p:pic>
      <p:sp>
        <p:nvSpPr>
          <p:cNvPr id="154" name="CustomShape 3"/>
          <p:cNvSpPr/>
          <p:nvPr/>
        </p:nvSpPr>
        <p:spPr>
          <a:xfrm>
            <a:off x="10453680" y="2891880"/>
            <a:ext cx="7758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O(N²)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55" name="Line 4"/>
          <p:cNvSpPr/>
          <p:nvPr/>
        </p:nvSpPr>
        <p:spPr>
          <a:xfrm>
            <a:off x="6095880" y="3226680"/>
            <a:ext cx="501012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" name="Line 5"/>
          <p:cNvSpPr/>
          <p:nvPr/>
        </p:nvSpPr>
        <p:spPr>
          <a:xfrm>
            <a:off x="6095880" y="3702960"/>
            <a:ext cx="501012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" name="Line 6"/>
          <p:cNvSpPr/>
          <p:nvPr/>
        </p:nvSpPr>
        <p:spPr>
          <a:xfrm>
            <a:off x="6095880" y="4019400"/>
            <a:ext cx="501012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8" name="Line 7"/>
          <p:cNvSpPr/>
          <p:nvPr/>
        </p:nvSpPr>
        <p:spPr>
          <a:xfrm>
            <a:off x="6095880" y="4521960"/>
            <a:ext cx="501012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9" name="Line 8"/>
          <p:cNvSpPr/>
          <p:nvPr/>
        </p:nvSpPr>
        <p:spPr>
          <a:xfrm>
            <a:off x="6095880" y="5036400"/>
            <a:ext cx="501012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0" name="Line 9"/>
          <p:cNvSpPr/>
          <p:nvPr/>
        </p:nvSpPr>
        <p:spPr>
          <a:xfrm>
            <a:off x="6095880" y="5360760"/>
            <a:ext cx="501012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1" name="Line 10"/>
          <p:cNvSpPr/>
          <p:nvPr/>
        </p:nvSpPr>
        <p:spPr>
          <a:xfrm>
            <a:off x="6095880" y="5858640"/>
            <a:ext cx="501012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2" name="CustomShape 11"/>
          <p:cNvSpPr/>
          <p:nvPr/>
        </p:nvSpPr>
        <p:spPr>
          <a:xfrm>
            <a:off x="10505880" y="3333600"/>
            <a:ext cx="652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O(1)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63" name="CustomShape 12"/>
          <p:cNvSpPr/>
          <p:nvPr/>
        </p:nvSpPr>
        <p:spPr>
          <a:xfrm>
            <a:off x="10505880" y="3678120"/>
            <a:ext cx="652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O(1)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64" name="CustomShape 13"/>
          <p:cNvSpPr/>
          <p:nvPr/>
        </p:nvSpPr>
        <p:spPr>
          <a:xfrm>
            <a:off x="10505880" y="4148640"/>
            <a:ext cx="7236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O(N)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65" name="CustomShape 14"/>
          <p:cNvSpPr/>
          <p:nvPr/>
        </p:nvSpPr>
        <p:spPr>
          <a:xfrm>
            <a:off x="10541520" y="4685040"/>
            <a:ext cx="652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O(1)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66" name="CustomShape 15"/>
          <p:cNvSpPr/>
          <p:nvPr/>
        </p:nvSpPr>
        <p:spPr>
          <a:xfrm>
            <a:off x="10577160" y="5028480"/>
            <a:ext cx="652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O(1)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67" name="CustomShape 16"/>
          <p:cNvSpPr/>
          <p:nvPr/>
        </p:nvSpPr>
        <p:spPr>
          <a:xfrm>
            <a:off x="10524960" y="5489640"/>
            <a:ext cx="6523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O(1)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Shell sort 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69" name="TextShape 2"/>
          <p:cNvSpPr txBox="1"/>
          <p:nvPr/>
        </p:nvSpPr>
        <p:spPr>
          <a:xfrm>
            <a:off x="581040" y="2180520"/>
            <a:ext cx="11029320" cy="43228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marL="306000" indent="-30564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rgbClr val="3d3d3d"/>
                </a:solidFill>
                <a:latin typeface="Gill Sans MT"/>
              </a:rPr>
              <a:t>É uma extensão do Insertion Sort </a:t>
            </a:r>
            <a:endParaRPr b="0" lang="en-US" sz="2000" spc="-1" strike="noStrike">
              <a:solidFill>
                <a:srgbClr val="3d3d3d"/>
              </a:solidFill>
              <a:latin typeface="Gill Sans MT"/>
            </a:endParaRPr>
          </a:p>
          <a:p>
            <a:pPr lvl="1" marL="630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Melhor que o Isertion quando um elemento está muito distante da sua posição correta 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lvl="1" marL="630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Shell Sort faz menos trocas que o Insertion obtendo maior eficiência no pior caso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rgbClr val="3d3d3d"/>
                </a:solidFill>
                <a:latin typeface="Gill Sans MT"/>
              </a:rPr>
              <a:t>Escolhe um espaçamento inicial para comparar os elementos</a:t>
            </a:r>
            <a:endParaRPr b="0" lang="en-US" sz="20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rgbClr val="3d3d3d"/>
                </a:solidFill>
                <a:latin typeface="Gill Sans MT"/>
              </a:rPr>
              <a:t>Verifica qual elemento é menor e o aloca na menor posição</a:t>
            </a:r>
            <a:endParaRPr b="0" lang="en-US" sz="20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rgbClr val="3d3d3d"/>
                </a:solidFill>
                <a:latin typeface="Gill Sans MT"/>
              </a:rPr>
              <a:t>Diminui o espaçamento até chegar a 1</a:t>
            </a:r>
            <a:endParaRPr b="0" lang="en-US" sz="2000" spc="-1" strike="noStrike">
              <a:solidFill>
                <a:srgbClr val="3d3d3d"/>
              </a:solidFill>
              <a:latin typeface="Gill Sans MT"/>
            </a:endParaRPr>
          </a:p>
          <a:p>
            <a:pPr lvl="1" marL="630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Quando isso ocorre, o Shell Sort atua como Insertion Sort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</a:pP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Métodos de escolha do gap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71" name="TextShape 2"/>
          <p:cNvSpPr txBox="1"/>
          <p:nvPr/>
        </p:nvSpPr>
        <p:spPr>
          <a:xfrm>
            <a:off x="581040" y="2180520"/>
            <a:ext cx="11029320" cy="367812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marL="306000" indent="-30564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rgbClr val="3d3d3d"/>
                </a:solidFill>
                <a:latin typeface="Gill Sans MT"/>
              </a:rPr>
              <a:t>Existem diversas técnicas para escolher o espaçamento (gap)</a:t>
            </a:r>
            <a:endParaRPr b="0" lang="en-US" sz="2000" spc="-1" strike="noStrike">
              <a:solidFill>
                <a:srgbClr val="3d3d3d"/>
              </a:solidFill>
              <a:latin typeface="Gill Sans MT"/>
            </a:endParaRPr>
          </a:p>
          <a:p>
            <a:pPr lvl="1" marL="630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O primeiro gap desse algoritmo, por Donald Shell 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lvl="2" marL="900000" indent="-26964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TamanhoDaLista/2</a:t>
            </a: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	</a:t>
            </a: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	</a:t>
            </a: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	</a:t>
            </a: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	</a:t>
            </a: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  <a:p>
            <a:pPr lvl="1" marL="630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O mais eficiente, criado por Donald Knuth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lvl="2" marL="900000" indent="-26964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Gap=1; </a:t>
            </a:r>
            <a:br/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Gap=3*Gap +1</a:t>
            </a: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  <a:p>
            <a:pPr lvl="2" marL="900000" indent="-269640">
              <a:lnSpc>
                <a:spcPct val="100000"/>
              </a:lnSpc>
              <a:spcBef>
                <a:spcPts val="32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600" spc="-1" strike="noStrike">
                <a:solidFill>
                  <a:srgbClr val="3d3d3d"/>
                </a:solidFill>
                <a:latin typeface="Gill Sans MT"/>
              </a:rPr>
              <a:t>Sequencia gerada: 1, 4, 13, 40, 121, 364, 1093, 3280....</a:t>
            </a:r>
            <a:endParaRPr b="0" lang="en-US" sz="16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Código fonte – algoritmo genérico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73" name="Imagem 4" descr=""/>
          <p:cNvPicPr/>
          <p:nvPr/>
        </p:nvPicPr>
        <p:blipFill>
          <a:blip r:embed="rId1"/>
          <a:stretch/>
        </p:blipFill>
        <p:spPr>
          <a:xfrm>
            <a:off x="507960" y="1866960"/>
            <a:ext cx="4749480" cy="4990680"/>
          </a:xfrm>
          <a:prstGeom prst="rect">
            <a:avLst/>
          </a:prstGeom>
          <a:ln>
            <a:noFill/>
          </a:ln>
        </p:spPr>
      </p:pic>
      <p:sp>
        <p:nvSpPr>
          <p:cNvPr id="174" name="Line 2"/>
          <p:cNvSpPr/>
          <p:nvPr/>
        </p:nvSpPr>
        <p:spPr>
          <a:xfrm>
            <a:off x="581040" y="2323800"/>
            <a:ext cx="1066788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5" name="CustomShape 3"/>
          <p:cNvSpPr/>
          <p:nvPr/>
        </p:nvSpPr>
        <p:spPr>
          <a:xfrm flipH="1">
            <a:off x="5257800" y="1866960"/>
            <a:ext cx="49831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Inicialização da função e declaração das variáveis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76" name="Line 4"/>
          <p:cNvSpPr/>
          <p:nvPr/>
        </p:nvSpPr>
        <p:spPr>
          <a:xfrm>
            <a:off x="581040" y="2800080"/>
            <a:ext cx="1066788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7" name="Line 5"/>
          <p:cNvSpPr/>
          <p:nvPr/>
        </p:nvSpPr>
        <p:spPr>
          <a:xfrm>
            <a:off x="581040" y="3523320"/>
            <a:ext cx="1066788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8" name="CustomShape 6"/>
          <p:cNvSpPr/>
          <p:nvPr/>
        </p:nvSpPr>
        <p:spPr>
          <a:xfrm flipH="1">
            <a:off x="5257080" y="2475000"/>
            <a:ext cx="52002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Definição do primeiro valor da distância (gap)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79" name="CustomShape 7"/>
          <p:cNvSpPr/>
          <p:nvPr/>
        </p:nvSpPr>
        <p:spPr>
          <a:xfrm flipH="1">
            <a:off x="5257080" y="2877120"/>
            <a:ext cx="599076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Repetição para percorrer a lista de acordo com o gap, até que ele seja o mínimo possível (1)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80" name="Line 8"/>
          <p:cNvSpPr/>
          <p:nvPr/>
        </p:nvSpPr>
        <p:spPr>
          <a:xfrm>
            <a:off x="581040" y="3845160"/>
            <a:ext cx="1066788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1" name="CustomShape 9"/>
          <p:cNvSpPr/>
          <p:nvPr/>
        </p:nvSpPr>
        <p:spPr>
          <a:xfrm flipH="1">
            <a:off x="5217840" y="3504960"/>
            <a:ext cx="52401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Repetição para que todas posições sejam comparadas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82" name="Line 10"/>
          <p:cNvSpPr/>
          <p:nvPr/>
        </p:nvSpPr>
        <p:spPr>
          <a:xfrm>
            <a:off x="581040" y="4702320"/>
            <a:ext cx="1066788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3" name="CustomShape 11"/>
          <p:cNvSpPr/>
          <p:nvPr/>
        </p:nvSpPr>
        <p:spPr>
          <a:xfrm>
            <a:off x="5178600" y="4362480"/>
            <a:ext cx="65052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Comparando a distancia dos elementos e qual elemento é maior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84" name="CustomShape 12"/>
          <p:cNvSpPr/>
          <p:nvPr/>
        </p:nvSpPr>
        <p:spPr>
          <a:xfrm>
            <a:off x="5257800" y="4954680"/>
            <a:ext cx="42289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Trocando os elementos caso necessário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85" name="Line 13"/>
          <p:cNvSpPr/>
          <p:nvPr/>
        </p:nvSpPr>
        <p:spPr>
          <a:xfrm>
            <a:off x="581040" y="5769000"/>
            <a:ext cx="1066788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6" name="Line 14"/>
          <p:cNvSpPr/>
          <p:nvPr/>
        </p:nvSpPr>
        <p:spPr>
          <a:xfrm>
            <a:off x="761760" y="6112080"/>
            <a:ext cx="10667880" cy="360"/>
          </a:xfrm>
          <a:prstGeom prst="line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7" name="CustomShape 15"/>
          <p:cNvSpPr/>
          <p:nvPr/>
        </p:nvSpPr>
        <p:spPr>
          <a:xfrm>
            <a:off x="5257800" y="5769360"/>
            <a:ext cx="43344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Incremento para percorrer os elementos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88" name="CustomShape 16"/>
          <p:cNvSpPr/>
          <p:nvPr/>
        </p:nvSpPr>
        <p:spPr>
          <a:xfrm flipH="1">
            <a:off x="5257800" y="6207120"/>
            <a:ext cx="609552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Alterando o valor de gap depois de todos elementos com essa distancia terem sido verificados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Código fonte de donald knuth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90" name="Espaço Reservado para Conteúdo 3" descr=""/>
          <p:cNvPicPr/>
          <p:nvPr/>
        </p:nvPicPr>
        <p:blipFill>
          <a:blip r:embed="rId1"/>
          <a:stretch/>
        </p:blipFill>
        <p:spPr>
          <a:xfrm>
            <a:off x="581040" y="2043720"/>
            <a:ext cx="5514480" cy="45781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Teste de mesa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92" name="Imagem 28" descr=""/>
          <p:cNvPicPr/>
          <p:nvPr/>
        </p:nvPicPr>
        <p:blipFill>
          <a:blip r:embed="rId1"/>
          <a:stretch/>
        </p:blipFill>
        <p:spPr>
          <a:xfrm>
            <a:off x="577080" y="1932120"/>
            <a:ext cx="4829760" cy="2712600"/>
          </a:xfrm>
          <a:prstGeom prst="rect">
            <a:avLst/>
          </a:prstGeom>
          <a:ln>
            <a:noFill/>
          </a:ln>
        </p:spPr>
      </p:pic>
      <p:pic>
        <p:nvPicPr>
          <p:cNvPr id="193" name="Imagem 30" descr=""/>
          <p:cNvPicPr/>
          <p:nvPr/>
        </p:nvPicPr>
        <p:blipFill>
          <a:blip r:embed="rId2"/>
          <a:stretch/>
        </p:blipFill>
        <p:spPr>
          <a:xfrm>
            <a:off x="581040" y="3487320"/>
            <a:ext cx="4829760" cy="2712600"/>
          </a:xfrm>
          <a:prstGeom prst="rect">
            <a:avLst/>
          </a:prstGeom>
          <a:ln>
            <a:noFill/>
          </a:ln>
        </p:spPr>
      </p:pic>
      <p:pic>
        <p:nvPicPr>
          <p:cNvPr id="194" name="Imagem 34" descr=""/>
          <p:cNvPicPr/>
          <p:nvPr/>
        </p:nvPicPr>
        <p:blipFill>
          <a:blip r:embed="rId3"/>
          <a:srcRect l="0" t="0" r="0" b="33725"/>
          <a:stretch/>
        </p:blipFill>
        <p:spPr>
          <a:xfrm>
            <a:off x="577080" y="5059800"/>
            <a:ext cx="4829760" cy="1797840"/>
          </a:xfrm>
          <a:prstGeom prst="rect">
            <a:avLst/>
          </a:prstGeom>
          <a:ln>
            <a:noFill/>
          </a:ln>
        </p:spPr>
      </p:pic>
      <p:sp>
        <p:nvSpPr>
          <p:cNvPr id="195" name="CustomShape 2"/>
          <p:cNvSpPr/>
          <p:nvPr/>
        </p:nvSpPr>
        <p:spPr>
          <a:xfrm>
            <a:off x="5407200" y="2381400"/>
            <a:ext cx="581004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Dividindo a lista de acordo com o distanciamento (gap) desse algoritmo específico (tam/2) 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96" name="CustomShape 3"/>
          <p:cNvSpPr/>
          <p:nvPr/>
        </p:nvSpPr>
        <p:spPr>
          <a:xfrm>
            <a:off x="5581800" y="3830400"/>
            <a:ext cx="581004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Comparando os valores (5 e 1) das posições que distam o valor de gap, começando em 0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97" name="CustomShape 4"/>
          <p:cNvSpPr/>
          <p:nvPr/>
        </p:nvSpPr>
        <p:spPr>
          <a:xfrm>
            <a:off x="5581800" y="5282640"/>
            <a:ext cx="581004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Como o valor da posição mais a direita é menor ele é trocado com o valor da posição mais a esquerda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Teste de mesa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199" name="Espaço Reservado para Conteúdo 4" descr=""/>
          <p:cNvPicPr/>
          <p:nvPr/>
        </p:nvPicPr>
        <p:blipFill>
          <a:blip r:embed="rId1"/>
          <a:stretch/>
        </p:blipFill>
        <p:spPr>
          <a:xfrm>
            <a:off x="581040" y="1833120"/>
            <a:ext cx="5118840" cy="2874960"/>
          </a:xfrm>
          <a:prstGeom prst="rect">
            <a:avLst/>
          </a:prstGeom>
          <a:ln>
            <a:noFill/>
          </a:ln>
        </p:spPr>
      </p:pic>
      <p:pic>
        <p:nvPicPr>
          <p:cNvPr id="200" name="Imagem 6" descr=""/>
          <p:cNvPicPr/>
          <p:nvPr/>
        </p:nvPicPr>
        <p:blipFill>
          <a:blip r:embed="rId2"/>
          <a:stretch/>
        </p:blipFill>
        <p:spPr>
          <a:xfrm>
            <a:off x="581040" y="3429000"/>
            <a:ext cx="5118840" cy="2874960"/>
          </a:xfrm>
          <a:prstGeom prst="rect">
            <a:avLst/>
          </a:prstGeom>
          <a:ln>
            <a:noFill/>
          </a:ln>
        </p:spPr>
      </p:pic>
      <p:pic>
        <p:nvPicPr>
          <p:cNvPr id="201" name="Imagem 8" descr=""/>
          <p:cNvPicPr/>
          <p:nvPr/>
        </p:nvPicPr>
        <p:blipFill>
          <a:blip r:embed="rId3"/>
          <a:srcRect l="0" t="0" r="0" b="41793"/>
          <a:stretch/>
        </p:blipFill>
        <p:spPr>
          <a:xfrm>
            <a:off x="581040" y="4983480"/>
            <a:ext cx="5118840" cy="1673280"/>
          </a:xfrm>
          <a:prstGeom prst="rect">
            <a:avLst/>
          </a:prstGeom>
          <a:ln>
            <a:noFill/>
          </a:ln>
        </p:spPr>
      </p:pic>
      <p:sp>
        <p:nvSpPr>
          <p:cNvPr id="202" name="CustomShape 2"/>
          <p:cNvSpPr/>
          <p:nvPr/>
        </p:nvSpPr>
        <p:spPr>
          <a:xfrm>
            <a:off x="5700600" y="2244960"/>
            <a:ext cx="546264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Nessa etapa são comparados os valores (3 e 2) que distam gap à partir da segunda posição 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03" name="CustomShape 3"/>
          <p:cNvSpPr/>
          <p:nvPr/>
        </p:nvSpPr>
        <p:spPr>
          <a:xfrm>
            <a:off x="5700600" y="3799440"/>
            <a:ext cx="5910120" cy="91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Como o valor (2) da posição mais a direita (3) é menor ele é trocado com o valor (3) da posição mais a esquerda (1) deixando a lista dessa forma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04" name="CustomShape 4"/>
          <p:cNvSpPr/>
          <p:nvPr/>
        </p:nvSpPr>
        <p:spPr>
          <a:xfrm>
            <a:off x="5700600" y="5314320"/>
            <a:ext cx="546264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Nessa etapa são comparados os valores (5 e 4) que distam gap à partir da terceira posição 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Teste de mesa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206" name="Espaço Reservado para Conteúdo 4" descr=""/>
          <p:cNvPicPr/>
          <p:nvPr/>
        </p:nvPicPr>
        <p:blipFill>
          <a:blip r:embed="rId1"/>
          <a:stretch/>
        </p:blipFill>
        <p:spPr>
          <a:xfrm>
            <a:off x="581040" y="1789560"/>
            <a:ext cx="4415760" cy="2480040"/>
          </a:xfrm>
          <a:prstGeom prst="rect">
            <a:avLst/>
          </a:prstGeom>
          <a:ln>
            <a:noFill/>
          </a:ln>
        </p:spPr>
      </p:pic>
      <p:pic>
        <p:nvPicPr>
          <p:cNvPr id="207" name="Imagem 6" descr=""/>
          <p:cNvPicPr/>
          <p:nvPr/>
        </p:nvPicPr>
        <p:blipFill>
          <a:blip r:embed="rId2"/>
          <a:stretch/>
        </p:blipFill>
        <p:spPr>
          <a:xfrm>
            <a:off x="581040" y="3103200"/>
            <a:ext cx="4415760" cy="2480040"/>
          </a:xfrm>
          <a:prstGeom prst="rect">
            <a:avLst/>
          </a:prstGeom>
          <a:ln>
            <a:noFill/>
          </a:ln>
        </p:spPr>
      </p:pic>
      <p:pic>
        <p:nvPicPr>
          <p:cNvPr id="208" name="Imagem 10" descr=""/>
          <p:cNvPicPr/>
          <p:nvPr/>
        </p:nvPicPr>
        <p:blipFill>
          <a:blip r:embed="rId3"/>
          <a:stretch/>
        </p:blipFill>
        <p:spPr>
          <a:xfrm>
            <a:off x="581040" y="4295520"/>
            <a:ext cx="4415760" cy="2480040"/>
          </a:xfrm>
          <a:prstGeom prst="rect">
            <a:avLst/>
          </a:prstGeom>
          <a:ln>
            <a:noFill/>
          </a:ln>
        </p:spPr>
      </p:pic>
      <p:pic>
        <p:nvPicPr>
          <p:cNvPr id="209" name="Imagem 8" descr=""/>
          <p:cNvPicPr/>
          <p:nvPr/>
        </p:nvPicPr>
        <p:blipFill>
          <a:blip r:embed="rId4"/>
          <a:srcRect l="0" t="0" r="0" b="50000"/>
          <a:stretch/>
        </p:blipFill>
        <p:spPr>
          <a:xfrm>
            <a:off x="581040" y="5535720"/>
            <a:ext cx="4415760" cy="1239840"/>
          </a:xfrm>
          <a:prstGeom prst="rect">
            <a:avLst/>
          </a:prstGeom>
          <a:ln>
            <a:noFill/>
          </a:ln>
        </p:spPr>
      </p:pic>
      <p:sp>
        <p:nvSpPr>
          <p:cNvPr id="210" name="CustomShape 2"/>
          <p:cNvSpPr/>
          <p:nvPr/>
        </p:nvSpPr>
        <p:spPr>
          <a:xfrm>
            <a:off x="5395680" y="2062440"/>
            <a:ext cx="5910120" cy="91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Como o valor (5) da posição mais a direita (2) é menor ele é trocado com o valor (4) da posição mais a esquerda (4), deixando a lista dessa forma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11" name="CustomShape 3"/>
          <p:cNvSpPr/>
          <p:nvPr/>
        </p:nvSpPr>
        <p:spPr>
          <a:xfrm>
            <a:off x="5395680" y="3429000"/>
            <a:ext cx="621468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Como todos os elementos que distam gap já foram comparados entre si o gap passa a valer gap/2, dividindo a lista dessa forma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12" name="CustomShape 4"/>
          <p:cNvSpPr/>
          <p:nvPr/>
        </p:nvSpPr>
        <p:spPr>
          <a:xfrm>
            <a:off x="5395680" y="4698720"/>
            <a:ext cx="604800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Nessa etapa os elementos são comparados um a um e alterados quando necessário (elemento 4 com o elemento 3)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13" name="CustomShape 5"/>
          <p:cNvSpPr/>
          <p:nvPr/>
        </p:nvSpPr>
        <p:spPr>
          <a:xfrm>
            <a:off x="5395680" y="5788440"/>
            <a:ext cx="5910120" cy="913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Gill Sans MT"/>
              </a:rPr>
              <a:t>Depois de comparados e alterados todos os elementos um a um o gap termina o seu ponto de parada com a lista devidamente ordenada</a:t>
            </a:r>
            <a:endParaRPr b="0" lang="pt-BR" sz="1800" spc="-1" strike="noStrike">
              <a:latin typeface="Arial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Análise de complexidade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15" name="TextShape 2"/>
          <p:cNvSpPr txBox="1"/>
          <p:nvPr/>
        </p:nvSpPr>
        <p:spPr>
          <a:xfrm>
            <a:off x="581040" y="2180520"/>
            <a:ext cx="11029320" cy="42566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marL="306000" indent="-30564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rgbClr val="3d3d3d"/>
                </a:solidFill>
                <a:latin typeface="Gill Sans MT"/>
              </a:rPr>
              <a:t>A complexidade real do algoritmo no pior caso e no caso médio ainda é desconhecida</a:t>
            </a:r>
            <a:endParaRPr b="0" lang="en-US" sz="24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rgbClr val="3d3d3d"/>
                </a:solidFill>
                <a:latin typeface="Gill Sans MT"/>
              </a:rPr>
              <a:t>A análise do algoritmo possui problemas de matemáticos complexos </a:t>
            </a:r>
            <a:endParaRPr b="0" lang="en-US" sz="2400" spc="-1" strike="noStrike">
              <a:solidFill>
                <a:srgbClr val="3d3d3d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</a:pPr>
            <a:endParaRPr b="0" lang="en-US" sz="2400" spc="-1" strike="noStrike">
              <a:solidFill>
                <a:srgbClr val="3d3d3d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</a:pPr>
            <a:r>
              <a:rPr b="0" lang="en-US" sz="2400" spc="-1" strike="noStrike">
                <a:solidFill>
                  <a:srgbClr val="3d3d3d"/>
                </a:solidFill>
                <a:latin typeface="Gill Sans MT"/>
              </a:rPr>
              <a:t>Utilizando a sequencia de Knuth:</a:t>
            </a:r>
            <a:endParaRPr b="0" lang="en-US" sz="24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479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2400" spc="-1" strike="noStrike">
                <a:solidFill>
                  <a:srgbClr val="3d3d3d"/>
                </a:solidFill>
                <a:latin typeface="Gill Sans MT"/>
              </a:rPr>
              <a:t>Melhor Caso (elementos já ordenados),</a:t>
            </a:r>
            <a:endParaRPr b="0" lang="en-US" sz="2400" spc="-1" strike="noStrike">
              <a:solidFill>
                <a:srgbClr val="3d3d3d"/>
              </a:solidFill>
              <a:latin typeface="Gill Sans MT"/>
            </a:endParaRPr>
          </a:p>
          <a:p>
            <a:pPr lvl="1" marL="630000" indent="-30564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rgbClr val="3d3d3d"/>
                </a:solidFill>
                <a:latin typeface="Gill Sans MT"/>
              </a:rPr>
              <a:t> </a:t>
            </a:r>
            <a:r>
              <a:rPr b="0" lang="en-US" sz="2000" spc="-1" strike="noStrike">
                <a:solidFill>
                  <a:srgbClr val="3d3d3d"/>
                </a:solidFill>
                <a:latin typeface="Gill Sans MT"/>
              </a:rPr>
              <a:t>a complexidade do algoritmo é O(n)</a:t>
            </a:r>
            <a:endParaRPr b="0" lang="en-US" sz="2000" spc="-1" strike="noStrike">
              <a:solidFill>
                <a:srgbClr val="3d3d3d"/>
              </a:solidFill>
              <a:latin typeface="Gill Sans MT"/>
            </a:endParaRPr>
          </a:p>
          <a:p>
            <a:endParaRPr b="0" lang="en-US" sz="20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439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2200" spc="-1" strike="noStrike">
                <a:solidFill>
                  <a:srgbClr val="3d3d3d"/>
                </a:solidFill>
                <a:latin typeface="Gill Sans MT"/>
              </a:rPr>
              <a:t> </a:t>
            </a:r>
            <a:r>
              <a:rPr b="0" lang="en-US" sz="2200" spc="-1" strike="noStrike">
                <a:solidFill>
                  <a:srgbClr val="3d3d3d"/>
                </a:solidFill>
                <a:latin typeface="Gill Sans MT"/>
              </a:rPr>
              <a:t>Pior Caso (elementos em ordem reversa) </a:t>
            </a:r>
            <a:endParaRPr b="0" lang="en-US" sz="2200" spc="-1" strike="noStrike">
              <a:solidFill>
                <a:srgbClr val="3d3d3d"/>
              </a:solidFill>
              <a:latin typeface="Gill Sans MT"/>
            </a:endParaRPr>
          </a:p>
          <a:p>
            <a:pPr lvl="1" marL="630000" indent="-30564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rgbClr val="3d3d3d"/>
                </a:solidFill>
                <a:latin typeface="Gill Sans MT"/>
              </a:rPr>
              <a:t>Conjetura 1: O(n log² n).</a:t>
            </a:r>
            <a:endParaRPr b="0" lang="en-US" sz="2000" spc="-1" strike="noStrike">
              <a:solidFill>
                <a:srgbClr val="3d3d3d"/>
              </a:solidFill>
              <a:latin typeface="Gill Sans MT"/>
            </a:endParaRPr>
          </a:p>
          <a:p>
            <a:pPr lvl="1" marL="630000" indent="-305640">
              <a:lnSpc>
                <a:spcPct val="100000"/>
              </a:lnSpc>
              <a:spcBef>
                <a:spcPts val="40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2000" spc="-1" strike="noStrike">
                <a:solidFill>
                  <a:srgbClr val="3d3d3d"/>
                </a:solidFill>
                <a:latin typeface="Gill Sans MT"/>
              </a:rPr>
              <a:t> </a:t>
            </a:r>
            <a:r>
              <a:rPr b="0" lang="en-US" sz="2000" spc="-1" strike="noStrike">
                <a:solidFill>
                  <a:srgbClr val="3d3d3d"/>
                </a:solidFill>
                <a:latin typeface="Gill Sans MT"/>
              </a:rPr>
              <a:t>Conjetura 2: O(n</a:t>
            </a:r>
            <a:r>
              <a:rPr b="0" lang="en-US" sz="2000" spc="-1" strike="noStrike" baseline="30000">
                <a:solidFill>
                  <a:srgbClr val="3d3d3d"/>
                </a:solidFill>
                <a:latin typeface="Gill Sans MT"/>
              </a:rPr>
              <a:t>1,25</a:t>
            </a:r>
            <a:r>
              <a:rPr b="0" lang="en-US" sz="2000" spc="-1" strike="noStrike">
                <a:solidFill>
                  <a:srgbClr val="3d3d3d"/>
                </a:solidFill>
                <a:latin typeface="Gill Sans MT"/>
              </a:rPr>
              <a:t>)</a:t>
            </a:r>
            <a:endParaRPr b="0" lang="en-US" sz="20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  <p:timing>
    <p:tnLst>
      <p:par>
        <p:cTn id="33" dur="indefinite" restart="never" nodeType="tmRoot">
          <p:childTnLst>
            <p:seq>
              <p:cTn id="3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Comparação dos algoritmos 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pic>
        <p:nvPicPr>
          <p:cNvPr id="217" name="Picture 4" descr=""/>
          <p:cNvPicPr/>
          <p:nvPr/>
        </p:nvPicPr>
        <p:blipFill>
          <a:blip r:embed="rId1"/>
          <a:stretch/>
        </p:blipFill>
        <p:spPr>
          <a:xfrm>
            <a:off x="2462400" y="2181240"/>
            <a:ext cx="7267320" cy="36777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35" dur="indefinite" restart="never" nodeType="tmRoot">
          <p:childTnLst>
            <p:seq>
              <p:cTn id="3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Shape 1"/>
          <p:cNvSpPr txBox="1"/>
          <p:nvPr/>
        </p:nvSpPr>
        <p:spPr>
          <a:xfrm>
            <a:off x="581040" y="702000"/>
            <a:ext cx="11029320" cy="10134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>
              <a:lnSpc>
                <a:spcPct val="100000"/>
              </a:lnSpc>
            </a:pPr>
            <a:r>
              <a:rPr b="0" lang="en-US" sz="2800" spc="-1" strike="noStrike" cap="all">
                <a:solidFill>
                  <a:srgbClr val="ffffff"/>
                </a:solidFill>
                <a:latin typeface="Gill Sans MT"/>
              </a:rPr>
              <a:t>Links de referência </a:t>
            </a:r>
            <a:endParaRPr b="0" lang="en-US" sz="2800" spc="-1" strike="noStrike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219" name="TextShape 2"/>
          <p:cNvSpPr txBox="1"/>
          <p:nvPr/>
        </p:nvSpPr>
        <p:spPr>
          <a:xfrm>
            <a:off x="581040" y="2180520"/>
            <a:ext cx="11029320" cy="367812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https://medium.com/@vyskoutaris/sorting-algorithms-fa96ce78006d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https://medium.com/@henriquebraga_18075/algoritmos-de-ordena%C3%A7%C3%A3o-iii-insertion-sort-bfade66c6bf1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https://homepages.dcc.ufmg.br/~cunha/teaching/20121/aeds2/shellsort.pdf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http://fernandolobo.info/aed-II/teoricas/a01e02.print.pdf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  <a:p>
            <a:pPr marL="306000" indent="-305640">
              <a:lnSpc>
                <a:spcPct val="100000"/>
              </a:lnSpc>
              <a:spcBef>
                <a:spcPts val="360"/>
              </a:spcBef>
              <a:spcAft>
                <a:spcPts val="601"/>
              </a:spcAft>
              <a:buClr>
                <a:srgbClr val="903163"/>
              </a:buClr>
              <a:buSzPct val="92000"/>
              <a:buFont typeface="Wingdings 2" charset="2"/>
              <a:buChar char=""/>
            </a:pPr>
            <a:r>
              <a:rPr b="0" lang="en-US" sz="1800" spc="-1" strike="noStrike">
                <a:solidFill>
                  <a:srgbClr val="3d3d3d"/>
                </a:solidFill>
                <a:latin typeface="Gill Sans MT"/>
              </a:rPr>
              <a:t>http://www2.dcc.ufmg.br/livros/algoritmos/</a:t>
            </a:r>
            <a:endParaRPr b="0" lang="en-US" sz="1800" spc="-1" strike="noStrike">
              <a:solidFill>
                <a:srgbClr val="3d3d3d"/>
              </a:solidFill>
              <a:latin typeface="Gill Sans MT"/>
            </a:endParaRPr>
          </a:p>
        </p:txBody>
      </p:sp>
    </p:spTree>
  </p:cSld>
  <p:timing>
    <p:tnLst>
      <p:par>
        <p:cTn id="37" dur="indefinite" restart="never" nodeType="tmRoot">
          <p:childTnLst>
            <p:seq>
              <p:cTn id="3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2544</TotalTime>
  <Application>LibreOffice/6.0.4.2$Windows_X86_64 LibreOffice_project/9b0d9b32d5dcda91d2f1a96dc04c645c450872bf</Application>
  <Words>1387</Words>
  <Paragraphs>121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2019-09-01T20:35:34Z</dcterms:created>
  <dc:creator>Maria Júlia Schettini</dc:creator>
  <dc:description/>
  <dc:language>pt-BR</dc:language>
  <cp:lastModifiedBy/>
  <dcterms:modified xsi:type="dcterms:W3CDTF">2019-09-05T10:10:23Z</dcterms:modified>
  <cp:revision>67</cp:revision>
  <dc:subject/>
  <dc:title>Classificação e pesquisa de dados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19</vt:i4>
  </property>
</Properties>
</file>