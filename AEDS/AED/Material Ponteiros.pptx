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712" r:id="rId2"/>
  </p:sldMasterIdLst>
  <p:notesMasterIdLst>
    <p:notesMasterId r:id="rId46"/>
  </p:notesMasterIdLst>
  <p:handoutMasterIdLst>
    <p:handoutMasterId r:id="rId47"/>
  </p:handoutMasterIdLst>
  <p:sldIdLst>
    <p:sldId id="341" r:id="rId3"/>
    <p:sldId id="664" r:id="rId4"/>
    <p:sldId id="665" r:id="rId5"/>
    <p:sldId id="666" r:id="rId6"/>
    <p:sldId id="667" r:id="rId7"/>
    <p:sldId id="668" r:id="rId8"/>
    <p:sldId id="669" r:id="rId9"/>
    <p:sldId id="670" r:id="rId10"/>
    <p:sldId id="671" r:id="rId11"/>
    <p:sldId id="672" r:id="rId12"/>
    <p:sldId id="673" r:id="rId13"/>
    <p:sldId id="674" r:id="rId14"/>
    <p:sldId id="675" r:id="rId15"/>
    <p:sldId id="676" r:id="rId16"/>
    <p:sldId id="677" r:id="rId17"/>
    <p:sldId id="678" r:id="rId18"/>
    <p:sldId id="679" r:id="rId19"/>
    <p:sldId id="680" r:id="rId20"/>
    <p:sldId id="681" r:id="rId21"/>
    <p:sldId id="682" r:id="rId22"/>
    <p:sldId id="686" r:id="rId23"/>
    <p:sldId id="687" r:id="rId24"/>
    <p:sldId id="688" r:id="rId25"/>
    <p:sldId id="689" r:id="rId26"/>
    <p:sldId id="690" r:id="rId27"/>
    <p:sldId id="69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54" r:id="rId41"/>
    <p:sldId id="355" r:id="rId42"/>
    <p:sldId id="356" r:id="rId43"/>
    <p:sldId id="357" r:id="rId44"/>
    <p:sldId id="358" r:id="rId45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044" y="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33DDF-8ADD-4D40-831B-EFAF5BDF5914}" type="datetimeFigureOut">
              <a:rPr lang="pt-BR" smtClean="0"/>
              <a:t>03/10/2018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885A2-398D-461C-BB59-C5B0075AFC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7021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EDF46-074E-4C45-B1DA-59B0957AE473}" type="datetimeFigureOut">
              <a:rPr lang="pt-BR" smtClean="0"/>
              <a:t>03/10/2018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91FBF-96AB-4ED4-B7B8-8DDEA26A06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493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91785-968A-49E7-92FD-6C9B8E00173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2583D-A326-4FE5-B274-BA1E0CF1B6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D588A-B6A9-4652-93D4-7E672676ABC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C884A-CFAE-431A-9BA6-2E746B8EAA1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85EEA-FDF8-48EF-A074-F38FC2CFE46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02005" y="2347413"/>
            <a:ext cx="9089390" cy="161975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04010" y="4282016"/>
            <a:ext cx="7485380" cy="19311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2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640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85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06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28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49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70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0492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4015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4705" y="4855753"/>
            <a:ext cx="9089390" cy="1500805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44705" y="3202769"/>
            <a:ext cx="9089390" cy="165298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34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6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0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3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67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0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49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07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0044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5639" y="1943352"/>
            <a:ext cx="5537918" cy="5494205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41782" y="1943352"/>
            <a:ext cx="5537919" cy="5494205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160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4670" y="302610"/>
            <a:ext cx="9624060" cy="1259417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4670" y="1691467"/>
            <a:ext cx="4724775" cy="70492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341" indent="0">
              <a:buNone/>
              <a:defRPr sz="2300" b="1"/>
            </a:lvl2pPr>
            <a:lvl3pPr marL="1042680" indent="0">
              <a:buNone/>
              <a:defRPr sz="2100" b="1"/>
            </a:lvl3pPr>
            <a:lvl4pPr marL="1564021" indent="0">
              <a:buNone/>
              <a:defRPr sz="1800" b="1"/>
            </a:lvl4pPr>
            <a:lvl5pPr marL="2085362" indent="0">
              <a:buNone/>
              <a:defRPr sz="1800" b="1"/>
            </a:lvl5pPr>
            <a:lvl6pPr marL="2606700" indent="0">
              <a:buNone/>
              <a:defRPr sz="1800" b="1"/>
            </a:lvl6pPr>
            <a:lvl7pPr marL="3128041" indent="0">
              <a:buNone/>
              <a:defRPr sz="1800" b="1"/>
            </a:lvl7pPr>
            <a:lvl8pPr marL="3649381" indent="0">
              <a:buNone/>
              <a:defRPr sz="1800" b="1"/>
            </a:lvl8pPr>
            <a:lvl9pPr marL="4170721" indent="0">
              <a:buNone/>
              <a:defRPr sz="18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34670" y="2396390"/>
            <a:ext cx="4724775" cy="4353734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432101" y="1691467"/>
            <a:ext cx="4726631" cy="70492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341" indent="0">
              <a:buNone/>
              <a:defRPr sz="2300" b="1"/>
            </a:lvl2pPr>
            <a:lvl3pPr marL="1042680" indent="0">
              <a:buNone/>
              <a:defRPr sz="2100" b="1"/>
            </a:lvl3pPr>
            <a:lvl4pPr marL="1564021" indent="0">
              <a:buNone/>
              <a:defRPr sz="1800" b="1"/>
            </a:lvl4pPr>
            <a:lvl5pPr marL="2085362" indent="0">
              <a:buNone/>
              <a:defRPr sz="1800" b="1"/>
            </a:lvl5pPr>
            <a:lvl6pPr marL="2606700" indent="0">
              <a:buNone/>
              <a:defRPr sz="1800" b="1"/>
            </a:lvl6pPr>
            <a:lvl7pPr marL="3128041" indent="0">
              <a:buNone/>
              <a:defRPr sz="1800" b="1"/>
            </a:lvl7pPr>
            <a:lvl8pPr marL="3649381" indent="0">
              <a:buNone/>
              <a:defRPr sz="1800" b="1"/>
            </a:lvl8pPr>
            <a:lvl9pPr marL="4170721" indent="0">
              <a:buNone/>
              <a:defRPr sz="18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432101" y="2396390"/>
            <a:ext cx="4726631" cy="4353734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49C056-62B9-4AD8-B468-EECF1CDA4D43}" type="datetime1">
              <a:rPr lang="en-US" smtClean="0"/>
              <a:t>10/3/2018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1096-83D1-421A-AD0B-BBF9767604A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52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0073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8051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4672" y="300862"/>
            <a:ext cx="3518055" cy="1280407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180822" y="300863"/>
            <a:ext cx="5977908" cy="6449263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34672" y="1581268"/>
            <a:ext cx="3518055" cy="5168856"/>
          </a:xfrm>
        </p:spPr>
        <p:txBody>
          <a:bodyPr/>
          <a:lstStyle>
            <a:lvl1pPr marL="0" indent="0">
              <a:buNone/>
              <a:defRPr sz="1600"/>
            </a:lvl1pPr>
            <a:lvl2pPr marL="521341" indent="0">
              <a:buNone/>
              <a:defRPr sz="1400"/>
            </a:lvl2pPr>
            <a:lvl3pPr marL="1042680" indent="0">
              <a:buNone/>
              <a:defRPr sz="1100"/>
            </a:lvl3pPr>
            <a:lvl4pPr marL="1564021" indent="0">
              <a:buNone/>
              <a:defRPr sz="1000"/>
            </a:lvl4pPr>
            <a:lvl5pPr marL="2085362" indent="0">
              <a:buNone/>
              <a:defRPr sz="1000"/>
            </a:lvl5pPr>
            <a:lvl6pPr marL="2606700" indent="0">
              <a:buNone/>
              <a:defRPr sz="1000"/>
            </a:lvl6pPr>
            <a:lvl7pPr marL="3128041" indent="0">
              <a:buNone/>
              <a:defRPr sz="1000"/>
            </a:lvl7pPr>
            <a:lvl8pPr marL="3649381" indent="0">
              <a:buNone/>
              <a:defRPr sz="1000"/>
            </a:lvl8pPr>
            <a:lvl9pPr marL="4170721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8549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95981" y="5289550"/>
            <a:ext cx="6416040" cy="624461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095981" y="675187"/>
            <a:ext cx="6416040" cy="4533900"/>
          </a:xfrm>
        </p:spPr>
        <p:txBody>
          <a:bodyPr/>
          <a:lstStyle>
            <a:lvl1pPr marL="0" indent="0">
              <a:buNone/>
              <a:defRPr sz="3600"/>
            </a:lvl1pPr>
            <a:lvl2pPr marL="521341" indent="0">
              <a:buNone/>
              <a:defRPr sz="3200"/>
            </a:lvl2pPr>
            <a:lvl3pPr marL="1042680" indent="0">
              <a:buNone/>
              <a:defRPr sz="2700"/>
            </a:lvl3pPr>
            <a:lvl4pPr marL="1564021" indent="0">
              <a:buNone/>
              <a:defRPr sz="2300"/>
            </a:lvl4pPr>
            <a:lvl5pPr marL="2085362" indent="0">
              <a:buNone/>
              <a:defRPr sz="2300"/>
            </a:lvl5pPr>
            <a:lvl6pPr marL="2606700" indent="0">
              <a:buNone/>
              <a:defRPr sz="2300"/>
            </a:lvl6pPr>
            <a:lvl7pPr marL="3128041" indent="0">
              <a:buNone/>
              <a:defRPr sz="2300"/>
            </a:lvl7pPr>
            <a:lvl8pPr marL="3649381" indent="0">
              <a:buNone/>
              <a:defRPr sz="2300"/>
            </a:lvl8pPr>
            <a:lvl9pPr marL="4170721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095981" y="5914011"/>
            <a:ext cx="6416040" cy="886839"/>
          </a:xfrm>
        </p:spPr>
        <p:txBody>
          <a:bodyPr/>
          <a:lstStyle>
            <a:lvl1pPr marL="0" indent="0">
              <a:buNone/>
              <a:defRPr sz="1600"/>
            </a:lvl1pPr>
            <a:lvl2pPr marL="521341" indent="0">
              <a:buNone/>
              <a:defRPr sz="1400"/>
            </a:lvl2pPr>
            <a:lvl3pPr marL="1042680" indent="0">
              <a:buNone/>
              <a:defRPr sz="1100"/>
            </a:lvl3pPr>
            <a:lvl4pPr marL="1564021" indent="0">
              <a:buNone/>
              <a:defRPr sz="1000"/>
            </a:lvl4pPr>
            <a:lvl5pPr marL="2085362" indent="0">
              <a:buNone/>
              <a:defRPr sz="1000"/>
            </a:lvl5pPr>
            <a:lvl6pPr marL="2606700" indent="0">
              <a:buNone/>
              <a:defRPr sz="1000"/>
            </a:lvl6pPr>
            <a:lvl7pPr marL="3128041" indent="0">
              <a:buNone/>
              <a:defRPr sz="1000"/>
            </a:lvl7pPr>
            <a:lvl8pPr marL="3649381" indent="0">
              <a:buNone/>
              <a:defRPr sz="1000"/>
            </a:lvl8pPr>
            <a:lvl9pPr marL="4170721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268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3885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67112" y="334098"/>
            <a:ext cx="2812588" cy="7103459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5639" y="334098"/>
            <a:ext cx="8263250" cy="710345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04197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F2AEC-1305-4EEE-A4C6-F57AE01007F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34670" y="302610"/>
            <a:ext cx="9624060" cy="1259417"/>
          </a:xfrm>
          <a:prstGeom prst="rect">
            <a:avLst/>
          </a:prstGeom>
        </p:spPr>
        <p:txBody>
          <a:bodyPr vert="horz" lIns="104268" tIns="52133" rIns="104268" bIns="52133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4670" y="1763185"/>
            <a:ext cx="9624060" cy="4986941"/>
          </a:xfrm>
          <a:prstGeom prst="rect">
            <a:avLst/>
          </a:prstGeom>
        </p:spPr>
        <p:txBody>
          <a:bodyPr vert="horz" lIns="104268" tIns="52133" rIns="104268" bIns="52133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34671" y="7003756"/>
            <a:ext cx="2495127" cy="402314"/>
          </a:xfrm>
          <a:prstGeom prst="rect">
            <a:avLst/>
          </a:prstGeom>
        </p:spPr>
        <p:txBody>
          <a:bodyPr vert="horz" lIns="104268" tIns="52133" rIns="104268" bIns="52133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2EC9-1968-4C6F-B01E-40A2E6A655B2}" type="datetime1">
              <a:rPr lang="en-US" smtClean="0"/>
              <a:t>10/3/2018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653580" y="7003756"/>
            <a:ext cx="3386243" cy="402314"/>
          </a:xfrm>
          <a:prstGeom prst="rect">
            <a:avLst/>
          </a:prstGeom>
        </p:spPr>
        <p:txBody>
          <a:bodyPr vert="horz" lIns="104268" tIns="52133" rIns="104268" bIns="52133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7663603" y="7003756"/>
            <a:ext cx="2495127" cy="402314"/>
          </a:xfrm>
          <a:prstGeom prst="rect">
            <a:avLst/>
          </a:prstGeom>
        </p:spPr>
        <p:txBody>
          <a:bodyPr vert="horz" lIns="104268" tIns="52133" rIns="104268" bIns="52133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39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sldNum="0" hdr="0" ftr="0" dt="0"/>
  <p:txStyles>
    <p:titleStyle>
      <a:lvl1pPr algn="ctr" defTabSz="1042680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006" indent="-391006" algn="l" defTabSz="104268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47178" indent="-325837" algn="l" defTabSz="104268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351" indent="-260669" algn="l" defTabSz="104268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24690" indent="-260669" algn="l" defTabSz="1042680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031" indent="-260669" algn="l" defTabSz="1042680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7372" indent="-260669" algn="l" defTabSz="104268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8711" indent="-260669" algn="l" defTabSz="104268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052" indent="-260669" algn="l" defTabSz="104268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1391" indent="-260669" algn="l" defTabSz="104268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4268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341" algn="l" defTabSz="104268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680" algn="l" defTabSz="104268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021" algn="l" defTabSz="104268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362" algn="l" defTabSz="104268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6700" algn="l" defTabSz="104268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041" algn="l" defTabSz="104268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9381" algn="l" defTabSz="104268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0721" algn="l" defTabSz="104268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9058910" cy="84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sng" dirty="0" err="1" smtClean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sng" spc="10" dirty="0" err="1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sng" spc="-15" dirty="0" err="1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sng" dirty="0" err="1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sng" spc="5" dirty="0" err="1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300" u="sng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sng" dirty="0" err="1" smtClean="0">
                <a:solidFill>
                  <a:prstClr val="black"/>
                </a:solidFill>
                <a:latin typeface="Arial"/>
                <a:cs typeface="Arial"/>
              </a:rPr>
              <a:t>por</a:t>
            </a:r>
            <a:r>
              <a:rPr lang="pt-BR" sz="2300" u="sng" dirty="0" smtClean="0">
                <a:solidFill>
                  <a:prstClr val="black"/>
                </a:solidFill>
                <a:latin typeface="Arial"/>
                <a:cs typeface="Arial"/>
              </a:rPr>
              <a:t> cópia ou </a:t>
            </a:r>
            <a:r>
              <a:rPr sz="2300" u="sng" spc="-15" dirty="0" smtClean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sng" dirty="0" smtClean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 err="1" smtClean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 err="1" smtClean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 err="1" smtClean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 err="1" smtClean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 alteração feita no parâmetro não reflete em alteração no argumento.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sng" dirty="0" err="1" smtClean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sng" spc="10" dirty="0" err="1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sng" spc="-15" dirty="0" err="1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sng" dirty="0" err="1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sng" spc="5" dirty="0" err="1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300" u="sng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sng" dirty="0" err="1" smtClean="0">
                <a:solidFill>
                  <a:prstClr val="black"/>
                </a:solidFill>
                <a:latin typeface="Arial"/>
                <a:cs typeface="Arial"/>
              </a:rPr>
              <a:t>por</a:t>
            </a:r>
            <a:r>
              <a:rPr lang="pt-BR" sz="2300" u="sng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sng" spc="-5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sng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sng" spc="5" dirty="0" err="1" smtClean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sng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sng" spc="-5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sng" spc="-15" dirty="0" err="1" smtClean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sng" dirty="0" err="1" smtClean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sng" spc="10" dirty="0" err="1" smtClean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sng" spc="-15" dirty="0" err="1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sng" spc="5" dirty="0" err="1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5778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Definição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2800" dirty="0" smtClean="0"/>
              <a:t>Variável 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2800" dirty="0" smtClean="0"/>
              <a:t>É um espaço reservado de memória usado para guardar um </a:t>
            </a:r>
            <a:r>
              <a:rPr lang="pt-BR" sz="2800" b="1" i="1" dirty="0" smtClean="0"/>
              <a:t>valor</a:t>
            </a:r>
            <a:r>
              <a:rPr lang="pt-BR" sz="2800" dirty="0" smtClean="0"/>
              <a:t> que pode ser modificado pelo programa;</a:t>
            </a:r>
          </a:p>
          <a:p>
            <a:pPr eaLnBrk="1" hangingPunct="1">
              <a:lnSpc>
                <a:spcPct val="90000"/>
              </a:lnSpc>
            </a:pPr>
            <a:endParaRPr lang="pt-BR" sz="2800" dirty="0" smtClean="0"/>
          </a:p>
          <a:p>
            <a:pPr eaLnBrk="1" hangingPunct="1">
              <a:lnSpc>
                <a:spcPct val="90000"/>
              </a:lnSpc>
            </a:pPr>
            <a:r>
              <a:rPr lang="pt-BR" sz="2800" dirty="0" smtClean="0"/>
              <a:t>Ponteiro 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2800" dirty="0" smtClean="0"/>
              <a:t>É um espaço reservado de memória usado para guardar o </a:t>
            </a:r>
            <a:r>
              <a:rPr lang="pt-BR" sz="2800" b="1" i="1" dirty="0" smtClean="0"/>
              <a:t>endereço de memória </a:t>
            </a:r>
            <a:r>
              <a:rPr lang="pt-BR" sz="2800" dirty="0" smtClean="0"/>
              <a:t>de uma outra variável. </a:t>
            </a:r>
          </a:p>
          <a:p>
            <a:pPr lvl="1">
              <a:lnSpc>
                <a:spcPct val="90000"/>
              </a:lnSpc>
            </a:pPr>
            <a:r>
              <a:rPr lang="pt-BR" sz="2800" dirty="0" smtClean="0"/>
              <a:t>Um ponteiro é uma variável como qualquer outra do programa – sua diferença é que ela não armazena um valor inteiro, real, caractere ou booleano. </a:t>
            </a:r>
          </a:p>
          <a:p>
            <a:pPr lvl="1">
              <a:lnSpc>
                <a:spcPct val="90000"/>
              </a:lnSpc>
            </a:pPr>
            <a:r>
              <a:rPr lang="pt-BR" sz="2800" dirty="0" smtClean="0"/>
              <a:t>Ela serve para armazenar endereços de memória (são valores inteiros sem sinal).</a:t>
            </a:r>
          </a:p>
        </p:txBody>
      </p:sp>
    </p:spTree>
    <p:extLst>
      <p:ext uri="{BB962C8B-B14F-4D97-AF65-F5344CB8AC3E}">
        <p14:creationId xmlns:p14="http://schemas.microsoft.com/office/powerpoint/2010/main" val="375396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5778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5480372" cy="5370153"/>
          </a:xfrm>
          <a:prstGeom prst="rect">
            <a:avLst/>
          </a:prstGeom>
        </p:spPr>
        <p:txBody>
          <a:bodyPr lIns="104278" tIns="52139" rIns="104278" bIns="52139">
            <a:normAutofit fontScale="92500" lnSpcReduction="20000"/>
          </a:bodyPr>
          <a:lstStyle/>
          <a:p>
            <a:pPr eaLnBrk="1" hangingPunct="1"/>
            <a:r>
              <a:rPr lang="pt-BR" dirty="0" smtClean="0"/>
              <a:t>Como qualquer variável, um ponteiro também possui um tipo </a:t>
            </a:r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dirty="0" smtClean="0"/>
              <a:t>É o </a:t>
            </a:r>
            <a:r>
              <a:rPr lang="pt-BR" b="1" i="1" dirty="0" smtClean="0"/>
              <a:t>asterisco</a:t>
            </a:r>
            <a:r>
              <a:rPr lang="pt-BR" dirty="0" smtClean="0"/>
              <a:t> (</a:t>
            </a:r>
            <a:r>
              <a:rPr lang="pt-BR" b="1" dirty="0" smtClean="0"/>
              <a:t>*</a:t>
            </a:r>
            <a:r>
              <a:rPr lang="pt-BR" dirty="0" smtClean="0"/>
              <a:t>) que informa ao compilador que aquela variável não vai guardar um valor mas sim um endereço para o tipo especificado.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2757" y="4617881"/>
            <a:ext cx="2617655" cy="1994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upo 2"/>
          <p:cNvGrpSpPr/>
          <p:nvPr/>
        </p:nvGrpSpPr>
        <p:grpSpPr>
          <a:xfrm>
            <a:off x="6032500" y="1652970"/>
            <a:ext cx="4589251" cy="1500805"/>
            <a:chOff x="4786314" y="1500174"/>
            <a:chExt cx="3924300" cy="136207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1500174"/>
              <a:ext cx="3924300" cy="1362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" name="Retângulo 1"/>
            <p:cNvSpPr/>
            <p:nvPr/>
          </p:nvSpPr>
          <p:spPr>
            <a:xfrm>
              <a:off x="6619881" y="1772816"/>
              <a:ext cx="128583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55035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594980"/>
            <a:ext cx="9089390" cy="59247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 smtClean="0"/>
              <a:t>Exemplos de declaração de variáveis e ponteiros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809" y="2518825"/>
            <a:ext cx="9601782" cy="401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840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5016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Na linguagem C, quando declaramos </a:t>
            </a:r>
            <a:r>
              <a:rPr lang="pt-BR" dirty="0" smtClean="0"/>
              <a:t>um ponteiro </a:t>
            </a:r>
            <a:r>
              <a:rPr lang="pt-BR" dirty="0"/>
              <a:t>nós informamos ao compilador para que tipo de variável vamos apontá-lo. </a:t>
            </a:r>
          </a:p>
          <a:p>
            <a:pPr lvl="1"/>
            <a:r>
              <a:rPr lang="pt-BR" dirty="0"/>
              <a:t>Um ponteiro </a:t>
            </a:r>
            <a:r>
              <a:rPr lang="pt-BR" b="1" dirty="0" err="1"/>
              <a:t>int</a:t>
            </a:r>
            <a:r>
              <a:rPr lang="pt-BR" b="1" dirty="0"/>
              <a:t>*</a:t>
            </a:r>
            <a:r>
              <a:rPr lang="pt-BR" dirty="0"/>
              <a:t> aponta para um </a:t>
            </a:r>
            <a:r>
              <a:rPr lang="pt-BR" dirty="0" smtClean="0"/>
              <a:t>inteiro, isto é,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Esse ponteiro guarda </a:t>
            </a:r>
            <a:r>
              <a:rPr lang="pt-BR" dirty="0"/>
              <a:t>o endereço de memória onde se encontra </a:t>
            </a:r>
            <a:r>
              <a:rPr lang="pt-BR" dirty="0" smtClean="0"/>
              <a:t>armazenada uma </a:t>
            </a:r>
            <a:r>
              <a:rPr lang="pt-BR" dirty="0"/>
              <a:t>variável do tipo </a:t>
            </a:r>
            <a:r>
              <a:rPr lang="pt-BR" b="1" dirty="0" err="1"/>
              <a:t>int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40018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5778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Ponteiros apontam para uma posição de memória.</a:t>
            </a:r>
          </a:p>
          <a:p>
            <a:pPr lvl="1" eaLnBrk="1" hangingPunct="1"/>
            <a:r>
              <a:rPr lang="pt-BR" b="1" dirty="0" smtClean="0"/>
              <a:t>Cuidado</a:t>
            </a:r>
            <a:r>
              <a:rPr lang="pt-BR" dirty="0" smtClean="0"/>
              <a:t>: Ponteiros não inicializados apontam para um lugar indefinido.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*p;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13567"/>
              </p:ext>
            </p:extLst>
          </p:nvPr>
        </p:nvGraphicFramePr>
        <p:xfrm>
          <a:off x="5792258" y="390139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????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3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6540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Um ponteiro pode ter o valor especial NULL que é o endereço de nenhum lugar.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 = NULL;</a:t>
            </a:r>
          </a:p>
          <a:p>
            <a:pPr lvl="1" eaLnBrk="1" hangingPunct="1"/>
            <a:endParaRPr lang="pt-BR" dirty="0" smtClean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824831"/>
              </p:ext>
            </p:extLst>
          </p:nvPr>
        </p:nvGraphicFramePr>
        <p:xfrm>
          <a:off x="5380141" y="453882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NULL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grpSp>
        <p:nvGrpSpPr>
          <p:cNvPr id="12" name="Grupo 11"/>
          <p:cNvGrpSpPr/>
          <p:nvPr/>
        </p:nvGrpSpPr>
        <p:grpSpPr>
          <a:xfrm>
            <a:off x="5519382" y="3313683"/>
            <a:ext cx="3091083" cy="2636922"/>
            <a:chOff x="5072066" y="2428868"/>
            <a:chExt cx="2643206" cy="2393173"/>
          </a:xfrm>
        </p:grpSpPr>
        <p:sp>
          <p:nvSpPr>
            <p:cNvPr id="6" name="Retângulo 5"/>
            <p:cNvSpPr/>
            <p:nvPr/>
          </p:nvSpPr>
          <p:spPr>
            <a:xfrm>
              <a:off x="5072066" y="2428868"/>
              <a:ext cx="2428892" cy="10001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smtClean="0"/>
                <a:t>Nenhum lugar na memória</a:t>
              </a:r>
              <a:endParaRPr lang="pt-BR" b="1" dirty="0"/>
            </a:p>
          </p:txBody>
        </p:sp>
        <p:cxnSp>
          <p:nvCxnSpPr>
            <p:cNvPr id="8" name="Conector angulado 7"/>
            <p:cNvCxnSpPr>
              <a:endCxn id="6" idx="3"/>
            </p:cNvCxnSpPr>
            <p:nvPr/>
          </p:nvCxnSpPr>
          <p:spPr>
            <a:xfrm flipH="1" flipV="1">
              <a:off x="7500958" y="2928934"/>
              <a:ext cx="214314" cy="1893107"/>
            </a:xfrm>
            <a:prstGeom prst="bentConnector3">
              <a:avLst>
                <a:gd name="adj1" fmla="val -248887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3264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59498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12893" y="1763184"/>
            <a:ext cx="9713172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Os ponteiros devem ser inicializados antes de serem usados.</a:t>
            </a:r>
          </a:p>
          <a:p>
            <a:r>
              <a:rPr lang="pt-BR" dirty="0" smtClean="0"/>
              <a:t>Assim, devemos apontar um ponteiro para um lugar conhecido</a:t>
            </a:r>
          </a:p>
          <a:p>
            <a:pPr lvl="1" eaLnBrk="1" hangingPunct="1"/>
            <a:r>
              <a:rPr lang="pt-BR" dirty="0" smtClean="0"/>
              <a:t>Podemos apontá-lo para uma variável que já exista no programa.</a:t>
            </a:r>
          </a:p>
        </p:txBody>
      </p:sp>
      <p:sp>
        <p:nvSpPr>
          <p:cNvPr id="2" name="Elipse 1"/>
          <p:cNvSpPr/>
          <p:nvPr/>
        </p:nvSpPr>
        <p:spPr>
          <a:xfrm>
            <a:off x="6576026" y="5703241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6576026" y="6542852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16346"/>
              </p:ext>
            </p:extLst>
          </p:nvPr>
        </p:nvGraphicFramePr>
        <p:xfrm>
          <a:off x="3675845" y="4460109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4" name="Conector angulado 3"/>
          <p:cNvCxnSpPr>
            <a:stCxn id="2" idx="6"/>
            <a:endCxn id="7" idx="6"/>
          </p:cNvCxnSpPr>
          <p:nvPr/>
        </p:nvCxnSpPr>
        <p:spPr>
          <a:xfrm>
            <a:off x="6932472" y="5871163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368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6540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6232257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>
              <a:defRPr/>
            </a:pPr>
            <a:r>
              <a:rPr lang="pt-BR" dirty="0" smtClean="0"/>
              <a:t>O ponteiro armazena o endereço da variável para onde ele aponta. </a:t>
            </a:r>
          </a:p>
          <a:p>
            <a:pPr lvl="1" eaLnBrk="1" hangingPunct="1">
              <a:defRPr/>
            </a:pPr>
            <a:r>
              <a:rPr lang="pt-BR" sz="2300" dirty="0"/>
              <a:t>Para saber o endereço de memória de uma variável do nosso programa, usamos o operador </a:t>
            </a:r>
            <a:r>
              <a:rPr lang="pt-BR" sz="2300" b="1" dirty="0"/>
              <a:t>&amp;</a:t>
            </a:r>
            <a:r>
              <a:rPr lang="pt-BR" sz="2300" dirty="0"/>
              <a:t>. </a:t>
            </a:r>
          </a:p>
          <a:p>
            <a:pPr lvl="1">
              <a:defRPr/>
            </a:pPr>
            <a:r>
              <a:rPr lang="pt-BR" sz="2300" dirty="0"/>
              <a:t>Ao armazenar o endereço, o ponteiro estará apontando para aquela variável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334134" y="4541403"/>
            <a:ext cx="8298524" cy="2865173"/>
            <a:chOff x="1023938" y="3714752"/>
            <a:chExt cx="7096125" cy="26003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3938" y="3714752"/>
              <a:ext cx="7096125" cy="2600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1428728" y="5286388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Elipse 7"/>
          <p:cNvSpPr/>
          <p:nvPr/>
        </p:nvSpPr>
        <p:spPr>
          <a:xfrm>
            <a:off x="9583565" y="2659959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9583565" y="3499570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76307"/>
              </p:ext>
            </p:extLst>
          </p:nvPr>
        </p:nvGraphicFramePr>
        <p:xfrm>
          <a:off x="6683384" y="1416827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11" name="Conector angulado 10"/>
          <p:cNvCxnSpPr>
            <a:stCxn id="8" idx="6"/>
            <a:endCxn id="9" idx="6"/>
          </p:cNvCxnSpPr>
          <p:nvPr/>
        </p:nvCxnSpPr>
        <p:spPr>
          <a:xfrm>
            <a:off x="9940012" y="2827881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148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5778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Tendo um ponteiro armazenado um endereço de memória, como saber o valor guardado dentro dessa posição?</a:t>
            </a:r>
          </a:p>
        </p:txBody>
      </p:sp>
    </p:spTree>
    <p:extLst>
      <p:ext uri="{BB962C8B-B14F-4D97-AF65-F5344CB8AC3E}">
        <p14:creationId xmlns:p14="http://schemas.microsoft.com/office/powerpoint/2010/main" val="148575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67118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9406882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Para acessar o </a:t>
            </a:r>
            <a:r>
              <a:rPr lang="pt-BR" b="1" dirty="0" smtClean="0"/>
              <a:t>valor</a:t>
            </a:r>
            <a:r>
              <a:rPr lang="pt-BR" dirty="0" smtClean="0"/>
              <a:t> guardado dentro de uma posição na memória apontada por um ponteiro, basta usar o operador </a:t>
            </a:r>
            <a:r>
              <a:rPr lang="pt-BR" b="1" i="1" dirty="0" smtClean="0"/>
              <a:t>asterisco</a:t>
            </a:r>
            <a:r>
              <a:rPr lang="pt-BR" dirty="0" smtClean="0"/>
              <a:t> “*” na frente do nome do ponteiro 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233952" y="3195796"/>
            <a:ext cx="9958229" cy="4282017"/>
            <a:chOff x="200054" y="2900386"/>
            <a:chExt cx="8515350" cy="38862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00054" y="2900386"/>
              <a:ext cx="8515350" cy="3886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714348" y="5224186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236290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7302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9323340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b="1" dirty="0" smtClean="0"/>
              <a:t>*p</a:t>
            </a:r>
            <a:r>
              <a:rPr lang="pt-BR" dirty="0" smtClean="0"/>
              <a:t> :conteúdo da posição de memória apontado por </a:t>
            </a:r>
            <a:r>
              <a:rPr lang="pt-BR" b="1" dirty="0" smtClean="0"/>
              <a:t>p</a:t>
            </a:r>
            <a:r>
              <a:rPr lang="pt-BR" dirty="0" smtClean="0"/>
              <a:t>;</a:t>
            </a:r>
          </a:p>
          <a:p>
            <a:pPr eaLnBrk="1" hangingPunct="1"/>
            <a:r>
              <a:rPr lang="pt-BR" b="1" dirty="0" smtClean="0"/>
              <a:t>&amp;c</a:t>
            </a:r>
            <a:r>
              <a:rPr lang="pt-BR" dirty="0" smtClean="0"/>
              <a:t>: o endereço na memória onde está armazenada a variável </a:t>
            </a:r>
            <a:r>
              <a:rPr lang="pt-BR" b="1" dirty="0" smtClean="0"/>
              <a:t>c</a:t>
            </a:r>
            <a:r>
              <a:rPr lang="pt-BR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52" y="3195796"/>
            <a:ext cx="9958229" cy="4282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9424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6540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 fontScale="92500" lnSpcReduction="20000"/>
          </a:bodyPr>
          <a:lstStyle/>
          <a:p>
            <a:r>
              <a:rPr lang="pt-BR" dirty="0"/>
              <a:t>De modo geral, um ponteiro só pode receber o endereço de memória de uma variável do mesmo tipo do ponteiro</a:t>
            </a:r>
          </a:p>
          <a:p>
            <a:pPr lvl="1"/>
            <a:r>
              <a:rPr lang="pt-BR" dirty="0"/>
              <a:t>Isso ocorre porque diferentes tipos de variáveis ocupam espaços de memória de tamanhos diferentes</a:t>
            </a:r>
          </a:p>
          <a:p>
            <a:pPr lvl="1"/>
            <a:r>
              <a:rPr lang="pt-BR" dirty="0"/>
              <a:t>Na verdade, nós podemos atribuir a um ponteiro de inteiro (</a:t>
            </a:r>
            <a:r>
              <a:rPr lang="pt-BR" b="1" dirty="0" err="1"/>
              <a:t>int</a:t>
            </a:r>
            <a:r>
              <a:rPr lang="pt-BR" b="1" dirty="0"/>
              <a:t> *</a:t>
            </a:r>
            <a:r>
              <a:rPr lang="pt-BR" dirty="0"/>
              <a:t>) o endereço de uma variável do tipo </a:t>
            </a:r>
            <a:r>
              <a:rPr lang="pt-BR" b="1" dirty="0" err="1"/>
              <a:t>float</a:t>
            </a:r>
            <a:r>
              <a:rPr lang="pt-BR" dirty="0"/>
              <a:t>. No entanto, o compilador assume que qualquer endereço que esse ponteiro armazene obrigatoriamente apontará para uma variável do tipo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Isso gera problemas na interpretação dos valores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0526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762" y="1500805"/>
            <a:ext cx="9089390" cy="4554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386" name="Título 1"/>
          <p:cNvSpPr>
            <a:spLocks noGrp="1"/>
          </p:cNvSpPr>
          <p:nvPr>
            <p:ph type="title"/>
          </p:nvPr>
        </p:nvSpPr>
        <p:spPr>
          <a:xfrm>
            <a:off x="802005" y="442580"/>
            <a:ext cx="9089390" cy="59247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Utilização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 b="8163"/>
          <a:stretch>
            <a:fillRect/>
          </a:stretch>
        </p:blipFill>
        <p:spPr bwMode="auto">
          <a:xfrm>
            <a:off x="584763" y="6081312"/>
            <a:ext cx="5536062" cy="141685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0347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6540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Atribuição </a:t>
            </a:r>
          </a:p>
          <a:p>
            <a:pPr lvl="1" eaLnBrk="1" hangingPunct="1"/>
            <a:r>
              <a:rPr lang="pt-BR" dirty="0" smtClean="0"/>
              <a:t>p1 aponta para o mesmo lugar que p2;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sz="3600" b="1" dirty="0"/>
              <a:t>	</a:t>
            </a:r>
          </a:p>
          <a:p>
            <a:pPr lvl="1" eaLnBrk="1" hangingPunct="1">
              <a:buFont typeface="Wingdings" pitchFamily="2" charset="2"/>
              <a:buNone/>
            </a:pPr>
            <a:endParaRPr lang="pt-BR" sz="3600" b="1" dirty="0"/>
          </a:p>
          <a:p>
            <a:pPr lvl="1" eaLnBrk="1" hangingPunct="1"/>
            <a:endParaRPr lang="pt-BR" dirty="0" smtClean="0"/>
          </a:p>
          <a:p>
            <a:pPr lvl="1" eaLnBrk="1" hangingPunct="1"/>
            <a:r>
              <a:rPr lang="pt-BR" dirty="0" smtClean="0"/>
              <a:t>a variável apontada por p1 recebe o mesmo conteúdo da variável apontada por p2;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5700" y="2406650"/>
            <a:ext cx="4489000" cy="1206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07770" y="4387850"/>
            <a:ext cx="4477861" cy="1815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76822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5778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712893" y="1763183"/>
            <a:ext cx="9445837" cy="5373511"/>
          </a:xfrm>
          <a:prstGeom prst="rect">
            <a:avLst/>
          </a:prstGeom>
        </p:spPr>
        <p:txBody>
          <a:bodyPr lIns="104278" tIns="52139" rIns="104278" bIns="52139"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pt-BR" dirty="0" smtClean="0"/>
              <a:t>Apenas duas operações aritméticas podem ser utilizadas com no endereço armazenado pelo ponteiro: adição e subtração</a:t>
            </a:r>
          </a:p>
          <a:p>
            <a:pPr>
              <a:lnSpc>
                <a:spcPct val="90000"/>
              </a:lnSpc>
              <a:defRPr/>
            </a:pPr>
            <a:r>
              <a:rPr lang="pt-BR" dirty="0" smtClean="0">
                <a:ea typeface="+mn-ea"/>
              </a:rPr>
              <a:t>podemos apenas somar e subtrair valores INTEIROS</a:t>
            </a:r>
            <a:endParaRPr lang="pt-BR" sz="2600" b="1" dirty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p++;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p--;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subtrai 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 = p+15;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+15 no endereço armazenado no ponteiro.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pt-BR" sz="2300" b="1" dirty="0"/>
          </a:p>
        </p:txBody>
      </p:sp>
    </p:spTree>
    <p:extLst>
      <p:ext uri="{BB962C8B-B14F-4D97-AF65-F5344CB8AC3E}">
        <p14:creationId xmlns:p14="http://schemas.microsoft.com/office/powerpoint/2010/main" val="1303228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4254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712893" y="1763183"/>
            <a:ext cx="5719863" cy="5373511"/>
          </a:xfrm>
          <a:prstGeom prst="rect">
            <a:avLst/>
          </a:prstGeom>
        </p:spPr>
        <p:txBody>
          <a:bodyPr lIns="104278" tIns="52139" rIns="104278" bIns="52139">
            <a:normAutofit fontScale="77500" lnSpcReduction="20000"/>
          </a:bodyPr>
          <a:lstStyle/>
          <a:p>
            <a:pPr>
              <a:lnSpc>
                <a:spcPct val="90000"/>
              </a:lnSpc>
              <a:defRPr/>
            </a:pPr>
            <a:r>
              <a:rPr lang="pt-BR" dirty="0"/>
              <a:t>As operações de adição e subtração no endereço dependem do tipo de dado que o ponteiro aponta.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Considere um ponteiro para inteiro, </a:t>
            </a:r>
            <a:r>
              <a:rPr lang="pt-BR" dirty="0" err="1"/>
              <a:t>int</a:t>
            </a:r>
            <a:r>
              <a:rPr lang="pt-BR" dirty="0"/>
              <a:t> *. </a:t>
            </a:r>
            <a:endParaRPr lang="pt-BR" dirty="0" smtClean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O </a:t>
            </a:r>
            <a:r>
              <a:rPr lang="pt-BR" dirty="0"/>
              <a:t>tipo </a:t>
            </a:r>
            <a:r>
              <a:rPr lang="pt-BR" dirty="0" err="1"/>
              <a:t>int</a:t>
            </a:r>
            <a:r>
              <a:rPr lang="pt-BR" dirty="0"/>
              <a:t> ocupa um espaço de 4 bytes na memória.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Assim, nas operações de adição e subtração são adicionados/subtraídos 4 bytes por incremento/decremento, pois esse é o tamanho de um inteiro na memória e, portanto, é também o valor mínimo necessário para sair dessa posição reservada de memória</a:t>
            </a:r>
          </a:p>
          <a:p>
            <a:pPr>
              <a:lnSpc>
                <a:spcPct val="90000"/>
              </a:lnSpc>
              <a:defRPr/>
            </a:pP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41720"/>
              </p:ext>
            </p:extLst>
          </p:nvPr>
        </p:nvGraphicFramePr>
        <p:xfrm>
          <a:off x="6505152" y="1259417"/>
          <a:ext cx="3603488" cy="5720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3109"/>
                <a:gridCol w="1247236"/>
                <a:gridCol w="125314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a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b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c 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‘k’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129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d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‘s’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130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558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6540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Ilegais com ponteiros</a:t>
            </a:r>
          </a:p>
          <a:p>
            <a:pPr lvl="1" eaLnBrk="1" hangingPunct="1"/>
            <a:r>
              <a:rPr lang="pt-BR" dirty="0" smtClean="0"/>
              <a:t>Dividir ou multiplicar ponteiros;</a:t>
            </a:r>
          </a:p>
          <a:p>
            <a:pPr lvl="1" eaLnBrk="1" hangingPunct="1"/>
            <a:r>
              <a:rPr lang="pt-BR" dirty="0" smtClean="0"/>
              <a:t>Somar o endereço de dois ponteiros;</a:t>
            </a:r>
          </a:p>
          <a:p>
            <a:pPr lvl="1" eaLnBrk="1" hangingPunct="1"/>
            <a:r>
              <a:rPr lang="pt-BR" dirty="0" smtClean="0"/>
              <a:t>Não se pode adicionar ou subtrair valores dos tipos </a:t>
            </a:r>
            <a:r>
              <a:rPr lang="pt-BR" b="1" dirty="0" err="1" smtClean="0"/>
              <a:t>float</a:t>
            </a:r>
            <a:r>
              <a:rPr lang="pt-BR" dirty="0" smtClean="0"/>
              <a:t> ou </a:t>
            </a:r>
            <a:r>
              <a:rPr lang="pt-BR" b="1" dirty="0" err="1" smtClean="0"/>
              <a:t>double</a:t>
            </a:r>
            <a:r>
              <a:rPr lang="pt-BR" dirty="0" smtClean="0"/>
              <a:t> de ponteiros.</a:t>
            </a:r>
          </a:p>
        </p:txBody>
      </p:sp>
    </p:spTree>
    <p:extLst>
      <p:ext uri="{BB962C8B-B14F-4D97-AF65-F5344CB8AC3E}">
        <p14:creationId xmlns:p14="http://schemas.microsoft.com/office/powerpoint/2010/main" val="1032220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6540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Já sobre seu conteúdo apontado, valem todas as operações</a:t>
            </a:r>
          </a:p>
          <a:p>
            <a:pPr lvl="1" eaLnBrk="1" hangingPunct="1"/>
            <a:r>
              <a:rPr lang="pt-BR" dirty="0" smtClean="0"/>
              <a:t>(*p)++; </a:t>
            </a:r>
          </a:p>
          <a:p>
            <a:pPr lvl="2"/>
            <a:r>
              <a:rPr lang="pt-BR" dirty="0" smtClean="0"/>
              <a:t>incrementar o conteúdo da variável apontada pelo ponteiro p;</a:t>
            </a:r>
          </a:p>
          <a:p>
            <a:pPr lvl="1" eaLnBrk="1" hangingPunct="1"/>
            <a:r>
              <a:rPr lang="pt-BR" dirty="0" smtClean="0"/>
              <a:t>*p = (*p) * 10; </a:t>
            </a:r>
          </a:p>
          <a:p>
            <a:pPr lvl="2"/>
            <a:r>
              <a:rPr lang="pt-BR" dirty="0" smtClean="0"/>
              <a:t>multiplica o conteúdo da variável apontada pelo ponteiro p por 10;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554" y="3930650"/>
            <a:ext cx="2428293" cy="205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325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59498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relacionais</a:t>
            </a:r>
          </a:p>
          <a:p>
            <a:pPr lvl="1" eaLnBrk="1" hangingPunct="1"/>
            <a:r>
              <a:rPr lang="pt-BR" b="1" dirty="0" smtClean="0"/>
              <a:t>==</a:t>
            </a:r>
            <a:r>
              <a:rPr lang="pt-BR" dirty="0" smtClean="0"/>
              <a:t> e </a:t>
            </a:r>
            <a:r>
              <a:rPr lang="pt-BR" b="1" dirty="0" smtClean="0"/>
              <a:t>!=</a:t>
            </a:r>
            <a:r>
              <a:rPr lang="pt-BR" dirty="0" smtClean="0"/>
              <a:t> para saber se dois ponteiros são iguais ou diferentes. </a:t>
            </a:r>
          </a:p>
          <a:p>
            <a:pPr lvl="1"/>
            <a:r>
              <a:rPr lang="pt-BR" b="1" dirty="0" smtClean="0"/>
              <a:t>&gt;</a:t>
            </a:r>
            <a:r>
              <a:rPr lang="pt-BR" dirty="0" smtClean="0"/>
              <a:t>, </a:t>
            </a:r>
            <a:r>
              <a:rPr lang="pt-BR" b="1" dirty="0" smtClean="0"/>
              <a:t>&lt;</a:t>
            </a:r>
            <a:r>
              <a:rPr lang="pt-BR" dirty="0" smtClean="0"/>
              <a:t>, </a:t>
            </a:r>
            <a:r>
              <a:rPr lang="pt-BR" b="1" dirty="0" smtClean="0"/>
              <a:t>&gt;=</a:t>
            </a:r>
            <a:r>
              <a:rPr lang="pt-BR" dirty="0" smtClean="0"/>
              <a:t> e </a:t>
            </a:r>
            <a:r>
              <a:rPr lang="pt-BR" b="1" dirty="0" smtClean="0"/>
              <a:t>&lt;=</a:t>
            </a:r>
            <a:r>
              <a:rPr lang="pt-BR" dirty="0" smtClean="0"/>
              <a:t> para saber qual ponteiro aponta para uma posição mais alta na memória.</a:t>
            </a:r>
          </a:p>
          <a:p>
            <a:pPr lvl="1" eaLnBrk="1" hangingPunct="1"/>
            <a:endParaRPr lang="pt-B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4251" y="3244850"/>
            <a:ext cx="6404901" cy="313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1022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4254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 fontScale="92500" lnSpcReduction="10000"/>
          </a:bodyPr>
          <a:lstStyle/>
          <a:p>
            <a:r>
              <a:rPr lang="pt-BR" dirty="0"/>
              <a:t>Ponteiros e </a:t>
            </a:r>
            <a:r>
              <a:rPr lang="pt-BR" dirty="0" err="1"/>
              <a:t>arrays</a:t>
            </a:r>
            <a:r>
              <a:rPr lang="pt-BR" dirty="0"/>
              <a:t> possuem uma ligação muito forte.</a:t>
            </a:r>
          </a:p>
          <a:p>
            <a:pPr lvl="1"/>
            <a:r>
              <a:rPr lang="pt-BR" dirty="0" err="1"/>
              <a:t>Arrays</a:t>
            </a:r>
            <a:r>
              <a:rPr lang="pt-BR" dirty="0"/>
              <a:t> são agrupamentos de dados do mesmo tipo na memória.</a:t>
            </a:r>
          </a:p>
          <a:p>
            <a:pPr lvl="1"/>
            <a:r>
              <a:rPr lang="pt-BR" dirty="0"/>
              <a:t>Quando declaramos um </a:t>
            </a:r>
            <a:r>
              <a:rPr lang="pt-BR" dirty="0" err="1"/>
              <a:t>array</a:t>
            </a:r>
            <a:r>
              <a:rPr lang="pt-BR" dirty="0"/>
              <a:t>, informamos ao computador para reservar uma certa quantidade de memória a fim de armazenar os elementos do </a:t>
            </a:r>
            <a:r>
              <a:rPr lang="pt-BR" dirty="0" err="1"/>
              <a:t>array</a:t>
            </a:r>
            <a:r>
              <a:rPr lang="pt-BR" dirty="0"/>
              <a:t> de forma </a:t>
            </a:r>
            <a:r>
              <a:rPr lang="pt-BR" dirty="0" err="1" smtClean="0"/>
              <a:t>sequencial</a:t>
            </a:r>
            <a:r>
              <a:rPr lang="pt-BR" dirty="0"/>
              <a:t>. </a:t>
            </a:r>
          </a:p>
          <a:p>
            <a:pPr lvl="1"/>
            <a:r>
              <a:rPr lang="pt-BR" dirty="0"/>
              <a:t>Como resultado dessa operação, o computador nos devolve um ponteiro que aponta para o começo dessa </a:t>
            </a:r>
            <a:r>
              <a:rPr lang="pt-BR" dirty="0" err="1" smtClean="0"/>
              <a:t>sequência</a:t>
            </a:r>
            <a:r>
              <a:rPr lang="pt-BR" dirty="0" smtClean="0"/>
              <a:t> </a:t>
            </a:r>
            <a:r>
              <a:rPr lang="pt-BR" dirty="0"/>
              <a:t>de bytes na memória. 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0410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5016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712894" y="1763184"/>
            <a:ext cx="5524923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 nome do </a:t>
            </a:r>
            <a:r>
              <a:rPr lang="pt-BR" dirty="0" err="1" smtClean="0"/>
              <a:t>array</a:t>
            </a:r>
            <a:r>
              <a:rPr lang="pt-BR" dirty="0" smtClean="0"/>
              <a:t> (sem índice) é apenas um ponteiro que aponta para o primeiro elemento do </a:t>
            </a:r>
            <a:r>
              <a:rPr lang="pt-BR" dirty="0" err="1" smtClean="0"/>
              <a:t>array</a:t>
            </a:r>
            <a:r>
              <a:rPr lang="pt-BR" dirty="0" smtClean="0"/>
              <a:t>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61421"/>
              </p:ext>
            </p:extLst>
          </p:nvPr>
        </p:nvGraphicFramePr>
        <p:xfrm>
          <a:off x="6505152" y="1259416"/>
          <a:ext cx="3475355" cy="49033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202917"/>
                <a:gridCol w="120855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</a:t>
                      </a:r>
                      <a:r>
                        <a:rPr lang="pt-BR" sz="1800" dirty="0" err="1" smtClean="0"/>
                        <a:t>vet</a:t>
                      </a:r>
                      <a:r>
                        <a:rPr lang="pt-BR" sz="1800" dirty="0" smtClean="0"/>
                        <a:t>[5]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2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3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4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5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7" name="Conector angulado 6"/>
          <p:cNvCxnSpPr/>
          <p:nvPr/>
        </p:nvCxnSpPr>
        <p:spPr>
          <a:xfrm>
            <a:off x="9695112" y="3139960"/>
            <a:ext cx="1857" cy="755650"/>
          </a:xfrm>
          <a:prstGeom prst="bentConnector3">
            <a:avLst>
              <a:gd name="adj1" fmla="val 4540114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9561" y="3620822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4114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6540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712893" y="1763183"/>
            <a:ext cx="9713172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2700" dirty="0"/>
              <a:t>Os colchetes </a:t>
            </a:r>
            <a:r>
              <a:rPr lang="pt-BR" sz="2700" b="1" dirty="0"/>
              <a:t>[ ]</a:t>
            </a:r>
            <a:r>
              <a:rPr lang="pt-BR" sz="2700" dirty="0"/>
              <a:t> substituem o uso conjunto de operações aritméticas e de acesso ao conteúdo (operador “*”) no acesso ao conteúdo de uma posição de um </a:t>
            </a:r>
            <a:r>
              <a:rPr lang="pt-BR" sz="2700" dirty="0" err="1"/>
              <a:t>array</a:t>
            </a:r>
            <a:r>
              <a:rPr lang="pt-BR" sz="2700" dirty="0"/>
              <a:t> ou ponteiro.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O valor entre colchetes é o deslocamento a partir da posição inicial do </a:t>
            </a:r>
            <a:r>
              <a:rPr lang="pt-BR" sz="2300" dirty="0" err="1"/>
              <a:t>array</a:t>
            </a:r>
            <a:r>
              <a:rPr lang="pt-BR" sz="2300" dirty="0"/>
              <a:t>.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Nesse caso, </a:t>
            </a:r>
            <a:r>
              <a:rPr lang="pt-BR" sz="2300" b="1" dirty="0"/>
              <a:t>p[2]</a:t>
            </a:r>
            <a:r>
              <a:rPr lang="pt-BR" sz="2300" dirty="0"/>
              <a:t> equivale a </a:t>
            </a:r>
            <a:r>
              <a:rPr lang="pt-BR" sz="2300" b="1" dirty="0"/>
              <a:t>*(p+2)</a:t>
            </a:r>
            <a:r>
              <a:rPr lang="pt-BR" sz="2300" dirty="0"/>
              <a:t>.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pt-BR" sz="27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700" dirty="0"/>
              <a:t>	</a:t>
            </a:r>
            <a:endParaRPr lang="pt-BR" sz="23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934" y="4565391"/>
            <a:ext cx="8543581" cy="2602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89732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654050"/>
            <a:ext cx="9089390" cy="5924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534670" y="1763183"/>
            <a:ext cx="8732943" cy="2875285"/>
          </a:xfrm>
          <a:prstGeom prst="rect">
            <a:avLst/>
          </a:prstGeom>
        </p:spPr>
        <p:txBody>
          <a:bodyPr lIns="104278" tIns="52139" rIns="104278" bIns="52139">
            <a:normAutofit fontScale="55000" lnSpcReduction="20000"/>
          </a:bodyPr>
          <a:lstStyle/>
          <a:p>
            <a:pPr eaLnBrk="1" hangingPunct="1"/>
            <a:r>
              <a:rPr lang="pt-BR" dirty="0" smtClean="0"/>
              <a:t>Nesse exemplo</a:t>
            </a:r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Temos que: </a:t>
            </a:r>
          </a:p>
          <a:p>
            <a:pPr lvl="1" eaLnBrk="1" hangingPunct="1"/>
            <a:r>
              <a:rPr lang="pt-BR" b="1" dirty="0" smtClean="0"/>
              <a:t>*p</a:t>
            </a:r>
            <a:r>
              <a:rPr lang="pt-BR" dirty="0" smtClean="0"/>
              <a:t> é equivalente a 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endParaRPr lang="pt-BR" b="1" dirty="0" smtClean="0"/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b="1" dirty="0" smtClean="0"/>
              <a:t>[índice</a:t>
            </a:r>
            <a:r>
              <a:rPr lang="pt-BR" b="1" dirty="0" smtClean="0"/>
              <a:t>]</a:t>
            </a:r>
            <a:r>
              <a:rPr lang="pt-BR" dirty="0" smtClean="0"/>
              <a:t> é equivalente a </a:t>
            </a:r>
            <a:r>
              <a:rPr lang="pt-BR" b="1" dirty="0" smtClean="0"/>
              <a:t>*(p+índice)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dirty="0" smtClean="0"/>
              <a:t> é equivalente a </a:t>
            </a:r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(</a:t>
            </a:r>
            <a:r>
              <a:rPr lang="pt-BR" b="1" dirty="0" err="1" smtClean="0"/>
              <a:t>vet</a:t>
            </a:r>
            <a:r>
              <a:rPr lang="pt-BR" b="1" dirty="0" smtClean="0"/>
              <a:t> + índice)</a:t>
            </a:r>
            <a:r>
              <a:rPr lang="pt-BR" dirty="0" smtClean="0"/>
              <a:t>;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1675" y="2261701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54076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Ponteiros e Arrays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939800" y="3416300"/>
            <a:ext cx="391477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Espaço Reservado para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5747544" y="3411537"/>
            <a:ext cx="409575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74011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88582" y="1644650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 err="1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 err="1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 err="1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 err="1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 err="1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 err="1" smtClean="0">
                <a:solidFill>
                  <a:prstClr val="black"/>
                </a:solidFill>
                <a:latin typeface="Arial"/>
                <a:cs typeface="Arial"/>
              </a:rPr>
              <a:t>por</a:t>
            </a:r>
            <a:r>
              <a:rPr lang="pt-BR" sz="3300" spc="-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 err="1" smtClean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 err="1" smtClean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 err="1" smtClean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 err="1" smtClean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921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30450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11450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476825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863850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232481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 err="1" smtClean="0"/>
              <a:t>E</a:t>
            </a:r>
            <a:r>
              <a:rPr spc="5" dirty="0" err="1" smtClean="0"/>
              <a:t>xe</a:t>
            </a:r>
            <a:r>
              <a:rPr dirty="0" err="1" smtClean="0"/>
              <a:t>r</a:t>
            </a:r>
            <a:r>
              <a:rPr spc="5" dirty="0" err="1" smtClean="0"/>
              <a:t>c</a:t>
            </a:r>
            <a:r>
              <a:rPr spc="0" dirty="0" err="1" smtClean="0"/>
              <a:t>í</a:t>
            </a:r>
            <a:r>
              <a:rPr spc="5" dirty="0" err="1" smtClean="0"/>
              <a:t>c</a:t>
            </a:r>
            <a:r>
              <a:rPr spc="-10" dirty="0" err="1" smtClean="0"/>
              <a:t>i</a:t>
            </a:r>
            <a:r>
              <a:rPr spc="-5" dirty="0" err="1" smtClean="0"/>
              <a:t>o</a:t>
            </a:r>
            <a:r>
              <a:rPr dirty="0" err="1" smtClean="0"/>
              <a:t>s</a:t>
            </a:r>
            <a:endParaRPr i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49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1325</TotalTime>
  <Words>2521</Words>
  <Application>Microsoft Office PowerPoint</Application>
  <PresentationFormat>Personalizar</PresentationFormat>
  <Paragraphs>565</Paragraphs>
  <Slides>43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43</vt:i4>
      </vt:variant>
    </vt:vector>
  </HeadingPairs>
  <TitlesOfParts>
    <vt:vector size="45" baseType="lpstr">
      <vt:lpstr>4_Office Theme</vt:lpstr>
      <vt:lpstr>Tema do Office</vt:lpstr>
      <vt:lpstr>Parâmetros de uma subrotina em C Exemplo</vt:lpstr>
      <vt:lpstr>Definição</vt:lpstr>
      <vt:lpstr>Declaração</vt:lpstr>
      <vt:lpstr>Declaração</vt:lpstr>
      <vt:lpstr>Declaração</vt:lpstr>
      <vt:lpstr>Inicialização</vt:lpstr>
      <vt:lpstr>Inicialização</vt:lpstr>
      <vt:lpstr>Inicialização</vt:lpstr>
      <vt:lpstr>Inicialização</vt:lpstr>
      <vt:lpstr>Utilização</vt:lpstr>
      <vt:lpstr>Utilização</vt:lpstr>
      <vt:lpstr>Utilização</vt:lpstr>
      <vt:lpstr>Utilização</vt:lpstr>
      <vt:lpstr>Utilização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Ponteiros e Arrays</vt:lpstr>
      <vt:lpstr>Ponteiros e Arrays</vt:lpstr>
      <vt:lpstr>Ponteiros e Arrays</vt:lpstr>
      <vt:lpstr>Ponteiros e Arrays</vt:lpstr>
      <vt:lpstr>Ponteiros e Arrays</vt:lpstr>
      <vt:lpstr>Vetores e Subrotinas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</vt:lpstr>
      <vt:lpstr>Exercícios</vt:lpstr>
      <vt:lpstr>Exercícios</vt:lpstr>
      <vt:lpstr>Exercícios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85</cp:revision>
  <dcterms:created xsi:type="dcterms:W3CDTF">2015-06-18T03:37:37Z</dcterms:created>
  <dcterms:modified xsi:type="dcterms:W3CDTF">2018-10-03T19:29:45Z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