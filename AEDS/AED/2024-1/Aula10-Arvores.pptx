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25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32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4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2.jpeg" ContentType="image/jpeg"/>
  <Override PartName="/ppt/media/image19.png" ContentType="image/png"/>
  <Override PartName="/ppt/presProps.xml" ContentType="application/vnd.openxmlformats-officedocument.presentationml.presProps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42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60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9.xml" ContentType="application/vnd.openxmlformats-officedocument.presentationml.slide+xml"/>
  <Override PartName="/ppt/slides/slide61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64.xml" ContentType="application/vnd.openxmlformats-officedocument.presentationml.slide+xml"/>
  <Override PartName="/ppt/slides/slide27.xml" ContentType="application/vnd.openxmlformats-officedocument.presentationml.slide+xml"/>
  <Override PartName="/ppt/slides/slide63.xml" ContentType="application/vnd.openxmlformats-officedocument.presentationml.slide+xml"/>
  <Override PartName="/ppt/slides/slide26.xml" ContentType="application/vnd.openxmlformats-officedocument.presentationml.slide+xml"/>
  <Override PartName="/ppt/slides/slide62.xml" ContentType="application/vnd.openxmlformats-officedocument.presentationml.slide+xml"/>
  <Override PartName="/ppt/slides/slide25.xml" ContentType="application/vnd.openxmlformats-officedocument.presentationml.slide+xml"/>
  <Override PartName="/ppt/slides/slide59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16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_rels/slide39.xml.rels" ContentType="application/vnd.openxmlformats-package.relationships+xml"/>
  <Override PartName="/ppt/slides/_rels/slide31.xml.rels" ContentType="application/vnd.openxmlformats-package.relationships+xml"/>
  <Override PartName="/ppt/slides/_rels/slide15.xml.rels" ContentType="application/vnd.openxmlformats-package.relationships+xml"/>
  <Override PartName="/ppt/slides/_rels/slide24.xml.rels" ContentType="application/vnd.openxmlformats-package.relationships+xml"/>
  <Override PartName="/ppt/slides/_rels/slide58.xml.rels" ContentType="application/vnd.openxmlformats-package.relationships+xml"/>
  <Override PartName="/ppt/slides/_rels/slide13.xml.rels" ContentType="application/vnd.openxmlformats-package.relationships+xml"/>
  <Override PartName="/ppt/slides/_rels/slide27.xml.rels" ContentType="application/vnd.openxmlformats-package.relationships+xml"/>
  <Override PartName="/ppt/slides/_rels/slide36.xml.rels" ContentType="application/vnd.openxmlformats-package.relationships+xml"/>
  <Override PartName="/ppt/slides/_rels/slide43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17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2.xml.rels" ContentType="application/vnd.openxmlformats-package.relationships+xml"/>
  <Override PartName="/ppt/slides/_rels/slide48.xml.rels" ContentType="application/vnd.openxmlformats-package.relationships+xml"/>
  <Override PartName="/ppt/slides/_rels/slide64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55.xml.rels" ContentType="application/vnd.openxmlformats-package.relationships+xml"/>
  <Override PartName="/ppt/slides/_rels/slide35.xml.rels" ContentType="application/vnd.openxmlformats-package.relationships+xml"/>
  <Override PartName="/ppt/slides/_rels/slide51.xml.rels" ContentType="application/vnd.openxmlformats-package.relationships+xml"/>
  <Override PartName="/ppt/slides/_rels/slide42.xml.rels" ContentType="application/vnd.openxmlformats-package.relationships+xml"/>
  <Override PartName="/ppt/slides/_rels/slide7.xml.rels" ContentType="application/vnd.openxmlformats-package.relationships+xml"/>
  <Override PartName="/ppt/slides/_rels/slide32.xml.rels" ContentType="application/vnd.openxmlformats-package.relationships+xml"/>
  <Override PartName="/ppt/slides/_rels/slide1.xml.rels" ContentType="application/vnd.openxmlformats-package.relationships+xml"/>
  <Override PartName="/ppt/slides/_rels/slide54.xml.rels" ContentType="application/vnd.openxmlformats-package.relationships+xml"/>
  <Override PartName="/ppt/slides/_rels/slide63.xml.rels" ContentType="application/vnd.openxmlformats-package.relationships+xml"/>
  <Override PartName="/ppt/slides/_rels/slide47.xml.rels" ContentType="application/vnd.openxmlformats-package.relationships+xml"/>
  <Override PartName="/ppt/slides/_rels/slide4.xml.rels" ContentType="application/vnd.openxmlformats-package.relationships+xml"/>
  <Override PartName="/ppt/slides/_rels/slide41.xml.rels" ContentType="application/vnd.openxmlformats-package.relationships+xml"/>
  <Override PartName="/ppt/slides/_rels/slide6.xml.rels" ContentType="application/vnd.openxmlformats-package.relationships+xml"/>
  <Override PartName="/ppt/slides/_rels/slide34.xml.rels" ContentType="application/vnd.openxmlformats-package.relationships+xml"/>
  <Override PartName="/ppt/slides/_rels/slide50.xml.rels" ContentType="application/vnd.openxmlformats-package.relationships+xml"/>
  <Override PartName="/ppt/slides/_rels/slide49.xml.rels" ContentType="application/vnd.openxmlformats-package.relationships+xml"/>
  <Override PartName="/ppt/slides/_rels/slide53.xml.rels" ContentType="application/vnd.openxmlformats-package.relationships+xml"/>
  <Override PartName="/ppt/slides/_rels/slide62.xml.rels" ContentType="application/vnd.openxmlformats-package.relationships+xml"/>
  <Override PartName="/ppt/slides/_rels/slide46.xml.rels" ContentType="application/vnd.openxmlformats-package.relationships+xml"/>
  <Override PartName="/ppt/slides/_rels/slide52.xml.rels" ContentType="application/vnd.openxmlformats-package.relationships+xml"/>
  <Override PartName="/ppt/slides/_rels/slide57.xml.rels" ContentType="application/vnd.openxmlformats-package.relationships+xml"/>
  <Override PartName="/ppt/slides/_rels/slide61.xml.rels" ContentType="application/vnd.openxmlformats-package.relationships+xml"/>
  <Override PartName="/ppt/slides/_rels/slide3.xml.rels" ContentType="application/vnd.openxmlformats-package.relationships+xml"/>
  <Override PartName="/ppt/slides/_rels/slide28.xml.rels" ContentType="application/vnd.openxmlformats-package.relationships+xml"/>
  <Override PartName="/ppt/slides/_rels/slide18.xml.rels" ContentType="application/vnd.openxmlformats-package.relationships+xml"/>
  <Override PartName="/ppt/slides/_rels/slide22.xml.rels" ContentType="application/vnd.openxmlformats-package.relationships+xml"/>
  <Override PartName="/ppt/slides/_rels/slide9.xml.rels" ContentType="application/vnd.openxmlformats-package.relationships+xml"/>
  <Override PartName="/ppt/slides/_rels/slide44.xml.rels" ContentType="application/vnd.openxmlformats-package.relationships+xml"/>
  <Override PartName="/ppt/slides/_rels/slide37.xml.rels" ContentType="application/vnd.openxmlformats-package.relationships+xml"/>
  <Override PartName="/ppt/slides/_rels/slide56.xml.rels" ContentType="application/vnd.openxmlformats-package.relationships+xml"/>
  <Override PartName="/ppt/slides/_rels/slide60.xml.rels" ContentType="application/vnd.openxmlformats-package.relationships+xml"/>
  <Override PartName="/ppt/slides/_rels/slide14.xml.rels" ContentType="application/vnd.openxmlformats-package.relationships+xml"/>
  <Override PartName="/ppt/slides/_rels/slide33.xml.rels" ContentType="application/vnd.openxmlformats-package.relationships+xml"/>
  <Override PartName="/ppt/slides/_rels/slide29.xml.rels" ContentType="application/vnd.openxmlformats-package.relationships+xml"/>
  <Override PartName="/ppt/slides/_rels/slide19.xml.rels" ContentType="application/vnd.openxmlformats-package.relationships+xml"/>
  <Override PartName="/ppt/slides/_rels/slide23.xml.rels" ContentType="application/vnd.openxmlformats-package.relationships+xml"/>
  <Override PartName="/ppt/slides/_rels/slide30.xml.rels" ContentType="application/vnd.openxmlformats-package.relationships+xml"/>
  <Override PartName="/ppt/slides/_rels/slide38.xml.rels" ContentType="application/vnd.openxmlformats-package.relationships+xml"/>
  <Override PartName="/ppt/slides/_rels/slide45.xml.rels" ContentType="application/vnd.openxmlformats-package.relationships+xml"/>
  <Override PartName="/ppt/slides/_rels/slide25.xml.rels" ContentType="application/vnd.openxmlformats-package.relationships+xml"/>
  <Override PartName="/ppt/slides/_rels/slide59.xml.rels" ContentType="application/vnd.openxmlformats-package.relationships+xml"/>
  <Override PartName="/ppt/slides/_rels/slide10.xml.rels" ContentType="application/vnd.openxmlformats-package.relationships+xml"/>
  <Override PartName="/ppt/slides/_rels/slide20.xml.rels" ContentType="application/vnd.openxmlformats-package.relationships+xml"/>
  <Override PartName="/ppt/slides/_rels/slide16.xml.rels" ContentType="application/vnd.openxmlformats-package.relationships+xml"/>
  <Override PartName="/ppt/slides/slide6.xml" ContentType="application/vnd.openxmlformats-officedocument.presentationml.slide+xml"/>
  <Override PartName="/ppt/slides/slide1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E0CC66-130B-4C54-900F-123D82B7B9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7F65BC-6797-4FEB-8724-62EFE9B9E1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CB5FFF-1B3B-4BAB-9C29-C27697D030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3978360" cy="449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790520" y="1600200"/>
            <a:ext cx="3978360" cy="449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F0A6D1-E1B1-4664-A673-C1D1AB76A7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A97F5B-EE43-47C7-90AC-DC2FAF6A34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612720" y="228600"/>
            <a:ext cx="8152920" cy="459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1201C4-1AC8-4078-8352-6A421AA49E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790520" y="1600200"/>
            <a:ext cx="3978360" cy="449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12720" y="394848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16508C-4BD0-42B4-871B-0CAA3F29EB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3978360" cy="449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790520" y="160020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4790520" y="394848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46523E-2448-405E-AEE0-A7E41E9C48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790520" y="160020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12720" y="3948480"/>
            <a:ext cx="81529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15BA84-09E7-4FB8-80C2-E086E17290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12720" y="3948480"/>
            <a:ext cx="81529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5CF65A-774B-4AEE-9943-E92FF1A4D2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790520" y="160020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12720" y="394848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4790520" y="394848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61CEF6-29FF-4ED6-9785-0EDEDDED84E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26251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3369600" y="1600200"/>
            <a:ext cx="26251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6126120" y="1600200"/>
            <a:ext cx="26251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/>
          </p:nvPr>
        </p:nvSpPr>
        <p:spPr>
          <a:xfrm>
            <a:off x="612720" y="3948480"/>
            <a:ext cx="26251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/>
          </p:nvPr>
        </p:nvSpPr>
        <p:spPr>
          <a:xfrm>
            <a:off x="3369600" y="3948480"/>
            <a:ext cx="26251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/>
          </p:nvPr>
        </p:nvSpPr>
        <p:spPr>
          <a:xfrm>
            <a:off x="6126120" y="3948480"/>
            <a:ext cx="26251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FF1CA6-FAB3-4156-8925-8DBF74DC609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874287-8B48-4F16-A3B7-AE0F5CAEDA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E5E450-5D3A-49B0-8C17-55791790EC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E0BB83-94C7-4DC7-8187-38AF78BC45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3978360" cy="449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790520" y="1600200"/>
            <a:ext cx="3978360" cy="449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25458F-5650-4586-AA3F-BD5ACFCDA3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B8C71D-8DDD-402A-ACE4-347D7FC3DB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612720" y="228600"/>
            <a:ext cx="8152920" cy="459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DA870F-1E2D-40CB-B377-F3F834222F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790520" y="1600200"/>
            <a:ext cx="3978360" cy="449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12720" y="394848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987DAD-D93B-479D-A15F-778C601BFC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3978360" cy="449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4790520" y="160020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4790520" y="394848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754C24-7DDC-4460-B02F-FDFC1547A5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790520" y="160020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12720" y="3948480"/>
            <a:ext cx="81529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714473-D27A-4E1D-8AB5-6C7390E52F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612720" y="3948480"/>
            <a:ext cx="81529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CC8068-8B04-4736-8105-675C784036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790520" y="160020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612720" y="394848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790520" y="394848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0D4554-2715-4E66-AC96-AB5DB52638D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26251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3369600" y="1600200"/>
            <a:ext cx="26251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6126120" y="1600200"/>
            <a:ext cx="26251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612720" y="3948480"/>
            <a:ext cx="26251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/>
          </p:nvPr>
        </p:nvSpPr>
        <p:spPr>
          <a:xfrm>
            <a:off x="3369600" y="3948480"/>
            <a:ext cx="26251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/>
          </p:nvPr>
        </p:nvSpPr>
        <p:spPr>
          <a:xfrm>
            <a:off x="6126120" y="3948480"/>
            <a:ext cx="26251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059CCE-EDCB-4FE0-A5D6-00A588BF8D3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642EADA-385B-4BEB-B801-1647C5141B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A6272DE-7EC4-46B6-BE1E-38DA829FFD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98F5BF8-5A70-4C11-A353-3BF1521F4D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3978360" cy="449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790520" y="1600200"/>
            <a:ext cx="3978360" cy="449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7165518-98FC-4D9D-A42B-0688D107A83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D757641-F9C2-4973-A18A-D90469CA4F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ubTitle"/>
          </p:nvPr>
        </p:nvSpPr>
        <p:spPr>
          <a:xfrm>
            <a:off x="612720" y="228600"/>
            <a:ext cx="8152920" cy="459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BCED1EC-A650-4CF7-91F3-DF1D4955D4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790520" y="1600200"/>
            <a:ext cx="3978360" cy="449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12720" y="394848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A46F869-FCD6-4CF2-9967-51C86E43F1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3978360" cy="449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4790520" y="160020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4790520" y="394848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7BE2DE3-94E9-4A56-AD41-E3A1F68C0F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4790520" y="160020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612720" y="3948480"/>
            <a:ext cx="81529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C22BEC9-13E7-4B66-BD01-03CFF1900B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612720" y="3948480"/>
            <a:ext cx="81529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ACB91F6-18E3-47B1-88E2-F4F71D4C56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4790520" y="160020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612720" y="394848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4790520" y="3948480"/>
            <a:ext cx="397836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5F33554-B65E-4678-8D91-9901701128C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26251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3369600" y="1600200"/>
            <a:ext cx="26251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6126120" y="1600200"/>
            <a:ext cx="26251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/>
          </p:nvPr>
        </p:nvSpPr>
        <p:spPr>
          <a:xfrm>
            <a:off x="612720" y="3948480"/>
            <a:ext cx="26251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/>
          </p:nvPr>
        </p:nvSpPr>
        <p:spPr>
          <a:xfrm>
            <a:off x="3369600" y="3948480"/>
            <a:ext cx="26251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/>
          </p:nvPr>
        </p:nvSpPr>
        <p:spPr>
          <a:xfrm>
            <a:off x="6126120" y="3948480"/>
            <a:ext cx="2625120" cy="214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21EF4E2-68E0-442F-86EA-CB88B348924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75f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tângulo 6" hidden="1"/>
          <p:cNvSpPr/>
          <p:nvPr/>
        </p:nvSpPr>
        <p:spPr>
          <a:xfrm>
            <a:off x="0" y="1234440"/>
            <a:ext cx="9143640" cy="319680"/>
          </a:xfrm>
          <a:prstGeom prst="rect">
            <a:avLst/>
          </a:prstGeom>
          <a:solidFill>
            <a:srgbClr val="ffffff"/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" name="Retângulo 7" hidden="1"/>
          <p:cNvSpPr/>
          <p:nvPr/>
        </p:nvSpPr>
        <p:spPr>
          <a:xfrm>
            <a:off x="0" y="1280160"/>
            <a:ext cx="533160" cy="2282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" name="Retângulo 8" hidden="1"/>
          <p:cNvSpPr/>
          <p:nvPr/>
        </p:nvSpPr>
        <p:spPr>
          <a:xfrm>
            <a:off x="590400" y="1280160"/>
            <a:ext cx="8553240" cy="2282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" name="Retângulo 6"/>
          <p:cNvSpPr/>
          <p:nvPr/>
        </p:nvSpPr>
        <p:spPr>
          <a:xfrm>
            <a:off x="0" y="5970960"/>
            <a:ext cx="9143640" cy="886680"/>
          </a:xfrm>
          <a:prstGeom prst="rect">
            <a:avLst/>
          </a:prstGeom>
          <a:solidFill>
            <a:srgbClr val="ffffff"/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" name="Retângulo 9"/>
          <p:cNvSpPr/>
          <p:nvPr/>
        </p:nvSpPr>
        <p:spPr>
          <a:xfrm>
            <a:off x="-9000" y="6053400"/>
            <a:ext cx="2248920" cy="7128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" name="Retângulo 10"/>
          <p:cNvSpPr/>
          <p:nvPr/>
        </p:nvSpPr>
        <p:spPr>
          <a:xfrm>
            <a:off x="2359080" y="6044040"/>
            <a:ext cx="6784560" cy="7128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62320" y="4038480"/>
            <a:ext cx="647676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Cl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iq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u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e 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pa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r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a 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e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di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ta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r 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o 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es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ti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lo 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d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o 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tí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t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ul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o 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m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es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tr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e</a:t>
            </a:r>
            <a:endParaRPr b="0" lang="pt-BR" sz="4400" spc="-1" strike="noStrike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1"/>
          </p:nvPr>
        </p:nvSpPr>
        <p:spPr>
          <a:xfrm>
            <a:off x="76320" y="6068520"/>
            <a:ext cx="2057040" cy="68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2000" spc="-1" strike="noStrike">
                <a:solidFill>
                  <a:srgbClr val="ffffff"/>
                </a:solidFill>
                <a:latin typeface="Tw Cen MT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2000" spc="-1" strike="noStrike">
                <a:solidFill>
                  <a:srgbClr val="ffffff"/>
                </a:solidFill>
                <a:latin typeface="Tw Cen MT"/>
              </a:rPr>
              <a:t>&lt;data/hora&gt;</a:t>
            </a:r>
            <a:endParaRPr b="0" lang="pt-BR" sz="2000" spc="-1" strike="noStrike"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2"/>
          </p:nvPr>
        </p:nvSpPr>
        <p:spPr>
          <a:xfrm>
            <a:off x="2085480" y="236520"/>
            <a:ext cx="586692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3"/>
          </p:nvPr>
        </p:nvSpPr>
        <p:spPr>
          <a:xfrm>
            <a:off x="8001000" y="228600"/>
            <a:ext cx="837720" cy="380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1" lang="pt-BR" sz="1400" spc="-1" strike="noStrike">
                <a:solidFill>
                  <a:srgbClr val="ebddc3"/>
                </a:solidFill>
                <a:latin typeface="Tw Cen MT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470C7E4F-033A-4A65-84FF-BB1C23028068}" type="slidenum">
              <a:rPr b="1" lang="pt-BR" sz="1400" spc="-1" strike="noStrike">
                <a:solidFill>
                  <a:srgbClr val="ebddc3"/>
                </a:solidFill>
                <a:latin typeface="Tw Cen MT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900" spc="-1" strike="noStrike">
                <a:solidFill>
                  <a:srgbClr val="ffffff"/>
                </a:solidFill>
                <a:latin typeface="Tw Cen MT"/>
              </a:rPr>
              <a:t>Clique para editar o formato do texto da estrutura de tópicos</a:t>
            </a:r>
            <a:endParaRPr b="0" lang="pt-BR" sz="2900" spc="-1" strike="noStrike">
              <a:solidFill>
                <a:srgbClr val="ffffff"/>
              </a:solidFill>
              <a:latin typeface="Tw Cen MT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300" spc="-1" strike="noStrike">
                <a:solidFill>
                  <a:srgbClr val="ffffff"/>
                </a:solidFill>
                <a:latin typeface="Tw Cen MT"/>
              </a:rPr>
              <a:t>2.º nível da estrutura de tópicos</a:t>
            </a:r>
            <a:endParaRPr b="0" lang="pt-BR" sz="2300" spc="-1" strike="noStrike">
              <a:solidFill>
                <a:srgbClr val="ffffff"/>
              </a:solidFill>
              <a:latin typeface="Tw Cen M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ffffff"/>
                </a:solidFill>
                <a:latin typeface="Tw Cen MT"/>
              </a:rPr>
              <a:t>3.º nível da estrutura de tópicos</a:t>
            </a:r>
            <a:endParaRPr b="0" lang="pt-BR" sz="2000" spc="-1" strike="noStrike">
              <a:solidFill>
                <a:srgbClr val="ffffff"/>
              </a:solidFill>
              <a:latin typeface="Tw Cen M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ffffff"/>
                </a:solidFill>
                <a:latin typeface="Tw Cen MT"/>
              </a:rPr>
              <a:t>4.º nível da estrutura de tópicos</a:t>
            </a:r>
            <a:endParaRPr b="0" lang="pt-BR" sz="2000" spc="-1" strike="noStrike">
              <a:solidFill>
                <a:srgbClr val="ffffff"/>
              </a:solidFill>
              <a:latin typeface="Tw Cen M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ffffff"/>
                </a:solidFill>
                <a:latin typeface="Tw Cen MT"/>
              </a:rPr>
              <a:t>5.º nível da estrutura de tópicos</a:t>
            </a:r>
            <a:endParaRPr b="0" lang="pt-BR" sz="2000" spc="-1" strike="noStrike">
              <a:solidFill>
                <a:srgbClr val="ffffff"/>
              </a:solidFill>
              <a:latin typeface="Tw Cen M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ffffff"/>
                </a:solidFill>
                <a:latin typeface="Tw Cen MT"/>
              </a:rPr>
              <a:t>6.º nível da estrutura de tópicos</a:t>
            </a:r>
            <a:endParaRPr b="0" lang="pt-BR" sz="2000" spc="-1" strike="noStrike">
              <a:solidFill>
                <a:srgbClr val="ffffff"/>
              </a:solidFill>
              <a:latin typeface="Tw Cen M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ffffff"/>
                </a:solidFill>
                <a:latin typeface="Tw Cen MT"/>
              </a:rPr>
              <a:t>7.º nível da estrutura de tópicos</a:t>
            </a:r>
            <a:endParaRPr b="0" lang="pt-BR" sz="2000" spc="-1" strike="noStrike">
              <a:solidFill>
                <a:srgbClr val="ffffff"/>
              </a:solidFill>
              <a:latin typeface="Tw Cen M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tângulo 6"/>
          <p:cNvSpPr/>
          <p:nvPr/>
        </p:nvSpPr>
        <p:spPr>
          <a:xfrm>
            <a:off x="0" y="1234440"/>
            <a:ext cx="9143640" cy="319680"/>
          </a:xfrm>
          <a:prstGeom prst="rect">
            <a:avLst/>
          </a:prstGeom>
          <a:solidFill>
            <a:srgbClr val="ffffff"/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8" name="Retângulo 7"/>
          <p:cNvSpPr/>
          <p:nvPr/>
        </p:nvSpPr>
        <p:spPr>
          <a:xfrm>
            <a:off x="0" y="1280160"/>
            <a:ext cx="533160" cy="2282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9" name="Retângulo 8"/>
          <p:cNvSpPr/>
          <p:nvPr/>
        </p:nvSpPr>
        <p:spPr>
          <a:xfrm>
            <a:off x="590400" y="1280160"/>
            <a:ext cx="8553240" cy="2282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Cl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iq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u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e 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p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ar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a 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e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di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ta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r 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o 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e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st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il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o 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d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o 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tí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tu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lo 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m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e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st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re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4"/>
          </p:nvPr>
        </p:nvSpPr>
        <p:spPr>
          <a:xfrm>
            <a:off x="6095880" y="6248520"/>
            <a:ext cx="266652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defRPr b="0" lang="pt-BR" sz="1400" spc="-1" strike="noStrike">
                <a:solidFill>
                  <a:srgbClr val="775f55"/>
                </a:solidFill>
                <a:latin typeface="Tw Cen M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775f55"/>
                </a:solidFill>
                <a:latin typeface="Tw Cen MT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5"/>
          </p:nvPr>
        </p:nvSpPr>
        <p:spPr>
          <a:xfrm>
            <a:off x="609480" y="6248160"/>
            <a:ext cx="542088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6"/>
          </p:nvPr>
        </p:nvSpPr>
        <p:spPr>
          <a:xfrm>
            <a:off x="0" y="1272240"/>
            <a:ext cx="533160" cy="24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1" lang="pt-BR" sz="1400" spc="-1" strike="noStrike">
                <a:solidFill>
                  <a:srgbClr val="ffffff"/>
                </a:solidFill>
                <a:latin typeface="Tw Cen MT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68752935-1E37-4920-9800-FC44E936577F}" type="slidenum">
              <a:rPr b="1" lang="pt-BR" sz="1400" spc="-1" strike="noStrike">
                <a:solidFill>
                  <a:srgbClr val="ffffff"/>
                </a:solidFill>
                <a:latin typeface="Tw Cen MT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Clique para editar os estilos do texto mestre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Segundo nível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Terceiro nível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3" marL="1371600" indent="-228600">
              <a:lnSpc>
                <a:spcPct val="100000"/>
              </a:lnSpc>
              <a:spcBef>
                <a:spcPts val="400"/>
              </a:spcBef>
              <a:buClr>
                <a:srgbClr val="a5ab81"/>
              </a:buClr>
              <a:buSzPct val="75000"/>
              <a:buFont typeface="Wingdings" charset="2"/>
              <a:buChar char=""/>
            </a:pPr>
            <a:r>
              <a:rPr b="0" lang="pt-BR" sz="2000" spc="-1" strike="noStrike">
                <a:solidFill>
                  <a:srgbClr val="000000"/>
                </a:solidFill>
                <a:latin typeface="Tw Cen MT"/>
              </a:rPr>
              <a:t>Quarto nível</a:t>
            </a:r>
            <a:endParaRPr b="0" lang="pt-BR" sz="2000" spc="-1" strike="noStrike">
              <a:solidFill>
                <a:srgbClr val="000000"/>
              </a:solidFill>
              <a:latin typeface="Tw Cen MT"/>
            </a:endParaRPr>
          </a:p>
          <a:p>
            <a:pPr lvl="4" marL="1828800" indent="-228600">
              <a:lnSpc>
                <a:spcPct val="100000"/>
              </a:lnSpc>
              <a:spcBef>
                <a:spcPts val="400"/>
              </a:spcBef>
              <a:buClr>
                <a:srgbClr val="d8b25c"/>
              </a:buClr>
              <a:buSzPct val="65000"/>
              <a:buFont typeface="Wingdings" charset="2"/>
              <a:buChar char=""/>
            </a:pPr>
            <a:r>
              <a:rPr b="0" lang="pt-BR" sz="2000" spc="-1" strike="noStrike">
                <a:solidFill>
                  <a:srgbClr val="000000"/>
                </a:solidFill>
                <a:latin typeface="Tw Cen MT"/>
              </a:rPr>
              <a:t>Quinto nível</a:t>
            </a:r>
            <a:endParaRPr b="0" lang="pt-BR" sz="2000" spc="-1" strike="noStrike">
              <a:solidFill>
                <a:srgbClr val="000000"/>
              </a:solidFill>
              <a:latin typeface="Tw Cen M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tângulo 6" hidden="1"/>
          <p:cNvSpPr/>
          <p:nvPr/>
        </p:nvSpPr>
        <p:spPr>
          <a:xfrm>
            <a:off x="0" y="1234440"/>
            <a:ext cx="9143640" cy="319680"/>
          </a:xfrm>
          <a:prstGeom prst="rect">
            <a:avLst/>
          </a:prstGeom>
          <a:solidFill>
            <a:srgbClr val="ffffff"/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2" name="Retângulo 7" hidden="1"/>
          <p:cNvSpPr/>
          <p:nvPr/>
        </p:nvSpPr>
        <p:spPr>
          <a:xfrm>
            <a:off x="0" y="1280160"/>
            <a:ext cx="533160" cy="2282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3" name="Retângulo 8" hidden="1"/>
          <p:cNvSpPr/>
          <p:nvPr/>
        </p:nvSpPr>
        <p:spPr>
          <a:xfrm>
            <a:off x="590400" y="1280160"/>
            <a:ext cx="8553240" cy="2282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4" name="PlaceHolder 1"/>
          <p:cNvSpPr>
            <a:spLocks noGrp="1"/>
          </p:cNvSpPr>
          <p:nvPr>
            <p:ph type="body"/>
          </p:nvPr>
        </p:nvSpPr>
        <p:spPr>
          <a:xfrm>
            <a:off x="1371600" y="2743200"/>
            <a:ext cx="7122600" cy="167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pt-BR" sz="2800" spc="-1" strike="noStrike">
                <a:solidFill>
                  <a:srgbClr val="775f55"/>
                </a:solidFill>
                <a:latin typeface="Tw Cen MT"/>
              </a:rPr>
              <a:t>Clique para editar os estilos do texto mestre</a:t>
            </a:r>
            <a:endParaRPr b="0" lang="pt-BR" sz="28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95" name="Retângulo 6"/>
          <p:cNvSpPr/>
          <p:nvPr/>
        </p:nvSpPr>
        <p:spPr>
          <a:xfrm>
            <a:off x="0" y="1523880"/>
            <a:ext cx="9143640" cy="1142640"/>
          </a:xfrm>
          <a:prstGeom prst="rect">
            <a:avLst/>
          </a:prstGeom>
          <a:solidFill>
            <a:srgbClr val="ffffff"/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6" name="Retângulo 7"/>
          <p:cNvSpPr/>
          <p:nvPr/>
        </p:nvSpPr>
        <p:spPr>
          <a:xfrm>
            <a:off x="0" y="1600200"/>
            <a:ext cx="1294920" cy="99036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7" name="Retângulo 8"/>
          <p:cNvSpPr/>
          <p:nvPr/>
        </p:nvSpPr>
        <p:spPr>
          <a:xfrm>
            <a:off x="1371600" y="1600200"/>
            <a:ext cx="7772040" cy="99036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>
            <a:noFill/>
          </a:ln>
          <a:effectLst>
            <a:outerShdw blurRad="38160" dir="5400000" dist="29880" rotWithShape="0">
              <a:srgbClr val="000000">
                <a:alpha val="4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8" name="PlaceHolder 2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1976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C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l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i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q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u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e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 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p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a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r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a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 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e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d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i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t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a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r 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o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 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e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s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t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i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l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o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 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d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o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 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t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í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t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u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l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o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 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m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e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s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t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r</a:t>
            </a: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e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dt" idx="7"/>
          </p:nvPr>
        </p:nvSpPr>
        <p:spPr>
          <a:xfrm>
            <a:off x="6095880" y="6248520"/>
            <a:ext cx="266652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defRPr b="0" lang="pt-BR" sz="1400" spc="-1" strike="noStrike">
                <a:solidFill>
                  <a:srgbClr val="775f55"/>
                </a:solidFill>
                <a:latin typeface="Tw Cen M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775f55"/>
                </a:solidFill>
                <a:latin typeface="Tw Cen MT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sldNum" idx="8"/>
          </p:nvPr>
        </p:nvSpPr>
        <p:spPr>
          <a:xfrm>
            <a:off x="0" y="1752480"/>
            <a:ext cx="1294920" cy="70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1" lang="pt-BR" sz="2400" spc="-1" strike="noStrike">
                <a:solidFill>
                  <a:srgbClr val="ffffff"/>
                </a:solidFill>
                <a:latin typeface="Tw Cen MT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B355D710-1D21-4B23-9055-567E3B196533}" type="slidenum">
              <a:rPr b="1" lang="pt-BR" sz="2400" spc="-1" strike="noStrike">
                <a:solidFill>
                  <a:srgbClr val="ffffff"/>
                </a:solidFill>
                <a:latin typeface="Tw Cen MT"/>
              </a:rPr>
              <a:t>&lt;número&gt;</a:t>
            </a:fld>
            <a:endParaRPr b="0" lang="pt-BR" sz="2400" spc="-1" strike="noStrike">
              <a:latin typeface="Times New Roman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ftr" idx="9"/>
          </p:nvPr>
        </p:nvSpPr>
        <p:spPr>
          <a:xfrm>
            <a:off x="609480" y="6248160"/>
            <a:ext cx="542088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3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3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3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3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3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hyperlink" Target="http://youtu.be/iLvpaqAoVD8" TargetMode="External"/><Relationship Id="rId2" Type="http://schemas.openxmlformats.org/officeDocument/2006/relationships/hyperlink" Target="http://youtu.be/U7IiLJlMfnU" TargetMode="External"/><Relationship Id="rId3" Type="http://schemas.openxmlformats.org/officeDocument/2006/relationships/hyperlink" Target="http://youtu.be/9WxCeWX9qDs" TargetMode="External"/><Relationship Id="rId4" Type="http://schemas.openxmlformats.org/officeDocument/2006/relationships/hyperlink" Target="http://youtu.be/TR8ZLUKmcPc" TargetMode="External"/><Relationship Id="rId5" Type="http://schemas.openxmlformats.org/officeDocument/2006/relationships/hyperlink" Target="http://youtu.be/QAJkoJW8bEc" TargetMode="External"/><Relationship Id="rId6" Type="http://schemas.openxmlformats.org/officeDocument/2006/relationships/hyperlink" Target="http://youtu.be/qVnNdmx4fOA" TargetMode="External"/><Relationship Id="rId7" Type="http://schemas.openxmlformats.org/officeDocument/2006/relationships/slideLayout" Target="../slideLayouts/slideLayout1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hyperlink" Target="http://youtu.be/z7XwVVYQRAA" TargetMode="External"/><Relationship Id="rId2" Type="http://schemas.openxmlformats.org/officeDocument/2006/relationships/hyperlink" Target="http://youtu.be/M7cb4HjePJk" TargetMode="External"/><Relationship Id="rId3" Type="http://schemas.openxmlformats.org/officeDocument/2006/relationships/hyperlink" Target="http://youtu.be/8cdbmsPaR-k" TargetMode="External"/><Relationship Id="rId4" Type="http://schemas.openxmlformats.org/officeDocument/2006/relationships/hyperlink" Target="http://youtu.be/_0Yu9BSYXGY" TargetMode="External"/><Relationship Id="rId5" Type="http://schemas.openxmlformats.org/officeDocument/2006/relationships/hyperlink" Target="http://youtu.be/_0Yu9BSYXGY" TargetMode="External"/><Relationship Id="rId6" Type="http://schemas.openxmlformats.org/officeDocument/2006/relationships/hyperlink" Target="http://youtu.be/_0Yu9BSYXGY" TargetMode="External"/><Relationship Id="rId7" Type="http://schemas.openxmlformats.org/officeDocument/2006/relationships/hyperlink" Target="http://youtu.be/mw_wqqB48yY" TargetMode="External"/><Relationship Id="rId8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2362320" y="4038480"/>
            <a:ext cx="647676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Á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r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v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o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r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e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s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 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e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 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á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r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v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o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r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e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 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b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i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n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á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r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i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a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 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d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e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 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b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u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s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c</a:t>
            </a:r>
            <a:r>
              <a:rPr b="0" lang="pt-BR" sz="4400" spc="-1" strike="noStrike" cap="all">
                <a:solidFill>
                  <a:srgbClr val="ebddc3"/>
                </a:solidFill>
                <a:latin typeface="Tw Cen MT"/>
              </a:rPr>
              <a:t>a</a:t>
            </a:r>
            <a:endParaRPr b="0" lang="pt-BR" sz="4400" spc="-1" strike="noStrike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ubTitle"/>
          </p:nvPr>
        </p:nvSpPr>
        <p:spPr>
          <a:xfrm>
            <a:off x="2362320" y="6050160"/>
            <a:ext cx="6705360" cy="68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pt-BR" sz="2600" spc="-1" strike="noStrike">
                <a:solidFill>
                  <a:srgbClr val="ffffff"/>
                </a:solidFill>
                <a:latin typeface="Tw Cen MT"/>
              </a:rPr>
              <a:t>Pro</a:t>
            </a:r>
            <a:r>
              <a:rPr b="0" lang="pt-BR" sz="2600" spc="-1" strike="noStrike">
                <a:solidFill>
                  <a:srgbClr val="ffffff"/>
                </a:solidFill>
                <a:latin typeface="Tw Cen MT"/>
              </a:rPr>
              <a:t>f. </a:t>
            </a:r>
            <a:r>
              <a:rPr b="0" lang="pt-BR" sz="2600" spc="-1" strike="noStrike">
                <a:solidFill>
                  <a:srgbClr val="ffffff"/>
                </a:solidFill>
                <a:latin typeface="Tw Cen MT"/>
              </a:rPr>
              <a:t>An</a:t>
            </a:r>
            <a:r>
              <a:rPr b="0" lang="pt-BR" sz="2600" spc="-1" strike="noStrike">
                <a:solidFill>
                  <a:srgbClr val="ffffff"/>
                </a:solidFill>
                <a:latin typeface="Tw Cen MT"/>
              </a:rPr>
              <a:t>dré </a:t>
            </a:r>
            <a:r>
              <a:rPr b="0" lang="pt-BR" sz="2600" spc="-1" strike="noStrike">
                <a:solidFill>
                  <a:srgbClr val="ffffff"/>
                </a:solidFill>
                <a:latin typeface="Tw Cen MT"/>
              </a:rPr>
              <a:t>Ba</a:t>
            </a:r>
            <a:r>
              <a:rPr b="0" lang="pt-BR" sz="2600" spc="-1" strike="noStrike">
                <a:solidFill>
                  <a:srgbClr val="ffffff"/>
                </a:solidFill>
                <a:latin typeface="Tw Cen MT"/>
              </a:rPr>
              <a:t>cke</a:t>
            </a:r>
            <a:r>
              <a:rPr b="0" lang="pt-BR" sz="2600" spc="-1" strike="noStrike">
                <a:solidFill>
                  <a:srgbClr val="ffffff"/>
                </a:solidFill>
                <a:latin typeface="Tw Cen MT"/>
              </a:rPr>
              <a:t>s</a:t>
            </a:r>
            <a:endParaRPr b="0" lang="pt-BR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D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e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f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i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n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i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ç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ã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o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Diversas aplicações necessitam que se represente um conjunto de objetos e as suas relações hierárquicas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Uma árvore é uma abstração matemática usada para representar estruturas hierárquicas não lineares dos objetos modelados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237BEC-87D3-437F-BDF7-0A742FEBB97F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D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e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f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i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n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i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ç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ã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o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É um tipo especial de grafo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Definida usando um conjunto de nós (ou vértices) e arestas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Qualquer par de vértices está conectado a apenas uma aresta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Grafo não direcionado, conexo e acíclico (sem ciclos)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44" name="Elipse 4"/>
          <p:cNvSpPr/>
          <p:nvPr/>
        </p:nvSpPr>
        <p:spPr>
          <a:xfrm>
            <a:off x="4286880" y="447444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alibri"/>
              </a:rPr>
              <a:t>A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45" name="Elipse 5"/>
          <p:cNvSpPr/>
          <p:nvPr/>
        </p:nvSpPr>
        <p:spPr>
          <a:xfrm>
            <a:off x="2267640" y="638424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alibri"/>
              </a:rPr>
              <a:t>D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46" name="Elipse 6"/>
          <p:cNvSpPr/>
          <p:nvPr/>
        </p:nvSpPr>
        <p:spPr>
          <a:xfrm>
            <a:off x="3276000" y="537624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alibri"/>
              </a:rPr>
              <a:t>B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47" name="Elipse 7"/>
          <p:cNvSpPr/>
          <p:nvPr/>
        </p:nvSpPr>
        <p:spPr>
          <a:xfrm>
            <a:off x="5294880" y="537624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alibri"/>
              </a:rPr>
              <a:t>C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48" name="Elipse 8"/>
          <p:cNvSpPr/>
          <p:nvPr/>
        </p:nvSpPr>
        <p:spPr>
          <a:xfrm>
            <a:off x="4286880" y="638424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alibri"/>
              </a:rPr>
              <a:t>F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49" name="Elipse 9"/>
          <p:cNvSpPr/>
          <p:nvPr/>
        </p:nvSpPr>
        <p:spPr>
          <a:xfrm>
            <a:off x="6302880" y="638424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alibri"/>
              </a:rPr>
              <a:t>G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50" name="Elipse 10"/>
          <p:cNvSpPr/>
          <p:nvPr/>
        </p:nvSpPr>
        <p:spPr>
          <a:xfrm>
            <a:off x="3276000" y="638424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alibri"/>
              </a:rPr>
              <a:t>E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51" name="Conector reto 11"/>
          <p:cNvSpPr/>
          <p:nvPr/>
        </p:nvSpPr>
        <p:spPr>
          <a:xfrm flipV="1">
            <a:off x="3580560" y="4779360"/>
            <a:ext cx="758520" cy="6487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Conector reto 12"/>
          <p:cNvSpPr/>
          <p:nvPr/>
        </p:nvSpPr>
        <p:spPr>
          <a:xfrm flipV="1">
            <a:off x="2572560" y="5680800"/>
            <a:ext cx="755280" cy="75564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Conector reto 13"/>
          <p:cNvSpPr/>
          <p:nvPr/>
        </p:nvSpPr>
        <p:spPr>
          <a:xfrm flipH="1" flipV="1">
            <a:off x="4591440" y="4779360"/>
            <a:ext cx="755640" cy="6487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Conector reto 14"/>
          <p:cNvSpPr/>
          <p:nvPr/>
        </p:nvSpPr>
        <p:spPr>
          <a:xfrm>
            <a:off x="3454200" y="5733000"/>
            <a:ext cx="360" cy="65088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Conector reto 15"/>
          <p:cNvSpPr/>
          <p:nvPr/>
        </p:nvSpPr>
        <p:spPr>
          <a:xfrm>
            <a:off x="3580560" y="5680800"/>
            <a:ext cx="758520" cy="75564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Conector reto 16"/>
          <p:cNvSpPr/>
          <p:nvPr/>
        </p:nvSpPr>
        <p:spPr>
          <a:xfrm flipH="1" flipV="1">
            <a:off x="5599800" y="5680800"/>
            <a:ext cx="755280" cy="75564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F0B45A-9F2D-413B-B074-EC5036DE9320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D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e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fi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ni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ç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ã</a:t>
            </a: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o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Vértice 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Cada uma das entidades representadas na árvore (depende da natureza do problema).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Basicamente, qualquer problema em que exista algum tipo de hierarquia pode ser representado por uma árvore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FD782E-7E59-474F-9E30-FD205F3C3F29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Definição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Exemplo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Estrutura de pastas do computador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161" name="Grupo 4"/>
          <p:cNvGrpSpPr/>
          <p:nvPr/>
        </p:nvGrpSpPr>
        <p:grpSpPr>
          <a:xfrm>
            <a:off x="827640" y="3651840"/>
            <a:ext cx="8136360" cy="3089160"/>
            <a:chOff x="827640" y="3651840"/>
            <a:chExt cx="8136360" cy="3089160"/>
          </a:xfrm>
        </p:grpSpPr>
        <p:pic>
          <p:nvPicPr>
            <p:cNvPr id="162" name="Picture 2" descr=""/>
            <p:cNvPicPr/>
            <p:nvPr/>
          </p:nvPicPr>
          <p:blipFill>
            <a:blip r:embed="rId1"/>
            <a:stretch/>
          </p:blipFill>
          <p:spPr>
            <a:xfrm>
              <a:off x="1763640" y="3651840"/>
              <a:ext cx="636480" cy="624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3" name="Picture 3" descr=""/>
            <p:cNvPicPr/>
            <p:nvPr/>
          </p:nvPicPr>
          <p:blipFill>
            <a:blip r:embed="rId2"/>
            <a:stretch/>
          </p:blipFill>
          <p:spPr>
            <a:xfrm>
              <a:off x="2988000" y="6292440"/>
              <a:ext cx="334080" cy="448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4" name="Picture 4" descr=""/>
            <p:cNvPicPr/>
            <p:nvPr/>
          </p:nvPicPr>
          <p:blipFill>
            <a:blip r:embed="rId3"/>
            <a:stretch/>
          </p:blipFill>
          <p:spPr>
            <a:xfrm>
              <a:off x="996480" y="4737960"/>
              <a:ext cx="448560" cy="396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5" name="Picture 4" descr=""/>
            <p:cNvPicPr/>
            <p:nvPr/>
          </p:nvPicPr>
          <p:blipFill>
            <a:blip r:embed="rId4"/>
            <a:stretch/>
          </p:blipFill>
          <p:spPr>
            <a:xfrm>
              <a:off x="2035080" y="4731840"/>
              <a:ext cx="448560" cy="396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6" name="Picture 4" descr=""/>
            <p:cNvPicPr/>
            <p:nvPr/>
          </p:nvPicPr>
          <p:blipFill>
            <a:blip r:embed="rId5"/>
            <a:stretch/>
          </p:blipFill>
          <p:spPr>
            <a:xfrm>
              <a:off x="2916720" y="4737960"/>
              <a:ext cx="448560" cy="396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7" name="Picture 4" descr=""/>
            <p:cNvPicPr/>
            <p:nvPr/>
          </p:nvPicPr>
          <p:blipFill>
            <a:blip r:embed="rId6"/>
            <a:stretch/>
          </p:blipFill>
          <p:spPr>
            <a:xfrm>
              <a:off x="1490040" y="5489280"/>
              <a:ext cx="448560" cy="396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8" name="Picture 4" descr=""/>
            <p:cNvPicPr/>
            <p:nvPr/>
          </p:nvPicPr>
          <p:blipFill>
            <a:blip r:embed="rId7"/>
            <a:stretch/>
          </p:blipFill>
          <p:spPr>
            <a:xfrm>
              <a:off x="2052720" y="5489280"/>
              <a:ext cx="448560" cy="396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69" name="Picture 4" descr=""/>
            <p:cNvPicPr/>
            <p:nvPr/>
          </p:nvPicPr>
          <p:blipFill>
            <a:blip r:embed="rId8"/>
            <a:stretch/>
          </p:blipFill>
          <p:spPr>
            <a:xfrm>
              <a:off x="2771640" y="5489280"/>
              <a:ext cx="448560" cy="396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0" name="Picture 4" descr=""/>
            <p:cNvPicPr/>
            <p:nvPr/>
          </p:nvPicPr>
          <p:blipFill>
            <a:blip r:embed="rId9"/>
            <a:stretch/>
          </p:blipFill>
          <p:spPr>
            <a:xfrm>
              <a:off x="3331800" y="5489280"/>
              <a:ext cx="448560" cy="3960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1" name="Picture 3" descr=""/>
            <p:cNvPicPr/>
            <p:nvPr/>
          </p:nvPicPr>
          <p:blipFill>
            <a:blip r:embed="rId10"/>
            <a:stretch/>
          </p:blipFill>
          <p:spPr>
            <a:xfrm>
              <a:off x="1580760" y="6292440"/>
              <a:ext cx="334080" cy="448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2" name="Picture 3" descr=""/>
            <p:cNvPicPr/>
            <p:nvPr/>
          </p:nvPicPr>
          <p:blipFill>
            <a:blip r:embed="rId11"/>
            <a:stretch/>
          </p:blipFill>
          <p:spPr>
            <a:xfrm>
              <a:off x="2267640" y="6292440"/>
              <a:ext cx="334080" cy="448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3" name="Picture 3" descr=""/>
            <p:cNvPicPr/>
            <p:nvPr/>
          </p:nvPicPr>
          <p:blipFill>
            <a:blip r:embed="rId12"/>
            <a:stretch/>
          </p:blipFill>
          <p:spPr>
            <a:xfrm>
              <a:off x="3795840" y="6292440"/>
              <a:ext cx="334080" cy="448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4" name="Picture 3" descr=""/>
            <p:cNvPicPr/>
            <p:nvPr/>
          </p:nvPicPr>
          <p:blipFill>
            <a:blip r:embed="rId13"/>
            <a:stretch/>
          </p:blipFill>
          <p:spPr>
            <a:xfrm>
              <a:off x="827640" y="6292440"/>
              <a:ext cx="334080" cy="448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75" name="Conector reto 72"/>
            <p:cNvSpPr/>
            <p:nvPr/>
          </p:nvSpPr>
          <p:spPr>
            <a:xfrm flipV="1">
              <a:off x="1220760" y="4276440"/>
              <a:ext cx="861120" cy="461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" name="Conector reto 73"/>
            <p:cNvSpPr/>
            <p:nvPr/>
          </p:nvSpPr>
          <p:spPr>
            <a:xfrm flipH="1" flipV="1">
              <a:off x="2081880" y="4276440"/>
              <a:ext cx="177480" cy="4550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" name="Conector reto 74"/>
            <p:cNvSpPr/>
            <p:nvPr/>
          </p:nvSpPr>
          <p:spPr>
            <a:xfrm flipH="1" flipV="1">
              <a:off x="2081880" y="4276440"/>
              <a:ext cx="1059120" cy="461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" name="Conector reto 75"/>
            <p:cNvSpPr/>
            <p:nvPr/>
          </p:nvSpPr>
          <p:spPr>
            <a:xfrm flipV="1">
              <a:off x="1138680" y="5133960"/>
              <a:ext cx="82080" cy="32868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9" name="Conector reto 76"/>
            <p:cNvSpPr/>
            <p:nvPr/>
          </p:nvSpPr>
          <p:spPr>
            <a:xfrm flipH="1" flipV="1">
              <a:off x="1220760" y="5133960"/>
              <a:ext cx="493560" cy="3549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0" name="Conector reto 77"/>
            <p:cNvSpPr/>
            <p:nvPr/>
          </p:nvSpPr>
          <p:spPr>
            <a:xfrm flipH="1" flipV="1">
              <a:off x="2259360" y="5127840"/>
              <a:ext cx="17640" cy="36108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" name="Conector reto 78"/>
            <p:cNvSpPr/>
            <p:nvPr/>
          </p:nvSpPr>
          <p:spPr>
            <a:xfrm flipH="1" flipV="1">
              <a:off x="3141000" y="5133960"/>
              <a:ext cx="415080" cy="3549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" name="Conector reto 79"/>
            <p:cNvSpPr/>
            <p:nvPr/>
          </p:nvSpPr>
          <p:spPr>
            <a:xfrm flipV="1">
              <a:off x="994680" y="5885280"/>
              <a:ext cx="719640" cy="4068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3" name="Conector reto 80"/>
            <p:cNvSpPr/>
            <p:nvPr/>
          </p:nvSpPr>
          <p:spPr>
            <a:xfrm flipH="1" flipV="1">
              <a:off x="1714320" y="5885280"/>
              <a:ext cx="33840" cy="4068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" name="Conector reto 81"/>
            <p:cNvSpPr/>
            <p:nvPr/>
          </p:nvSpPr>
          <p:spPr>
            <a:xfrm flipH="1" flipV="1">
              <a:off x="2277000" y="5885280"/>
              <a:ext cx="157680" cy="4068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" name="Conector reto 82"/>
            <p:cNvSpPr/>
            <p:nvPr/>
          </p:nvSpPr>
          <p:spPr>
            <a:xfrm flipV="1">
              <a:off x="3155040" y="5885280"/>
              <a:ext cx="401040" cy="4068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" name="Conector reto 83"/>
            <p:cNvSpPr/>
            <p:nvPr/>
          </p:nvSpPr>
          <p:spPr>
            <a:xfrm flipH="1" flipV="1">
              <a:off x="3556080" y="5885280"/>
              <a:ext cx="407160" cy="4068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" name="Conector reto 84"/>
            <p:cNvSpPr/>
            <p:nvPr/>
          </p:nvSpPr>
          <p:spPr>
            <a:xfrm flipV="1">
              <a:off x="2996280" y="5133960"/>
              <a:ext cx="144720" cy="3549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pic>
          <p:nvPicPr>
            <p:cNvPr id="188" name="Picture 3" descr=""/>
            <p:cNvPicPr/>
            <p:nvPr/>
          </p:nvPicPr>
          <p:blipFill>
            <a:blip r:embed="rId14"/>
            <a:stretch/>
          </p:blipFill>
          <p:spPr>
            <a:xfrm>
              <a:off x="971640" y="5462640"/>
              <a:ext cx="334080" cy="448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89" name="Conector reto 86"/>
            <p:cNvSpPr/>
            <p:nvPr/>
          </p:nvSpPr>
          <p:spPr>
            <a:xfrm flipV="1">
              <a:off x="5982480" y="4276440"/>
              <a:ext cx="861480" cy="461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" name="Conector reto 87"/>
            <p:cNvSpPr/>
            <p:nvPr/>
          </p:nvSpPr>
          <p:spPr>
            <a:xfrm flipH="1" flipV="1">
              <a:off x="6843960" y="4276440"/>
              <a:ext cx="177480" cy="4550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1" name="Conector reto 88"/>
            <p:cNvSpPr/>
            <p:nvPr/>
          </p:nvSpPr>
          <p:spPr>
            <a:xfrm flipH="1" flipV="1">
              <a:off x="6843960" y="4276440"/>
              <a:ext cx="1059120" cy="461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" name="Conector reto 89"/>
            <p:cNvSpPr/>
            <p:nvPr/>
          </p:nvSpPr>
          <p:spPr>
            <a:xfrm flipV="1">
              <a:off x="5803920" y="5133960"/>
              <a:ext cx="178560" cy="3927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" name="Conector reto 90"/>
            <p:cNvSpPr/>
            <p:nvPr/>
          </p:nvSpPr>
          <p:spPr>
            <a:xfrm flipH="1" flipV="1">
              <a:off x="5982480" y="5133960"/>
              <a:ext cx="493920" cy="3549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" name="Conector reto 91"/>
            <p:cNvSpPr/>
            <p:nvPr/>
          </p:nvSpPr>
          <p:spPr>
            <a:xfrm flipH="1" flipV="1">
              <a:off x="7021440" y="5127840"/>
              <a:ext cx="17640" cy="36108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" name="Conector reto 92"/>
            <p:cNvSpPr/>
            <p:nvPr/>
          </p:nvSpPr>
          <p:spPr>
            <a:xfrm flipH="1" flipV="1">
              <a:off x="7903080" y="5133960"/>
              <a:ext cx="414720" cy="3549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" name="Conector reto 93"/>
            <p:cNvSpPr/>
            <p:nvPr/>
          </p:nvSpPr>
          <p:spPr>
            <a:xfrm flipV="1">
              <a:off x="5756760" y="5885280"/>
              <a:ext cx="719640" cy="4068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" name="Conector reto 94"/>
            <p:cNvSpPr/>
            <p:nvPr/>
          </p:nvSpPr>
          <p:spPr>
            <a:xfrm flipH="1" flipV="1">
              <a:off x="6476400" y="5885280"/>
              <a:ext cx="33480" cy="4068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" name="Conector reto 95"/>
            <p:cNvSpPr/>
            <p:nvPr/>
          </p:nvSpPr>
          <p:spPr>
            <a:xfrm flipH="1" flipV="1">
              <a:off x="7039080" y="5885280"/>
              <a:ext cx="157680" cy="4068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9" name="Conector reto 96"/>
            <p:cNvSpPr/>
            <p:nvPr/>
          </p:nvSpPr>
          <p:spPr>
            <a:xfrm flipV="1">
              <a:off x="7916760" y="5885280"/>
              <a:ext cx="401040" cy="4068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0" name="Conector reto 97"/>
            <p:cNvSpPr/>
            <p:nvPr/>
          </p:nvSpPr>
          <p:spPr>
            <a:xfrm flipH="1" flipV="1">
              <a:off x="8317800" y="5885280"/>
              <a:ext cx="407160" cy="4068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1" name="Conector reto 98"/>
            <p:cNvSpPr/>
            <p:nvPr/>
          </p:nvSpPr>
          <p:spPr>
            <a:xfrm flipV="1">
              <a:off x="7758000" y="5133960"/>
              <a:ext cx="145080" cy="3549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2" name="Elipse 99"/>
            <p:cNvSpPr/>
            <p:nvPr/>
          </p:nvSpPr>
          <p:spPr>
            <a:xfrm>
              <a:off x="5769000" y="47415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3" name="Elipse 100"/>
            <p:cNvSpPr/>
            <p:nvPr/>
          </p:nvSpPr>
          <p:spPr>
            <a:xfrm>
              <a:off x="6807240" y="47415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" name="Elipse 101"/>
            <p:cNvSpPr/>
            <p:nvPr/>
          </p:nvSpPr>
          <p:spPr>
            <a:xfrm>
              <a:off x="7743240" y="47415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5" name="Elipse 102"/>
            <p:cNvSpPr/>
            <p:nvPr/>
          </p:nvSpPr>
          <p:spPr>
            <a:xfrm>
              <a:off x="6302880" y="552672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" name="Elipse 103"/>
            <p:cNvSpPr/>
            <p:nvPr/>
          </p:nvSpPr>
          <p:spPr>
            <a:xfrm>
              <a:off x="7527240" y="552672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7" name="Elipse 104"/>
            <p:cNvSpPr/>
            <p:nvPr/>
          </p:nvSpPr>
          <p:spPr>
            <a:xfrm>
              <a:off x="8172360" y="552672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8" name="Elipse 105"/>
            <p:cNvSpPr/>
            <p:nvPr/>
          </p:nvSpPr>
          <p:spPr>
            <a:xfrm>
              <a:off x="6866280" y="552672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9" name="Elipse 106"/>
            <p:cNvSpPr/>
            <p:nvPr/>
          </p:nvSpPr>
          <p:spPr>
            <a:xfrm>
              <a:off x="5625720" y="552672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0" name="Elipse 107"/>
            <p:cNvSpPr/>
            <p:nvPr/>
          </p:nvSpPr>
          <p:spPr>
            <a:xfrm>
              <a:off x="6300360" y="63158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1" name="Elipse 108"/>
            <p:cNvSpPr/>
            <p:nvPr/>
          </p:nvSpPr>
          <p:spPr>
            <a:xfrm>
              <a:off x="7668360" y="63158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" name="Elipse 109"/>
            <p:cNvSpPr/>
            <p:nvPr/>
          </p:nvSpPr>
          <p:spPr>
            <a:xfrm>
              <a:off x="8607240" y="63158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3" name="Elipse 110"/>
            <p:cNvSpPr/>
            <p:nvPr/>
          </p:nvSpPr>
          <p:spPr>
            <a:xfrm>
              <a:off x="7023240" y="63158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4" name="Elipse 111"/>
            <p:cNvSpPr/>
            <p:nvPr/>
          </p:nvSpPr>
          <p:spPr>
            <a:xfrm>
              <a:off x="5508000" y="63158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5" name="Elipse 112"/>
            <p:cNvSpPr/>
            <p:nvPr/>
          </p:nvSpPr>
          <p:spPr>
            <a:xfrm>
              <a:off x="6664320" y="391932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6" name="Seta para a direita 113"/>
            <p:cNvSpPr/>
            <p:nvPr/>
          </p:nvSpPr>
          <p:spPr>
            <a:xfrm>
              <a:off x="4284000" y="4920120"/>
              <a:ext cx="1007640" cy="94536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4f81bd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22041D-34D1-4E6F-B7FB-84129E244767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Definição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3000"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Exemplos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relações de descendência (pai, filho, etc.)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diagrama hierárquico de uma organização;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campeonatos de modalidades desportivas;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taxonomia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Em computação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busca de dados armazenados no computador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representação de espaço de soluções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Exemplo: jogo de xadrez;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modelagem de algoritmos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0B2BC9-BF0B-4E65-9946-D23D2C99EE07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Conceitos básicos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Principais conceitos relativos as árvores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Raiz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nó mais alto na árvore, o único que não possui pai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Pai ou ancestral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nó antecessor imediato de outro nó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Filho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é o nó sucessor imediato de outro nó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3A4E94-3160-48F4-AD48-2D5679A7D65E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Conceitos básicos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Principais conceitos relativos as árvores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Nó folha ou terminal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qualquer nó que não possui filhos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Nó interno ou não-terminal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nó que possui ao menos UM filho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Caminho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sequência de nós de modo que existe sempre uma aresta ligando o nó anterior com o seguinte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F73BA0-76C3-4D2C-8398-2C8F786390F9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Conceitos básicos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Exemplo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225" name="Grupo 6"/>
          <p:cNvGrpSpPr/>
          <p:nvPr/>
        </p:nvGrpSpPr>
        <p:grpSpPr>
          <a:xfrm>
            <a:off x="1763640" y="2503800"/>
            <a:ext cx="6264360" cy="3941640"/>
            <a:chOff x="1763640" y="2503800"/>
            <a:chExt cx="6264360" cy="3941640"/>
          </a:xfrm>
        </p:grpSpPr>
        <p:sp>
          <p:nvSpPr>
            <p:cNvPr id="226" name="Elipse 32"/>
            <p:cNvSpPr/>
            <p:nvPr/>
          </p:nvSpPr>
          <p:spPr>
            <a:xfrm>
              <a:off x="4065840" y="30452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A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227" name="Elipse 33"/>
            <p:cNvSpPr/>
            <p:nvPr/>
          </p:nvSpPr>
          <p:spPr>
            <a:xfrm>
              <a:off x="2046960" y="49550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D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228" name="Elipse 34"/>
            <p:cNvSpPr/>
            <p:nvPr/>
          </p:nvSpPr>
          <p:spPr>
            <a:xfrm>
              <a:off x="3054960" y="39470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B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229" name="Elipse 35"/>
            <p:cNvSpPr/>
            <p:nvPr/>
          </p:nvSpPr>
          <p:spPr>
            <a:xfrm>
              <a:off x="5074200" y="39470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C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230" name="Elipse 36"/>
            <p:cNvSpPr/>
            <p:nvPr/>
          </p:nvSpPr>
          <p:spPr>
            <a:xfrm>
              <a:off x="4065840" y="49550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F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231" name="Elipse 37"/>
            <p:cNvSpPr/>
            <p:nvPr/>
          </p:nvSpPr>
          <p:spPr>
            <a:xfrm>
              <a:off x="6082200" y="49550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G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232" name="Elipse 38"/>
            <p:cNvSpPr/>
            <p:nvPr/>
          </p:nvSpPr>
          <p:spPr>
            <a:xfrm>
              <a:off x="3054960" y="49550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E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233" name="Conector reto 39"/>
            <p:cNvSpPr/>
            <p:nvPr/>
          </p:nvSpPr>
          <p:spPr>
            <a:xfrm flipV="1">
              <a:off x="3359520" y="3350160"/>
              <a:ext cx="758520" cy="64908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" name="Conector reto 40"/>
            <p:cNvSpPr/>
            <p:nvPr/>
          </p:nvSpPr>
          <p:spPr>
            <a:xfrm flipV="1">
              <a:off x="2351520" y="4251600"/>
              <a:ext cx="755640" cy="7556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5" name="Conector reto 41"/>
            <p:cNvSpPr/>
            <p:nvPr/>
          </p:nvSpPr>
          <p:spPr>
            <a:xfrm flipH="1" flipV="1">
              <a:off x="4370760" y="3350160"/>
              <a:ext cx="755280" cy="64908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6" name="Conector reto 42"/>
            <p:cNvSpPr/>
            <p:nvPr/>
          </p:nvSpPr>
          <p:spPr>
            <a:xfrm>
              <a:off x="3233520" y="4303800"/>
              <a:ext cx="360" cy="6512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7" name="Conector reto 43"/>
            <p:cNvSpPr/>
            <p:nvPr/>
          </p:nvSpPr>
          <p:spPr>
            <a:xfrm>
              <a:off x="3359520" y="4251600"/>
              <a:ext cx="758520" cy="7556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8" name="Conector reto 44"/>
            <p:cNvSpPr/>
            <p:nvPr/>
          </p:nvSpPr>
          <p:spPr>
            <a:xfrm flipH="1" flipV="1">
              <a:off x="5378760" y="4251600"/>
              <a:ext cx="755640" cy="7556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" name="CaixaDeTexto 45"/>
            <p:cNvSpPr/>
            <p:nvPr/>
          </p:nvSpPr>
          <p:spPr>
            <a:xfrm>
              <a:off x="4538160" y="2503800"/>
              <a:ext cx="249984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RAIZ ou PAI DO NO C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240" name="CaixaDeTexto 46"/>
            <p:cNvSpPr/>
            <p:nvPr/>
          </p:nvSpPr>
          <p:spPr>
            <a:xfrm>
              <a:off x="4288680" y="5807160"/>
              <a:ext cx="21502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NÓ FOLHA</a:t>
              </a:r>
              <a:endParaRPr b="0" lang="pt-BR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 </a:t>
              </a: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OU TERMINAL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241" name="Conector de seta reta 47"/>
            <p:cNvSpPr/>
            <p:nvPr/>
          </p:nvSpPr>
          <p:spPr>
            <a:xfrm flipH="1">
              <a:off x="4422960" y="2873160"/>
              <a:ext cx="1365120" cy="3502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prstDash val="sysDash"/>
              <a:round/>
              <a:tailEnd len="med" type="arrow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" name="Conector de seta reta 48"/>
            <p:cNvSpPr/>
            <p:nvPr/>
          </p:nvSpPr>
          <p:spPr>
            <a:xfrm flipH="1" flipV="1">
              <a:off x="4370760" y="5259240"/>
              <a:ext cx="992880" cy="546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prstDash val="sysDash"/>
              <a:round/>
              <a:tailEnd len="med" type="arrow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" name="Conector de seta reta 49"/>
            <p:cNvSpPr/>
            <p:nvPr/>
          </p:nvSpPr>
          <p:spPr>
            <a:xfrm flipV="1">
              <a:off x="5364000" y="5259240"/>
              <a:ext cx="770040" cy="546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prstDash val="sysDash"/>
              <a:round/>
              <a:tailEnd len="med" type="arrow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4" name="Conector de seta reta 50"/>
            <p:cNvSpPr/>
            <p:nvPr/>
          </p:nvSpPr>
          <p:spPr>
            <a:xfrm>
              <a:off x="2561760" y="2918520"/>
              <a:ext cx="1503720" cy="30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prstDash val="sysDash"/>
              <a:round/>
              <a:tailEnd len="med" type="arrow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5" name="CaixaDeTexto 51"/>
            <p:cNvSpPr/>
            <p:nvPr/>
          </p:nvSpPr>
          <p:spPr>
            <a:xfrm>
              <a:off x="1763640" y="2549160"/>
              <a:ext cx="15958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NÓ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246" name="Conector de seta reta 52"/>
            <p:cNvSpPr/>
            <p:nvPr/>
          </p:nvSpPr>
          <p:spPr>
            <a:xfrm>
              <a:off x="2561760" y="2918520"/>
              <a:ext cx="545040" cy="1080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prstDash val="sysDash"/>
              <a:round/>
              <a:tailEnd len="med" type="arrow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7" name="Conector de seta reta 53"/>
            <p:cNvSpPr/>
            <p:nvPr/>
          </p:nvSpPr>
          <p:spPr>
            <a:xfrm flipH="1">
              <a:off x="2224800" y="2918520"/>
              <a:ext cx="335880" cy="2036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prstDash val="sysDash"/>
              <a:round/>
              <a:tailEnd len="med" type="arrow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8" name="Retângulo de cantos arredondados 54"/>
            <p:cNvSpPr/>
            <p:nvPr/>
          </p:nvSpPr>
          <p:spPr>
            <a:xfrm>
              <a:off x="1763640" y="4736160"/>
              <a:ext cx="2984400" cy="719640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a6a6a6"/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9" name="CaixaDeTexto 55"/>
            <p:cNvSpPr/>
            <p:nvPr/>
          </p:nvSpPr>
          <p:spPr>
            <a:xfrm>
              <a:off x="1902960" y="5456160"/>
              <a:ext cx="26352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FILHOS DO NÓ B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250" name="Retângulo de cantos arredondados 56"/>
            <p:cNvSpPr/>
            <p:nvPr/>
          </p:nvSpPr>
          <p:spPr>
            <a:xfrm>
              <a:off x="4901040" y="3765600"/>
              <a:ext cx="758520" cy="719640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a6a6a6"/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1" name="CaixaDeTexto 57"/>
            <p:cNvSpPr/>
            <p:nvPr/>
          </p:nvSpPr>
          <p:spPr>
            <a:xfrm>
              <a:off x="5074200" y="3386880"/>
              <a:ext cx="18018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PAI DO NÓ G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252" name="Retângulo de cantos arredondados 58"/>
            <p:cNvSpPr/>
            <p:nvPr/>
          </p:nvSpPr>
          <p:spPr>
            <a:xfrm>
              <a:off x="5875560" y="4736160"/>
              <a:ext cx="758520" cy="719640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a6a6a6"/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3" name="CaixaDeTexto 59"/>
            <p:cNvSpPr/>
            <p:nvPr/>
          </p:nvSpPr>
          <p:spPr>
            <a:xfrm>
              <a:off x="6048720" y="4357440"/>
              <a:ext cx="197928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FILHO DO NÓ C</a:t>
              </a:r>
              <a:endParaRPr b="0" lang="pt-BR" sz="1800" spc="-1" strike="noStrike"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7653FB-413E-4D2D-ABBB-7EB83A5E70AD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Conceitos básicos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Observação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Dado um determinado nó da árvore, cada filho seu é considerado a </a:t>
            </a:r>
            <a:r>
              <a:rPr b="1" lang="pt-BR" sz="2600" spc="-1" strike="noStrike">
                <a:solidFill>
                  <a:srgbClr val="000000"/>
                </a:solidFill>
                <a:latin typeface="Tw Cen MT"/>
              </a:rPr>
              <a:t>raiz</a:t>
            </a: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 de uma nova </a:t>
            </a:r>
            <a:r>
              <a:rPr b="1" lang="pt-BR" sz="2600" spc="-1" strike="noStrike">
                <a:solidFill>
                  <a:srgbClr val="000000"/>
                </a:solidFill>
                <a:latin typeface="Tw Cen MT"/>
              </a:rPr>
              <a:t>sub-árvore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Qualquer nó é a </a:t>
            </a:r>
            <a:r>
              <a:rPr b="1" lang="pt-BR" sz="2300" spc="-1" strike="noStrike">
                <a:solidFill>
                  <a:srgbClr val="000000"/>
                </a:solidFill>
                <a:latin typeface="Tw Cen MT"/>
              </a:rPr>
              <a:t>raiz</a:t>
            </a: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 de uma </a:t>
            </a:r>
            <a:r>
              <a:rPr b="1" lang="pt-BR" sz="2300" spc="-1" strike="noStrike">
                <a:solidFill>
                  <a:srgbClr val="000000"/>
                </a:solidFill>
                <a:latin typeface="Tw Cen MT"/>
              </a:rPr>
              <a:t>sub-árvore</a:t>
            </a: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 consistindo dele e dos nós abaixo dele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Conceito recursivo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50F6F2-8880-4232-876F-DDF45A4D857E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Conceitos básicos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Principais conceitos relativos as árvores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Nível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É dado pelo o número de nós que existem no caminho entre esse nó e a raiz (nível 0)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Nós são classificados em diferentes níveis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Altura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Também chamada de profundidade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Número total de níveis de uma árvore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Comprimento do caminho mais longo da raiz até uma das suas folhas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301177-4A0C-4123-98FA-C64109D4F40F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Conceitos básicos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Nível e altura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260" name="Elipse 25"/>
          <p:cNvSpPr/>
          <p:nvPr/>
        </p:nvSpPr>
        <p:spPr>
          <a:xfrm>
            <a:off x="5335560" y="317844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alibri"/>
              </a:rPr>
              <a:t>A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261" name="Elipse 26"/>
          <p:cNvSpPr/>
          <p:nvPr/>
        </p:nvSpPr>
        <p:spPr>
          <a:xfrm>
            <a:off x="3316320" y="508788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alibri"/>
              </a:rPr>
              <a:t>D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262" name="Elipse 27"/>
          <p:cNvSpPr/>
          <p:nvPr/>
        </p:nvSpPr>
        <p:spPr>
          <a:xfrm>
            <a:off x="4324680" y="407988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alibri"/>
              </a:rPr>
              <a:t>B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263" name="Elipse 28"/>
          <p:cNvSpPr/>
          <p:nvPr/>
        </p:nvSpPr>
        <p:spPr>
          <a:xfrm>
            <a:off x="6343560" y="407988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alibri"/>
              </a:rPr>
              <a:t>C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264" name="Elipse 29"/>
          <p:cNvSpPr/>
          <p:nvPr/>
        </p:nvSpPr>
        <p:spPr>
          <a:xfrm>
            <a:off x="5335560" y="508788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alibri"/>
              </a:rPr>
              <a:t>F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265" name="Elipse 30"/>
          <p:cNvSpPr/>
          <p:nvPr/>
        </p:nvSpPr>
        <p:spPr>
          <a:xfrm>
            <a:off x="7351560" y="508788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alibri"/>
              </a:rPr>
              <a:t>G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266" name="Elipse 31"/>
          <p:cNvSpPr/>
          <p:nvPr/>
        </p:nvSpPr>
        <p:spPr>
          <a:xfrm>
            <a:off x="4324680" y="508788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Calibri"/>
              </a:rPr>
              <a:t>E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267" name="Conector reto 32"/>
          <p:cNvSpPr/>
          <p:nvPr/>
        </p:nvSpPr>
        <p:spPr>
          <a:xfrm flipV="1">
            <a:off x="4629240" y="3483000"/>
            <a:ext cx="758520" cy="64908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Conector reto 33"/>
          <p:cNvSpPr/>
          <p:nvPr/>
        </p:nvSpPr>
        <p:spPr>
          <a:xfrm flipV="1">
            <a:off x="3621240" y="4384800"/>
            <a:ext cx="755280" cy="75528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Conector reto 34"/>
          <p:cNvSpPr/>
          <p:nvPr/>
        </p:nvSpPr>
        <p:spPr>
          <a:xfrm flipH="1" flipV="1">
            <a:off x="5640120" y="3483000"/>
            <a:ext cx="755640" cy="64908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Conector reto 35"/>
          <p:cNvSpPr/>
          <p:nvPr/>
        </p:nvSpPr>
        <p:spPr>
          <a:xfrm>
            <a:off x="4502880" y="4437000"/>
            <a:ext cx="360" cy="65088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Conector reto 36"/>
          <p:cNvSpPr/>
          <p:nvPr/>
        </p:nvSpPr>
        <p:spPr>
          <a:xfrm>
            <a:off x="4629240" y="4384800"/>
            <a:ext cx="758520" cy="75528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Conector reto 37"/>
          <p:cNvSpPr/>
          <p:nvPr/>
        </p:nvSpPr>
        <p:spPr>
          <a:xfrm flipH="1" flipV="1">
            <a:off x="6648480" y="4384800"/>
            <a:ext cx="755280" cy="75528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CaixaDeTexto 38"/>
          <p:cNvSpPr/>
          <p:nvPr/>
        </p:nvSpPr>
        <p:spPr>
          <a:xfrm>
            <a:off x="1576080" y="3189960"/>
            <a:ext cx="1595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Tw Cen MT"/>
              </a:rPr>
              <a:t>NÍVEL 0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74" name="CaixaDeTexto 39"/>
          <p:cNvSpPr/>
          <p:nvPr/>
        </p:nvSpPr>
        <p:spPr>
          <a:xfrm>
            <a:off x="1559520" y="4067640"/>
            <a:ext cx="1595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Tw Cen MT"/>
              </a:rPr>
              <a:t>NÍVEL 1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75" name="CaixaDeTexto 40"/>
          <p:cNvSpPr/>
          <p:nvPr/>
        </p:nvSpPr>
        <p:spPr>
          <a:xfrm>
            <a:off x="1574280" y="5085360"/>
            <a:ext cx="1595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Tw Cen MT"/>
              </a:rPr>
              <a:t>NÍVEL 2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76" name="Colchete esquerdo 41"/>
          <p:cNvSpPr/>
          <p:nvPr/>
        </p:nvSpPr>
        <p:spPr>
          <a:xfrm>
            <a:off x="1691640" y="3357000"/>
            <a:ext cx="158400" cy="2035440"/>
          </a:xfrm>
          <a:prstGeom prst="leftBracket">
            <a:avLst>
              <a:gd name="adj" fmla="val 8333"/>
            </a:avLst>
          </a:prstGeom>
          <a:noFill/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CaixaDeTexto 42"/>
          <p:cNvSpPr/>
          <p:nvPr/>
        </p:nvSpPr>
        <p:spPr>
          <a:xfrm>
            <a:off x="395640" y="4067640"/>
            <a:ext cx="1595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800" spc="-1" strike="noStrike">
                <a:solidFill>
                  <a:srgbClr val="000000"/>
                </a:solidFill>
                <a:latin typeface="Tw Cen MT"/>
              </a:rPr>
              <a:t>ALTURA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78" name="Retângulo de cantos arredondados 43"/>
          <p:cNvSpPr/>
          <p:nvPr/>
        </p:nvSpPr>
        <p:spPr>
          <a:xfrm>
            <a:off x="2884320" y="3069000"/>
            <a:ext cx="5227560" cy="5756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a6a6a6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Retângulo de cantos arredondados 44"/>
          <p:cNvSpPr/>
          <p:nvPr/>
        </p:nvSpPr>
        <p:spPr>
          <a:xfrm>
            <a:off x="2884320" y="3953160"/>
            <a:ext cx="5227560" cy="5756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a6a6a6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Retângulo de cantos arredondados 45"/>
          <p:cNvSpPr/>
          <p:nvPr/>
        </p:nvSpPr>
        <p:spPr>
          <a:xfrm>
            <a:off x="2884320" y="4964400"/>
            <a:ext cx="5227560" cy="57564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a6a6a6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4648EF-2AD2-4A28-9814-58E6ADD3DE6F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Tipos de árvores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7000"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Na computação, assim como na natureza, existem vários tipos diferentes de árvores. 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Cada uma delas foi desenvolvida pensando diferentes tipos de aplicações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árvore binária de busca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árvore AVL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árvore Rubro-Negra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árvore B, B+ e B*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árvore 2-3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árvore 2-3-4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quadtree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octree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2C1E18-79DE-4A83-B1D5-4CC89E760209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É um tipo especial de árvore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Cada nó pode possuir nenhuma, uma ou no máximo duas </a:t>
            </a:r>
            <a:r>
              <a:rPr b="1" lang="pt-BR" sz="2600" spc="-1" strike="noStrike">
                <a:solidFill>
                  <a:srgbClr val="000000"/>
                </a:solidFill>
                <a:latin typeface="Tw Cen MT"/>
              </a:rPr>
              <a:t>sub-árvores</a:t>
            </a: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Sub-árvore da </a:t>
            </a:r>
            <a:r>
              <a:rPr b="1" lang="pt-BR" sz="2300" spc="-1" strike="noStrike">
                <a:solidFill>
                  <a:srgbClr val="000000"/>
                </a:solidFill>
                <a:latin typeface="Tw Cen MT"/>
              </a:rPr>
              <a:t>esquerda</a:t>
            </a: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 e a da </a:t>
            </a:r>
            <a:r>
              <a:rPr b="1" lang="pt-BR" sz="2300" spc="-1" strike="noStrike">
                <a:solidFill>
                  <a:srgbClr val="000000"/>
                </a:solidFill>
                <a:latin typeface="Tw Cen MT"/>
              </a:rPr>
              <a:t>direita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Usadas em situações onde, a cada passo, é preciso tomar uma decisão entre duas direções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285" name="Grupo 21"/>
          <p:cNvGrpSpPr/>
          <p:nvPr/>
        </p:nvGrpSpPr>
        <p:grpSpPr>
          <a:xfrm>
            <a:off x="208440" y="4470480"/>
            <a:ext cx="8827920" cy="2272320"/>
            <a:chOff x="208440" y="4470480"/>
            <a:chExt cx="8827920" cy="2272320"/>
          </a:xfrm>
        </p:grpSpPr>
        <p:sp>
          <p:nvSpPr>
            <p:cNvPr id="286" name="Elipse 4"/>
            <p:cNvSpPr/>
            <p:nvPr/>
          </p:nvSpPr>
          <p:spPr>
            <a:xfrm>
              <a:off x="4387680" y="447048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A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287" name="Elipse 5"/>
            <p:cNvSpPr/>
            <p:nvPr/>
          </p:nvSpPr>
          <p:spPr>
            <a:xfrm>
              <a:off x="2440440" y="615852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D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288" name="Elipse 6"/>
            <p:cNvSpPr/>
            <p:nvPr/>
          </p:nvSpPr>
          <p:spPr>
            <a:xfrm>
              <a:off x="3157920" y="529740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B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289" name="Elipse 7"/>
            <p:cNvSpPr/>
            <p:nvPr/>
          </p:nvSpPr>
          <p:spPr>
            <a:xfrm>
              <a:off x="5614560" y="529740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C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290" name="Elipse 8"/>
            <p:cNvSpPr/>
            <p:nvPr/>
          </p:nvSpPr>
          <p:spPr>
            <a:xfrm>
              <a:off x="3877920" y="615852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E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291" name="Elipse 9"/>
            <p:cNvSpPr/>
            <p:nvPr/>
          </p:nvSpPr>
          <p:spPr>
            <a:xfrm>
              <a:off x="6332040" y="615852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G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292" name="Elipse 10"/>
            <p:cNvSpPr/>
            <p:nvPr/>
          </p:nvSpPr>
          <p:spPr>
            <a:xfrm>
              <a:off x="4966560" y="61437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F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293" name="Conector reto 11"/>
            <p:cNvSpPr/>
            <p:nvPr/>
          </p:nvSpPr>
          <p:spPr>
            <a:xfrm flipV="1">
              <a:off x="3462480" y="4775400"/>
              <a:ext cx="977400" cy="5738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4" name="Conector reto 12"/>
            <p:cNvSpPr/>
            <p:nvPr/>
          </p:nvSpPr>
          <p:spPr>
            <a:xfrm flipV="1">
              <a:off x="2745360" y="5601960"/>
              <a:ext cx="464400" cy="6087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5" name="Conector reto 13"/>
            <p:cNvSpPr/>
            <p:nvPr/>
          </p:nvSpPr>
          <p:spPr>
            <a:xfrm flipH="1" flipV="1">
              <a:off x="4692240" y="4775400"/>
              <a:ext cx="974520" cy="5738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6" name="Conector reto 14"/>
            <p:cNvSpPr/>
            <p:nvPr/>
          </p:nvSpPr>
          <p:spPr>
            <a:xfrm flipH="1">
              <a:off x="5271120" y="5601960"/>
              <a:ext cx="395640" cy="5940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7" name="Conector reto 15"/>
            <p:cNvSpPr/>
            <p:nvPr/>
          </p:nvSpPr>
          <p:spPr>
            <a:xfrm>
              <a:off x="3462480" y="5601960"/>
              <a:ext cx="467640" cy="6087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8" name="Conector reto 16"/>
            <p:cNvSpPr/>
            <p:nvPr/>
          </p:nvSpPr>
          <p:spPr>
            <a:xfrm flipH="1" flipV="1">
              <a:off x="5919480" y="5601960"/>
              <a:ext cx="464400" cy="6087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9" name="CaixaDeTexto 17"/>
            <p:cNvSpPr/>
            <p:nvPr/>
          </p:nvSpPr>
          <p:spPr>
            <a:xfrm>
              <a:off x="6401160" y="5663160"/>
              <a:ext cx="26352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SUB-ÁRVORE </a:t>
              </a:r>
              <a:endParaRPr b="0" lang="pt-BR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DIREITA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300" name="Retângulo de cantos arredondados 18"/>
            <p:cNvSpPr/>
            <p:nvPr/>
          </p:nvSpPr>
          <p:spPr>
            <a:xfrm>
              <a:off x="2368440" y="5153400"/>
              <a:ext cx="1946880" cy="1589400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ff0000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1" name="CaixaDeTexto 19"/>
            <p:cNvSpPr/>
            <p:nvPr/>
          </p:nvSpPr>
          <p:spPr>
            <a:xfrm>
              <a:off x="208440" y="5663160"/>
              <a:ext cx="26352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SUB-ÁRVORE </a:t>
              </a:r>
              <a:endParaRPr b="0" lang="pt-BR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ESQUERDA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302" name="Retângulo de cantos arredondados 20"/>
            <p:cNvSpPr/>
            <p:nvPr/>
          </p:nvSpPr>
          <p:spPr>
            <a:xfrm>
              <a:off x="4885920" y="5153400"/>
              <a:ext cx="1946880" cy="1589400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ff0000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86690E-D07E-4BE7-8733-D403EF4B0612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Exemplo de árvore binária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305" name="Grupo 7"/>
          <p:cNvGrpSpPr/>
          <p:nvPr/>
        </p:nvGrpSpPr>
        <p:grpSpPr>
          <a:xfrm>
            <a:off x="1259640" y="2507400"/>
            <a:ext cx="6840360" cy="4226040"/>
            <a:chOff x="1259640" y="2507400"/>
            <a:chExt cx="6840360" cy="4226040"/>
          </a:xfrm>
        </p:grpSpPr>
        <p:sp>
          <p:nvSpPr>
            <p:cNvPr id="306" name="Elipse 27"/>
            <p:cNvSpPr/>
            <p:nvPr/>
          </p:nvSpPr>
          <p:spPr>
            <a:xfrm>
              <a:off x="4546080" y="29642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X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307" name="Elipse 28"/>
            <p:cNvSpPr/>
            <p:nvPr/>
          </p:nvSpPr>
          <p:spPr>
            <a:xfrm>
              <a:off x="2526840" y="465192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8" name="Elipse 29"/>
            <p:cNvSpPr/>
            <p:nvPr/>
          </p:nvSpPr>
          <p:spPr>
            <a:xfrm>
              <a:off x="3535200" y="379080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9" name="Elipse 30"/>
            <p:cNvSpPr/>
            <p:nvPr/>
          </p:nvSpPr>
          <p:spPr>
            <a:xfrm>
              <a:off x="5554080" y="379080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0" name="Elipse 31"/>
            <p:cNvSpPr/>
            <p:nvPr/>
          </p:nvSpPr>
          <p:spPr>
            <a:xfrm>
              <a:off x="4546080" y="465192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1" name="Elipse 32"/>
            <p:cNvSpPr/>
            <p:nvPr/>
          </p:nvSpPr>
          <p:spPr>
            <a:xfrm>
              <a:off x="6562080" y="465192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2" name="Elipse 33"/>
            <p:cNvSpPr/>
            <p:nvPr/>
          </p:nvSpPr>
          <p:spPr>
            <a:xfrm>
              <a:off x="3610080" y="544680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3" name="Conector reto 34"/>
            <p:cNvSpPr/>
            <p:nvPr/>
          </p:nvSpPr>
          <p:spPr>
            <a:xfrm flipV="1">
              <a:off x="3839760" y="3268800"/>
              <a:ext cx="758520" cy="5742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4" name="Conector reto 35"/>
            <p:cNvSpPr/>
            <p:nvPr/>
          </p:nvSpPr>
          <p:spPr>
            <a:xfrm flipV="1">
              <a:off x="2831760" y="4095360"/>
              <a:ext cx="755280" cy="6087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5" name="Conector reto 36"/>
            <p:cNvSpPr/>
            <p:nvPr/>
          </p:nvSpPr>
          <p:spPr>
            <a:xfrm flipH="1" flipV="1">
              <a:off x="4850640" y="3268800"/>
              <a:ext cx="755640" cy="5742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6" name="Conector reto 37"/>
            <p:cNvSpPr/>
            <p:nvPr/>
          </p:nvSpPr>
          <p:spPr>
            <a:xfrm flipH="1">
              <a:off x="3914640" y="4956840"/>
              <a:ext cx="683640" cy="5421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7" name="Conector reto 38"/>
            <p:cNvSpPr/>
            <p:nvPr/>
          </p:nvSpPr>
          <p:spPr>
            <a:xfrm>
              <a:off x="3839760" y="4095360"/>
              <a:ext cx="758520" cy="6087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8" name="Conector reto 39"/>
            <p:cNvSpPr/>
            <p:nvPr/>
          </p:nvSpPr>
          <p:spPr>
            <a:xfrm flipH="1" flipV="1">
              <a:off x="5859000" y="4095360"/>
              <a:ext cx="755280" cy="6087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9" name="Elipse 40"/>
            <p:cNvSpPr/>
            <p:nvPr/>
          </p:nvSpPr>
          <p:spPr>
            <a:xfrm>
              <a:off x="5482080" y="544680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0" name="Conector reto 41"/>
            <p:cNvSpPr/>
            <p:nvPr/>
          </p:nvSpPr>
          <p:spPr>
            <a:xfrm>
              <a:off x="4850640" y="4956840"/>
              <a:ext cx="683640" cy="5421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1" name="Retângulo de cantos arredondados 42"/>
            <p:cNvSpPr/>
            <p:nvPr/>
          </p:nvSpPr>
          <p:spPr>
            <a:xfrm>
              <a:off x="3550680" y="4582800"/>
              <a:ext cx="2360520" cy="1511640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0000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2" name="CaixaDeTexto 43"/>
            <p:cNvSpPr/>
            <p:nvPr/>
          </p:nvSpPr>
          <p:spPr>
            <a:xfrm>
              <a:off x="3463200" y="6095160"/>
              <a:ext cx="26352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SUB-ÁRVORE </a:t>
              </a:r>
              <a:endParaRPr b="0" lang="pt-BR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DIREITA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323" name="Retângulo de cantos arredondados 44"/>
            <p:cNvSpPr/>
            <p:nvPr/>
          </p:nvSpPr>
          <p:spPr>
            <a:xfrm>
              <a:off x="2226600" y="4399920"/>
              <a:ext cx="982800" cy="938520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0000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4" name="CaixaDeTexto 45"/>
            <p:cNvSpPr/>
            <p:nvPr/>
          </p:nvSpPr>
          <p:spPr>
            <a:xfrm>
              <a:off x="1403640" y="5306760"/>
              <a:ext cx="26352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SUB-ÁRVORE </a:t>
              </a:r>
              <a:endParaRPr b="0" lang="pt-BR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ESQUERDA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325" name="CaixaDeTexto 46"/>
            <p:cNvSpPr/>
            <p:nvPr/>
          </p:nvSpPr>
          <p:spPr>
            <a:xfrm>
              <a:off x="6236640" y="2507400"/>
              <a:ext cx="186336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NÓ A </a:t>
              </a: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DIREITA </a:t>
              </a:r>
              <a:endParaRPr b="0" lang="pt-BR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DE X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326" name="Conector de seta reta 47"/>
            <p:cNvSpPr/>
            <p:nvPr/>
          </p:nvSpPr>
          <p:spPr>
            <a:xfrm flipH="1">
              <a:off x="5858280" y="3153600"/>
              <a:ext cx="1309320" cy="6890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prstDash val="sysDash"/>
              <a:round/>
              <a:tailEnd len="med" type="arrow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7" name="Conector de seta reta 48"/>
            <p:cNvSpPr/>
            <p:nvPr/>
          </p:nvSpPr>
          <p:spPr>
            <a:xfrm>
              <a:off x="2361240" y="3153600"/>
              <a:ext cx="1225800" cy="6890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prstDash val="sysDash"/>
              <a:round/>
              <a:tailEnd len="med" type="arrow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8" name="CaixaDeTexto 49"/>
            <p:cNvSpPr/>
            <p:nvPr/>
          </p:nvSpPr>
          <p:spPr>
            <a:xfrm>
              <a:off x="1259640" y="2507400"/>
              <a:ext cx="2203200" cy="91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NÓ A </a:t>
              </a: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ESQUERDA</a:t>
              </a: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 DE X</a:t>
              </a:r>
              <a:endParaRPr b="0" lang="pt-BR" sz="1800" spc="-1" strike="noStrike"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A3EB18-3037-47B0-AEB5-1589E3DCD22D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Existem três tipos de árvores binárias 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Estritamente binária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Completa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Cheia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67F382-CB2A-496D-839B-0885D1EA92CC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Árvore estritamente binária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Cada nó possui sempre ou 0 (no caso de nó folha) ou 2 sub-árvores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Nenhum nó tem </a:t>
            </a:r>
            <a:r>
              <a:rPr b="1" lang="pt-BR" sz="2600" spc="-1" strike="noStrike">
                <a:solidFill>
                  <a:srgbClr val="000000"/>
                </a:solidFill>
                <a:latin typeface="Tw Cen MT"/>
              </a:rPr>
              <a:t>filho único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333" name="Grupo 4"/>
          <p:cNvGrpSpPr/>
          <p:nvPr/>
        </p:nvGrpSpPr>
        <p:grpSpPr>
          <a:xfrm>
            <a:off x="-540720" y="3853080"/>
            <a:ext cx="8364600" cy="2815920"/>
            <a:chOff x="-540720" y="3853080"/>
            <a:chExt cx="8364600" cy="2815920"/>
          </a:xfrm>
        </p:grpSpPr>
        <p:sp>
          <p:nvSpPr>
            <p:cNvPr id="334" name="Elipse 32"/>
            <p:cNvSpPr/>
            <p:nvPr/>
          </p:nvSpPr>
          <p:spPr>
            <a:xfrm>
              <a:off x="6686280" y="39675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5" name="Elipse 33"/>
            <p:cNvSpPr/>
            <p:nvPr/>
          </p:nvSpPr>
          <p:spPr>
            <a:xfrm>
              <a:off x="5248800" y="55173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6" name="Elipse 34"/>
            <p:cNvSpPr/>
            <p:nvPr/>
          </p:nvSpPr>
          <p:spPr>
            <a:xfrm>
              <a:off x="5966280" y="472788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7" name="Elipse 35"/>
            <p:cNvSpPr/>
            <p:nvPr/>
          </p:nvSpPr>
          <p:spPr>
            <a:xfrm>
              <a:off x="7337160" y="63122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8" name="Elipse 36"/>
            <p:cNvSpPr/>
            <p:nvPr/>
          </p:nvSpPr>
          <p:spPr>
            <a:xfrm>
              <a:off x="6686280" y="55173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9" name="Elipse 37"/>
            <p:cNvSpPr/>
            <p:nvPr/>
          </p:nvSpPr>
          <p:spPr>
            <a:xfrm>
              <a:off x="6137640" y="63122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0" name="Conector reto 38"/>
            <p:cNvSpPr/>
            <p:nvPr/>
          </p:nvSpPr>
          <p:spPr>
            <a:xfrm flipV="1">
              <a:off x="6270840" y="4272480"/>
              <a:ext cx="467640" cy="5076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1" name="Conector reto 39"/>
            <p:cNvSpPr/>
            <p:nvPr/>
          </p:nvSpPr>
          <p:spPr>
            <a:xfrm flipV="1">
              <a:off x="5553720" y="5032800"/>
              <a:ext cx="464400" cy="5364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2" name="Conector reto 40"/>
            <p:cNvSpPr/>
            <p:nvPr/>
          </p:nvSpPr>
          <p:spPr>
            <a:xfrm flipH="1" flipV="1">
              <a:off x="6990840" y="5821920"/>
              <a:ext cx="398520" cy="542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3" name="Conector reto 41"/>
            <p:cNvSpPr/>
            <p:nvPr/>
          </p:nvSpPr>
          <p:spPr>
            <a:xfrm flipH="1">
              <a:off x="6316200" y="5821920"/>
              <a:ext cx="422280" cy="4899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4" name="Conector reto 42"/>
            <p:cNvSpPr/>
            <p:nvPr/>
          </p:nvSpPr>
          <p:spPr>
            <a:xfrm>
              <a:off x="6270840" y="5032800"/>
              <a:ext cx="467640" cy="5364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5" name="Elipse 43"/>
            <p:cNvSpPr/>
            <p:nvPr/>
          </p:nvSpPr>
          <p:spPr>
            <a:xfrm>
              <a:off x="7467120" y="47505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6" name="Conector reto 44"/>
            <p:cNvSpPr/>
            <p:nvPr/>
          </p:nvSpPr>
          <p:spPr>
            <a:xfrm flipH="1" flipV="1">
              <a:off x="6990840" y="4272480"/>
              <a:ext cx="528480" cy="5299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7" name="CaixaDeTexto 45"/>
            <p:cNvSpPr/>
            <p:nvPr/>
          </p:nvSpPr>
          <p:spPr>
            <a:xfrm>
              <a:off x="4168800" y="3859920"/>
              <a:ext cx="2635200" cy="91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ÁRVORE ESTRITAMENTE</a:t>
              </a:r>
              <a:endParaRPr b="0" lang="pt-BR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BINÁRIA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348" name="Elipse 46"/>
            <p:cNvSpPr/>
            <p:nvPr/>
          </p:nvSpPr>
          <p:spPr>
            <a:xfrm>
              <a:off x="1976760" y="396072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9" name="Elipse 47"/>
            <p:cNvSpPr/>
            <p:nvPr/>
          </p:nvSpPr>
          <p:spPr>
            <a:xfrm>
              <a:off x="1256760" y="47210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0" name="Elipse 48"/>
            <p:cNvSpPr/>
            <p:nvPr/>
          </p:nvSpPr>
          <p:spPr>
            <a:xfrm>
              <a:off x="2627640" y="63050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1" name="Elipse 49"/>
            <p:cNvSpPr/>
            <p:nvPr/>
          </p:nvSpPr>
          <p:spPr>
            <a:xfrm>
              <a:off x="1976760" y="55101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2" name="Elipse 50"/>
            <p:cNvSpPr/>
            <p:nvPr/>
          </p:nvSpPr>
          <p:spPr>
            <a:xfrm>
              <a:off x="1428480" y="63050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3" name="Conector reto 51"/>
            <p:cNvSpPr/>
            <p:nvPr/>
          </p:nvSpPr>
          <p:spPr>
            <a:xfrm flipV="1">
              <a:off x="1561320" y="4265280"/>
              <a:ext cx="467640" cy="5079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4" name="Conector reto 52"/>
            <p:cNvSpPr/>
            <p:nvPr/>
          </p:nvSpPr>
          <p:spPr>
            <a:xfrm flipH="1" flipV="1">
              <a:off x="2281680" y="5815080"/>
              <a:ext cx="398160" cy="5421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5" name="Conector reto 53"/>
            <p:cNvSpPr/>
            <p:nvPr/>
          </p:nvSpPr>
          <p:spPr>
            <a:xfrm flipH="1">
              <a:off x="1606680" y="5815080"/>
              <a:ext cx="422280" cy="4899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6" name="Conector reto 54"/>
            <p:cNvSpPr/>
            <p:nvPr/>
          </p:nvSpPr>
          <p:spPr>
            <a:xfrm>
              <a:off x="1561320" y="5025600"/>
              <a:ext cx="467640" cy="5367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7" name="Elipse 55"/>
            <p:cNvSpPr/>
            <p:nvPr/>
          </p:nvSpPr>
          <p:spPr>
            <a:xfrm>
              <a:off x="2757960" y="47433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8" name="Conector reto 56"/>
            <p:cNvSpPr/>
            <p:nvPr/>
          </p:nvSpPr>
          <p:spPr>
            <a:xfrm flipH="1" flipV="1">
              <a:off x="2281680" y="4265280"/>
              <a:ext cx="528120" cy="53028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9" name="CaixaDeTexto 57"/>
            <p:cNvSpPr/>
            <p:nvPr/>
          </p:nvSpPr>
          <p:spPr>
            <a:xfrm>
              <a:off x="-540720" y="3853080"/>
              <a:ext cx="263520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ÁRVORE</a:t>
              </a:r>
              <a:endParaRPr b="0" lang="pt-BR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BINÁRIA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360" name="Elipse 58"/>
            <p:cNvSpPr/>
            <p:nvPr/>
          </p:nvSpPr>
          <p:spPr>
            <a:xfrm>
              <a:off x="3494880" y="551592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1" name="Conector reto 59"/>
            <p:cNvSpPr/>
            <p:nvPr/>
          </p:nvSpPr>
          <p:spPr>
            <a:xfrm flipH="1" flipV="1">
              <a:off x="3062520" y="5048280"/>
              <a:ext cx="484200" cy="5198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3980E8-C8D0-4FF9-8354-BA88418DEC93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Árvore binária completa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A diferença de altura entre as sub-árvores de qualquer nó é no máximo 1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Se a altura da árvore é </a:t>
            </a:r>
            <a:r>
              <a:rPr b="1" lang="pt-BR" sz="2600" spc="-1" strike="noStrike">
                <a:solidFill>
                  <a:srgbClr val="000000"/>
                </a:solidFill>
                <a:latin typeface="Tw Cen MT"/>
              </a:rPr>
              <a:t>D</a:t>
            </a: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, cada nó folha está no nível </a:t>
            </a:r>
            <a:r>
              <a:rPr b="1" lang="pt-BR" sz="2600" spc="-1" strike="noStrike">
                <a:solidFill>
                  <a:srgbClr val="000000"/>
                </a:solidFill>
                <a:latin typeface="Tw Cen MT"/>
              </a:rPr>
              <a:t>D</a:t>
            </a: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 ou </a:t>
            </a:r>
            <a:r>
              <a:rPr b="1" lang="pt-BR" sz="2600" spc="-1" strike="noStrike">
                <a:solidFill>
                  <a:srgbClr val="000000"/>
                </a:solidFill>
                <a:latin typeface="Tw Cen MT"/>
              </a:rPr>
              <a:t>D-1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364" name="Grupo 4"/>
          <p:cNvGrpSpPr/>
          <p:nvPr/>
        </p:nvGrpSpPr>
        <p:grpSpPr>
          <a:xfrm>
            <a:off x="1187640" y="4179600"/>
            <a:ext cx="6624360" cy="2345400"/>
            <a:chOff x="1187640" y="4179600"/>
            <a:chExt cx="6624360" cy="2345400"/>
          </a:xfrm>
        </p:grpSpPr>
        <p:sp>
          <p:nvSpPr>
            <p:cNvPr id="365" name="Elipse 21"/>
            <p:cNvSpPr/>
            <p:nvPr/>
          </p:nvSpPr>
          <p:spPr>
            <a:xfrm>
              <a:off x="4286880" y="417960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6" name="Elipse 22"/>
            <p:cNvSpPr/>
            <p:nvPr/>
          </p:nvSpPr>
          <p:spPr>
            <a:xfrm>
              <a:off x="1187640" y="539820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7" name="Elipse 23"/>
            <p:cNvSpPr/>
            <p:nvPr/>
          </p:nvSpPr>
          <p:spPr>
            <a:xfrm>
              <a:off x="2270520" y="475560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8" name="Elipse 24"/>
            <p:cNvSpPr/>
            <p:nvPr/>
          </p:nvSpPr>
          <p:spPr>
            <a:xfrm>
              <a:off x="6377760" y="475560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9" name="Elipse 25"/>
            <p:cNvSpPr/>
            <p:nvPr/>
          </p:nvSpPr>
          <p:spPr>
            <a:xfrm>
              <a:off x="3494880" y="539820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0" name="Elipse 26"/>
            <p:cNvSpPr/>
            <p:nvPr/>
          </p:nvSpPr>
          <p:spPr>
            <a:xfrm>
              <a:off x="7455240" y="539820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1" name="Elipse 27"/>
            <p:cNvSpPr/>
            <p:nvPr/>
          </p:nvSpPr>
          <p:spPr>
            <a:xfrm>
              <a:off x="5361120" y="539820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2" name="Conector reto 28"/>
            <p:cNvSpPr/>
            <p:nvPr/>
          </p:nvSpPr>
          <p:spPr>
            <a:xfrm flipV="1">
              <a:off x="2575440" y="4358160"/>
              <a:ext cx="1711080" cy="4496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3" name="Conector reto 29"/>
            <p:cNvSpPr/>
            <p:nvPr/>
          </p:nvSpPr>
          <p:spPr>
            <a:xfrm flipV="1">
              <a:off x="1492200" y="5060520"/>
              <a:ext cx="830520" cy="389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4" name="Conector reto 30"/>
            <p:cNvSpPr/>
            <p:nvPr/>
          </p:nvSpPr>
          <p:spPr>
            <a:xfrm flipH="1" flipV="1">
              <a:off x="4644000" y="4358160"/>
              <a:ext cx="1785960" cy="4496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5" name="Conector reto 31"/>
            <p:cNvSpPr/>
            <p:nvPr/>
          </p:nvSpPr>
          <p:spPr>
            <a:xfrm flipH="1">
              <a:off x="5666040" y="5060520"/>
              <a:ext cx="763920" cy="389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6" name="Conector reto 32"/>
            <p:cNvSpPr/>
            <p:nvPr/>
          </p:nvSpPr>
          <p:spPr>
            <a:xfrm>
              <a:off x="2575440" y="5060520"/>
              <a:ext cx="971280" cy="389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7" name="Conector reto 33"/>
            <p:cNvSpPr/>
            <p:nvPr/>
          </p:nvSpPr>
          <p:spPr>
            <a:xfrm flipH="1" flipV="1">
              <a:off x="6682680" y="5060520"/>
              <a:ext cx="824760" cy="389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8" name="Elipse 34"/>
            <p:cNvSpPr/>
            <p:nvPr/>
          </p:nvSpPr>
          <p:spPr>
            <a:xfrm>
              <a:off x="6009480" y="61682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9" name="Elipse 35"/>
            <p:cNvSpPr/>
            <p:nvPr/>
          </p:nvSpPr>
          <p:spPr>
            <a:xfrm>
              <a:off x="4860000" y="61682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0" name="Conector reto 36"/>
            <p:cNvSpPr/>
            <p:nvPr/>
          </p:nvSpPr>
          <p:spPr>
            <a:xfrm flipH="1">
              <a:off x="5038560" y="5702760"/>
              <a:ext cx="374760" cy="4651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1" name="Conector reto 37"/>
            <p:cNvSpPr/>
            <p:nvPr/>
          </p:nvSpPr>
          <p:spPr>
            <a:xfrm flipH="1" flipV="1">
              <a:off x="5666040" y="5702760"/>
              <a:ext cx="395280" cy="51768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FCD5E3-B0E5-46B3-BAEE-18B0894477A4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Árvore binária cheia 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Árvore estritamente binária onde todos os nó folhas estão no mesmo nível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384" name="Elipse 34"/>
          <p:cNvSpPr/>
          <p:nvPr/>
        </p:nvSpPr>
        <p:spPr>
          <a:xfrm>
            <a:off x="4286880" y="295560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Elipse 35"/>
          <p:cNvSpPr/>
          <p:nvPr/>
        </p:nvSpPr>
        <p:spPr>
          <a:xfrm>
            <a:off x="1187640" y="417384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Elipse 36"/>
          <p:cNvSpPr/>
          <p:nvPr/>
        </p:nvSpPr>
        <p:spPr>
          <a:xfrm>
            <a:off x="2270520" y="353160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Elipse 37"/>
          <p:cNvSpPr/>
          <p:nvPr/>
        </p:nvSpPr>
        <p:spPr>
          <a:xfrm>
            <a:off x="6377760" y="353160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Elipse 38"/>
          <p:cNvSpPr/>
          <p:nvPr/>
        </p:nvSpPr>
        <p:spPr>
          <a:xfrm>
            <a:off x="3494880" y="417384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Elipse 39"/>
          <p:cNvSpPr/>
          <p:nvPr/>
        </p:nvSpPr>
        <p:spPr>
          <a:xfrm>
            <a:off x="7455240" y="417384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Elipse 40"/>
          <p:cNvSpPr/>
          <p:nvPr/>
        </p:nvSpPr>
        <p:spPr>
          <a:xfrm>
            <a:off x="5361120" y="417384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Conector reto 41"/>
          <p:cNvSpPr/>
          <p:nvPr/>
        </p:nvSpPr>
        <p:spPr>
          <a:xfrm flipV="1">
            <a:off x="2575440" y="3133800"/>
            <a:ext cx="1711080" cy="45000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Conector reto 42"/>
          <p:cNvSpPr/>
          <p:nvPr/>
        </p:nvSpPr>
        <p:spPr>
          <a:xfrm flipV="1">
            <a:off x="1492200" y="3836160"/>
            <a:ext cx="830520" cy="38988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3" name="Conector reto 43"/>
          <p:cNvSpPr/>
          <p:nvPr/>
        </p:nvSpPr>
        <p:spPr>
          <a:xfrm flipH="1" flipV="1">
            <a:off x="4644000" y="3133800"/>
            <a:ext cx="1785960" cy="45000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Conector reto 44"/>
          <p:cNvSpPr/>
          <p:nvPr/>
        </p:nvSpPr>
        <p:spPr>
          <a:xfrm flipH="1">
            <a:off x="5666040" y="3836160"/>
            <a:ext cx="763920" cy="38988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Conector reto 45"/>
          <p:cNvSpPr/>
          <p:nvPr/>
        </p:nvSpPr>
        <p:spPr>
          <a:xfrm>
            <a:off x="2575440" y="3836160"/>
            <a:ext cx="971280" cy="38988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Conector reto 46"/>
          <p:cNvSpPr/>
          <p:nvPr/>
        </p:nvSpPr>
        <p:spPr>
          <a:xfrm flipH="1" flipV="1">
            <a:off x="6682680" y="3836160"/>
            <a:ext cx="824760" cy="38988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Elipse 47"/>
          <p:cNvSpPr/>
          <p:nvPr/>
        </p:nvSpPr>
        <p:spPr>
          <a:xfrm>
            <a:off x="6009480" y="494388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Elipse 48"/>
          <p:cNvSpPr/>
          <p:nvPr/>
        </p:nvSpPr>
        <p:spPr>
          <a:xfrm>
            <a:off x="4860000" y="494388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Conector reto 49"/>
          <p:cNvSpPr/>
          <p:nvPr/>
        </p:nvSpPr>
        <p:spPr>
          <a:xfrm flipH="1">
            <a:off x="5038560" y="4478760"/>
            <a:ext cx="374760" cy="4651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Conector reto 50"/>
          <p:cNvSpPr/>
          <p:nvPr/>
        </p:nvSpPr>
        <p:spPr>
          <a:xfrm flipH="1" flipV="1">
            <a:off x="5666040" y="4478760"/>
            <a:ext cx="395280" cy="5173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Elipse 51"/>
          <p:cNvSpPr/>
          <p:nvPr/>
        </p:nvSpPr>
        <p:spPr>
          <a:xfrm>
            <a:off x="8097480" y="492984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Elipse 52"/>
          <p:cNvSpPr/>
          <p:nvPr/>
        </p:nvSpPr>
        <p:spPr>
          <a:xfrm>
            <a:off x="6948360" y="492984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3" name="Conector reto 53"/>
          <p:cNvSpPr/>
          <p:nvPr/>
        </p:nvSpPr>
        <p:spPr>
          <a:xfrm flipH="1">
            <a:off x="7126560" y="4464720"/>
            <a:ext cx="375120" cy="4651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Conector reto 54"/>
          <p:cNvSpPr/>
          <p:nvPr/>
        </p:nvSpPr>
        <p:spPr>
          <a:xfrm flipH="1" flipV="1">
            <a:off x="7754040" y="4464720"/>
            <a:ext cx="395640" cy="5173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Elipse 55"/>
          <p:cNvSpPr/>
          <p:nvPr/>
        </p:nvSpPr>
        <p:spPr>
          <a:xfrm>
            <a:off x="4137120" y="492984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Elipse 56"/>
          <p:cNvSpPr/>
          <p:nvPr/>
        </p:nvSpPr>
        <p:spPr>
          <a:xfrm>
            <a:off x="2988000" y="492984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Conector reto 57"/>
          <p:cNvSpPr/>
          <p:nvPr/>
        </p:nvSpPr>
        <p:spPr>
          <a:xfrm flipH="1">
            <a:off x="3166200" y="4464720"/>
            <a:ext cx="375120" cy="4651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8" name="Conector reto 58"/>
          <p:cNvSpPr/>
          <p:nvPr/>
        </p:nvSpPr>
        <p:spPr>
          <a:xfrm flipH="1" flipV="1">
            <a:off x="3793680" y="4464720"/>
            <a:ext cx="395640" cy="5173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9" name="Elipse 59"/>
          <p:cNvSpPr/>
          <p:nvPr/>
        </p:nvSpPr>
        <p:spPr>
          <a:xfrm>
            <a:off x="1838520" y="489960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Elipse 60"/>
          <p:cNvSpPr/>
          <p:nvPr/>
        </p:nvSpPr>
        <p:spPr>
          <a:xfrm>
            <a:off x="689400" y="4899600"/>
            <a:ext cx="356760" cy="35676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Conector reto 61"/>
          <p:cNvSpPr/>
          <p:nvPr/>
        </p:nvSpPr>
        <p:spPr>
          <a:xfrm flipH="1">
            <a:off x="867600" y="4434480"/>
            <a:ext cx="375120" cy="4651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Conector reto 62"/>
          <p:cNvSpPr/>
          <p:nvPr/>
        </p:nvSpPr>
        <p:spPr>
          <a:xfrm flipH="1" flipV="1">
            <a:off x="1495080" y="4434480"/>
            <a:ext cx="395640" cy="51732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413" name="Tabela 67"/>
          <p:cNvGraphicFramePr/>
          <p:nvPr/>
        </p:nvGraphicFramePr>
        <p:xfrm>
          <a:off x="1547640" y="5476320"/>
          <a:ext cx="6595560" cy="1112040"/>
        </p:xfrm>
        <a:graphic>
          <a:graphicData uri="http://schemas.openxmlformats.org/drawingml/2006/table">
            <a:tbl>
              <a:tblPr/>
              <a:tblGrid>
                <a:gridCol w="1319040"/>
                <a:gridCol w="1319040"/>
                <a:gridCol w="1319040"/>
                <a:gridCol w="1319040"/>
                <a:gridCol w="13194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Nível (n)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Nº de nós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Potência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r>
                        <a:rPr b="1" lang="pt-BR" sz="1800" spc="-1" strike="noStrike" baseline="3000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r>
                        <a:rPr b="1" lang="pt-BR" sz="1800" spc="-1" strike="noStrike" baseline="3000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r>
                        <a:rPr b="1" lang="pt-BR" sz="1800" spc="-1" strike="noStrike" baseline="3000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r>
                        <a:rPr b="1" lang="pt-BR" sz="1800" spc="-1" strike="noStrike" baseline="3000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772B7D-87ED-462F-A55E-7308C2751064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Tipo de representação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Como implementar uma árvore no computador? 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Existem duas abordagens muito utilizadas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Usando um array (alocação estática)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Usando uma lista encadeada (alocação dinâmica)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41B8CC-A73F-490C-988B-95C36D2C4915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Tipo de representação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Usando um array (alocação estática)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Necessário definir o número máximo de nós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Tamanho do array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Usa 2 funções para retornar a posição dos filhos à esquerda e à direita de um pai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418" name="Grupo 4"/>
          <p:cNvGrpSpPr/>
          <p:nvPr/>
        </p:nvGrpSpPr>
        <p:grpSpPr>
          <a:xfrm>
            <a:off x="124200" y="4039560"/>
            <a:ext cx="8767800" cy="2701440"/>
            <a:chOff x="124200" y="4039560"/>
            <a:chExt cx="8767800" cy="2701440"/>
          </a:xfrm>
        </p:grpSpPr>
        <p:sp>
          <p:nvSpPr>
            <p:cNvPr id="419" name="Elipse 46"/>
            <p:cNvSpPr/>
            <p:nvPr/>
          </p:nvSpPr>
          <p:spPr>
            <a:xfrm>
              <a:off x="1561680" y="40395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A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420" name="Elipse 47"/>
            <p:cNvSpPr/>
            <p:nvPr/>
          </p:nvSpPr>
          <p:spPr>
            <a:xfrm>
              <a:off x="124200" y="55893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D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421" name="Elipse 48"/>
            <p:cNvSpPr/>
            <p:nvPr/>
          </p:nvSpPr>
          <p:spPr>
            <a:xfrm>
              <a:off x="841680" y="479988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B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422" name="Elipse 49"/>
            <p:cNvSpPr/>
            <p:nvPr/>
          </p:nvSpPr>
          <p:spPr>
            <a:xfrm>
              <a:off x="2212560" y="63842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G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423" name="Elipse 50"/>
            <p:cNvSpPr/>
            <p:nvPr/>
          </p:nvSpPr>
          <p:spPr>
            <a:xfrm>
              <a:off x="1561680" y="55893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E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424" name="Elipse 51"/>
            <p:cNvSpPr/>
            <p:nvPr/>
          </p:nvSpPr>
          <p:spPr>
            <a:xfrm>
              <a:off x="1013040" y="63842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F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425" name="Conector reto 52"/>
            <p:cNvSpPr/>
            <p:nvPr/>
          </p:nvSpPr>
          <p:spPr>
            <a:xfrm flipV="1">
              <a:off x="1146240" y="4344480"/>
              <a:ext cx="467640" cy="5076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6" name="Conector reto 53"/>
            <p:cNvSpPr/>
            <p:nvPr/>
          </p:nvSpPr>
          <p:spPr>
            <a:xfrm flipV="1">
              <a:off x="429120" y="5104800"/>
              <a:ext cx="464760" cy="5364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7" name="Conector reto 54"/>
            <p:cNvSpPr/>
            <p:nvPr/>
          </p:nvSpPr>
          <p:spPr>
            <a:xfrm flipH="1" flipV="1">
              <a:off x="1866240" y="5893920"/>
              <a:ext cx="398520" cy="542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8" name="Conector reto 55"/>
            <p:cNvSpPr/>
            <p:nvPr/>
          </p:nvSpPr>
          <p:spPr>
            <a:xfrm flipH="1">
              <a:off x="1191600" y="5893920"/>
              <a:ext cx="422280" cy="4899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9" name="Conector reto 56"/>
            <p:cNvSpPr/>
            <p:nvPr/>
          </p:nvSpPr>
          <p:spPr>
            <a:xfrm>
              <a:off x="1146240" y="5104800"/>
              <a:ext cx="467640" cy="5364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0" name="Elipse 57"/>
            <p:cNvSpPr/>
            <p:nvPr/>
          </p:nvSpPr>
          <p:spPr>
            <a:xfrm>
              <a:off x="2342520" y="48225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C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431" name="Conector reto 58"/>
            <p:cNvSpPr/>
            <p:nvPr/>
          </p:nvSpPr>
          <p:spPr>
            <a:xfrm flipH="1" flipV="1">
              <a:off x="1866240" y="4344480"/>
              <a:ext cx="528480" cy="5299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2" name="CaixaDeTexto 59"/>
            <p:cNvSpPr/>
            <p:nvPr/>
          </p:nvSpPr>
          <p:spPr>
            <a:xfrm>
              <a:off x="3727080" y="4218120"/>
              <a:ext cx="3519000" cy="118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FILHO_ESQ(PAI) = 2 * PAI + 1</a:t>
              </a:r>
              <a:endParaRPr b="0" lang="pt-BR" sz="18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FILHO_DIR(PAI) = 2 * PAI + 2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433" name="CaixaDeTexto 60"/>
            <p:cNvSpPr/>
            <p:nvPr/>
          </p:nvSpPr>
          <p:spPr>
            <a:xfrm>
              <a:off x="4182840" y="6261840"/>
              <a:ext cx="11725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pt-BR" sz="1800" spc="-1" strike="noStrike">
                  <a:solidFill>
                    <a:srgbClr val="000000"/>
                  </a:solidFill>
                  <a:latin typeface="Tw Cen MT"/>
                </a:rPr>
                <a:t>FILHOS</a:t>
              </a:r>
              <a:endParaRPr b="0" lang="pt-BR" sz="1800" spc="-1" strike="noStrike">
                <a:latin typeface="Arial"/>
              </a:endParaRPr>
            </a:p>
          </p:txBody>
        </p:sp>
        <p:grpSp>
          <p:nvGrpSpPr>
            <p:cNvPr id="434" name="Grupo 61"/>
            <p:cNvGrpSpPr/>
            <p:nvPr/>
          </p:nvGrpSpPr>
          <p:grpSpPr>
            <a:xfrm>
              <a:off x="3243240" y="5004720"/>
              <a:ext cx="5648760" cy="761760"/>
              <a:chOff x="3243240" y="5004720"/>
              <a:chExt cx="5648760" cy="761760"/>
            </a:xfrm>
          </p:grpSpPr>
          <p:sp>
            <p:nvSpPr>
              <p:cNvPr id="435" name="Retângulo 62"/>
              <p:cNvSpPr/>
              <p:nvPr/>
            </p:nvSpPr>
            <p:spPr>
              <a:xfrm>
                <a:off x="3255480" y="5292720"/>
                <a:ext cx="467640" cy="467640"/>
              </a:xfrm>
              <a:prstGeom prst="rect">
                <a:avLst/>
              </a:prstGeom>
              <a:noFill/>
              <a:ln w="25400">
                <a:solidFill>
                  <a:srgbClr val="3a5f8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800" spc="-1" strike="noStrike">
                    <a:solidFill>
                      <a:srgbClr val="000000"/>
                    </a:solidFill>
                    <a:latin typeface="Arial"/>
                  </a:rPr>
                  <a:t>A</a:t>
                </a:r>
                <a:endParaRPr b="0" lang="pt-BR" sz="1800" spc="-1" strike="noStrike">
                  <a:latin typeface="Arial"/>
                </a:endParaRPr>
              </a:p>
            </p:txBody>
          </p:sp>
          <p:sp>
            <p:nvSpPr>
              <p:cNvPr id="436" name="CaixaDeTexto 63"/>
              <p:cNvSpPr/>
              <p:nvPr/>
            </p:nvSpPr>
            <p:spPr>
              <a:xfrm>
                <a:off x="3243240" y="5004720"/>
                <a:ext cx="46764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800" spc="-1" strike="noStrike">
                    <a:solidFill>
                      <a:srgbClr val="000000"/>
                    </a:solidFill>
                    <a:latin typeface="Tw Cen MT"/>
                  </a:rPr>
                  <a:t>0</a:t>
                </a:r>
                <a:endParaRPr b="0" lang="pt-BR" sz="1800" spc="-1" strike="noStrike">
                  <a:latin typeface="Arial"/>
                </a:endParaRPr>
              </a:p>
            </p:txBody>
          </p:sp>
          <p:sp>
            <p:nvSpPr>
              <p:cNvPr id="437" name="Retângulo 64"/>
              <p:cNvSpPr/>
              <p:nvPr/>
            </p:nvSpPr>
            <p:spPr>
              <a:xfrm>
                <a:off x="3727800" y="5292720"/>
                <a:ext cx="467640" cy="467640"/>
              </a:xfrm>
              <a:prstGeom prst="rect">
                <a:avLst/>
              </a:prstGeom>
              <a:noFill/>
              <a:ln w="25400">
                <a:solidFill>
                  <a:srgbClr val="3a5f8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n-US" sz="1800" spc="-1" strike="noStrike">
                    <a:solidFill>
                      <a:srgbClr val="000000"/>
                    </a:solidFill>
                    <a:latin typeface="Arial"/>
                  </a:rPr>
                  <a:t>B</a:t>
                </a:r>
                <a:endParaRPr b="0" lang="pt-BR" sz="1800" spc="-1" strike="noStrike">
                  <a:latin typeface="Arial"/>
                </a:endParaRPr>
              </a:p>
            </p:txBody>
          </p:sp>
          <p:sp>
            <p:nvSpPr>
              <p:cNvPr id="438" name="CaixaDeTexto 65"/>
              <p:cNvSpPr/>
              <p:nvPr/>
            </p:nvSpPr>
            <p:spPr>
              <a:xfrm>
                <a:off x="3715920" y="5004720"/>
                <a:ext cx="46764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800" spc="-1" strike="noStrike">
                    <a:solidFill>
                      <a:srgbClr val="000000"/>
                    </a:solidFill>
                    <a:latin typeface="Tw Cen MT"/>
                  </a:rPr>
                  <a:t>1</a:t>
                </a:r>
                <a:endParaRPr b="0" lang="pt-BR" sz="1800" spc="-1" strike="noStrike">
                  <a:latin typeface="Arial"/>
                </a:endParaRPr>
              </a:p>
            </p:txBody>
          </p:sp>
          <p:sp>
            <p:nvSpPr>
              <p:cNvPr id="439" name="Retângulo 66"/>
              <p:cNvSpPr/>
              <p:nvPr/>
            </p:nvSpPr>
            <p:spPr>
              <a:xfrm>
                <a:off x="4195080" y="5292720"/>
                <a:ext cx="467640" cy="467640"/>
              </a:xfrm>
              <a:prstGeom prst="rect">
                <a:avLst/>
              </a:prstGeom>
              <a:noFill/>
              <a:ln w="25400">
                <a:solidFill>
                  <a:srgbClr val="3a5f8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800" spc="-1" strike="noStrike">
                    <a:solidFill>
                      <a:srgbClr val="000000"/>
                    </a:solidFill>
                    <a:latin typeface="Arial"/>
                  </a:rPr>
                  <a:t>C</a:t>
                </a:r>
                <a:endParaRPr b="0" lang="pt-BR" sz="1800" spc="-1" strike="noStrike">
                  <a:latin typeface="Arial"/>
                </a:endParaRPr>
              </a:p>
            </p:txBody>
          </p:sp>
          <p:sp>
            <p:nvSpPr>
              <p:cNvPr id="440" name="CaixaDeTexto 67"/>
              <p:cNvSpPr/>
              <p:nvPr/>
            </p:nvSpPr>
            <p:spPr>
              <a:xfrm>
                <a:off x="4182840" y="5004720"/>
                <a:ext cx="46764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800" spc="-1" strike="noStrike">
                    <a:solidFill>
                      <a:srgbClr val="000000"/>
                    </a:solidFill>
                    <a:latin typeface="Tw Cen MT"/>
                  </a:rPr>
                  <a:t>2</a:t>
                </a:r>
                <a:endParaRPr b="0" lang="pt-BR" sz="1800" spc="-1" strike="noStrike">
                  <a:latin typeface="Arial"/>
                </a:endParaRPr>
              </a:p>
            </p:txBody>
          </p:sp>
          <p:sp>
            <p:nvSpPr>
              <p:cNvPr id="441" name="Retângulo 68"/>
              <p:cNvSpPr/>
              <p:nvPr/>
            </p:nvSpPr>
            <p:spPr>
              <a:xfrm>
                <a:off x="4667400" y="5292720"/>
                <a:ext cx="467640" cy="467640"/>
              </a:xfrm>
              <a:prstGeom prst="rect">
                <a:avLst/>
              </a:prstGeom>
              <a:noFill/>
              <a:ln w="25400">
                <a:solidFill>
                  <a:srgbClr val="3a5f8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n-US" sz="1800" spc="-1" strike="noStrike">
                    <a:solidFill>
                      <a:srgbClr val="000000"/>
                    </a:solidFill>
                    <a:latin typeface="Arial"/>
                  </a:rPr>
                  <a:t>D</a:t>
                </a:r>
                <a:endParaRPr b="0" lang="pt-BR" sz="1800" spc="-1" strike="noStrike">
                  <a:latin typeface="Arial"/>
                </a:endParaRPr>
              </a:p>
            </p:txBody>
          </p:sp>
          <p:sp>
            <p:nvSpPr>
              <p:cNvPr id="442" name="CaixaDeTexto 69"/>
              <p:cNvSpPr/>
              <p:nvPr/>
            </p:nvSpPr>
            <p:spPr>
              <a:xfrm>
                <a:off x="4655520" y="5004720"/>
                <a:ext cx="46764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800" spc="-1" strike="noStrike">
                    <a:solidFill>
                      <a:srgbClr val="000000"/>
                    </a:solidFill>
                    <a:latin typeface="Tw Cen MT"/>
                  </a:rPr>
                  <a:t>3</a:t>
                </a:r>
                <a:endParaRPr b="0" lang="pt-BR" sz="1800" spc="-1" strike="noStrike">
                  <a:latin typeface="Arial"/>
                </a:endParaRPr>
              </a:p>
            </p:txBody>
          </p:sp>
          <p:sp>
            <p:nvSpPr>
              <p:cNvPr id="443" name="Retângulo 70"/>
              <p:cNvSpPr/>
              <p:nvPr/>
            </p:nvSpPr>
            <p:spPr>
              <a:xfrm>
                <a:off x="5133960" y="5292720"/>
                <a:ext cx="467640" cy="467640"/>
              </a:xfrm>
              <a:prstGeom prst="rect">
                <a:avLst/>
              </a:prstGeom>
              <a:noFill/>
              <a:ln w="25400">
                <a:solidFill>
                  <a:srgbClr val="3a5f8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n-US" sz="1800" spc="-1" strike="noStrike">
                    <a:solidFill>
                      <a:srgbClr val="000000"/>
                    </a:solidFill>
                    <a:latin typeface="Arial"/>
                  </a:rPr>
                  <a:t>E</a:t>
                </a:r>
                <a:endParaRPr b="0" lang="pt-BR" sz="1800" spc="-1" strike="noStrike">
                  <a:latin typeface="Arial"/>
                </a:endParaRPr>
              </a:p>
            </p:txBody>
          </p:sp>
          <p:sp>
            <p:nvSpPr>
              <p:cNvPr id="444" name="CaixaDeTexto 71"/>
              <p:cNvSpPr/>
              <p:nvPr/>
            </p:nvSpPr>
            <p:spPr>
              <a:xfrm>
                <a:off x="5122080" y="5004720"/>
                <a:ext cx="46764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800" spc="-1" strike="noStrike">
                    <a:solidFill>
                      <a:srgbClr val="000000"/>
                    </a:solidFill>
                    <a:latin typeface="Tw Cen MT"/>
                  </a:rPr>
                  <a:t>4</a:t>
                </a:r>
                <a:endParaRPr b="0" lang="pt-BR" sz="1800" spc="-1" strike="noStrike">
                  <a:latin typeface="Arial"/>
                </a:endParaRPr>
              </a:p>
            </p:txBody>
          </p:sp>
          <p:sp>
            <p:nvSpPr>
              <p:cNvPr id="445" name="Retângulo 72"/>
              <p:cNvSpPr/>
              <p:nvPr/>
            </p:nvSpPr>
            <p:spPr>
              <a:xfrm>
                <a:off x="5606280" y="5292720"/>
                <a:ext cx="467640" cy="467640"/>
              </a:xfrm>
              <a:prstGeom prst="rect">
                <a:avLst/>
              </a:prstGeom>
              <a:noFill/>
              <a:ln w="25400">
                <a:solidFill>
                  <a:srgbClr val="3a5f8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46" name="CaixaDeTexto 73"/>
              <p:cNvSpPr/>
              <p:nvPr/>
            </p:nvSpPr>
            <p:spPr>
              <a:xfrm>
                <a:off x="5594400" y="5004720"/>
                <a:ext cx="46764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800" spc="-1" strike="noStrike">
                    <a:solidFill>
                      <a:srgbClr val="000000"/>
                    </a:solidFill>
                    <a:latin typeface="Tw Cen MT"/>
                  </a:rPr>
                  <a:t>5</a:t>
                </a:r>
                <a:endParaRPr b="0" lang="pt-BR" sz="1800" spc="-1" strike="noStrike">
                  <a:latin typeface="Arial"/>
                </a:endParaRPr>
              </a:p>
            </p:txBody>
          </p:sp>
          <p:sp>
            <p:nvSpPr>
              <p:cNvPr id="447" name="Retângulo 74"/>
              <p:cNvSpPr/>
              <p:nvPr/>
            </p:nvSpPr>
            <p:spPr>
              <a:xfrm>
                <a:off x="6073560" y="5292720"/>
                <a:ext cx="467640" cy="467640"/>
              </a:xfrm>
              <a:prstGeom prst="rect">
                <a:avLst/>
              </a:prstGeom>
              <a:noFill/>
              <a:ln w="25400">
                <a:solidFill>
                  <a:srgbClr val="3a5f8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48" name="CaixaDeTexto 75"/>
              <p:cNvSpPr/>
              <p:nvPr/>
            </p:nvSpPr>
            <p:spPr>
              <a:xfrm>
                <a:off x="6061680" y="5004720"/>
                <a:ext cx="46764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800" spc="-1" strike="noStrike">
                    <a:solidFill>
                      <a:srgbClr val="000000"/>
                    </a:solidFill>
                    <a:latin typeface="Tw Cen MT"/>
                  </a:rPr>
                  <a:t>6</a:t>
                </a:r>
                <a:endParaRPr b="0" lang="pt-BR" sz="1800" spc="-1" strike="noStrike">
                  <a:latin typeface="Arial"/>
                </a:endParaRPr>
              </a:p>
            </p:txBody>
          </p:sp>
          <p:sp>
            <p:nvSpPr>
              <p:cNvPr id="449" name="Retângulo 76"/>
              <p:cNvSpPr/>
              <p:nvPr/>
            </p:nvSpPr>
            <p:spPr>
              <a:xfrm>
                <a:off x="6545880" y="5292720"/>
                <a:ext cx="467640" cy="467640"/>
              </a:xfrm>
              <a:prstGeom prst="rect">
                <a:avLst/>
              </a:prstGeom>
              <a:noFill/>
              <a:ln w="25400">
                <a:solidFill>
                  <a:srgbClr val="3a5f8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0" name="CaixaDeTexto 77"/>
              <p:cNvSpPr/>
              <p:nvPr/>
            </p:nvSpPr>
            <p:spPr>
              <a:xfrm>
                <a:off x="6534000" y="5004720"/>
                <a:ext cx="46764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800" spc="-1" strike="noStrike">
                    <a:solidFill>
                      <a:srgbClr val="000000"/>
                    </a:solidFill>
                    <a:latin typeface="Tw Cen MT"/>
                  </a:rPr>
                  <a:t>7</a:t>
                </a:r>
                <a:endParaRPr b="0" lang="pt-BR" sz="1800" spc="-1" strike="noStrike">
                  <a:latin typeface="Arial"/>
                </a:endParaRPr>
              </a:p>
            </p:txBody>
          </p:sp>
          <p:sp>
            <p:nvSpPr>
              <p:cNvPr id="451" name="Retângulo 78"/>
              <p:cNvSpPr/>
              <p:nvPr/>
            </p:nvSpPr>
            <p:spPr>
              <a:xfrm>
                <a:off x="7012440" y="5292720"/>
                <a:ext cx="467640" cy="467640"/>
              </a:xfrm>
              <a:prstGeom prst="rect">
                <a:avLst/>
              </a:prstGeom>
              <a:noFill/>
              <a:ln w="25400">
                <a:solidFill>
                  <a:srgbClr val="3a5f8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2" name="CaixaDeTexto 79"/>
              <p:cNvSpPr/>
              <p:nvPr/>
            </p:nvSpPr>
            <p:spPr>
              <a:xfrm>
                <a:off x="7000560" y="5004720"/>
                <a:ext cx="46764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800" spc="-1" strike="noStrike">
                    <a:solidFill>
                      <a:srgbClr val="000000"/>
                    </a:solidFill>
                    <a:latin typeface="Tw Cen MT"/>
                  </a:rPr>
                  <a:t>8</a:t>
                </a:r>
                <a:endParaRPr b="0" lang="pt-BR" sz="1800" spc="-1" strike="noStrike">
                  <a:latin typeface="Arial"/>
                </a:endParaRPr>
              </a:p>
            </p:txBody>
          </p:sp>
          <p:sp>
            <p:nvSpPr>
              <p:cNvPr id="453" name="Retângulo 80"/>
              <p:cNvSpPr/>
              <p:nvPr/>
            </p:nvSpPr>
            <p:spPr>
              <a:xfrm>
                <a:off x="7484760" y="5292720"/>
                <a:ext cx="467640" cy="467640"/>
              </a:xfrm>
              <a:prstGeom prst="rect">
                <a:avLst/>
              </a:prstGeom>
              <a:noFill/>
              <a:ln w="25400">
                <a:solidFill>
                  <a:srgbClr val="3a5f8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n-US" sz="1800" spc="-1" strike="noStrike">
                    <a:solidFill>
                      <a:srgbClr val="000000"/>
                    </a:solidFill>
                    <a:latin typeface="Arial"/>
                  </a:rPr>
                  <a:t>F</a:t>
                </a:r>
                <a:endParaRPr b="0" lang="pt-BR" sz="1800" spc="-1" strike="noStrike">
                  <a:latin typeface="Arial"/>
                </a:endParaRPr>
              </a:p>
            </p:txBody>
          </p:sp>
          <p:sp>
            <p:nvSpPr>
              <p:cNvPr id="454" name="CaixaDeTexto 81"/>
              <p:cNvSpPr/>
              <p:nvPr/>
            </p:nvSpPr>
            <p:spPr>
              <a:xfrm>
                <a:off x="7472880" y="5004720"/>
                <a:ext cx="46764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800" spc="-1" strike="noStrike">
                    <a:solidFill>
                      <a:srgbClr val="000000"/>
                    </a:solidFill>
                    <a:latin typeface="Tw Cen MT"/>
                  </a:rPr>
                  <a:t>9</a:t>
                </a:r>
                <a:endParaRPr b="0" lang="pt-BR" sz="1800" spc="-1" strike="noStrike">
                  <a:latin typeface="Arial"/>
                </a:endParaRPr>
              </a:p>
            </p:txBody>
          </p:sp>
          <p:sp>
            <p:nvSpPr>
              <p:cNvPr id="455" name="Retângulo 82"/>
              <p:cNvSpPr/>
              <p:nvPr/>
            </p:nvSpPr>
            <p:spPr>
              <a:xfrm>
                <a:off x="7952040" y="5292720"/>
                <a:ext cx="467640" cy="467640"/>
              </a:xfrm>
              <a:prstGeom prst="rect">
                <a:avLst/>
              </a:prstGeom>
              <a:noFill/>
              <a:ln w="25400">
                <a:solidFill>
                  <a:srgbClr val="3a5f8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n-US" sz="1800" spc="-1" strike="noStrike">
                    <a:solidFill>
                      <a:srgbClr val="000000"/>
                    </a:solidFill>
                    <a:latin typeface="Arial"/>
                  </a:rPr>
                  <a:t>G</a:t>
                </a:r>
                <a:endParaRPr b="0" lang="pt-BR" sz="1800" spc="-1" strike="noStrike">
                  <a:latin typeface="Arial"/>
                </a:endParaRPr>
              </a:p>
            </p:txBody>
          </p:sp>
          <p:sp>
            <p:nvSpPr>
              <p:cNvPr id="456" name="CaixaDeTexto 83"/>
              <p:cNvSpPr/>
              <p:nvPr/>
            </p:nvSpPr>
            <p:spPr>
              <a:xfrm>
                <a:off x="7940160" y="5004720"/>
                <a:ext cx="467640" cy="63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800" spc="-1" strike="noStrike">
                    <a:solidFill>
                      <a:srgbClr val="000000"/>
                    </a:solidFill>
                    <a:latin typeface="Tw Cen MT"/>
                  </a:rPr>
                  <a:t>10</a:t>
                </a:r>
                <a:endParaRPr b="0" lang="pt-BR" sz="1800" spc="-1" strike="noStrike">
                  <a:latin typeface="Arial"/>
                </a:endParaRPr>
              </a:p>
            </p:txBody>
          </p:sp>
          <p:sp>
            <p:nvSpPr>
              <p:cNvPr id="457" name="Retângulo 84"/>
              <p:cNvSpPr/>
              <p:nvPr/>
            </p:nvSpPr>
            <p:spPr>
              <a:xfrm>
                <a:off x="8424360" y="5292720"/>
                <a:ext cx="467640" cy="467640"/>
              </a:xfrm>
              <a:prstGeom prst="rect">
                <a:avLst/>
              </a:prstGeom>
              <a:noFill/>
              <a:ln w="25400">
                <a:solidFill>
                  <a:srgbClr val="3a5f8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8" name="CaixaDeTexto 85"/>
              <p:cNvSpPr/>
              <p:nvPr/>
            </p:nvSpPr>
            <p:spPr>
              <a:xfrm>
                <a:off x="8412480" y="5004720"/>
                <a:ext cx="467640" cy="63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pt-BR" sz="1800" spc="-1" strike="noStrike">
                    <a:solidFill>
                      <a:srgbClr val="000000"/>
                    </a:solidFill>
                    <a:latin typeface="Tw Cen MT"/>
                  </a:rPr>
                  <a:t>11</a:t>
                </a:r>
                <a:endParaRPr b="0" lang="pt-BR" sz="1800" spc="-1" strike="noStrike">
                  <a:latin typeface="Arial"/>
                </a:endParaRPr>
              </a:p>
            </p:txBody>
          </p:sp>
          <p:sp>
            <p:nvSpPr>
              <p:cNvPr id="459" name="Conector em curva 86"/>
              <p:cNvSpPr/>
              <p:nvPr/>
            </p:nvSpPr>
            <p:spPr>
              <a:xfrm flipH="1" rot="16200000">
                <a:off x="4431240" y="5290560"/>
                <a:ext cx="12240" cy="939240"/>
              </a:xfrm>
              <a:prstGeom prst="curvedConnector3">
                <a:avLst>
                  <a:gd name="adj1" fmla="val 1800000"/>
                </a:avLst>
              </a:prstGeom>
              <a:noFill/>
              <a:ln w="28575">
                <a:solidFill>
                  <a:srgbClr val="ff0000"/>
                </a:solidFill>
                <a:prstDash val="sysDash"/>
                <a:round/>
                <a:tailEnd len="lg" type="triangle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0" name="Conector em curva 87"/>
              <p:cNvSpPr/>
              <p:nvPr/>
            </p:nvSpPr>
            <p:spPr>
              <a:xfrm flipH="1" rot="16200000">
                <a:off x="4664160" y="5057280"/>
                <a:ext cx="12240" cy="1405800"/>
              </a:xfrm>
              <a:prstGeom prst="curvedConnector3">
                <a:avLst>
                  <a:gd name="adj1" fmla="val 3750000"/>
                </a:avLst>
              </a:prstGeom>
              <a:noFill/>
              <a:ln w="28575">
                <a:solidFill>
                  <a:srgbClr val="ff0000"/>
                </a:solidFill>
                <a:prstDash val="sysDash"/>
                <a:round/>
                <a:tailEnd len="lg" type="triangle" w="lg"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64A412-1FCF-4B9E-8AF2-41723CCC3D87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Tipo de representação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62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Lista encadeada (alocação dinâmica)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Espaço de memória alocado em tempo de execução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A árvore cresce à medida que novos elementos são armazenados, e diminui à medida que elementos são removidos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463" name="Grupo 4"/>
          <p:cNvGrpSpPr/>
          <p:nvPr/>
        </p:nvGrpSpPr>
        <p:grpSpPr>
          <a:xfrm>
            <a:off x="412560" y="3851640"/>
            <a:ext cx="8595000" cy="3028320"/>
            <a:chOff x="412560" y="3851640"/>
            <a:chExt cx="8595000" cy="3028320"/>
          </a:xfrm>
        </p:grpSpPr>
        <p:sp>
          <p:nvSpPr>
            <p:cNvPr id="464" name="Elipse 31"/>
            <p:cNvSpPr/>
            <p:nvPr/>
          </p:nvSpPr>
          <p:spPr>
            <a:xfrm>
              <a:off x="1849680" y="415188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A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465" name="Elipse 32"/>
            <p:cNvSpPr/>
            <p:nvPr/>
          </p:nvSpPr>
          <p:spPr>
            <a:xfrm>
              <a:off x="412560" y="562680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D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466" name="Elipse 33"/>
            <p:cNvSpPr/>
            <p:nvPr/>
          </p:nvSpPr>
          <p:spPr>
            <a:xfrm>
              <a:off x="1129680" y="487188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B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467" name="Elipse 34"/>
            <p:cNvSpPr/>
            <p:nvPr/>
          </p:nvSpPr>
          <p:spPr>
            <a:xfrm>
              <a:off x="2500560" y="642168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G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468" name="Elipse 35"/>
            <p:cNvSpPr/>
            <p:nvPr/>
          </p:nvSpPr>
          <p:spPr>
            <a:xfrm>
              <a:off x="1849680" y="56642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E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469" name="Elipse 36"/>
            <p:cNvSpPr/>
            <p:nvPr/>
          </p:nvSpPr>
          <p:spPr>
            <a:xfrm>
              <a:off x="1301040" y="642168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F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470" name="Conector reto 37"/>
            <p:cNvSpPr/>
            <p:nvPr/>
          </p:nvSpPr>
          <p:spPr>
            <a:xfrm flipV="1">
              <a:off x="1434240" y="4456800"/>
              <a:ext cx="467640" cy="46728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1" name="Conector reto 38"/>
            <p:cNvSpPr/>
            <p:nvPr/>
          </p:nvSpPr>
          <p:spPr>
            <a:xfrm flipV="1">
              <a:off x="717120" y="5176800"/>
              <a:ext cx="464760" cy="5018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2" name="Conector reto 39"/>
            <p:cNvSpPr/>
            <p:nvPr/>
          </p:nvSpPr>
          <p:spPr>
            <a:xfrm flipH="1" flipV="1">
              <a:off x="2154240" y="5968800"/>
              <a:ext cx="398520" cy="50508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3" name="Conector reto 40"/>
            <p:cNvSpPr/>
            <p:nvPr/>
          </p:nvSpPr>
          <p:spPr>
            <a:xfrm flipH="1">
              <a:off x="1479600" y="5968800"/>
              <a:ext cx="422280" cy="452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4" name="Conector reto 41"/>
            <p:cNvSpPr/>
            <p:nvPr/>
          </p:nvSpPr>
          <p:spPr>
            <a:xfrm>
              <a:off x="1434240" y="5176800"/>
              <a:ext cx="467640" cy="53928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5" name="Elipse 42"/>
            <p:cNvSpPr/>
            <p:nvPr/>
          </p:nvSpPr>
          <p:spPr>
            <a:xfrm>
              <a:off x="2630520" y="486000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C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476" name="Conector reto 43"/>
            <p:cNvSpPr/>
            <p:nvPr/>
          </p:nvSpPr>
          <p:spPr>
            <a:xfrm flipH="1" flipV="1">
              <a:off x="2154240" y="4456800"/>
              <a:ext cx="528480" cy="4550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7" name="Retângulo 44"/>
            <p:cNvSpPr/>
            <p:nvPr/>
          </p:nvSpPr>
          <p:spPr>
            <a:xfrm>
              <a:off x="5905440" y="4221000"/>
              <a:ext cx="755640" cy="71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dado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478" name="Retângulo 45"/>
            <p:cNvSpPr/>
            <p:nvPr/>
          </p:nvSpPr>
          <p:spPr>
            <a:xfrm>
              <a:off x="6660360" y="4221000"/>
              <a:ext cx="755640" cy="71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*dir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479" name="Retângulo 46"/>
            <p:cNvSpPr/>
            <p:nvPr/>
          </p:nvSpPr>
          <p:spPr>
            <a:xfrm>
              <a:off x="5148000" y="4221000"/>
              <a:ext cx="755640" cy="71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*esq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480" name="Retângulo 47"/>
            <p:cNvSpPr/>
            <p:nvPr/>
          </p:nvSpPr>
          <p:spPr>
            <a:xfrm>
              <a:off x="4518000" y="5805360"/>
              <a:ext cx="755640" cy="71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dado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481" name="Retângulo 48"/>
            <p:cNvSpPr/>
            <p:nvPr/>
          </p:nvSpPr>
          <p:spPr>
            <a:xfrm>
              <a:off x="5272920" y="5805360"/>
              <a:ext cx="755640" cy="71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*dir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482" name="Retângulo 49"/>
            <p:cNvSpPr/>
            <p:nvPr/>
          </p:nvSpPr>
          <p:spPr>
            <a:xfrm>
              <a:off x="3760920" y="5805360"/>
              <a:ext cx="755640" cy="71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*esq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483" name="Retângulo 50"/>
            <p:cNvSpPr/>
            <p:nvPr/>
          </p:nvSpPr>
          <p:spPr>
            <a:xfrm>
              <a:off x="7309440" y="5796720"/>
              <a:ext cx="755640" cy="71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dado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484" name="Retângulo 51"/>
            <p:cNvSpPr/>
            <p:nvPr/>
          </p:nvSpPr>
          <p:spPr>
            <a:xfrm>
              <a:off x="8064360" y="5796720"/>
              <a:ext cx="755640" cy="71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*dir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485" name="Retângulo 52"/>
            <p:cNvSpPr/>
            <p:nvPr/>
          </p:nvSpPr>
          <p:spPr>
            <a:xfrm>
              <a:off x="6552360" y="5796720"/>
              <a:ext cx="755640" cy="71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*esq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486" name="CaixaDeTexto 53"/>
            <p:cNvSpPr/>
            <p:nvPr/>
          </p:nvSpPr>
          <p:spPr>
            <a:xfrm>
              <a:off x="4965480" y="3851640"/>
              <a:ext cx="26352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A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487" name="CaixaDeTexto 54"/>
            <p:cNvSpPr/>
            <p:nvPr/>
          </p:nvSpPr>
          <p:spPr>
            <a:xfrm>
              <a:off x="3564000" y="6516000"/>
              <a:ext cx="26352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B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488" name="CaixaDeTexto 55"/>
            <p:cNvSpPr/>
            <p:nvPr/>
          </p:nvSpPr>
          <p:spPr>
            <a:xfrm>
              <a:off x="6372360" y="6511320"/>
              <a:ext cx="26352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C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489" name="Conector reto 56"/>
            <p:cNvSpPr/>
            <p:nvPr/>
          </p:nvSpPr>
          <p:spPr>
            <a:xfrm flipV="1">
              <a:off x="4896000" y="4941000"/>
              <a:ext cx="630000" cy="8640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0" name="Conector reto 57"/>
            <p:cNvSpPr/>
            <p:nvPr/>
          </p:nvSpPr>
          <p:spPr>
            <a:xfrm flipH="1" flipV="1">
              <a:off x="7038000" y="4941000"/>
              <a:ext cx="649440" cy="8553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7E2644-F53B-4B07-B548-DA54ABEE6E48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TAD 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92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Definição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Uso de alocação dinâmica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Para guardar o primeiro nó da árvore utilizamos um </a:t>
            </a:r>
            <a:r>
              <a:rPr b="1" lang="pt-BR" sz="2300" spc="-1" strike="noStrike">
                <a:solidFill>
                  <a:srgbClr val="000000"/>
                </a:solidFill>
                <a:latin typeface="Tw Cen MT"/>
              </a:rPr>
              <a:t>ponteiro para ponteiro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Um </a:t>
            </a:r>
            <a:r>
              <a:rPr b="1" lang="pt-BR" sz="2300" spc="-1" strike="noStrike">
                <a:solidFill>
                  <a:srgbClr val="000000"/>
                </a:solidFill>
                <a:latin typeface="Tw Cen MT"/>
              </a:rPr>
              <a:t>ponteiro para ponteiro</a:t>
            </a: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 pode guardar o endereço de um </a:t>
            </a:r>
            <a:r>
              <a:rPr b="1" lang="pt-BR" sz="2300" spc="-1" strike="noStrike">
                <a:solidFill>
                  <a:srgbClr val="000000"/>
                </a:solidFill>
                <a:latin typeface="Tw Cen MT"/>
              </a:rPr>
              <a:t>ponteiro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Assim, fica fácil mudar quem é a </a:t>
            </a:r>
            <a:r>
              <a:rPr b="1" lang="pt-BR" sz="2300" spc="-1" strike="noStrike">
                <a:solidFill>
                  <a:srgbClr val="000000"/>
                </a:solidFill>
                <a:latin typeface="Tw Cen MT"/>
              </a:rPr>
              <a:t>raiz</a:t>
            </a: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 da árvore (se necessário)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468FD2-0242-41C8-91A9-2932A6DDE2F2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TAD 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Definição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495" name="Grupo 28"/>
          <p:cNvGrpSpPr/>
          <p:nvPr/>
        </p:nvGrpSpPr>
        <p:grpSpPr>
          <a:xfrm>
            <a:off x="1814040" y="2205000"/>
            <a:ext cx="5515560" cy="4464000"/>
            <a:chOff x="1814040" y="2205000"/>
            <a:chExt cx="5515560" cy="4464000"/>
          </a:xfrm>
        </p:grpSpPr>
        <p:sp>
          <p:nvSpPr>
            <p:cNvPr id="496" name="Retângulo 6"/>
            <p:cNvSpPr/>
            <p:nvPr/>
          </p:nvSpPr>
          <p:spPr>
            <a:xfrm>
              <a:off x="5634000" y="3150360"/>
              <a:ext cx="755640" cy="71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dado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497" name="Retângulo 7"/>
            <p:cNvSpPr/>
            <p:nvPr/>
          </p:nvSpPr>
          <p:spPr>
            <a:xfrm>
              <a:off x="6388920" y="3150360"/>
              <a:ext cx="755640" cy="71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*dir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498" name="Retângulo 8"/>
            <p:cNvSpPr/>
            <p:nvPr/>
          </p:nvSpPr>
          <p:spPr>
            <a:xfrm>
              <a:off x="4876920" y="3150360"/>
              <a:ext cx="755640" cy="71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*esq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499" name="CaixaDeTexto 9"/>
            <p:cNvSpPr/>
            <p:nvPr/>
          </p:nvSpPr>
          <p:spPr>
            <a:xfrm>
              <a:off x="4694400" y="2781000"/>
              <a:ext cx="26352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NO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500" name="Elipse 10"/>
            <p:cNvSpPr/>
            <p:nvPr/>
          </p:nvSpPr>
          <p:spPr>
            <a:xfrm>
              <a:off x="3340440" y="37515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1" name="Elipse 11"/>
            <p:cNvSpPr/>
            <p:nvPr/>
          </p:nvSpPr>
          <p:spPr>
            <a:xfrm>
              <a:off x="1902960" y="53013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2" name="Elipse 12"/>
            <p:cNvSpPr/>
            <p:nvPr/>
          </p:nvSpPr>
          <p:spPr>
            <a:xfrm>
              <a:off x="2620080" y="451188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3" name="Elipse 13"/>
            <p:cNvSpPr/>
            <p:nvPr/>
          </p:nvSpPr>
          <p:spPr>
            <a:xfrm>
              <a:off x="3991320" y="60962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4" name="Elipse 14"/>
            <p:cNvSpPr/>
            <p:nvPr/>
          </p:nvSpPr>
          <p:spPr>
            <a:xfrm>
              <a:off x="3340440" y="53013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5" name="Elipse 15"/>
            <p:cNvSpPr/>
            <p:nvPr/>
          </p:nvSpPr>
          <p:spPr>
            <a:xfrm>
              <a:off x="2791800" y="60962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6" name="Conector reto 16"/>
            <p:cNvSpPr/>
            <p:nvPr/>
          </p:nvSpPr>
          <p:spPr>
            <a:xfrm flipV="1">
              <a:off x="2925000" y="4056480"/>
              <a:ext cx="467280" cy="5076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7" name="Conector reto 17"/>
            <p:cNvSpPr/>
            <p:nvPr/>
          </p:nvSpPr>
          <p:spPr>
            <a:xfrm flipV="1">
              <a:off x="2207520" y="4816800"/>
              <a:ext cx="464760" cy="5364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8" name="Conector reto 18"/>
            <p:cNvSpPr/>
            <p:nvPr/>
          </p:nvSpPr>
          <p:spPr>
            <a:xfrm flipH="1" flipV="1">
              <a:off x="3645000" y="5605920"/>
              <a:ext cx="398160" cy="542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9" name="Conector reto 19"/>
            <p:cNvSpPr/>
            <p:nvPr/>
          </p:nvSpPr>
          <p:spPr>
            <a:xfrm flipH="1">
              <a:off x="2970360" y="5605920"/>
              <a:ext cx="421920" cy="4899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tail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0" name="Conector reto 20"/>
            <p:cNvSpPr/>
            <p:nvPr/>
          </p:nvSpPr>
          <p:spPr>
            <a:xfrm>
              <a:off x="2925000" y="4816800"/>
              <a:ext cx="467280" cy="5364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tail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1" name="Elipse 21"/>
            <p:cNvSpPr/>
            <p:nvPr/>
          </p:nvSpPr>
          <p:spPr>
            <a:xfrm>
              <a:off x="4121280" y="45345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2" name="Conector reto 22"/>
            <p:cNvSpPr/>
            <p:nvPr/>
          </p:nvSpPr>
          <p:spPr>
            <a:xfrm flipH="1" flipV="1">
              <a:off x="3645000" y="4056480"/>
              <a:ext cx="528480" cy="5299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3" name="Retângulo 23"/>
            <p:cNvSpPr/>
            <p:nvPr/>
          </p:nvSpPr>
          <p:spPr>
            <a:xfrm>
              <a:off x="3141000" y="2925000"/>
              <a:ext cx="755640" cy="35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raiz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514" name="Conector reto 24"/>
            <p:cNvSpPr/>
            <p:nvPr/>
          </p:nvSpPr>
          <p:spPr>
            <a:xfrm flipV="1">
              <a:off x="3518640" y="3284640"/>
              <a:ext cx="360" cy="4669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5" name="Retângulo 25"/>
            <p:cNvSpPr/>
            <p:nvPr/>
          </p:nvSpPr>
          <p:spPr>
            <a:xfrm>
              <a:off x="1814040" y="2637000"/>
              <a:ext cx="5515560" cy="4032000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6" name="CaixaDeTexto 26"/>
            <p:cNvSpPr/>
            <p:nvPr/>
          </p:nvSpPr>
          <p:spPr>
            <a:xfrm>
              <a:off x="1885680" y="2205000"/>
              <a:ext cx="22352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pt-BR" sz="2000" spc="-1" strike="noStrike">
                  <a:solidFill>
                    <a:srgbClr val="000000"/>
                  </a:solidFill>
                  <a:latin typeface="Courier New"/>
                </a:rPr>
                <a:t>ArvBin* raiz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517" name="CaixaDeTexto 27"/>
            <p:cNvSpPr/>
            <p:nvPr/>
          </p:nvSpPr>
          <p:spPr>
            <a:xfrm>
              <a:off x="3110400" y="4211640"/>
              <a:ext cx="26352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NO</a:t>
              </a:r>
              <a:endParaRPr b="0" lang="pt-BR" sz="1800" spc="-1" strike="noStrike"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79D935-3FC3-44BF-87D1-80614F5E7D1D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TAD 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Definição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pic>
        <p:nvPicPr>
          <p:cNvPr id="520" name="Picture 5" descr=""/>
          <p:cNvPicPr/>
          <p:nvPr/>
        </p:nvPicPr>
        <p:blipFill>
          <a:blip r:embed="rId1"/>
          <a:srcRect l="7692" t="0" r="0" b="37669"/>
          <a:stretch/>
        </p:blipFill>
        <p:spPr>
          <a:xfrm>
            <a:off x="728280" y="2133000"/>
            <a:ext cx="5859720" cy="2882880"/>
          </a:xfrm>
          <a:prstGeom prst="rect">
            <a:avLst/>
          </a:prstGeom>
          <a:ln w="0">
            <a:noFill/>
          </a:ln>
        </p:spPr>
      </p:pic>
      <p:pic>
        <p:nvPicPr>
          <p:cNvPr id="521" name="Picture 2" descr="D:\Andre\Pesquisa\Publicações\Livros\Livro Estutura de Dados em C\latex\Figuras\arvore_binaria_04.png"/>
          <p:cNvPicPr/>
          <p:nvPr/>
        </p:nvPicPr>
        <p:blipFill>
          <a:blip r:embed="rId2"/>
          <a:srcRect l="20452" t="0" r="16818" b="0"/>
          <a:stretch/>
        </p:blipFill>
        <p:spPr>
          <a:xfrm>
            <a:off x="5150160" y="3645000"/>
            <a:ext cx="3957840" cy="30960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95E9C2-172C-4387-A6D7-22E3E4E3176C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TAD 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23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Criando a árvore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524" name="Grupo 6"/>
          <p:cNvGrpSpPr/>
          <p:nvPr/>
        </p:nvGrpSpPr>
        <p:grpSpPr>
          <a:xfrm>
            <a:off x="360000" y="2133000"/>
            <a:ext cx="7740000" cy="4533840"/>
            <a:chOff x="360000" y="2133000"/>
            <a:chExt cx="7740000" cy="4533840"/>
          </a:xfrm>
        </p:grpSpPr>
        <p:pic>
          <p:nvPicPr>
            <p:cNvPr id="525" name="Picture 2" descr=""/>
            <p:cNvPicPr/>
            <p:nvPr/>
          </p:nvPicPr>
          <p:blipFill>
            <a:blip r:embed="rId1"/>
            <a:srcRect l="0" t="0" r="0" b="38286"/>
            <a:stretch/>
          </p:blipFill>
          <p:spPr>
            <a:xfrm>
              <a:off x="1397880" y="2133000"/>
              <a:ext cx="6347880" cy="28544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26" name="Picture 2" descr="D:\Andre\Pesquisa\Publicações\Livros\Livro Estutura de Dados em C\latex\Figuras\arvore_binaria_05.png"/>
            <p:cNvPicPr/>
            <p:nvPr/>
          </p:nvPicPr>
          <p:blipFill>
            <a:blip r:embed="rId2"/>
            <a:stretch/>
          </p:blipFill>
          <p:spPr>
            <a:xfrm>
              <a:off x="360000" y="4869000"/>
              <a:ext cx="7740000" cy="17978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0156FB-0AFD-445B-BCA8-57F61E23DB2A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TAD 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28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Liberando a árvore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Uso de 2 funções: uma percorre e libera os nós, outra trata a raiz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pic>
        <p:nvPicPr>
          <p:cNvPr id="529" name="Picture 2" descr=""/>
          <p:cNvPicPr/>
          <p:nvPr/>
        </p:nvPicPr>
        <p:blipFill>
          <a:blip r:embed="rId1"/>
          <a:srcRect l="0" t="17408" r="0" b="20299"/>
          <a:stretch/>
        </p:blipFill>
        <p:spPr>
          <a:xfrm>
            <a:off x="1397880" y="3283560"/>
            <a:ext cx="6347880" cy="28814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E689AE-F2BE-41F9-83C6-2E3378D2E55A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TAD 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Remoção: passo a passo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pic>
        <p:nvPicPr>
          <p:cNvPr id="532" name="Picture 2" descr="D:\Andre\Pesquisa\Publicações\Livros\Livro Estutura de Dados em C\latex\Figuras\arvore_binaria_06.png"/>
          <p:cNvPicPr/>
          <p:nvPr/>
        </p:nvPicPr>
        <p:blipFill>
          <a:blip r:embed="rId1"/>
          <a:stretch/>
        </p:blipFill>
        <p:spPr>
          <a:xfrm>
            <a:off x="683640" y="2133000"/>
            <a:ext cx="7776360" cy="45532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5677EF-E844-4E77-A804-9CF3FC4D9B37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TAD 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Informações básicas sobre a árvore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Altura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Número total de níveis de uma árvore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</p:txBody>
      </p:sp>
      <p:pic>
        <p:nvPicPr>
          <p:cNvPr id="535" name="Picture 2" descr=""/>
          <p:cNvPicPr/>
          <p:nvPr/>
        </p:nvPicPr>
        <p:blipFill>
          <a:blip r:embed="rId1"/>
          <a:srcRect l="0" t="17641" r="0" b="28753"/>
          <a:stretch/>
        </p:blipFill>
        <p:spPr>
          <a:xfrm>
            <a:off x="1397880" y="3253320"/>
            <a:ext cx="6347880" cy="24796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243A2F-BD73-4DFA-A246-40034D9D35F0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TAD 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Informações básicas sobre a árvore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Altura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graphicFrame>
        <p:nvGraphicFramePr>
          <p:cNvPr id="538" name="Tabela 57"/>
          <p:cNvGraphicFramePr/>
          <p:nvPr/>
        </p:nvGraphicFramePr>
        <p:xfrm>
          <a:off x="3996000" y="2422440"/>
          <a:ext cx="4896360" cy="3708000"/>
        </p:xfrm>
        <a:graphic>
          <a:graphicData uri="http://schemas.openxmlformats.org/drawingml/2006/table">
            <a:tbl>
              <a:tblPr/>
              <a:tblGrid>
                <a:gridCol w="787680"/>
                <a:gridCol w="4108680"/>
              </a:tblGrid>
              <a:tr h="370800"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inicia no nó 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visita B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visita D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 é nó folha: altura é 1. Volta para B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visita E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 é nó folha: altura é 1. Volta para B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altura de B é 2: maior altura dos filhos + 1. Volta para 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visita C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 é nó folha: altura é 1. Volta para 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22440"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altura de A é 3: maior altura dos filhos + 1. 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grpSp>
        <p:nvGrpSpPr>
          <p:cNvPr id="539" name="Grupo 4"/>
          <p:cNvGrpSpPr/>
          <p:nvPr/>
        </p:nvGrpSpPr>
        <p:grpSpPr>
          <a:xfrm>
            <a:off x="755640" y="3069000"/>
            <a:ext cx="2575080" cy="2736000"/>
            <a:chOff x="755640" y="3069000"/>
            <a:chExt cx="2575080" cy="2736000"/>
          </a:xfrm>
        </p:grpSpPr>
        <p:sp>
          <p:nvSpPr>
            <p:cNvPr id="540" name="Elipse 32"/>
            <p:cNvSpPr/>
            <p:nvPr/>
          </p:nvSpPr>
          <p:spPr>
            <a:xfrm>
              <a:off x="2192760" y="38984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A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541" name="Elipse 33"/>
            <p:cNvSpPr/>
            <p:nvPr/>
          </p:nvSpPr>
          <p:spPr>
            <a:xfrm>
              <a:off x="755640" y="54482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D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542" name="Elipse 34"/>
            <p:cNvSpPr/>
            <p:nvPr/>
          </p:nvSpPr>
          <p:spPr>
            <a:xfrm>
              <a:off x="1472760" y="46587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B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543" name="Elipse 35"/>
            <p:cNvSpPr/>
            <p:nvPr/>
          </p:nvSpPr>
          <p:spPr>
            <a:xfrm>
              <a:off x="2192760" y="54482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E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544" name="Conector reto 36"/>
            <p:cNvSpPr/>
            <p:nvPr/>
          </p:nvSpPr>
          <p:spPr>
            <a:xfrm flipV="1">
              <a:off x="1777680" y="4203000"/>
              <a:ext cx="467280" cy="5079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5" name="Conector reto 37"/>
            <p:cNvSpPr/>
            <p:nvPr/>
          </p:nvSpPr>
          <p:spPr>
            <a:xfrm flipV="1">
              <a:off x="1060200" y="4963680"/>
              <a:ext cx="464760" cy="5364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6" name="Conector reto 38"/>
            <p:cNvSpPr/>
            <p:nvPr/>
          </p:nvSpPr>
          <p:spPr>
            <a:xfrm>
              <a:off x="1777680" y="4963680"/>
              <a:ext cx="467280" cy="5364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7" name="Elipse 39"/>
            <p:cNvSpPr/>
            <p:nvPr/>
          </p:nvSpPr>
          <p:spPr>
            <a:xfrm>
              <a:off x="2973960" y="46814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C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548" name="Conector reto 40"/>
            <p:cNvSpPr/>
            <p:nvPr/>
          </p:nvSpPr>
          <p:spPr>
            <a:xfrm flipH="1" flipV="1">
              <a:off x="2497680" y="4203000"/>
              <a:ext cx="528120" cy="53028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9" name="Conector em curva 61"/>
            <p:cNvSpPr/>
            <p:nvPr/>
          </p:nvSpPr>
          <p:spPr>
            <a:xfrm flipV="1" rot="10800000">
              <a:off x="1651680" y="4076640"/>
              <a:ext cx="541080" cy="58140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0" name="Conector em curva 62"/>
            <p:cNvSpPr/>
            <p:nvPr/>
          </p:nvSpPr>
          <p:spPr>
            <a:xfrm flipV="1" rot="10800000">
              <a:off x="808200" y="4836960"/>
              <a:ext cx="664560" cy="6627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1" name="Conector em curva 63"/>
            <p:cNvSpPr/>
            <p:nvPr/>
          </p:nvSpPr>
          <p:spPr>
            <a:xfrm flipV="1">
              <a:off x="1112760" y="5015160"/>
              <a:ext cx="538200" cy="61020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2" name="Conector em curva 64"/>
            <p:cNvSpPr/>
            <p:nvPr/>
          </p:nvSpPr>
          <p:spPr>
            <a:xfrm flipH="1" rot="16200000">
              <a:off x="1616400" y="5050440"/>
              <a:ext cx="610200" cy="54108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3" name="Conector em curva 69"/>
            <p:cNvSpPr/>
            <p:nvPr/>
          </p:nvSpPr>
          <p:spPr>
            <a:xfrm flipV="1" rot="16200000">
              <a:off x="1795680" y="4871160"/>
              <a:ext cx="610200" cy="54108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4" name="Conector em curva 70"/>
            <p:cNvSpPr/>
            <p:nvPr/>
          </p:nvSpPr>
          <p:spPr>
            <a:xfrm flipV="1">
              <a:off x="1829880" y="4254840"/>
              <a:ext cx="541080" cy="58140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5" name="Conector em curva 71"/>
            <p:cNvSpPr/>
            <p:nvPr/>
          </p:nvSpPr>
          <p:spPr>
            <a:xfrm flipH="1" rot="16200000">
              <a:off x="2370960" y="4256280"/>
              <a:ext cx="603720" cy="60192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6" name="CaixaDeTexto 48"/>
            <p:cNvSpPr/>
            <p:nvPr/>
          </p:nvSpPr>
          <p:spPr>
            <a:xfrm>
              <a:off x="1112760" y="522000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3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557" name="CaixaDeTexto 49"/>
            <p:cNvSpPr/>
            <p:nvPr/>
          </p:nvSpPr>
          <p:spPr>
            <a:xfrm>
              <a:off x="1530720" y="392364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1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558" name="CaixaDeTexto 50"/>
            <p:cNvSpPr/>
            <p:nvPr/>
          </p:nvSpPr>
          <p:spPr>
            <a:xfrm>
              <a:off x="810720" y="470196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2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559" name="CaixaDeTexto 51"/>
            <p:cNvSpPr/>
            <p:nvPr/>
          </p:nvSpPr>
          <p:spPr>
            <a:xfrm>
              <a:off x="1610280" y="514800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4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560" name="CaixaDeTexto 52"/>
            <p:cNvSpPr/>
            <p:nvPr/>
          </p:nvSpPr>
          <p:spPr>
            <a:xfrm>
              <a:off x="2178720" y="501300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5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561" name="CaixaDeTexto 53"/>
            <p:cNvSpPr/>
            <p:nvPr/>
          </p:nvSpPr>
          <p:spPr>
            <a:xfrm>
              <a:off x="2059200" y="458100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6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562" name="CaixaDeTexto 54"/>
            <p:cNvSpPr/>
            <p:nvPr/>
          </p:nvSpPr>
          <p:spPr>
            <a:xfrm>
              <a:off x="2444040" y="440928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7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563" name="CaixaDeTexto 55"/>
            <p:cNvSpPr/>
            <p:nvPr/>
          </p:nvSpPr>
          <p:spPr>
            <a:xfrm>
              <a:off x="2762280" y="392364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8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564" name="Conector em curva 84"/>
            <p:cNvSpPr/>
            <p:nvPr/>
          </p:nvSpPr>
          <p:spPr>
            <a:xfrm flipV="1" rot="16200000">
              <a:off x="2549520" y="4077000"/>
              <a:ext cx="603720" cy="60192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5" name="Retângulo 58"/>
            <p:cNvSpPr/>
            <p:nvPr/>
          </p:nvSpPr>
          <p:spPr>
            <a:xfrm>
              <a:off x="2001600" y="3069000"/>
              <a:ext cx="755640" cy="35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raiz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566" name="Conector reto 59"/>
            <p:cNvSpPr/>
            <p:nvPr/>
          </p:nvSpPr>
          <p:spPr>
            <a:xfrm flipV="1">
              <a:off x="2379240" y="3429000"/>
              <a:ext cx="360" cy="4665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5A4B45-5413-41E7-9ADF-AB6B277A7A04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TAD 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68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Informações básicas sobre a árvore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Número de nós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Quantidade de elementos na árvore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</p:txBody>
      </p:sp>
      <p:pic>
        <p:nvPicPr>
          <p:cNvPr id="569" name="Picture 2" descr=""/>
          <p:cNvPicPr/>
          <p:nvPr/>
        </p:nvPicPr>
        <p:blipFill>
          <a:blip r:embed="rId1"/>
          <a:srcRect l="0" t="17039" r="0" b="41481"/>
          <a:stretch/>
        </p:blipFill>
        <p:spPr>
          <a:xfrm>
            <a:off x="1397880" y="3094200"/>
            <a:ext cx="6347880" cy="19184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59A53D-0BDE-42DA-BD24-68D0B14812DE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Picture 2" descr="D:\Andre\Pesquisa\Publicações\Livros\Livro Estutura de Dados em C\latex\Figuras\arvore_binaria_08.png"/>
          <p:cNvPicPr/>
          <p:nvPr/>
        </p:nvPicPr>
        <p:blipFill>
          <a:blip r:embed="rId1"/>
          <a:stretch/>
        </p:blipFill>
        <p:spPr>
          <a:xfrm>
            <a:off x="865800" y="2403360"/>
            <a:ext cx="7882560" cy="4410000"/>
          </a:xfrm>
          <a:prstGeom prst="rect">
            <a:avLst/>
          </a:prstGeom>
          <a:ln w="0">
            <a:noFill/>
          </a:ln>
        </p:spPr>
      </p:pic>
      <p:sp>
        <p:nvSpPr>
          <p:cNvPr id="571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TAD 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72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Informações básicas sobre a árvore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Número de nós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61EE2A-277B-4B60-9FC2-E7A394EE5481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Percurso na árvore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4000"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Percorrer todos os nós é uma operação muito comum em árvores binárias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Cada nó é visitado uma única vez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Isso gera uma sequência linear de nós, cuja ordem depende de como a árvore foi percorrida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Não existe uma </a:t>
            </a:r>
            <a:r>
              <a:rPr b="1" lang="pt-BR" sz="2600" spc="-1" strike="noStrike">
                <a:solidFill>
                  <a:srgbClr val="000000"/>
                </a:solidFill>
                <a:latin typeface="Tw Cen MT"/>
              </a:rPr>
              <a:t>ordem natural</a:t>
            </a: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 para se percorrer todos os nós de uma árvore binária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Isso pode ser feito para executar alguma ação em cada nó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Essa ação pode ser mostrar (imprimir) o valor do nó, modificar esse valor, etc.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A2A86C-A31F-460E-AC6D-9B8BFE39816B}" type="slidenum">
              <a:t>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Percurso na árvore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76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8000"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Podemos percorrer a árvore de 3 formas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Percurso pré-ordem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visita a </a:t>
            </a:r>
            <a:r>
              <a:rPr b="1" lang="pt-BR" sz="2300" spc="-1" strike="noStrike">
                <a:solidFill>
                  <a:srgbClr val="000000"/>
                </a:solidFill>
                <a:latin typeface="Tw Cen MT"/>
              </a:rPr>
              <a:t>raiz</a:t>
            </a: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, o filho da </a:t>
            </a:r>
            <a:r>
              <a:rPr b="1" lang="pt-BR" sz="2300" spc="-1" strike="noStrike">
                <a:solidFill>
                  <a:srgbClr val="000000"/>
                </a:solidFill>
                <a:latin typeface="Tw Cen MT"/>
              </a:rPr>
              <a:t>esquerda</a:t>
            </a: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 e o filho da </a:t>
            </a:r>
            <a:r>
              <a:rPr b="1" lang="pt-BR" sz="2300" spc="-1" strike="noStrike">
                <a:solidFill>
                  <a:srgbClr val="000000"/>
                </a:solidFill>
                <a:latin typeface="Tw Cen MT"/>
              </a:rPr>
              <a:t>direita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Percurso um-ordem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visita o filho da </a:t>
            </a:r>
            <a:r>
              <a:rPr b="1" lang="pt-BR" sz="2300" spc="-1" strike="noStrike">
                <a:solidFill>
                  <a:srgbClr val="000000"/>
                </a:solidFill>
                <a:latin typeface="Tw Cen MT"/>
              </a:rPr>
              <a:t>esquerda</a:t>
            </a: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, a </a:t>
            </a:r>
            <a:r>
              <a:rPr b="1" lang="pt-BR" sz="2300" spc="-1" strike="noStrike">
                <a:solidFill>
                  <a:srgbClr val="000000"/>
                </a:solidFill>
                <a:latin typeface="Tw Cen MT"/>
              </a:rPr>
              <a:t>raiz</a:t>
            </a: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 e o filho da </a:t>
            </a:r>
            <a:r>
              <a:rPr b="1" lang="pt-BR" sz="2300" spc="-1" strike="noStrike">
                <a:solidFill>
                  <a:srgbClr val="000000"/>
                </a:solidFill>
                <a:latin typeface="Tw Cen MT"/>
              </a:rPr>
              <a:t>direita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Percurso pós-ordem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visita o filho da </a:t>
            </a:r>
            <a:r>
              <a:rPr b="1" lang="pt-BR" sz="2300" spc="-1" strike="noStrike">
                <a:solidFill>
                  <a:srgbClr val="000000"/>
                </a:solidFill>
                <a:latin typeface="Tw Cen MT"/>
              </a:rPr>
              <a:t>esquerda</a:t>
            </a: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, o filho da </a:t>
            </a:r>
            <a:r>
              <a:rPr b="1" lang="pt-BR" sz="2300" spc="-1" strike="noStrike">
                <a:solidFill>
                  <a:srgbClr val="000000"/>
                </a:solidFill>
                <a:latin typeface="Tw Cen MT"/>
              </a:rPr>
              <a:t>direita</a:t>
            </a: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 e a </a:t>
            </a:r>
            <a:r>
              <a:rPr b="1" lang="pt-BR" sz="2300" spc="-1" strike="noStrike">
                <a:solidFill>
                  <a:srgbClr val="000000"/>
                </a:solidFill>
                <a:latin typeface="Tw Cen MT"/>
              </a:rPr>
              <a:t>raiz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Essas são os percursos mais importantes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Existem outras formas de percurso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4D66DD-C827-4D61-8CDB-E9EC9CDD2885}" type="slidenum">
              <a:t>34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Percurso pré-ordem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78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Ordem de visitação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Raiz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Filho esquerdo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Filho direito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pic>
        <p:nvPicPr>
          <p:cNvPr id="579" name="Picture 2" descr=""/>
          <p:cNvPicPr/>
          <p:nvPr/>
        </p:nvPicPr>
        <p:blipFill>
          <a:blip r:embed="rId1"/>
          <a:srcRect l="0" t="17408" r="0" b="41298"/>
          <a:stretch/>
        </p:blipFill>
        <p:spPr>
          <a:xfrm>
            <a:off x="1397880" y="3606840"/>
            <a:ext cx="6347880" cy="19101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4F3926-7E47-495C-9BF5-C97D1490E4F3}" type="slidenum">
              <a:t>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Percurso pré-ordem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581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Ordem de visitação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Raiz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Filho esquerdo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Filho direito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582" name="Grupo 82"/>
          <p:cNvGrpSpPr/>
          <p:nvPr/>
        </p:nvGrpSpPr>
        <p:grpSpPr>
          <a:xfrm>
            <a:off x="74520" y="3322440"/>
            <a:ext cx="4768200" cy="2701440"/>
            <a:chOff x="74520" y="3322440"/>
            <a:chExt cx="4768200" cy="2701440"/>
          </a:xfrm>
        </p:grpSpPr>
        <p:sp>
          <p:nvSpPr>
            <p:cNvPr id="583" name="Elipse 43"/>
            <p:cNvSpPr/>
            <p:nvPr/>
          </p:nvSpPr>
          <p:spPr>
            <a:xfrm>
              <a:off x="3705120" y="33224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A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584" name="Elipse 44"/>
            <p:cNvSpPr/>
            <p:nvPr/>
          </p:nvSpPr>
          <p:spPr>
            <a:xfrm>
              <a:off x="2267640" y="487188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D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585" name="Elipse 45"/>
            <p:cNvSpPr/>
            <p:nvPr/>
          </p:nvSpPr>
          <p:spPr>
            <a:xfrm>
              <a:off x="2985120" y="40827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B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586" name="Elipse 46"/>
            <p:cNvSpPr/>
            <p:nvPr/>
          </p:nvSpPr>
          <p:spPr>
            <a:xfrm>
              <a:off x="4356000" y="566712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G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587" name="Elipse 47"/>
            <p:cNvSpPr/>
            <p:nvPr/>
          </p:nvSpPr>
          <p:spPr>
            <a:xfrm>
              <a:off x="3705120" y="487188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E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588" name="Elipse 48"/>
            <p:cNvSpPr/>
            <p:nvPr/>
          </p:nvSpPr>
          <p:spPr>
            <a:xfrm>
              <a:off x="3156480" y="566712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F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589" name="Conector reto 49"/>
            <p:cNvSpPr/>
            <p:nvPr/>
          </p:nvSpPr>
          <p:spPr>
            <a:xfrm flipV="1">
              <a:off x="3289680" y="3627000"/>
              <a:ext cx="467640" cy="5079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0" name="Conector reto 50"/>
            <p:cNvSpPr/>
            <p:nvPr/>
          </p:nvSpPr>
          <p:spPr>
            <a:xfrm flipV="1">
              <a:off x="2572560" y="4387320"/>
              <a:ext cx="464400" cy="5367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1" name="Conector reto 51"/>
            <p:cNvSpPr/>
            <p:nvPr/>
          </p:nvSpPr>
          <p:spPr>
            <a:xfrm flipH="1" flipV="1">
              <a:off x="4009680" y="5176800"/>
              <a:ext cx="398520" cy="5421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2" name="Conector reto 52"/>
            <p:cNvSpPr/>
            <p:nvPr/>
          </p:nvSpPr>
          <p:spPr>
            <a:xfrm flipH="1">
              <a:off x="3335040" y="5176800"/>
              <a:ext cx="422280" cy="4899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3" name="Conector reto 53"/>
            <p:cNvSpPr/>
            <p:nvPr/>
          </p:nvSpPr>
          <p:spPr>
            <a:xfrm>
              <a:off x="3289680" y="4387320"/>
              <a:ext cx="467640" cy="5367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4" name="Elipse 54"/>
            <p:cNvSpPr/>
            <p:nvPr/>
          </p:nvSpPr>
          <p:spPr>
            <a:xfrm>
              <a:off x="4485960" y="410508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C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595" name="Conector reto 55"/>
            <p:cNvSpPr/>
            <p:nvPr/>
          </p:nvSpPr>
          <p:spPr>
            <a:xfrm flipH="1" flipV="1">
              <a:off x="4009680" y="3627000"/>
              <a:ext cx="528480" cy="53028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6" name="CaixaDeTexto 56"/>
            <p:cNvSpPr/>
            <p:nvPr/>
          </p:nvSpPr>
          <p:spPr>
            <a:xfrm>
              <a:off x="74520" y="4739760"/>
              <a:ext cx="2549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RESULTADO: ABDEFGC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597" name="Conector em curva 8"/>
            <p:cNvSpPr/>
            <p:nvPr/>
          </p:nvSpPr>
          <p:spPr>
            <a:xfrm flipV="1" rot="10800000">
              <a:off x="3164040" y="3500640"/>
              <a:ext cx="541080" cy="58140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8" name="Conector em curva 57"/>
            <p:cNvSpPr/>
            <p:nvPr/>
          </p:nvSpPr>
          <p:spPr>
            <a:xfrm flipV="1" rot="10800000">
              <a:off x="2320560" y="4260960"/>
              <a:ext cx="664560" cy="6627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9" name="Conector em curva 58"/>
            <p:cNvSpPr/>
            <p:nvPr/>
          </p:nvSpPr>
          <p:spPr>
            <a:xfrm flipV="1">
              <a:off x="2624760" y="4439160"/>
              <a:ext cx="538200" cy="61020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0" name="Conector em curva 59"/>
            <p:cNvSpPr/>
            <p:nvPr/>
          </p:nvSpPr>
          <p:spPr>
            <a:xfrm flipH="1" rot="16200000">
              <a:off x="3128760" y="4474440"/>
              <a:ext cx="610200" cy="54108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1" name="Conector em curva 60"/>
            <p:cNvSpPr/>
            <p:nvPr/>
          </p:nvSpPr>
          <p:spPr>
            <a:xfrm flipV="1" rot="10800000">
              <a:off x="3209400" y="5051160"/>
              <a:ext cx="495720" cy="6681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2" name="Conector em curva 62"/>
            <p:cNvSpPr/>
            <p:nvPr/>
          </p:nvSpPr>
          <p:spPr>
            <a:xfrm flipV="1">
              <a:off x="3513600" y="5228640"/>
              <a:ext cx="369360" cy="6159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3" name="Conector em curva 65"/>
            <p:cNvSpPr/>
            <p:nvPr/>
          </p:nvSpPr>
          <p:spPr>
            <a:xfrm flipH="1" rot="16200000">
              <a:off x="3811320" y="5301360"/>
              <a:ext cx="615960" cy="4719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4" name="Conector em curva 69"/>
            <p:cNvSpPr/>
            <p:nvPr/>
          </p:nvSpPr>
          <p:spPr>
            <a:xfrm flipV="1" rot="16200000">
              <a:off x="3990600" y="5121720"/>
              <a:ext cx="615960" cy="4719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5" name="Conector em curva 72"/>
            <p:cNvSpPr/>
            <p:nvPr/>
          </p:nvSpPr>
          <p:spPr>
            <a:xfrm flipV="1" rot="16200000">
              <a:off x="3308040" y="4295160"/>
              <a:ext cx="610200" cy="54108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6" name="Conector em curva 75"/>
            <p:cNvSpPr/>
            <p:nvPr/>
          </p:nvSpPr>
          <p:spPr>
            <a:xfrm flipV="1">
              <a:off x="3342240" y="3678840"/>
              <a:ext cx="541080" cy="58140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7" name="Conector em curva 78"/>
            <p:cNvSpPr/>
            <p:nvPr/>
          </p:nvSpPr>
          <p:spPr>
            <a:xfrm flipH="1" rot="16200000">
              <a:off x="3882960" y="3680280"/>
              <a:ext cx="603720" cy="60192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8" name="CaixaDeTexto 68"/>
            <p:cNvSpPr/>
            <p:nvPr/>
          </p:nvSpPr>
          <p:spPr>
            <a:xfrm>
              <a:off x="2624760" y="464400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3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09" name="CaixaDeTexto 69"/>
            <p:cNvSpPr/>
            <p:nvPr/>
          </p:nvSpPr>
          <p:spPr>
            <a:xfrm>
              <a:off x="3043080" y="334764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1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10" name="CaixaDeTexto 70"/>
            <p:cNvSpPr/>
            <p:nvPr/>
          </p:nvSpPr>
          <p:spPr>
            <a:xfrm>
              <a:off x="2323080" y="412596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2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11" name="CaixaDeTexto 71"/>
            <p:cNvSpPr/>
            <p:nvPr/>
          </p:nvSpPr>
          <p:spPr>
            <a:xfrm>
              <a:off x="3122280" y="457200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4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12" name="CaixaDeTexto 72"/>
            <p:cNvSpPr/>
            <p:nvPr/>
          </p:nvSpPr>
          <p:spPr>
            <a:xfrm>
              <a:off x="2971080" y="514800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5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13" name="CaixaDeTexto 73"/>
            <p:cNvSpPr/>
            <p:nvPr/>
          </p:nvSpPr>
          <p:spPr>
            <a:xfrm>
              <a:off x="3403080" y="537336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6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14" name="CaixaDeTexto 74"/>
            <p:cNvSpPr/>
            <p:nvPr/>
          </p:nvSpPr>
          <p:spPr>
            <a:xfrm>
              <a:off x="3770640" y="565200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7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15" name="CaixaDeTexto 75"/>
            <p:cNvSpPr/>
            <p:nvPr/>
          </p:nvSpPr>
          <p:spPr>
            <a:xfrm>
              <a:off x="4267080" y="508536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8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16" name="CaixaDeTexto 76"/>
            <p:cNvSpPr/>
            <p:nvPr/>
          </p:nvSpPr>
          <p:spPr>
            <a:xfrm>
              <a:off x="3691080" y="443700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9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17" name="CaixaDeTexto 77"/>
            <p:cNvSpPr/>
            <p:nvPr/>
          </p:nvSpPr>
          <p:spPr>
            <a:xfrm>
              <a:off x="3571200" y="4005000"/>
              <a:ext cx="49644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10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18" name="CaixaDeTexto 78"/>
            <p:cNvSpPr/>
            <p:nvPr/>
          </p:nvSpPr>
          <p:spPr>
            <a:xfrm>
              <a:off x="3956040" y="3833280"/>
              <a:ext cx="49644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11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19" name="CaixaDeTexto 79"/>
            <p:cNvSpPr/>
            <p:nvPr/>
          </p:nvSpPr>
          <p:spPr>
            <a:xfrm>
              <a:off x="4274640" y="3347640"/>
              <a:ext cx="49644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12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20" name="Conector em curva 94"/>
            <p:cNvSpPr/>
            <p:nvPr/>
          </p:nvSpPr>
          <p:spPr>
            <a:xfrm flipV="1" rot="16200000">
              <a:off x="4061520" y="3501000"/>
              <a:ext cx="603720" cy="60192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</p:grpSp>
      <p:graphicFrame>
        <p:nvGraphicFramePr>
          <p:cNvPr id="621" name="Tabela 81"/>
          <p:cNvGraphicFramePr/>
          <p:nvPr/>
        </p:nvGraphicFramePr>
        <p:xfrm>
          <a:off x="5364000" y="1574640"/>
          <a:ext cx="3600000" cy="4820400"/>
        </p:xfrm>
        <a:graphic>
          <a:graphicData uri="http://schemas.openxmlformats.org/drawingml/2006/table">
            <a:tbl>
              <a:tblPr/>
              <a:tblGrid>
                <a:gridCol w="579240"/>
                <a:gridCol w="3021120"/>
              </a:tblGrid>
              <a:tr h="370800"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inicia no nó 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imprime A, visita B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imprime B, visita D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imprime D, volta para B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visita E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imprime E, visita F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imprime F, volta para E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visita G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imprime G, volta para E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volta para B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volta para 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visita C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imprime C, volta para 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A99B28-9454-40AA-9F97-1212326BB267}" type="slidenum">
              <a:t>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Percurso em-ordem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623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Ordem de visitação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Filho esquerdo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Raiz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Filho direito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pic>
        <p:nvPicPr>
          <p:cNvPr id="624" name="Picture 2" descr=""/>
          <p:cNvPicPr/>
          <p:nvPr/>
        </p:nvPicPr>
        <p:blipFill>
          <a:blip r:embed="rId1"/>
          <a:srcRect l="0" t="17338" r="0" b="41331"/>
          <a:stretch/>
        </p:blipFill>
        <p:spPr>
          <a:xfrm>
            <a:off x="1397880" y="3645000"/>
            <a:ext cx="6347880" cy="19116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5D282F-931C-4A40-8713-A8C4460E53F0}" type="slidenum">
              <a:t>37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Percurso em-ordem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626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Ordem de visitação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Filho esquerdo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Raiz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Filho direito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627" name="Grupo 82"/>
          <p:cNvGrpSpPr/>
          <p:nvPr/>
        </p:nvGrpSpPr>
        <p:grpSpPr>
          <a:xfrm>
            <a:off x="107640" y="3535560"/>
            <a:ext cx="4768200" cy="2701440"/>
            <a:chOff x="107640" y="3535560"/>
            <a:chExt cx="4768200" cy="2701440"/>
          </a:xfrm>
        </p:grpSpPr>
        <p:sp>
          <p:nvSpPr>
            <p:cNvPr id="628" name="Elipse 43"/>
            <p:cNvSpPr/>
            <p:nvPr/>
          </p:nvSpPr>
          <p:spPr>
            <a:xfrm>
              <a:off x="3737880" y="35355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A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629" name="Elipse 44"/>
            <p:cNvSpPr/>
            <p:nvPr/>
          </p:nvSpPr>
          <p:spPr>
            <a:xfrm>
              <a:off x="2300760" y="50853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D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630" name="Elipse 45"/>
            <p:cNvSpPr/>
            <p:nvPr/>
          </p:nvSpPr>
          <p:spPr>
            <a:xfrm>
              <a:off x="3017880" y="429588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B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631" name="Elipse 46"/>
            <p:cNvSpPr/>
            <p:nvPr/>
          </p:nvSpPr>
          <p:spPr>
            <a:xfrm>
              <a:off x="4388760" y="58802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G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632" name="Elipse 47"/>
            <p:cNvSpPr/>
            <p:nvPr/>
          </p:nvSpPr>
          <p:spPr>
            <a:xfrm>
              <a:off x="3737880" y="50853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E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633" name="Elipse 48"/>
            <p:cNvSpPr/>
            <p:nvPr/>
          </p:nvSpPr>
          <p:spPr>
            <a:xfrm>
              <a:off x="3189600" y="58802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F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634" name="Conector reto 49"/>
            <p:cNvSpPr/>
            <p:nvPr/>
          </p:nvSpPr>
          <p:spPr>
            <a:xfrm flipV="1">
              <a:off x="3322440" y="3840120"/>
              <a:ext cx="467640" cy="5079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5" name="Conector reto 50"/>
            <p:cNvSpPr/>
            <p:nvPr/>
          </p:nvSpPr>
          <p:spPr>
            <a:xfrm flipV="1">
              <a:off x="2605320" y="4600800"/>
              <a:ext cx="464760" cy="5364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6" name="Conector reto 51"/>
            <p:cNvSpPr/>
            <p:nvPr/>
          </p:nvSpPr>
          <p:spPr>
            <a:xfrm flipH="1" flipV="1">
              <a:off x="4042800" y="5389920"/>
              <a:ext cx="398160" cy="5421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7" name="Conector reto 52"/>
            <p:cNvSpPr/>
            <p:nvPr/>
          </p:nvSpPr>
          <p:spPr>
            <a:xfrm flipH="1">
              <a:off x="3367800" y="5389920"/>
              <a:ext cx="422280" cy="4899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8" name="Conector reto 53"/>
            <p:cNvSpPr/>
            <p:nvPr/>
          </p:nvSpPr>
          <p:spPr>
            <a:xfrm>
              <a:off x="3322440" y="4600800"/>
              <a:ext cx="467640" cy="5364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9" name="Elipse 54"/>
            <p:cNvSpPr/>
            <p:nvPr/>
          </p:nvSpPr>
          <p:spPr>
            <a:xfrm>
              <a:off x="4519080" y="431820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C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640" name="Conector reto 55"/>
            <p:cNvSpPr/>
            <p:nvPr/>
          </p:nvSpPr>
          <p:spPr>
            <a:xfrm flipH="1" flipV="1">
              <a:off x="4042800" y="3840120"/>
              <a:ext cx="528120" cy="53028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1" name="CaixaDeTexto 56"/>
            <p:cNvSpPr/>
            <p:nvPr/>
          </p:nvSpPr>
          <p:spPr>
            <a:xfrm>
              <a:off x="107640" y="4969800"/>
              <a:ext cx="2549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RESULTADO: DBFEGAC 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42" name="Conector em curva 8"/>
            <p:cNvSpPr/>
            <p:nvPr/>
          </p:nvSpPr>
          <p:spPr>
            <a:xfrm flipV="1" rot="10800000">
              <a:off x="3196800" y="3713760"/>
              <a:ext cx="541080" cy="58140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3" name="Conector em curva 57"/>
            <p:cNvSpPr/>
            <p:nvPr/>
          </p:nvSpPr>
          <p:spPr>
            <a:xfrm flipV="1" rot="10800000">
              <a:off x="2353320" y="4474080"/>
              <a:ext cx="664560" cy="6627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4" name="Conector em curva 58"/>
            <p:cNvSpPr/>
            <p:nvPr/>
          </p:nvSpPr>
          <p:spPr>
            <a:xfrm flipV="1">
              <a:off x="2657880" y="4652280"/>
              <a:ext cx="538200" cy="61020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5" name="Conector em curva 59"/>
            <p:cNvSpPr/>
            <p:nvPr/>
          </p:nvSpPr>
          <p:spPr>
            <a:xfrm flipH="1" rot="16200000">
              <a:off x="3161520" y="4687560"/>
              <a:ext cx="610200" cy="54108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6" name="Conector em curva 60"/>
            <p:cNvSpPr/>
            <p:nvPr/>
          </p:nvSpPr>
          <p:spPr>
            <a:xfrm flipV="1" rot="10800000">
              <a:off x="3242160" y="5264280"/>
              <a:ext cx="495720" cy="6681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7" name="Conector em curva 62"/>
            <p:cNvSpPr/>
            <p:nvPr/>
          </p:nvSpPr>
          <p:spPr>
            <a:xfrm flipV="1">
              <a:off x="3546720" y="5441760"/>
              <a:ext cx="369360" cy="6159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8" name="Conector em curva 65"/>
            <p:cNvSpPr/>
            <p:nvPr/>
          </p:nvSpPr>
          <p:spPr>
            <a:xfrm flipH="1" rot="16200000">
              <a:off x="3844080" y="5514480"/>
              <a:ext cx="615960" cy="4719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9" name="Conector em curva 69"/>
            <p:cNvSpPr/>
            <p:nvPr/>
          </p:nvSpPr>
          <p:spPr>
            <a:xfrm flipV="1" rot="16200000">
              <a:off x="4023720" y="5335200"/>
              <a:ext cx="615960" cy="4719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0" name="Conector em curva 72"/>
            <p:cNvSpPr/>
            <p:nvPr/>
          </p:nvSpPr>
          <p:spPr>
            <a:xfrm flipV="1" rot="16200000">
              <a:off x="3340800" y="4508280"/>
              <a:ext cx="610200" cy="54108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1" name="Conector em curva 75"/>
            <p:cNvSpPr/>
            <p:nvPr/>
          </p:nvSpPr>
          <p:spPr>
            <a:xfrm flipV="1">
              <a:off x="3375000" y="3891960"/>
              <a:ext cx="541080" cy="58140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2" name="Conector em curva 78"/>
            <p:cNvSpPr/>
            <p:nvPr/>
          </p:nvSpPr>
          <p:spPr>
            <a:xfrm flipH="1" rot="16200000">
              <a:off x="3916080" y="3893400"/>
              <a:ext cx="603720" cy="60192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3" name="CaixaDeTexto 68"/>
            <p:cNvSpPr/>
            <p:nvPr/>
          </p:nvSpPr>
          <p:spPr>
            <a:xfrm>
              <a:off x="2657880" y="485712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3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54" name="CaixaDeTexto 69"/>
            <p:cNvSpPr/>
            <p:nvPr/>
          </p:nvSpPr>
          <p:spPr>
            <a:xfrm>
              <a:off x="3075840" y="356076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1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55" name="CaixaDeTexto 70"/>
            <p:cNvSpPr/>
            <p:nvPr/>
          </p:nvSpPr>
          <p:spPr>
            <a:xfrm>
              <a:off x="2355840" y="433908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2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56" name="CaixaDeTexto 71"/>
            <p:cNvSpPr/>
            <p:nvPr/>
          </p:nvSpPr>
          <p:spPr>
            <a:xfrm>
              <a:off x="3155400" y="478512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4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57" name="CaixaDeTexto 72"/>
            <p:cNvSpPr/>
            <p:nvPr/>
          </p:nvSpPr>
          <p:spPr>
            <a:xfrm>
              <a:off x="3003840" y="536112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5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58" name="CaixaDeTexto 73"/>
            <p:cNvSpPr/>
            <p:nvPr/>
          </p:nvSpPr>
          <p:spPr>
            <a:xfrm>
              <a:off x="3435840" y="558648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6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59" name="CaixaDeTexto 74"/>
            <p:cNvSpPr/>
            <p:nvPr/>
          </p:nvSpPr>
          <p:spPr>
            <a:xfrm>
              <a:off x="3803400" y="586512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7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60" name="CaixaDeTexto 75"/>
            <p:cNvSpPr/>
            <p:nvPr/>
          </p:nvSpPr>
          <p:spPr>
            <a:xfrm>
              <a:off x="4300200" y="529848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8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61" name="CaixaDeTexto 76"/>
            <p:cNvSpPr/>
            <p:nvPr/>
          </p:nvSpPr>
          <p:spPr>
            <a:xfrm>
              <a:off x="3723840" y="465012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9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62" name="CaixaDeTexto 77"/>
            <p:cNvSpPr/>
            <p:nvPr/>
          </p:nvSpPr>
          <p:spPr>
            <a:xfrm>
              <a:off x="3604320" y="4218120"/>
              <a:ext cx="49644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10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63" name="CaixaDeTexto 78"/>
            <p:cNvSpPr/>
            <p:nvPr/>
          </p:nvSpPr>
          <p:spPr>
            <a:xfrm>
              <a:off x="3989160" y="4046400"/>
              <a:ext cx="49644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11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64" name="CaixaDeTexto 79"/>
            <p:cNvSpPr/>
            <p:nvPr/>
          </p:nvSpPr>
          <p:spPr>
            <a:xfrm>
              <a:off x="4307400" y="3560760"/>
              <a:ext cx="49644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12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65" name="Conector em curva 94"/>
            <p:cNvSpPr/>
            <p:nvPr/>
          </p:nvSpPr>
          <p:spPr>
            <a:xfrm flipV="1" rot="16200000">
              <a:off x="4094640" y="3714120"/>
              <a:ext cx="603720" cy="60192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</p:grpSp>
      <p:graphicFrame>
        <p:nvGraphicFramePr>
          <p:cNvPr id="666" name="Tabela 81"/>
          <p:cNvGraphicFramePr/>
          <p:nvPr/>
        </p:nvGraphicFramePr>
        <p:xfrm>
          <a:off x="5220000" y="1574640"/>
          <a:ext cx="3744000" cy="4820400"/>
        </p:xfrm>
        <a:graphic>
          <a:graphicData uri="http://schemas.openxmlformats.org/drawingml/2006/table">
            <a:tbl>
              <a:tblPr/>
              <a:tblGrid>
                <a:gridCol w="602280"/>
                <a:gridCol w="3141720"/>
              </a:tblGrid>
              <a:tr h="370800"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inicia no nó 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visita B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visita D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imprime D, volta para B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imprime B, visita E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visita F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imprime F, volta para E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imprime E, visita G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imprime G, volta para E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volta para B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volta para 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imprime A, visita C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imprime C, volta para 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05A8A5-2C01-4097-95E0-B4422BC4E6CD}" type="slidenum">
              <a:t>38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Percurso pós-ordem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668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Ordem de visitação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Filho esquerdo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Filho direito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Raiz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pic>
        <p:nvPicPr>
          <p:cNvPr id="669" name="Picture 2" descr=""/>
          <p:cNvPicPr/>
          <p:nvPr/>
        </p:nvPicPr>
        <p:blipFill>
          <a:blip r:embed="rId1"/>
          <a:srcRect l="0" t="17039" r="0" b="41481"/>
          <a:stretch/>
        </p:blipFill>
        <p:spPr>
          <a:xfrm>
            <a:off x="1397880" y="3598200"/>
            <a:ext cx="6347880" cy="19184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DD9AED-661D-4D23-8033-B11FBEEEF883}" type="slidenum">
              <a:t>39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Percurso pós-ordem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671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Ordem de visitação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Filho esquerdo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Filho direito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Raiz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672" name="Grupo 82"/>
          <p:cNvGrpSpPr/>
          <p:nvPr/>
        </p:nvGrpSpPr>
        <p:grpSpPr>
          <a:xfrm>
            <a:off x="196200" y="3682440"/>
            <a:ext cx="4807440" cy="2701440"/>
            <a:chOff x="196200" y="3682440"/>
            <a:chExt cx="4807440" cy="2701440"/>
          </a:xfrm>
        </p:grpSpPr>
        <p:sp>
          <p:nvSpPr>
            <p:cNvPr id="673" name="Elipse 43"/>
            <p:cNvSpPr/>
            <p:nvPr/>
          </p:nvSpPr>
          <p:spPr>
            <a:xfrm>
              <a:off x="3866040" y="368244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A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674" name="Elipse 44"/>
            <p:cNvSpPr/>
            <p:nvPr/>
          </p:nvSpPr>
          <p:spPr>
            <a:xfrm>
              <a:off x="2428560" y="523188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D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675" name="Elipse 45"/>
            <p:cNvSpPr/>
            <p:nvPr/>
          </p:nvSpPr>
          <p:spPr>
            <a:xfrm>
              <a:off x="3145680" y="444276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B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676" name="Elipse 46"/>
            <p:cNvSpPr/>
            <p:nvPr/>
          </p:nvSpPr>
          <p:spPr>
            <a:xfrm>
              <a:off x="4516920" y="602712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G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677" name="Elipse 47"/>
            <p:cNvSpPr/>
            <p:nvPr/>
          </p:nvSpPr>
          <p:spPr>
            <a:xfrm>
              <a:off x="3866040" y="523188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E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678" name="Elipse 48"/>
            <p:cNvSpPr/>
            <p:nvPr/>
          </p:nvSpPr>
          <p:spPr>
            <a:xfrm>
              <a:off x="3317400" y="602712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F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679" name="Conector reto 49"/>
            <p:cNvSpPr/>
            <p:nvPr/>
          </p:nvSpPr>
          <p:spPr>
            <a:xfrm flipV="1">
              <a:off x="3450600" y="3987000"/>
              <a:ext cx="467280" cy="5079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0" name="Conector reto 50"/>
            <p:cNvSpPr/>
            <p:nvPr/>
          </p:nvSpPr>
          <p:spPr>
            <a:xfrm flipV="1">
              <a:off x="2733480" y="4747680"/>
              <a:ext cx="464400" cy="5364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1" name="Conector reto 51"/>
            <p:cNvSpPr/>
            <p:nvPr/>
          </p:nvSpPr>
          <p:spPr>
            <a:xfrm flipH="1" flipV="1">
              <a:off x="4170600" y="5536800"/>
              <a:ext cx="398520" cy="5421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2" name="Conector reto 52"/>
            <p:cNvSpPr/>
            <p:nvPr/>
          </p:nvSpPr>
          <p:spPr>
            <a:xfrm flipH="1">
              <a:off x="3495960" y="5536800"/>
              <a:ext cx="421920" cy="4899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3" name="Conector reto 53"/>
            <p:cNvSpPr/>
            <p:nvPr/>
          </p:nvSpPr>
          <p:spPr>
            <a:xfrm>
              <a:off x="3450600" y="4747680"/>
              <a:ext cx="467280" cy="53640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4" name="Elipse 54"/>
            <p:cNvSpPr/>
            <p:nvPr/>
          </p:nvSpPr>
          <p:spPr>
            <a:xfrm>
              <a:off x="4646880" y="4465080"/>
              <a:ext cx="356760" cy="35676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Calibri"/>
                </a:rPr>
                <a:t>C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685" name="Conector reto 55"/>
            <p:cNvSpPr/>
            <p:nvPr/>
          </p:nvSpPr>
          <p:spPr>
            <a:xfrm flipH="1" flipV="1">
              <a:off x="4170600" y="3987000"/>
              <a:ext cx="528480" cy="53028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6" name="CaixaDeTexto 56"/>
            <p:cNvSpPr/>
            <p:nvPr/>
          </p:nvSpPr>
          <p:spPr>
            <a:xfrm>
              <a:off x="196200" y="5157360"/>
              <a:ext cx="254988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RESULTADO: DFGEBCA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87" name="Conector em curva 8"/>
            <p:cNvSpPr/>
            <p:nvPr/>
          </p:nvSpPr>
          <p:spPr>
            <a:xfrm flipV="1" rot="10800000">
              <a:off x="3324960" y="3860640"/>
              <a:ext cx="541080" cy="58140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8" name="Conector em curva 57"/>
            <p:cNvSpPr/>
            <p:nvPr/>
          </p:nvSpPr>
          <p:spPr>
            <a:xfrm flipV="1" rot="10800000">
              <a:off x="2481120" y="4620960"/>
              <a:ext cx="664560" cy="6627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9" name="Conector em curva 58"/>
            <p:cNvSpPr/>
            <p:nvPr/>
          </p:nvSpPr>
          <p:spPr>
            <a:xfrm flipV="1">
              <a:off x="2785680" y="4799160"/>
              <a:ext cx="538200" cy="61020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0" name="Conector em curva 59"/>
            <p:cNvSpPr/>
            <p:nvPr/>
          </p:nvSpPr>
          <p:spPr>
            <a:xfrm flipH="1" rot="16200000">
              <a:off x="3289680" y="4834440"/>
              <a:ext cx="610200" cy="54108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1" name="Conector em curva 60"/>
            <p:cNvSpPr/>
            <p:nvPr/>
          </p:nvSpPr>
          <p:spPr>
            <a:xfrm flipV="1" rot="10800000">
              <a:off x="3370320" y="5411160"/>
              <a:ext cx="495720" cy="6681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2" name="Conector em curva 62"/>
            <p:cNvSpPr/>
            <p:nvPr/>
          </p:nvSpPr>
          <p:spPr>
            <a:xfrm flipV="1">
              <a:off x="3674520" y="5588640"/>
              <a:ext cx="369360" cy="6159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3" name="Conector em curva 65"/>
            <p:cNvSpPr/>
            <p:nvPr/>
          </p:nvSpPr>
          <p:spPr>
            <a:xfrm flipH="1" rot="16200000">
              <a:off x="3972240" y="5661360"/>
              <a:ext cx="615960" cy="4719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4" name="Conector em curva 69"/>
            <p:cNvSpPr/>
            <p:nvPr/>
          </p:nvSpPr>
          <p:spPr>
            <a:xfrm flipV="1" rot="16200000">
              <a:off x="4151520" y="5482080"/>
              <a:ext cx="615960" cy="4719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5" name="Conector em curva 72"/>
            <p:cNvSpPr/>
            <p:nvPr/>
          </p:nvSpPr>
          <p:spPr>
            <a:xfrm flipV="1" rot="16200000">
              <a:off x="3468960" y="4655160"/>
              <a:ext cx="610200" cy="54108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6" name="Conector em curva 75"/>
            <p:cNvSpPr/>
            <p:nvPr/>
          </p:nvSpPr>
          <p:spPr>
            <a:xfrm flipV="1">
              <a:off x="3503160" y="4038840"/>
              <a:ext cx="541080" cy="58140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7" name="Conector em curva 78"/>
            <p:cNvSpPr/>
            <p:nvPr/>
          </p:nvSpPr>
          <p:spPr>
            <a:xfrm flipH="1" rot="16200000">
              <a:off x="4043880" y="4040280"/>
              <a:ext cx="603720" cy="60192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8" name="CaixaDeTexto 68"/>
            <p:cNvSpPr/>
            <p:nvPr/>
          </p:nvSpPr>
          <p:spPr>
            <a:xfrm>
              <a:off x="2785680" y="500400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3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699" name="CaixaDeTexto 69"/>
            <p:cNvSpPr/>
            <p:nvPr/>
          </p:nvSpPr>
          <p:spPr>
            <a:xfrm>
              <a:off x="3204000" y="370764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1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700" name="CaixaDeTexto 70"/>
            <p:cNvSpPr/>
            <p:nvPr/>
          </p:nvSpPr>
          <p:spPr>
            <a:xfrm>
              <a:off x="2483640" y="448596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2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701" name="CaixaDeTexto 71"/>
            <p:cNvSpPr/>
            <p:nvPr/>
          </p:nvSpPr>
          <p:spPr>
            <a:xfrm>
              <a:off x="3283200" y="493200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4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702" name="CaixaDeTexto 72"/>
            <p:cNvSpPr/>
            <p:nvPr/>
          </p:nvSpPr>
          <p:spPr>
            <a:xfrm>
              <a:off x="3132000" y="550800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5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703" name="CaixaDeTexto 73"/>
            <p:cNvSpPr/>
            <p:nvPr/>
          </p:nvSpPr>
          <p:spPr>
            <a:xfrm>
              <a:off x="3564000" y="573336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6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704" name="CaixaDeTexto 74"/>
            <p:cNvSpPr/>
            <p:nvPr/>
          </p:nvSpPr>
          <p:spPr>
            <a:xfrm>
              <a:off x="3931200" y="601200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7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705" name="CaixaDeTexto 75"/>
            <p:cNvSpPr/>
            <p:nvPr/>
          </p:nvSpPr>
          <p:spPr>
            <a:xfrm>
              <a:off x="4428000" y="544536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8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706" name="CaixaDeTexto 76"/>
            <p:cNvSpPr/>
            <p:nvPr/>
          </p:nvSpPr>
          <p:spPr>
            <a:xfrm>
              <a:off x="3852000" y="479700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9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707" name="CaixaDeTexto 77"/>
            <p:cNvSpPr/>
            <p:nvPr/>
          </p:nvSpPr>
          <p:spPr>
            <a:xfrm>
              <a:off x="3732120" y="4365000"/>
              <a:ext cx="49644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10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708" name="CaixaDeTexto 78"/>
            <p:cNvSpPr/>
            <p:nvPr/>
          </p:nvSpPr>
          <p:spPr>
            <a:xfrm>
              <a:off x="4116960" y="4193280"/>
              <a:ext cx="49644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11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709" name="CaixaDeTexto 79"/>
            <p:cNvSpPr/>
            <p:nvPr/>
          </p:nvSpPr>
          <p:spPr>
            <a:xfrm>
              <a:off x="4435560" y="3707640"/>
              <a:ext cx="49644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12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710" name="Conector em curva 94"/>
            <p:cNvSpPr/>
            <p:nvPr/>
          </p:nvSpPr>
          <p:spPr>
            <a:xfrm flipV="1" rot="16200000">
              <a:off x="4222440" y="3861000"/>
              <a:ext cx="603720" cy="60192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</p:grpSp>
      <p:graphicFrame>
        <p:nvGraphicFramePr>
          <p:cNvPr id="711" name="Tabela 81"/>
          <p:cNvGraphicFramePr/>
          <p:nvPr/>
        </p:nvGraphicFramePr>
        <p:xfrm>
          <a:off x="5292000" y="1574640"/>
          <a:ext cx="3672000" cy="4820400"/>
        </p:xfrm>
        <a:graphic>
          <a:graphicData uri="http://schemas.openxmlformats.org/drawingml/2006/table">
            <a:tbl>
              <a:tblPr/>
              <a:tblGrid>
                <a:gridCol w="590760"/>
                <a:gridCol w="3081240"/>
              </a:tblGrid>
              <a:tr h="370800"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inicia no nó 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visita B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visita D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imprime D, volta para B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visita E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visita F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imprime F, volta para E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visita G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imprime G, volta para E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imprime E, volta para B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imprime B, volta para 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visita C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40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imprime C, volta para A e imprime 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B47254-9CC4-4A72-84A2-E8ADEAB58650}" type="slidenum">
              <a:t>40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/>
          </p:nvPr>
        </p:nvSpPr>
        <p:spPr>
          <a:xfrm>
            <a:off x="1371600" y="2743200"/>
            <a:ext cx="7122600" cy="167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13" name="PlaceHolder 2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1976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81000"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ffffff"/>
                </a:solidFill>
                <a:latin typeface="Tw Cen MT"/>
              </a:rPr>
              <a:t>Árvore Binária de Busca - ABB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CF2D369-B323-4E2B-A171-95F4DAA3B64E}" type="slidenum">
              <a:t>41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 de Busca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15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Definição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É uma árvore binária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Cada nó pode ter 0, 1 ou 2 filhos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Cada nó possui da árvore possui um valor (chave) associado a ele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Não existem valores repetidos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Esse valor determina a posição do nó na árvore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C8B254-2FC1-4ED7-8551-4FA4EA53FD2B}" type="slidenum">
              <a:t>42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 de Busca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17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Regra para posicionamento dos valores na árvore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Para cada nó pai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todos os valores da sub-árvore </a:t>
            </a:r>
            <a:r>
              <a:rPr b="1" lang="pt-BR" sz="2300" spc="-1" strike="noStrike">
                <a:solidFill>
                  <a:srgbClr val="000000"/>
                </a:solidFill>
                <a:latin typeface="Tw Cen MT"/>
              </a:rPr>
              <a:t>esquerda são menores </a:t>
            </a: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do que o nó pai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todos os valores da sub-árvore </a:t>
            </a:r>
            <a:r>
              <a:rPr b="1" lang="pt-BR" sz="2300" spc="-1" strike="noStrike">
                <a:solidFill>
                  <a:srgbClr val="000000"/>
                </a:solidFill>
                <a:latin typeface="Tw Cen MT"/>
              </a:rPr>
              <a:t>direita são maiores </a:t>
            </a: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do que o nó pai;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Inserção e remoção devem ser realizadas respeitando essa regra de posicionamento dos nós.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81061A-B829-46EA-9F24-1AC5925DB395}" type="slidenum">
              <a:t>43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 de Busca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19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Exemplo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20" name="Elipse 48"/>
          <p:cNvSpPr/>
          <p:nvPr/>
        </p:nvSpPr>
        <p:spPr>
          <a:xfrm>
            <a:off x="4515120" y="3103560"/>
            <a:ext cx="539640" cy="53964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1" name="Elipse 49"/>
          <p:cNvSpPr/>
          <p:nvPr/>
        </p:nvSpPr>
        <p:spPr>
          <a:xfrm>
            <a:off x="3060000" y="4653000"/>
            <a:ext cx="539640" cy="53964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2" name="Elipse 50"/>
          <p:cNvSpPr/>
          <p:nvPr/>
        </p:nvSpPr>
        <p:spPr>
          <a:xfrm>
            <a:off x="3777120" y="3863880"/>
            <a:ext cx="539640" cy="53964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3" name="Elipse 51"/>
          <p:cNvSpPr/>
          <p:nvPr/>
        </p:nvSpPr>
        <p:spPr>
          <a:xfrm>
            <a:off x="5256000" y="5448240"/>
            <a:ext cx="539640" cy="53964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4" name="Elipse 52"/>
          <p:cNvSpPr/>
          <p:nvPr/>
        </p:nvSpPr>
        <p:spPr>
          <a:xfrm>
            <a:off x="4497120" y="4653000"/>
            <a:ext cx="539640" cy="53964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5" name="Elipse 53"/>
          <p:cNvSpPr/>
          <p:nvPr/>
        </p:nvSpPr>
        <p:spPr>
          <a:xfrm>
            <a:off x="3852000" y="5448240"/>
            <a:ext cx="539640" cy="53964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6" name="Conector reto 54"/>
          <p:cNvSpPr/>
          <p:nvPr/>
        </p:nvSpPr>
        <p:spPr>
          <a:xfrm flipV="1">
            <a:off x="4237920" y="3564360"/>
            <a:ext cx="356040" cy="378360"/>
          </a:xfrm>
          <a:prstGeom prst="line">
            <a:avLst/>
          </a:prstGeom>
          <a:ln w="38100">
            <a:solidFill>
              <a:srgbClr val="000000"/>
            </a:solidFill>
            <a:round/>
            <a:headEnd len="med" type="triangle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727" name="Conector reto 55"/>
          <p:cNvSpPr/>
          <p:nvPr/>
        </p:nvSpPr>
        <p:spPr>
          <a:xfrm flipV="1">
            <a:off x="3520440" y="4324680"/>
            <a:ext cx="335520" cy="407520"/>
          </a:xfrm>
          <a:prstGeom prst="line">
            <a:avLst/>
          </a:prstGeom>
          <a:ln w="38100">
            <a:solidFill>
              <a:srgbClr val="000000"/>
            </a:solidFill>
            <a:round/>
            <a:headEnd len="med" type="triangle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728" name="Conector reto 56"/>
          <p:cNvSpPr/>
          <p:nvPr/>
        </p:nvSpPr>
        <p:spPr>
          <a:xfrm flipH="1" flipV="1">
            <a:off x="4957920" y="5113800"/>
            <a:ext cx="377280" cy="413280"/>
          </a:xfrm>
          <a:prstGeom prst="line">
            <a:avLst/>
          </a:prstGeom>
          <a:ln w="38100">
            <a:solidFill>
              <a:srgbClr val="000000"/>
            </a:solidFill>
            <a:round/>
            <a:headEnd len="med" type="triangle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729" name="Conector reto 57"/>
          <p:cNvSpPr/>
          <p:nvPr/>
        </p:nvSpPr>
        <p:spPr>
          <a:xfrm flipH="1">
            <a:off x="4312800" y="5113800"/>
            <a:ext cx="263160" cy="413280"/>
          </a:xfrm>
          <a:prstGeom prst="line">
            <a:avLst/>
          </a:prstGeom>
          <a:ln w="38100">
            <a:solidFill>
              <a:srgbClr val="000000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730" name="Conector reto 58"/>
          <p:cNvSpPr/>
          <p:nvPr/>
        </p:nvSpPr>
        <p:spPr>
          <a:xfrm>
            <a:off x="4237920" y="4324680"/>
            <a:ext cx="338040" cy="407520"/>
          </a:xfrm>
          <a:prstGeom prst="line">
            <a:avLst/>
          </a:prstGeom>
          <a:ln w="38100">
            <a:solidFill>
              <a:srgbClr val="000000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731" name="Elipse 59"/>
          <p:cNvSpPr/>
          <p:nvPr/>
        </p:nvSpPr>
        <p:spPr>
          <a:xfrm>
            <a:off x="5277960" y="3886200"/>
            <a:ext cx="539640" cy="539640"/>
          </a:xfrm>
          <a:prstGeom prst="ellipse">
            <a:avLst/>
          </a:prstGeom>
          <a:solidFill>
            <a:srgbClr val="b9cde5"/>
          </a:solidFill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2" name="Conector reto 60"/>
          <p:cNvSpPr/>
          <p:nvPr/>
        </p:nvSpPr>
        <p:spPr>
          <a:xfrm flipH="1" flipV="1">
            <a:off x="4975560" y="3564360"/>
            <a:ext cx="381600" cy="401040"/>
          </a:xfrm>
          <a:prstGeom prst="line">
            <a:avLst/>
          </a:prstGeom>
          <a:ln w="38100">
            <a:solidFill>
              <a:srgbClr val="000000"/>
            </a:solidFill>
            <a:round/>
            <a:headEnd len="med" type="triangle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733" name="Retângulo 61"/>
          <p:cNvSpPr/>
          <p:nvPr/>
        </p:nvSpPr>
        <p:spPr>
          <a:xfrm>
            <a:off x="4407120" y="2277000"/>
            <a:ext cx="755640" cy="359640"/>
          </a:xfrm>
          <a:prstGeom prst="rect">
            <a:avLst/>
          </a:prstGeom>
          <a:noFill/>
          <a:ln w="25400">
            <a:solidFill>
              <a:srgbClr val="3a5f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</a:rPr>
              <a:t>raiz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734" name="Conector reto 62"/>
          <p:cNvSpPr/>
          <p:nvPr/>
        </p:nvSpPr>
        <p:spPr>
          <a:xfrm flipV="1">
            <a:off x="4784760" y="2636640"/>
            <a:ext cx="360" cy="466560"/>
          </a:xfrm>
          <a:prstGeom prst="line">
            <a:avLst/>
          </a:prstGeom>
          <a:ln w="38100">
            <a:solidFill>
              <a:srgbClr val="000000"/>
            </a:solidFill>
            <a:round/>
            <a:headEnd len="med" type="triangle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735" name="CaixaDeTexto 63"/>
          <p:cNvSpPr/>
          <p:nvPr/>
        </p:nvSpPr>
        <p:spPr>
          <a:xfrm>
            <a:off x="4551120" y="3182040"/>
            <a:ext cx="4676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Tw Cen MT"/>
              </a:rPr>
              <a:t>50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736" name="CaixaDeTexto 64"/>
          <p:cNvSpPr/>
          <p:nvPr/>
        </p:nvSpPr>
        <p:spPr>
          <a:xfrm>
            <a:off x="3820680" y="3951360"/>
            <a:ext cx="4676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Tw Cen MT"/>
              </a:rPr>
              <a:t>10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737" name="CaixaDeTexto 65"/>
          <p:cNvSpPr/>
          <p:nvPr/>
        </p:nvSpPr>
        <p:spPr>
          <a:xfrm>
            <a:off x="5314320" y="3960360"/>
            <a:ext cx="4676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Tw Cen MT"/>
              </a:rPr>
              <a:t>99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738" name="CaixaDeTexto 66"/>
          <p:cNvSpPr/>
          <p:nvPr/>
        </p:nvSpPr>
        <p:spPr>
          <a:xfrm>
            <a:off x="4549680" y="4739760"/>
            <a:ext cx="4676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Tw Cen MT"/>
              </a:rPr>
              <a:t>30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739" name="CaixaDeTexto 67"/>
          <p:cNvSpPr/>
          <p:nvPr/>
        </p:nvSpPr>
        <p:spPr>
          <a:xfrm>
            <a:off x="3100680" y="4725000"/>
            <a:ext cx="467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Tw Cen MT"/>
              </a:rPr>
              <a:t>5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740" name="CaixaDeTexto 68"/>
          <p:cNvSpPr/>
          <p:nvPr/>
        </p:nvSpPr>
        <p:spPr>
          <a:xfrm>
            <a:off x="3888000" y="5522040"/>
            <a:ext cx="4676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Tw Cen MT"/>
              </a:rPr>
              <a:t>25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741" name="CaixaDeTexto 69"/>
          <p:cNvSpPr/>
          <p:nvPr/>
        </p:nvSpPr>
        <p:spPr>
          <a:xfrm>
            <a:off x="5287320" y="5517360"/>
            <a:ext cx="4676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2000" spc="-1" strike="noStrike">
                <a:solidFill>
                  <a:srgbClr val="ffffff"/>
                </a:solidFill>
                <a:latin typeface="Tw Cen MT"/>
              </a:rPr>
              <a:t>45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7492F5-6B66-45C8-AADA-8F0D8D781F45}" type="slidenum">
              <a:t>44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 de Busca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43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Ótima alternativa para operações de busca binária 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Possui a vantagem de ser uma estrutura dinâmica em comparação ao array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É mais fácil inserir valores na árvore do que em um array ordenado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Array: envolve deslocamento de elementos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481D4B-8FFB-4203-853F-05863C803FC6}" type="slidenum">
              <a:t>45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 de Busca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45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Custo para as principais operações em uma </a:t>
            </a:r>
            <a:r>
              <a:rPr b="1" lang="pt-BR" sz="2900" spc="-1" strike="noStrike">
                <a:solidFill>
                  <a:srgbClr val="000000"/>
                </a:solidFill>
                <a:latin typeface="Tw Cen MT"/>
              </a:rPr>
              <a:t>árvore binária de busca</a:t>
            </a: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 contendo </a:t>
            </a:r>
            <a:r>
              <a:rPr b="1" lang="pt-BR" sz="2900" spc="-1" strike="noStrike">
                <a:solidFill>
                  <a:srgbClr val="000000"/>
                </a:solidFill>
                <a:latin typeface="Tw Cen MT"/>
              </a:rPr>
              <a:t>N </a:t>
            </a: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nós. 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O pior caso ocorre quando a árvore não está balanceada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graphicFrame>
        <p:nvGraphicFramePr>
          <p:cNvPr id="746" name="Tabela 4"/>
          <p:cNvGraphicFramePr/>
          <p:nvPr/>
        </p:nvGraphicFramePr>
        <p:xfrm>
          <a:off x="2571840" y="3857760"/>
          <a:ext cx="4500360" cy="1482840"/>
        </p:xfrm>
        <a:graphic>
          <a:graphicData uri="http://schemas.openxmlformats.org/drawingml/2006/table">
            <a:tbl>
              <a:tblPr/>
              <a:tblGrid>
                <a:gridCol w="1500120"/>
                <a:gridCol w="1667880"/>
                <a:gridCol w="1332360"/>
              </a:tblGrid>
              <a:tr h="370800"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Melhor Caso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Pior Caso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Inserção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i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O(log N)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i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O(N)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Remoção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i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O(log N)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i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O(N)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Busca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i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O(log N)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i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O(N)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FB1821-C5AF-4492-BDCD-F9B4519EC50B}" type="slidenum">
              <a:t>46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81000"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 de Busca - Inserção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48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9000"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Para inserir um valor </a:t>
            </a:r>
            <a:r>
              <a:rPr b="1" lang="pt-BR" sz="2900" spc="-1" strike="noStrike">
                <a:solidFill>
                  <a:srgbClr val="000000"/>
                </a:solidFill>
                <a:latin typeface="Tw Cen MT"/>
              </a:rPr>
              <a:t>V</a:t>
            </a: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 na árvore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Se a raiz é igual a </a:t>
            </a:r>
            <a:r>
              <a:rPr b="1" lang="pt-BR" sz="2600" spc="-1" strike="noStrike">
                <a:solidFill>
                  <a:srgbClr val="000000"/>
                </a:solidFill>
                <a:latin typeface="Tw Cen MT"/>
              </a:rPr>
              <a:t>NULL</a:t>
            </a: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, insira o nó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Se </a:t>
            </a:r>
            <a:r>
              <a:rPr b="1" lang="pt-BR" sz="2600" spc="-1" strike="noStrike">
                <a:solidFill>
                  <a:srgbClr val="000000"/>
                </a:solidFill>
                <a:latin typeface="Tw Cen MT"/>
              </a:rPr>
              <a:t>V</a:t>
            </a: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 é menor do que a raiz: vá para a </a:t>
            </a:r>
            <a:r>
              <a:rPr b="1" lang="pt-BR" sz="2600" spc="-1" strike="noStrike">
                <a:solidFill>
                  <a:srgbClr val="000000"/>
                </a:solidFill>
                <a:latin typeface="Tw Cen MT"/>
              </a:rPr>
              <a:t>sub-árvore esquerda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Se </a:t>
            </a:r>
            <a:r>
              <a:rPr b="1" lang="pt-BR" sz="2600" spc="-1" strike="noStrike">
                <a:solidFill>
                  <a:srgbClr val="000000"/>
                </a:solidFill>
                <a:latin typeface="Tw Cen MT"/>
              </a:rPr>
              <a:t>V</a:t>
            </a: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 é maior do que a raiz: vá para a </a:t>
            </a:r>
            <a:r>
              <a:rPr b="1" lang="pt-BR" sz="2600" spc="-1" strike="noStrike">
                <a:solidFill>
                  <a:srgbClr val="000000"/>
                </a:solidFill>
                <a:latin typeface="Tw Cen MT"/>
              </a:rPr>
              <a:t>sub-árvore direita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Aplique o método </a:t>
            </a:r>
            <a:r>
              <a:rPr b="1" lang="pt-BR" sz="2600" spc="-1" strike="noStrike">
                <a:solidFill>
                  <a:srgbClr val="000000"/>
                </a:solidFill>
                <a:latin typeface="Tw Cen MT"/>
              </a:rPr>
              <a:t>recursivamente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pode ser feito sem recursão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Dessa forma, percorremos um conjunto de nós da árvore até chegar ao nó folha que irá se tornar o pai do novo nó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8A5076-B03E-47A5-B743-1E250DFF7E95}" type="slidenum">
              <a:t>47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81000"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 de Busca: Inserção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50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Devemos também considerar a inserção em uma árvore que está vazia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751" name="Grupo 10"/>
          <p:cNvGrpSpPr/>
          <p:nvPr/>
        </p:nvGrpSpPr>
        <p:grpSpPr>
          <a:xfrm>
            <a:off x="3420000" y="3193560"/>
            <a:ext cx="2304000" cy="2873160"/>
            <a:chOff x="3420000" y="3193560"/>
            <a:chExt cx="2304000" cy="2873160"/>
          </a:xfrm>
        </p:grpSpPr>
        <p:sp>
          <p:nvSpPr>
            <p:cNvPr id="752" name="Elipse 4"/>
            <p:cNvSpPr/>
            <p:nvPr/>
          </p:nvSpPr>
          <p:spPr>
            <a:xfrm>
              <a:off x="4302000" y="4958280"/>
              <a:ext cx="539640" cy="539640"/>
            </a:xfrm>
            <a:prstGeom prst="ellipse">
              <a:avLst/>
            </a:prstGeom>
            <a:pattFill prst="wdUpDiag">
              <a:fgClr>
                <a:srgbClr val="000000"/>
              </a:fgClr>
              <a:bgClr>
                <a:srgbClr val="000000"/>
              </a:bgClr>
            </a:patt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3" name="Retângulo 5"/>
            <p:cNvSpPr/>
            <p:nvPr/>
          </p:nvSpPr>
          <p:spPr>
            <a:xfrm>
              <a:off x="4194000" y="4131720"/>
              <a:ext cx="755640" cy="35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raiz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754" name="Conector reto 6"/>
            <p:cNvSpPr/>
            <p:nvPr/>
          </p:nvSpPr>
          <p:spPr>
            <a:xfrm flipV="1">
              <a:off x="4572000" y="4491360"/>
              <a:ext cx="360" cy="4665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5" name="CaixaDeTexto 7"/>
            <p:cNvSpPr/>
            <p:nvPr/>
          </p:nvSpPr>
          <p:spPr>
            <a:xfrm>
              <a:off x="4338000" y="503676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40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756" name="CaixaDeTexto 8"/>
            <p:cNvSpPr/>
            <p:nvPr/>
          </p:nvSpPr>
          <p:spPr>
            <a:xfrm>
              <a:off x="3724560" y="5733720"/>
              <a:ext cx="178344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pt-BR" sz="1600" spc="-1" strike="noStrike">
                  <a:solidFill>
                    <a:srgbClr val="000000"/>
                  </a:solidFill>
                  <a:latin typeface="Courier New"/>
                </a:rPr>
                <a:t>*raiz = novo;</a:t>
              </a:r>
              <a:endParaRPr b="0" lang="pt-BR" sz="1600" spc="-1" strike="noStrike">
                <a:latin typeface="Arial"/>
              </a:endParaRPr>
            </a:p>
          </p:txBody>
        </p:sp>
        <p:sp>
          <p:nvSpPr>
            <p:cNvPr id="757" name="CaixaDeTexto 9"/>
            <p:cNvSpPr/>
            <p:nvPr/>
          </p:nvSpPr>
          <p:spPr>
            <a:xfrm>
              <a:off x="3420000" y="3193560"/>
              <a:ext cx="2304000" cy="91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Insere o valor ‘40’ em uma árvore vazia</a:t>
              </a:r>
              <a:endParaRPr b="0" lang="pt-BR" sz="1800" spc="-1" strike="noStrike"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B43912-7701-426E-9FCA-F976BB339657}" type="slidenum">
              <a:t>48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TAD 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59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Inserção em uma Árvore Binária de Busca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pic>
        <p:nvPicPr>
          <p:cNvPr id="760" name="Picture 3" descr=""/>
          <p:cNvPicPr/>
          <p:nvPr/>
        </p:nvPicPr>
        <p:blipFill>
          <a:blip r:embed="rId1"/>
          <a:srcRect l="8315" t="26151" r="0" b="22335"/>
          <a:stretch/>
        </p:blipFill>
        <p:spPr>
          <a:xfrm>
            <a:off x="1925640" y="2205000"/>
            <a:ext cx="5820120" cy="23824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5334AD-DCF0-4BB6-83FA-F18F816637AA}" type="slidenum">
              <a:t>49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TAD 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62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Inserção em uma Árvore Binária de Busca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763" name="Grupo 12"/>
          <p:cNvGrpSpPr/>
          <p:nvPr/>
        </p:nvGrpSpPr>
        <p:grpSpPr>
          <a:xfrm>
            <a:off x="226440" y="2061000"/>
            <a:ext cx="7519320" cy="4752000"/>
            <a:chOff x="226440" y="2061000"/>
            <a:chExt cx="7519320" cy="4752000"/>
          </a:xfrm>
        </p:grpSpPr>
        <p:pic>
          <p:nvPicPr>
            <p:cNvPr id="764" name="Picture 2" descr=""/>
            <p:cNvPicPr/>
            <p:nvPr/>
          </p:nvPicPr>
          <p:blipFill>
            <a:blip r:embed="rId1"/>
            <a:stretch/>
          </p:blipFill>
          <p:spPr>
            <a:xfrm>
              <a:off x="1397880" y="2134800"/>
              <a:ext cx="6347880" cy="4625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65" name="Chave esquerda 5"/>
            <p:cNvSpPr/>
            <p:nvPr/>
          </p:nvSpPr>
          <p:spPr>
            <a:xfrm>
              <a:off x="2195640" y="3285000"/>
              <a:ext cx="359640" cy="194400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38100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66" name="Retângulo 6"/>
            <p:cNvSpPr/>
            <p:nvPr/>
          </p:nvSpPr>
          <p:spPr>
            <a:xfrm>
              <a:off x="1187640" y="2061000"/>
              <a:ext cx="719640" cy="4752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67" name="Conector angulado 7"/>
            <p:cNvSpPr/>
            <p:nvPr/>
          </p:nvSpPr>
          <p:spPr>
            <a:xfrm flipH="1" rot="16200000">
              <a:off x="1254960" y="3316680"/>
              <a:ext cx="872280" cy="1007640"/>
            </a:xfrm>
            <a:prstGeom prst="bentConnector2">
              <a:avLst/>
            </a:prstGeom>
            <a:noFill/>
            <a:ln w="38100">
              <a:solidFill>
                <a:srgbClr val="000000"/>
              </a:solidFill>
              <a:round/>
              <a:tailEnd len="med" type="arrow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68" name="CaixaDeTexto 8"/>
            <p:cNvSpPr/>
            <p:nvPr/>
          </p:nvSpPr>
          <p:spPr>
            <a:xfrm>
              <a:off x="226440" y="2061000"/>
              <a:ext cx="1922040" cy="161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pt-BR" sz="2000" spc="-1" strike="noStrike">
                  <a:solidFill>
                    <a:srgbClr val="000000"/>
                  </a:solidFill>
                  <a:latin typeface="Tw Cen MT"/>
                </a:rPr>
                <a:t>Navega nos nós da árvore até chegar em um nó folha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769" name="Chave esquerda 9"/>
            <p:cNvSpPr/>
            <p:nvPr/>
          </p:nvSpPr>
          <p:spPr>
            <a:xfrm>
              <a:off x="2195640" y="5517360"/>
              <a:ext cx="359640" cy="71964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38100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70" name="Conector angulado 10"/>
            <p:cNvSpPr/>
            <p:nvPr/>
          </p:nvSpPr>
          <p:spPr>
            <a:xfrm flipH="1" rot="16200000">
              <a:off x="1550880" y="5232960"/>
              <a:ext cx="280080" cy="1007640"/>
            </a:xfrm>
            <a:prstGeom prst="bentConnector2">
              <a:avLst/>
            </a:prstGeom>
            <a:noFill/>
            <a:ln w="38100">
              <a:solidFill>
                <a:srgbClr val="000000"/>
              </a:solidFill>
              <a:round/>
              <a:tailEnd len="med" type="arrow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71" name="CaixaDeTexto 11"/>
            <p:cNvSpPr/>
            <p:nvPr/>
          </p:nvSpPr>
          <p:spPr>
            <a:xfrm>
              <a:off x="226440" y="4581000"/>
              <a:ext cx="1922040" cy="100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pt-BR" sz="2000" spc="-1" strike="noStrike">
                  <a:solidFill>
                    <a:srgbClr val="000000"/>
                  </a:solidFill>
                  <a:latin typeface="Tw Cen MT"/>
                </a:rPr>
                <a:t>Insere como filho desse nó folha</a:t>
              </a:r>
              <a:endParaRPr b="0" lang="pt-BR" sz="2000" spc="-1" strike="noStrike"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0324A4-77C2-4843-84D4-9592CD9EC419}" type="slidenum">
              <a:t>50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81000"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 de Busca: Inserção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773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Exemplo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graphicFrame>
        <p:nvGraphicFramePr>
          <p:cNvPr id="774" name="Tabela 80"/>
          <p:cNvGraphicFramePr/>
          <p:nvPr/>
        </p:nvGraphicFramePr>
        <p:xfrm>
          <a:off x="4882320" y="2520360"/>
          <a:ext cx="3528000" cy="1854000"/>
        </p:xfrm>
        <a:graphic>
          <a:graphicData uri="http://schemas.openxmlformats.org/drawingml/2006/table">
            <a:tbl>
              <a:tblPr/>
              <a:tblGrid>
                <a:gridCol w="587880"/>
                <a:gridCol w="2940120"/>
              </a:tblGrid>
              <a:tr h="887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valor é menor do que 50: visita filho da esquerda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887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valor é maior do que 10: visita filho da direita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887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valor é maior do que 30: visita filho da direita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887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valor é menor do que 45: visita filho da esquerda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11530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Fim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Não existe filho da esquerda. Valor passa a ser o filho da esquerda de 45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grpSp>
        <p:nvGrpSpPr>
          <p:cNvPr id="775" name="Grupo 88"/>
          <p:cNvGrpSpPr/>
          <p:nvPr/>
        </p:nvGrpSpPr>
        <p:grpSpPr>
          <a:xfrm>
            <a:off x="1785960" y="2143080"/>
            <a:ext cx="6714360" cy="4809960"/>
            <a:chOff x="1785960" y="2143080"/>
            <a:chExt cx="6714360" cy="4809960"/>
          </a:xfrm>
        </p:grpSpPr>
        <p:sp>
          <p:nvSpPr>
            <p:cNvPr id="776" name="Elipse 46"/>
            <p:cNvSpPr/>
            <p:nvPr/>
          </p:nvSpPr>
          <p:spPr>
            <a:xfrm>
              <a:off x="3241080" y="300528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7" name="Elipse 47"/>
            <p:cNvSpPr/>
            <p:nvPr/>
          </p:nvSpPr>
          <p:spPr>
            <a:xfrm>
              <a:off x="1785960" y="455508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8" name="Elipse 48"/>
            <p:cNvSpPr/>
            <p:nvPr/>
          </p:nvSpPr>
          <p:spPr>
            <a:xfrm>
              <a:off x="2503080" y="376560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9" name="Elipse 49"/>
            <p:cNvSpPr/>
            <p:nvPr/>
          </p:nvSpPr>
          <p:spPr>
            <a:xfrm>
              <a:off x="3982320" y="534996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0" name="Elipse 50"/>
            <p:cNvSpPr/>
            <p:nvPr/>
          </p:nvSpPr>
          <p:spPr>
            <a:xfrm>
              <a:off x="3223080" y="455508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1" name="Elipse 51"/>
            <p:cNvSpPr/>
            <p:nvPr/>
          </p:nvSpPr>
          <p:spPr>
            <a:xfrm>
              <a:off x="2577960" y="534996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2" name="Conector reto 52"/>
            <p:cNvSpPr/>
            <p:nvPr/>
          </p:nvSpPr>
          <p:spPr>
            <a:xfrm flipV="1">
              <a:off x="2963880" y="3466080"/>
              <a:ext cx="356040" cy="3783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3" name="Conector reto 53"/>
            <p:cNvSpPr/>
            <p:nvPr/>
          </p:nvSpPr>
          <p:spPr>
            <a:xfrm flipV="1">
              <a:off x="2246760" y="4226400"/>
              <a:ext cx="335160" cy="407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4" name="Conector reto 54"/>
            <p:cNvSpPr/>
            <p:nvPr/>
          </p:nvSpPr>
          <p:spPr>
            <a:xfrm flipH="1" flipV="1">
              <a:off x="3683880" y="5015520"/>
              <a:ext cx="377280" cy="41328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5" name="Conector reto 55"/>
            <p:cNvSpPr/>
            <p:nvPr/>
          </p:nvSpPr>
          <p:spPr>
            <a:xfrm flipH="1">
              <a:off x="3038760" y="5015520"/>
              <a:ext cx="263520" cy="41328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tail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6" name="Conector reto 56"/>
            <p:cNvSpPr/>
            <p:nvPr/>
          </p:nvSpPr>
          <p:spPr>
            <a:xfrm>
              <a:off x="2963880" y="4226400"/>
              <a:ext cx="338400" cy="407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tail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7" name="Elipse 57"/>
            <p:cNvSpPr/>
            <p:nvPr/>
          </p:nvSpPr>
          <p:spPr>
            <a:xfrm>
              <a:off x="4004280" y="378792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8" name="Conector reto 58"/>
            <p:cNvSpPr/>
            <p:nvPr/>
          </p:nvSpPr>
          <p:spPr>
            <a:xfrm flipH="1" flipV="1">
              <a:off x="3701880" y="3466080"/>
              <a:ext cx="381240" cy="4010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9" name="Retângulo 59"/>
            <p:cNvSpPr/>
            <p:nvPr/>
          </p:nvSpPr>
          <p:spPr>
            <a:xfrm>
              <a:off x="3133080" y="2178720"/>
              <a:ext cx="755640" cy="35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raiz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790" name="Conector reto 60"/>
            <p:cNvSpPr/>
            <p:nvPr/>
          </p:nvSpPr>
          <p:spPr>
            <a:xfrm flipV="1">
              <a:off x="3510720" y="2538360"/>
              <a:ext cx="360" cy="4669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1" name="CaixaDeTexto 61"/>
            <p:cNvSpPr/>
            <p:nvPr/>
          </p:nvSpPr>
          <p:spPr>
            <a:xfrm>
              <a:off x="3277080" y="308376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50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792" name="CaixaDeTexto 62"/>
            <p:cNvSpPr/>
            <p:nvPr/>
          </p:nvSpPr>
          <p:spPr>
            <a:xfrm>
              <a:off x="2547000" y="38530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10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793" name="CaixaDeTexto 63"/>
            <p:cNvSpPr/>
            <p:nvPr/>
          </p:nvSpPr>
          <p:spPr>
            <a:xfrm>
              <a:off x="4040640" y="38620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99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794" name="CaixaDeTexto 64"/>
            <p:cNvSpPr/>
            <p:nvPr/>
          </p:nvSpPr>
          <p:spPr>
            <a:xfrm>
              <a:off x="3275640" y="46414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30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795" name="CaixaDeTexto 65"/>
            <p:cNvSpPr/>
            <p:nvPr/>
          </p:nvSpPr>
          <p:spPr>
            <a:xfrm>
              <a:off x="1827000" y="4627080"/>
              <a:ext cx="4676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796" name="CaixaDeTexto 66"/>
            <p:cNvSpPr/>
            <p:nvPr/>
          </p:nvSpPr>
          <p:spPr>
            <a:xfrm>
              <a:off x="2613960" y="542376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25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797" name="CaixaDeTexto 67"/>
            <p:cNvSpPr/>
            <p:nvPr/>
          </p:nvSpPr>
          <p:spPr>
            <a:xfrm>
              <a:off x="4013280" y="54190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45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798" name="Elipse 68"/>
            <p:cNvSpPr/>
            <p:nvPr/>
          </p:nvSpPr>
          <p:spPr>
            <a:xfrm>
              <a:off x="3247920" y="6175080"/>
              <a:ext cx="539640" cy="539640"/>
            </a:xfrm>
            <a:prstGeom prst="ellipse">
              <a:avLst/>
            </a:prstGeom>
            <a:pattFill prst="wdUpDiag">
              <a:fgClr>
                <a:srgbClr val="000000"/>
              </a:fgClr>
              <a:bgClr>
                <a:srgbClr val="000000"/>
              </a:bgClr>
            </a:patt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9" name="Conector reto 69"/>
            <p:cNvSpPr/>
            <p:nvPr/>
          </p:nvSpPr>
          <p:spPr>
            <a:xfrm flipV="1">
              <a:off x="3708720" y="5810760"/>
              <a:ext cx="352440" cy="4431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0" name="CaixaDeTexto 70"/>
            <p:cNvSpPr/>
            <p:nvPr/>
          </p:nvSpPr>
          <p:spPr>
            <a:xfrm>
              <a:off x="3283920" y="625356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40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801" name="Conector em curva 83"/>
            <p:cNvSpPr/>
            <p:nvPr/>
          </p:nvSpPr>
          <p:spPr>
            <a:xfrm flipV="1" rot="10800000">
              <a:off x="2773440" y="3274920"/>
              <a:ext cx="467640" cy="4899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2" name="Conector em curva 84"/>
            <p:cNvSpPr/>
            <p:nvPr/>
          </p:nvSpPr>
          <p:spPr>
            <a:xfrm>
              <a:off x="3043080" y="4035600"/>
              <a:ext cx="449640" cy="5187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3" name="Conector em curva 85"/>
            <p:cNvSpPr/>
            <p:nvPr/>
          </p:nvSpPr>
          <p:spPr>
            <a:xfrm>
              <a:off x="3763080" y="4825080"/>
              <a:ext cx="488520" cy="52452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4" name="CaixaDeTexto 75"/>
            <p:cNvSpPr/>
            <p:nvPr/>
          </p:nvSpPr>
          <p:spPr>
            <a:xfrm>
              <a:off x="2599920" y="310536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1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805" name="CaixaDeTexto 76"/>
            <p:cNvSpPr/>
            <p:nvPr/>
          </p:nvSpPr>
          <p:spPr>
            <a:xfrm>
              <a:off x="3895920" y="462708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3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806" name="CaixaDeTexto 77"/>
            <p:cNvSpPr/>
            <p:nvPr/>
          </p:nvSpPr>
          <p:spPr>
            <a:xfrm>
              <a:off x="3175920" y="390672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2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807" name="Conector em curva 90"/>
            <p:cNvSpPr/>
            <p:nvPr/>
          </p:nvSpPr>
          <p:spPr>
            <a:xfrm flipV="1" rot="10800000">
              <a:off x="3518640" y="5619960"/>
              <a:ext cx="463680" cy="55512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8" name="CaixaDeTexto 79"/>
            <p:cNvSpPr/>
            <p:nvPr/>
          </p:nvSpPr>
          <p:spPr>
            <a:xfrm>
              <a:off x="3327480" y="549108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4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809" name="CaixaDeTexto 87"/>
            <p:cNvSpPr/>
            <p:nvPr/>
          </p:nvSpPr>
          <p:spPr>
            <a:xfrm>
              <a:off x="4000320" y="2143080"/>
              <a:ext cx="45000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Insere o valor ‘40’ como um nó folha</a:t>
              </a:r>
              <a:endParaRPr b="0" lang="pt-BR" sz="1800" spc="-1" strike="noStrike"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9BDE6C-FBE5-49EC-A0ED-1097B72964CA}" type="slidenum">
              <a:t>51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81000"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 de Busca: Busca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811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1000"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Consultar se um determinado nó </a:t>
            </a:r>
            <a:r>
              <a:rPr b="1" lang="pt-BR" sz="2900" spc="-1" strike="noStrike">
                <a:solidFill>
                  <a:srgbClr val="000000"/>
                </a:solidFill>
                <a:latin typeface="Tw Cen MT"/>
              </a:rPr>
              <a:t>V </a:t>
            </a: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existe em uma árvore é similar a operação de inserção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primeiro compare o valor buscado com a </a:t>
            </a:r>
            <a:r>
              <a:rPr b="1" lang="pt-BR" sz="2600" spc="-1" strike="noStrike">
                <a:solidFill>
                  <a:srgbClr val="000000"/>
                </a:solidFill>
                <a:latin typeface="Tw Cen MT"/>
              </a:rPr>
              <a:t>raiz</a:t>
            </a: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;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se </a:t>
            </a:r>
            <a:r>
              <a:rPr b="1" lang="pt-BR" sz="2600" spc="-1" strike="noStrike">
                <a:solidFill>
                  <a:srgbClr val="000000"/>
                </a:solidFill>
                <a:latin typeface="Tw Cen MT"/>
              </a:rPr>
              <a:t>V</a:t>
            </a: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 é menor do que a raiz: vá para a </a:t>
            </a:r>
            <a:r>
              <a:rPr b="1" lang="pt-BR" sz="2600" spc="-1" strike="noStrike">
                <a:solidFill>
                  <a:srgbClr val="000000"/>
                </a:solidFill>
                <a:latin typeface="Tw Cen MT"/>
              </a:rPr>
              <a:t>sub-árvore da esquerda</a:t>
            </a: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;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se </a:t>
            </a:r>
            <a:r>
              <a:rPr b="1" lang="pt-BR" sz="2600" spc="-1" strike="noStrike">
                <a:solidFill>
                  <a:srgbClr val="000000"/>
                </a:solidFill>
                <a:latin typeface="Tw Cen MT"/>
              </a:rPr>
              <a:t>V </a:t>
            </a: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é maior do que a raiz: vá para a </a:t>
            </a:r>
            <a:r>
              <a:rPr b="1" lang="pt-BR" sz="2600" spc="-1" strike="noStrike">
                <a:solidFill>
                  <a:srgbClr val="000000"/>
                </a:solidFill>
                <a:latin typeface="Tw Cen MT"/>
              </a:rPr>
              <a:t>sub-árvore da direita</a:t>
            </a: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;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aplique o método recursivamente até que a raiz seja igual ao valor buscado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pode ser feito sem recursão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83C4BD-2626-4788-A447-A55C72F308C8}" type="slidenum">
              <a:t>52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TAD 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813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Busca em uma Árvore Binária de Busca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pic>
        <p:nvPicPr>
          <p:cNvPr id="814" name="Picture 2" descr=""/>
          <p:cNvPicPr/>
          <p:nvPr/>
        </p:nvPicPr>
        <p:blipFill>
          <a:blip r:embed="rId1"/>
          <a:srcRect l="0" t="22429" r="0" b="10780"/>
          <a:stretch/>
        </p:blipFill>
        <p:spPr>
          <a:xfrm>
            <a:off x="1397880" y="2277000"/>
            <a:ext cx="6347880" cy="30891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F665F8-10AD-445D-9CED-CB5C050DA799}" type="slidenum">
              <a:t>53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81000"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 de Busca: Busca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816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Exemplo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817" name="Grupo 60"/>
          <p:cNvGrpSpPr/>
          <p:nvPr/>
        </p:nvGrpSpPr>
        <p:grpSpPr>
          <a:xfrm>
            <a:off x="827640" y="2565000"/>
            <a:ext cx="2757960" cy="3944520"/>
            <a:chOff x="827640" y="2565000"/>
            <a:chExt cx="2757960" cy="3944520"/>
          </a:xfrm>
        </p:grpSpPr>
        <p:sp>
          <p:nvSpPr>
            <p:cNvPr id="818" name="Elipse 32"/>
            <p:cNvSpPr/>
            <p:nvPr/>
          </p:nvSpPr>
          <p:spPr>
            <a:xfrm>
              <a:off x="2282760" y="339156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9" name="Elipse 33"/>
            <p:cNvSpPr/>
            <p:nvPr/>
          </p:nvSpPr>
          <p:spPr>
            <a:xfrm>
              <a:off x="827640" y="494100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0" name="Elipse 34"/>
            <p:cNvSpPr/>
            <p:nvPr/>
          </p:nvSpPr>
          <p:spPr>
            <a:xfrm>
              <a:off x="1544760" y="415188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1" name="Elipse 35"/>
            <p:cNvSpPr/>
            <p:nvPr/>
          </p:nvSpPr>
          <p:spPr>
            <a:xfrm>
              <a:off x="3024000" y="573624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2" name="Elipse 36"/>
            <p:cNvSpPr/>
            <p:nvPr/>
          </p:nvSpPr>
          <p:spPr>
            <a:xfrm>
              <a:off x="2264760" y="4941000"/>
              <a:ext cx="539640" cy="539640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3" name="Elipse 37"/>
            <p:cNvSpPr/>
            <p:nvPr/>
          </p:nvSpPr>
          <p:spPr>
            <a:xfrm>
              <a:off x="1619640" y="573624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4" name="Conector reto 38"/>
            <p:cNvSpPr/>
            <p:nvPr/>
          </p:nvSpPr>
          <p:spPr>
            <a:xfrm flipV="1">
              <a:off x="2005560" y="3852360"/>
              <a:ext cx="356040" cy="3783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5" name="Conector reto 39"/>
            <p:cNvSpPr/>
            <p:nvPr/>
          </p:nvSpPr>
          <p:spPr>
            <a:xfrm flipV="1">
              <a:off x="1288440" y="4612680"/>
              <a:ext cx="335160" cy="407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6" name="Conector reto 40"/>
            <p:cNvSpPr/>
            <p:nvPr/>
          </p:nvSpPr>
          <p:spPr>
            <a:xfrm flipH="1" flipV="1">
              <a:off x="2725560" y="5401800"/>
              <a:ext cx="377280" cy="41328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7" name="Conector reto 41"/>
            <p:cNvSpPr/>
            <p:nvPr/>
          </p:nvSpPr>
          <p:spPr>
            <a:xfrm flipH="1">
              <a:off x="2080440" y="5401800"/>
              <a:ext cx="263520" cy="41328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tail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8" name="Conector reto 42"/>
            <p:cNvSpPr/>
            <p:nvPr/>
          </p:nvSpPr>
          <p:spPr>
            <a:xfrm>
              <a:off x="2005560" y="4612680"/>
              <a:ext cx="338400" cy="407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tail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9" name="Elipse 43"/>
            <p:cNvSpPr/>
            <p:nvPr/>
          </p:nvSpPr>
          <p:spPr>
            <a:xfrm>
              <a:off x="3045960" y="417420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0" name="Conector reto 44"/>
            <p:cNvSpPr/>
            <p:nvPr/>
          </p:nvSpPr>
          <p:spPr>
            <a:xfrm flipH="1" flipV="1">
              <a:off x="2743560" y="3852360"/>
              <a:ext cx="381240" cy="4010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1" name="Retângulo 45"/>
            <p:cNvSpPr/>
            <p:nvPr/>
          </p:nvSpPr>
          <p:spPr>
            <a:xfrm>
              <a:off x="2174760" y="2565000"/>
              <a:ext cx="755640" cy="35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raiz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832" name="Conector reto 46"/>
            <p:cNvSpPr/>
            <p:nvPr/>
          </p:nvSpPr>
          <p:spPr>
            <a:xfrm flipV="1">
              <a:off x="2552400" y="2924640"/>
              <a:ext cx="360" cy="4669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3" name="CaixaDeTexto 47"/>
            <p:cNvSpPr/>
            <p:nvPr/>
          </p:nvSpPr>
          <p:spPr>
            <a:xfrm>
              <a:off x="2318760" y="347004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50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834" name="CaixaDeTexto 48"/>
            <p:cNvSpPr/>
            <p:nvPr/>
          </p:nvSpPr>
          <p:spPr>
            <a:xfrm>
              <a:off x="1588680" y="423936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10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835" name="CaixaDeTexto 49"/>
            <p:cNvSpPr/>
            <p:nvPr/>
          </p:nvSpPr>
          <p:spPr>
            <a:xfrm>
              <a:off x="3082320" y="424836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99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836" name="CaixaDeTexto 50"/>
            <p:cNvSpPr/>
            <p:nvPr/>
          </p:nvSpPr>
          <p:spPr>
            <a:xfrm>
              <a:off x="2317320" y="502776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30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837" name="CaixaDeTexto 51"/>
            <p:cNvSpPr/>
            <p:nvPr/>
          </p:nvSpPr>
          <p:spPr>
            <a:xfrm>
              <a:off x="868680" y="5013000"/>
              <a:ext cx="4676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838" name="CaixaDeTexto 52"/>
            <p:cNvSpPr/>
            <p:nvPr/>
          </p:nvSpPr>
          <p:spPr>
            <a:xfrm>
              <a:off x="1655640" y="581004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25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839" name="CaixaDeTexto 53"/>
            <p:cNvSpPr/>
            <p:nvPr/>
          </p:nvSpPr>
          <p:spPr>
            <a:xfrm>
              <a:off x="3054960" y="580536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45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840" name="Conector em curva 83"/>
            <p:cNvSpPr/>
            <p:nvPr/>
          </p:nvSpPr>
          <p:spPr>
            <a:xfrm flipV="1" rot="10800000">
              <a:off x="1815120" y="3661200"/>
              <a:ext cx="467640" cy="4899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1" name="Conector em curva 84"/>
            <p:cNvSpPr/>
            <p:nvPr/>
          </p:nvSpPr>
          <p:spPr>
            <a:xfrm>
              <a:off x="2084760" y="4421880"/>
              <a:ext cx="449640" cy="5187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2" name="CaixaDeTexto 56"/>
            <p:cNvSpPr/>
            <p:nvPr/>
          </p:nvSpPr>
          <p:spPr>
            <a:xfrm>
              <a:off x="1641600" y="349164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1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843" name="CaixaDeTexto 57"/>
            <p:cNvSpPr/>
            <p:nvPr/>
          </p:nvSpPr>
          <p:spPr>
            <a:xfrm>
              <a:off x="2217600" y="429300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2</a:t>
              </a:r>
              <a:endParaRPr b="0" lang="pt-BR" sz="1800" spc="-1" strike="noStrike">
                <a:latin typeface="Arial"/>
              </a:endParaRPr>
            </a:p>
          </p:txBody>
        </p:sp>
      </p:grpSp>
      <p:graphicFrame>
        <p:nvGraphicFramePr>
          <p:cNvPr id="844" name="Tabela 58"/>
          <p:cNvGraphicFramePr/>
          <p:nvPr/>
        </p:nvGraphicFramePr>
        <p:xfrm>
          <a:off x="4212000" y="3597120"/>
          <a:ext cx="4824000" cy="1112040"/>
        </p:xfrm>
        <a:graphic>
          <a:graphicData uri="http://schemas.openxmlformats.org/drawingml/2006/table">
            <a:tbl>
              <a:tblPr/>
              <a:tblGrid>
                <a:gridCol w="765720"/>
                <a:gridCol w="405864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valor procurado é menor do que 50: visita filho da esquerda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valor procurado é maior do que 10: visita filho da direita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Fim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valor procurado é igual ao do nó: retornar dados do nó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845" name="CaixaDeTexto 59"/>
          <p:cNvSpPr/>
          <p:nvPr/>
        </p:nvSpPr>
        <p:spPr>
          <a:xfrm>
            <a:off x="4788000" y="3216240"/>
            <a:ext cx="4248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</a:rPr>
              <a:t>Valor procurado: 30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DB0562-70F5-472F-9E10-D9BB05AD6DD1}" type="slidenum">
              <a:t>54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81000"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 de Busca: Busca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847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Exemplo: valor buscado não existe!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graphicFrame>
        <p:nvGraphicFramePr>
          <p:cNvPr id="848" name="Tabela 63"/>
          <p:cNvGraphicFramePr/>
          <p:nvPr/>
        </p:nvGraphicFramePr>
        <p:xfrm>
          <a:off x="4140000" y="3389400"/>
          <a:ext cx="4896360" cy="1854000"/>
        </p:xfrm>
        <a:graphic>
          <a:graphicData uri="http://schemas.openxmlformats.org/drawingml/2006/table">
            <a:tbl>
              <a:tblPr/>
              <a:tblGrid>
                <a:gridCol w="720000"/>
                <a:gridCol w="4176360"/>
              </a:tblGrid>
              <a:tr h="887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valor procurado é menor do que 50: visita filho da esquerda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valor procurado é maior do que 10: visita filho da direita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887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valor procurado é menor do que 30: visita filho da esquerda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valor procurado é maior do que 25: visita filho da direita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8877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Fim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Filho da direita de 25 não existe: </a:t>
                      </a:r>
                      <a:endParaRPr b="0" lang="pt-BR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 busca falhou</a:t>
                      </a:r>
                      <a:endParaRPr b="0" lang="pt-BR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849" name="CaixaDeTexto 64"/>
          <p:cNvSpPr/>
          <p:nvPr/>
        </p:nvSpPr>
        <p:spPr>
          <a:xfrm>
            <a:off x="4788000" y="3008880"/>
            <a:ext cx="4248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</a:rPr>
              <a:t>Valor procurado: 28</a:t>
            </a:r>
            <a:endParaRPr b="0" lang="pt-BR" sz="1800" spc="-1" strike="noStrike">
              <a:latin typeface="Arial"/>
            </a:endParaRPr>
          </a:p>
        </p:txBody>
      </p:sp>
      <p:grpSp>
        <p:nvGrpSpPr>
          <p:cNvPr id="850" name="Grupo 4"/>
          <p:cNvGrpSpPr/>
          <p:nvPr/>
        </p:nvGrpSpPr>
        <p:grpSpPr>
          <a:xfrm>
            <a:off x="611640" y="2357280"/>
            <a:ext cx="2757960" cy="4267800"/>
            <a:chOff x="611640" y="2357280"/>
            <a:chExt cx="2757960" cy="4267800"/>
          </a:xfrm>
        </p:grpSpPr>
        <p:sp>
          <p:nvSpPr>
            <p:cNvPr id="851" name="Elipse 37"/>
            <p:cNvSpPr/>
            <p:nvPr/>
          </p:nvSpPr>
          <p:spPr>
            <a:xfrm>
              <a:off x="2066760" y="318420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2" name="Elipse 38"/>
            <p:cNvSpPr/>
            <p:nvPr/>
          </p:nvSpPr>
          <p:spPr>
            <a:xfrm>
              <a:off x="611640" y="473364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3" name="Elipse 39"/>
            <p:cNvSpPr/>
            <p:nvPr/>
          </p:nvSpPr>
          <p:spPr>
            <a:xfrm>
              <a:off x="1328760" y="394452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4" name="Elipse 40"/>
            <p:cNvSpPr/>
            <p:nvPr/>
          </p:nvSpPr>
          <p:spPr>
            <a:xfrm>
              <a:off x="2808000" y="552852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5" name="Elipse 41"/>
            <p:cNvSpPr/>
            <p:nvPr/>
          </p:nvSpPr>
          <p:spPr>
            <a:xfrm>
              <a:off x="2048760" y="473364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6" name="Elipse 42"/>
            <p:cNvSpPr/>
            <p:nvPr/>
          </p:nvSpPr>
          <p:spPr>
            <a:xfrm>
              <a:off x="1403640" y="552852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7" name="Conector reto 43"/>
            <p:cNvSpPr/>
            <p:nvPr/>
          </p:nvSpPr>
          <p:spPr>
            <a:xfrm flipV="1">
              <a:off x="1789560" y="3645000"/>
              <a:ext cx="356040" cy="3783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8" name="Conector reto 44"/>
            <p:cNvSpPr/>
            <p:nvPr/>
          </p:nvSpPr>
          <p:spPr>
            <a:xfrm flipV="1">
              <a:off x="1072440" y="4405320"/>
              <a:ext cx="335160" cy="4071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9" name="Conector reto 45"/>
            <p:cNvSpPr/>
            <p:nvPr/>
          </p:nvSpPr>
          <p:spPr>
            <a:xfrm flipH="1" flipV="1">
              <a:off x="2509560" y="5194440"/>
              <a:ext cx="377280" cy="4129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0" name="Conector reto 46"/>
            <p:cNvSpPr/>
            <p:nvPr/>
          </p:nvSpPr>
          <p:spPr>
            <a:xfrm flipH="1">
              <a:off x="1864440" y="5194440"/>
              <a:ext cx="263160" cy="4129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tail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1" name="Conector reto 47"/>
            <p:cNvSpPr/>
            <p:nvPr/>
          </p:nvSpPr>
          <p:spPr>
            <a:xfrm>
              <a:off x="1789560" y="4405320"/>
              <a:ext cx="338040" cy="4071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tail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2" name="Elipse 48"/>
            <p:cNvSpPr/>
            <p:nvPr/>
          </p:nvSpPr>
          <p:spPr>
            <a:xfrm>
              <a:off x="2829960" y="396684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3" name="Conector reto 49"/>
            <p:cNvSpPr/>
            <p:nvPr/>
          </p:nvSpPr>
          <p:spPr>
            <a:xfrm flipH="1" flipV="1">
              <a:off x="2527560" y="3645000"/>
              <a:ext cx="381240" cy="40068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4" name="Retângulo 50"/>
            <p:cNvSpPr/>
            <p:nvPr/>
          </p:nvSpPr>
          <p:spPr>
            <a:xfrm>
              <a:off x="1958760" y="2357280"/>
              <a:ext cx="755640" cy="35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raiz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865" name="Conector reto 51"/>
            <p:cNvSpPr/>
            <p:nvPr/>
          </p:nvSpPr>
          <p:spPr>
            <a:xfrm flipV="1">
              <a:off x="2336400" y="2717280"/>
              <a:ext cx="360" cy="4665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6" name="CaixaDeTexto 52"/>
            <p:cNvSpPr/>
            <p:nvPr/>
          </p:nvSpPr>
          <p:spPr>
            <a:xfrm>
              <a:off x="2102760" y="326232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50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867" name="CaixaDeTexto 53"/>
            <p:cNvSpPr/>
            <p:nvPr/>
          </p:nvSpPr>
          <p:spPr>
            <a:xfrm>
              <a:off x="1372680" y="403200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10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868" name="CaixaDeTexto 54"/>
            <p:cNvSpPr/>
            <p:nvPr/>
          </p:nvSpPr>
          <p:spPr>
            <a:xfrm>
              <a:off x="2866320" y="404100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99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869" name="CaixaDeTexto 55"/>
            <p:cNvSpPr/>
            <p:nvPr/>
          </p:nvSpPr>
          <p:spPr>
            <a:xfrm>
              <a:off x="2101320" y="482040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30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870" name="CaixaDeTexto 56"/>
            <p:cNvSpPr/>
            <p:nvPr/>
          </p:nvSpPr>
          <p:spPr>
            <a:xfrm>
              <a:off x="652680" y="4805640"/>
              <a:ext cx="4676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871" name="CaixaDeTexto 57"/>
            <p:cNvSpPr/>
            <p:nvPr/>
          </p:nvSpPr>
          <p:spPr>
            <a:xfrm>
              <a:off x="1439640" y="560232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25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872" name="CaixaDeTexto 58"/>
            <p:cNvSpPr/>
            <p:nvPr/>
          </p:nvSpPr>
          <p:spPr>
            <a:xfrm>
              <a:off x="2838960" y="559764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45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873" name="Conector em curva 83"/>
            <p:cNvSpPr/>
            <p:nvPr/>
          </p:nvSpPr>
          <p:spPr>
            <a:xfrm flipV="1" rot="10800000">
              <a:off x="1599120" y="3453840"/>
              <a:ext cx="467640" cy="4899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4" name="Conector em curva 84"/>
            <p:cNvSpPr/>
            <p:nvPr/>
          </p:nvSpPr>
          <p:spPr>
            <a:xfrm>
              <a:off x="1868760" y="4214520"/>
              <a:ext cx="449640" cy="5187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5" name="CaixaDeTexto 61"/>
            <p:cNvSpPr/>
            <p:nvPr/>
          </p:nvSpPr>
          <p:spPr>
            <a:xfrm>
              <a:off x="1425600" y="328428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1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876" name="CaixaDeTexto 62"/>
            <p:cNvSpPr/>
            <p:nvPr/>
          </p:nvSpPr>
          <p:spPr>
            <a:xfrm>
              <a:off x="2001600" y="408564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2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877" name="Conector em curva 31"/>
            <p:cNvSpPr/>
            <p:nvPr/>
          </p:nvSpPr>
          <p:spPr>
            <a:xfrm flipV="1" rot="10800000">
              <a:off x="1674000" y="5003280"/>
              <a:ext cx="374760" cy="52452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8" name="Conector em curva 35"/>
            <p:cNvSpPr/>
            <p:nvPr/>
          </p:nvSpPr>
          <p:spPr>
            <a:xfrm>
              <a:off x="1979640" y="5741640"/>
              <a:ext cx="449640" cy="518760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9" name="CaixaDeTexto 67"/>
            <p:cNvSpPr/>
            <p:nvPr/>
          </p:nvSpPr>
          <p:spPr>
            <a:xfrm>
              <a:off x="1967760" y="6261120"/>
              <a:ext cx="9187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NULL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880" name="CaixaDeTexto 68"/>
            <p:cNvSpPr/>
            <p:nvPr/>
          </p:nvSpPr>
          <p:spPr>
            <a:xfrm>
              <a:off x="1403640" y="486828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3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881" name="CaixaDeTexto 69"/>
            <p:cNvSpPr/>
            <p:nvPr/>
          </p:nvSpPr>
          <p:spPr>
            <a:xfrm>
              <a:off x="2059200" y="5525640"/>
              <a:ext cx="496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Tw Cen MT"/>
                </a:rPr>
                <a:t>4</a:t>
              </a:r>
              <a:endParaRPr b="0" lang="pt-BR" sz="1800" spc="-1" strike="noStrike"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21F5C8-C3AC-4254-9C51-314B43150992}" type="slidenum">
              <a:t>55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81000"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 de Busca: Remoção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883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4000"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Remover um nó de uma árvore binária de busca não é uma tarefa tão simples quanto a inserção. 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Isso ocorre porque precisamos procurar o nó a ser removido da árvore o qual pode ser um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nó folha 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nó interno (que pode ser a raiz), com um ou dois filhos. 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Se for um nó interno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Reorganizar a árvore para que ela continue sendo uma árvore binária de busca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5E18D0-65DA-4430-BFA2-191BB2E89433}" type="slidenum">
              <a:t>56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TAD 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885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Remoção em uma Árvore Binária de Busca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Trabalha com 2 funções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Busca pelo nó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pPr lvl="2" marL="914400" indent="-228600">
              <a:lnSpc>
                <a:spcPct val="100000"/>
              </a:lnSpc>
              <a:spcBef>
                <a:spcPts val="499"/>
              </a:spcBef>
              <a:buClr>
                <a:srgbClr val="dd8047"/>
              </a:buClr>
              <a:buSzPct val="75000"/>
              <a:buFont typeface="Wingdings" charset="2"/>
              <a:buChar char=""/>
            </a:pPr>
            <a:r>
              <a:rPr b="0" lang="pt-BR" sz="2300" spc="-1" strike="noStrike">
                <a:solidFill>
                  <a:srgbClr val="000000"/>
                </a:solidFill>
                <a:latin typeface="Tw Cen MT"/>
              </a:rPr>
              <a:t>Tratar os 3 tipos de remoção: com 0, 1 ou 2 filhos</a:t>
            </a:r>
            <a:endParaRPr b="0" lang="pt-BR" sz="2300" spc="-1" strike="noStrike">
              <a:solidFill>
                <a:srgbClr val="000000"/>
              </a:solidFill>
              <a:latin typeface="Tw Cen MT"/>
            </a:endParaRPr>
          </a:p>
          <a:p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pic>
        <p:nvPicPr>
          <p:cNvPr id="886" name="Picture 3" descr=""/>
          <p:cNvPicPr/>
          <p:nvPr/>
        </p:nvPicPr>
        <p:blipFill>
          <a:blip r:embed="rId1"/>
          <a:srcRect l="0" t="31415" r="0" b="14078"/>
          <a:stretch/>
        </p:blipFill>
        <p:spPr>
          <a:xfrm>
            <a:off x="1397880" y="3643920"/>
            <a:ext cx="6347880" cy="25210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BCFCAE-7877-4F92-B324-7599F02F9D7C}" type="slidenum">
              <a:t>57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TAD 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888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Remoção em uma Árvore Binária de Busca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889" name="Grupo 12"/>
          <p:cNvGrpSpPr/>
          <p:nvPr/>
        </p:nvGrpSpPr>
        <p:grpSpPr>
          <a:xfrm>
            <a:off x="107640" y="2061000"/>
            <a:ext cx="7638120" cy="4752000"/>
            <a:chOff x="107640" y="2061000"/>
            <a:chExt cx="7638120" cy="4752000"/>
          </a:xfrm>
        </p:grpSpPr>
        <p:pic>
          <p:nvPicPr>
            <p:cNvPr id="890" name="Picture 2" descr=""/>
            <p:cNvPicPr/>
            <p:nvPr/>
          </p:nvPicPr>
          <p:blipFill>
            <a:blip r:embed="rId1"/>
            <a:stretch/>
          </p:blipFill>
          <p:spPr>
            <a:xfrm>
              <a:off x="1397880" y="2134800"/>
              <a:ext cx="6347880" cy="4625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91" name="Chave esquerda 5"/>
            <p:cNvSpPr/>
            <p:nvPr/>
          </p:nvSpPr>
          <p:spPr>
            <a:xfrm>
              <a:off x="2411640" y="3261240"/>
              <a:ext cx="359640" cy="203976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38100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92" name="Retângulo 6"/>
            <p:cNvSpPr/>
            <p:nvPr/>
          </p:nvSpPr>
          <p:spPr>
            <a:xfrm>
              <a:off x="1187640" y="2061000"/>
              <a:ext cx="719640" cy="47520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93" name="Conector angulado 7"/>
            <p:cNvSpPr/>
            <p:nvPr/>
          </p:nvSpPr>
          <p:spPr>
            <a:xfrm flipH="1" rot="16200000">
              <a:off x="1530720" y="3400560"/>
              <a:ext cx="536400" cy="1223640"/>
            </a:xfrm>
            <a:prstGeom prst="bentConnector2">
              <a:avLst/>
            </a:prstGeom>
            <a:noFill/>
            <a:ln w="38100">
              <a:solidFill>
                <a:srgbClr val="000000"/>
              </a:solidFill>
              <a:round/>
              <a:tailEnd len="med" type="arrow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94" name="CaixaDeTexto 8"/>
            <p:cNvSpPr/>
            <p:nvPr/>
          </p:nvSpPr>
          <p:spPr>
            <a:xfrm>
              <a:off x="107640" y="2421000"/>
              <a:ext cx="2160000" cy="130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pt-BR" sz="2000" spc="-1" strike="noStrike">
                  <a:solidFill>
                    <a:srgbClr val="000000"/>
                  </a:solidFill>
                  <a:latin typeface="Tw Cen MT"/>
                </a:rPr>
                <a:t>Achou o nó a ser removido. Tratar o tipo de remoção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895" name="Chave esquerda 9"/>
            <p:cNvSpPr/>
            <p:nvPr/>
          </p:nvSpPr>
          <p:spPr>
            <a:xfrm>
              <a:off x="2411640" y="5493600"/>
              <a:ext cx="359640" cy="101952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38100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96" name="Conector angulado 10"/>
            <p:cNvSpPr/>
            <p:nvPr/>
          </p:nvSpPr>
          <p:spPr>
            <a:xfrm flipH="1" rot="16200000">
              <a:off x="1677600" y="5270040"/>
              <a:ext cx="314640" cy="1151640"/>
            </a:xfrm>
            <a:prstGeom prst="bentConnector2">
              <a:avLst/>
            </a:prstGeom>
            <a:noFill/>
            <a:ln w="38100">
              <a:solidFill>
                <a:srgbClr val="000000"/>
              </a:solidFill>
              <a:round/>
              <a:tailEnd len="med" type="arrow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97" name="CaixaDeTexto 11"/>
            <p:cNvSpPr/>
            <p:nvPr/>
          </p:nvSpPr>
          <p:spPr>
            <a:xfrm>
              <a:off x="107640" y="4365000"/>
              <a:ext cx="2304000" cy="161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pt-BR" sz="2000" spc="-1" strike="noStrike">
                  <a:solidFill>
                    <a:srgbClr val="000000"/>
                  </a:solidFill>
                  <a:latin typeface="Tw Cen MT"/>
                </a:rPr>
                <a:t>Continua andando na árvore a procura do nó a ser removido</a:t>
              </a:r>
              <a:endParaRPr b="0" lang="pt-BR" sz="2000" spc="-1" strike="noStrike"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20E800-E26E-41D8-97B7-0D2D44A1818E}" type="slidenum">
              <a:t>58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TAD Árvore Binária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899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Remoção em uma Árvore Binária de Busca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900" name="Grupo 18"/>
          <p:cNvGrpSpPr/>
          <p:nvPr/>
        </p:nvGrpSpPr>
        <p:grpSpPr>
          <a:xfrm>
            <a:off x="1397880" y="2187360"/>
            <a:ext cx="7710480" cy="4844880"/>
            <a:chOff x="1397880" y="2187360"/>
            <a:chExt cx="7710480" cy="4844880"/>
          </a:xfrm>
        </p:grpSpPr>
        <p:pic>
          <p:nvPicPr>
            <p:cNvPr id="901" name="Picture 2" descr=""/>
            <p:cNvPicPr/>
            <p:nvPr/>
          </p:nvPicPr>
          <p:blipFill>
            <a:blip r:embed="rId1"/>
            <a:stretch/>
          </p:blipFill>
          <p:spPr>
            <a:xfrm>
              <a:off x="1397880" y="2187360"/>
              <a:ext cx="6347880" cy="4625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02" name="Chave esquerda 5"/>
            <p:cNvSpPr/>
            <p:nvPr/>
          </p:nvSpPr>
          <p:spPr>
            <a:xfrm flipH="1">
              <a:off x="4787280" y="2522880"/>
              <a:ext cx="359640" cy="101952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38100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03" name="Conector angulado 6"/>
            <p:cNvSpPr/>
            <p:nvPr/>
          </p:nvSpPr>
          <p:spPr>
            <a:xfrm rot="10800000">
              <a:off x="5148360" y="3033360"/>
              <a:ext cx="719640" cy="237960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rgbClr val="000000"/>
              </a:solidFill>
              <a:round/>
              <a:tailEnd len="med" type="arrow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04" name="CaixaDeTexto 7"/>
            <p:cNvSpPr/>
            <p:nvPr/>
          </p:nvSpPr>
          <p:spPr>
            <a:xfrm>
              <a:off x="5868000" y="2609640"/>
              <a:ext cx="3024000" cy="161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pt-BR" sz="2000" spc="-1" strike="noStrike">
                  <a:solidFill>
                    <a:srgbClr val="000000"/>
                  </a:solidFill>
                  <a:latin typeface="Tw Cen MT"/>
                </a:rPr>
                <a:t>Sem filho da esquerda. Apontar para o filho da direita (trata nó folha e nó com 1 filho)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05" name="Chave esquerda 8"/>
            <p:cNvSpPr/>
            <p:nvPr/>
          </p:nvSpPr>
          <p:spPr>
            <a:xfrm flipH="1">
              <a:off x="4787280" y="3757680"/>
              <a:ext cx="359640" cy="101952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38100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06" name="Conector angulado 9"/>
            <p:cNvSpPr/>
            <p:nvPr/>
          </p:nvSpPr>
          <p:spPr>
            <a:xfrm rot="10800000">
              <a:off x="5148360" y="4268160"/>
              <a:ext cx="1007640" cy="361440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rgbClr val="000000"/>
              </a:solidFill>
              <a:round/>
              <a:tailEnd len="med" type="arrow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07" name="CaixaDeTexto 10"/>
            <p:cNvSpPr/>
            <p:nvPr/>
          </p:nvSpPr>
          <p:spPr>
            <a:xfrm>
              <a:off x="6156000" y="4121640"/>
              <a:ext cx="2736000" cy="130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pt-BR" sz="2000" spc="-1" strike="noStrike">
                  <a:solidFill>
                    <a:srgbClr val="000000"/>
                  </a:solidFill>
                  <a:latin typeface="Tw Cen MT"/>
                </a:rPr>
                <a:t>Procura filho mais a direita na sub-árvore da esquerda.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08" name="Chave esquerda 11"/>
            <p:cNvSpPr/>
            <p:nvPr/>
          </p:nvSpPr>
          <p:spPr>
            <a:xfrm flipH="1">
              <a:off x="5003280" y="5053680"/>
              <a:ext cx="359640" cy="101952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38100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09" name="Conector angulado 12"/>
            <p:cNvSpPr/>
            <p:nvPr/>
          </p:nvSpPr>
          <p:spPr>
            <a:xfrm rot="10800000">
              <a:off x="5364720" y="5564160"/>
              <a:ext cx="1007640" cy="515520"/>
            </a:xfrm>
            <a:prstGeom prst="bentConnector3">
              <a:avLst>
                <a:gd name="adj1" fmla="val 50000"/>
              </a:avLst>
            </a:prstGeom>
            <a:noFill/>
            <a:ln w="38100">
              <a:solidFill>
                <a:srgbClr val="000000"/>
              </a:solidFill>
              <a:round/>
              <a:tailEnd len="med" type="arrow" w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10" name="CaixaDeTexto 13"/>
            <p:cNvSpPr/>
            <p:nvPr/>
          </p:nvSpPr>
          <p:spPr>
            <a:xfrm>
              <a:off x="6372360" y="5418000"/>
              <a:ext cx="2736000" cy="161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pt-BR" sz="2000" spc="-1" strike="noStrike">
                  <a:solidFill>
                    <a:srgbClr val="000000"/>
                  </a:solidFill>
                  <a:latin typeface="Tw Cen MT"/>
                </a:rPr>
                <a:t>Copia o filho mais a direita na sub-árvore da esquerda para o lugar do nó removido.</a:t>
              </a:r>
              <a:endParaRPr b="0" lang="pt-BR" sz="2000" spc="-1" strike="noStrike"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C96405-D8DD-40BB-96BF-114FD3BBD4E9}" type="slidenum">
              <a:t>59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81000"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 de Busca: Remoção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912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Exemplo: remoção de um nó folha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913" name="Grupo 96"/>
          <p:cNvGrpSpPr/>
          <p:nvPr/>
        </p:nvGrpSpPr>
        <p:grpSpPr>
          <a:xfrm>
            <a:off x="628560" y="2464920"/>
            <a:ext cx="8136360" cy="4316400"/>
            <a:chOff x="628560" y="2464920"/>
            <a:chExt cx="8136360" cy="4316400"/>
          </a:xfrm>
        </p:grpSpPr>
        <p:sp>
          <p:nvSpPr>
            <p:cNvPr id="914" name="Elipse 50"/>
            <p:cNvSpPr/>
            <p:nvPr/>
          </p:nvSpPr>
          <p:spPr>
            <a:xfrm>
              <a:off x="2083680" y="343692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5" name="Elipse 51"/>
            <p:cNvSpPr/>
            <p:nvPr/>
          </p:nvSpPr>
          <p:spPr>
            <a:xfrm>
              <a:off x="628560" y="498636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6" name="Elipse 52"/>
            <p:cNvSpPr/>
            <p:nvPr/>
          </p:nvSpPr>
          <p:spPr>
            <a:xfrm>
              <a:off x="1345680" y="419724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7" name="Elipse 53"/>
            <p:cNvSpPr/>
            <p:nvPr/>
          </p:nvSpPr>
          <p:spPr>
            <a:xfrm>
              <a:off x="2824920" y="5781240"/>
              <a:ext cx="539640" cy="539640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8" name="Elipse 54"/>
            <p:cNvSpPr/>
            <p:nvPr/>
          </p:nvSpPr>
          <p:spPr>
            <a:xfrm>
              <a:off x="2065680" y="498636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9" name="Conector reto 55"/>
            <p:cNvSpPr/>
            <p:nvPr/>
          </p:nvSpPr>
          <p:spPr>
            <a:xfrm flipV="1">
              <a:off x="1806480" y="3897360"/>
              <a:ext cx="356040" cy="3787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0" name="Conector reto 56"/>
            <p:cNvSpPr/>
            <p:nvPr/>
          </p:nvSpPr>
          <p:spPr>
            <a:xfrm flipV="1">
              <a:off x="1089360" y="4658040"/>
              <a:ext cx="335160" cy="4071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1" name="Conector reto 57"/>
            <p:cNvSpPr/>
            <p:nvPr/>
          </p:nvSpPr>
          <p:spPr>
            <a:xfrm flipH="1" flipV="1">
              <a:off x="2526480" y="5447160"/>
              <a:ext cx="377280" cy="4129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2" name="Conector reto 58"/>
            <p:cNvSpPr/>
            <p:nvPr/>
          </p:nvSpPr>
          <p:spPr>
            <a:xfrm>
              <a:off x="1806480" y="4658040"/>
              <a:ext cx="338040" cy="4071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tail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3" name="Elipse 59"/>
            <p:cNvSpPr/>
            <p:nvPr/>
          </p:nvSpPr>
          <p:spPr>
            <a:xfrm>
              <a:off x="2846880" y="421956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4" name="Conector reto 60"/>
            <p:cNvSpPr/>
            <p:nvPr/>
          </p:nvSpPr>
          <p:spPr>
            <a:xfrm flipH="1" flipV="1">
              <a:off x="2544480" y="3897360"/>
              <a:ext cx="381240" cy="4010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5" name="Retângulo 61"/>
            <p:cNvSpPr/>
            <p:nvPr/>
          </p:nvSpPr>
          <p:spPr>
            <a:xfrm>
              <a:off x="1975680" y="2610000"/>
              <a:ext cx="755640" cy="35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raiz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926" name="Conector reto 62"/>
            <p:cNvSpPr/>
            <p:nvPr/>
          </p:nvSpPr>
          <p:spPr>
            <a:xfrm flipV="1">
              <a:off x="2353320" y="2970000"/>
              <a:ext cx="360" cy="4665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7" name="CaixaDeTexto 63"/>
            <p:cNvSpPr/>
            <p:nvPr/>
          </p:nvSpPr>
          <p:spPr>
            <a:xfrm>
              <a:off x="2119680" y="351504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50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28" name="CaixaDeTexto 64"/>
            <p:cNvSpPr/>
            <p:nvPr/>
          </p:nvSpPr>
          <p:spPr>
            <a:xfrm>
              <a:off x="1389600" y="428472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10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29" name="CaixaDeTexto 65"/>
            <p:cNvSpPr/>
            <p:nvPr/>
          </p:nvSpPr>
          <p:spPr>
            <a:xfrm>
              <a:off x="2883240" y="429372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99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30" name="CaixaDeTexto 66"/>
            <p:cNvSpPr/>
            <p:nvPr/>
          </p:nvSpPr>
          <p:spPr>
            <a:xfrm>
              <a:off x="2118240" y="507276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30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31" name="CaixaDeTexto 67"/>
            <p:cNvSpPr/>
            <p:nvPr/>
          </p:nvSpPr>
          <p:spPr>
            <a:xfrm>
              <a:off x="669240" y="5058360"/>
              <a:ext cx="4676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32" name="CaixaDeTexto 68"/>
            <p:cNvSpPr/>
            <p:nvPr/>
          </p:nvSpPr>
          <p:spPr>
            <a:xfrm>
              <a:off x="2855880" y="585036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45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33" name="Conector em curva 84"/>
            <p:cNvSpPr/>
            <p:nvPr/>
          </p:nvSpPr>
          <p:spPr>
            <a:xfrm>
              <a:off x="7209360" y="5256360"/>
              <a:ext cx="1096200" cy="1160640"/>
            </a:xfrm>
            <a:prstGeom prst="curvedConnector2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4" name="CaixaDeTexto 70"/>
            <p:cNvSpPr/>
            <p:nvPr/>
          </p:nvSpPr>
          <p:spPr>
            <a:xfrm>
              <a:off x="3148920" y="2464920"/>
              <a:ext cx="3260880" cy="158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Remoção de um nó folha:</a:t>
              </a:r>
              <a:endParaRPr b="0" lang="pt-BR" sz="18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1" lang="pt-BR" sz="1600" spc="-1" strike="noStrike">
                  <a:solidFill>
                    <a:srgbClr val="000000"/>
                  </a:solidFill>
                  <a:latin typeface="Courier New"/>
                </a:rPr>
                <a:t>if(atual-&gt;esq == NULL){</a:t>
              </a:r>
              <a:endParaRPr b="0" lang="pt-BR" sz="16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1" lang="pt-BR" sz="1600" spc="-1" strike="noStrike">
                  <a:solidFill>
                    <a:srgbClr val="000000"/>
                  </a:solidFill>
                  <a:latin typeface="Courier New"/>
                </a:rPr>
                <a:t>   </a:t>
              </a:r>
              <a:r>
                <a:rPr b="1" lang="pt-BR" sz="1600" spc="-1" strike="noStrike">
                  <a:solidFill>
                    <a:srgbClr val="000000"/>
                  </a:solidFill>
                  <a:latin typeface="Courier New"/>
                </a:rPr>
                <a:t>no2 = atual-&gt;dir;</a:t>
              </a:r>
              <a:endParaRPr b="0" lang="pt-BR" sz="16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1" lang="pt-BR" sz="1600" spc="-1" strike="noStrike">
                  <a:solidFill>
                    <a:srgbClr val="000000"/>
                  </a:solidFill>
                  <a:latin typeface="Courier New"/>
                </a:rPr>
                <a:t>   </a:t>
              </a:r>
              <a:r>
                <a:rPr b="1" lang="pt-BR" sz="1600" spc="-1" strike="noStrike">
                  <a:solidFill>
                    <a:srgbClr val="000000"/>
                  </a:solidFill>
                  <a:latin typeface="Courier New"/>
                </a:rPr>
                <a:t>free(atual);</a:t>
              </a:r>
              <a:endParaRPr b="0" lang="pt-BR" sz="16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1" lang="pt-BR" sz="1600" spc="-1" strike="noStrike">
                  <a:solidFill>
                    <a:srgbClr val="000000"/>
                  </a:solidFill>
                  <a:latin typeface="Courier New"/>
                </a:rPr>
                <a:t>   </a:t>
              </a:r>
              <a:r>
                <a:rPr b="1" lang="pt-BR" sz="1600" spc="-1" strike="noStrike">
                  <a:solidFill>
                    <a:srgbClr val="000000"/>
                  </a:solidFill>
                  <a:latin typeface="Courier New"/>
                </a:rPr>
                <a:t>return no2;</a:t>
              </a:r>
              <a:endParaRPr b="0" lang="pt-BR" sz="16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1" lang="pt-BR" sz="1600" spc="-1" strike="noStrike">
                  <a:solidFill>
                    <a:srgbClr val="000000"/>
                  </a:solidFill>
                  <a:latin typeface="Courier New"/>
                </a:rPr>
                <a:t>}</a:t>
              </a:r>
              <a:endParaRPr b="0" lang="pt-BR" sz="1600" spc="-1" strike="noStrike">
                <a:latin typeface="Arial"/>
              </a:endParaRPr>
            </a:p>
          </p:txBody>
        </p:sp>
        <p:sp>
          <p:nvSpPr>
            <p:cNvPr id="935" name="Elipse 71"/>
            <p:cNvSpPr/>
            <p:nvPr/>
          </p:nvSpPr>
          <p:spPr>
            <a:xfrm>
              <a:off x="6687000" y="343692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6" name="Elipse 72"/>
            <p:cNvSpPr/>
            <p:nvPr/>
          </p:nvSpPr>
          <p:spPr>
            <a:xfrm>
              <a:off x="5231880" y="498636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7" name="Elipse 73"/>
            <p:cNvSpPr/>
            <p:nvPr/>
          </p:nvSpPr>
          <p:spPr>
            <a:xfrm>
              <a:off x="5949000" y="419724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8" name="Elipse 74"/>
            <p:cNvSpPr/>
            <p:nvPr/>
          </p:nvSpPr>
          <p:spPr>
            <a:xfrm>
              <a:off x="7428240" y="5781240"/>
              <a:ext cx="539640" cy="539640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9" name="Elipse 75"/>
            <p:cNvSpPr/>
            <p:nvPr/>
          </p:nvSpPr>
          <p:spPr>
            <a:xfrm>
              <a:off x="6669360" y="498636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0" name="Conector reto 76"/>
            <p:cNvSpPr/>
            <p:nvPr/>
          </p:nvSpPr>
          <p:spPr>
            <a:xfrm flipV="1">
              <a:off x="6409800" y="3897360"/>
              <a:ext cx="356040" cy="3787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1" name="Conector reto 77"/>
            <p:cNvSpPr/>
            <p:nvPr/>
          </p:nvSpPr>
          <p:spPr>
            <a:xfrm flipV="1">
              <a:off x="5692680" y="4658040"/>
              <a:ext cx="335520" cy="4071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2" name="Conector reto 78"/>
            <p:cNvSpPr/>
            <p:nvPr/>
          </p:nvSpPr>
          <p:spPr>
            <a:xfrm flipH="1" flipV="1">
              <a:off x="7130160" y="5447160"/>
              <a:ext cx="376920" cy="4129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3" name="Conector reto 79"/>
            <p:cNvSpPr/>
            <p:nvPr/>
          </p:nvSpPr>
          <p:spPr>
            <a:xfrm>
              <a:off x="6409800" y="4658040"/>
              <a:ext cx="338400" cy="4071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tail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4" name="Elipse 80"/>
            <p:cNvSpPr/>
            <p:nvPr/>
          </p:nvSpPr>
          <p:spPr>
            <a:xfrm>
              <a:off x="7450200" y="421956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5" name="Conector reto 81"/>
            <p:cNvSpPr/>
            <p:nvPr/>
          </p:nvSpPr>
          <p:spPr>
            <a:xfrm flipH="1" flipV="1">
              <a:off x="7147800" y="3897360"/>
              <a:ext cx="381240" cy="4010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6" name="Retângulo 82"/>
            <p:cNvSpPr/>
            <p:nvPr/>
          </p:nvSpPr>
          <p:spPr>
            <a:xfrm>
              <a:off x="6579000" y="2610000"/>
              <a:ext cx="755640" cy="35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raiz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947" name="Conector reto 83"/>
            <p:cNvSpPr/>
            <p:nvPr/>
          </p:nvSpPr>
          <p:spPr>
            <a:xfrm flipV="1">
              <a:off x="6957000" y="2970000"/>
              <a:ext cx="360" cy="4665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8" name="CaixaDeTexto 84"/>
            <p:cNvSpPr/>
            <p:nvPr/>
          </p:nvSpPr>
          <p:spPr>
            <a:xfrm>
              <a:off x="6723000" y="351504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50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49" name="CaixaDeTexto 85"/>
            <p:cNvSpPr/>
            <p:nvPr/>
          </p:nvSpPr>
          <p:spPr>
            <a:xfrm>
              <a:off x="5992920" y="428472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10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50" name="CaixaDeTexto 86"/>
            <p:cNvSpPr/>
            <p:nvPr/>
          </p:nvSpPr>
          <p:spPr>
            <a:xfrm>
              <a:off x="7486560" y="429372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99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51" name="CaixaDeTexto 87"/>
            <p:cNvSpPr/>
            <p:nvPr/>
          </p:nvSpPr>
          <p:spPr>
            <a:xfrm>
              <a:off x="6721920" y="507276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30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52" name="CaixaDeTexto 88"/>
            <p:cNvSpPr/>
            <p:nvPr/>
          </p:nvSpPr>
          <p:spPr>
            <a:xfrm>
              <a:off x="5272920" y="5058360"/>
              <a:ext cx="4676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53" name="CaixaDeTexto 89"/>
            <p:cNvSpPr/>
            <p:nvPr/>
          </p:nvSpPr>
          <p:spPr>
            <a:xfrm>
              <a:off x="7459200" y="585036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45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54" name="CaixaDeTexto 90"/>
            <p:cNvSpPr/>
            <p:nvPr/>
          </p:nvSpPr>
          <p:spPr>
            <a:xfrm>
              <a:off x="7846200" y="6417360"/>
              <a:ext cx="9187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NULL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955" name="Multiplicar 91"/>
            <p:cNvSpPr/>
            <p:nvPr/>
          </p:nvSpPr>
          <p:spPr>
            <a:xfrm>
              <a:off x="7092360" y="5562360"/>
              <a:ext cx="1223640" cy="935640"/>
            </a:xfrm>
            <a:prstGeom prst="mathMultiply">
              <a:avLst>
                <a:gd name="adj1" fmla="val 23520"/>
              </a:avLst>
            </a:prstGeom>
            <a:gradFill rotWithShape="0">
              <a:gsLst>
                <a:gs pos="0">
                  <a:srgbClr val="e0e8f5"/>
                </a:gs>
                <a:gs pos="100000">
                  <a:srgbClr val="ff0000"/>
                </a:gs>
              </a:gsLst>
              <a:lin ang="2700000"/>
            </a:gradFill>
            <a:ln w="254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6" name="CaixaDeTexto 92"/>
            <p:cNvSpPr/>
            <p:nvPr/>
          </p:nvSpPr>
          <p:spPr>
            <a:xfrm>
              <a:off x="2428560" y="4914360"/>
              <a:ext cx="9187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ant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957" name="CaixaDeTexto 93"/>
            <p:cNvSpPr/>
            <p:nvPr/>
          </p:nvSpPr>
          <p:spPr>
            <a:xfrm>
              <a:off x="6982200" y="4914360"/>
              <a:ext cx="9187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ant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958" name="CaixaDeTexto 94"/>
            <p:cNvSpPr/>
            <p:nvPr/>
          </p:nvSpPr>
          <p:spPr>
            <a:xfrm>
              <a:off x="2229480" y="6273360"/>
              <a:ext cx="9187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atual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959" name="CaixaDeTexto 95"/>
            <p:cNvSpPr/>
            <p:nvPr/>
          </p:nvSpPr>
          <p:spPr>
            <a:xfrm>
              <a:off x="6783120" y="6273360"/>
              <a:ext cx="9187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atual</a:t>
              </a:r>
              <a:endParaRPr b="0" lang="pt-BR" sz="1800" spc="-1" strike="noStrike"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A67BA1-B91E-491C-B56F-BF2F3CEF79E4}" type="slidenum">
              <a:t>60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81000"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 de Busca: Remoção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961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Exemplo: remoção de um nó com 1 filho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962" name="Grupo 94"/>
          <p:cNvGrpSpPr/>
          <p:nvPr/>
        </p:nvGrpSpPr>
        <p:grpSpPr>
          <a:xfrm>
            <a:off x="628560" y="2501280"/>
            <a:ext cx="7366320" cy="4085280"/>
            <a:chOff x="628560" y="2501280"/>
            <a:chExt cx="7366320" cy="4085280"/>
          </a:xfrm>
        </p:grpSpPr>
        <p:sp>
          <p:nvSpPr>
            <p:cNvPr id="963" name="Elipse 49"/>
            <p:cNvSpPr/>
            <p:nvPr/>
          </p:nvSpPr>
          <p:spPr>
            <a:xfrm>
              <a:off x="2083680" y="347328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4" name="Elipse 50"/>
            <p:cNvSpPr/>
            <p:nvPr/>
          </p:nvSpPr>
          <p:spPr>
            <a:xfrm>
              <a:off x="628560" y="502308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5" name="Elipse 51"/>
            <p:cNvSpPr/>
            <p:nvPr/>
          </p:nvSpPr>
          <p:spPr>
            <a:xfrm>
              <a:off x="1345680" y="423396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6" name="Elipse 52"/>
            <p:cNvSpPr/>
            <p:nvPr/>
          </p:nvSpPr>
          <p:spPr>
            <a:xfrm>
              <a:off x="2824920" y="581796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7" name="Elipse 53"/>
            <p:cNvSpPr/>
            <p:nvPr/>
          </p:nvSpPr>
          <p:spPr>
            <a:xfrm>
              <a:off x="2065680" y="5023080"/>
              <a:ext cx="539640" cy="539640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8" name="Conector reto 54"/>
            <p:cNvSpPr/>
            <p:nvPr/>
          </p:nvSpPr>
          <p:spPr>
            <a:xfrm flipV="1">
              <a:off x="1806480" y="3934080"/>
              <a:ext cx="356040" cy="3787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9" name="Conector reto 55"/>
            <p:cNvSpPr/>
            <p:nvPr/>
          </p:nvSpPr>
          <p:spPr>
            <a:xfrm flipV="1">
              <a:off x="1089360" y="4694400"/>
              <a:ext cx="335160" cy="407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0" name="Conector reto 56"/>
            <p:cNvSpPr/>
            <p:nvPr/>
          </p:nvSpPr>
          <p:spPr>
            <a:xfrm flipH="1" flipV="1">
              <a:off x="2526480" y="5483880"/>
              <a:ext cx="377280" cy="4129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1" name="Conector reto 57"/>
            <p:cNvSpPr/>
            <p:nvPr/>
          </p:nvSpPr>
          <p:spPr>
            <a:xfrm>
              <a:off x="1806480" y="4694400"/>
              <a:ext cx="338040" cy="407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tail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2" name="Elipse 58"/>
            <p:cNvSpPr/>
            <p:nvPr/>
          </p:nvSpPr>
          <p:spPr>
            <a:xfrm>
              <a:off x="2846880" y="425628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3" name="Conector reto 59"/>
            <p:cNvSpPr/>
            <p:nvPr/>
          </p:nvSpPr>
          <p:spPr>
            <a:xfrm flipH="1" flipV="1">
              <a:off x="2544480" y="3934080"/>
              <a:ext cx="381240" cy="4010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4" name="Retângulo 60"/>
            <p:cNvSpPr/>
            <p:nvPr/>
          </p:nvSpPr>
          <p:spPr>
            <a:xfrm>
              <a:off x="1975680" y="2646720"/>
              <a:ext cx="755640" cy="35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raiz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975" name="Conector reto 61"/>
            <p:cNvSpPr/>
            <p:nvPr/>
          </p:nvSpPr>
          <p:spPr>
            <a:xfrm flipV="1">
              <a:off x="2353320" y="3006720"/>
              <a:ext cx="360" cy="4665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6" name="CaixaDeTexto 62"/>
            <p:cNvSpPr/>
            <p:nvPr/>
          </p:nvSpPr>
          <p:spPr>
            <a:xfrm>
              <a:off x="2119680" y="355176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50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77" name="CaixaDeTexto 63"/>
            <p:cNvSpPr/>
            <p:nvPr/>
          </p:nvSpPr>
          <p:spPr>
            <a:xfrm>
              <a:off x="1389600" y="43210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10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78" name="CaixaDeTexto 64"/>
            <p:cNvSpPr/>
            <p:nvPr/>
          </p:nvSpPr>
          <p:spPr>
            <a:xfrm>
              <a:off x="2883240" y="43300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99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79" name="CaixaDeTexto 65"/>
            <p:cNvSpPr/>
            <p:nvPr/>
          </p:nvSpPr>
          <p:spPr>
            <a:xfrm>
              <a:off x="2118240" y="51094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30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80" name="CaixaDeTexto 66"/>
            <p:cNvSpPr/>
            <p:nvPr/>
          </p:nvSpPr>
          <p:spPr>
            <a:xfrm>
              <a:off x="669240" y="5095080"/>
              <a:ext cx="4676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81" name="CaixaDeTexto 67"/>
            <p:cNvSpPr/>
            <p:nvPr/>
          </p:nvSpPr>
          <p:spPr>
            <a:xfrm>
              <a:off x="2855880" y="58870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45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82" name="Conector em curva 84"/>
            <p:cNvSpPr/>
            <p:nvPr/>
          </p:nvSpPr>
          <p:spPr>
            <a:xfrm>
              <a:off x="6494040" y="4503960"/>
              <a:ext cx="1208880" cy="1313640"/>
            </a:xfrm>
            <a:prstGeom prst="curvedConnector2">
              <a:avLst/>
            </a:prstGeom>
            <a:noFill/>
            <a:ln w="38100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3" name="Elipse 69"/>
            <p:cNvSpPr/>
            <p:nvPr/>
          </p:nvSpPr>
          <p:spPr>
            <a:xfrm>
              <a:off x="6692040" y="347328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4" name="Elipse 70"/>
            <p:cNvSpPr/>
            <p:nvPr/>
          </p:nvSpPr>
          <p:spPr>
            <a:xfrm>
              <a:off x="5236920" y="502308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5" name="Elipse 71"/>
            <p:cNvSpPr/>
            <p:nvPr/>
          </p:nvSpPr>
          <p:spPr>
            <a:xfrm>
              <a:off x="5954040" y="423396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6" name="Elipse 72"/>
            <p:cNvSpPr/>
            <p:nvPr/>
          </p:nvSpPr>
          <p:spPr>
            <a:xfrm>
              <a:off x="7433280" y="581796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7" name="Elipse 73"/>
            <p:cNvSpPr/>
            <p:nvPr/>
          </p:nvSpPr>
          <p:spPr>
            <a:xfrm>
              <a:off x="6674400" y="5023080"/>
              <a:ext cx="539640" cy="539640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8" name="Conector reto 74"/>
            <p:cNvSpPr/>
            <p:nvPr/>
          </p:nvSpPr>
          <p:spPr>
            <a:xfrm flipV="1">
              <a:off x="6414840" y="3934080"/>
              <a:ext cx="356040" cy="3787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9" name="Conector reto 75"/>
            <p:cNvSpPr/>
            <p:nvPr/>
          </p:nvSpPr>
          <p:spPr>
            <a:xfrm flipV="1">
              <a:off x="5697720" y="4694400"/>
              <a:ext cx="335520" cy="407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0" name="Conector reto 76"/>
            <p:cNvSpPr/>
            <p:nvPr/>
          </p:nvSpPr>
          <p:spPr>
            <a:xfrm flipH="1" flipV="1">
              <a:off x="7135200" y="5483880"/>
              <a:ext cx="376920" cy="4129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1" name="Conector reto 77"/>
            <p:cNvSpPr/>
            <p:nvPr/>
          </p:nvSpPr>
          <p:spPr>
            <a:xfrm>
              <a:off x="6414840" y="4694400"/>
              <a:ext cx="338400" cy="407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tail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2" name="Elipse 78"/>
            <p:cNvSpPr/>
            <p:nvPr/>
          </p:nvSpPr>
          <p:spPr>
            <a:xfrm>
              <a:off x="7455240" y="425628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3" name="Conector reto 79"/>
            <p:cNvSpPr/>
            <p:nvPr/>
          </p:nvSpPr>
          <p:spPr>
            <a:xfrm flipH="1" flipV="1">
              <a:off x="7152840" y="3934080"/>
              <a:ext cx="381240" cy="4010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4" name="Retângulo 80"/>
            <p:cNvSpPr/>
            <p:nvPr/>
          </p:nvSpPr>
          <p:spPr>
            <a:xfrm>
              <a:off x="6584040" y="2646720"/>
              <a:ext cx="755640" cy="35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raiz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995" name="Conector reto 81"/>
            <p:cNvSpPr/>
            <p:nvPr/>
          </p:nvSpPr>
          <p:spPr>
            <a:xfrm flipV="1">
              <a:off x="6962040" y="3006720"/>
              <a:ext cx="360" cy="4665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6" name="CaixaDeTexto 82"/>
            <p:cNvSpPr/>
            <p:nvPr/>
          </p:nvSpPr>
          <p:spPr>
            <a:xfrm>
              <a:off x="6728040" y="355176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50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97" name="CaixaDeTexto 83"/>
            <p:cNvSpPr/>
            <p:nvPr/>
          </p:nvSpPr>
          <p:spPr>
            <a:xfrm>
              <a:off x="5997960" y="43210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10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98" name="CaixaDeTexto 84"/>
            <p:cNvSpPr/>
            <p:nvPr/>
          </p:nvSpPr>
          <p:spPr>
            <a:xfrm>
              <a:off x="7491600" y="43300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99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999" name="CaixaDeTexto 85"/>
            <p:cNvSpPr/>
            <p:nvPr/>
          </p:nvSpPr>
          <p:spPr>
            <a:xfrm>
              <a:off x="6726960" y="51094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30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1000" name="CaixaDeTexto 86"/>
            <p:cNvSpPr/>
            <p:nvPr/>
          </p:nvSpPr>
          <p:spPr>
            <a:xfrm>
              <a:off x="5277960" y="5095080"/>
              <a:ext cx="4676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1001" name="CaixaDeTexto 87"/>
            <p:cNvSpPr/>
            <p:nvPr/>
          </p:nvSpPr>
          <p:spPr>
            <a:xfrm>
              <a:off x="7464240" y="58870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45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1002" name="Multiplicar 88"/>
            <p:cNvSpPr/>
            <p:nvPr/>
          </p:nvSpPr>
          <p:spPr>
            <a:xfrm>
              <a:off x="6332400" y="4841640"/>
              <a:ext cx="1223640" cy="935640"/>
            </a:xfrm>
            <a:prstGeom prst="mathMultiply">
              <a:avLst>
                <a:gd name="adj1" fmla="val 23520"/>
              </a:avLst>
            </a:prstGeom>
            <a:gradFill rotWithShape="0">
              <a:gsLst>
                <a:gs pos="0">
                  <a:srgbClr val="e0e8f5"/>
                </a:gs>
                <a:gs pos="100000">
                  <a:srgbClr val="ff0000"/>
                </a:gs>
              </a:gsLst>
              <a:lin ang="2700000"/>
            </a:gradFill>
            <a:ln w="2540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3" name="CaixaDeTexto 89"/>
            <p:cNvSpPr/>
            <p:nvPr/>
          </p:nvSpPr>
          <p:spPr>
            <a:xfrm>
              <a:off x="683640" y="4231080"/>
              <a:ext cx="9187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ant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1004" name="CaixaDeTexto 90"/>
            <p:cNvSpPr/>
            <p:nvPr/>
          </p:nvSpPr>
          <p:spPr>
            <a:xfrm>
              <a:off x="5236920" y="4231080"/>
              <a:ext cx="9187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ant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1005" name="CaixaDeTexto 91"/>
            <p:cNvSpPr/>
            <p:nvPr/>
          </p:nvSpPr>
          <p:spPr>
            <a:xfrm>
              <a:off x="1708560" y="5661720"/>
              <a:ext cx="9187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atual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1006" name="CaixaDeTexto 92"/>
            <p:cNvSpPr/>
            <p:nvPr/>
          </p:nvSpPr>
          <p:spPr>
            <a:xfrm>
              <a:off x="6261840" y="5661720"/>
              <a:ext cx="9187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atual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1007" name="CaixaDeTexto 93"/>
            <p:cNvSpPr/>
            <p:nvPr/>
          </p:nvSpPr>
          <p:spPr>
            <a:xfrm>
              <a:off x="3357000" y="2501280"/>
              <a:ext cx="3052440" cy="185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Remoção de um nó sem filho a esquerda:</a:t>
              </a:r>
              <a:endParaRPr b="0" lang="pt-BR" sz="18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1" lang="pt-BR" sz="1600" spc="-1" strike="noStrike">
                  <a:solidFill>
                    <a:srgbClr val="000000"/>
                  </a:solidFill>
                  <a:latin typeface="Courier New"/>
                </a:rPr>
                <a:t>if(atual-&gt;esq == NULL){</a:t>
              </a:r>
              <a:endParaRPr b="0" lang="pt-BR" sz="16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1" lang="pt-BR" sz="1600" spc="-1" strike="noStrike">
                  <a:solidFill>
                    <a:srgbClr val="000000"/>
                  </a:solidFill>
                  <a:latin typeface="Courier New"/>
                </a:rPr>
                <a:t>   </a:t>
              </a:r>
              <a:r>
                <a:rPr b="1" lang="pt-BR" sz="1600" spc="-1" strike="noStrike">
                  <a:solidFill>
                    <a:srgbClr val="000000"/>
                  </a:solidFill>
                  <a:latin typeface="Courier New"/>
                </a:rPr>
                <a:t>no2 = atual-&gt;dir;</a:t>
              </a:r>
              <a:endParaRPr b="0" lang="pt-BR" sz="16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1" lang="pt-BR" sz="1600" spc="-1" strike="noStrike">
                  <a:solidFill>
                    <a:srgbClr val="000000"/>
                  </a:solidFill>
                  <a:latin typeface="Courier New"/>
                </a:rPr>
                <a:t>   </a:t>
              </a:r>
              <a:r>
                <a:rPr b="1" lang="pt-BR" sz="1600" spc="-1" strike="noStrike">
                  <a:solidFill>
                    <a:srgbClr val="000000"/>
                  </a:solidFill>
                  <a:latin typeface="Courier New"/>
                </a:rPr>
                <a:t>free(atual);</a:t>
              </a:r>
              <a:endParaRPr b="0" lang="pt-BR" sz="16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1" lang="pt-BR" sz="1600" spc="-1" strike="noStrike">
                  <a:solidFill>
                    <a:srgbClr val="000000"/>
                  </a:solidFill>
                  <a:latin typeface="Courier New"/>
                </a:rPr>
                <a:t>   </a:t>
              </a:r>
              <a:r>
                <a:rPr b="1" lang="pt-BR" sz="1600" spc="-1" strike="noStrike">
                  <a:solidFill>
                    <a:srgbClr val="000000"/>
                  </a:solidFill>
                  <a:latin typeface="Courier New"/>
                </a:rPr>
                <a:t>return no2;</a:t>
              </a:r>
              <a:endParaRPr b="0" lang="pt-BR" sz="16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b="1" lang="pt-BR" sz="1600" spc="-1" strike="noStrike">
                  <a:solidFill>
                    <a:srgbClr val="000000"/>
                  </a:solidFill>
                  <a:latin typeface="Courier New"/>
                </a:rPr>
                <a:t>}</a:t>
              </a:r>
              <a:endParaRPr b="0" lang="pt-BR" sz="1600" spc="-1" strike="noStrike"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FDBE2E-F41C-458C-812D-5B525BE5A236}" type="slidenum">
              <a:t>61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 fontScale="81000"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Árvore Binária de Busca: Remoção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009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Exemplo: remoção de um nó com 2 filhos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None/>
            </a:pP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</p:txBody>
      </p:sp>
      <p:grpSp>
        <p:nvGrpSpPr>
          <p:cNvPr id="1010" name="Grupo 114"/>
          <p:cNvGrpSpPr/>
          <p:nvPr/>
        </p:nvGrpSpPr>
        <p:grpSpPr>
          <a:xfrm>
            <a:off x="229680" y="2243520"/>
            <a:ext cx="8734320" cy="4704840"/>
            <a:chOff x="229680" y="2243520"/>
            <a:chExt cx="8734320" cy="4704840"/>
          </a:xfrm>
        </p:grpSpPr>
        <p:sp>
          <p:nvSpPr>
            <p:cNvPr id="1011" name="Elipse 59"/>
            <p:cNvSpPr/>
            <p:nvPr/>
          </p:nvSpPr>
          <p:spPr>
            <a:xfrm>
              <a:off x="1684800" y="307008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2" name="Elipse 60"/>
            <p:cNvSpPr/>
            <p:nvPr/>
          </p:nvSpPr>
          <p:spPr>
            <a:xfrm>
              <a:off x="229680" y="461988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3" name="Elipse 61"/>
            <p:cNvSpPr/>
            <p:nvPr/>
          </p:nvSpPr>
          <p:spPr>
            <a:xfrm>
              <a:off x="946800" y="3830760"/>
              <a:ext cx="539640" cy="539640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4" name="Elipse 62"/>
            <p:cNvSpPr/>
            <p:nvPr/>
          </p:nvSpPr>
          <p:spPr>
            <a:xfrm>
              <a:off x="1727640" y="6134760"/>
              <a:ext cx="539640" cy="53964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5" name="Elipse 63"/>
            <p:cNvSpPr/>
            <p:nvPr/>
          </p:nvSpPr>
          <p:spPr>
            <a:xfrm>
              <a:off x="968760" y="533988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6" name="Elipse 64"/>
            <p:cNvSpPr/>
            <p:nvPr/>
          </p:nvSpPr>
          <p:spPr>
            <a:xfrm>
              <a:off x="323640" y="613476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7" name="Conector reto 65"/>
            <p:cNvSpPr/>
            <p:nvPr/>
          </p:nvSpPr>
          <p:spPr>
            <a:xfrm flipV="1">
              <a:off x="1407600" y="3530880"/>
              <a:ext cx="356040" cy="3787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8" name="Conector reto 66"/>
            <p:cNvSpPr/>
            <p:nvPr/>
          </p:nvSpPr>
          <p:spPr>
            <a:xfrm flipV="1">
              <a:off x="690480" y="4291200"/>
              <a:ext cx="335160" cy="407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9" name="Conector reto 67"/>
            <p:cNvSpPr/>
            <p:nvPr/>
          </p:nvSpPr>
          <p:spPr>
            <a:xfrm flipH="1" flipV="1">
              <a:off x="1429560" y="5800680"/>
              <a:ext cx="376920" cy="4129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0" name="Conector reto 68"/>
            <p:cNvSpPr/>
            <p:nvPr/>
          </p:nvSpPr>
          <p:spPr>
            <a:xfrm flipH="1">
              <a:off x="784440" y="5800680"/>
              <a:ext cx="263160" cy="4129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tail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1" name="Conector reto 69"/>
            <p:cNvSpPr/>
            <p:nvPr/>
          </p:nvSpPr>
          <p:spPr>
            <a:xfrm>
              <a:off x="709560" y="5011560"/>
              <a:ext cx="338040" cy="4071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tail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2" name="Elipse 70"/>
            <p:cNvSpPr/>
            <p:nvPr/>
          </p:nvSpPr>
          <p:spPr>
            <a:xfrm>
              <a:off x="2448000" y="385308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3" name="Conector reto 71"/>
            <p:cNvSpPr/>
            <p:nvPr/>
          </p:nvSpPr>
          <p:spPr>
            <a:xfrm flipH="1" flipV="1">
              <a:off x="2145600" y="3530880"/>
              <a:ext cx="381240" cy="4010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4" name="Retângulo 72"/>
            <p:cNvSpPr/>
            <p:nvPr/>
          </p:nvSpPr>
          <p:spPr>
            <a:xfrm>
              <a:off x="1576800" y="2243520"/>
              <a:ext cx="755640" cy="35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raiz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1025" name="Conector reto 73"/>
            <p:cNvSpPr/>
            <p:nvPr/>
          </p:nvSpPr>
          <p:spPr>
            <a:xfrm flipV="1">
              <a:off x="1954440" y="2603520"/>
              <a:ext cx="360" cy="4665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6" name="CaixaDeTexto 74"/>
            <p:cNvSpPr/>
            <p:nvPr/>
          </p:nvSpPr>
          <p:spPr>
            <a:xfrm>
              <a:off x="1720800" y="314856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50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1027" name="CaixaDeTexto 75"/>
            <p:cNvSpPr/>
            <p:nvPr/>
          </p:nvSpPr>
          <p:spPr>
            <a:xfrm>
              <a:off x="990720" y="39178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40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1028" name="CaixaDeTexto 76"/>
            <p:cNvSpPr/>
            <p:nvPr/>
          </p:nvSpPr>
          <p:spPr>
            <a:xfrm>
              <a:off x="2484000" y="39268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99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1029" name="CaixaDeTexto 77"/>
            <p:cNvSpPr/>
            <p:nvPr/>
          </p:nvSpPr>
          <p:spPr>
            <a:xfrm>
              <a:off x="1021320" y="54262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34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1030" name="CaixaDeTexto 78"/>
            <p:cNvSpPr/>
            <p:nvPr/>
          </p:nvSpPr>
          <p:spPr>
            <a:xfrm>
              <a:off x="270360" y="46918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30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1031" name="CaixaDeTexto 79"/>
            <p:cNvSpPr/>
            <p:nvPr/>
          </p:nvSpPr>
          <p:spPr>
            <a:xfrm>
              <a:off x="359640" y="620856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32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1032" name="CaixaDeTexto 80"/>
            <p:cNvSpPr/>
            <p:nvPr/>
          </p:nvSpPr>
          <p:spPr>
            <a:xfrm>
              <a:off x="1758600" y="62038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000000"/>
                  </a:solidFill>
                  <a:latin typeface="Tw Cen MT"/>
                </a:rPr>
                <a:t>35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1033" name="Elipse 81"/>
            <p:cNvSpPr/>
            <p:nvPr/>
          </p:nvSpPr>
          <p:spPr>
            <a:xfrm>
              <a:off x="1701720" y="462060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4" name="Conector reto 82"/>
            <p:cNvSpPr/>
            <p:nvPr/>
          </p:nvSpPr>
          <p:spPr>
            <a:xfrm flipH="1" flipV="1">
              <a:off x="1403640" y="4291200"/>
              <a:ext cx="376920" cy="4082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5" name="CaixaDeTexto 83"/>
            <p:cNvSpPr/>
            <p:nvPr/>
          </p:nvSpPr>
          <p:spPr>
            <a:xfrm>
              <a:off x="1732680" y="468972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45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1036" name="Elipse 84"/>
            <p:cNvSpPr/>
            <p:nvPr/>
          </p:nvSpPr>
          <p:spPr>
            <a:xfrm>
              <a:off x="7661520" y="307008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7" name="Elipse 85"/>
            <p:cNvSpPr/>
            <p:nvPr/>
          </p:nvSpPr>
          <p:spPr>
            <a:xfrm>
              <a:off x="6206400" y="461988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8" name="Elipse 86"/>
            <p:cNvSpPr/>
            <p:nvPr/>
          </p:nvSpPr>
          <p:spPr>
            <a:xfrm>
              <a:off x="6923520" y="3830760"/>
              <a:ext cx="539640" cy="53964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9" name="Elipse 87"/>
            <p:cNvSpPr/>
            <p:nvPr/>
          </p:nvSpPr>
          <p:spPr>
            <a:xfrm>
              <a:off x="6945480" y="538020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0" name="Elipse 88"/>
            <p:cNvSpPr/>
            <p:nvPr/>
          </p:nvSpPr>
          <p:spPr>
            <a:xfrm>
              <a:off x="6300360" y="617508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1" name="Conector reto 89"/>
            <p:cNvSpPr/>
            <p:nvPr/>
          </p:nvSpPr>
          <p:spPr>
            <a:xfrm flipV="1">
              <a:off x="7384320" y="3530880"/>
              <a:ext cx="356040" cy="3787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2" name="Conector reto 90"/>
            <p:cNvSpPr/>
            <p:nvPr/>
          </p:nvSpPr>
          <p:spPr>
            <a:xfrm flipV="1">
              <a:off x="6666840" y="4291200"/>
              <a:ext cx="335520" cy="4075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3" name="Conector reto 91"/>
            <p:cNvSpPr/>
            <p:nvPr/>
          </p:nvSpPr>
          <p:spPr>
            <a:xfrm flipH="1">
              <a:off x="6760800" y="5841000"/>
              <a:ext cx="263520" cy="41292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tail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4" name="Conector reto 92"/>
            <p:cNvSpPr/>
            <p:nvPr/>
          </p:nvSpPr>
          <p:spPr>
            <a:xfrm>
              <a:off x="6685920" y="5051880"/>
              <a:ext cx="338400" cy="4071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tail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5" name="Elipse 93"/>
            <p:cNvSpPr/>
            <p:nvPr/>
          </p:nvSpPr>
          <p:spPr>
            <a:xfrm>
              <a:off x="8424360" y="385308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6" name="Conector reto 94"/>
            <p:cNvSpPr/>
            <p:nvPr/>
          </p:nvSpPr>
          <p:spPr>
            <a:xfrm flipH="1" flipV="1">
              <a:off x="8121960" y="3530880"/>
              <a:ext cx="381600" cy="4010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7" name="Retângulo 95"/>
            <p:cNvSpPr/>
            <p:nvPr/>
          </p:nvSpPr>
          <p:spPr>
            <a:xfrm>
              <a:off x="7553520" y="2243520"/>
              <a:ext cx="755640" cy="359640"/>
            </a:xfrm>
            <a:prstGeom prst="rect">
              <a:avLst/>
            </a:prstGeom>
            <a:noFill/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raiz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1048" name="Conector reto 96"/>
            <p:cNvSpPr/>
            <p:nvPr/>
          </p:nvSpPr>
          <p:spPr>
            <a:xfrm flipV="1">
              <a:off x="7931160" y="2603520"/>
              <a:ext cx="360" cy="4665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9" name="CaixaDeTexto 97"/>
            <p:cNvSpPr/>
            <p:nvPr/>
          </p:nvSpPr>
          <p:spPr>
            <a:xfrm>
              <a:off x="7697520" y="314856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50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1050" name="CaixaDeTexto 98"/>
            <p:cNvSpPr/>
            <p:nvPr/>
          </p:nvSpPr>
          <p:spPr>
            <a:xfrm>
              <a:off x="6967440" y="39178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000000"/>
                  </a:solidFill>
                  <a:latin typeface="Tw Cen MT"/>
                </a:rPr>
                <a:t>35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1051" name="CaixaDeTexto 99"/>
            <p:cNvSpPr/>
            <p:nvPr/>
          </p:nvSpPr>
          <p:spPr>
            <a:xfrm>
              <a:off x="8460720" y="39268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99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1052" name="CaixaDeTexto 100"/>
            <p:cNvSpPr/>
            <p:nvPr/>
          </p:nvSpPr>
          <p:spPr>
            <a:xfrm>
              <a:off x="6998040" y="546660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34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1053" name="CaixaDeTexto 101"/>
            <p:cNvSpPr/>
            <p:nvPr/>
          </p:nvSpPr>
          <p:spPr>
            <a:xfrm>
              <a:off x="6247080" y="46918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30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1054" name="CaixaDeTexto 102"/>
            <p:cNvSpPr/>
            <p:nvPr/>
          </p:nvSpPr>
          <p:spPr>
            <a:xfrm>
              <a:off x="6336360" y="624888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32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1055" name="Elipse 103"/>
            <p:cNvSpPr/>
            <p:nvPr/>
          </p:nvSpPr>
          <p:spPr>
            <a:xfrm>
              <a:off x="7678440" y="4620600"/>
              <a:ext cx="539640" cy="539640"/>
            </a:xfrm>
            <a:prstGeom prst="ellipse">
              <a:avLst/>
            </a:prstGeom>
            <a:solidFill>
              <a:srgbClr val="b9cde5"/>
            </a:solidFill>
            <a:ln w="25400">
              <a:solidFill>
                <a:srgbClr val="3a5f8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6" name="Conector reto 104"/>
            <p:cNvSpPr/>
            <p:nvPr/>
          </p:nvSpPr>
          <p:spPr>
            <a:xfrm flipH="1" flipV="1">
              <a:off x="7380000" y="4291200"/>
              <a:ext cx="377280" cy="40824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headEnd len="med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7" name="CaixaDeTexto 105"/>
            <p:cNvSpPr/>
            <p:nvPr/>
          </p:nvSpPr>
          <p:spPr>
            <a:xfrm>
              <a:off x="7709400" y="4689720"/>
              <a:ext cx="467640" cy="69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pt-BR" sz="2000" spc="-1" strike="noStrike">
                  <a:solidFill>
                    <a:srgbClr val="ffffff"/>
                  </a:solidFill>
                  <a:latin typeface="Tw Cen MT"/>
                </a:rPr>
                <a:t>45</a:t>
              </a:r>
              <a:endParaRPr b="0" lang="pt-BR" sz="2000" spc="-1" strike="noStrike">
                <a:latin typeface="Arial"/>
              </a:endParaRPr>
            </a:p>
          </p:txBody>
        </p:sp>
        <p:sp>
          <p:nvSpPr>
            <p:cNvPr id="1058" name="CaixaDeTexto 106"/>
            <p:cNvSpPr/>
            <p:nvPr/>
          </p:nvSpPr>
          <p:spPr>
            <a:xfrm>
              <a:off x="1021320" y="2963880"/>
              <a:ext cx="9187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ant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1059" name="CaixaDeTexto 107"/>
            <p:cNvSpPr/>
            <p:nvPr/>
          </p:nvSpPr>
          <p:spPr>
            <a:xfrm>
              <a:off x="270360" y="3757680"/>
              <a:ext cx="7560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atual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1060" name="CaixaDeTexto 108"/>
            <p:cNvSpPr/>
            <p:nvPr/>
          </p:nvSpPr>
          <p:spPr>
            <a:xfrm>
              <a:off x="6998040" y="2963520"/>
              <a:ext cx="9187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ant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1061" name="CaixaDeTexto 109"/>
            <p:cNvSpPr/>
            <p:nvPr/>
          </p:nvSpPr>
          <p:spPr>
            <a:xfrm>
              <a:off x="6084000" y="3757320"/>
              <a:ext cx="9187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atual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1062" name="CaixaDeTexto 110"/>
            <p:cNvSpPr/>
            <p:nvPr/>
          </p:nvSpPr>
          <p:spPr>
            <a:xfrm>
              <a:off x="3276000" y="2261520"/>
              <a:ext cx="2520000" cy="283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Remoção de um nó com ambos os filhos:</a:t>
              </a:r>
              <a:endParaRPr b="0" lang="pt-BR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endParaRPr b="0" lang="pt-BR" sz="1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Remover o nó “atual” e substituí-lo pelo nó “mais a direita” da sub-árvore da esquerda do nó “atual”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1063" name="Conector de seta reta 111"/>
            <p:cNvSpPr/>
            <p:nvPr/>
          </p:nvSpPr>
          <p:spPr>
            <a:xfrm flipH="1" flipV="1">
              <a:off x="1216440" y="4370760"/>
              <a:ext cx="780480" cy="1764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prstDash val="sysDash"/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4" name="CaixaDeTexto 112"/>
            <p:cNvSpPr/>
            <p:nvPr/>
          </p:nvSpPr>
          <p:spPr>
            <a:xfrm>
              <a:off x="2071800" y="6216120"/>
              <a:ext cx="9187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no2</a:t>
              </a:r>
              <a:endParaRPr b="0" lang="pt-BR" sz="1800" spc="-1" strike="noStrike">
                <a:latin typeface="Arial"/>
              </a:endParaRPr>
            </a:p>
          </p:txBody>
        </p:sp>
        <p:sp>
          <p:nvSpPr>
            <p:cNvPr id="1065" name="CaixaDeTexto 113"/>
            <p:cNvSpPr/>
            <p:nvPr/>
          </p:nvSpPr>
          <p:spPr>
            <a:xfrm>
              <a:off x="257040" y="5460840"/>
              <a:ext cx="9187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  <a:buNone/>
              </a:pPr>
              <a:r>
                <a:rPr b="1" lang="pt-BR" sz="1800" spc="-1" strike="noStrike">
                  <a:solidFill>
                    <a:srgbClr val="000000"/>
                  </a:solidFill>
                  <a:latin typeface="Arial"/>
                </a:rPr>
                <a:t>no1</a:t>
              </a:r>
              <a:endParaRPr b="0" lang="pt-BR" sz="1800" spc="-1" strike="noStrike"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C65835-7ACA-43B3-A1A8-11D727E8E875}" type="slidenum">
              <a:t>62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Material Complementar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067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3000"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Vídeo Aulas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Aula 67: Árvores: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 u="sng">
                <a:solidFill>
                  <a:srgbClr val="f7b615"/>
                </a:solidFill>
                <a:uFillTx/>
                <a:latin typeface="Tw Cen MT"/>
                <a:hlinkClick r:id="rId1"/>
              </a:rPr>
              <a:t>youtu.be/iLvpaqAoVD8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Aula 68: Árvores: propriedades: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 u="sng">
                <a:solidFill>
                  <a:srgbClr val="f7b615"/>
                </a:solidFill>
                <a:uFillTx/>
                <a:latin typeface="Tw Cen MT"/>
                <a:hlinkClick r:id="rId2"/>
              </a:rPr>
              <a:t>youtu.be/U7IiLJlMfnU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Aula 69: Árvore Binária: Definição: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 u="sng">
                <a:solidFill>
                  <a:srgbClr val="f7b615"/>
                </a:solidFill>
                <a:uFillTx/>
                <a:latin typeface="Tw Cen MT"/>
                <a:hlinkClick r:id="rId3"/>
              </a:rPr>
              <a:t>youtu.be/9WxCeWX9qDs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Aula 70: Árvore Binária: Implementação: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 u="sng">
                <a:solidFill>
                  <a:srgbClr val="f7b615"/>
                </a:solidFill>
                <a:uFillTx/>
                <a:latin typeface="Tw Cen MT"/>
                <a:hlinkClick r:id="rId4"/>
              </a:rPr>
              <a:t>youtu.be/TR8ZLUKmcPc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Aula 71: Criando e destruindo uma árvore binária: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 u="sng">
                <a:solidFill>
                  <a:srgbClr val="f7b615"/>
                </a:solidFill>
                <a:uFillTx/>
                <a:latin typeface="Tw Cen MT"/>
                <a:hlinkClick r:id="rId5"/>
              </a:rPr>
              <a:t>youtu.be/QAJkoJW8bEc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Aula 72: Árvore Binária: informações básicas: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 u="sng">
                <a:solidFill>
                  <a:srgbClr val="f7b615"/>
                </a:solidFill>
                <a:uFillTx/>
                <a:latin typeface="Tw Cen MT"/>
                <a:hlinkClick r:id="rId6"/>
              </a:rPr>
              <a:t>youtu.be/qVnNdmx4fOA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1AA448-0B98-4230-BF70-5C965924D5E8}" type="slidenum">
              <a:t>63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PlaceHolder 1"/>
          <p:cNvSpPr>
            <a:spLocks noGrp="1"/>
          </p:cNvSpPr>
          <p:nvPr>
            <p:ph type="title"/>
          </p:nvPr>
        </p:nvSpPr>
        <p:spPr>
          <a:xfrm>
            <a:off x="612720" y="228600"/>
            <a:ext cx="8152920" cy="99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rgbClr val="775f55"/>
                </a:solidFill>
                <a:latin typeface="Tw Cen MT"/>
              </a:rPr>
              <a:t>Material Complementar</a:t>
            </a:r>
            <a:endParaRPr b="0" lang="pt-BR" sz="44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1069" name="PlaceHolder 2"/>
          <p:cNvSpPr>
            <a:spLocks noGrp="1"/>
          </p:cNvSpPr>
          <p:nvPr>
            <p:ph/>
          </p:nvPr>
        </p:nvSpPr>
        <p:spPr>
          <a:xfrm>
            <a:off x="612720" y="1600200"/>
            <a:ext cx="8152920" cy="449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5000"/>
          </a:bodyPr>
          <a:p>
            <a:pPr marL="320040" indent="-320040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60000"/>
              <a:buFont typeface="Wingdings" charset="2"/>
              <a:buChar char=""/>
            </a:pPr>
            <a:r>
              <a:rPr b="0" lang="pt-BR" sz="2900" spc="-1" strike="noStrike">
                <a:solidFill>
                  <a:srgbClr val="000000"/>
                </a:solidFill>
                <a:latin typeface="Tw Cen MT"/>
              </a:rPr>
              <a:t>Vídeo Aulas</a:t>
            </a:r>
            <a:endParaRPr b="0" lang="pt-BR" sz="29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Aula 73: Percorrendo uma Árvore Binária: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 u="sng">
                <a:solidFill>
                  <a:srgbClr val="f7b615"/>
                </a:solidFill>
                <a:uFillTx/>
                <a:latin typeface="Tw Cen MT"/>
                <a:hlinkClick r:id="rId1"/>
              </a:rPr>
              <a:t>youtu.be/z7XwVVYQRAA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Aula 74: Árvore Binária de Busca: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 u="sng">
                <a:solidFill>
                  <a:srgbClr val="f7b615"/>
                </a:solidFill>
                <a:uFillTx/>
                <a:latin typeface="Tw Cen MT"/>
                <a:hlinkClick r:id="rId2"/>
              </a:rPr>
              <a:t>youtu.be/M7cb4HjePJk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Aula 75: Inserção em Árvore Binária de Busca: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 u="sng">
                <a:solidFill>
                  <a:srgbClr val="f7b615"/>
                </a:solidFill>
                <a:uFillTx/>
                <a:latin typeface="Tw Cen MT"/>
                <a:hlinkClick r:id="rId3"/>
              </a:rPr>
              <a:t>youtu.be/8cdbmsPaR-k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Aula 76: Remoção em Árvore Binária de Busca: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 u="sng">
                <a:solidFill>
                  <a:srgbClr val="f7b615"/>
                </a:solidFill>
                <a:uFillTx/>
                <a:latin typeface="Tw Cen MT"/>
                <a:hlinkClick r:id="rId4"/>
              </a:rPr>
              <a:t>youtu.be</a:t>
            </a:r>
            <a:r>
              <a:rPr b="0" lang="pt-BR" sz="2600" spc="-1" strike="noStrike" u="sng">
                <a:solidFill>
                  <a:srgbClr val="f7b615"/>
                </a:solidFill>
                <a:uFillTx/>
                <a:latin typeface="Tw Cen MT"/>
                <a:hlinkClick r:id="rId5"/>
              </a:rPr>
              <a:t>/_</a:t>
            </a:r>
            <a:r>
              <a:rPr b="0" lang="pt-BR" sz="2600" spc="-1" strike="noStrike" u="sng">
                <a:solidFill>
                  <a:srgbClr val="f7b615"/>
                </a:solidFill>
                <a:uFillTx/>
                <a:latin typeface="Tw Cen MT"/>
                <a:hlinkClick r:id="rId6"/>
              </a:rPr>
              <a:t>0Yu9BSYXGY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>
                <a:solidFill>
                  <a:srgbClr val="000000"/>
                </a:solidFill>
                <a:latin typeface="Tw Cen MT"/>
              </a:rPr>
              <a:t>Aula 77: Consulta em Árvore Binária de Busca: 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  <a:p>
            <a:pPr lvl="1" marL="640080" indent="-274320">
              <a:lnSpc>
                <a:spcPct val="100000"/>
              </a:lnSpc>
              <a:spcBef>
                <a:spcPts val="550"/>
              </a:spcBef>
              <a:buClr>
                <a:srgbClr val="94b6d2"/>
              </a:buClr>
              <a:buSzPct val="70000"/>
              <a:buFont typeface="Wingdings 2" charset="2"/>
              <a:buChar char=""/>
            </a:pPr>
            <a:r>
              <a:rPr b="0" lang="pt-BR" sz="2600" spc="-1" strike="noStrike" u="sng">
                <a:solidFill>
                  <a:srgbClr val="f7b615"/>
                </a:solidFill>
                <a:uFillTx/>
                <a:latin typeface="Tw Cen MT"/>
                <a:hlinkClick r:id="rId7"/>
              </a:rPr>
              <a:t>youtu.be/mw_wqqB48yY</a:t>
            </a:r>
            <a:endParaRPr b="0" lang="pt-BR" sz="2600" spc="-1" strike="noStrike">
              <a:solidFill>
                <a:srgbClr val="000000"/>
              </a:solidFill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BCC543-9B18-41DB-B3C2-A373EBB50162}" type="slidenum">
              <a:t>64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2053</TotalTime>
  <Application>LibreOffice/7.3.7.2$Linux_X86_64 LibreOffice_project/30$Build-2</Application>
  <AppVersion>15.0000</AppVersion>
  <Words>2830</Words>
  <Paragraphs>815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2013-02-10T18:49:59Z</dcterms:created>
  <dc:creator>Eduardo</dc:creator>
  <dc:description/>
  <dc:language>pt-BR</dc:language>
  <cp:lastModifiedBy>Usuário do Windows</cp:lastModifiedBy>
  <dcterms:modified xsi:type="dcterms:W3CDTF">2019-04-22T17:14:55Z</dcterms:modified>
  <cp:revision>154</cp:revision>
  <dc:subject/>
  <dc:title>Reconhecimento de Padrões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Apresentação na tela (4:3)</vt:lpwstr>
  </property>
  <property fmtid="{D5CDD505-2E9C-101B-9397-08002B2CF9AE}" pid="3" name="Slides">
    <vt:i4>64</vt:i4>
  </property>
</Properties>
</file>